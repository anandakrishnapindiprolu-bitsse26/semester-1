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65" r:id="rId2"/>
    <p:sldMasterId id="2147483671" r:id="rId3"/>
  </p:sldMasterIdLst>
  <p:notesMasterIdLst>
    <p:notesMasterId r:id="rId172"/>
  </p:notesMasterIdLst>
  <p:sldIdLst>
    <p:sldId id="260" r:id="rId4"/>
    <p:sldId id="261" r:id="rId5"/>
    <p:sldId id="263" r:id="rId6"/>
    <p:sldId id="264" r:id="rId7"/>
    <p:sldId id="265" r:id="rId8"/>
    <p:sldId id="266" r:id="rId9"/>
    <p:sldId id="271" r:id="rId10"/>
    <p:sldId id="273" r:id="rId11"/>
    <p:sldId id="274" r:id="rId12"/>
    <p:sldId id="275" r:id="rId13"/>
    <p:sldId id="276" r:id="rId14"/>
    <p:sldId id="277" r:id="rId15"/>
    <p:sldId id="278" r:id="rId16"/>
    <p:sldId id="279" r:id="rId17"/>
    <p:sldId id="281" r:id="rId18"/>
    <p:sldId id="280" r:id="rId19"/>
    <p:sldId id="272" r:id="rId20"/>
    <p:sldId id="282" r:id="rId21"/>
    <p:sldId id="262" r:id="rId22"/>
    <p:sldId id="268" r:id="rId23"/>
    <p:sldId id="267" r:id="rId24"/>
    <p:sldId id="283" r:id="rId25"/>
    <p:sldId id="269" r:id="rId26"/>
    <p:sldId id="270" r:id="rId27"/>
    <p:sldId id="428" r:id="rId28"/>
    <p:sldId id="284" r:id="rId29"/>
    <p:sldId id="285" r:id="rId30"/>
    <p:sldId id="286" r:id="rId31"/>
    <p:sldId id="287" r:id="rId32"/>
    <p:sldId id="288"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292" r:id="rId51"/>
    <p:sldId id="310" r:id="rId52"/>
    <p:sldId id="311" r:id="rId53"/>
    <p:sldId id="312" r:id="rId54"/>
    <p:sldId id="313" r:id="rId55"/>
    <p:sldId id="289" r:id="rId56"/>
    <p:sldId id="290" r:id="rId57"/>
    <p:sldId id="291"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427"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426"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p:restoredTop sz="94667"/>
  </p:normalViewPr>
  <p:slideViewPr>
    <p:cSldViewPr snapToGrid="0">
      <p:cViewPr varScale="1">
        <p:scale>
          <a:sx n="75" d="100"/>
          <a:sy n="75" d="100"/>
        </p:scale>
        <p:origin x="169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customXml" Target="../customXml/item1.xml"/><Relationship Id="rId172" Type="http://schemas.openxmlformats.org/officeDocument/2006/relationships/notesMaster" Target="notesMasters/notesMaster1.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customXml" Target="../customXml/item2.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viewProps" Target="viewProps.xml"/><Relationship Id="rId179" Type="http://schemas.openxmlformats.org/officeDocument/2006/relationships/customXml" Target="../customXml/item3.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theme" Target="theme/theme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tableStyles" Target="tableStyles.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9368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2886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grpSp>
        <p:nvGrpSpPr>
          <p:cNvPr id="2" name="Group 1">
            <a:extLst>
              <a:ext uri="{FF2B5EF4-FFF2-40B4-BE49-F238E27FC236}">
                <a16:creationId xmlns:a16="http://schemas.microsoft.com/office/drawing/2014/main" id="{975611E0-837C-CC67-9ACC-FBE4C7ED44AB}"/>
              </a:ext>
            </a:extLst>
          </p:cNvPr>
          <p:cNvGrpSpPr/>
          <p:nvPr userDrawn="1"/>
        </p:nvGrpSpPr>
        <p:grpSpPr>
          <a:xfrm>
            <a:off x="-59470" y="-641099"/>
            <a:ext cx="9267429" cy="8253818"/>
            <a:chOff x="-59470" y="-641099"/>
            <a:chExt cx="9267429" cy="8253818"/>
          </a:xfrm>
        </p:grpSpPr>
        <p:pic>
          <p:nvPicPr>
            <p:cNvPr id="9" name="Graphic 8">
              <a:extLst>
                <a:ext uri="{FF2B5EF4-FFF2-40B4-BE49-F238E27FC236}">
                  <a16:creationId xmlns:a16="http://schemas.microsoft.com/office/drawing/2014/main" id="{9888009D-32FE-C126-72AF-502DDA22B46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10" name="Graphic 9">
              <a:extLst>
                <a:ext uri="{FF2B5EF4-FFF2-40B4-BE49-F238E27FC236}">
                  <a16:creationId xmlns:a16="http://schemas.microsoft.com/office/drawing/2014/main" id="{221B65FC-68FC-BED3-3CEF-538297F787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1" name="Graphic 10">
              <a:extLst>
                <a:ext uri="{FF2B5EF4-FFF2-40B4-BE49-F238E27FC236}">
                  <a16:creationId xmlns:a16="http://schemas.microsoft.com/office/drawing/2014/main" id="{0A15ED51-62DB-2B67-A3FF-F74AD62A72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7" name="Graphic 16">
              <a:extLst>
                <a:ext uri="{FF2B5EF4-FFF2-40B4-BE49-F238E27FC236}">
                  <a16:creationId xmlns:a16="http://schemas.microsoft.com/office/drawing/2014/main" id="{30EABCC7-2283-FB30-DE9F-3A986765B2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8" name="Graphic 17">
              <a:extLst>
                <a:ext uri="{FF2B5EF4-FFF2-40B4-BE49-F238E27FC236}">
                  <a16:creationId xmlns:a16="http://schemas.microsoft.com/office/drawing/2014/main" id="{23FC1AAB-A658-6A73-634A-20B9067A986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a16="http://schemas.microsoft.com/office/drawing/2014/main" id="{ED867E33-5FFB-4EA5-EFF2-778CB97065C6}"/>
                </a:ext>
              </a:extLst>
            </p:cNvPr>
            <p:cNvGrpSpPr/>
            <p:nvPr userDrawn="1"/>
          </p:nvGrpSpPr>
          <p:grpSpPr>
            <a:xfrm>
              <a:off x="0" y="0"/>
              <a:ext cx="9144001" cy="6857673"/>
              <a:chOff x="0" y="0"/>
              <a:chExt cx="9144001" cy="6857673"/>
            </a:xfrm>
          </p:grpSpPr>
          <p:grpSp>
            <p:nvGrpSpPr>
              <p:cNvPr id="30" name="Group 6">
                <a:extLst>
                  <a:ext uri="{FF2B5EF4-FFF2-40B4-BE49-F238E27FC236}">
                    <a16:creationId xmlns:a16="http://schemas.microsoft.com/office/drawing/2014/main" id="{0A9D77E1-6040-F02D-12C2-4D0F8DA07923}"/>
                  </a:ext>
                </a:extLst>
              </p:cNvPr>
              <p:cNvGrpSpPr/>
              <p:nvPr userDrawn="1"/>
            </p:nvGrpSpPr>
            <p:grpSpPr>
              <a:xfrm>
                <a:off x="0" y="1295400"/>
                <a:ext cx="7010401" cy="46038"/>
                <a:chOff x="0" y="0"/>
                <a:chExt cx="7010400" cy="46037"/>
              </a:xfrm>
            </p:grpSpPr>
            <p:sp>
              <p:nvSpPr>
                <p:cNvPr id="37" name="Rectangle 6">
                  <a:extLst>
                    <a:ext uri="{FF2B5EF4-FFF2-40B4-BE49-F238E27FC236}">
                      <a16:creationId xmlns:a16="http://schemas.microsoft.com/office/drawing/2014/main" id="{DF363209-C58C-27DD-4CFD-53F42FB39D86}"/>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7">
                  <a:extLst>
                    <a:ext uri="{FF2B5EF4-FFF2-40B4-BE49-F238E27FC236}">
                      <a16:creationId xmlns:a16="http://schemas.microsoft.com/office/drawing/2014/main" id="{9EC9FDDF-9CA3-1D47-4F90-E64F66F8F175}"/>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9" name="Rectangle 8">
                  <a:extLst>
                    <a:ext uri="{FF2B5EF4-FFF2-40B4-BE49-F238E27FC236}">
                      <a16:creationId xmlns:a16="http://schemas.microsoft.com/office/drawing/2014/main" id="{F72DA5A6-5E8D-5946-4769-681B420672C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1" name="Group 10">
                <a:extLst>
                  <a:ext uri="{FF2B5EF4-FFF2-40B4-BE49-F238E27FC236}">
                    <a16:creationId xmlns:a16="http://schemas.microsoft.com/office/drawing/2014/main" id="{2FB73345-1EAD-AA26-67C3-EE91F69693F2}"/>
                  </a:ext>
                </a:extLst>
              </p:cNvPr>
              <p:cNvGrpSpPr/>
              <p:nvPr userDrawn="1"/>
            </p:nvGrpSpPr>
            <p:grpSpPr>
              <a:xfrm>
                <a:off x="2133600" y="6553200"/>
                <a:ext cx="7010401" cy="46038"/>
                <a:chOff x="0" y="0"/>
                <a:chExt cx="7010400" cy="46037"/>
              </a:xfrm>
            </p:grpSpPr>
            <p:sp>
              <p:nvSpPr>
                <p:cNvPr id="34" name="Rectangle 10">
                  <a:extLst>
                    <a:ext uri="{FF2B5EF4-FFF2-40B4-BE49-F238E27FC236}">
                      <a16:creationId xmlns:a16="http://schemas.microsoft.com/office/drawing/2014/main" id="{A295AB1D-9E30-364C-315A-5BC5A3843E54}"/>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11">
                  <a:extLst>
                    <a:ext uri="{FF2B5EF4-FFF2-40B4-BE49-F238E27FC236}">
                      <a16:creationId xmlns:a16="http://schemas.microsoft.com/office/drawing/2014/main" id="{97A89B19-FF86-171B-D24F-95257901C0E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6" name="Rectangle 12">
                  <a:extLst>
                    <a:ext uri="{FF2B5EF4-FFF2-40B4-BE49-F238E27FC236}">
                      <a16:creationId xmlns:a16="http://schemas.microsoft.com/office/drawing/2014/main" id="{4C13D1B2-97A8-7E11-913E-0479AFA6D90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2" name="Picture 14" descr="Picture 14">
                <a:extLst>
                  <a:ext uri="{FF2B5EF4-FFF2-40B4-BE49-F238E27FC236}">
                    <a16:creationId xmlns:a16="http://schemas.microsoft.com/office/drawing/2014/main" id="{B8FD17EE-11BE-C410-3BE4-FE77943049F0}"/>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 name="TextBox 14">
                <a:extLst>
                  <a:ext uri="{FF2B5EF4-FFF2-40B4-BE49-F238E27FC236}">
                    <a16:creationId xmlns:a16="http://schemas.microsoft.com/office/drawing/2014/main" id="{D2A4163F-DC5E-92D2-028F-DBC388BD40B2}"/>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9" name="Graphic 28">
              <a:extLst>
                <a:ext uri="{FF2B5EF4-FFF2-40B4-BE49-F238E27FC236}">
                  <a16:creationId xmlns:a16="http://schemas.microsoft.com/office/drawing/2014/main" id="{A0B89629-2719-C4AD-268F-99B0CAF606C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3737059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 ZG651/ SS 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grpSp>
        <p:nvGrpSpPr>
          <p:cNvPr id="2" name="Group 1">
            <a:extLst>
              <a:ext uri="{FF2B5EF4-FFF2-40B4-BE49-F238E27FC236}">
                <a16:creationId xmlns:a16="http://schemas.microsoft.com/office/drawing/2014/main" id="{97435D5F-DB25-44A3-C909-21D6E4CF1242}"/>
              </a:ext>
            </a:extLst>
          </p:cNvPr>
          <p:cNvGrpSpPr/>
          <p:nvPr userDrawn="1"/>
        </p:nvGrpSpPr>
        <p:grpSpPr>
          <a:xfrm>
            <a:off x="-59470" y="-641099"/>
            <a:ext cx="9267429" cy="8253818"/>
            <a:chOff x="-59470" y="-641099"/>
            <a:chExt cx="9267429" cy="8253818"/>
          </a:xfrm>
        </p:grpSpPr>
        <p:pic>
          <p:nvPicPr>
            <p:cNvPr id="4" name="Graphic 3">
              <a:extLst>
                <a:ext uri="{FF2B5EF4-FFF2-40B4-BE49-F238E27FC236}">
                  <a16:creationId xmlns:a16="http://schemas.microsoft.com/office/drawing/2014/main" id="{0FDF71DC-280A-C2E8-45B0-F0158DCFD6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9" name="Graphic 8">
              <a:extLst>
                <a:ext uri="{FF2B5EF4-FFF2-40B4-BE49-F238E27FC236}">
                  <a16:creationId xmlns:a16="http://schemas.microsoft.com/office/drawing/2014/main" id="{C78AF02D-42BE-0ABD-BB1B-337A97EE1CF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0" name="Graphic 9">
              <a:extLst>
                <a:ext uri="{FF2B5EF4-FFF2-40B4-BE49-F238E27FC236}">
                  <a16:creationId xmlns:a16="http://schemas.microsoft.com/office/drawing/2014/main" id="{271B60AA-6333-1432-01C3-2218A52AF1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1" name="Graphic 10">
              <a:extLst>
                <a:ext uri="{FF2B5EF4-FFF2-40B4-BE49-F238E27FC236}">
                  <a16:creationId xmlns:a16="http://schemas.microsoft.com/office/drawing/2014/main" id="{267B339A-AE5D-0530-6326-9EB0C731B2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96A4122F-B9F8-D24D-0B99-8062009E3B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18" name="Group 17">
              <a:extLst>
                <a:ext uri="{FF2B5EF4-FFF2-40B4-BE49-F238E27FC236}">
                  <a16:creationId xmlns:a16="http://schemas.microsoft.com/office/drawing/2014/main" id="{372C057F-4721-B53F-7567-4BDBF1D2E8B1}"/>
                </a:ext>
              </a:extLst>
            </p:cNvPr>
            <p:cNvGrpSpPr/>
            <p:nvPr userDrawn="1"/>
          </p:nvGrpSpPr>
          <p:grpSpPr>
            <a:xfrm>
              <a:off x="0" y="0"/>
              <a:ext cx="9144001" cy="6857673"/>
              <a:chOff x="0" y="0"/>
              <a:chExt cx="9144001" cy="6857673"/>
            </a:xfrm>
          </p:grpSpPr>
          <p:grpSp>
            <p:nvGrpSpPr>
              <p:cNvPr id="29" name="Group 6">
                <a:extLst>
                  <a:ext uri="{FF2B5EF4-FFF2-40B4-BE49-F238E27FC236}">
                    <a16:creationId xmlns:a16="http://schemas.microsoft.com/office/drawing/2014/main" id="{18056DAB-4D71-D757-C156-B9ECD593380E}"/>
                  </a:ext>
                </a:extLst>
              </p:cNvPr>
              <p:cNvGrpSpPr/>
              <p:nvPr userDrawn="1"/>
            </p:nvGrpSpPr>
            <p:grpSpPr>
              <a:xfrm>
                <a:off x="0" y="1295400"/>
                <a:ext cx="7010401" cy="46038"/>
                <a:chOff x="0" y="0"/>
                <a:chExt cx="7010400" cy="46037"/>
              </a:xfrm>
            </p:grpSpPr>
            <p:sp>
              <p:nvSpPr>
                <p:cNvPr id="36" name="Rectangle 6">
                  <a:extLst>
                    <a:ext uri="{FF2B5EF4-FFF2-40B4-BE49-F238E27FC236}">
                      <a16:creationId xmlns:a16="http://schemas.microsoft.com/office/drawing/2014/main" id="{3352717E-E19F-D58B-847F-17F7351D58F6}"/>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7" name="Rectangle 7">
                  <a:extLst>
                    <a:ext uri="{FF2B5EF4-FFF2-40B4-BE49-F238E27FC236}">
                      <a16:creationId xmlns:a16="http://schemas.microsoft.com/office/drawing/2014/main" id="{4A669312-0249-93A7-4500-4084F1B27BBF}"/>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8">
                  <a:extLst>
                    <a:ext uri="{FF2B5EF4-FFF2-40B4-BE49-F238E27FC236}">
                      <a16:creationId xmlns:a16="http://schemas.microsoft.com/office/drawing/2014/main" id="{9AFCFA8C-6C55-3A3A-9E40-FE48501EB39C}"/>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0" name="Group 10">
                <a:extLst>
                  <a:ext uri="{FF2B5EF4-FFF2-40B4-BE49-F238E27FC236}">
                    <a16:creationId xmlns:a16="http://schemas.microsoft.com/office/drawing/2014/main" id="{7D018F1A-4316-A2BB-CFE9-1D1C642D29E9}"/>
                  </a:ext>
                </a:extLst>
              </p:cNvPr>
              <p:cNvGrpSpPr/>
              <p:nvPr userDrawn="1"/>
            </p:nvGrpSpPr>
            <p:grpSpPr>
              <a:xfrm>
                <a:off x="2133600" y="6553200"/>
                <a:ext cx="7010401" cy="46038"/>
                <a:chOff x="0" y="0"/>
                <a:chExt cx="7010400" cy="46037"/>
              </a:xfrm>
            </p:grpSpPr>
            <p:sp>
              <p:nvSpPr>
                <p:cNvPr id="33" name="Rectangle 10">
                  <a:extLst>
                    <a:ext uri="{FF2B5EF4-FFF2-40B4-BE49-F238E27FC236}">
                      <a16:creationId xmlns:a16="http://schemas.microsoft.com/office/drawing/2014/main" id="{E5FC385A-83ED-7644-C1FF-E8EE0858AE2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4" name="Rectangle 11">
                  <a:extLst>
                    <a:ext uri="{FF2B5EF4-FFF2-40B4-BE49-F238E27FC236}">
                      <a16:creationId xmlns:a16="http://schemas.microsoft.com/office/drawing/2014/main" id="{C0B72FE6-E72F-5B98-1F9D-950F5C6ADAF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12">
                  <a:extLst>
                    <a:ext uri="{FF2B5EF4-FFF2-40B4-BE49-F238E27FC236}">
                      <a16:creationId xmlns:a16="http://schemas.microsoft.com/office/drawing/2014/main" id="{9BEC170F-BFCF-EEFD-C153-E835FA166CFA}"/>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1" name="Picture 14" descr="Picture 14">
                <a:extLst>
                  <a:ext uri="{FF2B5EF4-FFF2-40B4-BE49-F238E27FC236}">
                    <a16:creationId xmlns:a16="http://schemas.microsoft.com/office/drawing/2014/main" id="{73B8D9C8-40D7-BEE8-097C-775A094BBEAE}"/>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2" name="TextBox 14">
                <a:extLst>
                  <a:ext uri="{FF2B5EF4-FFF2-40B4-BE49-F238E27FC236}">
                    <a16:creationId xmlns:a16="http://schemas.microsoft.com/office/drawing/2014/main" id="{CEA42B8A-6A21-6099-0887-7EDA897B4AC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8" name="Graphic 27">
              <a:extLst>
                <a:ext uri="{FF2B5EF4-FFF2-40B4-BE49-F238E27FC236}">
                  <a16:creationId xmlns:a16="http://schemas.microsoft.com/office/drawing/2014/main" id="{5BBCA167-AF48-68ED-FD48-644D98ABC3D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297301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11947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grpSp>
        <p:nvGrpSpPr>
          <p:cNvPr id="2" name="Group 1">
            <a:extLst>
              <a:ext uri="{FF2B5EF4-FFF2-40B4-BE49-F238E27FC236}">
                <a16:creationId xmlns:a16="http://schemas.microsoft.com/office/drawing/2014/main" id="{76A9E0CA-7CDB-8ABD-D214-635CF5585C89}"/>
              </a:ext>
            </a:extLst>
          </p:cNvPr>
          <p:cNvGrpSpPr/>
          <p:nvPr userDrawn="1"/>
        </p:nvGrpSpPr>
        <p:grpSpPr>
          <a:xfrm>
            <a:off x="-59470" y="-641099"/>
            <a:ext cx="9267429" cy="8253818"/>
            <a:chOff x="-59470" y="-641099"/>
            <a:chExt cx="9267429" cy="8253818"/>
          </a:xfrm>
        </p:grpSpPr>
        <p:pic>
          <p:nvPicPr>
            <p:cNvPr id="9" name="Graphic 8">
              <a:extLst>
                <a:ext uri="{FF2B5EF4-FFF2-40B4-BE49-F238E27FC236}">
                  <a16:creationId xmlns:a16="http://schemas.microsoft.com/office/drawing/2014/main" id="{901AB20F-1A2E-D320-63AB-B4CC7EB127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10" name="Graphic 9">
              <a:extLst>
                <a:ext uri="{FF2B5EF4-FFF2-40B4-BE49-F238E27FC236}">
                  <a16:creationId xmlns:a16="http://schemas.microsoft.com/office/drawing/2014/main" id="{79DBEE78-0016-A261-C9CD-1662BFE78B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1" name="Graphic 10">
              <a:extLst>
                <a:ext uri="{FF2B5EF4-FFF2-40B4-BE49-F238E27FC236}">
                  <a16:creationId xmlns:a16="http://schemas.microsoft.com/office/drawing/2014/main" id="{62A34132-BF9E-A5FE-566D-8A078BA4BAD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7" name="Graphic 16">
              <a:extLst>
                <a:ext uri="{FF2B5EF4-FFF2-40B4-BE49-F238E27FC236}">
                  <a16:creationId xmlns:a16="http://schemas.microsoft.com/office/drawing/2014/main" id="{4521F3EA-BC57-AE57-3BEC-76285F45C2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8" name="Graphic 17">
              <a:extLst>
                <a:ext uri="{FF2B5EF4-FFF2-40B4-BE49-F238E27FC236}">
                  <a16:creationId xmlns:a16="http://schemas.microsoft.com/office/drawing/2014/main" id="{F9B574FC-829A-AB60-B743-5074EB6CD86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a16="http://schemas.microsoft.com/office/drawing/2014/main" id="{4D4D4BCF-7809-9962-06A4-2CF8AA522F79}"/>
                </a:ext>
              </a:extLst>
            </p:cNvPr>
            <p:cNvGrpSpPr/>
            <p:nvPr userDrawn="1"/>
          </p:nvGrpSpPr>
          <p:grpSpPr>
            <a:xfrm>
              <a:off x="0" y="0"/>
              <a:ext cx="9144001" cy="6857673"/>
              <a:chOff x="0" y="0"/>
              <a:chExt cx="9144001" cy="6857673"/>
            </a:xfrm>
          </p:grpSpPr>
          <p:grpSp>
            <p:nvGrpSpPr>
              <p:cNvPr id="30" name="Group 6">
                <a:extLst>
                  <a:ext uri="{FF2B5EF4-FFF2-40B4-BE49-F238E27FC236}">
                    <a16:creationId xmlns:a16="http://schemas.microsoft.com/office/drawing/2014/main" id="{4DCF69FA-E3B5-FE86-575A-995425FB63DF}"/>
                  </a:ext>
                </a:extLst>
              </p:cNvPr>
              <p:cNvGrpSpPr/>
              <p:nvPr userDrawn="1"/>
            </p:nvGrpSpPr>
            <p:grpSpPr>
              <a:xfrm>
                <a:off x="0" y="1295400"/>
                <a:ext cx="7010401" cy="46038"/>
                <a:chOff x="0" y="0"/>
                <a:chExt cx="7010400" cy="46037"/>
              </a:xfrm>
            </p:grpSpPr>
            <p:sp>
              <p:nvSpPr>
                <p:cNvPr id="37" name="Rectangle 6">
                  <a:extLst>
                    <a:ext uri="{FF2B5EF4-FFF2-40B4-BE49-F238E27FC236}">
                      <a16:creationId xmlns:a16="http://schemas.microsoft.com/office/drawing/2014/main" id="{902B48E2-7F67-BDE1-F207-6B1BF5CDFF7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7">
                  <a:extLst>
                    <a:ext uri="{FF2B5EF4-FFF2-40B4-BE49-F238E27FC236}">
                      <a16:creationId xmlns:a16="http://schemas.microsoft.com/office/drawing/2014/main" id="{1600DEA9-4F1C-C551-A2A8-43962394836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9" name="Rectangle 8">
                  <a:extLst>
                    <a:ext uri="{FF2B5EF4-FFF2-40B4-BE49-F238E27FC236}">
                      <a16:creationId xmlns:a16="http://schemas.microsoft.com/office/drawing/2014/main" id="{A491E6C9-3D99-B286-6AEF-5FBA56639A2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1" name="Group 10">
                <a:extLst>
                  <a:ext uri="{FF2B5EF4-FFF2-40B4-BE49-F238E27FC236}">
                    <a16:creationId xmlns:a16="http://schemas.microsoft.com/office/drawing/2014/main" id="{D42E5418-5B8A-B5C8-20A3-8036D62B807F}"/>
                  </a:ext>
                </a:extLst>
              </p:cNvPr>
              <p:cNvGrpSpPr/>
              <p:nvPr userDrawn="1"/>
            </p:nvGrpSpPr>
            <p:grpSpPr>
              <a:xfrm>
                <a:off x="2133600" y="6553200"/>
                <a:ext cx="7010401" cy="46038"/>
                <a:chOff x="0" y="0"/>
                <a:chExt cx="7010400" cy="46037"/>
              </a:xfrm>
            </p:grpSpPr>
            <p:sp>
              <p:nvSpPr>
                <p:cNvPr id="34" name="Rectangle 10">
                  <a:extLst>
                    <a:ext uri="{FF2B5EF4-FFF2-40B4-BE49-F238E27FC236}">
                      <a16:creationId xmlns:a16="http://schemas.microsoft.com/office/drawing/2014/main" id="{8422A35F-3FD1-2681-7174-3C41CA12F2D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11">
                  <a:extLst>
                    <a:ext uri="{FF2B5EF4-FFF2-40B4-BE49-F238E27FC236}">
                      <a16:creationId xmlns:a16="http://schemas.microsoft.com/office/drawing/2014/main" id="{1B045F1B-F886-0671-2E11-32749B8AD3C2}"/>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6" name="Rectangle 12">
                  <a:extLst>
                    <a:ext uri="{FF2B5EF4-FFF2-40B4-BE49-F238E27FC236}">
                      <a16:creationId xmlns:a16="http://schemas.microsoft.com/office/drawing/2014/main" id="{3C71BA3E-8035-F4DA-C90A-24C0036FF18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2" name="Picture 14" descr="Picture 14">
                <a:extLst>
                  <a:ext uri="{FF2B5EF4-FFF2-40B4-BE49-F238E27FC236}">
                    <a16:creationId xmlns:a16="http://schemas.microsoft.com/office/drawing/2014/main" id="{7E804E5F-05CE-8048-1FC6-82EC2E3AA875}"/>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 name="TextBox 14">
                <a:extLst>
                  <a:ext uri="{FF2B5EF4-FFF2-40B4-BE49-F238E27FC236}">
                    <a16:creationId xmlns:a16="http://schemas.microsoft.com/office/drawing/2014/main" id="{FFF2533D-A64F-87AE-BBA1-E9C22F392216}"/>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9" name="Graphic 28">
              <a:extLst>
                <a:ext uri="{FF2B5EF4-FFF2-40B4-BE49-F238E27FC236}">
                  <a16:creationId xmlns:a16="http://schemas.microsoft.com/office/drawing/2014/main" id="{B3985989-5FBE-E417-E12D-32948C9D12E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104852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39548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grpSp>
        <p:nvGrpSpPr>
          <p:cNvPr id="7" name="Group 6">
            <a:extLst>
              <a:ext uri="{FF2B5EF4-FFF2-40B4-BE49-F238E27FC236}">
                <a16:creationId xmlns:a16="http://schemas.microsoft.com/office/drawing/2014/main" id="{4DEC579C-808B-2BB4-240D-E7002BDC48C7}"/>
              </a:ext>
            </a:extLst>
          </p:cNvPr>
          <p:cNvGrpSpPr/>
          <p:nvPr userDrawn="1"/>
        </p:nvGrpSpPr>
        <p:grpSpPr>
          <a:xfrm>
            <a:off x="-59470" y="-641099"/>
            <a:ext cx="9267429" cy="8253818"/>
            <a:chOff x="-59470" y="-641099"/>
            <a:chExt cx="9267429" cy="8253818"/>
          </a:xfrm>
        </p:grpSpPr>
        <p:pic>
          <p:nvPicPr>
            <p:cNvPr id="8" name="Graphic 7">
              <a:extLst>
                <a:ext uri="{FF2B5EF4-FFF2-40B4-BE49-F238E27FC236}">
                  <a16:creationId xmlns:a16="http://schemas.microsoft.com/office/drawing/2014/main" id="{1B7B3812-5961-4D66-182A-922766AA53D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9" name="Graphic 8">
              <a:extLst>
                <a:ext uri="{FF2B5EF4-FFF2-40B4-BE49-F238E27FC236}">
                  <a16:creationId xmlns:a16="http://schemas.microsoft.com/office/drawing/2014/main" id="{99CD9292-A340-0F52-1C8D-C3EE43ABC64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0" name="Graphic 9">
              <a:extLst>
                <a:ext uri="{FF2B5EF4-FFF2-40B4-BE49-F238E27FC236}">
                  <a16:creationId xmlns:a16="http://schemas.microsoft.com/office/drawing/2014/main" id="{81CDFC9A-1319-4FCF-E4D9-709AD92239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1" name="Graphic 10">
              <a:extLst>
                <a:ext uri="{FF2B5EF4-FFF2-40B4-BE49-F238E27FC236}">
                  <a16:creationId xmlns:a16="http://schemas.microsoft.com/office/drawing/2014/main" id="{6FD35844-50C1-9F73-3183-A127606317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2" name="Graphic 11">
              <a:extLst>
                <a:ext uri="{FF2B5EF4-FFF2-40B4-BE49-F238E27FC236}">
                  <a16:creationId xmlns:a16="http://schemas.microsoft.com/office/drawing/2014/main" id="{4C43E7DC-746F-172F-250C-ADB8FD01291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13" name="Group 12">
              <a:extLst>
                <a:ext uri="{FF2B5EF4-FFF2-40B4-BE49-F238E27FC236}">
                  <a16:creationId xmlns:a16="http://schemas.microsoft.com/office/drawing/2014/main" id="{E4632C8C-419A-98D4-E5FE-790DAC3EE828}"/>
                </a:ext>
              </a:extLst>
            </p:cNvPr>
            <p:cNvGrpSpPr/>
            <p:nvPr userDrawn="1"/>
          </p:nvGrpSpPr>
          <p:grpSpPr>
            <a:xfrm>
              <a:off x="0" y="0"/>
              <a:ext cx="9144001" cy="6857673"/>
              <a:chOff x="0" y="0"/>
              <a:chExt cx="9144001" cy="6857673"/>
            </a:xfrm>
          </p:grpSpPr>
          <p:grpSp>
            <p:nvGrpSpPr>
              <p:cNvPr id="15" name="Group 6">
                <a:extLst>
                  <a:ext uri="{FF2B5EF4-FFF2-40B4-BE49-F238E27FC236}">
                    <a16:creationId xmlns:a16="http://schemas.microsoft.com/office/drawing/2014/main" id="{F329E2F1-1B1D-DD8A-746B-9C0D65B8AC32}"/>
                  </a:ext>
                </a:extLst>
              </p:cNvPr>
              <p:cNvGrpSpPr/>
              <p:nvPr userDrawn="1"/>
            </p:nvGrpSpPr>
            <p:grpSpPr>
              <a:xfrm>
                <a:off x="0" y="1295400"/>
                <a:ext cx="7010401" cy="46038"/>
                <a:chOff x="0" y="0"/>
                <a:chExt cx="7010400" cy="46037"/>
              </a:xfrm>
            </p:grpSpPr>
            <p:sp>
              <p:nvSpPr>
                <p:cNvPr id="28" name="Rectangle 6">
                  <a:extLst>
                    <a:ext uri="{FF2B5EF4-FFF2-40B4-BE49-F238E27FC236}">
                      <a16:creationId xmlns:a16="http://schemas.microsoft.com/office/drawing/2014/main" id="{81989472-BA7A-BC46-D70C-0F65EE684D7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4" name="Rectangle 7">
                  <a:extLst>
                    <a:ext uri="{FF2B5EF4-FFF2-40B4-BE49-F238E27FC236}">
                      <a16:creationId xmlns:a16="http://schemas.microsoft.com/office/drawing/2014/main" id="{0B5A0778-CF11-4A46-5045-BA9427D4D21F}"/>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8">
                  <a:extLst>
                    <a:ext uri="{FF2B5EF4-FFF2-40B4-BE49-F238E27FC236}">
                      <a16:creationId xmlns:a16="http://schemas.microsoft.com/office/drawing/2014/main" id="{9ADB9001-F860-68A5-043D-8ABECBF9623A}"/>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16" name="Group 10">
                <a:extLst>
                  <a:ext uri="{FF2B5EF4-FFF2-40B4-BE49-F238E27FC236}">
                    <a16:creationId xmlns:a16="http://schemas.microsoft.com/office/drawing/2014/main" id="{10B3EB98-1A08-E210-C96C-E9173D71831F}"/>
                  </a:ext>
                </a:extLst>
              </p:cNvPr>
              <p:cNvGrpSpPr/>
              <p:nvPr userDrawn="1"/>
            </p:nvGrpSpPr>
            <p:grpSpPr>
              <a:xfrm>
                <a:off x="2133600" y="6553200"/>
                <a:ext cx="7010401" cy="46038"/>
                <a:chOff x="0" y="0"/>
                <a:chExt cx="7010400" cy="46037"/>
              </a:xfrm>
            </p:grpSpPr>
            <p:sp>
              <p:nvSpPr>
                <p:cNvPr id="25" name="Rectangle 10">
                  <a:extLst>
                    <a:ext uri="{FF2B5EF4-FFF2-40B4-BE49-F238E27FC236}">
                      <a16:creationId xmlns:a16="http://schemas.microsoft.com/office/drawing/2014/main" id="{83593551-0674-6290-3ED0-1BB762388D3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 name="Rectangle 11">
                  <a:extLst>
                    <a:ext uri="{FF2B5EF4-FFF2-40B4-BE49-F238E27FC236}">
                      <a16:creationId xmlns:a16="http://schemas.microsoft.com/office/drawing/2014/main" id="{3F440AFE-DDD5-4DC4-34AD-125AA8C4C6C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7" name="Rectangle 12">
                  <a:extLst>
                    <a:ext uri="{FF2B5EF4-FFF2-40B4-BE49-F238E27FC236}">
                      <a16:creationId xmlns:a16="http://schemas.microsoft.com/office/drawing/2014/main" id="{AFB68817-C99C-68E9-9BF9-6296F57F631D}"/>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18" name="Picture 14" descr="Picture 14">
                <a:extLst>
                  <a:ext uri="{FF2B5EF4-FFF2-40B4-BE49-F238E27FC236}">
                    <a16:creationId xmlns:a16="http://schemas.microsoft.com/office/drawing/2014/main" id="{C62DCA36-D687-11E8-A23E-0EE890BD7712}"/>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24" name="TextBox 14">
                <a:extLst>
                  <a:ext uri="{FF2B5EF4-FFF2-40B4-BE49-F238E27FC236}">
                    <a16:creationId xmlns:a16="http://schemas.microsoft.com/office/drawing/2014/main" id="{12BCA0AA-8375-9E3C-E769-E356403F8FEC}"/>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14" name="Graphic 13">
              <a:extLst>
                <a:ext uri="{FF2B5EF4-FFF2-40B4-BE49-F238E27FC236}">
                  <a16:creationId xmlns:a16="http://schemas.microsoft.com/office/drawing/2014/main" id="{B822D3F1-1BB2-312B-89F2-BE4F9D7BDF3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3275565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 ZG651/ SS 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grpSp>
        <p:nvGrpSpPr>
          <p:cNvPr id="2" name="Group 1">
            <a:extLst>
              <a:ext uri="{FF2B5EF4-FFF2-40B4-BE49-F238E27FC236}">
                <a16:creationId xmlns:a16="http://schemas.microsoft.com/office/drawing/2014/main" id="{97435D5F-DB25-44A3-C909-21D6E4CF1242}"/>
              </a:ext>
            </a:extLst>
          </p:cNvPr>
          <p:cNvGrpSpPr/>
          <p:nvPr userDrawn="1"/>
        </p:nvGrpSpPr>
        <p:grpSpPr>
          <a:xfrm>
            <a:off x="-59470" y="-641099"/>
            <a:ext cx="9267429" cy="8253818"/>
            <a:chOff x="-59470" y="-641099"/>
            <a:chExt cx="9267429" cy="8253818"/>
          </a:xfrm>
        </p:grpSpPr>
        <p:pic>
          <p:nvPicPr>
            <p:cNvPr id="4" name="Graphic 3">
              <a:extLst>
                <a:ext uri="{FF2B5EF4-FFF2-40B4-BE49-F238E27FC236}">
                  <a16:creationId xmlns:a16="http://schemas.microsoft.com/office/drawing/2014/main" id="{0FDF71DC-280A-C2E8-45B0-F0158DCFD6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9" name="Graphic 8">
              <a:extLst>
                <a:ext uri="{FF2B5EF4-FFF2-40B4-BE49-F238E27FC236}">
                  <a16:creationId xmlns:a16="http://schemas.microsoft.com/office/drawing/2014/main" id="{C78AF02D-42BE-0ABD-BB1B-337A97EE1CF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0" name="Graphic 9">
              <a:extLst>
                <a:ext uri="{FF2B5EF4-FFF2-40B4-BE49-F238E27FC236}">
                  <a16:creationId xmlns:a16="http://schemas.microsoft.com/office/drawing/2014/main" id="{271B60AA-6333-1432-01C3-2218A52AF1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1" name="Graphic 10">
              <a:extLst>
                <a:ext uri="{FF2B5EF4-FFF2-40B4-BE49-F238E27FC236}">
                  <a16:creationId xmlns:a16="http://schemas.microsoft.com/office/drawing/2014/main" id="{267B339A-AE5D-0530-6326-9EB0C731B2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96A4122F-B9F8-D24D-0B99-8062009E3B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18" name="Group 17">
              <a:extLst>
                <a:ext uri="{FF2B5EF4-FFF2-40B4-BE49-F238E27FC236}">
                  <a16:creationId xmlns:a16="http://schemas.microsoft.com/office/drawing/2014/main" id="{372C057F-4721-B53F-7567-4BDBF1D2E8B1}"/>
                </a:ext>
              </a:extLst>
            </p:cNvPr>
            <p:cNvGrpSpPr/>
            <p:nvPr userDrawn="1"/>
          </p:nvGrpSpPr>
          <p:grpSpPr>
            <a:xfrm>
              <a:off x="0" y="0"/>
              <a:ext cx="9144001" cy="6857673"/>
              <a:chOff x="0" y="0"/>
              <a:chExt cx="9144001" cy="6857673"/>
            </a:xfrm>
          </p:grpSpPr>
          <p:grpSp>
            <p:nvGrpSpPr>
              <p:cNvPr id="29" name="Group 6">
                <a:extLst>
                  <a:ext uri="{FF2B5EF4-FFF2-40B4-BE49-F238E27FC236}">
                    <a16:creationId xmlns:a16="http://schemas.microsoft.com/office/drawing/2014/main" id="{18056DAB-4D71-D757-C156-B9ECD593380E}"/>
                  </a:ext>
                </a:extLst>
              </p:cNvPr>
              <p:cNvGrpSpPr/>
              <p:nvPr userDrawn="1"/>
            </p:nvGrpSpPr>
            <p:grpSpPr>
              <a:xfrm>
                <a:off x="0" y="1295400"/>
                <a:ext cx="7010401" cy="46038"/>
                <a:chOff x="0" y="0"/>
                <a:chExt cx="7010400" cy="46037"/>
              </a:xfrm>
            </p:grpSpPr>
            <p:sp>
              <p:nvSpPr>
                <p:cNvPr id="36" name="Rectangle 6">
                  <a:extLst>
                    <a:ext uri="{FF2B5EF4-FFF2-40B4-BE49-F238E27FC236}">
                      <a16:creationId xmlns:a16="http://schemas.microsoft.com/office/drawing/2014/main" id="{3352717E-E19F-D58B-847F-17F7351D58F6}"/>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7" name="Rectangle 7">
                  <a:extLst>
                    <a:ext uri="{FF2B5EF4-FFF2-40B4-BE49-F238E27FC236}">
                      <a16:creationId xmlns:a16="http://schemas.microsoft.com/office/drawing/2014/main" id="{4A669312-0249-93A7-4500-4084F1B27BBF}"/>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8">
                  <a:extLst>
                    <a:ext uri="{FF2B5EF4-FFF2-40B4-BE49-F238E27FC236}">
                      <a16:creationId xmlns:a16="http://schemas.microsoft.com/office/drawing/2014/main" id="{9AFCFA8C-6C55-3A3A-9E40-FE48501EB39C}"/>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0" name="Group 10">
                <a:extLst>
                  <a:ext uri="{FF2B5EF4-FFF2-40B4-BE49-F238E27FC236}">
                    <a16:creationId xmlns:a16="http://schemas.microsoft.com/office/drawing/2014/main" id="{7D018F1A-4316-A2BB-CFE9-1D1C642D29E9}"/>
                  </a:ext>
                </a:extLst>
              </p:cNvPr>
              <p:cNvGrpSpPr/>
              <p:nvPr userDrawn="1"/>
            </p:nvGrpSpPr>
            <p:grpSpPr>
              <a:xfrm>
                <a:off x="2133600" y="6553200"/>
                <a:ext cx="7010401" cy="46038"/>
                <a:chOff x="0" y="0"/>
                <a:chExt cx="7010400" cy="46037"/>
              </a:xfrm>
            </p:grpSpPr>
            <p:sp>
              <p:nvSpPr>
                <p:cNvPr id="33" name="Rectangle 10">
                  <a:extLst>
                    <a:ext uri="{FF2B5EF4-FFF2-40B4-BE49-F238E27FC236}">
                      <a16:creationId xmlns:a16="http://schemas.microsoft.com/office/drawing/2014/main" id="{E5FC385A-83ED-7644-C1FF-E8EE0858AE2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4" name="Rectangle 11">
                  <a:extLst>
                    <a:ext uri="{FF2B5EF4-FFF2-40B4-BE49-F238E27FC236}">
                      <a16:creationId xmlns:a16="http://schemas.microsoft.com/office/drawing/2014/main" id="{C0B72FE6-E72F-5B98-1F9D-950F5C6ADAF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12">
                  <a:extLst>
                    <a:ext uri="{FF2B5EF4-FFF2-40B4-BE49-F238E27FC236}">
                      <a16:creationId xmlns:a16="http://schemas.microsoft.com/office/drawing/2014/main" id="{9BEC170F-BFCF-EEFD-C153-E835FA166CFA}"/>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1" name="Picture 14" descr="Picture 14">
                <a:extLst>
                  <a:ext uri="{FF2B5EF4-FFF2-40B4-BE49-F238E27FC236}">
                    <a16:creationId xmlns:a16="http://schemas.microsoft.com/office/drawing/2014/main" id="{73B8D9C8-40D7-BEE8-097C-775A094BBEAE}"/>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2" name="TextBox 14">
                <a:extLst>
                  <a:ext uri="{FF2B5EF4-FFF2-40B4-BE49-F238E27FC236}">
                    <a16:creationId xmlns:a16="http://schemas.microsoft.com/office/drawing/2014/main" id="{CEA42B8A-6A21-6099-0887-7EDA897B4AC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8" name="Graphic 27">
              <a:extLst>
                <a:ext uri="{FF2B5EF4-FFF2-40B4-BE49-F238E27FC236}">
                  <a16:creationId xmlns:a16="http://schemas.microsoft.com/office/drawing/2014/main" id="{5BBCA167-AF48-68ED-FD48-644D98ABC3D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614119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138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grpSp>
        <p:nvGrpSpPr>
          <p:cNvPr id="2" name="Group 1">
            <a:extLst>
              <a:ext uri="{FF2B5EF4-FFF2-40B4-BE49-F238E27FC236}">
                <a16:creationId xmlns:a16="http://schemas.microsoft.com/office/drawing/2014/main" id="{71BE7B95-1566-7501-625D-5132065378C7}"/>
              </a:ext>
            </a:extLst>
          </p:cNvPr>
          <p:cNvGrpSpPr/>
          <p:nvPr userDrawn="1"/>
        </p:nvGrpSpPr>
        <p:grpSpPr>
          <a:xfrm>
            <a:off x="-59470" y="-641099"/>
            <a:ext cx="9267429" cy="8253818"/>
            <a:chOff x="-59470" y="-641099"/>
            <a:chExt cx="9267429" cy="8253818"/>
          </a:xfrm>
        </p:grpSpPr>
        <p:pic>
          <p:nvPicPr>
            <p:cNvPr id="4" name="Graphic 3">
              <a:extLst>
                <a:ext uri="{FF2B5EF4-FFF2-40B4-BE49-F238E27FC236}">
                  <a16:creationId xmlns:a16="http://schemas.microsoft.com/office/drawing/2014/main" id="{181EBBB0-0CBF-9DD1-2EE0-B6CFFB27CAE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9" name="Graphic 8">
              <a:extLst>
                <a:ext uri="{FF2B5EF4-FFF2-40B4-BE49-F238E27FC236}">
                  <a16:creationId xmlns:a16="http://schemas.microsoft.com/office/drawing/2014/main" id="{39E72312-C6E1-E0B1-C116-2D3EAAAC34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10" name="Graphic 9">
              <a:extLst>
                <a:ext uri="{FF2B5EF4-FFF2-40B4-BE49-F238E27FC236}">
                  <a16:creationId xmlns:a16="http://schemas.microsoft.com/office/drawing/2014/main" id="{3888C306-1D70-D066-5064-9877238B11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1" name="Graphic 10">
              <a:extLst>
                <a:ext uri="{FF2B5EF4-FFF2-40B4-BE49-F238E27FC236}">
                  <a16:creationId xmlns:a16="http://schemas.microsoft.com/office/drawing/2014/main" id="{1E78C86B-7585-8BAC-2A5E-C1A97BA6F1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C3868376-AEC3-AC79-714D-0D1C442F0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18" name="Group 17">
              <a:extLst>
                <a:ext uri="{FF2B5EF4-FFF2-40B4-BE49-F238E27FC236}">
                  <a16:creationId xmlns:a16="http://schemas.microsoft.com/office/drawing/2014/main" id="{4ADD0A94-4E94-5E88-5F17-16C98A9CD14F}"/>
                </a:ext>
              </a:extLst>
            </p:cNvPr>
            <p:cNvGrpSpPr/>
            <p:nvPr userDrawn="1"/>
          </p:nvGrpSpPr>
          <p:grpSpPr>
            <a:xfrm>
              <a:off x="0" y="0"/>
              <a:ext cx="9144001" cy="6857673"/>
              <a:chOff x="0" y="0"/>
              <a:chExt cx="9144001" cy="6857673"/>
            </a:xfrm>
          </p:grpSpPr>
          <p:grpSp>
            <p:nvGrpSpPr>
              <p:cNvPr id="29" name="Group 6">
                <a:extLst>
                  <a:ext uri="{FF2B5EF4-FFF2-40B4-BE49-F238E27FC236}">
                    <a16:creationId xmlns:a16="http://schemas.microsoft.com/office/drawing/2014/main" id="{88CD6E70-FE5A-B73B-10EB-0885138E7A43}"/>
                  </a:ext>
                </a:extLst>
              </p:cNvPr>
              <p:cNvGrpSpPr/>
              <p:nvPr userDrawn="1"/>
            </p:nvGrpSpPr>
            <p:grpSpPr>
              <a:xfrm>
                <a:off x="0" y="1295400"/>
                <a:ext cx="7010401" cy="46038"/>
                <a:chOff x="0" y="0"/>
                <a:chExt cx="7010400" cy="46037"/>
              </a:xfrm>
            </p:grpSpPr>
            <p:sp>
              <p:nvSpPr>
                <p:cNvPr id="36" name="Rectangle 6">
                  <a:extLst>
                    <a:ext uri="{FF2B5EF4-FFF2-40B4-BE49-F238E27FC236}">
                      <a16:creationId xmlns:a16="http://schemas.microsoft.com/office/drawing/2014/main" id="{F1A55489-150B-7663-E7AA-D138752B6B3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7" name="Rectangle 7">
                  <a:extLst>
                    <a:ext uri="{FF2B5EF4-FFF2-40B4-BE49-F238E27FC236}">
                      <a16:creationId xmlns:a16="http://schemas.microsoft.com/office/drawing/2014/main" id="{F0BFE810-3A24-E5A4-AF93-424F6E5B174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8">
                  <a:extLst>
                    <a:ext uri="{FF2B5EF4-FFF2-40B4-BE49-F238E27FC236}">
                      <a16:creationId xmlns:a16="http://schemas.microsoft.com/office/drawing/2014/main" id="{E6C6E032-EA44-AE96-E499-7388135C831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0" name="Group 10">
                <a:extLst>
                  <a:ext uri="{FF2B5EF4-FFF2-40B4-BE49-F238E27FC236}">
                    <a16:creationId xmlns:a16="http://schemas.microsoft.com/office/drawing/2014/main" id="{69E2D5C9-99E6-4224-9596-5DA6EBE7444A}"/>
                  </a:ext>
                </a:extLst>
              </p:cNvPr>
              <p:cNvGrpSpPr/>
              <p:nvPr userDrawn="1"/>
            </p:nvGrpSpPr>
            <p:grpSpPr>
              <a:xfrm>
                <a:off x="2133600" y="6553200"/>
                <a:ext cx="7010401" cy="46038"/>
                <a:chOff x="0" y="0"/>
                <a:chExt cx="7010400" cy="46037"/>
              </a:xfrm>
            </p:grpSpPr>
            <p:sp>
              <p:nvSpPr>
                <p:cNvPr id="33" name="Rectangle 10">
                  <a:extLst>
                    <a:ext uri="{FF2B5EF4-FFF2-40B4-BE49-F238E27FC236}">
                      <a16:creationId xmlns:a16="http://schemas.microsoft.com/office/drawing/2014/main" id="{32F97CEA-2452-B3A5-4AA1-656C8D9591EC}"/>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4" name="Rectangle 11">
                  <a:extLst>
                    <a:ext uri="{FF2B5EF4-FFF2-40B4-BE49-F238E27FC236}">
                      <a16:creationId xmlns:a16="http://schemas.microsoft.com/office/drawing/2014/main" id="{266CDE35-0BB4-54FD-12FF-FE07424E7ED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 name="Rectangle 12">
                  <a:extLst>
                    <a:ext uri="{FF2B5EF4-FFF2-40B4-BE49-F238E27FC236}">
                      <a16:creationId xmlns:a16="http://schemas.microsoft.com/office/drawing/2014/main" id="{59651211-DF78-8632-F9B3-AF902544CEF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1" name="Picture 14" descr="Picture 14">
                <a:extLst>
                  <a:ext uri="{FF2B5EF4-FFF2-40B4-BE49-F238E27FC236}">
                    <a16:creationId xmlns:a16="http://schemas.microsoft.com/office/drawing/2014/main" id="{0A35C35D-D564-866E-4B99-97898D05CAC3}"/>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2" name="TextBox 14">
                <a:extLst>
                  <a:ext uri="{FF2B5EF4-FFF2-40B4-BE49-F238E27FC236}">
                    <a16:creationId xmlns:a16="http://schemas.microsoft.com/office/drawing/2014/main" id="{EAD559A2-0A15-209F-EDC8-C30E241AD895}"/>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8" name="Graphic 27">
              <a:extLst>
                <a:ext uri="{FF2B5EF4-FFF2-40B4-BE49-F238E27FC236}">
                  <a16:creationId xmlns:a16="http://schemas.microsoft.com/office/drawing/2014/main" id="{C9944DA8-D6B2-C653-F0E6-B838ECBD1BD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77817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30733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October 3,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 ZG651/ SS 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23643746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75" r:id="rId4"/>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October 3,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 ZG651/ SS 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92751539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October 3,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 ZG651/ SS 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392107973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1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4600" y="3687763"/>
            <a:ext cx="6019800" cy="1524000"/>
          </a:xfrm>
        </p:spPr>
        <p:txBody>
          <a:bodyPr/>
          <a:lstStyle/>
          <a:p>
            <a:r>
              <a:rPr lang="en-US" sz="3200" dirty="0"/>
              <a:t>Module 6: </a:t>
            </a:r>
            <a:r>
              <a:rPr lang="en-US" sz="3200"/>
              <a:t>CS 09</a:t>
            </a:r>
            <a:br>
              <a:rPr lang="en-US" sz="3200" dirty="0"/>
            </a:br>
            <a:r>
              <a:rPr lang="en-US" sz="2400" dirty="0"/>
              <a:t>Patterns – Part 1</a:t>
            </a:r>
            <a:br>
              <a:rPr lang="en-US" sz="2400" dirty="0"/>
            </a:br>
            <a:r>
              <a:rPr lang="en-US" sz="2400" dirty="0"/>
              <a:t>Layers</a:t>
            </a:r>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2404218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Introducing Patterns</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94742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57B833-A6FE-4A13-BAB3-4EE8045626E2}"/>
              </a:ext>
            </a:extLst>
          </p:cNvPr>
          <p:cNvSpPr>
            <a:spLocks noGrp="1"/>
          </p:cNvSpPr>
          <p:nvPr>
            <p:ph idx="1"/>
          </p:nvPr>
        </p:nvSpPr>
        <p:spPr/>
        <p:txBody>
          <a:bodyPr>
            <a:normAutofit/>
          </a:bodyPr>
          <a:lstStyle/>
          <a:p>
            <a:pPr marL="0" indent="0"/>
            <a:r>
              <a:rPr lang="en-US" sz="3800" dirty="0"/>
              <a:t>An architectural pattern establishes a relationship between:</a:t>
            </a:r>
          </a:p>
          <a:p>
            <a:pPr marL="2286000" lvl="4" indent="-571500">
              <a:buFont typeface="Wingdings" panose="05000000000000000000" pitchFamily="2" charset="2"/>
              <a:buChar char="ü"/>
            </a:pPr>
            <a:r>
              <a:rPr lang="en-US" sz="3400" i="1" dirty="0"/>
              <a:t>A context</a:t>
            </a:r>
            <a:r>
              <a:rPr lang="en-US" sz="3400" dirty="0"/>
              <a:t>. </a:t>
            </a:r>
          </a:p>
          <a:p>
            <a:pPr marL="2286000" lvl="4" indent="-571500">
              <a:buFont typeface="Wingdings" panose="05000000000000000000" pitchFamily="2" charset="2"/>
              <a:buChar char="ü"/>
            </a:pPr>
            <a:r>
              <a:rPr lang="en-US" sz="3400" i="1" dirty="0"/>
              <a:t>A problem.</a:t>
            </a:r>
            <a:endParaRPr lang="en-US" sz="3400" dirty="0"/>
          </a:p>
          <a:p>
            <a:pPr marL="2286000" lvl="4" indent="-571500">
              <a:buFont typeface="Wingdings" panose="05000000000000000000" pitchFamily="2" charset="2"/>
              <a:buChar char="ü"/>
            </a:pPr>
            <a:r>
              <a:rPr lang="en-US" sz="3400" i="1" dirty="0"/>
              <a:t>A solution.</a:t>
            </a:r>
            <a:endParaRPr lang="en-IN" dirty="0"/>
          </a:p>
        </p:txBody>
      </p:sp>
      <p:sp>
        <p:nvSpPr>
          <p:cNvPr id="3" name="Content Placeholder 2">
            <a:extLst>
              <a:ext uri="{FF2B5EF4-FFF2-40B4-BE49-F238E27FC236}">
                <a16:creationId xmlns:a16="http://schemas.microsoft.com/office/drawing/2014/main" id="{B5904910-6D01-45D0-B930-5EB1B212BF5A}"/>
              </a:ext>
            </a:extLst>
          </p:cNvPr>
          <p:cNvSpPr>
            <a:spLocks noGrp="1"/>
          </p:cNvSpPr>
          <p:nvPr>
            <p:ph sz="quarter" idx="10"/>
          </p:nvPr>
        </p:nvSpPr>
        <p:spPr/>
        <p:txBody>
          <a:bodyPr/>
          <a:lstStyle/>
          <a:p>
            <a:r>
              <a:rPr lang="en-IN" dirty="0"/>
              <a:t>Patterns</a:t>
            </a:r>
          </a:p>
        </p:txBody>
      </p:sp>
      <p:sp>
        <p:nvSpPr>
          <p:cNvPr id="5" name="Date Placeholder 4">
            <a:extLst>
              <a:ext uri="{FF2B5EF4-FFF2-40B4-BE49-F238E27FC236}">
                <a16:creationId xmlns:a16="http://schemas.microsoft.com/office/drawing/2014/main" id="{6A2E6FE2-728F-4FF3-9B73-34E09C240ED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2BF5E9F-8014-410F-A5F7-C5C9E4CF456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72300D6F-199C-4AF7-B64A-395BB130B6A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01857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59A919-D7DE-4171-B24B-8A9BC3255554}"/>
              </a:ext>
            </a:extLst>
          </p:cNvPr>
          <p:cNvSpPr>
            <a:spLocks noGrp="1"/>
          </p:cNvSpPr>
          <p:nvPr>
            <p:ph idx="1"/>
          </p:nvPr>
        </p:nvSpPr>
        <p:spPr/>
        <p:txBody>
          <a:bodyPr>
            <a:normAutofit/>
          </a:bodyPr>
          <a:lstStyle/>
          <a:p>
            <a:r>
              <a:rPr lang="en-US" sz="3800" i="1" dirty="0"/>
              <a:t>A context</a:t>
            </a:r>
            <a:r>
              <a:rPr lang="en-US" sz="3800" dirty="0"/>
              <a:t>. </a:t>
            </a:r>
          </a:p>
          <a:p>
            <a:endParaRPr lang="en-US" sz="3800" dirty="0"/>
          </a:p>
          <a:p>
            <a:r>
              <a:rPr lang="en-US" sz="3800" dirty="0"/>
              <a:t>	A recurring, common situation in the world that gives rise to a problem.</a:t>
            </a:r>
          </a:p>
          <a:p>
            <a:endParaRPr lang="en-IN" dirty="0"/>
          </a:p>
        </p:txBody>
      </p:sp>
      <p:sp>
        <p:nvSpPr>
          <p:cNvPr id="3" name="Content Placeholder 2">
            <a:extLst>
              <a:ext uri="{FF2B5EF4-FFF2-40B4-BE49-F238E27FC236}">
                <a16:creationId xmlns:a16="http://schemas.microsoft.com/office/drawing/2014/main" id="{C8C818C5-2243-4DC6-B323-177CCCF1D104}"/>
              </a:ext>
            </a:extLst>
          </p:cNvPr>
          <p:cNvSpPr>
            <a:spLocks noGrp="1"/>
          </p:cNvSpPr>
          <p:nvPr>
            <p:ph sz="quarter" idx="10"/>
          </p:nvPr>
        </p:nvSpPr>
        <p:spPr/>
        <p:txBody>
          <a:bodyPr/>
          <a:lstStyle/>
          <a:p>
            <a:r>
              <a:rPr lang="en-IN" dirty="0"/>
              <a:t>Context</a:t>
            </a:r>
          </a:p>
        </p:txBody>
      </p:sp>
      <p:sp>
        <p:nvSpPr>
          <p:cNvPr id="4" name="Content Placeholder 3">
            <a:extLst>
              <a:ext uri="{FF2B5EF4-FFF2-40B4-BE49-F238E27FC236}">
                <a16:creationId xmlns:a16="http://schemas.microsoft.com/office/drawing/2014/main" id="{74E458B7-2AE8-433E-BEF2-D1B7FD95FBD4}"/>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558C066A-E751-463D-8250-60E43B59854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01453FA-4111-4F8B-881D-DA7A5791EDAA}"/>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6AE8DF25-04F9-42F5-8186-DFE55DB765D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99809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F6D441-8EEA-4792-954E-4A6523641475}"/>
              </a:ext>
            </a:extLst>
          </p:cNvPr>
          <p:cNvSpPr>
            <a:spLocks noGrp="1"/>
          </p:cNvSpPr>
          <p:nvPr>
            <p:ph idx="1"/>
          </p:nvPr>
        </p:nvSpPr>
        <p:spPr/>
        <p:txBody>
          <a:bodyPr>
            <a:normAutofit/>
          </a:bodyPr>
          <a:lstStyle/>
          <a:p>
            <a:r>
              <a:rPr lang="en-US" sz="3800" i="1" dirty="0"/>
              <a:t>A problem. </a:t>
            </a:r>
          </a:p>
          <a:p>
            <a:endParaRPr lang="en-US" sz="3800" i="1" dirty="0"/>
          </a:p>
          <a:p>
            <a:r>
              <a:rPr lang="en-US" sz="3800" i="1" dirty="0"/>
              <a:t>	</a:t>
            </a:r>
            <a:r>
              <a:rPr lang="en-US" sz="3800" dirty="0"/>
              <a:t>The problem, appropriately generalized, that arises in the given context.</a:t>
            </a:r>
          </a:p>
          <a:p>
            <a:endParaRPr lang="en-IN" dirty="0"/>
          </a:p>
        </p:txBody>
      </p:sp>
      <p:sp>
        <p:nvSpPr>
          <p:cNvPr id="3" name="Content Placeholder 2">
            <a:extLst>
              <a:ext uri="{FF2B5EF4-FFF2-40B4-BE49-F238E27FC236}">
                <a16:creationId xmlns:a16="http://schemas.microsoft.com/office/drawing/2014/main" id="{552A4546-817A-4B2F-90E8-80F9B3F652DB}"/>
              </a:ext>
            </a:extLst>
          </p:cNvPr>
          <p:cNvSpPr>
            <a:spLocks noGrp="1"/>
          </p:cNvSpPr>
          <p:nvPr>
            <p:ph sz="quarter" idx="10"/>
          </p:nvPr>
        </p:nvSpPr>
        <p:spPr/>
        <p:txBody>
          <a:bodyPr/>
          <a:lstStyle/>
          <a:p>
            <a:r>
              <a:rPr lang="en-IN" dirty="0"/>
              <a:t>Problem</a:t>
            </a:r>
          </a:p>
        </p:txBody>
      </p:sp>
      <p:sp>
        <p:nvSpPr>
          <p:cNvPr id="4" name="Content Placeholder 3">
            <a:extLst>
              <a:ext uri="{FF2B5EF4-FFF2-40B4-BE49-F238E27FC236}">
                <a16:creationId xmlns:a16="http://schemas.microsoft.com/office/drawing/2014/main" id="{49DADDA9-4E2A-4456-82A7-18D83A0F7BA6}"/>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D4A35C85-301A-452F-A724-9FDA7D5283D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8FE2A4D-5F33-4198-AD84-D08ECD493BB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C317B8D4-2232-4268-9836-1126D4C2DCD1}"/>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7764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325112-32AE-4214-822F-4A0D67F769D4}"/>
              </a:ext>
            </a:extLst>
          </p:cNvPr>
          <p:cNvSpPr>
            <a:spLocks noGrp="1"/>
          </p:cNvSpPr>
          <p:nvPr>
            <p:ph idx="1"/>
          </p:nvPr>
        </p:nvSpPr>
        <p:spPr/>
        <p:txBody>
          <a:bodyPr>
            <a:normAutofit fontScale="77500" lnSpcReduction="20000"/>
          </a:bodyPr>
          <a:lstStyle/>
          <a:p>
            <a:r>
              <a:rPr lang="en-US" sz="3800" i="1" dirty="0"/>
              <a:t>A solution. </a:t>
            </a:r>
          </a:p>
          <a:p>
            <a:r>
              <a:rPr lang="en-US" sz="3800" i="1" dirty="0"/>
              <a:t>	</a:t>
            </a:r>
            <a:r>
              <a:rPr lang="en-US" sz="3800" dirty="0"/>
              <a:t>A successful architectural resolution to the problem, appropriately abstracted. The solution for a pattern is determined and described by:</a:t>
            </a:r>
          </a:p>
          <a:p>
            <a:pPr lvl="1"/>
            <a:r>
              <a:rPr lang="en-US" sz="3400" dirty="0"/>
              <a:t>A set of element types (for example, data repositories, processes, and objects)</a:t>
            </a:r>
          </a:p>
          <a:p>
            <a:pPr lvl="1"/>
            <a:r>
              <a:rPr lang="en-US" sz="3400" dirty="0"/>
              <a:t>A set of interaction mechanisms or connectors (for example, method calls, events, or message bus)</a:t>
            </a:r>
          </a:p>
          <a:p>
            <a:pPr lvl="1"/>
            <a:r>
              <a:rPr lang="en-US" sz="3400" dirty="0"/>
              <a:t>A topological layout of the components</a:t>
            </a:r>
          </a:p>
          <a:p>
            <a:pPr lvl="1"/>
            <a:r>
              <a:rPr lang="en-US" sz="3400" dirty="0"/>
              <a:t>A set of semantic constraints covering topology, element behavior, and interaction mechanisms</a:t>
            </a:r>
          </a:p>
          <a:p>
            <a:endParaRPr lang="en-IN" dirty="0"/>
          </a:p>
        </p:txBody>
      </p:sp>
      <p:sp>
        <p:nvSpPr>
          <p:cNvPr id="3" name="Content Placeholder 2">
            <a:extLst>
              <a:ext uri="{FF2B5EF4-FFF2-40B4-BE49-F238E27FC236}">
                <a16:creationId xmlns:a16="http://schemas.microsoft.com/office/drawing/2014/main" id="{3E3E4361-4B77-46CF-BF3C-CD0CC5093A36}"/>
              </a:ext>
            </a:extLst>
          </p:cNvPr>
          <p:cNvSpPr>
            <a:spLocks noGrp="1"/>
          </p:cNvSpPr>
          <p:nvPr>
            <p:ph sz="quarter" idx="10"/>
          </p:nvPr>
        </p:nvSpPr>
        <p:spPr/>
        <p:txBody>
          <a:bodyPr/>
          <a:lstStyle/>
          <a:p>
            <a:r>
              <a:rPr lang="en-IN" dirty="0"/>
              <a:t>Solution</a:t>
            </a:r>
          </a:p>
        </p:txBody>
      </p:sp>
      <p:sp>
        <p:nvSpPr>
          <p:cNvPr id="5" name="Date Placeholder 4">
            <a:extLst>
              <a:ext uri="{FF2B5EF4-FFF2-40B4-BE49-F238E27FC236}">
                <a16:creationId xmlns:a16="http://schemas.microsoft.com/office/drawing/2014/main" id="{D640EB5A-FD3C-4E59-AAA7-B840595796F0}"/>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6A8718E-8ABE-444B-BEB7-B8A6B036B24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CD5C677E-B538-4E59-8E50-75F27464933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75352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18CDBB-09CB-44B4-B699-DAE1631E0077}"/>
              </a:ext>
            </a:extLst>
          </p:cNvPr>
          <p:cNvSpPr>
            <a:spLocks noGrp="1"/>
          </p:cNvSpPr>
          <p:nvPr>
            <p:ph idx="1"/>
          </p:nvPr>
        </p:nvSpPr>
        <p:spPr/>
        <p:txBody>
          <a:bodyPr/>
          <a:lstStyle/>
          <a:p>
            <a:pPr>
              <a:buFont typeface="Arial" panose="020B0604020202020204" pitchFamily="34" charset="0"/>
              <a:buChar char="•"/>
            </a:pPr>
            <a:r>
              <a:rPr lang="en-IN" dirty="0"/>
              <a:t>Problem…Context…Solution</a:t>
            </a:r>
          </a:p>
          <a:p>
            <a:pPr>
              <a:buFont typeface="Arial" panose="020B0604020202020204" pitchFamily="34" charset="0"/>
              <a:buChar char="•"/>
            </a:pPr>
            <a:r>
              <a:rPr lang="en-IN" dirty="0"/>
              <a:t>Existing, well-proven design experience</a:t>
            </a:r>
          </a:p>
          <a:p>
            <a:pPr>
              <a:buFont typeface="Arial" panose="020B0604020202020204" pitchFamily="34" charset="0"/>
              <a:buChar char="•"/>
            </a:pPr>
            <a:r>
              <a:rPr lang="en-IN" dirty="0"/>
              <a:t>Identify and Specify Abstractions</a:t>
            </a:r>
          </a:p>
          <a:p>
            <a:pPr>
              <a:buFont typeface="Arial" panose="020B0604020202020204" pitchFamily="34" charset="0"/>
              <a:buChar char="•"/>
            </a:pPr>
            <a:r>
              <a:rPr lang="en-IN" dirty="0"/>
              <a:t>Provide Common Vocabulary</a:t>
            </a:r>
          </a:p>
          <a:p>
            <a:pPr>
              <a:buFont typeface="Arial" panose="020B0604020202020204" pitchFamily="34" charset="0"/>
              <a:buChar char="•"/>
            </a:pPr>
            <a:r>
              <a:rPr lang="en-IN" dirty="0"/>
              <a:t>Means of documenting Software Architecture</a:t>
            </a:r>
          </a:p>
          <a:p>
            <a:pPr>
              <a:buFont typeface="Arial" panose="020B0604020202020204" pitchFamily="34" charset="0"/>
              <a:buChar char="•"/>
            </a:pPr>
            <a:r>
              <a:rPr lang="en-IN" dirty="0"/>
              <a:t>Support construction with defined properties</a:t>
            </a:r>
          </a:p>
          <a:p>
            <a:pPr>
              <a:buFont typeface="Arial" panose="020B0604020202020204" pitchFamily="34" charset="0"/>
              <a:buChar char="•"/>
            </a:pPr>
            <a:r>
              <a:rPr lang="en-IN" dirty="0"/>
              <a:t>Help build complex and heterogenous architectures</a:t>
            </a:r>
          </a:p>
          <a:p>
            <a:pPr>
              <a:buFont typeface="Arial" panose="020B0604020202020204" pitchFamily="34" charset="0"/>
              <a:buChar char="•"/>
            </a:pPr>
            <a:r>
              <a:rPr lang="en-IN" dirty="0"/>
              <a:t>Help to manage software complexity</a:t>
            </a:r>
          </a:p>
        </p:txBody>
      </p:sp>
      <p:sp>
        <p:nvSpPr>
          <p:cNvPr id="3" name="Content Placeholder 2">
            <a:extLst>
              <a:ext uri="{FF2B5EF4-FFF2-40B4-BE49-F238E27FC236}">
                <a16:creationId xmlns:a16="http://schemas.microsoft.com/office/drawing/2014/main" id="{206815DD-72FA-48DD-9AF4-28AC9CA02D72}"/>
              </a:ext>
            </a:extLst>
          </p:cNvPr>
          <p:cNvSpPr>
            <a:spLocks noGrp="1"/>
          </p:cNvSpPr>
          <p:nvPr>
            <p:ph sz="quarter" idx="10"/>
          </p:nvPr>
        </p:nvSpPr>
        <p:spPr/>
        <p:txBody>
          <a:bodyPr/>
          <a:lstStyle/>
          <a:p>
            <a:r>
              <a:rPr lang="en-IN" dirty="0"/>
              <a:t>Properties of Patterns</a:t>
            </a:r>
          </a:p>
        </p:txBody>
      </p:sp>
      <p:sp>
        <p:nvSpPr>
          <p:cNvPr id="4" name="Content Placeholder 3">
            <a:extLst>
              <a:ext uri="{FF2B5EF4-FFF2-40B4-BE49-F238E27FC236}">
                <a16:creationId xmlns:a16="http://schemas.microsoft.com/office/drawing/2014/main" id="{98A5463B-4729-4B57-8FA4-DB2663871175}"/>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1F21604A-FF55-4263-8789-8E164A5778B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4147EB9-2F8A-416B-A01E-D4530EFA971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85C24D8-F45D-4479-AC0E-F55068B516B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603187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74E2D2-5F0D-4DA4-96CC-D3C91C0BBC0E}"/>
              </a:ext>
            </a:extLst>
          </p:cNvPr>
          <p:cNvSpPr>
            <a:spLocks noGrp="1"/>
          </p:cNvSpPr>
          <p:nvPr>
            <p:ph idx="1"/>
          </p:nvPr>
        </p:nvSpPr>
        <p:spPr/>
        <p:txBody>
          <a:bodyPr/>
          <a:lstStyle/>
          <a:p>
            <a:pPr>
              <a:buFont typeface="Arial" panose="020B0604020202020204" pitchFamily="34" charset="0"/>
              <a:buChar char="•"/>
            </a:pPr>
            <a:r>
              <a:rPr lang="en-IN" dirty="0"/>
              <a:t>A pattern addresses a recurring design problem that arises in specific design situations, and presents a solution to it. </a:t>
            </a:r>
          </a:p>
          <a:p>
            <a:pPr marL="0" indent="0"/>
            <a:r>
              <a:rPr lang="en-IN" dirty="0"/>
              <a:t>	</a:t>
            </a:r>
          </a:p>
          <a:p>
            <a:pPr>
              <a:buFont typeface="Arial" panose="020B0604020202020204" pitchFamily="34" charset="0"/>
              <a:buChar char="•"/>
            </a:pPr>
            <a:r>
              <a:rPr lang="en-IN" dirty="0"/>
              <a:t>If the problem is supporting variability in user interfaces. This problem may arise when developing software systems with human-computer interaction. You can solve this problem by a strict separation of responsibilities: the core functionality of the application is separated from its user interface. </a:t>
            </a:r>
          </a:p>
        </p:txBody>
      </p:sp>
      <p:sp>
        <p:nvSpPr>
          <p:cNvPr id="3" name="Content Placeholder 2">
            <a:extLst>
              <a:ext uri="{FF2B5EF4-FFF2-40B4-BE49-F238E27FC236}">
                <a16:creationId xmlns:a16="http://schemas.microsoft.com/office/drawing/2014/main" id="{F666B8B8-F761-40BD-9A84-CE3B462F5356}"/>
              </a:ext>
            </a:extLst>
          </p:cNvPr>
          <p:cNvSpPr>
            <a:spLocks noGrp="1"/>
          </p:cNvSpPr>
          <p:nvPr>
            <p:ph sz="quarter" idx="10"/>
          </p:nvPr>
        </p:nvSpPr>
        <p:spPr/>
        <p:txBody>
          <a:bodyPr/>
          <a:lstStyle/>
          <a:p>
            <a:r>
              <a:rPr lang="en-IN" dirty="0"/>
              <a:t>Problem…Context…Solution</a:t>
            </a:r>
          </a:p>
        </p:txBody>
      </p:sp>
      <p:sp>
        <p:nvSpPr>
          <p:cNvPr id="5" name="Date Placeholder 4">
            <a:extLst>
              <a:ext uri="{FF2B5EF4-FFF2-40B4-BE49-F238E27FC236}">
                <a16:creationId xmlns:a16="http://schemas.microsoft.com/office/drawing/2014/main" id="{88386CE2-401B-46BD-AA56-3E2CA6BFFCB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3CD3798D-7708-42DC-AAEC-92B4C205E2C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E3ED62B-F09C-401A-B8DC-64BF6C9179A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9941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C23057-265C-4B4D-B5F3-600169B26544}"/>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IN" dirty="0"/>
              <a:t>Patterns document existing, well-proven design experience. </a:t>
            </a:r>
          </a:p>
          <a:p>
            <a:pPr>
              <a:buFont typeface="Arial" panose="020B0604020202020204" pitchFamily="34" charset="0"/>
              <a:buChar char="•"/>
            </a:pPr>
            <a:r>
              <a:rPr lang="en-IN" dirty="0"/>
              <a:t>They are not invented or created artificially. </a:t>
            </a:r>
          </a:p>
          <a:p>
            <a:pPr>
              <a:buFont typeface="Arial" panose="020B0604020202020204" pitchFamily="34" charset="0"/>
              <a:buChar char="•"/>
            </a:pPr>
            <a:r>
              <a:rPr lang="en-IN" dirty="0"/>
              <a:t>Rather they </a:t>
            </a:r>
            <a:r>
              <a:rPr lang="en-IN" dirty="0" err="1"/>
              <a:t>distill</a:t>
            </a:r>
            <a:r>
              <a:rPr lang="en-IN" dirty="0"/>
              <a:t> and provide a means to reuse the design knowledge gained by experienced practitioners</a:t>
            </a:r>
          </a:p>
          <a:p>
            <a:pPr>
              <a:buFont typeface="Arial" panose="020B0604020202020204" pitchFamily="34" charset="0"/>
              <a:buChar char="•"/>
            </a:pPr>
            <a:r>
              <a:rPr lang="en-IN" dirty="0"/>
              <a:t>Those familiar with an adequate set of patterns 'can apply them immediately to design problems without having to rediscover them’ </a:t>
            </a:r>
          </a:p>
          <a:p>
            <a:pPr>
              <a:buFont typeface="Arial" panose="020B0604020202020204" pitchFamily="34" charset="0"/>
              <a:buChar char="•"/>
            </a:pPr>
            <a:r>
              <a:rPr lang="en-IN" dirty="0"/>
              <a:t>Instead of knowledge existing only in the heads of a few experts, patterns make it more generally available. </a:t>
            </a:r>
          </a:p>
          <a:p>
            <a:pPr>
              <a:buFont typeface="Arial" panose="020B0604020202020204" pitchFamily="34" charset="0"/>
              <a:buChar char="•"/>
            </a:pPr>
            <a:r>
              <a:rPr lang="en-IN" dirty="0"/>
              <a:t>You can use such expert knowledge to design high-quality software for a specific task. </a:t>
            </a:r>
          </a:p>
          <a:p>
            <a:pPr>
              <a:buFont typeface="Arial" panose="020B0604020202020204" pitchFamily="34" charset="0"/>
              <a:buChar char="•"/>
            </a:pPr>
            <a:r>
              <a:rPr lang="en-IN" dirty="0"/>
              <a:t>The Model-View-Controller pattern, for example, presents experience gained over many years of developing interactive systems. Many well-known applications already apply the Model- View-Controller pattern-it is the classical architecture for many Smalltalk applications, and under several application frameworks such as </a:t>
            </a:r>
            <a:r>
              <a:rPr lang="en-IN" dirty="0" err="1"/>
              <a:t>MacApp</a:t>
            </a:r>
            <a:r>
              <a:rPr lang="en-IN" dirty="0"/>
              <a:t>/Windows Apps.</a:t>
            </a:r>
          </a:p>
        </p:txBody>
      </p:sp>
      <p:sp>
        <p:nvSpPr>
          <p:cNvPr id="3" name="Content Placeholder 2">
            <a:extLst>
              <a:ext uri="{FF2B5EF4-FFF2-40B4-BE49-F238E27FC236}">
                <a16:creationId xmlns:a16="http://schemas.microsoft.com/office/drawing/2014/main" id="{BA1F4D4D-0066-4398-9320-5C2B851E356C}"/>
              </a:ext>
            </a:extLst>
          </p:cNvPr>
          <p:cNvSpPr>
            <a:spLocks noGrp="1"/>
          </p:cNvSpPr>
          <p:nvPr>
            <p:ph sz="quarter" idx="10"/>
          </p:nvPr>
        </p:nvSpPr>
        <p:spPr/>
        <p:txBody>
          <a:bodyPr/>
          <a:lstStyle/>
          <a:p>
            <a:r>
              <a:rPr lang="en-IN" dirty="0"/>
              <a:t>Existing, well-proven design experience</a:t>
            </a:r>
          </a:p>
        </p:txBody>
      </p:sp>
      <p:sp>
        <p:nvSpPr>
          <p:cNvPr id="5" name="Date Placeholder 4">
            <a:extLst>
              <a:ext uri="{FF2B5EF4-FFF2-40B4-BE49-F238E27FC236}">
                <a16:creationId xmlns:a16="http://schemas.microsoft.com/office/drawing/2014/main" id="{2BB82B1B-AD30-4315-BA22-4ABAFB3A67D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A0B61576-9B37-46E1-BD6B-63FCCF526A83}"/>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3C6B278C-CB44-4F95-B2D2-0CA80879D72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42924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F59276-D46D-4249-96BD-CDE3A00F9609}"/>
              </a:ext>
            </a:extLst>
          </p:cNvPr>
          <p:cNvSpPr>
            <a:spLocks noGrp="1"/>
          </p:cNvSpPr>
          <p:nvPr>
            <p:ph idx="1"/>
          </p:nvPr>
        </p:nvSpPr>
        <p:spPr/>
        <p:txBody>
          <a:bodyPr>
            <a:normAutofit fontScale="92500"/>
          </a:bodyPr>
          <a:lstStyle/>
          <a:p>
            <a:pPr>
              <a:buFont typeface="Arial" panose="020B0604020202020204" pitchFamily="34" charset="0"/>
              <a:buChar char="•"/>
            </a:pPr>
            <a:r>
              <a:rPr lang="en-IN" dirty="0"/>
              <a:t>Patterns identify and specify abstractions that are above the level of single classes and instances, or of components. </a:t>
            </a:r>
          </a:p>
          <a:p>
            <a:pPr>
              <a:buFont typeface="Arial" panose="020B0604020202020204" pitchFamily="34" charset="0"/>
              <a:buChar char="•"/>
            </a:pPr>
            <a:r>
              <a:rPr lang="en-IN" dirty="0"/>
              <a:t>Typically, a pattern describes several components, classes or objects, and details their responsibilities and relationships, as well as their cooperation. </a:t>
            </a:r>
          </a:p>
          <a:p>
            <a:pPr>
              <a:buFont typeface="Arial" panose="020B0604020202020204" pitchFamily="34" charset="0"/>
              <a:buChar char="•"/>
            </a:pPr>
            <a:r>
              <a:rPr lang="en-IN" dirty="0"/>
              <a:t>All components together solve the problem that the pattern addresses, and usually more effectively than a single component.</a:t>
            </a:r>
          </a:p>
          <a:p>
            <a:pPr>
              <a:buFont typeface="Arial" panose="020B0604020202020204" pitchFamily="34" charset="0"/>
              <a:buChar char="•"/>
            </a:pPr>
            <a:r>
              <a:rPr lang="en-IN" dirty="0"/>
              <a:t>Example, the Model-View-Controller pattern describes a triad of three cooperating components, and each MVC triad also cooperates with other MVC triads of the system. </a:t>
            </a:r>
          </a:p>
        </p:txBody>
      </p:sp>
      <p:sp>
        <p:nvSpPr>
          <p:cNvPr id="3" name="Content Placeholder 2">
            <a:extLst>
              <a:ext uri="{FF2B5EF4-FFF2-40B4-BE49-F238E27FC236}">
                <a16:creationId xmlns:a16="http://schemas.microsoft.com/office/drawing/2014/main" id="{D3A168C2-9C19-48C5-A913-5FEA72BBADFE}"/>
              </a:ext>
            </a:extLst>
          </p:cNvPr>
          <p:cNvSpPr>
            <a:spLocks noGrp="1"/>
          </p:cNvSpPr>
          <p:nvPr>
            <p:ph sz="quarter" idx="10"/>
          </p:nvPr>
        </p:nvSpPr>
        <p:spPr/>
        <p:txBody>
          <a:bodyPr/>
          <a:lstStyle/>
          <a:p>
            <a:r>
              <a:rPr lang="en-IN" dirty="0"/>
              <a:t>Identify and Specify Abstractions</a:t>
            </a:r>
          </a:p>
        </p:txBody>
      </p:sp>
      <p:sp>
        <p:nvSpPr>
          <p:cNvPr id="5" name="Date Placeholder 4">
            <a:extLst>
              <a:ext uri="{FF2B5EF4-FFF2-40B4-BE49-F238E27FC236}">
                <a16:creationId xmlns:a16="http://schemas.microsoft.com/office/drawing/2014/main" id="{8A88A9A8-E3EE-492D-B02C-CAA1816A62D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D90B8C58-19D0-4E04-97A6-4684895E06FA}"/>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6A178CE4-F0C1-4D87-B2BB-002F30663C7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4680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6696C2-9D78-4614-99E8-EF342B732564}"/>
              </a:ext>
            </a:extLst>
          </p:cNvPr>
          <p:cNvSpPr>
            <a:spLocks noGrp="1"/>
          </p:cNvSpPr>
          <p:nvPr>
            <p:ph idx="1"/>
          </p:nvPr>
        </p:nvSpPr>
        <p:spPr>
          <a:xfrm>
            <a:off x="304800" y="1493837"/>
            <a:ext cx="8534400" cy="4972839"/>
          </a:xfrm>
        </p:spPr>
        <p:txBody>
          <a:bodyPr>
            <a:normAutofit fontScale="85000" lnSpcReduction="20000"/>
          </a:bodyPr>
          <a:lstStyle/>
          <a:p>
            <a:pPr>
              <a:buFont typeface="Arial" panose="020B0604020202020204" pitchFamily="34" charset="0"/>
              <a:buChar char="•"/>
            </a:pPr>
            <a:r>
              <a:rPr lang="en-IN" dirty="0"/>
              <a:t>Patterns provide a common vocabulary and understanding for design principles. </a:t>
            </a:r>
          </a:p>
          <a:p>
            <a:pPr>
              <a:buFont typeface="Arial" panose="020B0604020202020204" pitchFamily="34" charset="0"/>
              <a:buChar char="•"/>
            </a:pPr>
            <a:r>
              <a:rPr lang="en-IN" dirty="0"/>
              <a:t>Pattern names, if chosen carefully, become part of a widespread design language. </a:t>
            </a:r>
          </a:p>
          <a:p>
            <a:pPr>
              <a:buFont typeface="Arial" panose="020B0604020202020204" pitchFamily="34" charset="0"/>
              <a:buChar char="•"/>
            </a:pPr>
            <a:r>
              <a:rPr lang="en-IN" dirty="0"/>
              <a:t>They facilitate effective discussion of design problems and their solutions. </a:t>
            </a:r>
          </a:p>
          <a:p>
            <a:pPr>
              <a:buFont typeface="Arial" panose="020B0604020202020204" pitchFamily="34" charset="0"/>
              <a:buChar char="•"/>
            </a:pPr>
            <a:r>
              <a:rPr lang="en-IN" dirty="0"/>
              <a:t>They remove the need to explain a solution to a particular problem with a lengthy and complicated description. </a:t>
            </a:r>
          </a:p>
          <a:p>
            <a:pPr>
              <a:buFont typeface="Arial" panose="020B0604020202020204" pitchFamily="34" charset="0"/>
              <a:buChar char="•"/>
            </a:pPr>
            <a:r>
              <a:rPr lang="en-IN" dirty="0"/>
              <a:t>Instead, you can use a pattern name, and explain which parts of a solution correspond to which components of the pattern, or to which relationships between them. </a:t>
            </a:r>
          </a:p>
          <a:p>
            <a:pPr>
              <a:buFont typeface="Arial" panose="020B0604020202020204" pitchFamily="34" charset="0"/>
              <a:buChar char="•"/>
            </a:pPr>
            <a:r>
              <a:rPr lang="en-IN" dirty="0"/>
              <a:t>Example, the name 'Model-View-Controller' and the associated pattern has been to the Smalltalk community since the early '80s and is used by many software engineers. When we say, 'the architecture of the software follows Model-View-Controller', all our colleagues who are familiar with the pattern have an idea of the basic structure and properties of the application immediately. </a:t>
            </a:r>
          </a:p>
        </p:txBody>
      </p:sp>
      <p:sp>
        <p:nvSpPr>
          <p:cNvPr id="3" name="Content Placeholder 2">
            <a:extLst>
              <a:ext uri="{FF2B5EF4-FFF2-40B4-BE49-F238E27FC236}">
                <a16:creationId xmlns:a16="http://schemas.microsoft.com/office/drawing/2014/main" id="{20D7A80C-10D2-4E58-B12D-A69DAB43055E}"/>
              </a:ext>
            </a:extLst>
          </p:cNvPr>
          <p:cNvSpPr>
            <a:spLocks noGrp="1"/>
          </p:cNvSpPr>
          <p:nvPr>
            <p:ph sz="quarter" idx="10"/>
          </p:nvPr>
        </p:nvSpPr>
        <p:spPr/>
        <p:txBody>
          <a:bodyPr>
            <a:normAutofit/>
          </a:bodyPr>
          <a:lstStyle/>
          <a:p>
            <a:r>
              <a:rPr lang="en-IN" dirty="0"/>
              <a:t>Provide Common Vocabulary</a:t>
            </a:r>
          </a:p>
        </p:txBody>
      </p:sp>
      <p:sp>
        <p:nvSpPr>
          <p:cNvPr id="5" name="Date Placeholder 4">
            <a:extLst>
              <a:ext uri="{FF2B5EF4-FFF2-40B4-BE49-F238E27FC236}">
                <a16:creationId xmlns:a16="http://schemas.microsoft.com/office/drawing/2014/main" id="{649EEC28-0FDB-4F90-AA63-66A76962266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70B4BE1-03D8-4696-B0CE-C8C29C97DB6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FAD88350-85E0-45CF-8EF7-E528C48ABDE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10912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239FAD-AC4A-4C83-A742-D6D7A646CDC7}"/>
              </a:ext>
            </a:extLst>
          </p:cNvPr>
          <p:cNvSpPr>
            <a:spLocks noGrp="1"/>
          </p:cNvSpPr>
          <p:nvPr>
            <p:ph idx="1"/>
          </p:nvPr>
        </p:nvSpPr>
        <p:spPr/>
        <p:txBody>
          <a:bodyPr>
            <a:normAutofit lnSpcReduction="10000"/>
          </a:bodyPr>
          <a:lstStyle/>
          <a:p>
            <a:pPr>
              <a:buFont typeface="Arial" panose="020B0604020202020204" pitchFamily="34" charset="0"/>
              <a:buChar char="•"/>
            </a:pPr>
            <a:r>
              <a:rPr lang="en-IN" dirty="0"/>
              <a:t>Patterns are a means of documenting software architectures. </a:t>
            </a:r>
          </a:p>
          <a:p>
            <a:pPr>
              <a:buFont typeface="Arial" panose="020B0604020202020204" pitchFamily="34" charset="0"/>
              <a:buChar char="•"/>
            </a:pPr>
            <a:r>
              <a:rPr lang="en-IN" dirty="0"/>
              <a:t>They can describe the vision you have in mind when designing a software system. </a:t>
            </a:r>
          </a:p>
          <a:p>
            <a:pPr>
              <a:buFont typeface="Arial" panose="020B0604020202020204" pitchFamily="34" charset="0"/>
              <a:buChar char="•"/>
            </a:pPr>
            <a:r>
              <a:rPr lang="en-IN" dirty="0"/>
              <a:t>This helps others to avoid violating this vision when extending and modifying the original architecture, or when modifying the system's code. </a:t>
            </a:r>
          </a:p>
          <a:p>
            <a:pPr>
              <a:buFont typeface="Arial" panose="020B0604020202020204" pitchFamily="34" charset="0"/>
              <a:buChar char="•"/>
            </a:pPr>
            <a:r>
              <a:rPr lang="en-IN" dirty="0"/>
              <a:t>Example, if you know that a system is structured according to the Model-View-Controller pattern, you also know how to extend it with a new function: keep core functionality separate from user input and information display. </a:t>
            </a:r>
          </a:p>
        </p:txBody>
      </p:sp>
      <p:sp>
        <p:nvSpPr>
          <p:cNvPr id="3" name="Content Placeholder 2">
            <a:extLst>
              <a:ext uri="{FF2B5EF4-FFF2-40B4-BE49-F238E27FC236}">
                <a16:creationId xmlns:a16="http://schemas.microsoft.com/office/drawing/2014/main" id="{199D53CD-DD18-4CC1-AF45-134C95B54A07}"/>
              </a:ext>
            </a:extLst>
          </p:cNvPr>
          <p:cNvSpPr>
            <a:spLocks noGrp="1"/>
          </p:cNvSpPr>
          <p:nvPr>
            <p:ph sz="quarter" idx="10"/>
          </p:nvPr>
        </p:nvSpPr>
        <p:spPr/>
        <p:txBody>
          <a:bodyPr>
            <a:normAutofit/>
          </a:bodyPr>
          <a:lstStyle/>
          <a:p>
            <a:r>
              <a:rPr lang="en-IN" dirty="0"/>
              <a:t>Means of documenting Software Architecture</a:t>
            </a:r>
          </a:p>
        </p:txBody>
      </p:sp>
      <p:sp>
        <p:nvSpPr>
          <p:cNvPr id="5" name="Date Placeholder 4">
            <a:extLst>
              <a:ext uri="{FF2B5EF4-FFF2-40B4-BE49-F238E27FC236}">
                <a16:creationId xmlns:a16="http://schemas.microsoft.com/office/drawing/2014/main" id="{05607914-0B15-4C86-8A56-CB389EBD0F3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05F48A1-E43A-4871-AE97-52A882C8FDF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337B4B58-376A-4B20-A07A-2EE37573C165}"/>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73785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838D13-6DBE-443D-9595-B25BCE431D02}"/>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N" dirty="0"/>
              <a:t>Patterns support the construction of software with defined properties. </a:t>
            </a:r>
          </a:p>
          <a:p>
            <a:pPr>
              <a:buFont typeface="Arial" panose="020B0604020202020204" pitchFamily="34" charset="0"/>
              <a:buChar char="•"/>
            </a:pPr>
            <a:r>
              <a:rPr lang="en-IN" dirty="0"/>
              <a:t>Patterns provide a skeleton of functional behaviour and therefore help to implement the functionality of your application</a:t>
            </a:r>
          </a:p>
          <a:p>
            <a:pPr>
              <a:buFont typeface="Arial" panose="020B0604020202020204" pitchFamily="34" charset="0"/>
              <a:buChar char="•"/>
            </a:pPr>
            <a:r>
              <a:rPr lang="en-IN" dirty="0"/>
              <a:t>Example, patterns exist for maintaining consistency between cooperating components and for providing transparent peer-to-peer inter-process communication. In addition, patterns explicitly address non- functional requirements for software systems, such as changeability, reliability, testability or reusability. </a:t>
            </a:r>
          </a:p>
          <a:p>
            <a:pPr>
              <a:buFont typeface="Arial" panose="020B0604020202020204" pitchFamily="34" charset="0"/>
              <a:buChar char="•"/>
            </a:pPr>
            <a:r>
              <a:rPr lang="en-IN" dirty="0"/>
              <a:t>The Model-View-Controller pattern, for example, supports the changeability of user interfaces and the reusability of core functionality. </a:t>
            </a:r>
          </a:p>
        </p:txBody>
      </p:sp>
      <p:sp>
        <p:nvSpPr>
          <p:cNvPr id="3" name="Content Placeholder 2">
            <a:extLst>
              <a:ext uri="{FF2B5EF4-FFF2-40B4-BE49-F238E27FC236}">
                <a16:creationId xmlns:a16="http://schemas.microsoft.com/office/drawing/2014/main" id="{5696FDCE-6688-4193-9493-A75828FE04D3}"/>
              </a:ext>
            </a:extLst>
          </p:cNvPr>
          <p:cNvSpPr>
            <a:spLocks noGrp="1"/>
          </p:cNvSpPr>
          <p:nvPr>
            <p:ph sz="quarter" idx="10"/>
          </p:nvPr>
        </p:nvSpPr>
        <p:spPr/>
        <p:txBody>
          <a:bodyPr>
            <a:normAutofit/>
          </a:bodyPr>
          <a:lstStyle/>
          <a:p>
            <a:r>
              <a:rPr lang="en-IN" dirty="0"/>
              <a:t>Support construction with defined properties</a:t>
            </a:r>
          </a:p>
        </p:txBody>
      </p:sp>
      <p:sp>
        <p:nvSpPr>
          <p:cNvPr id="5" name="Date Placeholder 4">
            <a:extLst>
              <a:ext uri="{FF2B5EF4-FFF2-40B4-BE49-F238E27FC236}">
                <a16:creationId xmlns:a16="http://schemas.microsoft.com/office/drawing/2014/main" id="{F38E0B10-0E1C-453F-9042-D191CDA314E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3D831505-489F-4303-AF7F-324BF87CEA0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CC8031B7-60AC-4C16-A4B2-7CA6488BFD3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208412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1E7976-4485-46D0-9758-262E3765A839}"/>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IN" dirty="0"/>
              <a:t>Patterns help you build complex and heterogeneous software architectures. </a:t>
            </a:r>
          </a:p>
          <a:p>
            <a:pPr>
              <a:buFont typeface="Arial" panose="020B0604020202020204" pitchFamily="34" charset="0"/>
              <a:buChar char="•"/>
            </a:pPr>
            <a:r>
              <a:rPr lang="en-IN" dirty="0"/>
              <a:t>Every pattern provides a predefined set of components, roles and relationships between them. </a:t>
            </a:r>
          </a:p>
          <a:p>
            <a:pPr>
              <a:buFont typeface="Arial" panose="020B0604020202020204" pitchFamily="34" charset="0"/>
              <a:buChar char="•"/>
            </a:pPr>
            <a:r>
              <a:rPr lang="en-IN" dirty="0"/>
              <a:t>It can be used to specify particular aspects of concrete software structures. </a:t>
            </a:r>
          </a:p>
          <a:p>
            <a:pPr>
              <a:buFont typeface="Arial" panose="020B0604020202020204" pitchFamily="34" charset="0"/>
              <a:buChar char="•"/>
            </a:pPr>
            <a:r>
              <a:rPr lang="en-IN" dirty="0"/>
              <a:t>Patterns 'act as building-blocks for constructing more complex designs’. </a:t>
            </a:r>
          </a:p>
          <a:p>
            <a:pPr>
              <a:buFont typeface="Arial" panose="020B0604020202020204" pitchFamily="34" charset="0"/>
              <a:buChar char="•"/>
            </a:pPr>
            <a:r>
              <a:rPr lang="en-IN" dirty="0"/>
              <a:t>This method of using predefined design artefacts supports the speed and the quality of your design. </a:t>
            </a:r>
          </a:p>
          <a:p>
            <a:pPr>
              <a:buFont typeface="Arial" panose="020B0604020202020204" pitchFamily="34" charset="0"/>
              <a:buChar char="•"/>
            </a:pPr>
            <a:r>
              <a:rPr lang="en-IN" dirty="0"/>
              <a:t>Understanding and applying well-written patterns saves time when compared to searching for solutions on your own. </a:t>
            </a:r>
          </a:p>
          <a:p>
            <a:pPr>
              <a:buFont typeface="Arial" panose="020B0604020202020204" pitchFamily="34" charset="0"/>
              <a:buChar char="•"/>
            </a:pPr>
            <a:r>
              <a:rPr lang="en-IN" dirty="0"/>
              <a:t>This is not to say that individual patterns will necessarily be better than your own solutions, but, at the very least. a pattern system can help you to evaluate and assess design alternatives. </a:t>
            </a:r>
          </a:p>
        </p:txBody>
      </p:sp>
      <p:sp>
        <p:nvSpPr>
          <p:cNvPr id="3" name="Content Placeholder 2">
            <a:extLst>
              <a:ext uri="{FF2B5EF4-FFF2-40B4-BE49-F238E27FC236}">
                <a16:creationId xmlns:a16="http://schemas.microsoft.com/office/drawing/2014/main" id="{AB4B39A5-211D-4AEA-8742-84048C439D83}"/>
              </a:ext>
            </a:extLst>
          </p:cNvPr>
          <p:cNvSpPr>
            <a:spLocks noGrp="1"/>
          </p:cNvSpPr>
          <p:nvPr>
            <p:ph sz="quarter" idx="10"/>
          </p:nvPr>
        </p:nvSpPr>
        <p:spPr/>
        <p:txBody>
          <a:bodyPr>
            <a:normAutofit/>
          </a:bodyPr>
          <a:lstStyle/>
          <a:p>
            <a:r>
              <a:rPr lang="en-IN" dirty="0"/>
              <a:t>Help build complex and heterogenous architectures</a:t>
            </a:r>
          </a:p>
        </p:txBody>
      </p:sp>
      <p:sp>
        <p:nvSpPr>
          <p:cNvPr id="5" name="Date Placeholder 4">
            <a:extLst>
              <a:ext uri="{FF2B5EF4-FFF2-40B4-BE49-F238E27FC236}">
                <a16:creationId xmlns:a16="http://schemas.microsoft.com/office/drawing/2014/main" id="{A0217870-233A-49D9-95D8-B7BCBD694F8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D329A921-ABFD-43E0-8A6F-6756CBBB6D9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B62F2BC1-0AF8-4C54-9365-22880C21964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0288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B0CF39-D384-449A-8681-B8A39C518656}"/>
              </a:ext>
            </a:extLst>
          </p:cNvPr>
          <p:cNvSpPr>
            <a:spLocks noGrp="1"/>
          </p:cNvSpPr>
          <p:nvPr>
            <p:ph idx="1"/>
          </p:nvPr>
        </p:nvSpPr>
        <p:spPr>
          <a:xfrm>
            <a:off x="304800" y="1493837"/>
            <a:ext cx="8382000" cy="4862513"/>
          </a:xfrm>
        </p:spPr>
        <p:txBody>
          <a:bodyPr>
            <a:normAutofit lnSpcReduction="10000"/>
          </a:bodyPr>
          <a:lstStyle/>
          <a:p>
            <a:pPr>
              <a:buFont typeface="Arial" panose="020B0604020202020204" pitchFamily="34" charset="0"/>
              <a:buChar char="•"/>
            </a:pPr>
            <a:r>
              <a:rPr lang="en-IN" dirty="0"/>
              <a:t>However, although a pattern determines the basic structure of the solution to a particular design problem, it does not specify a fully detailed solution. </a:t>
            </a:r>
          </a:p>
          <a:p>
            <a:pPr>
              <a:buFont typeface="Arial" panose="020B0604020202020204" pitchFamily="34" charset="0"/>
              <a:buChar char="•"/>
            </a:pPr>
            <a:r>
              <a:rPr lang="en-IN" dirty="0"/>
              <a:t>A pattern provides a scheme for a generic solution to a family of problems, rather than a prefabricated module that can be used 'as is’. </a:t>
            </a:r>
          </a:p>
          <a:p>
            <a:pPr>
              <a:buFont typeface="Arial" panose="020B0604020202020204" pitchFamily="34" charset="0"/>
              <a:buChar char="•"/>
            </a:pPr>
            <a:r>
              <a:rPr lang="en-IN" dirty="0"/>
              <a:t>You must implement this scheme according to the specific needs of the design problem at hand. </a:t>
            </a:r>
          </a:p>
          <a:p>
            <a:pPr>
              <a:buFont typeface="Arial" panose="020B0604020202020204" pitchFamily="34" charset="0"/>
              <a:buChar char="•"/>
            </a:pPr>
            <a:r>
              <a:rPr lang="en-IN" dirty="0"/>
              <a:t>A pattern helps with the creation of similar units. </a:t>
            </a:r>
          </a:p>
          <a:p>
            <a:pPr>
              <a:buFont typeface="Arial" panose="020B0604020202020204" pitchFamily="34" charset="0"/>
              <a:buChar char="•"/>
            </a:pPr>
            <a:r>
              <a:rPr lang="en-IN" dirty="0"/>
              <a:t>These units can be alike in their broad structure, but are frequently quite different in their detailed appearance.</a:t>
            </a:r>
          </a:p>
          <a:p>
            <a:pPr>
              <a:buFont typeface="Arial" panose="020B0604020202020204" pitchFamily="34" charset="0"/>
              <a:buChar char="•"/>
            </a:pPr>
            <a:r>
              <a:rPr lang="en-IN" dirty="0"/>
              <a:t>Patterns help solve problems, but they do not provide complete solutions. </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BFF4FD11-E32A-46F4-9148-74C4ADA74D40}"/>
              </a:ext>
            </a:extLst>
          </p:cNvPr>
          <p:cNvSpPr>
            <a:spLocks noGrp="1"/>
          </p:cNvSpPr>
          <p:nvPr>
            <p:ph sz="quarter" idx="10"/>
          </p:nvPr>
        </p:nvSpPr>
        <p:spPr/>
        <p:txBody>
          <a:bodyPr/>
          <a:lstStyle/>
          <a:p>
            <a:r>
              <a:rPr lang="en-IN" dirty="0"/>
              <a:t>….cont.</a:t>
            </a:r>
          </a:p>
        </p:txBody>
      </p:sp>
      <p:sp>
        <p:nvSpPr>
          <p:cNvPr id="4" name="Content Placeholder 3">
            <a:extLst>
              <a:ext uri="{FF2B5EF4-FFF2-40B4-BE49-F238E27FC236}">
                <a16:creationId xmlns:a16="http://schemas.microsoft.com/office/drawing/2014/main" id="{C399CBF1-0A80-400C-8053-FCE7F81FDE21}"/>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CF11097C-EF7A-4785-851D-654759B33F5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9B01CE68-B54C-497C-9703-6FBBA7B86D1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8CFB661B-CAAF-46DC-88A7-54730017AD5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039950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304516-292F-4E2D-8F23-00C10907C5BC}"/>
              </a:ext>
            </a:extLst>
          </p:cNvPr>
          <p:cNvSpPr>
            <a:spLocks noGrp="1"/>
          </p:cNvSpPr>
          <p:nvPr>
            <p:ph idx="1"/>
          </p:nvPr>
        </p:nvSpPr>
        <p:spPr>
          <a:xfrm>
            <a:off x="304800" y="1493837"/>
            <a:ext cx="8534400" cy="4972839"/>
          </a:xfrm>
        </p:spPr>
        <p:txBody>
          <a:bodyPr>
            <a:normAutofit fontScale="92500"/>
          </a:bodyPr>
          <a:lstStyle/>
          <a:p>
            <a:pPr>
              <a:buFont typeface="Arial" panose="020B0604020202020204" pitchFamily="34" charset="0"/>
              <a:buChar char="•"/>
            </a:pPr>
            <a:r>
              <a:rPr lang="en-IN" dirty="0"/>
              <a:t>Patterns help you to manage software complexity. </a:t>
            </a:r>
          </a:p>
          <a:p>
            <a:pPr>
              <a:buFont typeface="Arial" panose="020B0604020202020204" pitchFamily="34" charset="0"/>
              <a:buChar char="•"/>
            </a:pPr>
            <a:r>
              <a:rPr lang="en-IN" dirty="0"/>
              <a:t>Every pattern describes a proven way to handle the problem it addresses: the kinds of components needed, their roles, the details that should be hidden, the abstractions that should be visible, and how everything works. </a:t>
            </a:r>
          </a:p>
          <a:p>
            <a:pPr>
              <a:buFont typeface="Arial" panose="020B0604020202020204" pitchFamily="34" charset="0"/>
              <a:buChar char="•"/>
            </a:pPr>
            <a:r>
              <a:rPr lang="en-IN" dirty="0"/>
              <a:t>When you encounter a concrete design situation covered by a pattern there is no need to waste time inventing a new solution to your problem. </a:t>
            </a:r>
          </a:p>
          <a:p>
            <a:pPr>
              <a:buFont typeface="Arial" panose="020B0604020202020204" pitchFamily="34" charset="0"/>
              <a:buChar char="•"/>
            </a:pPr>
            <a:r>
              <a:rPr lang="en-IN" dirty="0"/>
              <a:t>If you implement the pattern correctly, you can rely on the solution it provides. </a:t>
            </a:r>
          </a:p>
          <a:p>
            <a:pPr>
              <a:buFont typeface="Arial" panose="020B0604020202020204" pitchFamily="34" charset="0"/>
              <a:buChar char="•"/>
            </a:pPr>
            <a:r>
              <a:rPr lang="en-IN" dirty="0"/>
              <a:t>The Model-View-Controller pattern, for example, helps you to separate the different user interface aspects of a software system and provide appropriate abstractions for them. </a:t>
            </a:r>
          </a:p>
          <a:p>
            <a:endParaRPr lang="en-IN" dirty="0"/>
          </a:p>
        </p:txBody>
      </p:sp>
      <p:sp>
        <p:nvSpPr>
          <p:cNvPr id="3" name="Content Placeholder 2">
            <a:extLst>
              <a:ext uri="{FF2B5EF4-FFF2-40B4-BE49-F238E27FC236}">
                <a16:creationId xmlns:a16="http://schemas.microsoft.com/office/drawing/2014/main" id="{3D48B7ED-724D-49F2-AA5F-C8173E1BE1F4}"/>
              </a:ext>
            </a:extLst>
          </p:cNvPr>
          <p:cNvSpPr>
            <a:spLocks noGrp="1"/>
          </p:cNvSpPr>
          <p:nvPr>
            <p:ph sz="quarter" idx="10"/>
          </p:nvPr>
        </p:nvSpPr>
        <p:spPr/>
        <p:txBody>
          <a:bodyPr/>
          <a:lstStyle/>
          <a:p>
            <a:r>
              <a:rPr lang="en-IN" dirty="0"/>
              <a:t>Help to manage software complexity</a:t>
            </a:r>
          </a:p>
        </p:txBody>
      </p:sp>
      <p:sp>
        <p:nvSpPr>
          <p:cNvPr id="4" name="Content Placeholder 3">
            <a:extLst>
              <a:ext uri="{FF2B5EF4-FFF2-40B4-BE49-F238E27FC236}">
                <a16:creationId xmlns:a16="http://schemas.microsoft.com/office/drawing/2014/main" id="{2401DF37-B4DF-4CDB-88C7-B2EA2BBB7DD3}"/>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CE1552BB-9BB9-4BA2-9219-60AB5A25D6B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96CFB74D-749B-4FD9-BA66-72B17F9F1E2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F9EB2C0-3A6D-46F9-B832-162390A52B0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21277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D006D0-B4ED-4E78-86D6-F18C6098AE1A}"/>
              </a:ext>
            </a:extLst>
          </p:cNvPr>
          <p:cNvSpPr>
            <a:spLocks noGrp="1"/>
          </p:cNvSpPr>
          <p:nvPr>
            <p:ph idx="1"/>
          </p:nvPr>
        </p:nvSpPr>
        <p:spPr/>
        <p:txBody>
          <a:bodyPr>
            <a:normAutofit/>
          </a:bodyPr>
          <a:lstStyle/>
          <a:p>
            <a:pPr algn="just"/>
            <a:r>
              <a:rPr lang="en-IN" sz="3200" dirty="0"/>
              <a:t>	A pattern for software architecture describes a particular recurring design problem that arises in specific design contexts, and presents a well-proven generic scheme for its solution. The solution scheme is specified by describing its constituent components, their responsibilities and relationships, and the ways in which they collaborate. </a:t>
            </a:r>
          </a:p>
        </p:txBody>
      </p:sp>
      <p:sp>
        <p:nvSpPr>
          <p:cNvPr id="3" name="Content Placeholder 2">
            <a:extLst>
              <a:ext uri="{FF2B5EF4-FFF2-40B4-BE49-F238E27FC236}">
                <a16:creationId xmlns:a16="http://schemas.microsoft.com/office/drawing/2014/main" id="{5B08DCED-80FF-4C2B-84A3-5BD7E26F4835}"/>
              </a:ext>
            </a:extLst>
          </p:cNvPr>
          <p:cNvSpPr>
            <a:spLocks noGrp="1"/>
          </p:cNvSpPr>
          <p:nvPr>
            <p:ph sz="quarter" idx="10"/>
          </p:nvPr>
        </p:nvSpPr>
        <p:spPr/>
        <p:txBody>
          <a:bodyPr/>
          <a:lstStyle/>
          <a:p>
            <a:r>
              <a:rPr lang="en-IN" dirty="0"/>
              <a:t>Definition: Pattern</a:t>
            </a:r>
          </a:p>
        </p:txBody>
      </p:sp>
      <p:sp>
        <p:nvSpPr>
          <p:cNvPr id="5" name="Date Placeholder 4">
            <a:extLst>
              <a:ext uri="{FF2B5EF4-FFF2-40B4-BE49-F238E27FC236}">
                <a16:creationId xmlns:a16="http://schemas.microsoft.com/office/drawing/2014/main" id="{7CB0C984-E9BD-43F1-94C6-7D0B26FBD79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6C8C3D6-C21D-4AD8-BF30-2CE45350986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AF0C7E93-F08E-4216-9D10-075336FB3B61}"/>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682891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3B2218-2420-40DD-9767-B6FD2B77F361}"/>
              </a:ext>
            </a:extLst>
          </p:cNvPr>
          <p:cNvSpPr>
            <a:spLocks noGrp="1"/>
          </p:cNvSpPr>
          <p:nvPr>
            <p:ph idx="1"/>
          </p:nvPr>
        </p:nvSpPr>
        <p:spPr>
          <a:xfrm>
            <a:off x="304800" y="1493837"/>
            <a:ext cx="8763000" cy="5364163"/>
          </a:xfrm>
        </p:spPr>
        <p:txBody>
          <a:bodyPr>
            <a:normAutofit fontScale="55000" lnSpcReduction="20000"/>
          </a:bodyPr>
          <a:lstStyle/>
          <a:p>
            <a:r>
              <a:rPr lang="en-IN" dirty="0"/>
              <a:t>From Mud to Structure. </a:t>
            </a:r>
          </a:p>
          <a:p>
            <a:pPr>
              <a:buFont typeface="Arial" panose="020B0604020202020204" pitchFamily="34" charset="0"/>
              <a:buChar char="•"/>
            </a:pPr>
            <a:r>
              <a:rPr lang="en-IN" dirty="0"/>
              <a:t>Patterns in this category help you to avoid a 'sea' of components or objects. </a:t>
            </a:r>
          </a:p>
          <a:p>
            <a:pPr>
              <a:buFont typeface="Arial" panose="020B0604020202020204" pitchFamily="34" charset="0"/>
              <a:buChar char="•"/>
            </a:pPr>
            <a:r>
              <a:rPr lang="en-IN" dirty="0"/>
              <a:t>In particular, they support a controlled decomposition of an overall system task into cooperating subtasks. </a:t>
            </a:r>
          </a:p>
          <a:p>
            <a:pPr>
              <a:buFont typeface="Arial" panose="020B0604020202020204" pitchFamily="34" charset="0"/>
              <a:buChar char="•"/>
            </a:pPr>
            <a:r>
              <a:rPr lang="en-IN" dirty="0"/>
              <a:t>The category includes </a:t>
            </a:r>
          </a:p>
          <a:p>
            <a:pPr lvl="1">
              <a:buFont typeface="Arial" panose="020B0604020202020204" pitchFamily="34" charset="0"/>
              <a:buChar char="•"/>
            </a:pPr>
            <a:r>
              <a:rPr lang="en-IN" dirty="0"/>
              <a:t>the Layers pattern </a:t>
            </a:r>
          </a:p>
          <a:p>
            <a:pPr lvl="1">
              <a:buFont typeface="Arial" panose="020B0604020202020204" pitchFamily="34" charset="0"/>
              <a:buChar char="•"/>
            </a:pPr>
            <a:r>
              <a:rPr lang="en-IN" dirty="0"/>
              <a:t>the Pipes and Filters pattern </a:t>
            </a:r>
          </a:p>
          <a:p>
            <a:pPr lvl="1">
              <a:buFont typeface="Arial" panose="020B0604020202020204" pitchFamily="34" charset="0"/>
              <a:buChar char="•"/>
            </a:pPr>
            <a:r>
              <a:rPr lang="en-IN" dirty="0"/>
              <a:t>the Blackboard pattern</a:t>
            </a:r>
          </a:p>
          <a:p>
            <a:r>
              <a:rPr lang="en-IN" dirty="0"/>
              <a:t>Distributed Systems. </a:t>
            </a:r>
          </a:p>
          <a:p>
            <a:pPr>
              <a:buFont typeface="Arial" panose="020B0604020202020204" pitchFamily="34" charset="0"/>
              <a:buChar char="•"/>
            </a:pPr>
            <a:r>
              <a:rPr lang="en-IN" dirty="0"/>
              <a:t>This category includes one pattern. </a:t>
            </a:r>
          </a:p>
          <a:p>
            <a:pPr lvl="1">
              <a:buFont typeface="Arial" panose="020B0604020202020204" pitchFamily="34" charset="0"/>
              <a:buChar char="•"/>
            </a:pPr>
            <a:r>
              <a:rPr lang="en-IN" dirty="0"/>
              <a:t>Broker </a:t>
            </a:r>
          </a:p>
          <a:p>
            <a:pPr>
              <a:buFont typeface="Arial" panose="020B0604020202020204" pitchFamily="34" charset="0"/>
              <a:buChar char="•"/>
            </a:pPr>
            <a:r>
              <a:rPr lang="en-IN" dirty="0"/>
              <a:t>and refers to two patterns in other categories, </a:t>
            </a:r>
          </a:p>
          <a:p>
            <a:pPr lvl="1">
              <a:buFont typeface="Arial" panose="020B0604020202020204" pitchFamily="34" charset="0"/>
              <a:buChar char="•"/>
            </a:pPr>
            <a:r>
              <a:rPr lang="en-IN" dirty="0"/>
              <a:t>Microkernel</a:t>
            </a:r>
          </a:p>
          <a:p>
            <a:pPr lvl="1">
              <a:buFont typeface="Arial" panose="020B0604020202020204" pitchFamily="34" charset="0"/>
              <a:buChar char="•"/>
            </a:pPr>
            <a:r>
              <a:rPr lang="en-IN" dirty="0"/>
              <a:t>Pipes and Filters </a:t>
            </a:r>
          </a:p>
          <a:p>
            <a:pPr>
              <a:buFont typeface="Arial" panose="020B0604020202020204" pitchFamily="34" charset="0"/>
              <a:buChar char="•"/>
            </a:pPr>
            <a:r>
              <a:rPr lang="en-IN" dirty="0"/>
              <a:t>The Broker pattern provides a complete infrastructure for distributed applications. </a:t>
            </a:r>
          </a:p>
          <a:p>
            <a:pPr>
              <a:buFont typeface="Arial" panose="020B0604020202020204" pitchFamily="34" charset="0"/>
              <a:buChar char="•"/>
            </a:pPr>
            <a:r>
              <a:rPr lang="en-IN" dirty="0"/>
              <a:t>The Microkernel and Pipes and Filters patterns only consider distribution as a secondary concern and are therefore listed under their respective primary categories. </a:t>
            </a:r>
          </a:p>
          <a:p>
            <a:r>
              <a:rPr lang="en-IN" dirty="0"/>
              <a:t>Interactive Systems. </a:t>
            </a:r>
          </a:p>
          <a:p>
            <a:pPr>
              <a:buFont typeface="Arial" panose="020B0604020202020204" pitchFamily="34" charset="0"/>
              <a:buChar char="•"/>
            </a:pPr>
            <a:r>
              <a:rPr lang="en-IN" dirty="0"/>
              <a:t>This category comprises two patterns, </a:t>
            </a:r>
          </a:p>
          <a:p>
            <a:pPr lvl="1">
              <a:buFont typeface="Arial" panose="020B0604020202020204" pitchFamily="34" charset="0"/>
              <a:buChar char="•"/>
            </a:pPr>
            <a:r>
              <a:rPr lang="en-IN" dirty="0"/>
              <a:t>the Model-View-Controller pattern (well-known from Smalltalk,)</a:t>
            </a:r>
          </a:p>
          <a:p>
            <a:pPr lvl="1">
              <a:buFont typeface="Arial" panose="020B0604020202020204" pitchFamily="34" charset="0"/>
              <a:buChar char="•"/>
            </a:pPr>
            <a:r>
              <a:rPr lang="en-IN" dirty="0"/>
              <a:t>the Presentation-Abstraction-Control pattern. </a:t>
            </a:r>
          </a:p>
          <a:p>
            <a:pPr>
              <a:buFont typeface="Arial" panose="020B0604020202020204" pitchFamily="34" charset="0"/>
              <a:buChar char="•"/>
            </a:pPr>
            <a:r>
              <a:rPr lang="en-IN" dirty="0"/>
              <a:t>Both patterns support the structuring of software systems that feature human-computer interaction. </a:t>
            </a:r>
          </a:p>
          <a:p>
            <a:pPr marL="0" indent="0"/>
            <a:r>
              <a:rPr lang="en-IN" dirty="0"/>
              <a:t>Adaptable Systems. </a:t>
            </a:r>
          </a:p>
          <a:p>
            <a:pPr>
              <a:buFont typeface="Arial" panose="020B0604020202020204" pitchFamily="34" charset="0"/>
              <a:buChar char="•"/>
            </a:pPr>
            <a:r>
              <a:rPr lang="en-IN" dirty="0"/>
              <a:t>This category includes</a:t>
            </a:r>
          </a:p>
          <a:p>
            <a:pPr lvl="1">
              <a:buFont typeface="Arial" panose="020B0604020202020204" pitchFamily="34" charset="0"/>
              <a:buChar char="•"/>
            </a:pPr>
            <a:r>
              <a:rPr lang="en-IN" dirty="0"/>
              <a:t>The Reflection pattern </a:t>
            </a:r>
          </a:p>
          <a:p>
            <a:pPr lvl="1">
              <a:buFont typeface="Arial" panose="020B0604020202020204" pitchFamily="34" charset="0"/>
              <a:buChar char="•"/>
            </a:pPr>
            <a:r>
              <a:rPr lang="en-IN" dirty="0"/>
              <a:t>the Microkernel pattern </a:t>
            </a:r>
          </a:p>
          <a:p>
            <a:pPr>
              <a:buFont typeface="Arial" panose="020B0604020202020204" pitchFamily="34" charset="0"/>
              <a:buChar char="•"/>
            </a:pPr>
            <a:r>
              <a:rPr lang="en-IN" dirty="0"/>
              <a:t>strongly support extension of applications and their adaptation to evolving technology and changing functional requirements. </a:t>
            </a:r>
          </a:p>
        </p:txBody>
      </p:sp>
      <p:sp>
        <p:nvSpPr>
          <p:cNvPr id="3" name="Content Placeholder 2">
            <a:extLst>
              <a:ext uri="{FF2B5EF4-FFF2-40B4-BE49-F238E27FC236}">
                <a16:creationId xmlns:a16="http://schemas.microsoft.com/office/drawing/2014/main" id="{32007265-0CB3-4700-AADA-FC3DBBD81B0B}"/>
              </a:ext>
            </a:extLst>
          </p:cNvPr>
          <p:cNvSpPr>
            <a:spLocks noGrp="1"/>
          </p:cNvSpPr>
          <p:nvPr>
            <p:ph sz="quarter" idx="10"/>
          </p:nvPr>
        </p:nvSpPr>
        <p:spPr/>
        <p:txBody>
          <a:bodyPr/>
          <a:lstStyle/>
          <a:p>
            <a:r>
              <a:rPr lang="en-IN" dirty="0"/>
              <a:t>Categories</a:t>
            </a:r>
          </a:p>
        </p:txBody>
      </p:sp>
      <p:sp>
        <p:nvSpPr>
          <p:cNvPr id="5" name="Date Placeholder 4">
            <a:extLst>
              <a:ext uri="{FF2B5EF4-FFF2-40B4-BE49-F238E27FC236}">
                <a16:creationId xmlns:a16="http://schemas.microsoft.com/office/drawing/2014/main" id="{D7D7129D-8E69-4D7D-8A25-48F8A2042F2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F4F2A314-9096-4C83-BC8C-A040BE391E8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1E0E476-2B26-44EE-8FD1-7F31241A36D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65150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552019-C85E-471A-89B6-69514F14627D}"/>
              </a:ext>
            </a:extLst>
          </p:cNvPr>
          <p:cNvSpPr>
            <a:spLocks noGrp="1"/>
          </p:cNvSpPr>
          <p:nvPr>
            <p:ph sz="quarter" idx="10"/>
          </p:nvPr>
        </p:nvSpPr>
        <p:spPr/>
        <p:txBody>
          <a:bodyPr/>
          <a:lstStyle/>
          <a:p>
            <a:r>
              <a:rPr lang="en-IN" dirty="0"/>
              <a:t>From Mud to Structure: Layers</a:t>
            </a:r>
          </a:p>
        </p:txBody>
      </p:sp>
      <p:sp>
        <p:nvSpPr>
          <p:cNvPr id="3" name="Date Placeholder 2">
            <a:extLst>
              <a:ext uri="{FF2B5EF4-FFF2-40B4-BE49-F238E27FC236}">
                <a16:creationId xmlns:a16="http://schemas.microsoft.com/office/drawing/2014/main" id="{F624AF60-4A17-4880-BF35-131BA2B19202}"/>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6E924E8A-B621-4282-B5E6-FDBF9F913395}"/>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a:extLst>
              <a:ext uri="{FF2B5EF4-FFF2-40B4-BE49-F238E27FC236}">
                <a16:creationId xmlns:a16="http://schemas.microsoft.com/office/drawing/2014/main" id="{711F640F-C806-496A-9FCD-2CE051181EB6}"/>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65892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b="1" dirty="0"/>
              <a:t>Context: </a:t>
            </a:r>
          </a:p>
          <a:p>
            <a:pPr algn="just"/>
            <a:endParaRPr lang="en-US" sz="2800" b="1" dirty="0"/>
          </a:p>
          <a:p>
            <a:pPr algn="just"/>
            <a:r>
              <a:rPr lang="en-US" sz="2800" b="1" dirty="0"/>
              <a:t>	</a:t>
            </a:r>
            <a:r>
              <a:rPr lang="en-US" sz="2800" dirty="0"/>
              <a:t>All complex systems experience the need to develop and evolve portions of the system independently. For this reason, the developers of the system need a clear and well-documented separation of concerns, so that modules of the system may be independently developed and maintained.</a:t>
            </a:r>
          </a:p>
        </p:txBody>
      </p:sp>
      <p:sp>
        <p:nvSpPr>
          <p:cNvPr id="4" name="Content Placeholder 3"/>
          <p:cNvSpPr>
            <a:spLocks noGrp="1"/>
          </p:cNvSpPr>
          <p:nvPr>
            <p:ph sz="quarter" idx="10"/>
          </p:nvPr>
        </p:nvSpPr>
        <p:spPr/>
        <p:txBody>
          <a:bodyPr/>
          <a:lstStyle/>
          <a:p>
            <a:r>
              <a:rPr lang="en-IN" dirty="0"/>
              <a:t>From Mud to Structure: Layers</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873835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b="1" dirty="0"/>
              <a:t>Problem: </a:t>
            </a:r>
          </a:p>
          <a:p>
            <a:pPr algn="just"/>
            <a:endParaRPr lang="en-US" sz="2800" b="1" dirty="0"/>
          </a:p>
          <a:p>
            <a:pPr algn="just"/>
            <a:r>
              <a:rPr lang="en-US" sz="2800" b="1" dirty="0"/>
              <a:t>	</a:t>
            </a:r>
            <a:r>
              <a:rPr lang="en-US" sz="2800" dirty="0"/>
              <a:t>The software needs to be segmented in such a way that the modules can be developed and evolved separately with little interaction among the parts, supporting portability, modifiability, and reuse.</a:t>
            </a:r>
          </a:p>
        </p:txBody>
      </p:sp>
      <p:sp>
        <p:nvSpPr>
          <p:cNvPr id="4" name="Content Placeholder 3"/>
          <p:cNvSpPr>
            <a:spLocks noGrp="1"/>
          </p:cNvSpPr>
          <p:nvPr>
            <p:ph sz="quarter" idx="10"/>
          </p:nvPr>
        </p:nvSpPr>
        <p:spPr/>
        <p:txBody>
          <a:bodyPr/>
          <a:lstStyle/>
          <a:p>
            <a:r>
              <a:rPr lang="en-IN" dirty="0"/>
              <a:t>From Mud to Structure: Layers</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3124479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b="1" dirty="0"/>
              <a:t>Solution: </a:t>
            </a:r>
          </a:p>
          <a:p>
            <a:pPr algn="just"/>
            <a:endParaRPr lang="en-US" sz="2800" b="1" dirty="0"/>
          </a:p>
          <a:p>
            <a:pPr algn="just"/>
            <a:r>
              <a:rPr lang="en-US" sz="2800" b="1" dirty="0"/>
              <a:t>	</a:t>
            </a:r>
            <a:r>
              <a:rPr lang="en-US" sz="2800" dirty="0"/>
              <a:t>To achieve this separation of concerns, the layered pattern divides the software into units called layers. Each layer is a grouping of modules that offers a cohesive set of services. The usage must be unidirectional. Layers completely partition a set of software, and each partition is exposed through a public interface.</a:t>
            </a:r>
            <a:r>
              <a:rPr lang="en-US" dirty="0"/>
              <a:t> </a:t>
            </a:r>
            <a:endParaRPr lang="en-US" sz="2800" dirty="0"/>
          </a:p>
        </p:txBody>
      </p:sp>
      <p:sp>
        <p:nvSpPr>
          <p:cNvPr id="4" name="Content Placeholder 3"/>
          <p:cNvSpPr>
            <a:spLocks noGrp="1"/>
          </p:cNvSpPr>
          <p:nvPr>
            <p:ph sz="quarter" idx="10"/>
          </p:nvPr>
        </p:nvSpPr>
        <p:spPr/>
        <p:txBody>
          <a:bodyPr/>
          <a:lstStyle/>
          <a:p>
            <a:r>
              <a:rPr lang="en-IN" dirty="0"/>
              <a:t>From Mud to Structure: Layers</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1714827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8A757E-17B6-4FE6-A36A-9F04AE17280F}"/>
              </a:ext>
            </a:extLst>
          </p:cNvPr>
          <p:cNvSpPr>
            <a:spLocks noGrp="1"/>
          </p:cNvSpPr>
          <p:nvPr>
            <p:ph sz="quarter" idx="10"/>
          </p:nvPr>
        </p:nvSpPr>
        <p:spPr/>
        <p:txBody>
          <a:bodyPr/>
          <a:lstStyle/>
          <a:p>
            <a:r>
              <a:rPr lang="en-IN" dirty="0"/>
              <a:t>Layer: </a:t>
            </a:r>
            <a:r>
              <a:rPr lang="en-IN" dirty="0" err="1"/>
              <a:t>Diagramatical</a:t>
            </a:r>
            <a:r>
              <a:rPr lang="en-IN" dirty="0"/>
              <a:t> 					  Representation</a:t>
            </a:r>
          </a:p>
        </p:txBody>
      </p:sp>
      <p:sp>
        <p:nvSpPr>
          <p:cNvPr id="5" name="Date Placeholder 4">
            <a:extLst>
              <a:ext uri="{FF2B5EF4-FFF2-40B4-BE49-F238E27FC236}">
                <a16:creationId xmlns:a16="http://schemas.microsoft.com/office/drawing/2014/main" id="{52936ED0-ACA4-4E9C-8589-4211A819320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30142B5-0563-4A87-A412-A4F9CBA72C25}"/>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6019F2CB-5FC9-4E1C-B3DD-47D1738D4555}"/>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pic>
        <p:nvPicPr>
          <p:cNvPr id="8" name="Content Placeholder 7">
            <a:extLst>
              <a:ext uri="{FF2B5EF4-FFF2-40B4-BE49-F238E27FC236}">
                <a16:creationId xmlns:a16="http://schemas.microsoft.com/office/drawing/2014/main" id="{9C219E96-D2DF-4D63-BF57-CC0F7FA934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2481092"/>
            <a:ext cx="8229600" cy="2551454"/>
          </a:xfrm>
          <a:prstGeom prst="rect">
            <a:avLst/>
          </a:prstGeom>
          <a:noFill/>
          <a:ln w="9525">
            <a:solidFill>
              <a:schemeClr val="tx1"/>
            </a:solidFill>
            <a:miter lim="800000"/>
            <a:headEnd/>
            <a:tailEnd/>
          </a:ln>
          <a:effectLst/>
          <a:extLst>
            <a:ext uri="{909E8E84-426E-40dd-AFC4-6F175D3DCCD1}">
              <a14:hiddenFill xmlns="" xmlns:a14="http://schemas.microsoft.com/office/drawing/2010/main" xmlns:lc="http://schemas.openxmlformats.org/drawingml/2006/lockedCanvas">
                <a:solidFill>
                  <a:schemeClr val="accent1"/>
                </a:solidFill>
              </a14:hiddenFill>
            </a:ex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7559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829EA4-298F-4012-B1E8-94B106F6576F}"/>
              </a:ext>
            </a:extLst>
          </p:cNvPr>
          <p:cNvSpPr>
            <a:spLocks noGrp="1"/>
          </p:cNvSpPr>
          <p:nvPr>
            <p:ph idx="1"/>
          </p:nvPr>
        </p:nvSpPr>
        <p:spPr>
          <a:xfrm>
            <a:off x="304800" y="1493837"/>
            <a:ext cx="8839200" cy="4972839"/>
          </a:xfrm>
        </p:spPr>
        <p:txBody>
          <a:bodyPr>
            <a:normAutofit fontScale="92500" lnSpcReduction="20000"/>
          </a:bodyPr>
          <a:lstStyle/>
          <a:p>
            <a:r>
              <a:rPr lang="en-US" sz="2000" dirty="0"/>
              <a:t>Overview: </a:t>
            </a:r>
          </a:p>
          <a:p>
            <a:r>
              <a:rPr lang="en-US" sz="2000" dirty="0"/>
              <a:t>	The layered pattern defines layers (groupings of modules that offer a cohesive set of services) and a unidirectional </a:t>
            </a:r>
            <a:r>
              <a:rPr lang="en-US" sz="2000" i="1" dirty="0"/>
              <a:t>allowed-to-use </a:t>
            </a:r>
            <a:r>
              <a:rPr lang="en-US" sz="2000" dirty="0"/>
              <a:t>relation among the layers. </a:t>
            </a:r>
          </a:p>
          <a:p>
            <a:r>
              <a:rPr lang="en-US" sz="2000" dirty="0"/>
              <a:t>Elements: </a:t>
            </a:r>
          </a:p>
          <a:p>
            <a:r>
              <a:rPr lang="en-US" sz="2000" i="1" dirty="0"/>
              <a:t>	Layer</a:t>
            </a:r>
            <a:r>
              <a:rPr lang="en-US" sz="2000" dirty="0"/>
              <a:t>, a kind of module. The description of a layer should define what modules the layer contains.</a:t>
            </a:r>
          </a:p>
          <a:p>
            <a:r>
              <a:rPr lang="en-US" sz="2000" dirty="0"/>
              <a:t>Relations: </a:t>
            </a:r>
          </a:p>
          <a:p>
            <a:r>
              <a:rPr lang="en-US" sz="2000" i="1" dirty="0"/>
              <a:t>	Allowed to use. </a:t>
            </a:r>
            <a:r>
              <a:rPr lang="en-US" sz="2000" dirty="0"/>
              <a:t>The design should define what the layer usage rules are and any allowable exceptions.</a:t>
            </a:r>
          </a:p>
          <a:p>
            <a:r>
              <a:rPr lang="en-US" sz="2000" dirty="0"/>
              <a:t>Constraints: </a:t>
            </a:r>
          </a:p>
          <a:p>
            <a:pPr lvl="1">
              <a:spcBef>
                <a:spcPts val="0"/>
              </a:spcBef>
            </a:pPr>
            <a:r>
              <a:rPr lang="en-US" sz="2000" dirty="0"/>
              <a:t>Every piece of software is allocated to exactly one layer.</a:t>
            </a:r>
          </a:p>
          <a:p>
            <a:pPr lvl="1">
              <a:spcBef>
                <a:spcPts val="0"/>
              </a:spcBef>
            </a:pPr>
            <a:r>
              <a:rPr lang="en-US" sz="2000" dirty="0"/>
              <a:t>There are at least two layers (but usually there are three or more).</a:t>
            </a:r>
          </a:p>
          <a:p>
            <a:pPr lvl="1">
              <a:spcBef>
                <a:spcPts val="0"/>
              </a:spcBef>
            </a:pPr>
            <a:r>
              <a:rPr lang="en-US" sz="2000" dirty="0"/>
              <a:t>The </a:t>
            </a:r>
            <a:r>
              <a:rPr lang="en-US" sz="2000" i="1" dirty="0"/>
              <a:t>allowed-to-use </a:t>
            </a:r>
            <a:r>
              <a:rPr lang="en-US" sz="2000" dirty="0"/>
              <a:t>relations should not be circular (i.e., a lower layer cannot use a layer above).</a:t>
            </a:r>
          </a:p>
          <a:p>
            <a:r>
              <a:rPr lang="en-US" sz="2000" dirty="0"/>
              <a:t>Weaknesses: </a:t>
            </a:r>
          </a:p>
          <a:p>
            <a:pPr lvl="1">
              <a:spcBef>
                <a:spcPts val="0"/>
              </a:spcBef>
            </a:pPr>
            <a:r>
              <a:rPr lang="en-US" sz="2000" dirty="0"/>
              <a:t>The addition of layers adds up-front cost and complexity to a system.</a:t>
            </a:r>
          </a:p>
          <a:p>
            <a:pPr lvl="1">
              <a:spcBef>
                <a:spcPts val="0"/>
              </a:spcBef>
            </a:pPr>
            <a:r>
              <a:rPr lang="en-US" sz="2000" dirty="0"/>
              <a:t>Layers contribute a performance penalty.</a:t>
            </a:r>
          </a:p>
          <a:p>
            <a:endParaRPr lang="en-IN" dirty="0"/>
          </a:p>
        </p:txBody>
      </p:sp>
      <p:sp>
        <p:nvSpPr>
          <p:cNvPr id="3" name="Content Placeholder 2">
            <a:extLst>
              <a:ext uri="{FF2B5EF4-FFF2-40B4-BE49-F238E27FC236}">
                <a16:creationId xmlns:a16="http://schemas.microsoft.com/office/drawing/2014/main" id="{030FCDC0-A87D-45A6-BBC9-EDE5A0B55057}"/>
              </a:ext>
            </a:extLst>
          </p:cNvPr>
          <p:cNvSpPr>
            <a:spLocks noGrp="1"/>
          </p:cNvSpPr>
          <p:nvPr>
            <p:ph sz="quarter" idx="10"/>
          </p:nvPr>
        </p:nvSpPr>
        <p:spPr/>
        <p:txBody>
          <a:bodyPr/>
          <a:lstStyle/>
          <a:p>
            <a:r>
              <a:rPr lang="en-IN" dirty="0"/>
              <a:t>A Typical Solution</a:t>
            </a:r>
          </a:p>
        </p:txBody>
      </p:sp>
      <p:sp>
        <p:nvSpPr>
          <p:cNvPr id="5" name="Date Placeholder 4">
            <a:extLst>
              <a:ext uri="{FF2B5EF4-FFF2-40B4-BE49-F238E27FC236}">
                <a16:creationId xmlns:a16="http://schemas.microsoft.com/office/drawing/2014/main" id="{D4AC98CE-E1B9-43C2-A5ED-A371EF77F6F0}"/>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A35C229-A824-499D-9938-0E1F8B2DC9E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DED5972E-9075-45BD-A106-9BB964ADDC9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84726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19011-CAFC-8D3A-5408-C18FF2A6E1C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F00FCB-058C-6F3B-40D8-01EC1E01FFB3}"/>
              </a:ext>
            </a:extLst>
          </p:cNvPr>
          <p:cNvSpPr>
            <a:spLocks noGrp="1"/>
          </p:cNvSpPr>
          <p:nvPr>
            <p:ph idx="1"/>
          </p:nvPr>
        </p:nvSpPr>
        <p:spPr/>
        <p:txBody>
          <a:bodyPr/>
          <a:lstStyle/>
          <a:p>
            <a:r>
              <a:rPr lang="en-IN" dirty="0"/>
              <a:t>End of </a:t>
            </a:r>
            <a:r>
              <a:rPr lang="en-IN"/>
              <a:t>Part 1 </a:t>
            </a:r>
            <a:r>
              <a:rPr lang="en-IN" dirty="0"/>
              <a:t>or 4</a:t>
            </a:r>
          </a:p>
        </p:txBody>
      </p:sp>
      <p:sp>
        <p:nvSpPr>
          <p:cNvPr id="3" name="Content Placeholder 2">
            <a:extLst>
              <a:ext uri="{FF2B5EF4-FFF2-40B4-BE49-F238E27FC236}">
                <a16:creationId xmlns:a16="http://schemas.microsoft.com/office/drawing/2014/main" id="{4968BA72-7486-144B-0E0F-1F14460FCF64}"/>
              </a:ext>
            </a:extLst>
          </p:cNvPr>
          <p:cNvSpPr>
            <a:spLocks noGrp="1"/>
          </p:cNvSpPr>
          <p:nvPr>
            <p:ph sz="quarter" idx="10"/>
          </p:nvPr>
        </p:nvSpPr>
        <p:spPr/>
        <p:txBody>
          <a:bodyPr/>
          <a:lstStyle/>
          <a:p>
            <a:r>
              <a:rPr lang="en-IN" dirty="0"/>
              <a:t>Thank you</a:t>
            </a:r>
          </a:p>
        </p:txBody>
      </p:sp>
      <p:sp>
        <p:nvSpPr>
          <p:cNvPr id="4" name="Date Placeholder 3">
            <a:extLst>
              <a:ext uri="{FF2B5EF4-FFF2-40B4-BE49-F238E27FC236}">
                <a16:creationId xmlns:a16="http://schemas.microsoft.com/office/drawing/2014/main" id="{ABB9EC5B-F5B8-B4E5-B865-E3D62E6C212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F01170FC-2B63-7D00-0EC4-73ABE436459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0362A111-3416-7531-6BBD-27532218909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05455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3810000"/>
            <a:ext cx="6553200" cy="1600200"/>
          </a:xfrm>
        </p:spPr>
        <p:txBody>
          <a:bodyPr/>
          <a:lstStyle/>
          <a:p>
            <a:r>
              <a:rPr lang="en-US" sz="3200" dirty="0"/>
              <a:t>Module 6: CS 09</a:t>
            </a:r>
            <a:br>
              <a:rPr lang="en-US" sz="2800" dirty="0"/>
            </a:br>
            <a:r>
              <a:rPr lang="en-US" sz="2400" dirty="0"/>
              <a:t>Patterns – Part 2 Mud to Structures: Layer/Pipes and Filters/</a:t>
            </a:r>
            <a:r>
              <a:rPr lang="en-US" sz="2400" dirty="0" err="1"/>
              <a:t>BlackBoard</a:t>
            </a:r>
            <a:endParaRPr lang="en-US" sz="2400" dirty="0"/>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1818757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3B2218-2420-40DD-9767-B6FD2B77F361}"/>
              </a:ext>
            </a:extLst>
          </p:cNvPr>
          <p:cNvSpPr>
            <a:spLocks noGrp="1"/>
          </p:cNvSpPr>
          <p:nvPr>
            <p:ph idx="1"/>
          </p:nvPr>
        </p:nvSpPr>
        <p:spPr>
          <a:xfrm>
            <a:off x="304800" y="1493837"/>
            <a:ext cx="8763000" cy="5364163"/>
          </a:xfrm>
        </p:spPr>
        <p:txBody>
          <a:bodyPr>
            <a:normAutofit fontScale="55000" lnSpcReduction="20000"/>
          </a:bodyPr>
          <a:lstStyle/>
          <a:p>
            <a:r>
              <a:rPr lang="en-IN" dirty="0"/>
              <a:t>From Mud to Structure. </a:t>
            </a:r>
          </a:p>
          <a:p>
            <a:pPr>
              <a:buFont typeface="Arial" panose="020B0604020202020204" pitchFamily="34" charset="0"/>
              <a:buChar char="•"/>
            </a:pPr>
            <a:r>
              <a:rPr lang="en-IN" dirty="0"/>
              <a:t>Patterns in this category help you to avoid a 'sea' of components or objects. </a:t>
            </a:r>
          </a:p>
          <a:p>
            <a:pPr>
              <a:buFont typeface="Arial" panose="020B0604020202020204" pitchFamily="34" charset="0"/>
              <a:buChar char="•"/>
            </a:pPr>
            <a:r>
              <a:rPr lang="en-IN" dirty="0"/>
              <a:t>In particular, they support a controlled decomposition of an overall system task into cooperating subtasks. </a:t>
            </a:r>
          </a:p>
          <a:p>
            <a:pPr>
              <a:buFont typeface="Arial" panose="020B0604020202020204" pitchFamily="34" charset="0"/>
              <a:buChar char="•"/>
            </a:pPr>
            <a:r>
              <a:rPr lang="en-IN" dirty="0"/>
              <a:t>The category includes </a:t>
            </a:r>
          </a:p>
          <a:p>
            <a:pPr lvl="1">
              <a:buFont typeface="Arial" panose="020B0604020202020204" pitchFamily="34" charset="0"/>
              <a:buChar char="•"/>
            </a:pPr>
            <a:r>
              <a:rPr lang="en-IN" dirty="0"/>
              <a:t>the Layers pattern </a:t>
            </a:r>
          </a:p>
          <a:p>
            <a:pPr lvl="1">
              <a:buFont typeface="Arial" panose="020B0604020202020204" pitchFamily="34" charset="0"/>
              <a:buChar char="•"/>
            </a:pPr>
            <a:r>
              <a:rPr lang="en-IN" dirty="0"/>
              <a:t>the Pipes and Filters pattern </a:t>
            </a:r>
          </a:p>
          <a:p>
            <a:pPr lvl="1">
              <a:buFont typeface="Arial" panose="020B0604020202020204" pitchFamily="34" charset="0"/>
              <a:buChar char="•"/>
            </a:pPr>
            <a:r>
              <a:rPr lang="en-IN" dirty="0"/>
              <a:t>the Blackboard pattern</a:t>
            </a:r>
          </a:p>
          <a:p>
            <a:r>
              <a:rPr lang="en-IN" dirty="0"/>
              <a:t>Distributed Systems. </a:t>
            </a:r>
          </a:p>
          <a:p>
            <a:pPr>
              <a:buFont typeface="Arial" panose="020B0604020202020204" pitchFamily="34" charset="0"/>
              <a:buChar char="•"/>
            </a:pPr>
            <a:r>
              <a:rPr lang="en-IN" dirty="0"/>
              <a:t>This category includes one pattern. </a:t>
            </a:r>
          </a:p>
          <a:p>
            <a:pPr lvl="1">
              <a:buFont typeface="Arial" panose="020B0604020202020204" pitchFamily="34" charset="0"/>
              <a:buChar char="•"/>
            </a:pPr>
            <a:r>
              <a:rPr lang="en-IN" dirty="0"/>
              <a:t>Broker </a:t>
            </a:r>
          </a:p>
          <a:p>
            <a:pPr>
              <a:buFont typeface="Arial" panose="020B0604020202020204" pitchFamily="34" charset="0"/>
              <a:buChar char="•"/>
            </a:pPr>
            <a:r>
              <a:rPr lang="en-IN" dirty="0"/>
              <a:t>and refers to two patterns in other categories, </a:t>
            </a:r>
          </a:p>
          <a:p>
            <a:pPr lvl="1">
              <a:buFont typeface="Arial" panose="020B0604020202020204" pitchFamily="34" charset="0"/>
              <a:buChar char="•"/>
            </a:pPr>
            <a:r>
              <a:rPr lang="en-IN" dirty="0"/>
              <a:t>Microkernel</a:t>
            </a:r>
          </a:p>
          <a:p>
            <a:pPr lvl="1">
              <a:buFont typeface="Arial" panose="020B0604020202020204" pitchFamily="34" charset="0"/>
              <a:buChar char="•"/>
            </a:pPr>
            <a:r>
              <a:rPr lang="en-IN" dirty="0"/>
              <a:t>Pipes and Filters </a:t>
            </a:r>
          </a:p>
          <a:p>
            <a:pPr>
              <a:buFont typeface="Arial" panose="020B0604020202020204" pitchFamily="34" charset="0"/>
              <a:buChar char="•"/>
            </a:pPr>
            <a:r>
              <a:rPr lang="en-IN" dirty="0"/>
              <a:t>The Broker pattern provides a complete infrastructure for distributed applications. </a:t>
            </a:r>
          </a:p>
          <a:p>
            <a:pPr>
              <a:buFont typeface="Arial" panose="020B0604020202020204" pitchFamily="34" charset="0"/>
              <a:buChar char="•"/>
            </a:pPr>
            <a:r>
              <a:rPr lang="en-IN" dirty="0"/>
              <a:t>The Microkernel and Pipes and Filters patterns only consider distribution as a secondary concern and are therefore listed under their respective primary categories. </a:t>
            </a:r>
          </a:p>
          <a:p>
            <a:r>
              <a:rPr lang="en-IN" dirty="0"/>
              <a:t>Interactive Systems. </a:t>
            </a:r>
          </a:p>
          <a:p>
            <a:pPr>
              <a:buFont typeface="Arial" panose="020B0604020202020204" pitchFamily="34" charset="0"/>
              <a:buChar char="•"/>
            </a:pPr>
            <a:r>
              <a:rPr lang="en-IN" dirty="0"/>
              <a:t>This category comprises two patterns, </a:t>
            </a:r>
          </a:p>
          <a:p>
            <a:pPr lvl="1">
              <a:buFont typeface="Arial" panose="020B0604020202020204" pitchFamily="34" charset="0"/>
              <a:buChar char="•"/>
            </a:pPr>
            <a:r>
              <a:rPr lang="en-IN" dirty="0"/>
              <a:t>the Model-View-Controller pattern (well-known from Smalltalk,)</a:t>
            </a:r>
          </a:p>
          <a:p>
            <a:pPr lvl="1">
              <a:buFont typeface="Arial" panose="020B0604020202020204" pitchFamily="34" charset="0"/>
              <a:buChar char="•"/>
            </a:pPr>
            <a:r>
              <a:rPr lang="en-IN" dirty="0"/>
              <a:t>the Presentation-Abstraction-Control pattern. </a:t>
            </a:r>
          </a:p>
          <a:p>
            <a:pPr>
              <a:buFont typeface="Arial" panose="020B0604020202020204" pitchFamily="34" charset="0"/>
              <a:buChar char="•"/>
            </a:pPr>
            <a:r>
              <a:rPr lang="en-IN" dirty="0"/>
              <a:t>Both patterns support the structuring of software systems that feature human-computer interaction. </a:t>
            </a:r>
          </a:p>
          <a:p>
            <a:pPr marL="0" indent="0"/>
            <a:r>
              <a:rPr lang="en-IN" dirty="0"/>
              <a:t>Adaptable Systems. </a:t>
            </a:r>
          </a:p>
          <a:p>
            <a:pPr>
              <a:buFont typeface="Arial" panose="020B0604020202020204" pitchFamily="34" charset="0"/>
              <a:buChar char="•"/>
            </a:pPr>
            <a:r>
              <a:rPr lang="en-IN" dirty="0"/>
              <a:t>This category includes</a:t>
            </a:r>
          </a:p>
          <a:p>
            <a:pPr lvl="1">
              <a:buFont typeface="Arial" panose="020B0604020202020204" pitchFamily="34" charset="0"/>
              <a:buChar char="•"/>
            </a:pPr>
            <a:r>
              <a:rPr lang="en-IN" dirty="0"/>
              <a:t>The Reflection pattern </a:t>
            </a:r>
          </a:p>
          <a:p>
            <a:pPr lvl="1">
              <a:buFont typeface="Arial" panose="020B0604020202020204" pitchFamily="34" charset="0"/>
              <a:buChar char="•"/>
            </a:pPr>
            <a:r>
              <a:rPr lang="en-IN" dirty="0"/>
              <a:t>the Microkernel pattern </a:t>
            </a:r>
          </a:p>
          <a:p>
            <a:pPr>
              <a:buFont typeface="Arial" panose="020B0604020202020204" pitchFamily="34" charset="0"/>
              <a:buChar char="•"/>
            </a:pPr>
            <a:r>
              <a:rPr lang="en-IN" dirty="0"/>
              <a:t>strongly support extension of applications and their adaptation to evolving technology and changing functional requirements. </a:t>
            </a:r>
          </a:p>
        </p:txBody>
      </p:sp>
      <p:sp>
        <p:nvSpPr>
          <p:cNvPr id="3" name="Content Placeholder 2">
            <a:extLst>
              <a:ext uri="{FF2B5EF4-FFF2-40B4-BE49-F238E27FC236}">
                <a16:creationId xmlns:a16="http://schemas.microsoft.com/office/drawing/2014/main" id="{32007265-0CB3-4700-AADA-FC3DBBD81B0B}"/>
              </a:ext>
            </a:extLst>
          </p:cNvPr>
          <p:cNvSpPr>
            <a:spLocks noGrp="1"/>
          </p:cNvSpPr>
          <p:nvPr>
            <p:ph sz="quarter" idx="10"/>
          </p:nvPr>
        </p:nvSpPr>
        <p:spPr/>
        <p:txBody>
          <a:bodyPr/>
          <a:lstStyle/>
          <a:p>
            <a:r>
              <a:rPr lang="en-IN" dirty="0"/>
              <a:t>Categories</a:t>
            </a:r>
          </a:p>
        </p:txBody>
      </p:sp>
      <p:sp>
        <p:nvSpPr>
          <p:cNvPr id="5" name="Date Placeholder 4">
            <a:extLst>
              <a:ext uri="{FF2B5EF4-FFF2-40B4-BE49-F238E27FC236}">
                <a16:creationId xmlns:a16="http://schemas.microsoft.com/office/drawing/2014/main" id="{D7D7129D-8E69-4D7D-8A25-48F8A2042F2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F4F2A314-9096-4C83-BC8C-A040BE391E8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1E0E476-2B26-44EE-8FD1-7F31241A36D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421032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881F94-A9A4-43D2-8BD3-41EF58BF95F8}"/>
              </a:ext>
            </a:extLst>
          </p:cNvPr>
          <p:cNvSpPr>
            <a:spLocks noGrp="1"/>
          </p:cNvSpPr>
          <p:nvPr>
            <p:ph idx="1"/>
          </p:nvPr>
        </p:nvSpPr>
        <p:spPr/>
        <p:txBody>
          <a:bodyPr>
            <a:normAutofit/>
          </a:bodyPr>
          <a:lstStyle/>
          <a:p>
            <a:pPr lvl="1">
              <a:buFont typeface="Arial" panose="020B0604020202020204" pitchFamily="34" charset="0"/>
              <a:buChar char="•"/>
            </a:pPr>
            <a:r>
              <a:rPr lang="en-IN" sz="3200" dirty="0"/>
              <a:t>the Layers pattern </a:t>
            </a:r>
          </a:p>
          <a:p>
            <a:pPr lvl="1">
              <a:buFont typeface="Arial" panose="020B0604020202020204" pitchFamily="34" charset="0"/>
              <a:buChar char="•"/>
            </a:pPr>
            <a:r>
              <a:rPr lang="en-IN" sz="3200" dirty="0"/>
              <a:t>the Pipes and Filters pattern </a:t>
            </a:r>
          </a:p>
          <a:p>
            <a:pPr lvl="1">
              <a:buFont typeface="Arial" panose="020B0604020202020204" pitchFamily="34" charset="0"/>
              <a:buChar char="•"/>
            </a:pPr>
            <a:r>
              <a:rPr lang="en-IN" sz="3200" dirty="0"/>
              <a:t>the Blackboard pattern</a:t>
            </a:r>
          </a:p>
          <a:p>
            <a:endParaRPr lang="en-IN" sz="4400" dirty="0"/>
          </a:p>
        </p:txBody>
      </p:sp>
      <p:sp>
        <p:nvSpPr>
          <p:cNvPr id="3" name="Content Placeholder 2">
            <a:extLst>
              <a:ext uri="{FF2B5EF4-FFF2-40B4-BE49-F238E27FC236}">
                <a16:creationId xmlns:a16="http://schemas.microsoft.com/office/drawing/2014/main" id="{128F28FE-0E57-4CC3-845C-C6969616A8E2}"/>
              </a:ext>
            </a:extLst>
          </p:cNvPr>
          <p:cNvSpPr>
            <a:spLocks noGrp="1"/>
          </p:cNvSpPr>
          <p:nvPr>
            <p:ph sz="quarter" idx="10"/>
          </p:nvPr>
        </p:nvSpPr>
        <p:spPr/>
        <p:txBody>
          <a:bodyPr/>
          <a:lstStyle/>
          <a:p>
            <a:r>
              <a:rPr lang="en-IN" dirty="0"/>
              <a:t>From Mud to Structure</a:t>
            </a:r>
          </a:p>
        </p:txBody>
      </p:sp>
      <p:sp>
        <p:nvSpPr>
          <p:cNvPr id="5" name="Date Placeholder 4">
            <a:extLst>
              <a:ext uri="{FF2B5EF4-FFF2-40B4-BE49-F238E27FC236}">
                <a16:creationId xmlns:a16="http://schemas.microsoft.com/office/drawing/2014/main" id="{8656C25F-0DFD-4778-8F00-AC8929237E0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03E3BA7-D5D8-481C-BF0C-F6D42E5E39D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5D35A6B-8A7B-422F-BF94-4465A1EE1D7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232763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552019-C85E-471A-89B6-69514F14627D}"/>
              </a:ext>
            </a:extLst>
          </p:cNvPr>
          <p:cNvSpPr>
            <a:spLocks noGrp="1"/>
          </p:cNvSpPr>
          <p:nvPr>
            <p:ph sz="quarter" idx="10"/>
          </p:nvPr>
        </p:nvSpPr>
        <p:spPr/>
        <p:txBody>
          <a:bodyPr/>
          <a:lstStyle/>
          <a:p>
            <a:r>
              <a:rPr lang="en-IN" dirty="0"/>
              <a:t>From Mud to Structure: Layers</a:t>
            </a:r>
          </a:p>
        </p:txBody>
      </p:sp>
      <p:sp>
        <p:nvSpPr>
          <p:cNvPr id="3" name="Date Placeholder 2">
            <a:extLst>
              <a:ext uri="{FF2B5EF4-FFF2-40B4-BE49-F238E27FC236}">
                <a16:creationId xmlns:a16="http://schemas.microsoft.com/office/drawing/2014/main" id="{F624AF60-4A17-4880-BF35-131BA2B19202}"/>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6E924E8A-B621-4282-B5E6-FDBF9F913395}"/>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a:extLst>
              <a:ext uri="{FF2B5EF4-FFF2-40B4-BE49-F238E27FC236}">
                <a16:creationId xmlns:a16="http://schemas.microsoft.com/office/drawing/2014/main" id="{711F640F-C806-496A-9FCD-2CE051181EB6}"/>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14320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F092382-82F9-4939-9A58-DC39FF577DD0}"/>
              </a:ext>
            </a:extLst>
          </p:cNvPr>
          <p:cNvPicPr>
            <a:picLocks noGrp="1" noChangeAspect="1"/>
          </p:cNvPicPr>
          <p:nvPr>
            <p:ph idx="1"/>
          </p:nvPr>
        </p:nvPicPr>
        <p:blipFill>
          <a:blip r:embed="rId2"/>
          <a:stretch>
            <a:fillRect/>
          </a:stretch>
        </p:blipFill>
        <p:spPr>
          <a:xfrm>
            <a:off x="1924518" y="1493838"/>
            <a:ext cx="4990163" cy="4525962"/>
          </a:xfrm>
          <a:prstGeom prst="rect">
            <a:avLst/>
          </a:prstGeom>
        </p:spPr>
      </p:pic>
      <p:sp>
        <p:nvSpPr>
          <p:cNvPr id="3" name="Content Placeholder 2">
            <a:extLst>
              <a:ext uri="{FF2B5EF4-FFF2-40B4-BE49-F238E27FC236}">
                <a16:creationId xmlns:a16="http://schemas.microsoft.com/office/drawing/2014/main" id="{5610B011-28D5-41B0-9927-460235E0096E}"/>
              </a:ext>
            </a:extLst>
          </p:cNvPr>
          <p:cNvSpPr>
            <a:spLocks noGrp="1"/>
          </p:cNvSpPr>
          <p:nvPr>
            <p:ph sz="quarter" idx="10"/>
          </p:nvPr>
        </p:nvSpPr>
        <p:spPr/>
        <p:txBody>
          <a:bodyPr/>
          <a:lstStyle/>
          <a:p>
            <a:r>
              <a:rPr lang="en-IN" dirty="0"/>
              <a:t>Layers- OSI 7 Layer Model</a:t>
            </a:r>
          </a:p>
        </p:txBody>
      </p:sp>
      <p:sp>
        <p:nvSpPr>
          <p:cNvPr id="5" name="Date Placeholder 4">
            <a:extLst>
              <a:ext uri="{FF2B5EF4-FFF2-40B4-BE49-F238E27FC236}">
                <a16:creationId xmlns:a16="http://schemas.microsoft.com/office/drawing/2014/main" id="{C6CD4631-1EDA-49F4-BDB0-4D0FA1BBFCB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DEB6F65-ACF3-4422-AB42-CE8C9905A23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AD640EA3-760A-4462-8F6D-5858306F5791}"/>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66500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4A5AA0-729A-4ACF-94DC-0D7914A01357}"/>
              </a:ext>
            </a:extLst>
          </p:cNvPr>
          <p:cNvSpPr>
            <a:spLocks noGrp="1"/>
          </p:cNvSpPr>
          <p:nvPr>
            <p:ph idx="1"/>
          </p:nvPr>
        </p:nvSpPr>
        <p:spPr/>
        <p:txBody>
          <a:bodyPr>
            <a:normAutofit fontScale="92500"/>
          </a:bodyPr>
          <a:lstStyle/>
          <a:p>
            <a:pPr marL="457200" indent="-457200">
              <a:buFont typeface="+mj-lt"/>
              <a:buAutoNum type="arabicPeriod"/>
            </a:pPr>
            <a:r>
              <a:rPr lang="en-IN" dirty="0"/>
              <a:t>Define the abstraction criterion for grouping tasks into layers.</a:t>
            </a:r>
          </a:p>
          <a:p>
            <a:pPr marL="457200" indent="-457200">
              <a:buFont typeface="+mj-lt"/>
              <a:buAutoNum type="arabicPeriod"/>
            </a:pPr>
            <a:r>
              <a:rPr lang="en-IN" dirty="0"/>
              <a:t>Determine the number of abstraction levels according to your abstraction criterion.</a:t>
            </a:r>
          </a:p>
          <a:p>
            <a:pPr marL="457200" indent="-457200">
              <a:buFont typeface="+mj-lt"/>
              <a:buAutoNum type="arabicPeriod"/>
            </a:pPr>
            <a:r>
              <a:rPr lang="en-IN" dirty="0"/>
              <a:t>Name the layers and assign tasks to each of them.</a:t>
            </a:r>
          </a:p>
          <a:p>
            <a:pPr marL="457200" indent="-457200">
              <a:buFont typeface="+mj-lt"/>
              <a:buAutoNum type="arabicPeriod"/>
            </a:pPr>
            <a:r>
              <a:rPr lang="en-IN" dirty="0"/>
              <a:t>Specify the services.</a:t>
            </a:r>
          </a:p>
          <a:p>
            <a:pPr marL="457200" indent="-457200">
              <a:buFont typeface="+mj-lt"/>
              <a:buAutoNum type="arabicPeriod"/>
            </a:pPr>
            <a:r>
              <a:rPr lang="en-IN" dirty="0"/>
              <a:t>Refine the layering.</a:t>
            </a:r>
          </a:p>
          <a:p>
            <a:pPr marL="457200" indent="-457200">
              <a:buFont typeface="+mj-lt"/>
              <a:buAutoNum type="arabicPeriod"/>
            </a:pPr>
            <a:r>
              <a:rPr lang="en-IN" dirty="0"/>
              <a:t>Specify an interface for each layer.</a:t>
            </a:r>
          </a:p>
          <a:p>
            <a:pPr marL="457200" indent="-457200">
              <a:buFont typeface="+mj-lt"/>
              <a:buAutoNum type="arabicPeriod"/>
            </a:pPr>
            <a:r>
              <a:rPr lang="en-IN" dirty="0"/>
              <a:t>Structure individual layers.</a:t>
            </a:r>
          </a:p>
          <a:p>
            <a:pPr marL="457200" indent="-457200">
              <a:buFont typeface="+mj-lt"/>
              <a:buAutoNum type="arabicPeriod"/>
            </a:pPr>
            <a:r>
              <a:rPr lang="en-IN" dirty="0"/>
              <a:t>Specify the communication between adjacent layers.</a:t>
            </a:r>
          </a:p>
          <a:p>
            <a:pPr marL="457200" indent="-457200">
              <a:buFont typeface="+mj-lt"/>
              <a:buAutoNum type="arabicPeriod"/>
            </a:pPr>
            <a:r>
              <a:rPr lang="en-IN" dirty="0"/>
              <a:t>Decouple adjacent layers.</a:t>
            </a:r>
          </a:p>
          <a:p>
            <a:pPr marL="457200" indent="-457200">
              <a:buFont typeface="+mj-lt"/>
              <a:buAutoNum type="arabicPeriod"/>
            </a:pPr>
            <a:r>
              <a:rPr lang="en-IN" dirty="0"/>
              <a:t>Design an error-handling strategy.</a:t>
            </a:r>
          </a:p>
        </p:txBody>
      </p:sp>
      <p:sp>
        <p:nvSpPr>
          <p:cNvPr id="3" name="Content Placeholder 2">
            <a:extLst>
              <a:ext uri="{FF2B5EF4-FFF2-40B4-BE49-F238E27FC236}">
                <a16:creationId xmlns:a16="http://schemas.microsoft.com/office/drawing/2014/main" id="{870E1BB7-89B6-4908-B562-D40564D27876}"/>
              </a:ext>
            </a:extLst>
          </p:cNvPr>
          <p:cNvSpPr>
            <a:spLocks noGrp="1"/>
          </p:cNvSpPr>
          <p:nvPr>
            <p:ph sz="quarter" idx="10"/>
          </p:nvPr>
        </p:nvSpPr>
        <p:spPr/>
        <p:txBody>
          <a:bodyPr/>
          <a:lstStyle/>
          <a:p>
            <a:r>
              <a:rPr lang="en-IN" dirty="0"/>
              <a:t>Implementation Steps</a:t>
            </a:r>
          </a:p>
        </p:txBody>
      </p:sp>
      <p:sp>
        <p:nvSpPr>
          <p:cNvPr id="5" name="Date Placeholder 4">
            <a:extLst>
              <a:ext uri="{FF2B5EF4-FFF2-40B4-BE49-F238E27FC236}">
                <a16:creationId xmlns:a16="http://schemas.microsoft.com/office/drawing/2014/main" id="{F7C30CD2-AB08-4001-9ECD-127ADFBDECB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9F9DC73E-46F4-4527-92A5-667E8A274BD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CA05EFDB-0B39-408B-B183-6542E93CC93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730635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F7E59C1-B4D1-4C7A-9F3E-FB2DD2C8816C}"/>
              </a:ext>
            </a:extLst>
          </p:cNvPr>
          <p:cNvPicPr>
            <a:picLocks noGrp="1" noChangeAspect="1"/>
          </p:cNvPicPr>
          <p:nvPr>
            <p:ph idx="1"/>
          </p:nvPr>
        </p:nvPicPr>
        <p:blipFill>
          <a:blip r:embed="rId2"/>
          <a:stretch>
            <a:fillRect/>
          </a:stretch>
        </p:blipFill>
        <p:spPr>
          <a:xfrm>
            <a:off x="847725" y="2118519"/>
            <a:ext cx="7143750" cy="3276600"/>
          </a:xfrm>
          <a:prstGeom prst="rect">
            <a:avLst/>
          </a:prstGeom>
        </p:spPr>
      </p:pic>
      <p:sp>
        <p:nvSpPr>
          <p:cNvPr id="3" name="Content Placeholder 2">
            <a:extLst>
              <a:ext uri="{FF2B5EF4-FFF2-40B4-BE49-F238E27FC236}">
                <a16:creationId xmlns:a16="http://schemas.microsoft.com/office/drawing/2014/main" id="{145DB5B2-F348-4985-A00E-CDA1D583921A}"/>
              </a:ext>
            </a:extLst>
          </p:cNvPr>
          <p:cNvSpPr>
            <a:spLocks noGrp="1"/>
          </p:cNvSpPr>
          <p:nvPr>
            <p:ph sz="quarter" idx="10"/>
          </p:nvPr>
        </p:nvSpPr>
        <p:spPr/>
        <p:txBody>
          <a:bodyPr/>
          <a:lstStyle/>
          <a:p>
            <a:r>
              <a:rPr lang="en-IN" dirty="0"/>
              <a:t>Variant of OSI: TCP/IP</a:t>
            </a:r>
          </a:p>
        </p:txBody>
      </p:sp>
      <p:sp>
        <p:nvSpPr>
          <p:cNvPr id="5" name="Date Placeholder 4">
            <a:extLst>
              <a:ext uri="{FF2B5EF4-FFF2-40B4-BE49-F238E27FC236}">
                <a16:creationId xmlns:a16="http://schemas.microsoft.com/office/drawing/2014/main" id="{9E7BD801-2A5E-4B7D-B317-77253F00E64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596045E-CFDD-4836-8922-67BB707A06EA}"/>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CD83741-F0FF-4459-85EE-7330E74245A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2291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84850B-D8D5-4C08-ADA3-2B3F06E3BB38}"/>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IN" dirty="0"/>
              <a:t>This is a variant of the Layers pattern that is less restrictive about the relationship between layers. </a:t>
            </a:r>
          </a:p>
          <a:p>
            <a:pPr>
              <a:buFont typeface="Arial" panose="020B0604020202020204" pitchFamily="34" charset="0"/>
              <a:buChar char="•"/>
            </a:pPr>
            <a:r>
              <a:rPr lang="en-IN" dirty="0"/>
              <a:t>In a Relaxed Layered System each layer may use the services of all layers below it, not only of the next lower layer. </a:t>
            </a:r>
          </a:p>
          <a:p>
            <a:pPr>
              <a:buFont typeface="Arial" panose="020B0604020202020204" pitchFamily="34" charset="0"/>
              <a:buChar char="•"/>
            </a:pPr>
            <a:r>
              <a:rPr lang="en-IN" dirty="0"/>
              <a:t>A layer may also be partially opaque- this means that some of its services are only visible to the next higher layer, while others are visible to all higher layers. </a:t>
            </a:r>
          </a:p>
          <a:p>
            <a:pPr>
              <a:buFont typeface="Arial" panose="020B0604020202020204" pitchFamily="34" charset="0"/>
              <a:buChar char="•"/>
            </a:pPr>
            <a:r>
              <a:rPr lang="en-IN" dirty="0"/>
              <a:t>The gain of flexibility and performance in a Relaxed Layered System is paid for by a loss of maintainability. </a:t>
            </a:r>
          </a:p>
          <a:p>
            <a:pPr>
              <a:buFont typeface="Arial" panose="020B0604020202020204" pitchFamily="34" charset="0"/>
              <a:buChar char="•"/>
            </a:pPr>
            <a:r>
              <a:rPr lang="en-IN" dirty="0"/>
              <a:t>This is often a high price to pay, and you should con- sider carefully before giving in to the demands of developers asking for shortcuts. </a:t>
            </a:r>
          </a:p>
          <a:p>
            <a:pPr>
              <a:buFont typeface="Arial" panose="020B0604020202020204" pitchFamily="34" charset="0"/>
              <a:buChar char="•"/>
            </a:pPr>
            <a:r>
              <a:rPr lang="en-IN" dirty="0"/>
              <a:t>We see these shortcuts more often in infrastructure systems, such as the UNIX operating system or the X Window System, than in application software. </a:t>
            </a:r>
          </a:p>
          <a:p>
            <a:pPr>
              <a:buFont typeface="Arial" panose="020B0604020202020204" pitchFamily="34" charset="0"/>
              <a:buChar char="•"/>
            </a:pPr>
            <a:r>
              <a:rPr lang="en-IN" dirty="0"/>
              <a:t>The main reason for this is that infra-structure systems are modified less often than application systems, and their performance is usually more important than their maintainability.</a:t>
            </a:r>
          </a:p>
        </p:txBody>
      </p:sp>
      <p:sp>
        <p:nvSpPr>
          <p:cNvPr id="3" name="Content Placeholder 2">
            <a:extLst>
              <a:ext uri="{FF2B5EF4-FFF2-40B4-BE49-F238E27FC236}">
                <a16:creationId xmlns:a16="http://schemas.microsoft.com/office/drawing/2014/main" id="{4641D084-3F3E-4C44-A2F0-A0C849F43341}"/>
              </a:ext>
            </a:extLst>
          </p:cNvPr>
          <p:cNvSpPr>
            <a:spLocks noGrp="1"/>
          </p:cNvSpPr>
          <p:nvPr>
            <p:ph sz="quarter" idx="10"/>
          </p:nvPr>
        </p:nvSpPr>
        <p:spPr/>
        <p:txBody>
          <a:bodyPr/>
          <a:lstStyle/>
          <a:p>
            <a:r>
              <a:rPr lang="en-IN" dirty="0"/>
              <a:t>Variant: Relaxed Layered System </a:t>
            </a:r>
          </a:p>
        </p:txBody>
      </p:sp>
      <p:sp>
        <p:nvSpPr>
          <p:cNvPr id="5" name="Date Placeholder 4">
            <a:extLst>
              <a:ext uri="{FF2B5EF4-FFF2-40B4-BE49-F238E27FC236}">
                <a16:creationId xmlns:a16="http://schemas.microsoft.com/office/drawing/2014/main" id="{DA53E0D2-0A9A-4D28-9E85-8A281D5EDD9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B55FF44-4578-42AC-8978-12B654293B5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077716B-DFBD-4579-9521-2440F2E4161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193947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4D5375-6119-4E3B-8916-74B66AE5112F}"/>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N" dirty="0"/>
              <a:t>This variant can be found in some object-oriented systems. </a:t>
            </a:r>
          </a:p>
          <a:p>
            <a:pPr>
              <a:buFont typeface="Arial" panose="020B0604020202020204" pitchFamily="34" charset="0"/>
              <a:buChar char="•"/>
            </a:pPr>
            <a:r>
              <a:rPr lang="en-IN" dirty="0"/>
              <a:t>In this variant lower layers are implemented as base classes. </a:t>
            </a:r>
          </a:p>
          <a:p>
            <a:pPr>
              <a:buFont typeface="Arial" panose="020B0604020202020204" pitchFamily="34" charset="0"/>
              <a:buChar char="•"/>
            </a:pPr>
            <a:r>
              <a:rPr lang="en-IN" dirty="0"/>
              <a:t>A higher layer requesting services from a lower layer inherits from the lower layer's implementation and hence can issue requests to the base class services. </a:t>
            </a:r>
          </a:p>
          <a:p>
            <a:pPr>
              <a:buFont typeface="Arial" panose="020B0604020202020204" pitchFamily="34" charset="0"/>
              <a:buChar char="•"/>
            </a:pPr>
            <a:r>
              <a:rPr lang="en-IN" dirty="0"/>
              <a:t>An advantage of this scheme is that higher layers can modify lower-layer services according to their needs. </a:t>
            </a:r>
          </a:p>
          <a:p>
            <a:pPr>
              <a:buFont typeface="Arial" panose="020B0604020202020204" pitchFamily="34" charset="0"/>
              <a:buChar char="•"/>
            </a:pPr>
            <a:r>
              <a:rPr lang="en-IN" dirty="0"/>
              <a:t>A drawback is that such an inheritance relationship closely ties the higher layer to the lower layer. </a:t>
            </a:r>
          </a:p>
          <a:p>
            <a:pPr>
              <a:buFont typeface="Arial" panose="020B0604020202020204" pitchFamily="34" charset="0"/>
              <a:buChar char="•"/>
            </a:pPr>
            <a:r>
              <a:rPr lang="en-IN" dirty="0"/>
              <a:t>If for example the data layout of a C++ base class changes, all subclasses must be recompiled. </a:t>
            </a:r>
          </a:p>
          <a:p>
            <a:pPr>
              <a:buFont typeface="Arial" panose="020B0604020202020204" pitchFamily="34" charset="0"/>
              <a:buChar char="•"/>
            </a:pPr>
            <a:r>
              <a:rPr lang="en-IN" dirty="0"/>
              <a:t>Such unintentional dependencies introduced by inheritance are also known as the fragile base class problem.</a:t>
            </a:r>
          </a:p>
        </p:txBody>
      </p:sp>
      <p:sp>
        <p:nvSpPr>
          <p:cNvPr id="3" name="Content Placeholder 2">
            <a:extLst>
              <a:ext uri="{FF2B5EF4-FFF2-40B4-BE49-F238E27FC236}">
                <a16:creationId xmlns:a16="http://schemas.microsoft.com/office/drawing/2014/main" id="{F1A906C2-6829-4EF4-8DB9-068214249248}"/>
              </a:ext>
            </a:extLst>
          </p:cNvPr>
          <p:cNvSpPr>
            <a:spLocks noGrp="1"/>
          </p:cNvSpPr>
          <p:nvPr>
            <p:ph sz="quarter" idx="10"/>
          </p:nvPr>
        </p:nvSpPr>
        <p:spPr/>
        <p:txBody>
          <a:bodyPr/>
          <a:lstStyle/>
          <a:p>
            <a:r>
              <a:rPr lang="en-IN" dirty="0"/>
              <a:t>Variant: Layering Through Inheritance. </a:t>
            </a:r>
          </a:p>
        </p:txBody>
      </p:sp>
      <p:sp>
        <p:nvSpPr>
          <p:cNvPr id="5" name="Date Placeholder 4">
            <a:extLst>
              <a:ext uri="{FF2B5EF4-FFF2-40B4-BE49-F238E27FC236}">
                <a16:creationId xmlns:a16="http://schemas.microsoft.com/office/drawing/2014/main" id="{BE1DA432-4436-466B-9DE6-E9EF03471AF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98B2647-CBA6-43BE-B42A-0F53C936697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2DC8C8E0-20DA-4618-914A-5362AD3596F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02078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73D201-2D1B-4B8D-8060-F0F0009489E1}"/>
              </a:ext>
            </a:extLst>
          </p:cNvPr>
          <p:cNvSpPr>
            <a:spLocks noGrp="1"/>
          </p:cNvSpPr>
          <p:nvPr>
            <p:ph idx="1"/>
          </p:nvPr>
        </p:nvSpPr>
        <p:spPr/>
        <p:txBody>
          <a:bodyPr>
            <a:normAutofit lnSpcReduction="10000"/>
          </a:bodyPr>
          <a:lstStyle/>
          <a:p>
            <a:r>
              <a:rPr lang="en-IN" dirty="0"/>
              <a:t>Virtual Machines. We can speak of lower levels as a virtual machine that insulates higher levels from low-level details or varying hardware. For example, the Java Virtual Machine (JVM) defines a binary code format. Code written in the Java programming language is translated into a platform-neutral binary code, also called byte- codes, and delivered to the JVM for interpretation. The JVM itself is platform-specific-there are implementations of the JVM for different operating systems and processors. Such a two-step translation process allows platform-neutral source code and the delivery of binary code not readable to humans1, while maintaining platform- independency.</a:t>
            </a:r>
          </a:p>
        </p:txBody>
      </p:sp>
      <p:sp>
        <p:nvSpPr>
          <p:cNvPr id="3" name="Content Placeholder 2">
            <a:extLst>
              <a:ext uri="{FF2B5EF4-FFF2-40B4-BE49-F238E27FC236}">
                <a16:creationId xmlns:a16="http://schemas.microsoft.com/office/drawing/2014/main" id="{DD1AB869-12AD-4E41-85AE-B74C7CC63702}"/>
              </a:ext>
            </a:extLst>
          </p:cNvPr>
          <p:cNvSpPr>
            <a:spLocks noGrp="1"/>
          </p:cNvSpPr>
          <p:nvPr>
            <p:ph sz="quarter" idx="10"/>
          </p:nvPr>
        </p:nvSpPr>
        <p:spPr/>
        <p:txBody>
          <a:bodyPr/>
          <a:lstStyle/>
          <a:p>
            <a:r>
              <a:rPr lang="en-IN" dirty="0"/>
              <a:t>Known Usages: </a:t>
            </a:r>
          </a:p>
        </p:txBody>
      </p:sp>
      <p:sp>
        <p:nvSpPr>
          <p:cNvPr id="5" name="Date Placeholder 4">
            <a:extLst>
              <a:ext uri="{FF2B5EF4-FFF2-40B4-BE49-F238E27FC236}">
                <a16:creationId xmlns:a16="http://schemas.microsoft.com/office/drawing/2014/main" id="{AE1E47FF-9644-4B0F-871E-8B2305CE011A}"/>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FEE2506-D19F-4FAF-B1FF-31AA962B577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AF35865C-BCBD-4BC2-9F7C-88B34B3B518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79268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9F22A9-8335-4FA5-A204-98DEF1F969B2}"/>
              </a:ext>
            </a:extLst>
          </p:cNvPr>
          <p:cNvSpPr>
            <a:spLocks noGrp="1"/>
          </p:cNvSpPr>
          <p:nvPr>
            <p:ph idx="1"/>
          </p:nvPr>
        </p:nvSpPr>
        <p:spPr/>
        <p:txBody>
          <a:bodyPr>
            <a:normAutofit fontScale="92500" lnSpcReduction="10000"/>
          </a:bodyPr>
          <a:lstStyle/>
          <a:p>
            <a:r>
              <a:rPr lang="en-IN" dirty="0"/>
              <a:t>APIs. An Application Programming Interface is a layer that </a:t>
            </a:r>
            <a:r>
              <a:rPr lang="en-IN" dirty="0" err="1"/>
              <a:t>encapsu</a:t>
            </a:r>
            <a:r>
              <a:rPr lang="en-IN" dirty="0"/>
              <a:t>- </a:t>
            </a:r>
            <a:r>
              <a:rPr lang="en-IN" dirty="0" err="1"/>
              <a:t>lates</a:t>
            </a:r>
            <a:r>
              <a:rPr lang="en-IN" dirty="0"/>
              <a:t> lower layers of frequently-used functionality. An API is usually a flat collection of function specifications, such as the UNIX system calls. 'Flat' means here that the system calls for accessing the UNIX file system. These libraries provide the benefit of </a:t>
            </a:r>
            <a:r>
              <a:rPr lang="en-IN" dirty="0" err="1"/>
              <a:t>portabil</a:t>
            </a:r>
            <a:r>
              <a:rPr lang="en-IN" dirty="0"/>
              <a:t>- </a:t>
            </a:r>
            <a:r>
              <a:rPr lang="en-IN" dirty="0" err="1"/>
              <a:t>ity</a:t>
            </a:r>
            <a:r>
              <a:rPr lang="en-IN" dirty="0"/>
              <a:t> between different operating systems, and provide additional higher-level services such as output buffering or formatted output. They often carry the liability of lower efficiency2, and perhaps more tightly-prescribed </a:t>
            </a:r>
            <a:r>
              <a:rPr lang="en-IN" dirty="0" err="1"/>
              <a:t>behavior</a:t>
            </a:r>
            <a:r>
              <a:rPr lang="en-IN" dirty="0"/>
              <a:t>, whereas conventional system calls would give more flexibility-and more opportunities for errors and </a:t>
            </a:r>
            <a:r>
              <a:rPr lang="en-IN" dirty="0" err="1"/>
              <a:t>concep</a:t>
            </a:r>
            <a:r>
              <a:rPr lang="en-IN" dirty="0"/>
              <a:t>- </a:t>
            </a:r>
            <a:r>
              <a:rPr lang="en-IN" dirty="0" err="1"/>
              <a:t>tual</a:t>
            </a:r>
            <a:r>
              <a:rPr lang="en-IN" dirty="0"/>
              <a:t> mismatches, mostly due to the wide gap between high-level application abstractions and low-level system calls.</a:t>
            </a:r>
          </a:p>
        </p:txBody>
      </p:sp>
      <p:sp>
        <p:nvSpPr>
          <p:cNvPr id="3" name="Content Placeholder 2">
            <a:extLst>
              <a:ext uri="{FF2B5EF4-FFF2-40B4-BE49-F238E27FC236}">
                <a16:creationId xmlns:a16="http://schemas.microsoft.com/office/drawing/2014/main" id="{F78D0F00-0D81-4ECC-90CB-CB29FAB37EE6}"/>
              </a:ext>
            </a:extLst>
          </p:cNvPr>
          <p:cNvSpPr>
            <a:spLocks noGrp="1"/>
          </p:cNvSpPr>
          <p:nvPr>
            <p:ph sz="quarter" idx="10"/>
          </p:nvPr>
        </p:nvSpPr>
        <p:spPr/>
        <p:txBody>
          <a:bodyPr/>
          <a:lstStyle/>
          <a:p>
            <a:r>
              <a:rPr lang="en-IN" dirty="0"/>
              <a:t>Known Usages: </a:t>
            </a:r>
          </a:p>
        </p:txBody>
      </p:sp>
      <p:sp>
        <p:nvSpPr>
          <p:cNvPr id="5" name="Date Placeholder 4">
            <a:extLst>
              <a:ext uri="{FF2B5EF4-FFF2-40B4-BE49-F238E27FC236}">
                <a16:creationId xmlns:a16="http://schemas.microsoft.com/office/drawing/2014/main" id="{43BB3E11-A287-4689-8DEC-D9A3D1CC2A4C}"/>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CAFB7DD-A5FC-4EE7-9039-53A129EA9B8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AD566C53-6367-4075-9433-C60C41A3005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221707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F91FA5-937E-4C6D-8D98-5BB18E57F534}"/>
              </a:ext>
            </a:extLst>
          </p:cNvPr>
          <p:cNvSpPr>
            <a:spLocks noGrp="1"/>
          </p:cNvSpPr>
          <p:nvPr>
            <p:ph idx="1"/>
          </p:nvPr>
        </p:nvSpPr>
        <p:spPr/>
        <p:txBody>
          <a:bodyPr>
            <a:normAutofit fontScale="85000" lnSpcReduction="10000"/>
          </a:bodyPr>
          <a:lstStyle/>
          <a:p>
            <a:r>
              <a:rPr lang="en-IN" dirty="0"/>
              <a:t>Information Systems (IS) from the business software domain often use a two-layer architecture. The bottom layer is a database that holds company-specific data. Many applications work concurrently on top of this database to </a:t>
            </a:r>
            <a:r>
              <a:rPr lang="en-IN" dirty="0" err="1"/>
              <a:t>fulfill</a:t>
            </a:r>
            <a:r>
              <a:rPr lang="en-IN" dirty="0"/>
              <a:t> different tasks. Mainframe interactive systems and the much-extolled Client-Server systems often employ this architecture. Because the tight coupling of user interface and data representation causes its share of problems, a third layer is introduced between them-the domain layer-which models the conceptual structure of the problem domain. As the top level still mixes user interface and application, this level is also split, resulting in a four-layer architecture. These are, from highest to lowest: </a:t>
            </a:r>
          </a:p>
          <a:p>
            <a:r>
              <a:rPr lang="en-IN" dirty="0"/>
              <a:t>Presentation </a:t>
            </a:r>
          </a:p>
          <a:p>
            <a:r>
              <a:rPr lang="en-IN" dirty="0"/>
              <a:t>Application logic </a:t>
            </a:r>
          </a:p>
          <a:p>
            <a:r>
              <a:rPr lang="en-IN" dirty="0"/>
              <a:t>Domain layer </a:t>
            </a:r>
          </a:p>
          <a:p>
            <a:r>
              <a:rPr lang="en-IN" dirty="0"/>
              <a:t>Database</a:t>
            </a:r>
          </a:p>
        </p:txBody>
      </p:sp>
      <p:sp>
        <p:nvSpPr>
          <p:cNvPr id="3" name="Content Placeholder 2">
            <a:extLst>
              <a:ext uri="{FF2B5EF4-FFF2-40B4-BE49-F238E27FC236}">
                <a16:creationId xmlns:a16="http://schemas.microsoft.com/office/drawing/2014/main" id="{4E9432D7-621B-436F-9AE1-48653445B4B1}"/>
              </a:ext>
            </a:extLst>
          </p:cNvPr>
          <p:cNvSpPr>
            <a:spLocks noGrp="1"/>
          </p:cNvSpPr>
          <p:nvPr>
            <p:ph sz="quarter" idx="10"/>
          </p:nvPr>
        </p:nvSpPr>
        <p:spPr/>
        <p:txBody>
          <a:bodyPr/>
          <a:lstStyle/>
          <a:p>
            <a:r>
              <a:rPr lang="en-IN"/>
              <a:t>Known Usages: </a:t>
            </a:r>
            <a:endParaRPr lang="en-IN" dirty="0"/>
          </a:p>
        </p:txBody>
      </p:sp>
      <p:sp>
        <p:nvSpPr>
          <p:cNvPr id="5" name="Date Placeholder 4">
            <a:extLst>
              <a:ext uri="{FF2B5EF4-FFF2-40B4-BE49-F238E27FC236}">
                <a16:creationId xmlns:a16="http://schemas.microsoft.com/office/drawing/2014/main" id="{81F00253-CD98-4226-9181-DD4FBE4BD0E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8919CEF-706A-404F-82FC-049FAD9B257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65E4ADC4-E592-4174-B40C-E094C675B2C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51644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308514-E56B-42D3-8197-DA59CA1FB568}"/>
              </a:ext>
            </a:extLst>
          </p:cNvPr>
          <p:cNvSpPr>
            <a:spLocks noGrp="1"/>
          </p:cNvSpPr>
          <p:nvPr>
            <p:ph idx="1"/>
          </p:nvPr>
        </p:nvSpPr>
        <p:spPr/>
        <p:txBody>
          <a:bodyPr>
            <a:normAutofit fontScale="62500" lnSpcReduction="20000"/>
          </a:bodyPr>
          <a:lstStyle/>
          <a:p>
            <a:r>
              <a:rPr lang="en-IN" dirty="0"/>
              <a:t>Windows NT [Cus93]. This operating system is structured according to the Microkernel pattern (171). The NT Executive component corresponds to the microkernel component of the Microkernel pattern. The NT Executive is a Relaxed Layered System, as described in the Variants section. It has the following layers: </a:t>
            </a:r>
          </a:p>
          <a:p>
            <a:r>
              <a:rPr lang="en-IN" dirty="0"/>
              <a:t>System services: the interface layer between the subsystems and the NT Executive. </a:t>
            </a:r>
          </a:p>
          <a:p>
            <a:r>
              <a:rPr lang="en-IN" dirty="0"/>
              <a:t>2. Input/output buffering in </a:t>
            </a:r>
            <a:r>
              <a:rPr lang="en-IN" dirty="0" err="1"/>
              <a:t>Mgher</a:t>
            </a:r>
            <a:r>
              <a:rPr lang="en-IN" dirty="0"/>
              <a:t> layers is often intended to have the inverse effect-better performance than undisciplined direct use of lower-level system calls. </a:t>
            </a:r>
          </a:p>
          <a:p>
            <a:r>
              <a:rPr lang="en-IN" dirty="0"/>
              <a:t>@ Resource management layer: this contains the modules Object Manager, Security Reference Monitor, Process Manager, 1/0 Manager, Virtual Memory Manager and Local Procedure Calls. </a:t>
            </a:r>
          </a:p>
          <a:p>
            <a:r>
              <a:rPr lang="en-IN" dirty="0"/>
              <a:t>@ Kernel: this takes care of basic functions such as interrupt and ex- </a:t>
            </a:r>
            <a:r>
              <a:rPr lang="en-IN" dirty="0" err="1"/>
              <a:t>ception</a:t>
            </a:r>
            <a:r>
              <a:rPr lang="en-IN" dirty="0"/>
              <a:t> handling, multiprocessor synchronization, thread </a:t>
            </a:r>
            <a:r>
              <a:rPr lang="en-IN" dirty="0" err="1"/>
              <a:t>schedu</a:t>
            </a:r>
            <a:r>
              <a:rPr lang="en-IN" dirty="0"/>
              <a:t>- ling and thread dispatching. </a:t>
            </a:r>
          </a:p>
          <a:p>
            <a:r>
              <a:rPr lang="en-IN" dirty="0"/>
              <a:t>@ HAL (Hardware Abstraction Layer): this hides hardware differences between machines of different processor families. </a:t>
            </a:r>
          </a:p>
          <a:p>
            <a:r>
              <a:rPr lang="en-IN" dirty="0"/>
              <a:t>@ Hardware </a:t>
            </a:r>
          </a:p>
          <a:p>
            <a:r>
              <a:rPr lang="en-IN" dirty="0"/>
              <a:t>Windows NT relaxes the principles of the Layers pattern because the Kernel and the 1/0 manager access the underlying hardware directly for reasons of efficiency. </a:t>
            </a:r>
          </a:p>
          <a:p>
            <a:r>
              <a:rPr lang="en-IN" dirty="0" err="1"/>
              <a:t>onsequences</a:t>
            </a:r>
            <a:r>
              <a:rPr lang="en-IN" dirty="0"/>
              <a:t> </a:t>
            </a:r>
          </a:p>
        </p:txBody>
      </p:sp>
      <p:sp>
        <p:nvSpPr>
          <p:cNvPr id="3" name="Content Placeholder 2">
            <a:extLst>
              <a:ext uri="{FF2B5EF4-FFF2-40B4-BE49-F238E27FC236}">
                <a16:creationId xmlns:a16="http://schemas.microsoft.com/office/drawing/2014/main" id="{BF08F5C8-32E3-48B1-9610-91105CAA3285}"/>
              </a:ext>
            </a:extLst>
          </p:cNvPr>
          <p:cNvSpPr>
            <a:spLocks noGrp="1"/>
          </p:cNvSpPr>
          <p:nvPr>
            <p:ph sz="quarter" idx="10"/>
          </p:nvPr>
        </p:nvSpPr>
        <p:spPr/>
        <p:txBody>
          <a:bodyPr/>
          <a:lstStyle/>
          <a:p>
            <a:r>
              <a:rPr lang="en-IN" dirty="0"/>
              <a:t>Known Usages: </a:t>
            </a:r>
          </a:p>
        </p:txBody>
      </p:sp>
      <p:sp>
        <p:nvSpPr>
          <p:cNvPr id="5" name="Date Placeholder 4">
            <a:extLst>
              <a:ext uri="{FF2B5EF4-FFF2-40B4-BE49-F238E27FC236}">
                <a16:creationId xmlns:a16="http://schemas.microsoft.com/office/drawing/2014/main" id="{8DD61C41-3B05-48BF-A2F1-D0DE2073EE9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3FE4AE5-7DFE-44D4-8A9D-A71F9A529495}"/>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EED217C-DF23-404A-858A-76132067A59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111776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C75BA8-02FE-411B-A6D5-5EEED5245E2E}"/>
              </a:ext>
            </a:extLst>
          </p:cNvPr>
          <p:cNvSpPr>
            <a:spLocks noGrp="1"/>
          </p:cNvSpPr>
          <p:nvPr>
            <p:ph idx="1"/>
          </p:nvPr>
        </p:nvSpPr>
        <p:spPr/>
        <p:txBody>
          <a:bodyPr/>
          <a:lstStyle/>
          <a:p>
            <a:pPr marL="0" indent="0"/>
            <a:r>
              <a:rPr lang="en-IN" dirty="0"/>
              <a:t>Benefits</a:t>
            </a:r>
          </a:p>
          <a:p>
            <a:pPr marL="457200" indent="-457200">
              <a:buFont typeface="+mj-lt"/>
              <a:buAutoNum type="arabicPeriod"/>
            </a:pPr>
            <a:r>
              <a:rPr lang="en-IN" dirty="0"/>
              <a:t>Reuse of layers.</a:t>
            </a:r>
          </a:p>
          <a:p>
            <a:pPr marL="457200" indent="-457200">
              <a:buFont typeface="+mj-lt"/>
              <a:buAutoNum type="arabicPeriod"/>
            </a:pPr>
            <a:r>
              <a:rPr lang="en-IN" dirty="0"/>
              <a:t>Support for standardization.</a:t>
            </a:r>
          </a:p>
          <a:p>
            <a:pPr marL="457200" indent="-457200">
              <a:buFont typeface="+mj-lt"/>
              <a:buAutoNum type="arabicPeriod"/>
            </a:pPr>
            <a:r>
              <a:rPr lang="en-IN" dirty="0"/>
              <a:t>Dependencies are kept local</a:t>
            </a:r>
          </a:p>
          <a:p>
            <a:pPr marL="0" indent="0"/>
            <a:r>
              <a:rPr lang="en-IN" dirty="0"/>
              <a:t>Liabilities</a:t>
            </a:r>
          </a:p>
          <a:p>
            <a:pPr marL="457200" indent="-457200">
              <a:buFont typeface="+mj-lt"/>
              <a:buAutoNum type="arabicPeriod"/>
            </a:pPr>
            <a:r>
              <a:rPr lang="en-IN" dirty="0"/>
              <a:t>Cascades of changing behaviour.</a:t>
            </a:r>
          </a:p>
          <a:p>
            <a:pPr marL="457200" indent="-457200">
              <a:buFont typeface="+mj-lt"/>
              <a:buAutoNum type="arabicPeriod"/>
            </a:pPr>
            <a:r>
              <a:rPr lang="en-IN" dirty="0"/>
              <a:t>Lower efficiency.</a:t>
            </a:r>
          </a:p>
          <a:p>
            <a:pPr marL="457200" indent="-457200">
              <a:buFont typeface="+mj-lt"/>
              <a:buAutoNum type="arabicPeriod"/>
            </a:pPr>
            <a:r>
              <a:rPr lang="en-IN" dirty="0"/>
              <a:t>Unnecessary work.</a:t>
            </a:r>
          </a:p>
          <a:p>
            <a:pPr marL="457200" indent="-457200">
              <a:buFont typeface="+mj-lt"/>
              <a:buAutoNum type="arabicPeriod"/>
            </a:pPr>
            <a:r>
              <a:rPr lang="en-IN" dirty="0" err="1"/>
              <a:t>Difiulty</a:t>
            </a:r>
            <a:r>
              <a:rPr lang="en-IN" dirty="0"/>
              <a:t> of establishing the correct granularity of layers.</a:t>
            </a:r>
          </a:p>
        </p:txBody>
      </p:sp>
      <p:sp>
        <p:nvSpPr>
          <p:cNvPr id="3" name="Content Placeholder 2">
            <a:extLst>
              <a:ext uri="{FF2B5EF4-FFF2-40B4-BE49-F238E27FC236}">
                <a16:creationId xmlns:a16="http://schemas.microsoft.com/office/drawing/2014/main" id="{10691DA3-4AA8-4790-B3BE-E2282390FF2B}"/>
              </a:ext>
            </a:extLst>
          </p:cNvPr>
          <p:cNvSpPr>
            <a:spLocks noGrp="1"/>
          </p:cNvSpPr>
          <p:nvPr>
            <p:ph sz="quarter" idx="10"/>
          </p:nvPr>
        </p:nvSpPr>
        <p:spPr/>
        <p:txBody>
          <a:bodyPr/>
          <a:lstStyle/>
          <a:p>
            <a:r>
              <a:rPr lang="en-IN" dirty="0"/>
              <a:t>Benefits</a:t>
            </a:r>
          </a:p>
        </p:txBody>
      </p:sp>
      <p:sp>
        <p:nvSpPr>
          <p:cNvPr id="5" name="Date Placeholder 4">
            <a:extLst>
              <a:ext uri="{FF2B5EF4-FFF2-40B4-BE49-F238E27FC236}">
                <a16:creationId xmlns:a16="http://schemas.microsoft.com/office/drawing/2014/main" id="{C37C68E7-506E-4A37-84F8-0F83BF3D041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DBEBFB7-8F47-4584-8838-571C68BF2863}"/>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B26FFEAA-24C0-4E0B-8CE9-7E83D7E30CF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712170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Pipes and Filters</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388433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E0054C-795E-4F97-B2CA-1C2AA0099515}"/>
              </a:ext>
            </a:extLst>
          </p:cNvPr>
          <p:cNvSpPr>
            <a:spLocks noGrp="1"/>
          </p:cNvSpPr>
          <p:nvPr>
            <p:ph idx="1"/>
          </p:nvPr>
        </p:nvSpPr>
        <p:spPr/>
        <p:txBody>
          <a:bodyPr/>
          <a:lstStyle/>
          <a:p>
            <a:r>
              <a:rPr lang="en-IN" dirty="0"/>
              <a:t>	The Pipes and Filters architectural pattern provides a structure for systems that process a stream of data. Each processing step is encapsulated in a filter component. Data is passed through pipes between adjacent filters. Recombining filters allows you to build families of related systems. </a:t>
            </a:r>
          </a:p>
        </p:txBody>
      </p:sp>
      <p:sp>
        <p:nvSpPr>
          <p:cNvPr id="3" name="Content Placeholder 2">
            <a:extLst>
              <a:ext uri="{FF2B5EF4-FFF2-40B4-BE49-F238E27FC236}">
                <a16:creationId xmlns:a16="http://schemas.microsoft.com/office/drawing/2014/main" id="{C6877668-E72C-438C-B1FF-A452618B2C83}"/>
              </a:ext>
            </a:extLst>
          </p:cNvPr>
          <p:cNvSpPr>
            <a:spLocks noGrp="1"/>
          </p:cNvSpPr>
          <p:nvPr>
            <p:ph sz="quarter" idx="10"/>
          </p:nvPr>
        </p:nvSpPr>
        <p:spPr/>
        <p:txBody>
          <a:bodyPr/>
          <a:lstStyle/>
          <a:p>
            <a:r>
              <a:rPr lang="en-IN" dirty="0"/>
              <a:t>Pipes and Filters</a:t>
            </a:r>
          </a:p>
        </p:txBody>
      </p:sp>
      <p:sp>
        <p:nvSpPr>
          <p:cNvPr id="5" name="Date Placeholder 4">
            <a:extLst>
              <a:ext uri="{FF2B5EF4-FFF2-40B4-BE49-F238E27FC236}">
                <a16:creationId xmlns:a16="http://schemas.microsoft.com/office/drawing/2014/main" id="{B21B032D-CABA-41AA-A98D-FB96F6D0E9E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918B7637-618E-4BBA-9DCD-97E11DD0478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098E105-7605-4E61-AEEB-BD61A02AC80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34998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sz="3200" b="1" i="0" u="none" strike="noStrike" kern="1200" baseline="0" dirty="0">
                <a:solidFill>
                  <a:schemeClr val="tx1"/>
                </a:solidFill>
                <a:latin typeface="+mn-lt"/>
                <a:ea typeface="+mn-ea"/>
                <a:cs typeface="+mn-cs"/>
              </a:rPr>
              <a:t>Context: </a:t>
            </a:r>
            <a:r>
              <a:rPr lang="en-US" sz="3200" b="0" i="0" u="none" strike="noStrike" kern="1200" baseline="0" dirty="0">
                <a:solidFill>
                  <a:schemeClr val="tx1"/>
                </a:solidFill>
                <a:latin typeface="+mn-lt"/>
                <a:ea typeface="+mn-ea"/>
                <a:cs typeface="+mn-cs"/>
              </a:rPr>
              <a:t>Many systems are required to transform streams of discrete data items, from input to output. Many types of transformations occur repeatedly in practice, and so it is desirable to create these as independent, reusable parts.</a:t>
            </a:r>
          </a:p>
          <a:p>
            <a:r>
              <a:rPr lang="en-US" sz="3200" b="1" i="0" u="none" strike="noStrike" kern="1200" baseline="0" dirty="0">
                <a:solidFill>
                  <a:schemeClr val="tx1"/>
                </a:solidFill>
                <a:latin typeface="+mn-lt"/>
                <a:ea typeface="+mn-ea"/>
                <a:cs typeface="+mn-cs"/>
              </a:rPr>
              <a:t>Problem: </a:t>
            </a:r>
            <a:r>
              <a:rPr lang="en-US" sz="3200" b="0" i="0" u="none" strike="noStrike" kern="1200" baseline="0" dirty="0">
                <a:solidFill>
                  <a:schemeClr val="tx1"/>
                </a:solidFill>
                <a:latin typeface="+mn-lt"/>
                <a:ea typeface="+mn-ea"/>
                <a:cs typeface="+mn-cs"/>
              </a:rPr>
              <a:t>Such systems need to be divided into reusable, loosely coupled components with simple, generic interaction mechanisms. In this way they can be flexibly combined with each other. The components, being generic and loosely coupled, are easily reused. The components, being independent, can execute in parallel.</a:t>
            </a:r>
          </a:p>
          <a:p>
            <a:r>
              <a:rPr lang="en-US" sz="3200" b="1" i="0" u="none" strike="noStrike" kern="1200" baseline="0" dirty="0">
                <a:solidFill>
                  <a:schemeClr val="tx1"/>
                </a:solidFill>
                <a:latin typeface="+mn-lt"/>
                <a:ea typeface="+mn-ea"/>
                <a:cs typeface="+mn-cs"/>
              </a:rPr>
              <a:t>Solution: </a:t>
            </a:r>
            <a:r>
              <a:rPr lang="en-US" sz="3200" b="0" i="0" u="none" strike="noStrike" kern="1200" baseline="0" dirty="0">
                <a:solidFill>
                  <a:schemeClr val="tx1"/>
                </a:solidFill>
                <a:latin typeface="+mn-lt"/>
                <a:ea typeface="+mn-ea"/>
                <a:cs typeface="+mn-cs"/>
              </a:rPr>
              <a:t>The pattern of interaction in the pipe-and-filter pattern is characterized by successive transformations of streams of data. Data arrives at a filter’s input port(s), is transformed, and then is passed via its output port(s) through a pipe to the next filter. A single filter can consume data from, or produce data to, one or more ports.</a:t>
            </a:r>
          </a:p>
        </p:txBody>
      </p:sp>
      <p:sp>
        <p:nvSpPr>
          <p:cNvPr id="5" name="Content Placeholder 4">
            <a:extLst>
              <a:ext uri="{FF2B5EF4-FFF2-40B4-BE49-F238E27FC236}">
                <a16:creationId xmlns:a16="http://schemas.microsoft.com/office/drawing/2014/main" id="{7C464362-32C0-459B-8518-FD238114B64C}"/>
              </a:ext>
            </a:extLst>
          </p:cNvPr>
          <p:cNvSpPr>
            <a:spLocks noGrp="1"/>
          </p:cNvSpPr>
          <p:nvPr>
            <p:ph sz="quarter" idx="10"/>
          </p:nvPr>
        </p:nvSpPr>
        <p:spPr/>
        <p:txBody>
          <a:bodyPr/>
          <a:lstStyle/>
          <a:p>
            <a:r>
              <a:rPr lang="en-US" dirty="0"/>
              <a:t>Pipe and Filter Pattern</a:t>
            </a:r>
            <a:endParaRPr lang="en-IN" dirty="0"/>
          </a:p>
        </p:txBody>
      </p:sp>
      <p:sp>
        <p:nvSpPr>
          <p:cNvPr id="4" name="Footer Placeholder 3"/>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AU"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2" name="Date Placeholder 1">
            <a:extLst>
              <a:ext uri="{FF2B5EF4-FFF2-40B4-BE49-F238E27FC236}">
                <a16:creationId xmlns:a16="http://schemas.microsoft.com/office/drawing/2014/main" id="{C58DC4A5-0C21-42DD-AD90-6D4BC12F629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7" name="Slide Number Placeholder 6">
            <a:extLst>
              <a:ext uri="{FF2B5EF4-FFF2-40B4-BE49-F238E27FC236}">
                <a16:creationId xmlns:a16="http://schemas.microsoft.com/office/drawing/2014/main" id="{B73EB1B0-C35C-42EE-AC8D-873B4098958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4565983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0DBAEB-CF39-460E-B3C1-22F624C52298}"/>
              </a:ext>
            </a:extLst>
          </p:cNvPr>
          <p:cNvSpPr>
            <a:spLocks noGrp="1"/>
          </p:cNvSpPr>
          <p:nvPr>
            <p:ph idx="1"/>
          </p:nvPr>
        </p:nvSpPr>
        <p:spPr/>
        <p:txBody>
          <a:bodyPr>
            <a:normAutofit/>
          </a:bodyPr>
          <a:lstStyle/>
          <a:p>
            <a:pPr>
              <a:buFont typeface="Arial" panose="020B0604020202020204" pitchFamily="34" charset="0"/>
              <a:buChar char="•"/>
            </a:pPr>
            <a:r>
              <a:rPr lang="en-IN" dirty="0"/>
              <a:t>Imagine you are building a system that must process or transform a stream of input data. Implementing such a system as a single component may not be feasible for several reasons: </a:t>
            </a:r>
          </a:p>
          <a:p>
            <a:pPr lvl="1">
              <a:buFont typeface="Arial" panose="020B0604020202020204" pitchFamily="34" charset="0"/>
              <a:buChar char="•"/>
            </a:pPr>
            <a:r>
              <a:rPr lang="en-IN" dirty="0"/>
              <a:t>the system has to be built by several developers, </a:t>
            </a:r>
          </a:p>
          <a:p>
            <a:pPr lvl="1">
              <a:buFont typeface="Arial" panose="020B0604020202020204" pitchFamily="34" charset="0"/>
              <a:buChar char="•"/>
            </a:pPr>
            <a:r>
              <a:rPr lang="en-IN" dirty="0"/>
              <a:t>the global system task decomposes naturally into several processing stages, and</a:t>
            </a:r>
          </a:p>
          <a:p>
            <a:pPr lvl="1">
              <a:buFont typeface="Arial" panose="020B0604020202020204" pitchFamily="34" charset="0"/>
              <a:buChar char="•"/>
            </a:pPr>
            <a:r>
              <a:rPr lang="en-IN" dirty="0"/>
              <a:t>the requirements are likely to change. </a:t>
            </a:r>
          </a:p>
          <a:p>
            <a:pPr>
              <a:buFont typeface="Arial" panose="020B0604020202020204" pitchFamily="34" charset="0"/>
              <a:buChar char="•"/>
            </a:pPr>
            <a:r>
              <a:rPr lang="en-IN" dirty="0"/>
              <a:t>You therefore plan for future flexibility by exchanging or reordering the processing steps. </a:t>
            </a:r>
          </a:p>
          <a:p>
            <a:pPr>
              <a:buFont typeface="Arial" panose="020B0604020202020204" pitchFamily="34" charset="0"/>
              <a:buChar char="•"/>
            </a:pPr>
            <a:r>
              <a:rPr lang="en-IN" dirty="0"/>
              <a:t>By incorporating such flexibility, it is possible to build a family of systems using existing processing components.</a:t>
            </a:r>
          </a:p>
        </p:txBody>
      </p:sp>
      <p:sp>
        <p:nvSpPr>
          <p:cNvPr id="3" name="Content Placeholder 2">
            <a:extLst>
              <a:ext uri="{FF2B5EF4-FFF2-40B4-BE49-F238E27FC236}">
                <a16:creationId xmlns:a16="http://schemas.microsoft.com/office/drawing/2014/main" id="{3E0707E0-F948-41BD-88A5-07C3E6A99B25}"/>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922139DC-E0FC-48A0-BA46-9C947D2A2C4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8EC8861-8E80-493D-9529-49AB835CD7F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7CEA63F0-6C7E-49E9-8ED0-F48E8A5FC49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88378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0DBAEB-CF39-460E-B3C1-22F624C52298}"/>
              </a:ext>
            </a:extLst>
          </p:cNvPr>
          <p:cNvSpPr>
            <a:spLocks noGrp="1"/>
          </p:cNvSpPr>
          <p:nvPr>
            <p:ph idx="1"/>
          </p:nvPr>
        </p:nvSpPr>
        <p:spPr/>
        <p:txBody>
          <a:bodyPr>
            <a:normAutofit fontScale="85000" lnSpcReduction="10000"/>
          </a:bodyPr>
          <a:lstStyle/>
          <a:p>
            <a:r>
              <a:rPr lang="en-IN" dirty="0"/>
              <a:t>	The design of the system-especially the interconnection of processing steps-has to consider the following forces: </a:t>
            </a:r>
          </a:p>
          <a:p>
            <a:pPr>
              <a:buFont typeface="Arial" panose="020B0604020202020204" pitchFamily="34" charset="0"/>
              <a:buChar char="•"/>
            </a:pPr>
            <a:r>
              <a:rPr lang="en-IN" dirty="0"/>
              <a:t>Future system enhancements should be possible by exchanging processing steps or by recombination of steps, even by users. </a:t>
            </a:r>
          </a:p>
          <a:p>
            <a:pPr>
              <a:buFont typeface="Arial" panose="020B0604020202020204" pitchFamily="34" charset="0"/>
              <a:buChar char="•"/>
            </a:pPr>
            <a:r>
              <a:rPr lang="en-IN" dirty="0"/>
              <a:t>Small processing steps are easier to reuse in different contexts than large components. Non-adjacent processing steps do not share information. </a:t>
            </a:r>
          </a:p>
          <a:p>
            <a:pPr>
              <a:buFont typeface="Arial" panose="020B0604020202020204" pitchFamily="34" charset="0"/>
              <a:buChar char="•"/>
            </a:pPr>
            <a:r>
              <a:rPr lang="en-IN" dirty="0"/>
              <a:t>Different sources of input data exist, such as a network connection or a hardware sensor providing temperature readings, for example. It should be possible to present or store final results in various ways. Explicit storage of intermediate results for further processing in files clutters directories and is error-prone, if done by users. </a:t>
            </a:r>
          </a:p>
          <a:p>
            <a:pPr>
              <a:buFont typeface="Arial" panose="020B0604020202020204" pitchFamily="34" charset="0"/>
              <a:buChar char="•"/>
            </a:pPr>
            <a:r>
              <a:rPr lang="en-IN" dirty="0"/>
              <a:t>You may not want to rule out multi-processing the steps, for example running them in parallel or quasi-parallel.</a:t>
            </a:r>
          </a:p>
        </p:txBody>
      </p:sp>
      <p:sp>
        <p:nvSpPr>
          <p:cNvPr id="3" name="Content Placeholder 2">
            <a:extLst>
              <a:ext uri="{FF2B5EF4-FFF2-40B4-BE49-F238E27FC236}">
                <a16:creationId xmlns:a16="http://schemas.microsoft.com/office/drawing/2014/main" id="{3E0707E0-F948-41BD-88A5-07C3E6A99B25}"/>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922139DC-E0FC-48A0-BA46-9C947D2A2C4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C8EC8861-8E80-493D-9529-49AB835CD7F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7CEA63F0-6C7E-49E9-8ED0-F48E8A5FC49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82630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6DEDC-C1C6-4E4F-967A-331D9008E69B}"/>
              </a:ext>
            </a:extLst>
          </p:cNvPr>
          <p:cNvSpPr>
            <a:spLocks noGrp="1"/>
          </p:cNvSpPr>
          <p:nvPr>
            <p:ph idx="1"/>
          </p:nvPr>
        </p:nvSpPr>
        <p:spPr/>
        <p:txBody>
          <a:bodyPr/>
          <a:lstStyle/>
          <a:p>
            <a:endParaRPr lang="en-IN"/>
          </a:p>
        </p:txBody>
      </p:sp>
      <p:sp>
        <p:nvSpPr>
          <p:cNvPr id="6" name="Content Placeholder 5">
            <a:extLst>
              <a:ext uri="{FF2B5EF4-FFF2-40B4-BE49-F238E27FC236}">
                <a16:creationId xmlns:a16="http://schemas.microsoft.com/office/drawing/2014/main" id="{CCA0D734-B373-44D2-9F3D-629F586A5448}"/>
              </a:ext>
            </a:extLst>
          </p:cNvPr>
          <p:cNvSpPr>
            <a:spLocks noGrp="1"/>
          </p:cNvSpPr>
          <p:nvPr>
            <p:ph sz="quarter" idx="10"/>
          </p:nvPr>
        </p:nvSpPr>
        <p:spPr/>
        <p:txBody>
          <a:bodyPr/>
          <a:lstStyle/>
          <a:p>
            <a:r>
              <a:rPr lang="en-US" dirty="0"/>
              <a:t>Pipe and Filter Example</a:t>
            </a:r>
            <a:endParaRPr lang="en-IN" dirty="0"/>
          </a:p>
        </p:txBody>
      </p:sp>
      <p:sp>
        <p:nvSpPr>
          <p:cNvPr id="4" name="Footer Placeholder 3"/>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AU"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32936"/>
            <a:ext cx="8424936" cy="47763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516216" y="5277351"/>
            <a:ext cx="1368152" cy="1031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B255B268-D650-431F-B1D5-ADCE0ED71DB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7" name="Slide Number Placeholder 6">
            <a:extLst>
              <a:ext uri="{FF2B5EF4-FFF2-40B4-BE49-F238E27FC236}">
                <a16:creationId xmlns:a16="http://schemas.microsoft.com/office/drawing/2014/main" id="{1ECA503B-1ED0-4A7D-9723-22126723158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07408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C7E7AC-3E66-4BFC-9341-49D257F52E42}"/>
              </a:ext>
            </a:extLst>
          </p:cNvPr>
          <p:cNvSpPr>
            <a:spLocks noGrp="1"/>
          </p:cNvSpPr>
          <p:nvPr>
            <p:ph idx="1"/>
          </p:nvPr>
        </p:nvSpPr>
        <p:spPr>
          <a:xfrm>
            <a:off x="304800" y="1493837"/>
            <a:ext cx="8229600" cy="4754563"/>
          </a:xfrm>
        </p:spPr>
        <p:txBody>
          <a:bodyPr>
            <a:normAutofit fontScale="77500" lnSpcReduction="20000"/>
          </a:bodyPr>
          <a:lstStyle/>
          <a:p>
            <a:pPr>
              <a:buFont typeface="Arial" panose="020B0604020202020204" pitchFamily="34" charset="0"/>
              <a:buChar char="•"/>
            </a:pPr>
            <a:r>
              <a:rPr lang="en-IN" dirty="0"/>
              <a:t>The Pipes and Filters architectural pattern divides the task of a system into several sequential processing steps. </a:t>
            </a:r>
          </a:p>
          <a:p>
            <a:pPr>
              <a:buFont typeface="Arial" panose="020B0604020202020204" pitchFamily="34" charset="0"/>
              <a:buChar char="•"/>
            </a:pPr>
            <a:r>
              <a:rPr lang="en-IN" dirty="0"/>
              <a:t>These steps are connected by the data flow through the system-the output data of a step is the input to the subsequent step. </a:t>
            </a:r>
          </a:p>
          <a:p>
            <a:pPr>
              <a:buFont typeface="Arial" panose="020B0604020202020204" pitchFamily="34" charset="0"/>
              <a:buChar char="•"/>
            </a:pPr>
            <a:r>
              <a:rPr lang="en-IN" dirty="0"/>
              <a:t>Each processing step is implemented by a filter component. </a:t>
            </a:r>
          </a:p>
          <a:p>
            <a:pPr>
              <a:buFont typeface="Arial" panose="020B0604020202020204" pitchFamily="34" charset="0"/>
              <a:buChar char="•"/>
            </a:pPr>
            <a:r>
              <a:rPr lang="en-IN" dirty="0"/>
              <a:t>A filter consumes and delivers data incrementally-in contrast to consuming all its input before producing any output-to achieve low latency and enable real parallel processing. </a:t>
            </a:r>
          </a:p>
          <a:p>
            <a:pPr>
              <a:buFont typeface="Arial" panose="020B0604020202020204" pitchFamily="34" charset="0"/>
              <a:buChar char="•"/>
            </a:pPr>
            <a:r>
              <a:rPr lang="en-IN" dirty="0"/>
              <a:t>The input to the system is provided by a data source such as a text file. </a:t>
            </a:r>
          </a:p>
          <a:p>
            <a:pPr>
              <a:buFont typeface="Arial" panose="020B0604020202020204" pitchFamily="34" charset="0"/>
              <a:buChar char="•"/>
            </a:pPr>
            <a:r>
              <a:rPr lang="en-IN" dirty="0"/>
              <a:t>The output flows into a data sink such as a file, terminal, animation program and so on. </a:t>
            </a:r>
          </a:p>
          <a:p>
            <a:pPr>
              <a:buFont typeface="Arial" panose="020B0604020202020204" pitchFamily="34" charset="0"/>
              <a:buChar char="•"/>
            </a:pPr>
            <a:r>
              <a:rPr lang="en-IN" dirty="0"/>
              <a:t>The data source, the filters and the data sink are connected sequentially by pipes. </a:t>
            </a:r>
          </a:p>
          <a:p>
            <a:pPr>
              <a:buFont typeface="Arial" panose="020B0604020202020204" pitchFamily="34" charset="0"/>
              <a:buChar char="•"/>
            </a:pPr>
            <a:r>
              <a:rPr lang="en-IN" dirty="0"/>
              <a:t>Each pipe implements the data flow between adjacent processing steps. </a:t>
            </a:r>
          </a:p>
          <a:p>
            <a:pPr>
              <a:buFont typeface="Arial" panose="020B0604020202020204" pitchFamily="34" charset="0"/>
              <a:buChar char="•"/>
            </a:pPr>
            <a:r>
              <a:rPr lang="en-IN" dirty="0"/>
              <a:t>The sequence of filters combined by pipes is called a processing pipeline. </a:t>
            </a:r>
          </a:p>
        </p:txBody>
      </p:sp>
      <p:sp>
        <p:nvSpPr>
          <p:cNvPr id="3" name="Content Placeholder 2">
            <a:extLst>
              <a:ext uri="{FF2B5EF4-FFF2-40B4-BE49-F238E27FC236}">
                <a16:creationId xmlns:a16="http://schemas.microsoft.com/office/drawing/2014/main" id="{77C58270-5303-4511-A84E-483A16A14B83}"/>
              </a:ext>
            </a:extLst>
          </p:cNvPr>
          <p:cNvSpPr>
            <a:spLocks noGrp="1"/>
          </p:cNvSpPr>
          <p:nvPr>
            <p:ph sz="quarter" idx="10"/>
          </p:nvPr>
        </p:nvSpPr>
        <p:spPr/>
        <p:txBody>
          <a:bodyPr/>
          <a:lstStyle/>
          <a:p>
            <a:r>
              <a:rPr lang="en-IN" dirty="0"/>
              <a:t>Solution</a:t>
            </a:r>
          </a:p>
        </p:txBody>
      </p:sp>
      <p:sp>
        <p:nvSpPr>
          <p:cNvPr id="5" name="Date Placeholder 4">
            <a:extLst>
              <a:ext uri="{FF2B5EF4-FFF2-40B4-BE49-F238E27FC236}">
                <a16:creationId xmlns:a16="http://schemas.microsoft.com/office/drawing/2014/main" id="{1A674306-FD22-4827-BF2F-EE9B697B029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32A59FE-086B-4E70-9ADA-A4AD648ABCB5}"/>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6451262C-14E1-4F64-A544-650B36F6D45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21106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sz="3200" b="0" i="0" u="none" strike="noStrike" kern="1200" baseline="0" dirty="0">
                <a:solidFill>
                  <a:schemeClr val="tx1"/>
                </a:solidFill>
                <a:latin typeface="+mn-lt"/>
                <a:ea typeface="+mn-ea"/>
                <a:cs typeface="+mn-cs"/>
              </a:rPr>
              <a:t>Overview: Data is transformed from a system’s external inputs to its external outputs through a series of transformations performed by its filters connected by pipes.</a:t>
            </a:r>
          </a:p>
          <a:p>
            <a:r>
              <a:rPr lang="en-US" sz="3200" b="0" i="0" u="none" strike="noStrike" kern="1200" baseline="0" dirty="0">
                <a:solidFill>
                  <a:schemeClr val="tx1"/>
                </a:solidFill>
                <a:latin typeface="+mn-lt"/>
                <a:ea typeface="+mn-ea"/>
                <a:cs typeface="+mn-cs"/>
              </a:rPr>
              <a:t>Elements: </a:t>
            </a:r>
          </a:p>
          <a:p>
            <a:pPr lvl="1"/>
            <a:r>
              <a:rPr lang="en-US" sz="2800" b="0" i="1" u="none" strike="noStrike" kern="1200" baseline="0" dirty="0">
                <a:solidFill>
                  <a:schemeClr val="tx1"/>
                </a:solidFill>
                <a:latin typeface="+mn-lt"/>
                <a:ea typeface="+mn-ea"/>
                <a:cs typeface="+mn-cs"/>
              </a:rPr>
              <a:t>Filter, </a:t>
            </a:r>
            <a:r>
              <a:rPr lang="en-US" sz="2800" b="0" i="0" u="none" strike="noStrike" kern="1200" baseline="0" dirty="0">
                <a:solidFill>
                  <a:schemeClr val="tx1"/>
                </a:solidFill>
                <a:latin typeface="+mn-lt"/>
                <a:ea typeface="+mn-ea"/>
                <a:cs typeface="+mn-cs"/>
              </a:rPr>
              <a:t>which is a component that transforms data read on its input port(s) to data written on its output port(s). </a:t>
            </a:r>
          </a:p>
          <a:p>
            <a:pPr lvl="1"/>
            <a:r>
              <a:rPr lang="en-US" sz="2800" b="0" i="1" u="none" strike="noStrike" kern="1200" baseline="0" dirty="0">
                <a:solidFill>
                  <a:schemeClr val="tx1"/>
                </a:solidFill>
                <a:latin typeface="+mn-lt"/>
                <a:ea typeface="+mn-ea"/>
                <a:cs typeface="+mn-cs"/>
              </a:rPr>
              <a:t>Pipe, </a:t>
            </a:r>
            <a:r>
              <a:rPr lang="en-US" sz="2800" b="0" i="0" u="none" strike="noStrike" kern="1200" baseline="0" dirty="0">
                <a:solidFill>
                  <a:schemeClr val="tx1"/>
                </a:solidFill>
                <a:latin typeface="+mn-lt"/>
                <a:ea typeface="+mn-ea"/>
                <a:cs typeface="+mn-cs"/>
              </a:rPr>
              <a:t>which is a connector that conveys data from a filter’s output port(s) to another filter’s input port(s). A pipe has a single source for its input and a single target for its output. A pipe preserves the sequence of data items, and it does not alter the data passing through. </a:t>
            </a:r>
          </a:p>
          <a:p>
            <a:r>
              <a:rPr lang="en-US" sz="3200" b="0" i="0" u="none" strike="noStrike" kern="1200" baseline="0" dirty="0">
                <a:solidFill>
                  <a:schemeClr val="tx1"/>
                </a:solidFill>
                <a:latin typeface="+mn-lt"/>
                <a:ea typeface="+mn-ea"/>
                <a:cs typeface="+mn-cs"/>
              </a:rPr>
              <a:t>Relations: The </a:t>
            </a:r>
            <a:r>
              <a:rPr lang="en-US" sz="3200" b="0" i="1" u="none" strike="noStrike" kern="1200" baseline="0" dirty="0">
                <a:solidFill>
                  <a:schemeClr val="tx1"/>
                </a:solidFill>
                <a:latin typeface="+mn-lt"/>
                <a:ea typeface="+mn-ea"/>
                <a:cs typeface="+mn-cs"/>
              </a:rPr>
              <a:t>attachment </a:t>
            </a:r>
            <a:r>
              <a:rPr lang="en-US" sz="3200" b="0" i="0" u="none" strike="noStrike" kern="1200" baseline="0" dirty="0">
                <a:solidFill>
                  <a:schemeClr val="tx1"/>
                </a:solidFill>
                <a:latin typeface="+mn-lt"/>
                <a:ea typeface="+mn-ea"/>
                <a:cs typeface="+mn-cs"/>
              </a:rPr>
              <a:t>relation associates the output of filters with the input of pipes and vice versa.</a:t>
            </a:r>
          </a:p>
          <a:p>
            <a:r>
              <a:rPr lang="en-US" sz="3200" b="0" i="0" u="none" strike="noStrike" kern="1200" baseline="0" dirty="0">
                <a:solidFill>
                  <a:schemeClr val="tx1"/>
                </a:solidFill>
                <a:latin typeface="+mn-lt"/>
                <a:ea typeface="+mn-ea"/>
                <a:cs typeface="+mn-cs"/>
              </a:rPr>
              <a:t>Constraints:</a:t>
            </a:r>
          </a:p>
          <a:p>
            <a:pPr lvl="1"/>
            <a:r>
              <a:rPr lang="en-US" sz="2800" b="0" i="0" u="none" strike="noStrike" kern="1200" baseline="0" dirty="0">
                <a:solidFill>
                  <a:schemeClr val="tx1"/>
                </a:solidFill>
                <a:latin typeface="+mn-lt"/>
                <a:ea typeface="+mn-ea"/>
                <a:cs typeface="+mn-cs"/>
              </a:rPr>
              <a:t>Pipes connect filter output ports to filter input ports.</a:t>
            </a:r>
          </a:p>
          <a:p>
            <a:pPr lvl="1"/>
            <a:r>
              <a:rPr lang="en-US" sz="2800" b="0" i="0" u="none" strike="noStrike" kern="1200" baseline="0" dirty="0">
                <a:solidFill>
                  <a:schemeClr val="tx1"/>
                </a:solidFill>
                <a:latin typeface="+mn-lt"/>
                <a:ea typeface="+mn-ea"/>
                <a:cs typeface="+mn-cs"/>
              </a:rPr>
              <a:t>Connected filters must agree on the type of data being passed along </a:t>
            </a:r>
            <a:r>
              <a:rPr lang="en-US" sz="2900" b="0" i="0" u="none" strike="noStrike" kern="1200" baseline="0" dirty="0">
                <a:solidFill>
                  <a:schemeClr val="tx1"/>
                </a:solidFill>
                <a:latin typeface="+mn-lt"/>
                <a:ea typeface="+mn-ea"/>
                <a:cs typeface="+mn-cs"/>
              </a:rPr>
              <a:t>the connecting pipe.</a:t>
            </a:r>
          </a:p>
        </p:txBody>
      </p:sp>
      <p:sp>
        <p:nvSpPr>
          <p:cNvPr id="5" name="Content Placeholder 4">
            <a:extLst>
              <a:ext uri="{FF2B5EF4-FFF2-40B4-BE49-F238E27FC236}">
                <a16:creationId xmlns:a16="http://schemas.microsoft.com/office/drawing/2014/main" id="{FC0A869A-B166-46DC-86AF-7D641D2E8229}"/>
              </a:ext>
            </a:extLst>
          </p:cNvPr>
          <p:cNvSpPr>
            <a:spLocks noGrp="1"/>
          </p:cNvSpPr>
          <p:nvPr>
            <p:ph sz="quarter" idx="10"/>
          </p:nvPr>
        </p:nvSpPr>
        <p:spPr/>
        <p:txBody>
          <a:bodyPr/>
          <a:lstStyle/>
          <a:p>
            <a:r>
              <a:rPr lang="en-US" dirty="0"/>
              <a:t>Pipe and Filter Solution</a:t>
            </a:r>
            <a:endParaRPr lang="en-IN" dirty="0"/>
          </a:p>
        </p:txBody>
      </p:sp>
      <p:sp>
        <p:nvSpPr>
          <p:cNvPr id="4" name="Footer Placeholder 3"/>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AU"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2" name="Date Placeholder 1">
            <a:extLst>
              <a:ext uri="{FF2B5EF4-FFF2-40B4-BE49-F238E27FC236}">
                <a16:creationId xmlns:a16="http://schemas.microsoft.com/office/drawing/2014/main" id="{2A090BEC-C0A8-4932-88BD-C6478B8A1FE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7" name="Slide Number Placeholder 6">
            <a:extLst>
              <a:ext uri="{FF2B5EF4-FFF2-40B4-BE49-F238E27FC236}">
                <a16:creationId xmlns:a16="http://schemas.microsoft.com/office/drawing/2014/main" id="{4F6871B3-72AF-4D8D-B1BB-CC98939208B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732375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133CFD1-F98C-4751-8934-20CE9C62D977}"/>
              </a:ext>
            </a:extLst>
          </p:cNvPr>
          <p:cNvPicPr>
            <a:picLocks noGrp="1" noChangeAspect="1"/>
          </p:cNvPicPr>
          <p:nvPr>
            <p:ph idx="1"/>
          </p:nvPr>
        </p:nvPicPr>
        <p:blipFill>
          <a:blip r:embed="rId2"/>
          <a:stretch>
            <a:fillRect/>
          </a:stretch>
        </p:blipFill>
        <p:spPr>
          <a:xfrm>
            <a:off x="304800" y="2275013"/>
            <a:ext cx="8229600" cy="2963612"/>
          </a:xfrm>
          <a:prstGeom prst="rect">
            <a:avLst/>
          </a:prstGeom>
        </p:spPr>
      </p:pic>
      <p:sp>
        <p:nvSpPr>
          <p:cNvPr id="3" name="Content Placeholder 2">
            <a:extLst>
              <a:ext uri="{FF2B5EF4-FFF2-40B4-BE49-F238E27FC236}">
                <a16:creationId xmlns:a16="http://schemas.microsoft.com/office/drawing/2014/main" id="{9578662B-5EC2-4E72-991C-C4590ED2CCD3}"/>
              </a:ext>
            </a:extLst>
          </p:cNvPr>
          <p:cNvSpPr>
            <a:spLocks noGrp="1"/>
          </p:cNvSpPr>
          <p:nvPr>
            <p:ph sz="quarter" idx="10"/>
          </p:nvPr>
        </p:nvSpPr>
        <p:spPr/>
        <p:txBody>
          <a:bodyPr/>
          <a:lstStyle/>
          <a:p>
            <a:r>
              <a:rPr lang="en-IN" dirty="0"/>
              <a:t>Another Example</a:t>
            </a:r>
          </a:p>
        </p:txBody>
      </p:sp>
      <p:sp>
        <p:nvSpPr>
          <p:cNvPr id="5" name="Date Placeholder 4">
            <a:extLst>
              <a:ext uri="{FF2B5EF4-FFF2-40B4-BE49-F238E27FC236}">
                <a16:creationId xmlns:a16="http://schemas.microsoft.com/office/drawing/2014/main" id="{C5941BF3-B117-4AB4-A4D1-D2E22413715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170FE07-2DD0-4A80-9AAF-4A8B520D9FE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3D003155-1DC4-4491-AD96-85D7F2C90EA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pic>
        <p:nvPicPr>
          <p:cNvPr id="9" name="Content Placeholder 7">
            <a:extLst>
              <a:ext uri="{FF2B5EF4-FFF2-40B4-BE49-F238E27FC236}">
                <a16:creationId xmlns:a16="http://schemas.microsoft.com/office/drawing/2014/main" id="{8A367906-EB89-4BDF-8569-5AE62A562116}"/>
              </a:ext>
            </a:extLst>
          </p:cNvPr>
          <p:cNvPicPr>
            <a:picLocks noChangeAspect="1"/>
          </p:cNvPicPr>
          <p:nvPr/>
        </p:nvPicPr>
        <p:blipFill>
          <a:blip r:embed="rId2"/>
          <a:stretch>
            <a:fillRect/>
          </a:stretch>
        </p:blipFill>
        <p:spPr>
          <a:xfrm>
            <a:off x="304800" y="2286000"/>
            <a:ext cx="8229600" cy="2963612"/>
          </a:xfrm>
          <a:prstGeom prst="rect">
            <a:avLst/>
          </a:prstGeom>
        </p:spPr>
      </p:pic>
    </p:spTree>
    <p:extLst>
      <p:ext uri="{BB962C8B-B14F-4D97-AF65-F5344CB8AC3E}">
        <p14:creationId xmlns:p14="http://schemas.microsoft.com/office/powerpoint/2010/main" val="46166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A72F07-C57F-4020-966D-EF9ECAE81073}"/>
              </a:ext>
            </a:extLst>
          </p:cNvPr>
          <p:cNvSpPr>
            <a:spLocks noGrp="1"/>
          </p:cNvSpPr>
          <p:nvPr>
            <p:ph idx="1"/>
          </p:nvPr>
        </p:nvSpPr>
        <p:spPr>
          <a:xfrm>
            <a:off x="304800" y="1493837"/>
            <a:ext cx="8229600" cy="5135563"/>
          </a:xfrm>
        </p:spPr>
        <p:txBody>
          <a:bodyPr>
            <a:normAutofit fontScale="92500" lnSpcReduction="10000"/>
          </a:bodyPr>
          <a:lstStyle/>
          <a:p>
            <a:pPr marL="457200" indent="-457200">
              <a:buFont typeface="+mj-lt"/>
              <a:buAutoNum type="arabicPeriod"/>
            </a:pPr>
            <a:r>
              <a:rPr lang="en-IN" dirty="0"/>
              <a:t>Divide the system's task into a sequence of processing stages.</a:t>
            </a:r>
          </a:p>
          <a:p>
            <a:pPr marL="457200" indent="-457200">
              <a:buFont typeface="+mj-lt"/>
              <a:buAutoNum type="arabicPeriod"/>
            </a:pPr>
            <a:r>
              <a:rPr lang="en-IN" dirty="0"/>
              <a:t>Define the data format to be passed along each pipe.</a:t>
            </a:r>
          </a:p>
          <a:p>
            <a:pPr marL="457200" indent="-457200">
              <a:buFont typeface="+mj-lt"/>
              <a:buAutoNum type="arabicPeriod"/>
            </a:pPr>
            <a:r>
              <a:rPr lang="en-IN" dirty="0"/>
              <a:t>Decide how to implement each pipe connection.</a:t>
            </a:r>
          </a:p>
          <a:p>
            <a:pPr marL="457200" indent="-457200">
              <a:buFont typeface="+mj-lt"/>
              <a:buAutoNum type="arabicPeriod"/>
            </a:pPr>
            <a:r>
              <a:rPr lang="en-IN" dirty="0"/>
              <a:t>Design and implement the </a:t>
            </a:r>
            <a:r>
              <a:rPr lang="en-IN" dirty="0" err="1"/>
              <a:t>fiters</a:t>
            </a:r>
            <a:r>
              <a:rPr lang="en-IN" dirty="0"/>
              <a:t>.</a:t>
            </a:r>
          </a:p>
          <a:p>
            <a:pPr marL="457200" indent="-457200">
              <a:buFont typeface="+mj-lt"/>
              <a:buAutoNum type="arabicPeriod"/>
            </a:pPr>
            <a:r>
              <a:rPr lang="en-IN" dirty="0"/>
              <a:t>Design the error handling.</a:t>
            </a:r>
          </a:p>
          <a:p>
            <a:pPr marL="457200" indent="-457200">
              <a:buFont typeface="+mj-lt"/>
              <a:buAutoNum type="arabicPeriod"/>
            </a:pPr>
            <a:r>
              <a:rPr lang="en-IN" dirty="0"/>
              <a:t>Set up the processing pipeline.</a:t>
            </a:r>
          </a:p>
          <a:p>
            <a:pPr marL="857250" lvl="1" indent="-457200"/>
            <a:r>
              <a:rPr lang="en-IN" dirty="0"/>
              <a:t>If your system handles a single task you can use a standardized main program that sets up the pipeline and starts processing. This type of system may benefit from a direct- call pipeline, in which the main program calls the active filter to start processing. </a:t>
            </a:r>
          </a:p>
          <a:p>
            <a:pPr marL="857250" lvl="1" indent="-457200"/>
            <a:r>
              <a:rPr lang="en-IN" dirty="0"/>
              <a:t>You can increase flexibility by providing a shell or other end-user facility to set up various pipelines from your set of filter components. </a:t>
            </a:r>
          </a:p>
          <a:p>
            <a:pPr marL="857250" lvl="1" indent="-457200"/>
            <a:r>
              <a:rPr lang="en-IN" dirty="0"/>
              <a:t>Such a shell can support the incremental development of pipelines by allowing intermediate results to be stored in files, and supporting files as pipeline input. </a:t>
            </a:r>
          </a:p>
          <a:p>
            <a:pPr marL="857250" lvl="1" indent="-457200"/>
            <a:r>
              <a:rPr lang="en-IN" dirty="0"/>
              <a:t>You are not restricted to a text-only shell such as those provided by UNIX, and could even develop a graphical environment for visual creation of pipelines using 'drag and drop' interaction.</a:t>
            </a:r>
          </a:p>
          <a:p>
            <a:pPr marL="457200" indent="-457200">
              <a:buFont typeface="+mj-lt"/>
              <a:buAutoNum type="arabicPeriod"/>
            </a:pPr>
            <a:endParaRPr lang="en-IN" dirty="0"/>
          </a:p>
        </p:txBody>
      </p:sp>
      <p:sp>
        <p:nvSpPr>
          <p:cNvPr id="3" name="Content Placeholder 2">
            <a:extLst>
              <a:ext uri="{FF2B5EF4-FFF2-40B4-BE49-F238E27FC236}">
                <a16:creationId xmlns:a16="http://schemas.microsoft.com/office/drawing/2014/main" id="{FCB41B62-081D-4186-B4C9-93DE70840E30}"/>
              </a:ext>
            </a:extLst>
          </p:cNvPr>
          <p:cNvSpPr>
            <a:spLocks noGrp="1"/>
          </p:cNvSpPr>
          <p:nvPr>
            <p:ph sz="quarter" idx="10"/>
          </p:nvPr>
        </p:nvSpPr>
        <p:spPr/>
        <p:txBody>
          <a:bodyPr/>
          <a:lstStyle/>
          <a:p>
            <a:r>
              <a:rPr lang="en-IN" dirty="0"/>
              <a:t>Implementation Steps</a:t>
            </a:r>
          </a:p>
        </p:txBody>
      </p:sp>
      <p:sp>
        <p:nvSpPr>
          <p:cNvPr id="5" name="Date Placeholder 4">
            <a:extLst>
              <a:ext uri="{FF2B5EF4-FFF2-40B4-BE49-F238E27FC236}">
                <a16:creationId xmlns:a16="http://schemas.microsoft.com/office/drawing/2014/main" id="{27F3A21E-A0CE-4B0B-9C98-A5A37AA871C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A9063C6-F94E-4233-B3E7-7BA33B77005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009534C1-98DD-4D65-96C1-FD8EB189B4E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10734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232ACD-F013-43E7-A97F-927A130A354C}"/>
              </a:ext>
            </a:extLst>
          </p:cNvPr>
          <p:cNvSpPr>
            <a:spLocks noGrp="1"/>
          </p:cNvSpPr>
          <p:nvPr>
            <p:ph idx="1"/>
          </p:nvPr>
        </p:nvSpPr>
        <p:spPr/>
        <p:txBody>
          <a:bodyPr/>
          <a:lstStyle/>
          <a:p>
            <a:pPr>
              <a:buFont typeface="Arial" panose="020B0604020202020204" pitchFamily="34" charset="0"/>
              <a:buChar char="•"/>
            </a:pPr>
            <a:r>
              <a:rPr lang="en-IN" dirty="0"/>
              <a:t>The single-input </a:t>
            </a:r>
            <a:r>
              <a:rPr lang="en-IN" dirty="0" err="1"/>
              <a:t>slngle</a:t>
            </a:r>
            <a:r>
              <a:rPr lang="en-IN" dirty="0"/>
              <a:t>-output filter specification of the Pipes and Filters pattern can be varied to allow filters </a:t>
            </a:r>
            <a:r>
              <a:rPr lang="en-IN" dirty="0" err="1"/>
              <a:t>wlth</a:t>
            </a:r>
            <a:r>
              <a:rPr lang="en-IN" dirty="0"/>
              <a:t> more than one input and/or more than one output. </a:t>
            </a:r>
          </a:p>
          <a:p>
            <a:pPr>
              <a:buFont typeface="Arial" panose="020B0604020202020204" pitchFamily="34" charset="0"/>
              <a:buChar char="•"/>
            </a:pPr>
            <a:r>
              <a:rPr lang="en-IN" dirty="0"/>
              <a:t>Processing can then be set up as a directed graph that can even contain feedback loops. </a:t>
            </a:r>
          </a:p>
          <a:p>
            <a:pPr>
              <a:buFont typeface="Arial" panose="020B0604020202020204" pitchFamily="34" charset="0"/>
              <a:buChar char="•"/>
            </a:pPr>
            <a:r>
              <a:rPr lang="en-IN" dirty="0"/>
              <a:t>The design of such a system, especially one with feedback loops, requires a solid foundation to explain and understand the complete calculation- a rigorous theoretical analysis and specification using formal methods are appropriate, to prove that the system terminates and produces the desired result.</a:t>
            </a:r>
          </a:p>
        </p:txBody>
      </p:sp>
      <p:sp>
        <p:nvSpPr>
          <p:cNvPr id="3" name="Content Placeholder 2">
            <a:extLst>
              <a:ext uri="{FF2B5EF4-FFF2-40B4-BE49-F238E27FC236}">
                <a16:creationId xmlns:a16="http://schemas.microsoft.com/office/drawing/2014/main" id="{96E7A917-C71A-4F15-8101-DC2315074FE2}"/>
              </a:ext>
            </a:extLst>
          </p:cNvPr>
          <p:cNvSpPr>
            <a:spLocks noGrp="1"/>
          </p:cNvSpPr>
          <p:nvPr>
            <p:ph sz="quarter" idx="10"/>
          </p:nvPr>
        </p:nvSpPr>
        <p:spPr/>
        <p:txBody>
          <a:bodyPr/>
          <a:lstStyle/>
          <a:p>
            <a:r>
              <a:rPr lang="en-IN" dirty="0"/>
              <a:t>Variant: Tee and join pipeline systems. </a:t>
            </a:r>
          </a:p>
        </p:txBody>
      </p:sp>
      <p:sp>
        <p:nvSpPr>
          <p:cNvPr id="5" name="Date Placeholder 4">
            <a:extLst>
              <a:ext uri="{FF2B5EF4-FFF2-40B4-BE49-F238E27FC236}">
                <a16:creationId xmlns:a16="http://schemas.microsoft.com/office/drawing/2014/main" id="{326DFB10-ECE5-4DE1-B805-CEAFE325F42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5B5A614-7564-4244-8880-F5364A1FA80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93765B9-FC1C-4371-B784-020E4441D42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00759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867220-104E-4789-BE0E-17826E3605A6}"/>
              </a:ext>
            </a:extLst>
          </p:cNvPr>
          <p:cNvSpPr>
            <a:spLocks noGrp="1"/>
          </p:cNvSpPr>
          <p:nvPr>
            <p:ph idx="1"/>
          </p:nvPr>
        </p:nvSpPr>
        <p:spPr/>
        <p:txBody>
          <a:bodyPr/>
          <a:lstStyle/>
          <a:p>
            <a:pPr>
              <a:buFont typeface="Arial" panose="020B0604020202020204" pitchFamily="34" charset="0"/>
              <a:buChar char="•"/>
            </a:pPr>
            <a:r>
              <a:rPr lang="en-IN" dirty="0"/>
              <a:t>UNIX popularized the Pipes and Filters paradigm. </a:t>
            </a:r>
          </a:p>
          <a:p>
            <a:pPr>
              <a:buFont typeface="Arial" panose="020B0604020202020204" pitchFamily="34" charset="0"/>
              <a:buChar char="•"/>
            </a:pPr>
            <a:r>
              <a:rPr lang="en-IN" dirty="0"/>
              <a:t>The command shells and the availability of many filter programs made this approach to system development popular. </a:t>
            </a:r>
          </a:p>
          <a:p>
            <a:pPr>
              <a:buFont typeface="Arial" panose="020B0604020202020204" pitchFamily="34" charset="0"/>
              <a:buChar char="•"/>
            </a:pPr>
            <a:r>
              <a:rPr lang="en-IN" dirty="0"/>
              <a:t>As a system for software developers, frequent tasks such as program compilation and documentation creation are done by pipelines on a 'traditional' UNIX system. </a:t>
            </a:r>
          </a:p>
          <a:p>
            <a:pPr>
              <a:buFont typeface="Arial" panose="020B0604020202020204" pitchFamily="34" charset="0"/>
              <a:buChar char="•"/>
            </a:pPr>
            <a:r>
              <a:rPr lang="en-IN" dirty="0"/>
              <a:t>The flexibility of UNIX pipes made the operating system a suitable platform for the binary reuse of filter programs and for application integration.</a:t>
            </a:r>
          </a:p>
        </p:txBody>
      </p:sp>
      <p:sp>
        <p:nvSpPr>
          <p:cNvPr id="3" name="Content Placeholder 2">
            <a:extLst>
              <a:ext uri="{FF2B5EF4-FFF2-40B4-BE49-F238E27FC236}">
                <a16:creationId xmlns:a16="http://schemas.microsoft.com/office/drawing/2014/main" id="{4436CA7D-B764-49C8-BF78-61E7C268395C}"/>
              </a:ext>
            </a:extLst>
          </p:cNvPr>
          <p:cNvSpPr>
            <a:spLocks noGrp="1"/>
          </p:cNvSpPr>
          <p:nvPr>
            <p:ph sz="quarter" idx="10"/>
          </p:nvPr>
        </p:nvSpPr>
        <p:spPr/>
        <p:txBody>
          <a:bodyPr/>
          <a:lstStyle/>
          <a:p>
            <a:r>
              <a:rPr lang="en-IN" dirty="0"/>
              <a:t>Known Usage: UNIX</a:t>
            </a:r>
          </a:p>
        </p:txBody>
      </p:sp>
      <p:sp>
        <p:nvSpPr>
          <p:cNvPr id="5" name="Date Placeholder 4">
            <a:extLst>
              <a:ext uri="{FF2B5EF4-FFF2-40B4-BE49-F238E27FC236}">
                <a16:creationId xmlns:a16="http://schemas.microsoft.com/office/drawing/2014/main" id="{7ED35839-6B85-4CF7-8B93-404C08AA1FC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661035E3-C602-46B7-AF86-F8B242BF82F3}"/>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DBC12A4B-36AC-4A4D-8EE8-90797B17736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23876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0D1ED2-71DD-437C-9236-D9F67890CD9C}"/>
              </a:ext>
            </a:extLst>
          </p:cNvPr>
          <p:cNvSpPr>
            <a:spLocks noGrp="1"/>
          </p:cNvSpPr>
          <p:nvPr>
            <p:ph idx="1"/>
          </p:nvPr>
        </p:nvSpPr>
        <p:spPr>
          <a:xfrm>
            <a:off x="304800" y="1493837"/>
            <a:ext cx="8229600" cy="5135563"/>
          </a:xfrm>
        </p:spPr>
        <p:txBody>
          <a:bodyPr>
            <a:normAutofit lnSpcReduction="10000"/>
          </a:bodyPr>
          <a:lstStyle/>
          <a:p>
            <a:pPr>
              <a:buFont typeface="Arial" panose="020B0604020202020204" pitchFamily="34" charset="0"/>
              <a:buChar char="•"/>
            </a:pPr>
            <a:r>
              <a:rPr lang="en-IN" dirty="0"/>
              <a:t>CMS Pipelines is an extension to the operating system of IBM mainframes to support Pipes and Filters architectures. </a:t>
            </a:r>
          </a:p>
          <a:p>
            <a:pPr>
              <a:buFont typeface="Arial" panose="020B0604020202020204" pitchFamily="34" charset="0"/>
              <a:buChar char="•"/>
            </a:pPr>
            <a:r>
              <a:rPr lang="en-IN" dirty="0"/>
              <a:t>The implementation of CMS pipelines follows the conventions of CMS, and defines a record as the basic data type that can be passed along pipes, instead of a byte or ASCII character. </a:t>
            </a:r>
          </a:p>
          <a:p>
            <a:pPr>
              <a:buFont typeface="Arial" panose="020B0604020202020204" pitchFamily="34" charset="0"/>
              <a:buChar char="•"/>
            </a:pPr>
            <a:r>
              <a:rPr lang="en-IN" dirty="0"/>
              <a:t>CMS Pipelines provides a reuse and integration platform in the same way as UNIX. </a:t>
            </a:r>
          </a:p>
          <a:p>
            <a:pPr>
              <a:buFont typeface="Arial" panose="020B0604020202020204" pitchFamily="34" charset="0"/>
              <a:buChar char="•"/>
            </a:pPr>
            <a:r>
              <a:rPr lang="en-IN" dirty="0"/>
              <a:t>Because the CMS operating system does not use a uniform I/O-model in the same way as UNIX, CMS Pipelines defines device drivers that act as data sources or sinks, allowing the handling of specific I/O-devices within pipelines.</a:t>
            </a:r>
          </a:p>
        </p:txBody>
      </p:sp>
      <p:sp>
        <p:nvSpPr>
          <p:cNvPr id="3" name="Content Placeholder 2">
            <a:extLst>
              <a:ext uri="{FF2B5EF4-FFF2-40B4-BE49-F238E27FC236}">
                <a16:creationId xmlns:a16="http://schemas.microsoft.com/office/drawing/2014/main" id="{4B8E3A7B-320C-44E5-9837-5B2F91CBFE95}"/>
              </a:ext>
            </a:extLst>
          </p:cNvPr>
          <p:cNvSpPr>
            <a:spLocks noGrp="1"/>
          </p:cNvSpPr>
          <p:nvPr>
            <p:ph sz="quarter" idx="10"/>
          </p:nvPr>
        </p:nvSpPr>
        <p:spPr/>
        <p:txBody>
          <a:bodyPr/>
          <a:lstStyle/>
          <a:p>
            <a:r>
              <a:rPr lang="en-IN" dirty="0"/>
              <a:t>Known Usage: CMS Pipelines</a:t>
            </a:r>
          </a:p>
        </p:txBody>
      </p:sp>
      <p:sp>
        <p:nvSpPr>
          <p:cNvPr id="5" name="Date Placeholder 4">
            <a:extLst>
              <a:ext uri="{FF2B5EF4-FFF2-40B4-BE49-F238E27FC236}">
                <a16:creationId xmlns:a16="http://schemas.microsoft.com/office/drawing/2014/main" id="{CE7E51EB-5F4D-4AD7-89C8-3064A8CDAC4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473A2CC-61DB-4035-92C3-921EA944E46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B3C4B1FA-B895-41A5-BD66-A7D94859E4C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18131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56F735-BA3F-4FD1-A078-855FF857D643}"/>
              </a:ext>
            </a:extLst>
          </p:cNvPr>
          <p:cNvSpPr>
            <a:spLocks noGrp="1"/>
          </p:cNvSpPr>
          <p:nvPr>
            <p:ph idx="1"/>
          </p:nvPr>
        </p:nvSpPr>
        <p:spPr/>
        <p:txBody>
          <a:bodyPr/>
          <a:lstStyle/>
          <a:p>
            <a:pPr>
              <a:buFont typeface="Arial" panose="020B0604020202020204" pitchFamily="34" charset="0"/>
              <a:buChar char="•"/>
            </a:pPr>
            <a:r>
              <a:rPr lang="en-IN" dirty="0"/>
              <a:t>LASSP Tools is a toolset to support numerical analysis and graphics. </a:t>
            </a:r>
          </a:p>
          <a:p>
            <a:pPr>
              <a:buFont typeface="Arial" panose="020B0604020202020204" pitchFamily="34" charset="0"/>
              <a:buChar char="•"/>
            </a:pPr>
            <a:r>
              <a:rPr lang="en-IN" dirty="0"/>
              <a:t>The toolset consists mainly of filter programs that can be combined using UNIX pipes. </a:t>
            </a:r>
          </a:p>
          <a:p>
            <a:pPr>
              <a:buFont typeface="Arial" panose="020B0604020202020204" pitchFamily="34" charset="0"/>
              <a:buChar char="•"/>
            </a:pPr>
            <a:r>
              <a:rPr lang="en-IN" dirty="0"/>
              <a:t>It contains graphical input devices for </a:t>
            </a:r>
            <a:r>
              <a:rPr lang="en-IN" dirty="0" err="1"/>
              <a:t>analog</a:t>
            </a:r>
            <a:r>
              <a:rPr lang="en-IN" dirty="0"/>
              <a:t> input of numerical data using knobs or sliders, filters for numerical analysis and data extraction, and data sinks that produce animations from numerical data streams.</a:t>
            </a:r>
          </a:p>
        </p:txBody>
      </p:sp>
      <p:sp>
        <p:nvSpPr>
          <p:cNvPr id="3" name="Content Placeholder 2">
            <a:extLst>
              <a:ext uri="{FF2B5EF4-FFF2-40B4-BE49-F238E27FC236}">
                <a16:creationId xmlns:a16="http://schemas.microsoft.com/office/drawing/2014/main" id="{8DFAB58A-3AD3-4993-966F-C6BB5826033F}"/>
              </a:ext>
            </a:extLst>
          </p:cNvPr>
          <p:cNvSpPr>
            <a:spLocks noGrp="1"/>
          </p:cNvSpPr>
          <p:nvPr>
            <p:ph sz="quarter" idx="10"/>
          </p:nvPr>
        </p:nvSpPr>
        <p:spPr/>
        <p:txBody>
          <a:bodyPr/>
          <a:lstStyle/>
          <a:p>
            <a:r>
              <a:rPr lang="en-IN" dirty="0"/>
              <a:t>Known Usage: LASSP Tools</a:t>
            </a:r>
          </a:p>
        </p:txBody>
      </p:sp>
      <p:sp>
        <p:nvSpPr>
          <p:cNvPr id="5" name="Date Placeholder 4">
            <a:extLst>
              <a:ext uri="{FF2B5EF4-FFF2-40B4-BE49-F238E27FC236}">
                <a16:creationId xmlns:a16="http://schemas.microsoft.com/office/drawing/2014/main" id="{D39BF8C0-05B8-46C8-BD17-2AA48CDFEF5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0049105-7F4E-4CEA-B64C-50EA18B805F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0686F9CF-FF22-44A4-9169-64FF4245074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38500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BB2D84-FBA9-4FBB-B2B1-8973728A0AFF}"/>
              </a:ext>
            </a:extLst>
          </p:cNvPr>
          <p:cNvSpPr>
            <a:spLocks noGrp="1"/>
          </p:cNvSpPr>
          <p:nvPr>
            <p:ph idx="1"/>
          </p:nvPr>
        </p:nvSpPr>
        <p:spPr/>
        <p:txBody>
          <a:bodyPr/>
          <a:lstStyle/>
          <a:p>
            <a:pPr marL="457200" indent="-457200">
              <a:buFont typeface="+mj-lt"/>
              <a:buAutoNum type="arabicPeriod"/>
            </a:pPr>
            <a:r>
              <a:rPr lang="en-IN" dirty="0"/>
              <a:t>No intermediate files necessary, but possible.</a:t>
            </a:r>
          </a:p>
          <a:p>
            <a:pPr marL="457200" indent="-457200">
              <a:buFont typeface="+mj-lt"/>
              <a:buAutoNum type="arabicPeriod"/>
            </a:pPr>
            <a:r>
              <a:rPr lang="en-IN" dirty="0"/>
              <a:t>Flexibility by filter exchange.</a:t>
            </a:r>
          </a:p>
          <a:p>
            <a:pPr marL="457200" indent="-457200">
              <a:buFont typeface="+mj-lt"/>
              <a:buAutoNum type="arabicPeriod"/>
            </a:pPr>
            <a:r>
              <a:rPr lang="en-IN" dirty="0"/>
              <a:t>Flexibility by recombination.</a:t>
            </a:r>
          </a:p>
          <a:p>
            <a:pPr marL="457200" indent="-457200">
              <a:buFont typeface="+mj-lt"/>
              <a:buAutoNum type="arabicPeriod"/>
            </a:pPr>
            <a:r>
              <a:rPr lang="en-IN" dirty="0"/>
              <a:t>Reuse of filter components.</a:t>
            </a:r>
          </a:p>
          <a:p>
            <a:pPr marL="457200" indent="-457200">
              <a:buFont typeface="+mj-lt"/>
              <a:buAutoNum type="arabicPeriod"/>
            </a:pPr>
            <a:r>
              <a:rPr lang="en-IN" dirty="0"/>
              <a:t>Rapid prototyping of pipelines.</a:t>
            </a:r>
          </a:p>
          <a:p>
            <a:pPr marL="457200" indent="-457200">
              <a:buFont typeface="+mj-lt"/>
              <a:buAutoNum type="arabicPeriod"/>
            </a:pPr>
            <a:r>
              <a:rPr lang="en-IN" dirty="0" err="1"/>
              <a:t>Egiciemy</a:t>
            </a:r>
            <a:r>
              <a:rPr lang="en-IN" dirty="0"/>
              <a:t> by parallel processing.</a:t>
            </a:r>
          </a:p>
        </p:txBody>
      </p:sp>
      <p:sp>
        <p:nvSpPr>
          <p:cNvPr id="3" name="Content Placeholder 2">
            <a:extLst>
              <a:ext uri="{FF2B5EF4-FFF2-40B4-BE49-F238E27FC236}">
                <a16:creationId xmlns:a16="http://schemas.microsoft.com/office/drawing/2014/main" id="{EBB65358-AFAE-47D0-9C69-40A88BFE2BDA}"/>
              </a:ext>
            </a:extLst>
          </p:cNvPr>
          <p:cNvSpPr>
            <a:spLocks noGrp="1"/>
          </p:cNvSpPr>
          <p:nvPr>
            <p:ph sz="quarter" idx="10"/>
          </p:nvPr>
        </p:nvSpPr>
        <p:spPr/>
        <p:txBody>
          <a:bodyPr/>
          <a:lstStyle/>
          <a:p>
            <a:r>
              <a:rPr lang="en-IN" dirty="0"/>
              <a:t>Benefits</a:t>
            </a:r>
          </a:p>
        </p:txBody>
      </p:sp>
      <p:sp>
        <p:nvSpPr>
          <p:cNvPr id="5" name="Date Placeholder 4">
            <a:extLst>
              <a:ext uri="{FF2B5EF4-FFF2-40B4-BE49-F238E27FC236}">
                <a16:creationId xmlns:a16="http://schemas.microsoft.com/office/drawing/2014/main" id="{C242DDAF-FE8A-4CFD-A369-4B55C2361740}"/>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5198511-5479-46D8-B471-9767AB638B3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6020FDDA-D5C2-40E2-89C1-4A830E0DEF9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56984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3AD21A-1F3D-41D8-B307-E4BB9D7E5733}"/>
              </a:ext>
            </a:extLst>
          </p:cNvPr>
          <p:cNvSpPr>
            <a:spLocks noGrp="1"/>
          </p:cNvSpPr>
          <p:nvPr>
            <p:ph idx="1"/>
          </p:nvPr>
        </p:nvSpPr>
        <p:spPr/>
        <p:txBody>
          <a:bodyPr/>
          <a:lstStyle/>
          <a:p>
            <a:pPr marL="457200" indent="-457200">
              <a:buFont typeface="+mj-lt"/>
              <a:buAutoNum type="arabicPeriod"/>
            </a:pPr>
            <a:r>
              <a:rPr lang="en-IN" dirty="0"/>
              <a:t>Sharing state information is expensive or </a:t>
            </a:r>
            <a:r>
              <a:rPr lang="en-IN" dirty="0" err="1"/>
              <a:t>inflxible</a:t>
            </a:r>
            <a:r>
              <a:rPr lang="en-IN" dirty="0"/>
              <a:t>.</a:t>
            </a:r>
          </a:p>
          <a:p>
            <a:pPr marL="457200" indent="-457200">
              <a:buFont typeface="+mj-lt"/>
              <a:buAutoNum type="arabicPeriod"/>
            </a:pPr>
            <a:r>
              <a:rPr lang="en-IN" dirty="0"/>
              <a:t>Efficiency gain by parallel processing is often an illusion.</a:t>
            </a:r>
          </a:p>
          <a:p>
            <a:pPr marL="457200" indent="-457200">
              <a:buFont typeface="+mj-lt"/>
              <a:buAutoNum type="arabicPeriod"/>
            </a:pPr>
            <a:r>
              <a:rPr lang="en-IN" dirty="0"/>
              <a:t>Data transformation overhead.</a:t>
            </a:r>
          </a:p>
          <a:p>
            <a:pPr marL="457200" indent="-457200">
              <a:buFont typeface="+mj-lt"/>
              <a:buAutoNum type="arabicPeriod"/>
            </a:pPr>
            <a:r>
              <a:rPr lang="en-IN" dirty="0"/>
              <a:t>Error handling.</a:t>
            </a:r>
          </a:p>
          <a:p>
            <a:pPr marL="457200" indent="-457200">
              <a:buFont typeface="+mj-lt"/>
              <a:buAutoNum type="arabicPeriod"/>
            </a:pPr>
            <a:endParaRPr lang="en-IN" dirty="0"/>
          </a:p>
        </p:txBody>
      </p:sp>
      <p:sp>
        <p:nvSpPr>
          <p:cNvPr id="3" name="Content Placeholder 2">
            <a:extLst>
              <a:ext uri="{FF2B5EF4-FFF2-40B4-BE49-F238E27FC236}">
                <a16:creationId xmlns:a16="http://schemas.microsoft.com/office/drawing/2014/main" id="{0EA2BA2E-580B-48BC-98C1-AE18735669AE}"/>
              </a:ext>
            </a:extLst>
          </p:cNvPr>
          <p:cNvSpPr>
            <a:spLocks noGrp="1"/>
          </p:cNvSpPr>
          <p:nvPr>
            <p:ph sz="quarter" idx="10"/>
          </p:nvPr>
        </p:nvSpPr>
        <p:spPr/>
        <p:txBody>
          <a:bodyPr/>
          <a:lstStyle/>
          <a:p>
            <a:r>
              <a:rPr lang="en-IN" dirty="0"/>
              <a:t>Liabilities</a:t>
            </a:r>
          </a:p>
        </p:txBody>
      </p:sp>
      <p:sp>
        <p:nvSpPr>
          <p:cNvPr id="5" name="Date Placeholder 4">
            <a:extLst>
              <a:ext uri="{FF2B5EF4-FFF2-40B4-BE49-F238E27FC236}">
                <a16:creationId xmlns:a16="http://schemas.microsoft.com/office/drawing/2014/main" id="{FF87D94B-7254-4E2D-BF82-1EED2829339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EB2D6CF3-20DD-4230-BE64-C7B29838E7F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C7F3CAB6-CBCD-42CD-BCEF-6E9A44B5D2E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7343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Black Board</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640436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IN" dirty="0"/>
              <a:t>The Blackboard architectural pattern is useful for problems for which no deterministic solution strategies are known. </a:t>
            </a:r>
          </a:p>
          <a:p>
            <a:pPr>
              <a:buFont typeface="Arial" panose="020B0604020202020204" pitchFamily="34" charset="0"/>
              <a:buChar char="•"/>
            </a:pPr>
            <a:r>
              <a:rPr lang="en-IN" dirty="0"/>
              <a:t>In Blackboard several specialized subsystems assemble their knowledge to build a possibly partial or approximate solution. </a:t>
            </a:r>
          </a:p>
          <a:p>
            <a:pPr>
              <a:buFont typeface="Arial" panose="020B0604020202020204" pitchFamily="34" charset="0"/>
              <a:buChar char="•"/>
            </a:pPr>
            <a:r>
              <a:rPr lang="en-US" b="1" dirty="0"/>
              <a:t>CONTEXT</a:t>
            </a:r>
          </a:p>
          <a:p>
            <a:pPr>
              <a:buFont typeface="Arial" panose="020B0604020202020204" pitchFamily="34" charset="0"/>
              <a:buChar char="•"/>
            </a:pPr>
            <a:r>
              <a:rPr lang="en-IN" dirty="0"/>
              <a:t>An immature domain in which no closed approach to a solution is known or feasible. </a:t>
            </a:r>
            <a:endParaRPr lang="en-US" dirty="0"/>
          </a:p>
        </p:txBody>
      </p:sp>
      <p:sp>
        <p:nvSpPr>
          <p:cNvPr id="4" name="Content Placeholder 3"/>
          <p:cNvSpPr>
            <a:spLocks noGrp="1"/>
          </p:cNvSpPr>
          <p:nvPr>
            <p:ph sz="quarter" idx="10"/>
          </p:nvPr>
        </p:nvSpPr>
        <p:spPr/>
        <p:txBody>
          <a:bodyPr/>
          <a:lstStyle/>
          <a:p>
            <a:r>
              <a:rPr lang="en-US" dirty="0"/>
              <a:t>Blackboard</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3746734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27F3E5-24EF-44F7-8559-F86FF986367B}"/>
              </a:ext>
            </a:extLst>
          </p:cNvPr>
          <p:cNvSpPr>
            <a:spLocks noGrp="1"/>
          </p:cNvSpPr>
          <p:nvPr>
            <p:ph idx="1"/>
          </p:nvPr>
        </p:nvSpPr>
        <p:spPr>
          <a:xfrm>
            <a:off x="304800" y="1493837"/>
            <a:ext cx="8229600" cy="4972839"/>
          </a:xfrm>
        </p:spPr>
        <p:txBody>
          <a:bodyPr>
            <a:normAutofit fontScale="92500" lnSpcReduction="20000"/>
          </a:bodyPr>
          <a:lstStyle/>
          <a:p>
            <a:pPr>
              <a:buFont typeface="Arial" panose="020B0604020202020204" pitchFamily="34" charset="0"/>
              <a:buChar char="•"/>
            </a:pPr>
            <a:r>
              <a:rPr lang="en-IN" dirty="0"/>
              <a:t>The Blackboard pattern tackles problems that do not have a feasible deterministic solution for the transformation of raw data into high-level data structures, such as diagrams, tables or English phrases. </a:t>
            </a:r>
          </a:p>
          <a:p>
            <a:pPr>
              <a:buFont typeface="Arial" panose="020B0604020202020204" pitchFamily="34" charset="0"/>
              <a:buChar char="•"/>
            </a:pPr>
            <a:r>
              <a:rPr lang="en-IN" dirty="0"/>
              <a:t>Vision, image recognition, speech recognition and surveillance are examples of domains in which such problems occur. </a:t>
            </a:r>
          </a:p>
          <a:p>
            <a:pPr>
              <a:buFont typeface="Arial" panose="020B0604020202020204" pitchFamily="34" charset="0"/>
              <a:buChar char="•"/>
            </a:pPr>
            <a:r>
              <a:rPr lang="en-IN" dirty="0"/>
              <a:t>They are characterized by a problem that, when decomposed into sub-problems, spans several fields of expertise. </a:t>
            </a:r>
          </a:p>
          <a:p>
            <a:pPr>
              <a:buFont typeface="Arial" panose="020B0604020202020204" pitchFamily="34" charset="0"/>
              <a:buChar char="•"/>
            </a:pPr>
            <a:r>
              <a:rPr lang="en-IN" dirty="0"/>
              <a:t>The solutions to the partial problems require different representations and paradigms. </a:t>
            </a:r>
          </a:p>
          <a:p>
            <a:pPr>
              <a:buFont typeface="Arial" panose="020B0604020202020204" pitchFamily="34" charset="0"/>
              <a:buChar char="•"/>
            </a:pPr>
            <a:r>
              <a:rPr lang="en-IN" dirty="0"/>
              <a:t>In many cases no predetermined strategy exists for how the 'partial problem solvers' should combine their knowledge. </a:t>
            </a:r>
          </a:p>
          <a:p>
            <a:pPr>
              <a:buFont typeface="Arial" panose="020B0604020202020204" pitchFamily="34" charset="0"/>
              <a:buChar char="•"/>
            </a:pPr>
            <a:r>
              <a:rPr lang="en-IN" dirty="0"/>
              <a:t>This is in contrast to functional de-composition, in which several solution steps are arranged so that the sequence of their activation is hard-coded. </a:t>
            </a:r>
          </a:p>
        </p:txBody>
      </p:sp>
      <p:sp>
        <p:nvSpPr>
          <p:cNvPr id="3" name="Content Placeholder 2">
            <a:extLst>
              <a:ext uri="{FF2B5EF4-FFF2-40B4-BE49-F238E27FC236}">
                <a16:creationId xmlns:a16="http://schemas.microsoft.com/office/drawing/2014/main" id="{33FC2618-871B-41F6-AA33-34285A76653C}"/>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5DFA9C2D-9601-4FAF-BD28-96115AA5038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55667101-32C9-445D-A504-D07B37B71F4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1BE13443-F707-4CBA-AF5A-DDE60B2846E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530345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F20100-1E89-4590-9719-7E185770E03F}"/>
              </a:ext>
            </a:extLst>
          </p:cNvPr>
          <p:cNvSpPr>
            <a:spLocks noGrp="1"/>
          </p:cNvSpPr>
          <p:nvPr>
            <p:ph idx="1"/>
          </p:nvPr>
        </p:nvSpPr>
        <p:spPr/>
        <p:txBody>
          <a:bodyPr>
            <a:normAutofit fontScale="92500"/>
          </a:bodyPr>
          <a:lstStyle/>
          <a:p>
            <a:pPr>
              <a:buFont typeface="Arial" panose="020B0604020202020204" pitchFamily="34" charset="0"/>
              <a:buChar char="•"/>
            </a:pPr>
            <a:r>
              <a:rPr lang="en-IN" dirty="0"/>
              <a:t>A complete search of the solution space is not feasible in a reasonable time. </a:t>
            </a:r>
          </a:p>
          <a:p>
            <a:pPr>
              <a:buFont typeface="Arial" panose="020B0604020202020204" pitchFamily="34" charset="0"/>
              <a:buChar char="•"/>
            </a:pPr>
            <a:r>
              <a:rPr lang="en-IN" dirty="0"/>
              <a:t>Since the domain is immature, you may need to experiment with different algorithms for the same subtask. Individual modules should be easily exchangeable. </a:t>
            </a:r>
          </a:p>
          <a:p>
            <a:pPr>
              <a:buFont typeface="Arial" panose="020B0604020202020204" pitchFamily="34" charset="0"/>
              <a:buChar char="•"/>
            </a:pPr>
            <a:r>
              <a:rPr lang="en-IN" dirty="0"/>
              <a:t>There are different algorithms that solve partial problems. Unrelated logics, representations, algorithms, paradigms or domains may be involved.</a:t>
            </a:r>
          </a:p>
          <a:p>
            <a:pPr>
              <a:buFont typeface="Arial" panose="020B0604020202020204" pitchFamily="34" charset="0"/>
              <a:buChar char="•"/>
            </a:pPr>
            <a:r>
              <a:rPr lang="en-IN" dirty="0"/>
              <a:t>An algorithm usually works on the results of other algorithms. </a:t>
            </a:r>
          </a:p>
          <a:p>
            <a:pPr>
              <a:buFont typeface="Arial" panose="020B0604020202020204" pitchFamily="34" charset="0"/>
              <a:buChar char="•"/>
            </a:pPr>
            <a:r>
              <a:rPr lang="en-IN" dirty="0"/>
              <a:t>Uncertain data and approximate solutions are involved.</a:t>
            </a:r>
          </a:p>
          <a:p>
            <a:pPr>
              <a:buFont typeface="Arial" panose="020B0604020202020204" pitchFamily="34" charset="0"/>
              <a:buChar char="•"/>
            </a:pPr>
            <a:r>
              <a:rPr lang="en-IN" dirty="0"/>
              <a:t>Employing disjoint algorithms induces potential parallelism. If possible you should avoid a strictly sequential solution. </a:t>
            </a:r>
          </a:p>
        </p:txBody>
      </p:sp>
      <p:sp>
        <p:nvSpPr>
          <p:cNvPr id="3" name="Content Placeholder 2">
            <a:extLst>
              <a:ext uri="{FF2B5EF4-FFF2-40B4-BE49-F238E27FC236}">
                <a16:creationId xmlns:a16="http://schemas.microsoft.com/office/drawing/2014/main" id="{C656A39B-DAFD-4A39-B122-2368838C888F}"/>
              </a:ext>
            </a:extLst>
          </p:cNvPr>
          <p:cNvSpPr>
            <a:spLocks noGrp="1"/>
          </p:cNvSpPr>
          <p:nvPr>
            <p:ph sz="quarter" idx="10"/>
          </p:nvPr>
        </p:nvSpPr>
        <p:spPr/>
        <p:txBody>
          <a:bodyPr/>
          <a:lstStyle/>
          <a:p>
            <a:r>
              <a:rPr lang="en-IN" dirty="0"/>
              <a:t>forces that influence solutions to these problems</a:t>
            </a:r>
          </a:p>
        </p:txBody>
      </p:sp>
      <p:sp>
        <p:nvSpPr>
          <p:cNvPr id="5" name="Date Placeholder 4">
            <a:extLst>
              <a:ext uri="{FF2B5EF4-FFF2-40B4-BE49-F238E27FC236}">
                <a16:creationId xmlns:a16="http://schemas.microsoft.com/office/drawing/2014/main" id="{484A150A-0097-4E20-868C-4A10402359F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18FE20C-C89A-446A-A2B8-E0C890CA207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4586B4EE-4AD4-41C3-81B8-6EDDD288C80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260207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7E72EA-F4A4-47B0-9FDD-0462843D0E87}"/>
              </a:ext>
            </a:extLst>
          </p:cNvPr>
          <p:cNvSpPr>
            <a:spLocks noGrp="1"/>
          </p:cNvSpPr>
          <p:nvPr>
            <p:ph idx="1"/>
          </p:nvPr>
        </p:nvSpPr>
        <p:spPr>
          <a:xfrm>
            <a:off x="76200" y="1493837"/>
            <a:ext cx="8991600" cy="5227638"/>
          </a:xfrm>
        </p:spPr>
        <p:txBody>
          <a:bodyPr>
            <a:normAutofit/>
          </a:bodyPr>
          <a:lstStyle/>
          <a:p>
            <a:pPr>
              <a:buFont typeface="Arial" panose="020B0604020202020204" pitchFamily="34" charset="0"/>
              <a:buChar char="•"/>
            </a:pPr>
            <a:r>
              <a:rPr lang="en-IN" sz="1200" dirty="0"/>
              <a:t>The idea behind the Blackboard architecture is a collection of independent programs that work cooperatively on a common data structure. </a:t>
            </a:r>
          </a:p>
          <a:p>
            <a:pPr>
              <a:buFont typeface="Arial" panose="020B0604020202020204" pitchFamily="34" charset="0"/>
              <a:buChar char="•"/>
            </a:pPr>
            <a:r>
              <a:rPr lang="en-IN" sz="1200" dirty="0"/>
              <a:t>Each program is specialized for solving a particular part of the overall task, and all programs work together on the solution. </a:t>
            </a:r>
          </a:p>
          <a:p>
            <a:pPr>
              <a:buFont typeface="Arial" panose="020B0604020202020204" pitchFamily="34" charset="0"/>
              <a:buChar char="•"/>
            </a:pPr>
            <a:r>
              <a:rPr lang="en-IN" sz="1200" dirty="0"/>
              <a:t>These specialized programs are independent of each other. </a:t>
            </a:r>
          </a:p>
          <a:p>
            <a:pPr>
              <a:buFont typeface="Arial" panose="020B0604020202020204" pitchFamily="34" charset="0"/>
              <a:buChar char="•"/>
            </a:pPr>
            <a:r>
              <a:rPr lang="en-IN" sz="1200" dirty="0"/>
              <a:t>They do not call each other, nor is there a predetermined sequence for their activation. </a:t>
            </a:r>
          </a:p>
          <a:p>
            <a:pPr>
              <a:buFont typeface="Arial" panose="020B0604020202020204" pitchFamily="34" charset="0"/>
              <a:buChar char="•"/>
            </a:pPr>
            <a:r>
              <a:rPr lang="en-IN" sz="1200" dirty="0"/>
              <a:t>Instead, the direction taken by the system is mainly determined by the current state of progress. </a:t>
            </a:r>
          </a:p>
          <a:p>
            <a:pPr>
              <a:buFont typeface="Arial" panose="020B0604020202020204" pitchFamily="34" charset="0"/>
              <a:buChar char="•"/>
            </a:pPr>
            <a:r>
              <a:rPr lang="en-IN" sz="1200" dirty="0"/>
              <a:t>A central control component evaluates the current state of processing and coordinates the specialized programs. </a:t>
            </a:r>
          </a:p>
          <a:p>
            <a:pPr>
              <a:buFont typeface="Arial" panose="020B0604020202020204" pitchFamily="34" charset="0"/>
              <a:buChar char="•"/>
            </a:pPr>
            <a:r>
              <a:rPr lang="en-IN" sz="1200" dirty="0"/>
              <a:t>This data-directed control regime is referred to as opportunistic problem solving. </a:t>
            </a:r>
          </a:p>
          <a:p>
            <a:pPr>
              <a:buFont typeface="Arial" panose="020B0604020202020204" pitchFamily="34" charset="0"/>
              <a:buChar char="•"/>
            </a:pPr>
            <a:r>
              <a:rPr lang="en-IN" sz="1200" dirty="0"/>
              <a:t>It makes experimentation with different algorithms possible, and allows experimentally-derived heuristics to control processing. </a:t>
            </a:r>
          </a:p>
          <a:p>
            <a:pPr>
              <a:buFont typeface="Arial" panose="020B0604020202020204" pitchFamily="34" charset="0"/>
              <a:buChar char="•"/>
            </a:pPr>
            <a:r>
              <a:rPr lang="en-IN" sz="1200" dirty="0"/>
              <a:t>During the problem-solving process the system works with partial solutions that are combined, changed or rejected. </a:t>
            </a:r>
          </a:p>
          <a:p>
            <a:pPr>
              <a:buFont typeface="Arial" panose="020B0604020202020204" pitchFamily="34" charset="0"/>
              <a:buChar char="•"/>
            </a:pPr>
            <a:r>
              <a:rPr lang="en-IN" sz="1200" dirty="0"/>
              <a:t>Each of these solutions represents a partial problem and a certain stage of its solution. </a:t>
            </a:r>
          </a:p>
          <a:p>
            <a:pPr>
              <a:buFont typeface="Arial" panose="020B0604020202020204" pitchFamily="34" charset="0"/>
              <a:buChar char="•"/>
            </a:pPr>
            <a:r>
              <a:rPr lang="en-IN" sz="1200" dirty="0"/>
              <a:t>The set of all possible solutions is called the solution space, and is organized into levels of abstraction. </a:t>
            </a:r>
          </a:p>
          <a:p>
            <a:pPr>
              <a:buFont typeface="Arial" panose="020B0604020202020204" pitchFamily="34" charset="0"/>
              <a:buChar char="•"/>
            </a:pPr>
            <a:r>
              <a:rPr lang="en-IN" sz="1200" dirty="0"/>
              <a:t>The lowest level of solution consists of an internal representation of the input. </a:t>
            </a:r>
          </a:p>
          <a:p>
            <a:pPr>
              <a:buFont typeface="Arial" panose="020B0604020202020204" pitchFamily="34" charset="0"/>
              <a:buChar char="•"/>
            </a:pPr>
            <a:r>
              <a:rPr lang="en-IN" sz="1200" dirty="0"/>
              <a:t>Potential solutions of the overall system task are on the highest level. </a:t>
            </a:r>
          </a:p>
          <a:p>
            <a:pPr>
              <a:buFont typeface="Arial" panose="020B0604020202020204" pitchFamily="34" charset="0"/>
              <a:buChar char="•"/>
            </a:pPr>
            <a:r>
              <a:rPr lang="en-IN" sz="1200" dirty="0"/>
              <a:t>The name 'blackboard was chosen because it is reminiscent of the situation in which human experts sit in front of a real blackboard and work together to solve a problem. </a:t>
            </a:r>
          </a:p>
          <a:p>
            <a:pPr>
              <a:buFont typeface="Arial" panose="020B0604020202020204" pitchFamily="34" charset="0"/>
              <a:buChar char="•"/>
            </a:pPr>
            <a:r>
              <a:rPr lang="en-IN" sz="1200" dirty="0"/>
              <a:t>Each expert separately evaluates the current state of the solution, and may go up to the blackboard at any time and add, change or delete information. </a:t>
            </a:r>
          </a:p>
          <a:p>
            <a:pPr>
              <a:buFont typeface="Arial" panose="020B0604020202020204" pitchFamily="34" charset="0"/>
              <a:buChar char="•"/>
            </a:pPr>
            <a:r>
              <a:rPr lang="en-IN" sz="1200" dirty="0"/>
              <a:t>Humans usually decide themselves who has the next access to the blackboard. </a:t>
            </a:r>
          </a:p>
          <a:p>
            <a:pPr>
              <a:buFont typeface="Arial" panose="020B0604020202020204" pitchFamily="34" charset="0"/>
              <a:buChar char="•"/>
            </a:pPr>
            <a:r>
              <a:rPr lang="en-IN" sz="1200" dirty="0"/>
              <a:t>In the pattern we describe, a moderator component decides the order in which programs execute if more than one can make a contribution. </a:t>
            </a:r>
          </a:p>
        </p:txBody>
      </p:sp>
      <p:sp>
        <p:nvSpPr>
          <p:cNvPr id="3" name="Content Placeholder 2">
            <a:extLst>
              <a:ext uri="{FF2B5EF4-FFF2-40B4-BE49-F238E27FC236}">
                <a16:creationId xmlns:a16="http://schemas.microsoft.com/office/drawing/2014/main" id="{634C394F-0665-46BC-A9D6-366711CCFF1E}"/>
              </a:ext>
            </a:extLst>
          </p:cNvPr>
          <p:cNvSpPr>
            <a:spLocks noGrp="1"/>
          </p:cNvSpPr>
          <p:nvPr>
            <p:ph sz="quarter" idx="10"/>
          </p:nvPr>
        </p:nvSpPr>
        <p:spPr/>
        <p:txBody>
          <a:bodyPr/>
          <a:lstStyle/>
          <a:p>
            <a:r>
              <a:rPr lang="en-IN" dirty="0"/>
              <a:t>Solution</a:t>
            </a:r>
          </a:p>
        </p:txBody>
      </p:sp>
      <p:sp>
        <p:nvSpPr>
          <p:cNvPr id="5" name="Date Placeholder 4">
            <a:extLst>
              <a:ext uri="{FF2B5EF4-FFF2-40B4-BE49-F238E27FC236}">
                <a16:creationId xmlns:a16="http://schemas.microsoft.com/office/drawing/2014/main" id="{21D1DC2A-1703-491A-937A-54882C0176C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80B94FDA-874E-4ACE-B4F6-B1A5D9378FC3}"/>
              </a:ext>
            </a:extLst>
          </p:cNvPr>
          <p:cNvSpPr>
            <a:spLocks noGrp="1"/>
          </p:cNvSpPr>
          <p:nvPr>
            <p:ph type="ftr" sz="quarter" idx="13"/>
          </p:nvPr>
        </p:nvSpPr>
        <p:spPr>
          <a:xfrm>
            <a:off x="3124200" y="6295647"/>
            <a:ext cx="2895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5F59AB20-D478-4200-B76F-C15DE44BFC9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8829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A7BA6A-9E86-41D3-B498-6375EB3AC5CC}"/>
              </a:ext>
            </a:extLst>
          </p:cNvPr>
          <p:cNvSpPr>
            <a:spLocks noGrp="1"/>
          </p:cNvSpPr>
          <p:nvPr>
            <p:ph idx="1"/>
          </p:nvPr>
        </p:nvSpPr>
        <p:spPr>
          <a:xfrm>
            <a:off x="304800" y="1493837"/>
            <a:ext cx="8382000" cy="4862513"/>
          </a:xfrm>
        </p:spPr>
        <p:txBody>
          <a:bodyPr>
            <a:normAutofit fontScale="92500" lnSpcReduction="20000"/>
          </a:bodyPr>
          <a:lstStyle/>
          <a:p>
            <a:pPr>
              <a:buFont typeface="Arial" panose="020B0604020202020204" pitchFamily="34" charset="0"/>
              <a:buChar char="•"/>
            </a:pPr>
            <a:r>
              <a:rPr lang="en-IN" dirty="0"/>
              <a:t>Divide your system into a component called blackboard, a collection of knowledge sources, and a control component. </a:t>
            </a:r>
          </a:p>
          <a:p>
            <a:pPr>
              <a:buFont typeface="Arial" panose="020B0604020202020204" pitchFamily="34" charset="0"/>
              <a:buChar char="•"/>
            </a:pPr>
            <a:r>
              <a:rPr lang="en-IN" dirty="0"/>
              <a:t>The blackboard is the central data store. Elements of the solution space and control data are stored here. </a:t>
            </a:r>
          </a:p>
          <a:p>
            <a:pPr>
              <a:buFont typeface="Arial" panose="020B0604020202020204" pitchFamily="34" charset="0"/>
              <a:buChar char="•"/>
            </a:pPr>
            <a:r>
              <a:rPr lang="en-IN" dirty="0"/>
              <a:t>We use the term vocabulary for the set of all data elements that can appear on the blackboard. </a:t>
            </a:r>
          </a:p>
          <a:p>
            <a:pPr>
              <a:buFont typeface="Arial" panose="020B0604020202020204" pitchFamily="34" charset="0"/>
              <a:buChar char="•"/>
            </a:pPr>
            <a:r>
              <a:rPr lang="en-IN" dirty="0"/>
              <a:t>The blackboard provides an interface that enables all knowledge sources to read from and write to it. </a:t>
            </a:r>
          </a:p>
          <a:p>
            <a:pPr>
              <a:buFont typeface="Arial" panose="020B0604020202020204" pitchFamily="34" charset="0"/>
              <a:buChar char="•"/>
            </a:pPr>
            <a:r>
              <a:rPr lang="en-IN" dirty="0"/>
              <a:t>All elements of the solution space can appear on the blackboard. </a:t>
            </a:r>
          </a:p>
          <a:p>
            <a:pPr>
              <a:buFont typeface="Arial" panose="020B0604020202020204" pitchFamily="34" charset="0"/>
              <a:buChar char="•"/>
            </a:pPr>
            <a:r>
              <a:rPr lang="en-IN" dirty="0"/>
              <a:t>For solutions that are constructed during the problem solving process and put on the blackboard, we use the terms hypothesis or blackboard entry. </a:t>
            </a:r>
          </a:p>
          <a:p>
            <a:pPr>
              <a:buFont typeface="Arial" panose="020B0604020202020204" pitchFamily="34" charset="0"/>
              <a:buChar char="•"/>
            </a:pPr>
            <a:r>
              <a:rPr lang="en-IN" dirty="0"/>
              <a:t>Hypotheses rejected later in the process are removed from the blackboard. </a:t>
            </a:r>
          </a:p>
        </p:txBody>
      </p:sp>
      <p:sp>
        <p:nvSpPr>
          <p:cNvPr id="3" name="Content Placeholder 2">
            <a:extLst>
              <a:ext uri="{FF2B5EF4-FFF2-40B4-BE49-F238E27FC236}">
                <a16:creationId xmlns:a16="http://schemas.microsoft.com/office/drawing/2014/main" id="{3F7957DA-B126-43D5-90B2-635239A583E5}"/>
              </a:ext>
            </a:extLst>
          </p:cNvPr>
          <p:cNvSpPr>
            <a:spLocks noGrp="1"/>
          </p:cNvSpPr>
          <p:nvPr>
            <p:ph sz="quarter" idx="10"/>
          </p:nvPr>
        </p:nvSpPr>
        <p:spPr/>
        <p:txBody>
          <a:bodyPr/>
          <a:lstStyle/>
          <a:p>
            <a:r>
              <a:rPr lang="en-IN" dirty="0"/>
              <a:t>Structure</a:t>
            </a:r>
          </a:p>
        </p:txBody>
      </p:sp>
      <p:sp>
        <p:nvSpPr>
          <p:cNvPr id="5" name="Date Placeholder 4">
            <a:extLst>
              <a:ext uri="{FF2B5EF4-FFF2-40B4-BE49-F238E27FC236}">
                <a16:creationId xmlns:a16="http://schemas.microsoft.com/office/drawing/2014/main" id="{39634BAB-AC07-400D-9585-48D5D2E91D4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D0EDC5F-BC73-4EBC-A22C-54F885AB140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02336882-0A89-47DD-B79C-8F12CD6BA8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422745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E33BE-1CAD-4F52-922A-8D8F3FB6AECA}"/>
              </a:ext>
            </a:extLst>
          </p:cNvPr>
          <p:cNvSpPr>
            <a:spLocks noGrp="1"/>
          </p:cNvSpPr>
          <p:nvPr>
            <p:ph idx="1"/>
          </p:nvPr>
        </p:nvSpPr>
        <p:spPr>
          <a:xfrm>
            <a:off x="304800" y="1493837"/>
            <a:ext cx="8610600" cy="4869904"/>
          </a:xfrm>
        </p:spPr>
        <p:txBody>
          <a:bodyPr>
            <a:normAutofit fontScale="92500" lnSpcReduction="10000"/>
          </a:bodyPr>
          <a:lstStyle/>
          <a:p>
            <a:pPr>
              <a:buFont typeface="Arial" panose="020B0604020202020204" pitchFamily="34" charset="0"/>
              <a:buChar char="•"/>
            </a:pPr>
            <a:r>
              <a:rPr lang="en-IN" b="1" dirty="0"/>
              <a:t>The blackboard</a:t>
            </a:r>
            <a:r>
              <a:rPr lang="en-IN" dirty="0"/>
              <a:t> can be viewed as a three-dimensional problem space with the time line for speech on the X-axis, increasing levels of abstraction on the Y-axis and alternative solutions on the Z-axis</a:t>
            </a:r>
          </a:p>
          <a:p>
            <a:pPr>
              <a:buFont typeface="Arial" panose="020B0604020202020204" pitchFamily="34" charset="0"/>
              <a:buChar char="•"/>
            </a:pPr>
            <a:r>
              <a:rPr lang="en-IN" b="1" dirty="0"/>
              <a:t>Knowledge sources</a:t>
            </a:r>
            <a:r>
              <a:rPr lang="en-IN" dirty="0"/>
              <a:t> are separate, independent subsystems that solve specific aspects of the overall problem. Together they model the overall problem domain. None of them can solve the task of the system alone-a solution can only be built by integrating the results of several knowledge sources. </a:t>
            </a:r>
          </a:p>
          <a:p>
            <a:pPr>
              <a:buFont typeface="Arial" panose="020B0604020202020204" pitchFamily="34" charset="0"/>
              <a:buChar char="•"/>
            </a:pPr>
            <a:r>
              <a:rPr lang="en-IN" dirty="0"/>
              <a:t>The </a:t>
            </a:r>
            <a:r>
              <a:rPr lang="en-IN" b="1" dirty="0"/>
              <a:t>control component</a:t>
            </a:r>
            <a:r>
              <a:rPr lang="en-IN" dirty="0"/>
              <a:t> runs a loop that monitors the changes on the blackboard and decides what action to take next. It schedules knowledge source evaluations and activations according to a knowledge application strategy. The basis for this strategy is the data on the blackboard. </a:t>
            </a:r>
          </a:p>
        </p:txBody>
      </p:sp>
      <p:sp>
        <p:nvSpPr>
          <p:cNvPr id="3" name="Content Placeholder 2">
            <a:extLst>
              <a:ext uri="{FF2B5EF4-FFF2-40B4-BE49-F238E27FC236}">
                <a16:creationId xmlns:a16="http://schemas.microsoft.com/office/drawing/2014/main" id="{DFE901EC-262C-4879-BE09-AC5A84AAE0E4}"/>
              </a:ext>
            </a:extLst>
          </p:cNvPr>
          <p:cNvSpPr>
            <a:spLocks noGrp="1"/>
          </p:cNvSpPr>
          <p:nvPr>
            <p:ph sz="quarter" idx="10"/>
          </p:nvPr>
        </p:nvSpPr>
        <p:spPr/>
        <p:txBody>
          <a:bodyPr/>
          <a:lstStyle/>
          <a:p>
            <a:r>
              <a:rPr lang="en-IN" dirty="0"/>
              <a:t>Components</a:t>
            </a:r>
          </a:p>
        </p:txBody>
      </p:sp>
      <p:sp>
        <p:nvSpPr>
          <p:cNvPr id="5" name="Date Placeholder 4">
            <a:extLst>
              <a:ext uri="{FF2B5EF4-FFF2-40B4-BE49-F238E27FC236}">
                <a16:creationId xmlns:a16="http://schemas.microsoft.com/office/drawing/2014/main" id="{180B520F-75ED-4434-BB73-B26697198B5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EBD385FB-1583-4229-9A8D-E92B690EE79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0D1E4704-96A4-4865-B6E6-EF5C0CE75B4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266408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9266062-9E6B-4347-99A4-303A20AD5103}"/>
              </a:ext>
            </a:extLst>
          </p:cNvPr>
          <p:cNvPicPr>
            <a:picLocks noChangeAspect="1"/>
          </p:cNvPicPr>
          <p:nvPr/>
        </p:nvPicPr>
        <p:blipFill>
          <a:blip r:embed="rId2"/>
          <a:stretch>
            <a:fillRect/>
          </a:stretch>
        </p:blipFill>
        <p:spPr>
          <a:xfrm>
            <a:off x="3311380" y="2101396"/>
            <a:ext cx="5600700" cy="4276725"/>
          </a:xfrm>
          <a:prstGeom prst="rect">
            <a:avLst/>
          </a:prstGeom>
        </p:spPr>
      </p:pic>
      <p:pic>
        <p:nvPicPr>
          <p:cNvPr id="16" name="Content Placeholder 15">
            <a:extLst>
              <a:ext uri="{FF2B5EF4-FFF2-40B4-BE49-F238E27FC236}">
                <a16:creationId xmlns:a16="http://schemas.microsoft.com/office/drawing/2014/main" id="{9D660363-5B3F-4972-9114-38C8A40B863D}"/>
              </a:ext>
            </a:extLst>
          </p:cNvPr>
          <p:cNvPicPr>
            <a:picLocks noGrp="1" noChangeAspect="1"/>
          </p:cNvPicPr>
          <p:nvPr>
            <p:ph sz="half" idx="2"/>
          </p:nvPr>
        </p:nvPicPr>
        <p:blipFill>
          <a:blip r:embed="rId3"/>
          <a:stretch>
            <a:fillRect/>
          </a:stretch>
        </p:blipFill>
        <p:spPr>
          <a:xfrm>
            <a:off x="457200" y="4472539"/>
            <a:ext cx="2557026" cy="1693362"/>
          </a:xfrm>
          <a:prstGeom prst="rect">
            <a:avLst/>
          </a:prstGeom>
        </p:spPr>
      </p:pic>
      <p:sp>
        <p:nvSpPr>
          <p:cNvPr id="12" name="Content Placeholder 11">
            <a:extLst>
              <a:ext uri="{FF2B5EF4-FFF2-40B4-BE49-F238E27FC236}">
                <a16:creationId xmlns:a16="http://schemas.microsoft.com/office/drawing/2014/main" id="{3497FF07-3DEA-43AE-8E35-37AA34D605E6}"/>
              </a:ext>
            </a:extLst>
          </p:cNvPr>
          <p:cNvSpPr>
            <a:spLocks noGrp="1"/>
          </p:cNvSpPr>
          <p:nvPr>
            <p:ph sz="quarter" idx="10"/>
          </p:nvPr>
        </p:nvSpPr>
        <p:spPr/>
        <p:txBody>
          <a:bodyPr/>
          <a:lstStyle/>
          <a:p>
            <a:r>
              <a:rPr lang="en-IN" dirty="0"/>
              <a:t>Structure</a:t>
            </a:r>
          </a:p>
        </p:txBody>
      </p:sp>
      <p:sp>
        <p:nvSpPr>
          <p:cNvPr id="5" name="Date Placeholder 4">
            <a:extLst>
              <a:ext uri="{FF2B5EF4-FFF2-40B4-BE49-F238E27FC236}">
                <a16:creationId xmlns:a16="http://schemas.microsoft.com/office/drawing/2014/main" id="{14B74484-2D31-48A9-83DF-4F8DF7D774C8}"/>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8D5D003-6CF0-43EA-A41C-9B0F5764644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8E9A0E3F-7CC9-4B1B-A8C5-7A81B612985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pic>
        <p:nvPicPr>
          <p:cNvPr id="13" name="Content Placeholder 7">
            <a:extLst>
              <a:ext uri="{FF2B5EF4-FFF2-40B4-BE49-F238E27FC236}">
                <a16:creationId xmlns:a16="http://schemas.microsoft.com/office/drawing/2014/main" id="{D894E0EE-9ED2-4926-8B1D-0E86E2384E46}"/>
              </a:ext>
            </a:extLst>
          </p:cNvPr>
          <p:cNvPicPr>
            <a:picLocks noGrp="1" noChangeAspect="1"/>
          </p:cNvPicPr>
          <p:nvPr>
            <p:ph sz="half" idx="1"/>
          </p:nvPr>
        </p:nvPicPr>
        <p:blipFill>
          <a:blip r:embed="rId4"/>
          <a:stretch>
            <a:fillRect/>
          </a:stretch>
        </p:blipFill>
        <p:spPr>
          <a:xfrm>
            <a:off x="457200" y="1517811"/>
            <a:ext cx="4634666" cy="1530189"/>
          </a:xfrm>
          <a:prstGeom prst="rect">
            <a:avLst/>
          </a:prstGeom>
        </p:spPr>
      </p:pic>
      <p:sp>
        <p:nvSpPr>
          <p:cNvPr id="14" name="Content Placeholder 10">
            <a:extLst>
              <a:ext uri="{FF2B5EF4-FFF2-40B4-BE49-F238E27FC236}">
                <a16:creationId xmlns:a16="http://schemas.microsoft.com/office/drawing/2014/main" id="{0268DC67-19F3-468D-98D6-22B0ED90CC70}"/>
              </a:ext>
            </a:extLst>
          </p:cNvPr>
          <p:cNvSpPr txBox="1">
            <a:spLocks/>
          </p:cNvSpPr>
          <p:nvPr/>
        </p:nvSpPr>
        <p:spPr>
          <a:xfrm>
            <a:off x="4953000" y="1525587"/>
            <a:ext cx="4038600" cy="4525963"/>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a:pPr>
            <a:endParaRPr kumimoji="0" lang="en-IN" sz="2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5" name="Content Placeholder 10">
            <a:extLst>
              <a:ext uri="{FF2B5EF4-FFF2-40B4-BE49-F238E27FC236}">
                <a16:creationId xmlns:a16="http://schemas.microsoft.com/office/drawing/2014/main" id="{FB6AAA49-40EF-46EA-9360-75E5F4650A75}"/>
              </a:ext>
            </a:extLst>
          </p:cNvPr>
          <p:cNvSpPr txBox="1">
            <a:spLocks/>
          </p:cNvSpPr>
          <p:nvPr/>
        </p:nvSpPr>
        <p:spPr>
          <a:xfrm>
            <a:off x="4936104" y="1600200"/>
            <a:ext cx="4038600" cy="4525963"/>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a:pPr>
            <a:endParaRPr kumimoji="0" lang="en-IN" sz="2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790956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9095A7-9946-404F-8CF4-311D4C1B51A9}"/>
              </a:ext>
            </a:extLst>
          </p:cNvPr>
          <p:cNvSpPr>
            <a:spLocks noGrp="1"/>
          </p:cNvSpPr>
          <p:nvPr>
            <p:ph idx="1"/>
          </p:nvPr>
        </p:nvSpPr>
        <p:spPr/>
        <p:txBody>
          <a:bodyPr/>
          <a:lstStyle/>
          <a:p>
            <a:pPr marL="457200" indent="-457200">
              <a:buFont typeface="+mj-lt"/>
              <a:buAutoNum type="arabicPeriod"/>
            </a:pPr>
            <a:r>
              <a:rPr lang="en-IN" dirty="0"/>
              <a:t>Define the problem.</a:t>
            </a:r>
          </a:p>
          <a:p>
            <a:pPr marL="457200" indent="-457200">
              <a:buFont typeface="+mj-lt"/>
              <a:buAutoNum type="arabicPeriod"/>
            </a:pPr>
            <a:r>
              <a:rPr lang="en-IN" dirty="0"/>
              <a:t>Define the solution </a:t>
            </a:r>
            <a:r>
              <a:rPr lang="en-IN" dirty="0" err="1"/>
              <a:t>spacefor</a:t>
            </a:r>
            <a:r>
              <a:rPr lang="en-IN" dirty="0"/>
              <a:t> the problem.</a:t>
            </a:r>
          </a:p>
          <a:p>
            <a:pPr marL="457200" indent="-457200">
              <a:buFont typeface="+mj-lt"/>
              <a:buAutoNum type="arabicPeriod"/>
            </a:pPr>
            <a:r>
              <a:rPr lang="en-IN" dirty="0"/>
              <a:t>Divide the solution process into steps.</a:t>
            </a:r>
          </a:p>
          <a:p>
            <a:pPr marL="457200" indent="-457200">
              <a:buFont typeface="+mj-lt"/>
              <a:buAutoNum type="arabicPeriod"/>
            </a:pPr>
            <a:r>
              <a:rPr lang="en-IN" dirty="0"/>
              <a:t>Divide the knowledge into specialized knowledge sources with certain subtasks.</a:t>
            </a:r>
          </a:p>
          <a:p>
            <a:pPr marL="457200" indent="-457200">
              <a:buFont typeface="+mj-lt"/>
              <a:buAutoNum type="arabicPeriod"/>
            </a:pPr>
            <a:r>
              <a:rPr lang="en-IN" dirty="0"/>
              <a:t>Define the vocabulary of the blackboard.</a:t>
            </a:r>
          </a:p>
          <a:p>
            <a:pPr marL="457200" indent="-457200">
              <a:buFont typeface="+mj-lt"/>
              <a:buAutoNum type="arabicPeriod"/>
            </a:pPr>
            <a:r>
              <a:rPr lang="en-IN" dirty="0"/>
              <a:t>Specify the control </a:t>
            </a:r>
            <a:r>
              <a:rPr lang="en-IN" dirty="0" err="1"/>
              <a:t>ofthe</a:t>
            </a:r>
            <a:r>
              <a:rPr lang="en-IN" dirty="0"/>
              <a:t> system.</a:t>
            </a:r>
          </a:p>
          <a:p>
            <a:pPr marL="457200" indent="-457200">
              <a:buFont typeface="+mj-lt"/>
              <a:buAutoNum type="arabicPeriod"/>
            </a:pPr>
            <a:endParaRPr lang="en-IN" dirty="0"/>
          </a:p>
        </p:txBody>
      </p:sp>
      <p:sp>
        <p:nvSpPr>
          <p:cNvPr id="3" name="Content Placeholder 2">
            <a:extLst>
              <a:ext uri="{FF2B5EF4-FFF2-40B4-BE49-F238E27FC236}">
                <a16:creationId xmlns:a16="http://schemas.microsoft.com/office/drawing/2014/main" id="{CBE4D9D8-56C6-4D2D-B615-9EAC03035AD5}"/>
              </a:ext>
            </a:extLst>
          </p:cNvPr>
          <p:cNvSpPr>
            <a:spLocks noGrp="1"/>
          </p:cNvSpPr>
          <p:nvPr>
            <p:ph sz="quarter" idx="10"/>
          </p:nvPr>
        </p:nvSpPr>
        <p:spPr/>
        <p:txBody>
          <a:bodyPr/>
          <a:lstStyle/>
          <a:p>
            <a:r>
              <a:rPr lang="en-IN" dirty="0"/>
              <a:t>Steps in implementing Blackboard</a:t>
            </a:r>
          </a:p>
        </p:txBody>
      </p:sp>
      <p:sp>
        <p:nvSpPr>
          <p:cNvPr id="4" name="Content Placeholder 3">
            <a:extLst>
              <a:ext uri="{FF2B5EF4-FFF2-40B4-BE49-F238E27FC236}">
                <a16:creationId xmlns:a16="http://schemas.microsoft.com/office/drawing/2014/main" id="{A1A638F2-B8A8-4F22-BD3E-84D6A3B46AB8}"/>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B6687D9E-B431-4D42-8262-33C74139D95A}"/>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5B6E7407-2B2B-4ACF-88B7-65AEB807EC2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78B3F268-008D-4D6C-980E-4F352FC00C5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1612114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CDCF19-E99F-4E03-A2C4-B0EB71E0FE2A}"/>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IN" dirty="0"/>
              <a:t>This architecture is used in the OPS language. </a:t>
            </a:r>
          </a:p>
          <a:p>
            <a:pPr>
              <a:buFont typeface="Arial" panose="020B0604020202020204" pitchFamily="34" charset="0"/>
              <a:buChar char="•"/>
            </a:pPr>
            <a:r>
              <a:rPr lang="en-IN" dirty="0"/>
              <a:t>In this variant subroutines are represented as condition- action rules, and data is globally available in working memory. </a:t>
            </a:r>
          </a:p>
          <a:p>
            <a:pPr>
              <a:buFont typeface="Arial" panose="020B0604020202020204" pitchFamily="34" charset="0"/>
              <a:buChar char="•"/>
            </a:pPr>
            <a:r>
              <a:rPr lang="en-IN" dirty="0"/>
              <a:t>Condition-action rules consist of a left-hand side that specifies a condition, and a right-hand side that specifies an action. </a:t>
            </a:r>
          </a:p>
          <a:p>
            <a:pPr>
              <a:buFont typeface="Arial" panose="020B0604020202020204" pitchFamily="34" charset="0"/>
              <a:buChar char="•"/>
            </a:pPr>
            <a:r>
              <a:rPr lang="en-IN" dirty="0"/>
              <a:t>The action is executed only if the condition is satisfied and the rule is selected. </a:t>
            </a:r>
          </a:p>
          <a:p>
            <a:pPr>
              <a:buFont typeface="Arial" panose="020B0604020202020204" pitchFamily="34" charset="0"/>
              <a:buChar char="•"/>
            </a:pPr>
            <a:r>
              <a:rPr lang="en-IN" dirty="0"/>
              <a:t>The selection is made by a 'conflict resolution module’. </a:t>
            </a:r>
          </a:p>
          <a:p>
            <a:pPr>
              <a:buFont typeface="Arial" panose="020B0604020202020204" pitchFamily="34" charset="0"/>
              <a:buChar char="•"/>
            </a:pPr>
            <a:r>
              <a:rPr lang="en-IN" dirty="0"/>
              <a:t>A Blackboard system can be regarded as a radical extension of the original production system formalism: arbitrary programs are allowed for both sides of the rules, and the internal complexity of the working memory is increased. </a:t>
            </a:r>
          </a:p>
          <a:p>
            <a:pPr>
              <a:buFont typeface="Arial" panose="020B0604020202020204" pitchFamily="34" charset="0"/>
              <a:buChar char="•"/>
            </a:pPr>
            <a:r>
              <a:rPr lang="en-IN" dirty="0"/>
              <a:t>Complicated scheduling algorithms are used for conflict- resolution.</a:t>
            </a:r>
          </a:p>
        </p:txBody>
      </p:sp>
      <p:sp>
        <p:nvSpPr>
          <p:cNvPr id="3" name="Content Placeholder 2">
            <a:extLst>
              <a:ext uri="{FF2B5EF4-FFF2-40B4-BE49-F238E27FC236}">
                <a16:creationId xmlns:a16="http://schemas.microsoft.com/office/drawing/2014/main" id="{DB2B2B87-D623-4381-891B-24F039C3D435}"/>
              </a:ext>
            </a:extLst>
          </p:cNvPr>
          <p:cNvSpPr>
            <a:spLocks noGrp="1"/>
          </p:cNvSpPr>
          <p:nvPr>
            <p:ph sz="quarter" idx="10"/>
          </p:nvPr>
        </p:nvSpPr>
        <p:spPr/>
        <p:txBody>
          <a:bodyPr/>
          <a:lstStyle/>
          <a:p>
            <a:r>
              <a:rPr lang="en-IN" dirty="0"/>
              <a:t>Variant:  Production System</a:t>
            </a:r>
          </a:p>
        </p:txBody>
      </p:sp>
      <p:sp>
        <p:nvSpPr>
          <p:cNvPr id="5" name="Date Placeholder 4">
            <a:extLst>
              <a:ext uri="{FF2B5EF4-FFF2-40B4-BE49-F238E27FC236}">
                <a16:creationId xmlns:a16="http://schemas.microsoft.com/office/drawing/2014/main" id="{3F904159-4128-47B7-BFF4-34777D77AEC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EE90707B-6F9F-4E55-9940-DE17274FC07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395D590-40BC-4B06-B7EA-903AC1F7F58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052327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8CCE4F-B98E-4DA1-B69A-5AEE9A4BB642}"/>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N" dirty="0"/>
              <a:t>This variant is a generalization of the Blackboard pattern. </a:t>
            </a:r>
          </a:p>
          <a:p>
            <a:pPr>
              <a:buFont typeface="Arial" panose="020B0604020202020204" pitchFamily="34" charset="0"/>
              <a:buChar char="•"/>
            </a:pPr>
            <a:r>
              <a:rPr lang="en-IN" dirty="0"/>
              <a:t>The central data structure of this variant is called a repository. </a:t>
            </a:r>
          </a:p>
          <a:p>
            <a:pPr>
              <a:buFont typeface="Arial" panose="020B0604020202020204" pitchFamily="34" charset="0"/>
              <a:buChar char="•"/>
            </a:pPr>
            <a:r>
              <a:rPr lang="en-IN" dirty="0"/>
              <a:t>In a Blackboard architecture the current state of the central data structure, in conjunction with the Control component, finally activates knowledge sources. </a:t>
            </a:r>
          </a:p>
          <a:p>
            <a:pPr>
              <a:buFont typeface="Arial" panose="020B0604020202020204" pitchFamily="34" charset="0"/>
              <a:buChar char="•"/>
            </a:pPr>
            <a:r>
              <a:rPr lang="en-IN" dirty="0"/>
              <a:t>In contrast, the Repository pattern does not specify an internal control. </a:t>
            </a:r>
          </a:p>
          <a:p>
            <a:pPr>
              <a:buFont typeface="Arial" panose="020B0604020202020204" pitchFamily="34" charset="0"/>
              <a:buChar char="•"/>
            </a:pPr>
            <a:r>
              <a:rPr lang="en-IN" dirty="0"/>
              <a:t>A repository architecture may be controlled by user input or by an external program. </a:t>
            </a:r>
          </a:p>
          <a:p>
            <a:pPr>
              <a:buFont typeface="Arial" panose="020B0604020202020204" pitchFamily="34" charset="0"/>
              <a:buChar char="•"/>
            </a:pPr>
            <a:r>
              <a:rPr lang="en-IN" dirty="0"/>
              <a:t>A traditional database, for example, can be considered as a repository. </a:t>
            </a:r>
          </a:p>
          <a:p>
            <a:pPr>
              <a:buFont typeface="Arial" panose="020B0604020202020204" pitchFamily="34" charset="0"/>
              <a:buChar char="•"/>
            </a:pPr>
            <a:r>
              <a:rPr lang="en-IN" dirty="0"/>
              <a:t>Application programs working on the database correspond to the knowledge sources in the Blackboard architecture</a:t>
            </a:r>
          </a:p>
        </p:txBody>
      </p:sp>
      <p:sp>
        <p:nvSpPr>
          <p:cNvPr id="3" name="Content Placeholder 2">
            <a:extLst>
              <a:ext uri="{FF2B5EF4-FFF2-40B4-BE49-F238E27FC236}">
                <a16:creationId xmlns:a16="http://schemas.microsoft.com/office/drawing/2014/main" id="{A0FFC3DD-8C75-45A5-AE66-0B2CB000B680}"/>
              </a:ext>
            </a:extLst>
          </p:cNvPr>
          <p:cNvSpPr>
            <a:spLocks noGrp="1"/>
          </p:cNvSpPr>
          <p:nvPr>
            <p:ph sz="quarter" idx="10"/>
          </p:nvPr>
        </p:nvSpPr>
        <p:spPr/>
        <p:txBody>
          <a:bodyPr/>
          <a:lstStyle/>
          <a:p>
            <a:r>
              <a:rPr lang="en-IN" dirty="0"/>
              <a:t>Variant: Repository. </a:t>
            </a:r>
          </a:p>
        </p:txBody>
      </p:sp>
      <p:sp>
        <p:nvSpPr>
          <p:cNvPr id="5" name="Date Placeholder 4">
            <a:extLst>
              <a:ext uri="{FF2B5EF4-FFF2-40B4-BE49-F238E27FC236}">
                <a16:creationId xmlns:a16="http://schemas.microsoft.com/office/drawing/2014/main" id="{C8B00358-683F-4E5A-B487-B98D0F50E86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2A547D1-7DA9-4C0A-9740-C48A031CBA8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A3FD0C8-D5BD-419B-B532-5F305E08024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0788835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B3E5BD-3573-49AF-B8C2-51B60569B2F8}"/>
              </a:ext>
            </a:extLst>
          </p:cNvPr>
          <p:cNvSpPr>
            <a:spLocks noGrp="1"/>
          </p:cNvSpPr>
          <p:nvPr>
            <p:ph idx="1"/>
          </p:nvPr>
        </p:nvSpPr>
        <p:spPr>
          <a:xfrm>
            <a:off x="304800" y="1493837"/>
            <a:ext cx="8229600" cy="5135563"/>
          </a:xfrm>
        </p:spPr>
        <p:txBody>
          <a:bodyPr>
            <a:normAutofit lnSpcReduction="10000"/>
          </a:bodyPr>
          <a:lstStyle/>
          <a:p>
            <a:r>
              <a:rPr lang="en-IN" sz="1800" dirty="0"/>
              <a:t>HEARSAY-11. </a:t>
            </a:r>
          </a:p>
          <a:p>
            <a:pPr>
              <a:buFont typeface="Arial" panose="020B0604020202020204" pitchFamily="34" charset="0"/>
              <a:buChar char="•"/>
            </a:pPr>
            <a:r>
              <a:rPr lang="en-IN" sz="1800" dirty="0"/>
              <a:t>The first Blackboard system was the HEARSAY-I1 speech recognition system from the early 1970's. It was developed as a natural language interface to a literature database.</a:t>
            </a:r>
          </a:p>
          <a:p>
            <a:pPr marL="0" indent="0"/>
            <a:r>
              <a:rPr lang="en-IN" sz="1800" dirty="0"/>
              <a:t>HASP/SIAP. </a:t>
            </a:r>
          </a:p>
          <a:p>
            <a:pPr>
              <a:buFont typeface="Arial" panose="020B0604020202020204" pitchFamily="34" charset="0"/>
              <a:buChar char="•"/>
            </a:pPr>
            <a:r>
              <a:rPr lang="en-IN" sz="1800" dirty="0"/>
              <a:t>The HASP system was designed to detect enemy submarines. In this system, hydrophone arrays monitor a sea area by collecting sonar signals.</a:t>
            </a:r>
          </a:p>
          <a:p>
            <a:pPr marL="0" indent="0"/>
            <a:r>
              <a:rPr lang="en-IN" sz="1800" dirty="0"/>
              <a:t>CRYSALIS. </a:t>
            </a:r>
          </a:p>
          <a:p>
            <a:pPr>
              <a:buFont typeface="Arial" panose="020B0604020202020204" pitchFamily="34" charset="0"/>
              <a:buChar char="•"/>
            </a:pPr>
            <a:r>
              <a:rPr lang="en-IN" sz="1800" dirty="0"/>
              <a:t>This system was designed to infer the three-dimensional structure of protein molecules from X-ray diffraction data</a:t>
            </a:r>
          </a:p>
          <a:p>
            <a:pPr marL="0" indent="0"/>
            <a:r>
              <a:rPr lang="en-IN" sz="1800" dirty="0"/>
              <a:t>TRICERO. </a:t>
            </a:r>
          </a:p>
          <a:p>
            <a:pPr>
              <a:buFont typeface="Arial" panose="020B0604020202020204" pitchFamily="34" charset="0"/>
              <a:buChar char="•"/>
            </a:pPr>
            <a:r>
              <a:rPr lang="en-IN" sz="1800" dirty="0"/>
              <a:t>This system monitors aircraft activities</a:t>
            </a:r>
          </a:p>
          <a:p>
            <a:pPr marL="0" indent="0"/>
            <a:r>
              <a:rPr lang="en-IN" sz="1800" dirty="0"/>
              <a:t>SUS: 'Software Understanding System</a:t>
            </a:r>
          </a:p>
          <a:p>
            <a:pPr>
              <a:buFont typeface="Arial" panose="020B0604020202020204" pitchFamily="34" charset="0"/>
              <a:buChar char="•"/>
            </a:pPr>
            <a:r>
              <a:rPr lang="en-IN" sz="1800" dirty="0"/>
              <a:t>In a matching process the system compares patterns from a pattern base to the system under analysis. </a:t>
            </a:r>
          </a:p>
          <a:p>
            <a:pPr>
              <a:buFont typeface="Arial" panose="020B0604020202020204" pitchFamily="34" charset="0"/>
              <a:buChar char="•"/>
            </a:pPr>
            <a:r>
              <a:rPr lang="en-IN" sz="1800" dirty="0"/>
              <a:t>SUS incrementally builds a 'pattern map' of the </a:t>
            </a:r>
            <a:r>
              <a:rPr lang="en-IN" sz="1800" dirty="0" err="1"/>
              <a:t>analyzed</a:t>
            </a:r>
            <a:r>
              <a:rPr lang="en-IN" sz="1800" dirty="0"/>
              <a:t> software that then can be viewed.</a:t>
            </a:r>
          </a:p>
        </p:txBody>
      </p:sp>
      <p:sp>
        <p:nvSpPr>
          <p:cNvPr id="3" name="Content Placeholder 2">
            <a:extLst>
              <a:ext uri="{FF2B5EF4-FFF2-40B4-BE49-F238E27FC236}">
                <a16:creationId xmlns:a16="http://schemas.microsoft.com/office/drawing/2014/main" id="{0C3E7B1E-C12C-4BCE-91B4-A41EB6E79DD1}"/>
              </a:ext>
            </a:extLst>
          </p:cNvPr>
          <p:cNvSpPr>
            <a:spLocks noGrp="1"/>
          </p:cNvSpPr>
          <p:nvPr>
            <p:ph sz="quarter" idx="10"/>
          </p:nvPr>
        </p:nvSpPr>
        <p:spPr/>
        <p:txBody>
          <a:bodyPr/>
          <a:lstStyle/>
          <a:p>
            <a:r>
              <a:rPr lang="en-IN" dirty="0"/>
              <a:t>Known Usages</a:t>
            </a:r>
          </a:p>
        </p:txBody>
      </p:sp>
      <p:sp>
        <p:nvSpPr>
          <p:cNvPr id="5" name="Date Placeholder 4">
            <a:extLst>
              <a:ext uri="{FF2B5EF4-FFF2-40B4-BE49-F238E27FC236}">
                <a16:creationId xmlns:a16="http://schemas.microsoft.com/office/drawing/2014/main" id="{45765135-25F9-4EF6-A03F-A95449D9D0D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43BFD717-848C-4929-87E4-AF3B2BA8826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a:extLst>
              <a:ext uri="{FF2B5EF4-FFF2-40B4-BE49-F238E27FC236}">
                <a16:creationId xmlns:a16="http://schemas.microsoft.com/office/drawing/2014/main" id="{D0A7678C-4728-425F-893A-4782247801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82744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4CC18-50C5-B294-9F32-4748D6308CC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79D0E3-557D-F05F-D16F-57DD43443116}"/>
              </a:ext>
            </a:extLst>
          </p:cNvPr>
          <p:cNvSpPr>
            <a:spLocks noGrp="1"/>
          </p:cNvSpPr>
          <p:nvPr>
            <p:ph idx="1"/>
          </p:nvPr>
        </p:nvSpPr>
        <p:spPr/>
        <p:txBody>
          <a:bodyPr/>
          <a:lstStyle/>
          <a:p>
            <a:r>
              <a:rPr lang="en-IN" dirty="0"/>
              <a:t>End of Part 2 or 4</a:t>
            </a:r>
          </a:p>
        </p:txBody>
      </p:sp>
      <p:sp>
        <p:nvSpPr>
          <p:cNvPr id="3" name="Content Placeholder 2">
            <a:extLst>
              <a:ext uri="{FF2B5EF4-FFF2-40B4-BE49-F238E27FC236}">
                <a16:creationId xmlns:a16="http://schemas.microsoft.com/office/drawing/2014/main" id="{6361F7C7-9750-9D77-8FD2-DD1A5F4F7B9C}"/>
              </a:ext>
            </a:extLst>
          </p:cNvPr>
          <p:cNvSpPr>
            <a:spLocks noGrp="1"/>
          </p:cNvSpPr>
          <p:nvPr>
            <p:ph sz="quarter" idx="10"/>
          </p:nvPr>
        </p:nvSpPr>
        <p:spPr/>
        <p:txBody>
          <a:bodyPr/>
          <a:lstStyle/>
          <a:p>
            <a:r>
              <a:rPr lang="en-IN" dirty="0"/>
              <a:t>Thank you</a:t>
            </a:r>
          </a:p>
        </p:txBody>
      </p:sp>
      <p:sp>
        <p:nvSpPr>
          <p:cNvPr id="4" name="Date Placeholder 3">
            <a:extLst>
              <a:ext uri="{FF2B5EF4-FFF2-40B4-BE49-F238E27FC236}">
                <a16:creationId xmlns:a16="http://schemas.microsoft.com/office/drawing/2014/main" id="{2C9C5674-1F4B-766E-BAC7-5B182518703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A58FABDD-E57D-FBAA-90DC-B9DB84099CD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973BCE4-EB7E-87A5-DB9F-06D27E677551}"/>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013468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3810000"/>
            <a:ext cx="6553200" cy="1524000"/>
          </a:xfrm>
        </p:spPr>
        <p:txBody>
          <a:bodyPr/>
          <a:lstStyle/>
          <a:p>
            <a:r>
              <a:rPr lang="en-US" sz="3200" dirty="0"/>
              <a:t>Module </a:t>
            </a:r>
            <a:r>
              <a:rPr lang="en-US" sz="3200"/>
              <a:t>6 CS09</a:t>
            </a:r>
            <a:br>
              <a:rPr lang="en-US" sz="3600" dirty="0"/>
            </a:br>
            <a:r>
              <a:rPr lang="en-US" sz="2400" dirty="0"/>
              <a:t>Patterns – Part 3 </a:t>
            </a:r>
            <a:r>
              <a:rPr lang="en-IN" sz="2400" dirty="0"/>
              <a:t>Distributed Systems Brokers/Bridge</a:t>
            </a:r>
            <a:endParaRPr lang="en-US" sz="2400" dirty="0"/>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69</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 ZG651/ SS 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October 3, 2026</a:t>
            </a:r>
          </a:p>
        </p:txBody>
      </p:sp>
    </p:spTree>
    <p:extLst>
      <p:ext uri="{BB962C8B-B14F-4D97-AF65-F5344CB8AC3E}">
        <p14:creationId xmlns:p14="http://schemas.microsoft.com/office/powerpoint/2010/main" val="36541415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3B2218-2420-40DD-9767-B6FD2B77F361}"/>
              </a:ext>
            </a:extLst>
          </p:cNvPr>
          <p:cNvSpPr>
            <a:spLocks noGrp="1"/>
          </p:cNvSpPr>
          <p:nvPr>
            <p:ph idx="1"/>
          </p:nvPr>
        </p:nvSpPr>
        <p:spPr>
          <a:xfrm>
            <a:off x="304800" y="1493837"/>
            <a:ext cx="8763000" cy="5364163"/>
          </a:xfrm>
        </p:spPr>
        <p:txBody>
          <a:bodyPr>
            <a:normAutofit fontScale="55000" lnSpcReduction="20000"/>
          </a:bodyPr>
          <a:lstStyle/>
          <a:p>
            <a:r>
              <a:rPr lang="en-IN" dirty="0"/>
              <a:t>From Mud to Structure. </a:t>
            </a:r>
          </a:p>
          <a:p>
            <a:pPr>
              <a:buFont typeface="Arial" panose="020B0604020202020204" pitchFamily="34" charset="0"/>
              <a:buChar char="•"/>
            </a:pPr>
            <a:r>
              <a:rPr lang="en-IN" dirty="0"/>
              <a:t>Patterns in this category help you to avoid a 'sea' of components or objects. </a:t>
            </a:r>
          </a:p>
          <a:p>
            <a:pPr>
              <a:buFont typeface="Arial" panose="020B0604020202020204" pitchFamily="34" charset="0"/>
              <a:buChar char="•"/>
            </a:pPr>
            <a:r>
              <a:rPr lang="en-IN" dirty="0"/>
              <a:t>In particular, they support a controlled decomposition of an overall system task into cooperating subtasks. </a:t>
            </a:r>
          </a:p>
          <a:p>
            <a:pPr>
              <a:buFont typeface="Arial" panose="020B0604020202020204" pitchFamily="34" charset="0"/>
              <a:buChar char="•"/>
            </a:pPr>
            <a:r>
              <a:rPr lang="en-IN" dirty="0"/>
              <a:t>The category includes </a:t>
            </a:r>
          </a:p>
          <a:p>
            <a:pPr lvl="1">
              <a:buFont typeface="Arial" panose="020B0604020202020204" pitchFamily="34" charset="0"/>
              <a:buChar char="•"/>
            </a:pPr>
            <a:r>
              <a:rPr lang="en-IN" dirty="0"/>
              <a:t>the Layers pattern </a:t>
            </a:r>
          </a:p>
          <a:p>
            <a:pPr lvl="1">
              <a:buFont typeface="Arial" panose="020B0604020202020204" pitchFamily="34" charset="0"/>
              <a:buChar char="•"/>
            </a:pPr>
            <a:r>
              <a:rPr lang="en-IN" dirty="0"/>
              <a:t>the Pipes and Filters pattern </a:t>
            </a:r>
          </a:p>
          <a:p>
            <a:pPr lvl="1">
              <a:buFont typeface="Arial" panose="020B0604020202020204" pitchFamily="34" charset="0"/>
              <a:buChar char="•"/>
            </a:pPr>
            <a:r>
              <a:rPr lang="en-IN" dirty="0"/>
              <a:t>the Blackboard pattern</a:t>
            </a:r>
          </a:p>
          <a:p>
            <a:r>
              <a:rPr lang="en-IN" dirty="0"/>
              <a:t>Distributed Systems. </a:t>
            </a:r>
          </a:p>
          <a:p>
            <a:pPr>
              <a:buFont typeface="Arial" panose="020B0604020202020204" pitchFamily="34" charset="0"/>
              <a:buChar char="•"/>
            </a:pPr>
            <a:r>
              <a:rPr lang="en-IN" dirty="0"/>
              <a:t>This category includes one pattern. </a:t>
            </a:r>
          </a:p>
          <a:p>
            <a:pPr lvl="1">
              <a:buFont typeface="Arial" panose="020B0604020202020204" pitchFamily="34" charset="0"/>
              <a:buChar char="•"/>
            </a:pPr>
            <a:r>
              <a:rPr lang="en-IN" dirty="0"/>
              <a:t>Broker </a:t>
            </a:r>
          </a:p>
          <a:p>
            <a:pPr>
              <a:buFont typeface="Arial" panose="020B0604020202020204" pitchFamily="34" charset="0"/>
              <a:buChar char="•"/>
            </a:pPr>
            <a:r>
              <a:rPr lang="en-IN" dirty="0"/>
              <a:t>and refers to two patterns in other categories, </a:t>
            </a:r>
          </a:p>
          <a:p>
            <a:pPr lvl="1">
              <a:buFont typeface="Arial" panose="020B0604020202020204" pitchFamily="34" charset="0"/>
              <a:buChar char="•"/>
            </a:pPr>
            <a:r>
              <a:rPr lang="en-IN" dirty="0"/>
              <a:t>Microkernel</a:t>
            </a:r>
          </a:p>
          <a:p>
            <a:pPr lvl="1">
              <a:buFont typeface="Arial" panose="020B0604020202020204" pitchFamily="34" charset="0"/>
              <a:buChar char="•"/>
            </a:pPr>
            <a:r>
              <a:rPr lang="en-IN" dirty="0"/>
              <a:t>Pipes and Filters </a:t>
            </a:r>
          </a:p>
          <a:p>
            <a:pPr>
              <a:buFont typeface="Arial" panose="020B0604020202020204" pitchFamily="34" charset="0"/>
              <a:buChar char="•"/>
            </a:pPr>
            <a:r>
              <a:rPr lang="en-IN" dirty="0"/>
              <a:t>The Broker pattern provides a complete infrastructure for distributed applications. </a:t>
            </a:r>
          </a:p>
          <a:p>
            <a:pPr>
              <a:buFont typeface="Arial" panose="020B0604020202020204" pitchFamily="34" charset="0"/>
              <a:buChar char="•"/>
            </a:pPr>
            <a:r>
              <a:rPr lang="en-IN" dirty="0"/>
              <a:t>The Microkernel and Pipes and Filters patterns only consider distribution as a secondary concern and are therefore listed under their respective primary categories. </a:t>
            </a:r>
          </a:p>
          <a:p>
            <a:r>
              <a:rPr lang="en-IN" dirty="0"/>
              <a:t>Interactive Systems. </a:t>
            </a:r>
          </a:p>
          <a:p>
            <a:pPr>
              <a:buFont typeface="Arial" panose="020B0604020202020204" pitchFamily="34" charset="0"/>
              <a:buChar char="•"/>
            </a:pPr>
            <a:r>
              <a:rPr lang="en-IN" dirty="0"/>
              <a:t>This category comprises two patterns, </a:t>
            </a:r>
          </a:p>
          <a:p>
            <a:pPr lvl="1">
              <a:buFont typeface="Arial" panose="020B0604020202020204" pitchFamily="34" charset="0"/>
              <a:buChar char="•"/>
            </a:pPr>
            <a:r>
              <a:rPr lang="en-IN" dirty="0"/>
              <a:t>the Model-View-Controller pattern (well-known from Smalltalk,)</a:t>
            </a:r>
          </a:p>
          <a:p>
            <a:pPr lvl="1">
              <a:buFont typeface="Arial" panose="020B0604020202020204" pitchFamily="34" charset="0"/>
              <a:buChar char="•"/>
            </a:pPr>
            <a:r>
              <a:rPr lang="en-IN" dirty="0"/>
              <a:t>the Presentation-Abstraction-Control pattern. </a:t>
            </a:r>
          </a:p>
          <a:p>
            <a:pPr>
              <a:buFont typeface="Arial" panose="020B0604020202020204" pitchFamily="34" charset="0"/>
              <a:buChar char="•"/>
            </a:pPr>
            <a:r>
              <a:rPr lang="en-IN" dirty="0"/>
              <a:t>Both patterns support the structuring of software systems that feature human-computer interaction. </a:t>
            </a:r>
          </a:p>
          <a:p>
            <a:pPr marL="0" indent="0"/>
            <a:r>
              <a:rPr lang="en-IN" dirty="0"/>
              <a:t>Adaptable Systems. </a:t>
            </a:r>
          </a:p>
          <a:p>
            <a:pPr>
              <a:buFont typeface="Arial" panose="020B0604020202020204" pitchFamily="34" charset="0"/>
              <a:buChar char="•"/>
            </a:pPr>
            <a:r>
              <a:rPr lang="en-IN" dirty="0"/>
              <a:t>This category includes</a:t>
            </a:r>
          </a:p>
          <a:p>
            <a:pPr lvl="1">
              <a:buFont typeface="Arial" panose="020B0604020202020204" pitchFamily="34" charset="0"/>
              <a:buChar char="•"/>
            </a:pPr>
            <a:r>
              <a:rPr lang="en-IN" dirty="0"/>
              <a:t>The Reflection pattern </a:t>
            </a:r>
          </a:p>
          <a:p>
            <a:pPr lvl="1">
              <a:buFont typeface="Arial" panose="020B0604020202020204" pitchFamily="34" charset="0"/>
              <a:buChar char="•"/>
            </a:pPr>
            <a:r>
              <a:rPr lang="en-IN" dirty="0"/>
              <a:t>the Microkernel pattern </a:t>
            </a:r>
          </a:p>
          <a:p>
            <a:pPr>
              <a:buFont typeface="Arial" panose="020B0604020202020204" pitchFamily="34" charset="0"/>
              <a:buChar char="•"/>
            </a:pPr>
            <a:r>
              <a:rPr lang="en-IN" dirty="0"/>
              <a:t>strongly support extension of applications and their adaptation to evolving technology and changing functional requirements. </a:t>
            </a:r>
          </a:p>
        </p:txBody>
      </p:sp>
      <p:sp>
        <p:nvSpPr>
          <p:cNvPr id="3" name="Content Placeholder 2">
            <a:extLst>
              <a:ext uri="{FF2B5EF4-FFF2-40B4-BE49-F238E27FC236}">
                <a16:creationId xmlns:a16="http://schemas.microsoft.com/office/drawing/2014/main" id="{32007265-0CB3-4700-AADA-FC3DBBD81B0B}"/>
              </a:ext>
            </a:extLst>
          </p:cNvPr>
          <p:cNvSpPr>
            <a:spLocks noGrp="1"/>
          </p:cNvSpPr>
          <p:nvPr>
            <p:ph sz="quarter" idx="10"/>
          </p:nvPr>
        </p:nvSpPr>
        <p:spPr/>
        <p:txBody>
          <a:bodyPr/>
          <a:lstStyle/>
          <a:p>
            <a:r>
              <a:rPr lang="en-IN" dirty="0"/>
              <a:t>Categories</a:t>
            </a:r>
          </a:p>
        </p:txBody>
      </p:sp>
      <p:sp>
        <p:nvSpPr>
          <p:cNvPr id="5" name="Date Placeholder 4">
            <a:extLst>
              <a:ext uri="{FF2B5EF4-FFF2-40B4-BE49-F238E27FC236}">
                <a16:creationId xmlns:a16="http://schemas.microsoft.com/office/drawing/2014/main" id="{D7D7129D-8E69-4D7D-8A25-48F8A2042F2D}"/>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F4F2A314-9096-4C83-BC8C-A040BE391E87}"/>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E1E0E476-2B26-44EE-8FD1-7F31241A36DA}"/>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Tree>
    <p:extLst>
      <p:ext uri="{BB962C8B-B14F-4D97-AF65-F5344CB8AC3E}">
        <p14:creationId xmlns:p14="http://schemas.microsoft.com/office/powerpoint/2010/main" val="41805564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881F94-A9A4-43D2-8BD3-41EF58BF95F8}"/>
              </a:ext>
            </a:extLst>
          </p:cNvPr>
          <p:cNvSpPr>
            <a:spLocks noGrp="1"/>
          </p:cNvSpPr>
          <p:nvPr>
            <p:ph idx="1"/>
          </p:nvPr>
        </p:nvSpPr>
        <p:spPr/>
        <p:txBody>
          <a:bodyPr>
            <a:normAutofit/>
          </a:bodyPr>
          <a:lstStyle/>
          <a:p>
            <a:pPr>
              <a:buFont typeface="Arial" panose="020B0604020202020204" pitchFamily="34" charset="0"/>
              <a:buChar char="•"/>
            </a:pPr>
            <a:r>
              <a:rPr lang="en-IN" dirty="0"/>
              <a:t>Broker </a:t>
            </a:r>
          </a:p>
          <a:p>
            <a:pPr lvl="1">
              <a:buFont typeface="Arial" panose="020B0604020202020204" pitchFamily="34" charset="0"/>
              <a:buChar char="•"/>
            </a:pPr>
            <a:r>
              <a:rPr lang="en-IN" dirty="0"/>
              <a:t>The Microkernel and Pipes and Filters patterns only consider distribution as a secondary concern and are therefore listed under their respective primary categories.</a:t>
            </a:r>
            <a:endParaRPr lang="en-IN" sz="3600" dirty="0"/>
          </a:p>
        </p:txBody>
      </p:sp>
      <p:sp>
        <p:nvSpPr>
          <p:cNvPr id="3" name="Content Placeholder 2">
            <a:extLst>
              <a:ext uri="{FF2B5EF4-FFF2-40B4-BE49-F238E27FC236}">
                <a16:creationId xmlns:a16="http://schemas.microsoft.com/office/drawing/2014/main" id="{128F28FE-0E57-4CC3-845C-C6969616A8E2}"/>
              </a:ext>
            </a:extLst>
          </p:cNvPr>
          <p:cNvSpPr>
            <a:spLocks noGrp="1"/>
          </p:cNvSpPr>
          <p:nvPr>
            <p:ph sz="quarter" idx="10"/>
          </p:nvPr>
        </p:nvSpPr>
        <p:spPr/>
        <p:txBody>
          <a:bodyPr/>
          <a:lstStyle/>
          <a:p>
            <a:r>
              <a:rPr lang="en-IN" dirty="0"/>
              <a:t>Distributed Systems</a:t>
            </a:r>
          </a:p>
        </p:txBody>
      </p:sp>
      <p:sp>
        <p:nvSpPr>
          <p:cNvPr id="5" name="Date Placeholder 4">
            <a:extLst>
              <a:ext uri="{FF2B5EF4-FFF2-40B4-BE49-F238E27FC236}">
                <a16:creationId xmlns:a16="http://schemas.microsoft.com/office/drawing/2014/main" id="{8656C25F-0DFD-4778-8F00-AC8929237E02}"/>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703E3BA7-D5D8-481C-BF0C-F6D42E5E39DE}"/>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95D35A6B-8A7B-422F-BF94-4465A1EE1D7D}"/>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Tree>
    <p:extLst>
      <p:ext uri="{BB962C8B-B14F-4D97-AF65-F5344CB8AC3E}">
        <p14:creationId xmlns:p14="http://schemas.microsoft.com/office/powerpoint/2010/main" val="28452036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552019-C85E-471A-89B6-69514F14627D}"/>
              </a:ext>
            </a:extLst>
          </p:cNvPr>
          <p:cNvSpPr>
            <a:spLocks noGrp="1"/>
          </p:cNvSpPr>
          <p:nvPr>
            <p:ph sz="quarter" idx="10"/>
          </p:nvPr>
        </p:nvSpPr>
        <p:spPr/>
        <p:txBody>
          <a:bodyPr/>
          <a:lstStyle/>
          <a:p>
            <a:r>
              <a:rPr lang="en-IN" dirty="0"/>
              <a:t>Distributed Systems</a:t>
            </a:r>
            <a:r>
              <a:rPr lang="en-IN"/>
              <a:t>: Broker</a:t>
            </a:r>
            <a:endParaRPr lang="en-IN" dirty="0"/>
          </a:p>
        </p:txBody>
      </p:sp>
      <p:sp>
        <p:nvSpPr>
          <p:cNvPr id="3" name="Date Placeholder 2">
            <a:extLst>
              <a:ext uri="{FF2B5EF4-FFF2-40B4-BE49-F238E27FC236}">
                <a16:creationId xmlns:a16="http://schemas.microsoft.com/office/drawing/2014/main" id="{F624AF60-4A17-4880-BF35-131BA2B19202}"/>
              </a:ext>
            </a:extLst>
          </p:cNvPr>
          <p:cNvSpPr>
            <a:spLocks noGrp="1"/>
          </p:cNvSpPr>
          <p:nvPr>
            <p:ph type="dt" sz="half" idx="11"/>
          </p:nvPr>
        </p:nvSpPr>
        <p:spPr/>
        <p:txBody>
          <a:bodyPr/>
          <a:lstStyle/>
          <a:p>
            <a:r>
              <a:rPr lang="en-US"/>
              <a:t>October 3, 2026</a:t>
            </a:r>
            <a:endParaRPr lang="en-US" dirty="0"/>
          </a:p>
        </p:txBody>
      </p:sp>
      <p:sp>
        <p:nvSpPr>
          <p:cNvPr id="4" name="Footer Placeholder 3">
            <a:extLst>
              <a:ext uri="{FF2B5EF4-FFF2-40B4-BE49-F238E27FC236}">
                <a16:creationId xmlns:a16="http://schemas.microsoft.com/office/drawing/2014/main" id="{6E924E8A-B621-4282-B5E6-FDBF9F913395}"/>
              </a:ext>
            </a:extLst>
          </p:cNvPr>
          <p:cNvSpPr>
            <a:spLocks noGrp="1"/>
          </p:cNvSpPr>
          <p:nvPr>
            <p:ph type="ftr" sz="quarter" idx="12"/>
          </p:nvPr>
        </p:nvSpPr>
        <p:spPr/>
        <p:txBody>
          <a:bodyPr/>
          <a:lstStyle/>
          <a:p>
            <a:r>
              <a:rPr lang="en-US"/>
              <a:t>SE ZG651/ SS ZG653 Software Architectures</a:t>
            </a:r>
            <a:endParaRPr lang="en-US" dirty="0"/>
          </a:p>
        </p:txBody>
      </p:sp>
      <p:sp>
        <p:nvSpPr>
          <p:cNvPr id="5" name="Slide Number Placeholder 4">
            <a:extLst>
              <a:ext uri="{FF2B5EF4-FFF2-40B4-BE49-F238E27FC236}">
                <a16:creationId xmlns:a16="http://schemas.microsoft.com/office/drawing/2014/main" id="{711F640F-C806-496A-9FCD-2CE051181EB6}"/>
              </a:ext>
            </a:extLst>
          </p:cNvPr>
          <p:cNvSpPr>
            <a:spLocks noGrp="1"/>
          </p:cNvSpPr>
          <p:nvPr>
            <p:ph type="sldNum" sz="quarter" idx="13"/>
          </p:nvPr>
        </p:nvSpPr>
        <p:spPr/>
        <p:txBody>
          <a:bodyPr/>
          <a:lstStyle/>
          <a:p>
            <a:fld id="{BC8D7E44-7D4F-4942-A8C9-2DF6BF8399E8}" type="slidenum">
              <a:rPr lang="en-US" smtClean="0"/>
              <a:pPr/>
              <a:t>72</a:t>
            </a:fld>
            <a:endParaRPr lang="en-US" dirty="0"/>
          </a:p>
        </p:txBody>
      </p:sp>
    </p:spTree>
    <p:extLst>
      <p:ext uri="{BB962C8B-B14F-4D97-AF65-F5344CB8AC3E}">
        <p14:creationId xmlns:p14="http://schemas.microsoft.com/office/powerpoint/2010/main" val="35081204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IN" dirty="0"/>
              <a:t>The Broker architectural pattern can be used to </a:t>
            </a:r>
          </a:p>
          <a:p>
            <a:pPr lvl="2"/>
            <a:r>
              <a:rPr lang="en-IN" dirty="0"/>
              <a:t>structure distributed software systems </a:t>
            </a:r>
          </a:p>
          <a:p>
            <a:pPr lvl="2"/>
            <a:r>
              <a:rPr lang="en-IN" dirty="0"/>
              <a:t>with decoupled components </a:t>
            </a:r>
          </a:p>
          <a:p>
            <a:pPr lvl="2"/>
            <a:r>
              <a:rPr lang="en-IN" dirty="0"/>
              <a:t>that interact by remote service invocations. </a:t>
            </a:r>
          </a:p>
          <a:p>
            <a:pPr>
              <a:buFont typeface="Arial" panose="020B0604020202020204" pitchFamily="34" charset="0"/>
              <a:buChar char="•"/>
            </a:pPr>
            <a:r>
              <a:rPr lang="en-IN" dirty="0"/>
              <a:t>A broker component is responsible </a:t>
            </a:r>
          </a:p>
          <a:p>
            <a:pPr lvl="2"/>
            <a:r>
              <a:rPr lang="en-IN" dirty="0"/>
              <a:t>for coordinating communication, </a:t>
            </a:r>
          </a:p>
          <a:p>
            <a:pPr lvl="2"/>
            <a:r>
              <a:rPr lang="en-IN" dirty="0"/>
              <a:t>such as forwarding requests, </a:t>
            </a:r>
          </a:p>
          <a:p>
            <a:pPr lvl="2"/>
            <a:r>
              <a:rPr lang="en-IN" dirty="0"/>
              <a:t>as well as for transmitting results</a:t>
            </a:r>
          </a:p>
          <a:p>
            <a:pPr lvl="2"/>
            <a:r>
              <a:rPr lang="en-IN" dirty="0"/>
              <a:t>and exceptions. </a:t>
            </a:r>
            <a:endParaRPr lang="en-US" dirty="0"/>
          </a:p>
        </p:txBody>
      </p:sp>
      <p:sp>
        <p:nvSpPr>
          <p:cNvPr id="4" name="Content Placeholder 3"/>
          <p:cNvSpPr>
            <a:spLocks noGrp="1"/>
          </p:cNvSpPr>
          <p:nvPr>
            <p:ph sz="quarter" idx="10"/>
          </p:nvPr>
        </p:nvSpPr>
        <p:spPr/>
        <p:txBody>
          <a:bodyPr/>
          <a:lstStyle/>
          <a:p>
            <a:r>
              <a:rPr lang="en-US" dirty="0"/>
              <a:t>Broker</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October 3, 2026</a:t>
            </a:r>
          </a:p>
        </p:txBody>
      </p:sp>
    </p:spTree>
    <p:extLst>
      <p:ext uri="{BB962C8B-B14F-4D97-AF65-F5344CB8AC3E}">
        <p14:creationId xmlns:p14="http://schemas.microsoft.com/office/powerpoint/2010/main" val="9189872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A10F3F-CC98-425D-8861-0A323CA11037}"/>
              </a:ext>
            </a:extLst>
          </p:cNvPr>
          <p:cNvSpPr>
            <a:spLocks noGrp="1"/>
          </p:cNvSpPr>
          <p:nvPr>
            <p:ph idx="1"/>
          </p:nvPr>
        </p:nvSpPr>
        <p:spPr/>
        <p:txBody>
          <a:bodyPr/>
          <a:lstStyle/>
          <a:p>
            <a:pPr>
              <a:buFont typeface="Arial" panose="020B0604020202020204" pitchFamily="34" charset="0"/>
              <a:buChar char="•"/>
            </a:pPr>
            <a:r>
              <a:rPr lang="en-IN" dirty="0"/>
              <a:t>Your environment is a </a:t>
            </a:r>
          </a:p>
          <a:p>
            <a:pPr lvl="2"/>
            <a:r>
              <a:rPr lang="en-IN" dirty="0"/>
              <a:t>distributed and </a:t>
            </a:r>
          </a:p>
          <a:p>
            <a:pPr lvl="2"/>
            <a:r>
              <a:rPr lang="en-IN" dirty="0"/>
              <a:t>possibly heterogeneous system with </a:t>
            </a:r>
          </a:p>
          <a:p>
            <a:pPr lvl="3"/>
            <a:r>
              <a:rPr lang="en-IN" dirty="0"/>
              <a:t>independent </a:t>
            </a:r>
          </a:p>
          <a:p>
            <a:pPr lvl="3"/>
            <a:r>
              <a:rPr lang="en-IN" dirty="0"/>
              <a:t>cooperating components</a:t>
            </a:r>
          </a:p>
        </p:txBody>
      </p:sp>
      <p:sp>
        <p:nvSpPr>
          <p:cNvPr id="3" name="Content Placeholder 2">
            <a:extLst>
              <a:ext uri="{FF2B5EF4-FFF2-40B4-BE49-F238E27FC236}">
                <a16:creationId xmlns:a16="http://schemas.microsoft.com/office/drawing/2014/main" id="{E2CDB961-56AB-4C2A-9D24-1752DBA3772C}"/>
              </a:ext>
            </a:extLst>
          </p:cNvPr>
          <p:cNvSpPr>
            <a:spLocks noGrp="1"/>
          </p:cNvSpPr>
          <p:nvPr>
            <p:ph sz="quarter" idx="10"/>
          </p:nvPr>
        </p:nvSpPr>
        <p:spPr/>
        <p:txBody>
          <a:bodyPr/>
          <a:lstStyle/>
          <a:p>
            <a:r>
              <a:rPr lang="en-IN" dirty="0"/>
              <a:t>Context</a:t>
            </a:r>
          </a:p>
        </p:txBody>
      </p:sp>
      <p:sp>
        <p:nvSpPr>
          <p:cNvPr id="5" name="Date Placeholder 4">
            <a:extLst>
              <a:ext uri="{FF2B5EF4-FFF2-40B4-BE49-F238E27FC236}">
                <a16:creationId xmlns:a16="http://schemas.microsoft.com/office/drawing/2014/main" id="{B1A0BDDA-CE67-4B55-AA61-AAD6DD225054}"/>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4BF7F116-264E-4EB0-A33D-2BBD4D2FA1E8}"/>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6C6B790D-45E6-405E-BA79-73B0ECFE39AB}"/>
              </a:ext>
            </a:extLst>
          </p:cNvPr>
          <p:cNvSpPr>
            <a:spLocks noGrp="1"/>
          </p:cNvSpPr>
          <p:nvPr>
            <p:ph type="sldNum" sz="quarter" idx="14"/>
          </p:nvPr>
        </p:nvSpPr>
        <p:spPr/>
        <p:txBody>
          <a:bodyPr/>
          <a:lstStyle/>
          <a:p>
            <a:fld id="{BC8D7E44-7D4F-4942-A8C9-2DF6BF8399E8}" type="slidenum">
              <a:rPr lang="en-US" smtClean="0"/>
              <a:pPr/>
              <a:t>74</a:t>
            </a:fld>
            <a:endParaRPr lang="en-US" dirty="0"/>
          </a:p>
        </p:txBody>
      </p:sp>
    </p:spTree>
    <p:extLst>
      <p:ext uri="{BB962C8B-B14F-4D97-AF65-F5344CB8AC3E}">
        <p14:creationId xmlns:p14="http://schemas.microsoft.com/office/powerpoint/2010/main" val="2143990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369BBC-E314-4C00-87B3-2A4146785446}"/>
              </a:ext>
            </a:extLst>
          </p:cNvPr>
          <p:cNvSpPr>
            <a:spLocks noGrp="1"/>
          </p:cNvSpPr>
          <p:nvPr>
            <p:ph idx="1"/>
          </p:nvPr>
        </p:nvSpPr>
        <p:spPr>
          <a:xfrm>
            <a:off x="304800" y="1333045"/>
            <a:ext cx="8229600" cy="5227638"/>
          </a:xfrm>
        </p:spPr>
        <p:txBody>
          <a:bodyPr>
            <a:normAutofit/>
          </a:bodyPr>
          <a:lstStyle/>
          <a:p>
            <a:pPr>
              <a:buFont typeface="Arial" panose="020B0604020202020204" pitchFamily="34" charset="0"/>
              <a:buChar char="•"/>
            </a:pPr>
            <a:r>
              <a:rPr lang="en-IN" dirty="0"/>
              <a:t>Building a complex software system as a set of decoupled and inter-operating components, rather than as a monolithic application, results in greater flexibility, maintainability and changeability.</a:t>
            </a:r>
          </a:p>
          <a:p>
            <a:pPr>
              <a:buFont typeface="Arial" panose="020B0604020202020204" pitchFamily="34" charset="0"/>
              <a:buChar char="•"/>
            </a:pPr>
            <a:r>
              <a:rPr lang="en-IN" dirty="0"/>
              <a:t>By partitioning functionality into independent components the system becomes potentially distributable and scalable. </a:t>
            </a:r>
          </a:p>
          <a:p>
            <a:pPr>
              <a:buFont typeface="Arial" panose="020B0604020202020204" pitchFamily="34" charset="0"/>
              <a:buChar char="•"/>
            </a:pPr>
            <a:r>
              <a:rPr lang="en-IN" dirty="0"/>
              <a:t>However, when distributed components communicate with each other, some means of inter-process communication is required. </a:t>
            </a:r>
          </a:p>
          <a:p>
            <a:pPr>
              <a:buFont typeface="Arial" panose="020B0604020202020204" pitchFamily="34" charset="0"/>
              <a:buChar char="•"/>
            </a:pPr>
            <a:r>
              <a:rPr lang="en-IN" dirty="0"/>
              <a:t>If components handle communication themselves, the resulting system faces several dependencies and limitations.</a:t>
            </a:r>
          </a:p>
          <a:p>
            <a:pPr marL="0" indent="0"/>
            <a:endParaRPr lang="en-IN" dirty="0"/>
          </a:p>
        </p:txBody>
      </p:sp>
      <p:sp>
        <p:nvSpPr>
          <p:cNvPr id="3" name="Content Placeholder 2">
            <a:extLst>
              <a:ext uri="{FF2B5EF4-FFF2-40B4-BE49-F238E27FC236}">
                <a16:creationId xmlns:a16="http://schemas.microsoft.com/office/drawing/2014/main" id="{66F8251B-E26F-439E-8E17-236E62B9665B}"/>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B6D18940-4844-44DC-A907-3645A583CFAD}"/>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2558DF08-595F-4E8B-BC12-529C5DED663D}"/>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6F61FD49-F4B4-4417-9263-340EAE48D938}"/>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Tree>
    <p:extLst>
      <p:ext uri="{BB962C8B-B14F-4D97-AF65-F5344CB8AC3E}">
        <p14:creationId xmlns:p14="http://schemas.microsoft.com/office/powerpoint/2010/main" val="4257872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DC8CD2-83A4-4A03-8F9F-01E9F10B52DD}"/>
              </a:ext>
            </a:extLst>
          </p:cNvPr>
          <p:cNvSpPr>
            <a:spLocks noGrp="1"/>
          </p:cNvSpPr>
          <p:nvPr>
            <p:ph idx="1"/>
          </p:nvPr>
        </p:nvSpPr>
        <p:spPr/>
        <p:txBody>
          <a:bodyPr/>
          <a:lstStyle/>
          <a:p>
            <a:pPr marL="0" indent="0"/>
            <a:r>
              <a:rPr lang="en-IN" dirty="0"/>
              <a:t> </a:t>
            </a:r>
          </a:p>
          <a:p>
            <a:pPr>
              <a:buFont typeface="Arial" panose="020B0604020202020204" pitchFamily="34" charset="0"/>
              <a:buChar char="•"/>
            </a:pPr>
            <a:r>
              <a:rPr lang="en-IN" dirty="0"/>
              <a:t>The system becomes dependent on the communication mechanism used, clients need to know the location of servers, and in many cases the solution is limited to only one programming language. </a:t>
            </a:r>
          </a:p>
          <a:p>
            <a:pPr>
              <a:buFont typeface="Arial" panose="020B0604020202020204" pitchFamily="34" charset="0"/>
              <a:buChar char="•"/>
            </a:pPr>
            <a:r>
              <a:rPr lang="en-IN" dirty="0"/>
              <a:t>Services for adding, removing, exchanging, activating and locating components are also needed. </a:t>
            </a:r>
          </a:p>
          <a:p>
            <a:pPr>
              <a:buFont typeface="Arial" panose="020B0604020202020204" pitchFamily="34" charset="0"/>
              <a:buChar char="•"/>
            </a:pPr>
            <a:r>
              <a:rPr lang="en-IN" dirty="0"/>
              <a:t>Applications that use these services should not depend on system-specific details to guarantee portability and interoperability, even within a heterogeneous network.</a:t>
            </a:r>
          </a:p>
        </p:txBody>
      </p:sp>
      <p:sp>
        <p:nvSpPr>
          <p:cNvPr id="3" name="Content Placeholder 2">
            <a:extLst>
              <a:ext uri="{FF2B5EF4-FFF2-40B4-BE49-F238E27FC236}">
                <a16:creationId xmlns:a16="http://schemas.microsoft.com/office/drawing/2014/main" id="{A0A6A668-F36B-457B-86CA-EC2371F94135}"/>
              </a:ext>
            </a:extLst>
          </p:cNvPr>
          <p:cNvSpPr>
            <a:spLocks noGrp="1"/>
          </p:cNvSpPr>
          <p:nvPr>
            <p:ph sz="quarter" idx="10"/>
          </p:nvPr>
        </p:nvSpPr>
        <p:spPr/>
        <p:txBody>
          <a:bodyPr/>
          <a:lstStyle/>
          <a:p>
            <a:r>
              <a:rPr lang="en-IN" dirty="0"/>
              <a:t>Example</a:t>
            </a:r>
          </a:p>
        </p:txBody>
      </p:sp>
      <p:sp>
        <p:nvSpPr>
          <p:cNvPr id="5" name="Date Placeholder 4">
            <a:extLst>
              <a:ext uri="{FF2B5EF4-FFF2-40B4-BE49-F238E27FC236}">
                <a16:creationId xmlns:a16="http://schemas.microsoft.com/office/drawing/2014/main" id="{7DC41294-7453-46EE-B5D3-8E801FA1A283}"/>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9F87C0C6-C324-4530-9A2C-F32BFEE850EA}"/>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ACC53DEB-E5BC-41E0-BFBC-02EA0EB21561}"/>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Tree>
    <p:extLst>
      <p:ext uri="{BB962C8B-B14F-4D97-AF65-F5344CB8AC3E}">
        <p14:creationId xmlns:p14="http://schemas.microsoft.com/office/powerpoint/2010/main" val="19668763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932AED-1152-4E8E-950F-57C6DAD41EA9}"/>
              </a:ext>
            </a:extLst>
          </p:cNvPr>
          <p:cNvSpPr>
            <a:spLocks noGrp="1"/>
          </p:cNvSpPr>
          <p:nvPr>
            <p:ph idx="1"/>
          </p:nvPr>
        </p:nvSpPr>
        <p:spPr/>
        <p:txBody>
          <a:bodyPr>
            <a:normAutofit/>
          </a:bodyPr>
          <a:lstStyle/>
          <a:p>
            <a:pPr>
              <a:buFont typeface="Arial" panose="020B0604020202020204" pitchFamily="34" charset="0"/>
              <a:buChar char="•"/>
            </a:pPr>
            <a:r>
              <a:rPr lang="en-IN" dirty="0"/>
              <a:t>There should essentially be no difference between developing software for centralized systems and developing for distributed ones. </a:t>
            </a:r>
          </a:p>
          <a:p>
            <a:pPr>
              <a:buFont typeface="Arial" panose="020B0604020202020204" pitchFamily="34" charset="0"/>
              <a:buChar char="•"/>
            </a:pPr>
            <a:r>
              <a:rPr lang="en-IN" dirty="0"/>
              <a:t>An application that uses an object should only see the interface offered by the object. </a:t>
            </a:r>
          </a:p>
          <a:p>
            <a:pPr>
              <a:buFont typeface="Arial" panose="020B0604020202020204" pitchFamily="34" charset="0"/>
              <a:buChar char="•"/>
            </a:pPr>
            <a:r>
              <a:rPr lang="en-IN" dirty="0"/>
              <a:t>It should not need to know anything about the implementation details of an object, or about its physical location. </a:t>
            </a:r>
          </a:p>
        </p:txBody>
      </p:sp>
      <p:sp>
        <p:nvSpPr>
          <p:cNvPr id="3" name="Content Placeholder 2">
            <a:extLst>
              <a:ext uri="{FF2B5EF4-FFF2-40B4-BE49-F238E27FC236}">
                <a16:creationId xmlns:a16="http://schemas.microsoft.com/office/drawing/2014/main" id="{1ADA28A7-D91F-456F-83F4-A1F65A49FA61}"/>
              </a:ext>
            </a:extLst>
          </p:cNvPr>
          <p:cNvSpPr>
            <a:spLocks noGrp="1"/>
          </p:cNvSpPr>
          <p:nvPr>
            <p:ph sz="quarter" idx="10"/>
          </p:nvPr>
        </p:nvSpPr>
        <p:spPr/>
        <p:txBody>
          <a:bodyPr/>
          <a:lstStyle/>
          <a:p>
            <a:r>
              <a:rPr lang="en-IN" dirty="0"/>
              <a:t>developer's viewpoint</a:t>
            </a:r>
          </a:p>
        </p:txBody>
      </p:sp>
      <p:sp>
        <p:nvSpPr>
          <p:cNvPr id="5" name="Date Placeholder 4">
            <a:extLst>
              <a:ext uri="{FF2B5EF4-FFF2-40B4-BE49-F238E27FC236}">
                <a16:creationId xmlns:a16="http://schemas.microsoft.com/office/drawing/2014/main" id="{E6248DE9-DA02-4B98-8566-7E990605E1C4}"/>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80D9A3CF-0DC2-4DFA-A070-1705A75D28B8}"/>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657AE2C2-8091-43DE-8355-A544C0292FCE}"/>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Tree>
    <p:extLst>
      <p:ext uri="{BB962C8B-B14F-4D97-AF65-F5344CB8AC3E}">
        <p14:creationId xmlns:p14="http://schemas.microsoft.com/office/powerpoint/2010/main" val="12806355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1924DB-EA36-4F02-B319-08F6DEA82EC6}"/>
              </a:ext>
            </a:extLst>
          </p:cNvPr>
          <p:cNvSpPr>
            <a:spLocks noGrp="1"/>
          </p:cNvSpPr>
          <p:nvPr>
            <p:ph idx="1"/>
          </p:nvPr>
        </p:nvSpPr>
        <p:spPr/>
        <p:txBody>
          <a:bodyPr/>
          <a:lstStyle/>
          <a:p>
            <a:pPr>
              <a:buFont typeface="Arial" panose="020B0604020202020204" pitchFamily="34" charset="0"/>
              <a:buChar char="•"/>
            </a:pPr>
            <a:r>
              <a:rPr lang="en-IN" dirty="0"/>
              <a:t>Components should be able to access services provided by others through remote, location-transparent service invocations. </a:t>
            </a:r>
          </a:p>
          <a:p>
            <a:pPr>
              <a:buFont typeface="Arial" panose="020B0604020202020204" pitchFamily="34" charset="0"/>
              <a:buChar char="•"/>
            </a:pPr>
            <a:r>
              <a:rPr lang="en-IN" dirty="0"/>
              <a:t>You need to exchange, add, or remove components at run-time. </a:t>
            </a:r>
          </a:p>
          <a:p>
            <a:pPr>
              <a:buFont typeface="Arial" panose="020B0604020202020204" pitchFamily="34" charset="0"/>
              <a:buChar char="•"/>
            </a:pPr>
            <a:r>
              <a:rPr lang="en-IN" dirty="0"/>
              <a:t>The architecture should hide system and implementation-specific details from the users of components and services.</a:t>
            </a:r>
          </a:p>
          <a:p>
            <a:endParaRPr lang="en-IN" dirty="0"/>
          </a:p>
          <a:p>
            <a:endParaRPr lang="en-IN" dirty="0"/>
          </a:p>
        </p:txBody>
      </p:sp>
      <p:sp>
        <p:nvSpPr>
          <p:cNvPr id="3" name="Content Placeholder 2">
            <a:extLst>
              <a:ext uri="{FF2B5EF4-FFF2-40B4-BE49-F238E27FC236}">
                <a16:creationId xmlns:a16="http://schemas.microsoft.com/office/drawing/2014/main" id="{AF1D107F-81D1-4172-BB9F-AE7A36857ABC}"/>
              </a:ext>
            </a:extLst>
          </p:cNvPr>
          <p:cNvSpPr>
            <a:spLocks noGrp="1"/>
          </p:cNvSpPr>
          <p:nvPr>
            <p:ph sz="quarter" idx="10"/>
          </p:nvPr>
        </p:nvSpPr>
        <p:spPr/>
        <p:txBody>
          <a:bodyPr/>
          <a:lstStyle/>
          <a:p>
            <a:r>
              <a:rPr lang="en-IN" dirty="0"/>
              <a:t>Forces balanced by Broker Architecture</a:t>
            </a:r>
          </a:p>
        </p:txBody>
      </p:sp>
      <p:sp>
        <p:nvSpPr>
          <p:cNvPr id="5" name="Date Placeholder 4">
            <a:extLst>
              <a:ext uri="{FF2B5EF4-FFF2-40B4-BE49-F238E27FC236}">
                <a16:creationId xmlns:a16="http://schemas.microsoft.com/office/drawing/2014/main" id="{3F9F3763-355F-4DE4-9529-31B48EDD7D40}"/>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38DBC030-B986-45B9-BF53-7C3633258CDC}"/>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E53ED231-5027-49E5-A825-7E86D3F54021}"/>
              </a:ext>
            </a:extLst>
          </p:cNvPr>
          <p:cNvSpPr>
            <a:spLocks noGrp="1"/>
          </p:cNvSpPr>
          <p:nvPr>
            <p:ph type="sldNum" sz="quarter" idx="14"/>
          </p:nvPr>
        </p:nvSpPr>
        <p:spPr/>
        <p:txBody>
          <a:bodyPr/>
          <a:lstStyle/>
          <a:p>
            <a:fld id="{BC8D7E44-7D4F-4942-A8C9-2DF6BF8399E8}" type="slidenum">
              <a:rPr lang="en-US" smtClean="0"/>
              <a:pPr/>
              <a:t>78</a:t>
            </a:fld>
            <a:endParaRPr lang="en-US" dirty="0"/>
          </a:p>
        </p:txBody>
      </p:sp>
    </p:spTree>
    <p:extLst>
      <p:ext uri="{BB962C8B-B14F-4D97-AF65-F5344CB8AC3E}">
        <p14:creationId xmlns:p14="http://schemas.microsoft.com/office/powerpoint/2010/main" val="16926401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D3A49A-171B-4462-8067-CA7E4D6CB634}"/>
              </a:ext>
            </a:extLst>
          </p:cNvPr>
          <p:cNvSpPr>
            <a:spLocks noGrp="1"/>
          </p:cNvSpPr>
          <p:nvPr>
            <p:ph idx="1"/>
          </p:nvPr>
        </p:nvSpPr>
        <p:spPr/>
        <p:txBody>
          <a:bodyPr>
            <a:normAutofit/>
          </a:bodyPr>
          <a:lstStyle/>
          <a:p>
            <a:pPr>
              <a:buFont typeface="Arial" panose="020B0604020202020204" pitchFamily="34" charset="0"/>
              <a:buChar char="•"/>
            </a:pPr>
            <a:r>
              <a:rPr lang="en-IN" dirty="0"/>
              <a:t>Introduce a broker component to achieve better decoupling of clients and servers. </a:t>
            </a:r>
          </a:p>
          <a:p>
            <a:pPr>
              <a:buFont typeface="Arial" panose="020B0604020202020204" pitchFamily="34" charset="0"/>
              <a:buChar char="•"/>
            </a:pPr>
            <a:r>
              <a:rPr lang="en-IN" dirty="0"/>
              <a:t>Servers register themselves with the broker, and make their services available to clients through method interfaces. </a:t>
            </a:r>
          </a:p>
          <a:p>
            <a:pPr>
              <a:buFont typeface="Arial" panose="020B0604020202020204" pitchFamily="34" charset="0"/>
              <a:buChar char="•"/>
            </a:pPr>
            <a:r>
              <a:rPr lang="en-IN" dirty="0"/>
              <a:t>Clients access the functionality of servers by sending requests via the broker. </a:t>
            </a:r>
          </a:p>
          <a:p>
            <a:pPr>
              <a:buFont typeface="Arial" panose="020B0604020202020204" pitchFamily="34" charset="0"/>
              <a:buChar char="•"/>
            </a:pPr>
            <a:r>
              <a:rPr lang="en-IN" dirty="0"/>
              <a:t>A broker's tasks include locating the appropriate server, forwarding the request to the server and transmitting results and exceptions back to the client. </a:t>
            </a:r>
          </a:p>
        </p:txBody>
      </p:sp>
      <p:sp>
        <p:nvSpPr>
          <p:cNvPr id="3" name="Content Placeholder 2">
            <a:extLst>
              <a:ext uri="{FF2B5EF4-FFF2-40B4-BE49-F238E27FC236}">
                <a16:creationId xmlns:a16="http://schemas.microsoft.com/office/drawing/2014/main" id="{A240AA27-2F76-45C2-8467-0CD287EC008C}"/>
              </a:ext>
            </a:extLst>
          </p:cNvPr>
          <p:cNvSpPr>
            <a:spLocks noGrp="1"/>
          </p:cNvSpPr>
          <p:nvPr>
            <p:ph sz="quarter" idx="10"/>
          </p:nvPr>
        </p:nvSpPr>
        <p:spPr/>
        <p:txBody>
          <a:bodyPr/>
          <a:lstStyle/>
          <a:p>
            <a:r>
              <a:rPr lang="en-IN" dirty="0"/>
              <a:t>Solution</a:t>
            </a:r>
          </a:p>
        </p:txBody>
      </p:sp>
      <p:sp>
        <p:nvSpPr>
          <p:cNvPr id="5" name="Date Placeholder 4">
            <a:extLst>
              <a:ext uri="{FF2B5EF4-FFF2-40B4-BE49-F238E27FC236}">
                <a16:creationId xmlns:a16="http://schemas.microsoft.com/office/drawing/2014/main" id="{8FC1B370-CA84-431C-BF57-50FB4F1ABCD8}"/>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A419F207-EDE5-4C8A-BD93-334714E64AC7}"/>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EC48BDD4-A764-4F7B-A00C-3530D0A79152}"/>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Tree>
    <p:extLst>
      <p:ext uri="{BB962C8B-B14F-4D97-AF65-F5344CB8AC3E}">
        <p14:creationId xmlns:p14="http://schemas.microsoft.com/office/powerpoint/2010/main" val="18234063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5AE5D8-A4FD-47A5-93D0-AD1B6E812769}"/>
              </a:ext>
            </a:extLst>
          </p:cNvPr>
          <p:cNvSpPr>
            <a:spLocks noGrp="1"/>
          </p:cNvSpPr>
          <p:nvPr>
            <p:ph idx="1"/>
          </p:nvPr>
        </p:nvSpPr>
        <p:spPr/>
        <p:txBody>
          <a:bodyPr>
            <a:normAutofit/>
          </a:bodyPr>
          <a:lstStyle/>
          <a:p>
            <a:pPr>
              <a:buFont typeface="Arial" panose="020B0604020202020204" pitchFamily="34" charset="0"/>
              <a:buChar char="•"/>
            </a:pPr>
            <a:r>
              <a:rPr lang="en-IN" dirty="0"/>
              <a:t>By using the Broker pattern, an application can access distributed services simply by sending message calls to the appropriate object, instead of focusing on low-level inter-process communication. </a:t>
            </a:r>
          </a:p>
          <a:p>
            <a:pPr>
              <a:buFont typeface="Arial" panose="020B0604020202020204" pitchFamily="34" charset="0"/>
              <a:buChar char="•"/>
            </a:pPr>
            <a:r>
              <a:rPr lang="en-IN" dirty="0"/>
              <a:t>In addition, the Broker architecture is flexible, in that it allows dynamic change, addition, deletion, and relocation of objects. </a:t>
            </a:r>
          </a:p>
          <a:p>
            <a:endParaRPr lang="en-IN" dirty="0"/>
          </a:p>
        </p:txBody>
      </p:sp>
      <p:sp>
        <p:nvSpPr>
          <p:cNvPr id="3" name="Content Placeholder 2">
            <a:extLst>
              <a:ext uri="{FF2B5EF4-FFF2-40B4-BE49-F238E27FC236}">
                <a16:creationId xmlns:a16="http://schemas.microsoft.com/office/drawing/2014/main" id="{08CA630A-AF73-4CFA-83E9-F21B2A7026B2}"/>
              </a:ext>
            </a:extLst>
          </p:cNvPr>
          <p:cNvSpPr>
            <a:spLocks noGrp="1"/>
          </p:cNvSpPr>
          <p:nvPr>
            <p:ph sz="quarter" idx="10"/>
          </p:nvPr>
        </p:nvSpPr>
        <p:spPr/>
        <p:txBody>
          <a:bodyPr/>
          <a:lstStyle/>
          <a:p>
            <a:r>
              <a:rPr lang="en-IN" dirty="0"/>
              <a:t>How an Application accesses distributed services</a:t>
            </a:r>
          </a:p>
        </p:txBody>
      </p:sp>
      <p:sp>
        <p:nvSpPr>
          <p:cNvPr id="5" name="Date Placeholder 4">
            <a:extLst>
              <a:ext uri="{FF2B5EF4-FFF2-40B4-BE49-F238E27FC236}">
                <a16:creationId xmlns:a16="http://schemas.microsoft.com/office/drawing/2014/main" id="{FBB5D6D2-4908-47FC-9DF4-551B96A83623}"/>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A104CD74-4E86-4C16-B624-1DFBFDE2FB64}"/>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B25AE296-2D4D-4FA6-8315-C345585FB2EA}"/>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Tree>
    <p:extLst>
      <p:ext uri="{BB962C8B-B14F-4D97-AF65-F5344CB8AC3E}">
        <p14:creationId xmlns:p14="http://schemas.microsoft.com/office/powerpoint/2010/main" val="3199520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D825E-83EE-4AD0-A400-B14E1F762607}"/>
              </a:ext>
            </a:extLst>
          </p:cNvPr>
          <p:cNvSpPr>
            <a:spLocks noGrp="1"/>
          </p:cNvSpPr>
          <p:nvPr>
            <p:ph idx="1"/>
          </p:nvPr>
        </p:nvSpPr>
        <p:spPr/>
        <p:txBody>
          <a:bodyPr>
            <a:normAutofit fontScale="92500"/>
          </a:bodyPr>
          <a:lstStyle/>
          <a:p>
            <a:pPr>
              <a:buFont typeface="Arial" panose="020B0604020202020204" pitchFamily="34" charset="0"/>
              <a:buChar char="•"/>
            </a:pPr>
            <a:r>
              <a:rPr lang="en-IN" dirty="0"/>
              <a:t>The Broker pattern reduces the complexity involved in developing distributed applications, because it makes distribution transparent to the developer. </a:t>
            </a:r>
          </a:p>
          <a:p>
            <a:pPr>
              <a:buFont typeface="Arial" panose="020B0604020202020204" pitchFamily="34" charset="0"/>
              <a:buChar char="•"/>
            </a:pPr>
            <a:r>
              <a:rPr lang="en-IN" dirty="0"/>
              <a:t>It achieves this goal by introducing an object model in which distributed services are encapsulated within objects. </a:t>
            </a:r>
          </a:p>
          <a:p>
            <a:pPr>
              <a:buFont typeface="Arial" panose="020B0604020202020204" pitchFamily="34" charset="0"/>
              <a:buChar char="•"/>
            </a:pPr>
            <a:r>
              <a:rPr lang="en-IN" dirty="0"/>
              <a:t>Broker systems therefore offer a path to the integration of two core technologies: </a:t>
            </a:r>
          </a:p>
          <a:p>
            <a:pPr lvl="2"/>
            <a:r>
              <a:rPr lang="en-IN" dirty="0"/>
              <a:t>distribution and object technology. </a:t>
            </a:r>
          </a:p>
          <a:p>
            <a:pPr>
              <a:buFont typeface="Arial" panose="020B0604020202020204" pitchFamily="34" charset="0"/>
              <a:buChar char="•"/>
            </a:pPr>
            <a:r>
              <a:rPr lang="en-IN" dirty="0"/>
              <a:t>They also extend object models from single applications to distributed applications consisting of decoupled components that can run on heterogeneous machines and that can be written in different programming languages.</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07F62B11-E64D-4B21-A29A-892884CE02E9}"/>
              </a:ext>
            </a:extLst>
          </p:cNvPr>
          <p:cNvSpPr>
            <a:spLocks noGrp="1"/>
          </p:cNvSpPr>
          <p:nvPr>
            <p:ph sz="quarter" idx="10"/>
          </p:nvPr>
        </p:nvSpPr>
        <p:spPr/>
        <p:txBody>
          <a:bodyPr/>
          <a:lstStyle/>
          <a:p>
            <a:r>
              <a:rPr lang="en-IN" dirty="0"/>
              <a:t>How it works</a:t>
            </a:r>
          </a:p>
        </p:txBody>
      </p:sp>
      <p:sp>
        <p:nvSpPr>
          <p:cNvPr id="5" name="Date Placeholder 4">
            <a:extLst>
              <a:ext uri="{FF2B5EF4-FFF2-40B4-BE49-F238E27FC236}">
                <a16:creationId xmlns:a16="http://schemas.microsoft.com/office/drawing/2014/main" id="{1B4F7302-A06E-4132-A8C6-8EDA75C5E031}"/>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69335E38-B9F8-4327-9E6E-F62F24A40167}"/>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C5568F40-E42B-4DFF-B9F9-663261455DB0}"/>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Tree>
    <p:extLst>
      <p:ext uri="{BB962C8B-B14F-4D97-AF65-F5344CB8AC3E}">
        <p14:creationId xmlns:p14="http://schemas.microsoft.com/office/powerpoint/2010/main" val="16463159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D285D5-A2CB-4F84-B995-B76DFA0372CB}"/>
              </a:ext>
            </a:extLst>
          </p:cNvPr>
          <p:cNvSpPr>
            <a:spLocks noGrp="1"/>
          </p:cNvSpPr>
          <p:nvPr>
            <p:ph idx="1"/>
          </p:nvPr>
        </p:nvSpPr>
        <p:spPr/>
        <p:txBody>
          <a:bodyPr>
            <a:normAutofit/>
          </a:bodyPr>
          <a:lstStyle/>
          <a:p>
            <a:pPr>
              <a:buFont typeface="Arial" panose="020B0604020202020204" pitchFamily="34" charset="0"/>
              <a:buChar char="•"/>
            </a:pPr>
            <a:r>
              <a:rPr lang="en-IN" dirty="0"/>
              <a:t>The Broker architectural pattern comprises six types of participating components: </a:t>
            </a:r>
          </a:p>
          <a:p>
            <a:pPr lvl="2"/>
            <a:r>
              <a:rPr lang="en-IN" dirty="0"/>
              <a:t>Clients, </a:t>
            </a:r>
          </a:p>
          <a:p>
            <a:pPr lvl="2"/>
            <a:r>
              <a:rPr lang="en-IN" dirty="0"/>
              <a:t>servers, </a:t>
            </a:r>
          </a:p>
          <a:p>
            <a:pPr lvl="2"/>
            <a:r>
              <a:rPr lang="en-IN" dirty="0"/>
              <a:t>brokers, </a:t>
            </a:r>
          </a:p>
          <a:p>
            <a:pPr lvl="2"/>
            <a:r>
              <a:rPr lang="en-IN" dirty="0"/>
              <a:t>bridges, </a:t>
            </a:r>
          </a:p>
          <a:p>
            <a:pPr lvl="2"/>
            <a:r>
              <a:rPr lang="en-IN" dirty="0"/>
              <a:t>client-side proxies and </a:t>
            </a:r>
          </a:p>
          <a:p>
            <a:pPr lvl="2"/>
            <a:r>
              <a:rPr lang="en-IN" dirty="0"/>
              <a:t>server-side proxies. </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A3070458-5F5D-4946-A260-777F94318D7D}"/>
              </a:ext>
            </a:extLst>
          </p:cNvPr>
          <p:cNvSpPr>
            <a:spLocks noGrp="1"/>
          </p:cNvSpPr>
          <p:nvPr>
            <p:ph sz="quarter" idx="10"/>
          </p:nvPr>
        </p:nvSpPr>
        <p:spPr/>
        <p:txBody>
          <a:bodyPr/>
          <a:lstStyle/>
          <a:p>
            <a:r>
              <a:rPr lang="en-IN" dirty="0"/>
              <a:t>Structure</a:t>
            </a:r>
          </a:p>
        </p:txBody>
      </p:sp>
      <p:sp>
        <p:nvSpPr>
          <p:cNvPr id="5" name="Date Placeholder 4">
            <a:extLst>
              <a:ext uri="{FF2B5EF4-FFF2-40B4-BE49-F238E27FC236}">
                <a16:creationId xmlns:a16="http://schemas.microsoft.com/office/drawing/2014/main" id="{BA2DDF6D-A38E-4C7E-8F2D-CB14940345A7}"/>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963778C6-2420-4BBC-9C9E-2A65780E58A7}"/>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7BEEC704-7477-4808-B51B-DDA939E98772}"/>
              </a:ext>
            </a:extLst>
          </p:cNvPr>
          <p:cNvSpPr>
            <a:spLocks noGrp="1"/>
          </p:cNvSpPr>
          <p:nvPr>
            <p:ph type="sldNum" sz="quarter" idx="14"/>
          </p:nvPr>
        </p:nvSpPr>
        <p:spPr/>
        <p:txBody>
          <a:bodyPr/>
          <a:lstStyle/>
          <a:p>
            <a:fld id="{BC8D7E44-7D4F-4942-A8C9-2DF6BF8399E8}" type="slidenum">
              <a:rPr lang="en-US" smtClean="0"/>
              <a:pPr/>
              <a:t>82</a:t>
            </a:fld>
            <a:endParaRPr lang="en-US" dirty="0"/>
          </a:p>
        </p:txBody>
      </p:sp>
    </p:spTree>
    <p:extLst>
      <p:ext uri="{BB962C8B-B14F-4D97-AF65-F5344CB8AC3E}">
        <p14:creationId xmlns:p14="http://schemas.microsoft.com/office/powerpoint/2010/main" val="15233830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542747-B74F-4ECE-87EB-46F664FBC9AB}"/>
              </a:ext>
            </a:extLst>
          </p:cNvPr>
          <p:cNvSpPr>
            <a:spLocks noGrp="1"/>
          </p:cNvSpPr>
          <p:nvPr>
            <p:ph idx="1"/>
          </p:nvPr>
        </p:nvSpPr>
        <p:spPr/>
        <p:txBody>
          <a:bodyPr>
            <a:normAutofit fontScale="92500"/>
          </a:bodyPr>
          <a:lstStyle/>
          <a:p>
            <a:pPr>
              <a:buFont typeface="Arial" panose="020B0604020202020204" pitchFamily="34" charset="0"/>
              <a:buChar char="•"/>
            </a:pPr>
            <a:r>
              <a:rPr lang="en-IN" dirty="0"/>
              <a:t>A Server implements objects that expose their functionality through interfaces that consist of operations and attributes. </a:t>
            </a:r>
          </a:p>
          <a:p>
            <a:pPr>
              <a:buFont typeface="Arial" panose="020B0604020202020204" pitchFamily="34" charset="0"/>
              <a:buChar char="•"/>
            </a:pPr>
            <a:r>
              <a:rPr lang="en-IN" dirty="0"/>
              <a:t>These interfaces are made available either through an interface definition language (IDL) or through a binary standard. </a:t>
            </a:r>
          </a:p>
          <a:p>
            <a:pPr>
              <a:buFont typeface="Arial" panose="020B0604020202020204" pitchFamily="34" charset="0"/>
              <a:buChar char="•"/>
            </a:pPr>
            <a:r>
              <a:rPr lang="en-IN" dirty="0"/>
              <a:t>Interfaces typically group semantically-related functionality. </a:t>
            </a:r>
          </a:p>
          <a:p>
            <a:pPr>
              <a:buFont typeface="Arial" panose="020B0604020202020204" pitchFamily="34" charset="0"/>
              <a:buChar char="•"/>
            </a:pPr>
            <a:r>
              <a:rPr lang="en-IN" dirty="0"/>
              <a:t>There are two kinds of servers: </a:t>
            </a:r>
          </a:p>
          <a:p>
            <a:pPr lvl="2"/>
            <a:r>
              <a:rPr lang="en-IN" dirty="0"/>
              <a:t>Servers offering common services to many application domains. </a:t>
            </a:r>
          </a:p>
          <a:p>
            <a:pPr lvl="2"/>
            <a:r>
              <a:rPr lang="en-IN" dirty="0"/>
              <a:t>Servers implementing specific functionality for a single application domain or task.</a:t>
            </a:r>
          </a:p>
        </p:txBody>
      </p:sp>
      <p:sp>
        <p:nvSpPr>
          <p:cNvPr id="3" name="Content Placeholder 2">
            <a:extLst>
              <a:ext uri="{FF2B5EF4-FFF2-40B4-BE49-F238E27FC236}">
                <a16:creationId xmlns:a16="http://schemas.microsoft.com/office/drawing/2014/main" id="{8B4D2155-5AE1-48A8-887F-ECCA27D66853}"/>
              </a:ext>
            </a:extLst>
          </p:cNvPr>
          <p:cNvSpPr>
            <a:spLocks noGrp="1"/>
          </p:cNvSpPr>
          <p:nvPr>
            <p:ph sz="quarter" idx="10"/>
          </p:nvPr>
        </p:nvSpPr>
        <p:spPr/>
        <p:txBody>
          <a:bodyPr/>
          <a:lstStyle/>
          <a:p>
            <a:r>
              <a:rPr lang="en-IN" dirty="0"/>
              <a:t>Server</a:t>
            </a:r>
          </a:p>
        </p:txBody>
      </p:sp>
      <p:sp>
        <p:nvSpPr>
          <p:cNvPr id="4" name="Content Placeholder 3">
            <a:extLst>
              <a:ext uri="{FF2B5EF4-FFF2-40B4-BE49-F238E27FC236}">
                <a16:creationId xmlns:a16="http://schemas.microsoft.com/office/drawing/2014/main" id="{2DA8BBAA-8DD8-4E39-A2EC-51B44CE94D0D}"/>
              </a:ext>
            </a:extLst>
          </p:cNvPr>
          <p:cNvSpPr>
            <a:spLocks noGrp="1"/>
          </p:cNvSpPr>
          <p:nvPr>
            <p:ph sz="quarter" idx="4294967295"/>
          </p:nvPr>
        </p:nvSpPr>
        <p:spPr>
          <a:xfrm>
            <a:off x="4495800" y="6363741"/>
            <a:ext cx="914400" cy="914400"/>
          </a:xfrm>
        </p:spPr>
        <p:txBody>
          <a:bodyPr/>
          <a:lstStyle/>
          <a:p>
            <a:endParaRPr lang="en-IN"/>
          </a:p>
        </p:txBody>
      </p:sp>
      <p:sp>
        <p:nvSpPr>
          <p:cNvPr id="5" name="Date Placeholder 4">
            <a:extLst>
              <a:ext uri="{FF2B5EF4-FFF2-40B4-BE49-F238E27FC236}">
                <a16:creationId xmlns:a16="http://schemas.microsoft.com/office/drawing/2014/main" id="{5A69B0BB-8EAE-4A3F-A389-34AA06EBA921}"/>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48F2EED8-456A-4BFA-82EF-035B271F06A7}"/>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231E00F4-1E82-4A45-81E6-3D2E0E7E8603}"/>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Tree>
    <p:extLst>
      <p:ext uri="{BB962C8B-B14F-4D97-AF65-F5344CB8AC3E}">
        <p14:creationId xmlns:p14="http://schemas.microsoft.com/office/powerpoint/2010/main" val="23226167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48CAB07-80B7-44B0-BD8A-E455958234C2}"/>
              </a:ext>
            </a:extLst>
          </p:cNvPr>
          <p:cNvPicPr>
            <a:picLocks noGrp="1" noChangeAspect="1"/>
          </p:cNvPicPr>
          <p:nvPr>
            <p:ph idx="1"/>
          </p:nvPr>
        </p:nvPicPr>
        <p:blipFill>
          <a:blip r:embed="rId2"/>
          <a:stretch>
            <a:fillRect/>
          </a:stretch>
        </p:blipFill>
        <p:spPr>
          <a:xfrm>
            <a:off x="1011635" y="1493838"/>
            <a:ext cx="6815929" cy="4525962"/>
          </a:xfrm>
          <a:prstGeom prst="rect">
            <a:avLst/>
          </a:prstGeom>
        </p:spPr>
      </p:pic>
      <p:sp>
        <p:nvSpPr>
          <p:cNvPr id="3" name="Content Placeholder 2">
            <a:extLst>
              <a:ext uri="{FF2B5EF4-FFF2-40B4-BE49-F238E27FC236}">
                <a16:creationId xmlns:a16="http://schemas.microsoft.com/office/drawing/2014/main" id="{E5E024A2-5AA8-434A-87DC-D7CEC3FF577C}"/>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72FCE4D4-CA29-4420-B310-CF77D3462449}"/>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BB2DEF87-7F27-4A5A-A6E2-E8B5A3DAF329}"/>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9580ECC1-3F23-4557-8510-3D4CC2C6C388}"/>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Tree>
    <p:extLst>
      <p:ext uri="{BB962C8B-B14F-4D97-AF65-F5344CB8AC3E}">
        <p14:creationId xmlns:p14="http://schemas.microsoft.com/office/powerpoint/2010/main" val="38289815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929E0F-CA6D-4C1B-ABC0-2AF75EAB8B08}"/>
              </a:ext>
            </a:extLst>
          </p:cNvPr>
          <p:cNvSpPr>
            <a:spLocks noGrp="1"/>
          </p:cNvSpPr>
          <p:nvPr>
            <p:ph idx="1"/>
          </p:nvPr>
        </p:nvSpPr>
        <p:spPr>
          <a:xfrm>
            <a:off x="304800" y="1493837"/>
            <a:ext cx="8229600" cy="5227638"/>
          </a:xfrm>
        </p:spPr>
        <p:txBody>
          <a:bodyPr>
            <a:normAutofit fontScale="92500" lnSpcReduction="10000"/>
          </a:bodyPr>
          <a:lstStyle/>
          <a:p>
            <a:pPr>
              <a:buFont typeface="Arial" panose="020B0604020202020204" pitchFamily="34" charset="0"/>
              <a:buChar char="•"/>
            </a:pPr>
            <a:r>
              <a:rPr lang="en-IN" sz="1800" dirty="0"/>
              <a:t>WWW servers that provide access to HTML (Hypertext </a:t>
            </a:r>
            <a:r>
              <a:rPr lang="en-IN" sz="1800" dirty="0" err="1"/>
              <a:t>Markup</a:t>
            </a:r>
            <a:r>
              <a:rPr lang="en-IN" sz="1800" dirty="0"/>
              <a:t> Language) pages. </a:t>
            </a:r>
          </a:p>
          <a:p>
            <a:pPr>
              <a:buFont typeface="Arial" panose="020B0604020202020204" pitchFamily="34" charset="0"/>
              <a:buChar char="•"/>
            </a:pPr>
            <a:r>
              <a:rPr lang="en-IN" sz="1800" dirty="0"/>
              <a:t>WWW servers are implemented as http daemon processes (hypertext transfer protocol daemon) that wait on specific ports for incoming requests. </a:t>
            </a:r>
          </a:p>
          <a:p>
            <a:pPr>
              <a:buFont typeface="Arial" panose="020B0604020202020204" pitchFamily="34" charset="0"/>
              <a:buChar char="•"/>
            </a:pPr>
            <a:r>
              <a:rPr lang="en-IN" sz="1800" dirty="0"/>
              <a:t>When a request arrives at the server, the requested document and any additional data is sent to the client using data streams. </a:t>
            </a:r>
          </a:p>
          <a:p>
            <a:pPr>
              <a:buFont typeface="Arial" panose="020B0604020202020204" pitchFamily="34" charset="0"/>
              <a:buChar char="•"/>
            </a:pPr>
            <a:r>
              <a:rPr lang="en-IN" sz="1800" dirty="0"/>
              <a:t>The HTML pages contain documents as well as CGI (Common Gateway interface) scripts for remotely-executed operations on the network host-the remote machine from which the client received the HTML- page. </a:t>
            </a:r>
          </a:p>
          <a:p>
            <a:pPr>
              <a:buFont typeface="Arial" panose="020B0604020202020204" pitchFamily="34" charset="0"/>
              <a:buChar char="•"/>
            </a:pPr>
            <a:r>
              <a:rPr lang="en-IN" sz="1800" dirty="0"/>
              <a:t>A CGI script may be used to allow the user fill out a form and submit a query, for example a search request for vacant hotel rooms. </a:t>
            </a:r>
          </a:p>
          <a:p>
            <a:pPr>
              <a:buFont typeface="Arial" panose="020B0604020202020204" pitchFamily="34" charset="0"/>
              <a:buChar char="•"/>
            </a:pPr>
            <a:r>
              <a:rPr lang="en-IN" sz="1800" dirty="0"/>
              <a:t>To display animations on the client's browser, Java 'applets' are integrated into the HTML documents. </a:t>
            </a:r>
          </a:p>
          <a:p>
            <a:pPr>
              <a:buFont typeface="Arial" panose="020B0604020202020204" pitchFamily="34" charset="0"/>
              <a:buChar char="•"/>
            </a:pPr>
            <a:r>
              <a:rPr lang="en-IN" sz="1800" dirty="0"/>
              <a:t>For example, one of these Java applets animates the route between one place and another on a city map. </a:t>
            </a:r>
          </a:p>
          <a:p>
            <a:pPr>
              <a:buFont typeface="Arial" panose="020B0604020202020204" pitchFamily="34" charset="0"/>
              <a:buChar char="•"/>
            </a:pPr>
            <a:r>
              <a:rPr lang="en-IN" sz="1800" dirty="0"/>
              <a:t>Java applets run on top of a virtual machine that is part of the WWW browser. </a:t>
            </a:r>
          </a:p>
          <a:p>
            <a:pPr>
              <a:buFont typeface="Arial" panose="020B0604020202020204" pitchFamily="34" charset="0"/>
              <a:buChar char="•"/>
            </a:pPr>
            <a:r>
              <a:rPr lang="en-IN" sz="1800" dirty="0"/>
              <a:t>CGI scripts and Java applets differ from each other: CGI scripts are executed on the server machine, whereas Java applets are transferred to the WWW browser and then executed on the client machine.</a:t>
            </a:r>
          </a:p>
        </p:txBody>
      </p:sp>
      <p:sp>
        <p:nvSpPr>
          <p:cNvPr id="3" name="Content Placeholder 2">
            <a:extLst>
              <a:ext uri="{FF2B5EF4-FFF2-40B4-BE49-F238E27FC236}">
                <a16:creationId xmlns:a16="http://schemas.microsoft.com/office/drawing/2014/main" id="{499D9760-6C63-4D1F-BA64-684387F471CF}"/>
              </a:ext>
            </a:extLst>
          </p:cNvPr>
          <p:cNvSpPr>
            <a:spLocks noGrp="1"/>
          </p:cNvSpPr>
          <p:nvPr>
            <p:ph sz="quarter" idx="10"/>
          </p:nvPr>
        </p:nvSpPr>
        <p:spPr/>
        <p:txBody>
          <a:bodyPr/>
          <a:lstStyle/>
          <a:p>
            <a:r>
              <a:rPr lang="en-IN" dirty="0"/>
              <a:t>Server: Illustration</a:t>
            </a:r>
          </a:p>
        </p:txBody>
      </p:sp>
      <p:sp>
        <p:nvSpPr>
          <p:cNvPr id="5" name="Date Placeholder 4">
            <a:extLst>
              <a:ext uri="{FF2B5EF4-FFF2-40B4-BE49-F238E27FC236}">
                <a16:creationId xmlns:a16="http://schemas.microsoft.com/office/drawing/2014/main" id="{52CCADBD-8B91-4840-A927-ABD597B8BF01}"/>
              </a:ext>
            </a:extLst>
          </p:cNvPr>
          <p:cNvSpPr>
            <a:spLocks noGrp="1"/>
          </p:cNvSpPr>
          <p:nvPr>
            <p:ph type="dt" sz="half" idx="12"/>
          </p:nvPr>
        </p:nvSpPr>
        <p:spPr/>
        <p:txBody>
          <a:bodyPr/>
          <a:lstStyle/>
          <a:p>
            <a:r>
              <a:rPr lang="en-US"/>
              <a:t>October 3, 2026</a:t>
            </a:r>
          </a:p>
        </p:txBody>
      </p:sp>
      <p:sp>
        <p:nvSpPr>
          <p:cNvPr id="6" name="Footer Placeholder 5">
            <a:extLst>
              <a:ext uri="{FF2B5EF4-FFF2-40B4-BE49-F238E27FC236}">
                <a16:creationId xmlns:a16="http://schemas.microsoft.com/office/drawing/2014/main" id="{DC17730E-BC55-4D89-A0FA-DFF38432E711}"/>
              </a:ext>
            </a:extLst>
          </p:cNvPr>
          <p:cNvSpPr>
            <a:spLocks noGrp="1"/>
          </p:cNvSpPr>
          <p:nvPr>
            <p:ph type="ftr" sz="quarter" idx="13"/>
          </p:nvPr>
        </p:nvSpPr>
        <p:spPr/>
        <p:txBody>
          <a:bodyPr/>
          <a:lstStyle/>
          <a:p>
            <a:r>
              <a:rPr lang="en-US"/>
              <a:t>SE ZG651/ SS ZG653 Software Architectures</a:t>
            </a:r>
          </a:p>
        </p:txBody>
      </p:sp>
      <p:sp>
        <p:nvSpPr>
          <p:cNvPr id="7" name="Slide Number Placeholder 6">
            <a:extLst>
              <a:ext uri="{FF2B5EF4-FFF2-40B4-BE49-F238E27FC236}">
                <a16:creationId xmlns:a16="http://schemas.microsoft.com/office/drawing/2014/main" id="{8D485C2A-A8A3-4FA7-9CA4-0F54E7EAD872}"/>
              </a:ext>
            </a:extLst>
          </p:cNvPr>
          <p:cNvSpPr>
            <a:spLocks noGrp="1"/>
          </p:cNvSpPr>
          <p:nvPr>
            <p:ph type="sldNum" sz="quarter" idx="14"/>
          </p:nvPr>
        </p:nvSpPr>
        <p:spPr/>
        <p:txBody>
          <a:bodyPr/>
          <a:lstStyle/>
          <a:p>
            <a:fld id="{BC8D7E44-7D4F-4942-A8C9-2DF6BF8399E8}" type="slidenum">
              <a:rPr lang="en-US" smtClean="0"/>
              <a:pPr/>
              <a:t>85</a:t>
            </a:fld>
            <a:endParaRPr lang="en-US" dirty="0"/>
          </a:p>
        </p:txBody>
      </p:sp>
    </p:spTree>
    <p:extLst>
      <p:ext uri="{BB962C8B-B14F-4D97-AF65-F5344CB8AC3E}">
        <p14:creationId xmlns:p14="http://schemas.microsoft.com/office/powerpoint/2010/main" val="22471724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C6CB86-3989-4A6C-B9A6-A058C61122CD}"/>
              </a:ext>
            </a:extLst>
          </p:cNvPr>
          <p:cNvSpPr>
            <a:spLocks noGrp="1"/>
          </p:cNvSpPr>
          <p:nvPr>
            <p:ph idx="1"/>
          </p:nvPr>
        </p:nvSpPr>
        <p:spPr>
          <a:xfrm>
            <a:off x="304800" y="1493837"/>
            <a:ext cx="8382000" cy="5227638"/>
          </a:xfrm>
        </p:spPr>
        <p:txBody>
          <a:bodyPr>
            <a:normAutofit fontScale="85000" lnSpcReduction="20000"/>
          </a:bodyPr>
          <a:lstStyle/>
          <a:p>
            <a:pPr>
              <a:buFont typeface="Arial" panose="020B0604020202020204" pitchFamily="34" charset="0"/>
              <a:buChar char="•"/>
            </a:pPr>
            <a:r>
              <a:rPr lang="en-IN" dirty="0"/>
              <a:t>Clients are applications that access the services of at least one server. </a:t>
            </a:r>
          </a:p>
          <a:p>
            <a:pPr>
              <a:buFont typeface="Arial" panose="020B0604020202020204" pitchFamily="34" charset="0"/>
              <a:buChar char="•"/>
            </a:pPr>
            <a:r>
              <a:rPr lang="en-IN" dirty="0"/>
              <a:t>To call remote services, clients forward requests to the broker. </a:t>
            </a:r>
          </a:p>
          <a:p>
            <a:pPr>
              <a:buFont typeface="Arial" panose="020B0604020202020204" pitchFamily="34" charset="0"/>
              <a:buChar char="•"/>
            </a:pPr>
            <a:r>
              <a:rPr lang="en-IN" dirty="0"/>
              <a:t>After an operation has executed they receive responses or exceptions from the broker. </a:t>
            </a:r>
          </a:p>
          <a:p>
            <a:pPr>
              <a:buFont typeface="Arial" panose="020B0604020202020204" pitchFamily="34" charset="0"/>
              <a:buChar char="•"/>
            </a:pPr>
            <a:r>
              <a:rPr lang="en-IN" dirty="0"/>
              <a:t>The interaction between clients and servers is based on a dynamic model, which means that servers may also act as clients. </a:t>
            </a:r>
          </a:p>
          <a:p>
            <a:pPr>
              <a:buFont typeface="Arial" panose="020B0604020202020204" pitchFamily="34" charset="0"/>
              <a:buChar char="•"/>
            </a:pPr>
            <a:r>
              <a:rPr lang="en-IN" dirty="0"/>
              <a:t>This dynamic interaction model differs from the traditional notion of Client-Server computing in that the roles of clients and servers are not statically defined. </a:t>
            </a:r>
          </a:p>
          <a:p>
            <a:pPr>
              <a:buFont typeface="Arial" panose="020B0604020202020204" pitchFamily="34" charset="0"/>
              <a:buChar char="•"/>
            </a:pPr>
            <a:r>
              <a:rPr lang="en-IN" dirty="0"/>
              <a:t>From the viewpoint of an implementation, you can consider clients as applications and servers as libraries-though other implementations are possible. </a:t>
            </a:r>
          </a:p>
          <a:p>
            <a:pPr>
              <a:buFont typeface="Arial" panose="020B0604020202020204" pitchFamily="34" charset="0"/>
              <a:buChar char="•"/>
            </a:pPr>
            <a:r>
              <a:rPr lang="en-IN" dirty="0"/>
              <a:t>Note that clients do not need to know the location of the servers they access. </a:t>
            </a:r>
          </a:p>
          <a:p>
            <a:pPr>
              <a:buFont typeface="Arial" panose="020B0604020202020204" pitchFamily="34" charset="0"/>
              <a:buChar char="•"/>
            </a:pPr>
            <a:r>
              <a:rPr lang="en-IN" dirty="0"/>
              <a:t>This is important, because it allows the addition of new services and the movement of existing services to other locations, even while the system is running.</a:t>
            </a:r>
          </a:p>
        </p:txBody>
      </p:sp>
      <p:sp>
        <p:nvSpPr>
          <p:cNvPr id="3" name="Content Placeholder 2">
            <a:extLst>
              <a:ext uri="{FF2B5EF4-FFF2-40B4-BE49-F238E27FC236}">
                <a16:creationId xmlns:a16="http://schemas.microsoft.com/office/drawing/2014/main" id="{019F7E3A-15F6-4C82-8B5A-2096EDBAC312}"/>
              </a:ext>
            </a:extLst>
          </p:cNvPr>
          <p:cNvSpPr>
            <a:spLocks noGrp="1"/>
          </p:cNvSpPr>
          <p:nvPr>
            <p:ph sz="quarter" idx="10"/>
          </p:nvPr>
        </p:nvSpPr>
        <p:spPr/>
        <p:txBody>
          <a:bodyPr/>
          <a:lstStyle/>
          <a:p>
            <a:r>
              <a:rPr lang="en-IN" dirty="0"/>
              <a:t>Client</a:t>
            </a:r>
          </a:p>
        </p:txBody>
      </p:sp>
      <p:sp>
        <p:nvSpPr>
          <p:cNvPr id="4" name="Date Placeholder 3">
            <a:extLst>
              <a:ext uri="{FF2B5EF4-FFF2-40B4-BE49-F238E27FC236}">
                <a16:creationId xmlns:a16="http://schemas.microsoft.com/office/drawing/2014/main" id="{AF29C4ED-758D-4F5A-AF2B-857811962EC9}"/>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F836F7F0-4278-462C-9525-FC55D9C7D535}"/>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1B84B476-0800-426E-89C1-B16072C27953}"/>
              </a:ext>
            </a:extLst>
          </p:cNvPr>
          <p:cNvSpPr>
            <a:spLocks noGrp="1"/>
          </p:cNvSpPr>
          <p:nvPr>
            <p:ph type="sldNum" sz="quarter" idx="14"/>
          </p:nvPr>
        </p:nvSpPr>
        <p:spPr/>
        <p:txBody>
          <a:bodyPr/>
          <a:lstStyle/>
          <a:p>
            <a:fld id="{BC8D7E44-7D4F-4942-A8C9-2DF6BF8399E8}" type="slidenum">
              <a:rPr lang="en-US" smtClean="0"/>
              <a:pPr/>
              <a:t>86</a:t>
            </a:fld>
            <a:endParaRPr lang="en-US" dirty="0"/>
          </a:p>
        </p:txBody>
      </p:sp>
    </p:spTree>
    <p:extLst>
      <p:ext uri="{BB962C8B-B14F-4D97-AF65-F5344CB8AC3E}">
        <p14:creationId xmlns:p14="http://schemas.microsoft.com/office/powerpoint/2010/main" val="3514063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9F1C63E-45DF-485D-9687-446FA870F8A1}"/>
              </a:ext>
            </a:extLst>
          </p:cNvPr>
          <p:cNvPicPr>
            <a:picLocks noGrp="1" noChangeAspect="1"/>
          </p:cNvPicPr>
          <p:nvPr>
            <p:ph idx="1"/>
          </p:nvPr>
        </p:nvPicPr>
        <p:blipFill>
          <a:blip r:embed="rId2"/>
          <a:stretch>
            <a:fillRect/>
          </a:stretch>
        </p:blipFill>
        <p:spPr>
          <a:xfrm>
            <a:off x="1030911" y="1493838"/>
            <a:ext cx="6777377" cy="4525962"/>
          </a:xfrm>
          <a:prstGeom prst="rect">
            <a:avLst/>
          </a:prstGeom>
        </p:spPr>
      </p:pic>
      <p:sp>
        <p:nvSpPr>
          <p:cNvPr id="3" name="Content Placeholder 2">
            <a:extLst>
              <a:ext uri="{FF2B5EF4-FFF2-40B4-BE49-F238E27FC236}">
                <a16:creationId xmlns:a16="http://schemas.microsoft.com/office/drawing/2014/main" id="{B6F09362-2876-4220-AD77-C80008D506B8}"/>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8685A68B-A696-429A-BDD8-FB3CC4CC2255}"/>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CF125B1B-84BE-4BE0-88B8-C728EBC800AE}"/>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92AAAB99-55F6-4CB2-88B7-B62D5FFB4990}"/>
              </a:ext>
            </a:extLst>
          </p:cNvPr>
          <p:cNvSpPr>
            <a:spLocks noGrp="1"/>
          </p:cNvSpPr>
          <p:nvPr>
            <p:ph type="sldNum" sz="quarter" idx="14"/>
          </p:nvPr>
        </p:nvSpPr>
        <p:spPr/>
        <p:txBody>
          <a:bodyPr/>
          <a:lstStyle/>
          <a:p>
            <a:fld id="{BC8D7E44-7D4F-4942-A8C9-2DF6BF8399E8}" type="slidenum">
              <a:rPr lang="en-US" smtClean="0"/>
              <a:pPr/>
              <a:t>87</a:t>
            </a:fld>
            <a:endParaRPr lang="en-US" dirty="0"/>
          </a:p>
        </p:txBody>
      </p:sp>
    </p:spTree>
    <p:extLst>
      <p:ext uri="{BB962C8B-B14F-4D97-AF65-F5344CB8AC3E}">
        <p14:creationId xmlns:p14="http://schemas.microsoft.com/office/powerpoint/2010/main" val="15189783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DA39DD-FC2B-49F8-A883-2C4AFF5F5351}"/>
              </a:ext>
            </a:extLst>
          </p:cNvPr>
          <p:cNvSpPr>
            <a:spLocks noGrp="1"/>
          </p:cNvSpPr>
          <p:nvPr>
            <p:ph idx="1"/>
          </p:nvPr>
        </p:nvSpPr>
        <p:spPr/>
        <p:txBody>
          <a:bodyPr/>
          <a:lstStyle/>
          <a:p>
            <a:pPr>
              <a:buFont typeface="Arial" panose="020B0604020202020204" pitchFamily="34" charset="0"/>
              <a:buChar char="•"/>
            </a:pPr>
            <a:r>
              <a:rPr lang="en-IN" dirty="0"/>
              <a:t>In the context of the Broker pattern, the clients are the available WWW browsers. </a:t>
            </a:r>
          </a:p>
          <a:p>
            <a:pPr>
              <a:buFont typeface="Arial" panose="020B0604020202020204" pitchFamily="34" charset="0"/>
              <a:buChar char="•"/>
            </a:pPr>
            <a:r>
              <a:rPr lang="en-IN" dirty="0"/>
              <a:t>They are not directly connected to the network. Instead, they rely on Internet providers that offer gateways to the Internet, such as </a:t>
            </a:r>
            <a:r>
              <a:rPr lang="en-IN" dirty="0" err="1"/>
              <a:t>vsnl</a:t>
            </a:r>
            <a:r>
              <a:rPr lang="en-IN" dirty="0"/>
              <a:t>. </a:t>
            </a:r>
          </a:p>
          <a:p>
            <a:pPr>
              <a:buFont typeface="Arial" panose="020B0604020202020204" pitchFamily="34" charset="0"/>
              <a:buChar char="•"/>
            </a:pPr>
            <a:r>
              <a:rPr lang="en-IN" dirty="0"/>
              <a:t>WWW browsers connect to these workstations, using either a modem or a leased line. </a:t>
            </a:r>
          </a:p>
          <a:p>
            <a:pPr>
              <a:buFont typeface="Arial" panose="020B0604020202020204" pitchFamily="34" charset="0"/>
              <a:buChar char="•"/>
            </a:pPr>
            <a:r>
              <a:rPr lang="en-IN" dirty="0"/>
              <a:t>When connected they are able to retrieve data streams from </a:t>
            </a:r>
            <a:r>
              <a:rPr lang="en-IN" dirty="0" err="1"/>
              <a:t>httpd</a:t>
            </a:r>
            <a:r>
              <a:rPr lang="en-IN" dirty="0"/>
              <a:t> servers, interpret this data and initiate actions such as the display of documents on the screen or the execution of Java applets.</a:t>
            </a:r>
          </a:p>
        </p:txBody>
      </p:sp>
      <p:sp>
        <p:nvSpPr>
          <p:cNvPr id="3" name="Content Placeholder 2">
            <a:extLst>
              <a:ext uri="{FF2B5EF4-FFF2-40B4-BE49-F238E27FC236}">
                <a16:creationId xmlns:a16="http://schemas.microsoft.com/office/drawing/2014/main" id="{3F65F919-0584-4711-AE48-4D0D3FDE81F4}"/>
              </a:ext>
            </a:extLst>
          </p:cNvPr>
          <p:cNvSpPr>
            <a:spLocks noGrp="1"/>
          </p:cNvSpPr>
          <p:nvPr>
            <p:ph sz="quarter" idx="10"/>
          </p:nvPr>
        </p:nvSpPr>
        <p:spPr/>
        <p:txBody>
          <a:bodyPr/>
          <a:lstStyle/>
          <a:p>
            <a:r>
              <a:rPr lang="en-IN" dirty="0"/>
              <a:t>Client: Illustration</a:t>
            </a:r>
          </a:p>
        </p:txBody>
      </p:sp>
      <p:sp>
        <p:nvSpPr>
          <p:cNvPr id="4" name="Date Placeholder 3">
            <a:extLst>
              <a:ext uri="{FF2B5EF4-FFF2-40B4-BE49-F238E27FC236}">
                <a16:creationId xmlns:a16="http://schemas.microsoft.com/office/drawing/2014/main" id="{7A819E05-4430-43CB-990E-2639B8618768}"/>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BBA25083-9E89-400A-A372-018B33A861B3}"/>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6A9D9CD0-1403-4A19-A657-7A8767586885}"/>
              </a:ext>
            </a:extLst>
          </p:cNvPr>
          <p:cNvSpPr>
            <a:spLocks noGrp="1"/>
          </p:cNvSpPr>
          <p:nvPr>
            <p:ph type="sldNum" sz="quarter" idx="14"/>
          </p:nvPr>
        </p:nvSpPr>
        <p:spPr/>
        <p:txBody>
          <a:bodyPr/>
          <a:lstStyle/>
          <a:p>
            <a:fld id="{BC8D7E44-7D4F-4942-A8C9-2DF6BF8399E8}" type="slidenum">
              <a:rPr lang="en-US" smtClean="0"/>
              <a:pPr/>
              <a:t>88</a:t>
            </a:fld>
            <a:endParaRPr lang="en-US" dirty="0"/>
          </a:p>
        </p:txBody>
      </p:sp>
    </p:spTree>
    <p:extLst>
      <p:ext uri="{BB962C8B-B14F-4D97-AF65-F5344CB8AC3E}">
        <p14:creationId xmlns:p14="http://schemas.microsoft.com/office/powerpoint/2010/main" val="27597138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972275-17FA-4672-B075-EA6E86619CF8}"/>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IN" dirty="0"/>
              <a:t>A broker is a messenger that is responsible for the transmission of requests from clients to servers, as well as the transmission of responses and exceptions back to the client. </a:t>
            </a:r>
          </a:p>
          <a:p>
            <a:pPr>
              <a:buFont typeface="Arial" panose="020B0604020202020204" pitchFamily="34" charset="0"/>
              <a:buChar char="•"/>
            </a:pPr>
            <a:r>
              <a:rPr lang="en-IN" dirty="0"/>
              <a:t>A broker must have some means of locating the receiver of a request based on its unique system identifier. A broker offers APIs (Application Programming Interfaces) to clients and servers that include operations for registering servers and for invoking server methods. </a:t>
            </a:r>
          </a:p>
          <a:p>
            <a:pPr>
              <a:buFont typeface="Arial" panose="020B0604020202020204" pitchFamily="34" charset="0"/>
              <a:buChar char="•"/>
            </a:pPr>
            <a:r>
              <a:rPr lang="en-IN" dirty="0"/>
              <a:t>When a request arrives for a server that is maintained by the local broker, the broker passes the request directly to the server. </a:t>
            </a:r>
          </a:p>
          <a:p>
            <a:pPr>
              <a:buFont typeface="Arial" panose="020B0604020202020204" pitchFamily="34" charset="0"/>
              <a:buChar char="•"/>
            </a:pPr>
            <a:r>
              <a:rPr lang="en-IN" dirty="0"/>
              <a:t>If the server is currently inactive, the broker activates it. </a:t>
            </a:r>
          </a:p>
          <a:p>
            <a:pPr>
              <a:buFont typeface="Arial" panose="020B0604020202020204" pitchFamily="34" charset="0"/>
              <a:buChar char="•"/>
            </a:pPr>
            <a:r>
              <a:rPr lang="en-IN" dirty="0"/>
              <a:t>All responses and exceptions from a service execution are forwarded by the broker to the client that sent the request. </a:t>
            </a:r>
          </a:p>
          <a:p>
            <a:pPr>
              <a:buFont typeface="Arial" panose="020B0604020202020204" pitchFamily="34" charset="0"/>
              <a:buChar char="•"/>
            </a:pPr>
            <a:r>
              <a:rPr lang="en-IN" dirty="0"/>
              <a:t>If the specified server is hosted by another broker, the local broker finds a route to the remote broker and forwards the request using this route. </a:t>
            </a:r>
          </a:p>
          <a:p>
            <a:pPr>
              <a:buFont typeface="Arial" panose="020B0604020202020204" pitchFamily="34" charset="0"/>
              <a:buChar char="•"/>
            </a:pPr>
            <a:r>
              <a:rPr lang="en-IN" dirty="0"/>
              <a:t>There is therefore a need for brokers to interoperate. </a:t>
            </a:r>
          </a:p>
          <a:p>
            <a:pPr>
              <a:buFont typeface="Arial" panose="020B0604020202020204" pitchFamily="34" charset="0"/>
              <a:buChar char="•"/>
            </a:pPr>
            <a:r>
              <a:rPr lang="en-IN" dirty="0"/>
              <a:t>Depending on the requirements of the whole system, additional services-such as name services or marshalling services may be integrated into the broker.</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BDD72F0E-828B-4504-BF06-C4E6D7B7EA81}"/>
              </a:ext>
            </a:extLst>
          </p:cNvPr>
          <p:cNvSpPr>
            <a:spLocks noGrp="1"/>
          </p:cNvSpPr>
          <p:nvPr>
            <p:ph sz="quarter" idx="10"/>
          </p:nvPr>
        </p:nvSpPr>
        <p:spPr/>
        <p:txBody>
          <a:bodyPr/>
          <a:lstStyle/>
          <a:p>
            <a:r>
              <a:rPr lang="en-IN" dirty="0"/>
              <a:t>Broker</a:t>
            </a:r>
          </a:p>
        </p:txBody>
      </p:sp>
      <p:sp>
        <p:nvSpPr>
          <p:cNvPr id="4" name="Date Placeholder 3">
            <a:extLst>
              <a:ext uri="{FF2B5EF4-FFF2-40B4-BE49-F238E27FC236}">
                <a16:creationId xmlns:a16="http://schemas.microsoft.com/office/drawing/2014/main" id="{DB5CC1AA-0FB3-44B5-80E1-8FDEAEB97177}"/>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11732679-6778-4916-BF99-34065C72AC12}"/>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4C4479F5-5807-4B07-857E-330FE447901A}"/>
              </a:ext>
            </a:extLst>
          </p:cNvPr>
          <p:cNvSpPr>
            <a:spLocks noGrp="1"/>
          </p:cNvSpPr>
          <p:nvPr>
            <p:ph type="sldNum" sz="quarter" idx="14"/>
          </p:nvPr>
        </p:nvSpPr>
        <p:spPr/>
        <p:txBody>
          <a:bodyPr/>
          <a:lstStyle/>
          <a:p>
            <a:fld id="{BC8D7E44-7D4F-4942-A8C9-2DF6BF8399E8}" type="slidenum">
              <a:rPr lang="en-US" smtClean="0"/>
              <a:pPr/>
              <a:t>89</a:t>
            </a:fld>
            <a:endParaRPr lang="en-US" dirty="0"/>
          </a:p>
        </p:txBody>
      </p:sp>
    </p:spTree>
    <p:extLst>
      <p:ext uri="{BB962C8B-B14F-4D97-AF65-F5344CB8AC3E}">
        <p14:creationId xmlns:p14="http://schemas.microsoft.com/office/powerpoint/2010/main" val="10682127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91C0FE2-B619-4848-BE65-840E9AA4D2DA}"/>
              </a:ext>
            </a:extLst>
          </p:cNvPr>
          <p:cNvPicPr>
            <a:picLocks noGrp="1" noChangeAspect="1"/>
          </p:cNvPicPr>
          <p:nvPr>
            <p:ph idx="1"/>
          </p:nvPr>
        </p:nvPicPr>
        <p:blipFill>
          <a:blip r:embed="rId2"/>
          <a:stretch>
            <a:fillRect/>
          </a:stretch>
        </p:blipFill>
        <p:spPr>
          <a:xfrm>
            <a:off x="1334027" y="1493838"/>
            <a:ext cx="6171145" cy="4525962"/>
          </a:xfrm>
          <a:prstGeom prst="rect">
            <a:avLst/>
          </a:prstGeom>
        </p:spPr>
      </p:pic>
      <p:sp>
        <p:nvSpPr>
          <p:cNvPr id="3" name="Content Placeholder 2">
            <a:extLst>
              <a:ext uri="{FF2B5EF4-FFF2-40B4-BE49-F238E27FC236}">
                <a16:creationId xmlns:a16="http://schemas.microsoft.com/office/drawing/2014/main" id="{CA53CA9C-0574-4A0A-9C66-ED0CB5EAC606}"/>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6016AB0B-5527-45D5-848C-EC927A53F384}"/>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E62E0FB0-9264-4190-BAAC-B5F1BE25A528}"/>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A49B9119-1493-4C72-9AA1-AE46560B9EB4}"/>
              </a:ext>
            </a:extLst>
          </p:cNvPr>
          <p:cNvSpPr>
            <a:spLocks noGrp="1"/>
          </p:cNvSpPr>
          <p:nvPr>
            <p:ph type="sldNum" sz="quarter" idx="14"/>
          </p:nvPr>
        </p:nvSpPr>
        <p:spPr/>
        <p:txBody>
          <a:bodyPr/>
          <a:lstStyle/>
          <a:p>
            <a:fld id="{BC8D7E44-7D4F-4942-A8C9-2DF6BF8399E8}" type="slidenum">
              <a:rPr lang="en-US" smtClean="0"/>
              <a:pPr/>
              <a:t>90</a:t>
            </a:fld>
            <a:endParaRPr lang="en-US" dirty="0"/>
          </a:p>
        </p:txBody>
      </p:sp>
    </p:spTree>
    <p:extLst>
      <p:ext uri="{BB962C8B-B14F-4D97-AF65-F5344CB8AC3E}">
        <p14:creationId xmlns:p14="http://schemas.microsoft.com/office/powerpoint/2010/main" val="41195655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25490-575D-49EA-B29A-FC5F3BD8ECC6}"/>
              </a:ext>
            </a:extLst>
          </p:cNvPr>
          <p:cNvSpPr>
            <a:spLocks noGrp="1"/>
          </p:cNvSpPr>
          <p:nvPr>
            <p:ph idx="1"/>
          </p:nvPr>
        </p:nvSpPr>
        <p:spPr/>
        <p:txBody>
          <a:bodyPr>
            <a:normAutofit fontScale="70000" lnSpcReduction="20000"/>
          </a:bodyPr>
          <a:lstStyle/>
          <a:p>
            <a:pPr>
              <a:buFont typeface="Arial" panose="020B0604020202020204" pitchFamily="34" charset="0"/>
              <a:buChar char="•"/>
            </a:pPr>
            <a:endParaRPr lang="en-IN" dirty="0"/>
          </a:p>
          <a:p>
            <a:pPr>
              <a:buFont typeface="Wingdings" panose="05000000000000000000" pitchFamily="2" charset="2"/>
              <a:buChar char="ü"/>
            </a:pPr>
            <a:r>
              <a:rPr lang="en-IN" dirty="0"/>
              <a:t>In this pattern description we distinguish between local and remote brokers. </a:t>
            </a:r>
          </a:p>
          <a:p>
            <a:pPr lvl="2">
              <a:buFont typeface="Wingdings" panose="05000000000000000000" pitchFamily="2" charset="2"/>
              <a:buChar char="ü"/>
            </a:pPr>
            <a:r>
              <a:rPr lang="en-IN" dirty="0"/>
              <a:t>A local broker is running on the machine currently under consideration. </a:t>
            </a:r>
          </a:p>
          <a:p>
            <a:pPr lvl="2">
              <a:buFont typeface="Wingdings" panose="05000000000000000000" pitchFamily="2" charset="2"/>
              <a:buChar char="ü"/>
            </a:pPr>
            <a:r>
              <a:rPr lang="en-IN" dirty="0"/>
              <a:t>A remote broker is running on a remote network node. </a:t>
            </a:r>
          </a:p>
          <a:p>
            <a:endParaRPr lang="en-IN" dirty="0"/>
          </a:p>
          <a:p>
            <a:pPr>
              <a:buFont typeface="Wingdings" panose="05000000000000000000" pitchFamily="2" charset="2"/>
              <a:buChar char="ü"/>
            </a:pPr>
            <a:r>
              <a:rPr lang="en-IN" dirty="0"/>
              <a:t>Name services provide associations between names and objects. </a:t>
            </a:r>
          </a:p>
          <a:p>
            <a:pPr lvl="2">
              <a:buFont typeface="Wingdings" panose="05000000000000000000" pitchFamily="2" charset="2"/>
              <a:buChar char="ü"/>
            </a:pPr>
            <a:r>
              <a:rPr lang="en-IN" dirty="0"/>
              <a:t>To resolve a name, a name service determines which server is associated with a given name. </a:t>
            </a:r>
          </a:p>
          <a:p>
            <a:pPr lvl="2">
              <a:buFont typeface="Wingdings" panose="05000000000000000000" pitchFamily="2" charset="2"/>
              <a:buChar char="ü"/>
            </a:pPr>
            <a:r>
              <a:rPr lang="en-IN" dirty="0"/>
              <a:t>In the context of Broker systems, names are only meaningful relative to a name space.</a:t>
            </a:r>
          </a:p>
          <a:p>
            <a:pPr lvl="2">
              <a:buFont typeface="Wingdings" panose="05000000000000000000" pitchFamily="2" charset="2"/>
              <a:buChar char="ü"/>
            </a:pPr>
            <a:endParaRPr lang="en-IN" dirty="0"/>
          </a:p>
          <a:p>
            <a:pPr>
              <a:buFont typeface="Wingdings" panose="05000000000000000000" pitchFamily="2" charset="2"/>
              <a:buChar char="ü"/>
            </a:pPr>
            <a:r>
              <a:rPr lang="en-IN" dirty="0"/>
              <a:t>Marshalling is the semantic-invariant conversion of data into a machine independent format such as </a:t>
            </a:r>
          </a:p>
          <a:p>
            <a:pPr lvl="2">
              <a:buFont typeface="Wingdings" panose="05000000000000000000" pitchFamily="2" charset="2"/>
              <a:buChar char="ü"/>
            </a:pPr>
            <a:r>
              <a:rPr lang="en-IN" dirty="0"/>
              <a:t>ASN.1 (Abstract Syntax Notation or </a:t>
            </a:r>
          </a:p>
          <a:p>
            <a:pPr lvl="2">
              <a:buFont typeface="Wingdings" panose="05000000000000000000" pitchFamily="2" charset="2"/>
              <a:buChar char="ü"/>
            </a:pPr>
            <a:r>
              <a:rPr lang="en-IN" dirty="0"/>
              <a:t>ONC XDR [external Data Representation). </a:t>
            </a:r>
          </a:p>
          <a:p>
            <a:pPr>
              <a:buFont typeface="Wingdings" panose="05000000000000000000" pitchFamily="2" charset="2"/>
              <a:buChar char="ü"/>
            </a:pPr>
            <a:r>
              <a:rPr lang="en-IN" dirty="0"/>
              <a:t>Marshalling performs the reverse transformation. </a:t>
            </a:r>
          </a:p>
        </p:txBody>
      </p:sp>
      <p:sp>
        <p:nvSpPr>
          <p:cNvPr id="3" name="Content Placeholder 2">
            <a:extLst>
              <a:ext uri="{FF2B5EF4-FFF2-40B4-BE49-F238E27FC236}">
                <a16:creationId xmlns:a16="http://schemas.microsoft.com/office/drawing/2014/main" id="{F32922DD-F5FF-40BF-A129-CAA20C7F8FD9}"/>
              </a:ext>
            </a:extLst>
          </p:cNvPr>
          <p:cNvSpPr>
            <a:spLocks noGrp="1"/>
          </p:cNvSpPr>
          <p:nvPr>
            <p:ph sz="quarter" idx="10"/>
          </p:nvPr>
        </p:nvSpPr>
        <p:spPr/>
        <p:txBody>
          <a:bodyPr/>
          <a:lstStyle/>
          <a:p>
            <a:r>
              <a:rPr lang="en-IN" dirty="0"/>
              <a:t>Some Definitions</a:t>
            </a:r>
          </a:p>
        </p:txBody>
      </p:sp>
      <p:sp>
        <p:nvSpPr>
          <p:cNvPr id="4" name="Date Placeholder 3">
            <a:extLst>
              <a:ext uri="{FF2B5EF4-FFF2-40B4-BE49-F238E27FC236}">
                <a16:creationId xmlns:a16="http://schemas.microsoft.com/office/drawing/2014/main" id="{CAE5A7E3-0FDD-437D-B496-0AE47F9A2924}"/>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C1CFC1E0-6625-481B-BFD6-B22B3D97D84E}"/>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CCDF80F6-10CC-495D-85B2-1397813FAFB4}"/>
              </a:ext>
            </a:extLst>
          </p:cNvPr>
          <p:cNvSpPr>
            <a:spLocks noGrp="1"/>
          </p:cNvSpPr>
          <p:nvPr>
            <p:ph type="sldNum" sz="quarter" idx="14"/>
          </p:nvPr>
        </p:nvSpPr>
        <p:spPr/>
        <p:txBody>
          <a:bodyPr/>
          <a:lstStyle/>
          <a:p>
            <a:fld id="{BC8D7E44-7D4F-4942-A8C9-2DF6BF8399E8}" type="slidenum">
              <a:rPr lang="en-US" smtClean="0"/>
              <a:pPr/>
              <a:t>91</a:t>
            </a:fld>
            <a:endParaRPr lang="en-US" dirty="0"/>
          </a:p>
        </p:txBody>
      </p:sp>
    </p:spTree>
    <p:extLst>
      <p:ext uri="{BB962C8B-B14F-4D97-AF65-F5344CB8AC3E}">
        <p14:creationId xmlns:p14="http://schemas.microsoft.com/office/powerpoint/2010/main" val="26541891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5C890E-C2EC-46BE-A180-E93089871CBE}"/>
              </a:ext>
            </a:extLst>
          </p:cNvPr>
          <p:cNvSpPr>
            <a:spLocks noGrp="1"/>
          </p:cNvSpPr>
          <p:nvPr>
            <p:ph idx="1"/>
          </p:nvPr>
        </p:nvSpPr>
        <p:spPr>
          <a:xfrm>
            <a:off x="304800" y="1493837"/>
            <a:ext cx="8229600" cy="4972839"/>
          </a:xfrm>
        </p:spPr>
        <p:txBody>
          <a:bodyPr>
            <a:normAutofit lnSpcReduction="10000"/>
          </a:bodyPr>
          <a:lstStyle/>
          <a:p>
            <a:pPr>
              <a:buFont typeface="Arial" panose="020B0604020202020204" pitchFamily="34" charset="0"/>
              <a:buChar char="•"/>
            </a:pPr>
            <a:r>
              <a:rPr lang="en-IN" dirty="0"/>
              <a:t>A broker may be a combination of an Internet gateway and the Internet infrastructure itself. </a:t>
            </a:r>
          </a:p>
          <a:p>
            <a:pPr>
              <a:buFont typeface="Arial" panose="020B0604020202020204" pitchFamily="34" charset="0"/>
              <a:buChar char="•"/>
            </a:pPr>
            <a:r>
              <a:rPr lang="en-IN" dirty="0"/>
              <a:t>Every information exchange between a client and a server must pass through the broker. </a:t>
            </a:r>
          </a:p>
          <a:p>
            <a:pPr>
              <a:buFont typeface="Arial" panose="020B0604020202020204" pitchFamily="34" charset="0"/>
              <a:buChar char="•"/>
            </a:pPr>
            <a:r>
              <a:rPr lang="en-IN" dirty="0"/>
              <a:t>A client specifies the information it wants using unique identifiers called URLs (Universal Resource Locators). </a:t>
            </a:r>
          </a:p>
          <a:p>
            <a:pPr>
              <a:buFont typeface="Arial" panose="020B0604020202020204" pitchFamily="34" charset="0"/>
              <a:buChar char="•"/>
            </a:pPr>
            <a:r>
              <a:rPr lang="en-IN" dirty="0"/>
              <a:t>By using these identifiers the broker is able to locate the required services and to route the requests to the appropriate server machines. </a:t>
            </a:r>
          </a:p>
          <a:p>
            <a:pPr>
              <a:buFont typeface="Arial" panose="020B0604020202020204" pitchFamily="34" charset="0"/>
              <a:buChar char="•"/>
            </a:pPr>
            <a:r>
              <a:rPr lang="en-IN" dirty="0"/>
              <a:t>When a new server machine is added, it must be registered with the broker. </a:t>
            </a:r>
          </a:p>
          <a:p>
            <a:pPr>
              <a:buFont typeface="Arial" panose="020B0604020202020204" pitchFamily="34" charset="0"/>
              <a:buChar char="•"/>
            </a:pPr>
            <a:r>
              <a:rPr lang="en-IN" dirty="0"/>
              <a:t>Clients and servers use the gateway of their Internet provider as an interface to the broker. </a:t>
            </a:r>
          </a:p>
        </p:txBody>
      </p:sp>
      <p:sp>
        <p:nvSpPr>
          <p:cNvPr id="3" name="Content Placeholder 2">
            <a:extLst>
              <a:ext uri="{FF2B5EF4-FFF2-40B4-BE49-F238E27FC236}">
                <a16:creationId xmlns:a16="http://schemas.microsoft.com/office/drawing/2014/main" id="{BD9CA62E-3B27-4DD5-97F9-78078C693389}"/>
              </a:ext>
            </a:extLst>
          </p:cNvPr>
          <p:cNvSpPr>
            <a:spLocks noGrp="1"/>
          </p:cNvSpPr>
          <p:nvPr>
            <p:ph sz="quarter" idx="10"/>
          </p:nvPr>
        </p:nvSpPr>
        <p:spPr/>
        <p:txBody>
          <a:bodyPr/>
          <a:lstStyle/>
          <a:p>
            <a:r>
              <a:rPr lang="en-IN" dirty="0"/>
              <a:t>Broker: Illustration</a:t>
            </a:r>
          </a:p>
        </p:txBody>
      </p:sp>
      <p:sp>
        <p:nvSpPr>
          <p:cNvPr id="4" name="Date Placeholder 3">
            <a:extLst>
              <a:ext uri="{FF2B5EF4-FFF2-40B4-BE49-F238E27FC236}">
                <a16:creationId xmlns:a16="http://schemas.microsoft.com/office/drawing/2014/main" id="{28C01B4C-3718-4BB2-8966-E0FDC9B7472E}"/>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8D7161D9-62C2-465D-ADA9-815581BB4A02}"/>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DD8E5CF6-0C49-49A7-B188-E9A110A845D6}"/>
              </a:ext>
            </a:extLst>
          </p:cNvPr>
          <p:cNvSpPr>
            <a:spLocks noGrp="1"/>
          </p:cNvSpPr>
          <p:nvPr>
            <p:ph type="sldNum" sz="quarter" idx="14"/>
          </p:nvPr>
        </p:nvSpPr>
        <p:spPr/>
        <p:txBody>
          <a:bodyPr/>
          <a:lstStyle/>
          <a:p>
            <a:fld id="{BC8D7E44-7D4F-4942-A8C9-2DF6BF8399E8}" type="slidenum">
              <a:rPr lang="en-US" smtClean="0"/>
              <a:pPr/>
              <a:t>92</a:t>
            </a:fld>
            <a:endParaRPr lang="en-US" dirty="0"/>
          </a:p>
        </p:txBody>
      </p:sp>
    </p:spTree>
    <p:extLst>
      <p:ext uri="{BB962C8B-B14F-4D97-AF65-F5344CB8AC3E}">
        <p14:creationId xmlns:p14="http://schemas.microsoft.com/office/powerpoint/2010/main" val="19089937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DE9E66-F36E-47BA-9047-9DCCBFD8237D}"/>
              </a:ext>
            </a:extLst>
          </p:cNvPr>
          <p:cNvSpPr>
            <a:spLocks noGrp="1"/>
          </p:cNvSpPr>
          <p:nvPr>
            <p:ph idx="1"/>
          </p:nvPr>
        </p:nvSpPr>
        <p:spPr>
          <a:xfrm>
            <a:off x="304800" y="1493837"/>
            <a:ext cx="8229600" cy="4972839"/>
          </a:xfrm>
        </p:spPr>
        <p:txBody>
          <a:bodyPr>
            <a:normAutofit fontScale="92500" lnSpcReduction="10000"/>
          </a:bodyPr>
          <a:lstStyle/>
          <a:p>
            <a:pPr>
              <a:buFont typeface="Arial" panose="020B0604020202020204" pitchFamily="34" charset="0"/>
              <a:buChar char="•"/>
            </a:pPr>
            <a:r>
              <a:rPr lang="en-IN" dirty="0"/>
              <a:t>Client-side proxies represent a layer between clients and the broker. </a:t>
            </a:r>
          </a:p>
          <a:p>
            <a:pPr>
              <a:buFont typeface="Arial" panose="020B0604020202020204" pitchFamily="34" charset="0"/>
              <a:buChar char="•"/>
            </a:pPr>
            <a:r>
              <a:rPr lang="en-IN" dirty="0"/>
              <a:t>This additional layer provides transparency, in that a remote object appears to the client as a local one. </a:t>
            </a:r>
          </a:p>
          <a:p>
            <a:pPr>
              <a:buFont typeface="Arial" panose="020B0604020202020204" pitchFamily="34" charset="0"/>
              <a:buChar char="•"/>
            </a:pPr>
            <a:r>
              <a:rPr lang="en-IN" dirty="0"/>
              <a:t>In detail, the proxies allow the hiding of implementation details from the clients such as: </a:t>
            </a:r>
          </a:p>
          <a:p>
            <a:pPr lvl="2"/>
            <a:r>
              <a:rPr lang="en-IN" dirty="0"/>
              <a:t>The inter-process communication mechanism used for message transfers between clients and brokers. </a:t>
            </a:r>
          </a:p>
          <a:p>
            <a:pPr lvl="2"/>
            <a:r>
              <a:rPr lang="en-IN" dirty="0"/>
              <a:t>The creation and deletion of memory blocks. </a:t>
            </a:r>
          </a:p>
          <a:p>
            <a:pPr lvl="2"/>
            <a:r>
              <a:rPr lang="en-IN" dirty="0"/>
              <a:t>The marshalling of parameters and results. </a:t>
            </a:r>
          </a:p>
          <a:p>
            <a:pPr>
              <a:buFont typeface="Arial" panose="020B0604020202020204" pitchFamily="34" charset="0"/>
              <a:buChar char="•"/>
            </a:pPr>
            <a:r>
              <a:rPr lang="en-IN" dirty="0"/>
              <a:t>In many cases, client-side proxies translate the object model specified as part of the Broker architectural pattern to the object model of the programming language used to implement the client.</a:t>
            </a:r>
          </a:p>
        </p:txBody>
      </p:sp>
      <p:sp>
        <p:nvSpPr>
          <p:cNvPr id="3" name="Content Placeholder 2">
            <a:extLst>
              <a:ext uri="{FF2B5EF4-FFF2-40B4-BE49-F238E27FC236}">
                <a16:creationId xmlns:a16="http://schemas.microsoft.com/office/drawing/2014/main" id="{7A1AD231-B705-4979-8CB5-4D476BBBBE20}"/>
              </a:ext>
            </a:extLst>
          </p:cNvPr>
          <p:cNvSpPr>
            <a:spLocks noGrp="1"/>
          </p:cNvSpPr>
          <p:nvPr>
            <p:ph sz="quarter" idx="10"/>
          </p:nvPr>
        </p:nvSpPr>
        <p:spPr/>
        <p:txBody>
          <a:bodyPr/>
          <a:lstStyle/>
          <a:p>
            <a:r>
              <a:rPr lang="en-IN" dirty="0"/>
              <a:t>Client-side proxies</a:t>
            </a:r>
          </a:p>
        </p:txBody>
      </p:sp>
      <p:sp>
        <p:nvSpPr>
          <p:cNvPr id="4" name="Date Placeholder 3">
            <a:extLst>
              <a:ext uri="{FF2B5EF4-FFF2-40B4-BE49-F238E27FC236}">
                <a16:creationId xmlns:a16="http://schemas.microsoft.com/office/drawing/2014/main" id="{41FFE0C5-EABA-4214-8B1C-797B7ED499B0}"/>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0586718A-71DD-44C2-BD23-319519ECED1D}"/>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AA9206B2-4458-49E6-94B1-7D84ECEB118A}"/>
              </a:ext>
            </a:extLst>
          </p:cNvPr>
          <p:cNvSpPr>
            <a:spLocks noGrp="1"/>
          </p:cNvSpPr>
          <p:nvPr>
            <p:ph type="sldNum" sz="quarter" idx="14"/>
          </p:nvPr>
        </p:nvSpPr>
        <p:spPr/>
        <p:txBody>
          <a:bodyPr/>
          <a:lstStyle/>
          <a:p>
            <a:fld id="{BC8D7E44-7D4F-4942-A8C9-2DF6BF8399E8}" type="slidenum">
              <a:rPr lang="en-US" smtClean="0"/>
              <a:pPr/>
              <a:t>93</a:t>
            </a:fld>
            <a:endParaRPr lang="en-US" dirty="0"/>
          </a:p>
        </p:txBody>
      </p:sp>
    </p:spTree>
    <p:extLst>
      <p:ext uri="{BB962C8B-B14F-4D97-AF65-F5344CB8AC3E}">
        <p14:creationId xmlns:p14="http://schemas.microsoft.com/office/powerpoint/2010/main" val="1966928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6CE648B-A876-44CC-8C2A-585207F75767}"/>
              </a:ext>
            </a:extLst>
          </p:cNvPr>
          <p:cNvPicPr>
            <a:picLocks noGrp="1" noChangeAspect="1"/>
          </p:cNvPicPr>
          <p:nvPr>
            <p:ph idx="1"/>
          </p:nvPr>
        </p:nvPicPr>
        <p:blipFill>
          <a:blip r:embed="rId2"/>
          <a:stretch>
            <a:fillRect/>
          </a:stretch>
        </p:blipFill>
        <p:spPr>
          <a:xfrm>
            <a:off x="1013543" y="1493838"/>
            <a:ext cx="6812113" cy="4525962"/>
          </a:xfrm>
          <a:prstGeom prst="rect">
            <a:avLst/>
          </a:prstGeom>
        </p:spPr>
      </p:pic>
      <p:sp>
        <p:nvSpPr>
          <p:cNvPr id="3" name="Content Placeholder 2">
            <a:extLst>
              <a:ext uri="{FF2B5EF4-FFF2-40B4-BE49-F238E27FC236}">
                <a16:creationId xmlns:a16="http://schemas.microsoft.com/office/drawing/2014/main" id="{8A615942-395F-4177-973E-FDEF710E465C}"/>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63602B54-A2AC-434A-A815-177A3DA3E7A5}"/>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8E7A0924-8C9A-4A4D-AE5C-B770CF65CA5E}"/>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61ACACD1-85B6-4471-A0F4-D9E9D3F8824E}"/>
              </a:ext>
            </a:extLst>
          </p:cNvPr>
          <p:cNvSpPr>
            <a:spLocks noGrp="1"/>
          </p:cNvSpPr>
          <p:nvPr>
            <p:ph type="sldNum" sz="quarter" idx="14"/>
          </p:nvPr>
        </p:nvSpPr>
        <p:spPr/>
        <p:txBody>
          <a:bodyPr/>
          <a:lstStyle/>
          <a:p>
            <a:fld id="{BC8D7E44-7D4F-4942-A8C9-2DF6BF8399E8}" type="slidenum">
              <a:rPr lang="en-US" smtClean="0"/>
              <a:pPr/>
              <a:t>94</a:t>
            </a:fld>
            <a:endParaRPr lang="en-US" dirty="0"/>
          </a:p>
        </p:txBody>
      </p:sp>
    </p:spTree>
    <p:extLst>
      <p:ext uri="{BB962C8B-B14F-4D97-AF65-F5344CB8AC3E}">
        <p14:creationId xmlns:p14="http://schemas.microsoft.com/office/powerpoint/2010/main" val="938273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5207D4-74C0-421B-88CB-67FDF15BED36}"/>
              </a:ext>
            </a:extLst>
          </p:cNvPr>
          <p:cNvSpPr>
            <a:spLocks noGrp="1"/>
          </p:cNvSpPr>
          <p:nvPr>
            <p:ph idx="1"/>
          </p:nvPr>
        </p:nvSpPr>
        <p:spPr/>
        <p:txBody>
          <a:bodyPr/>
          <a:lstStyle/>
          <a:p>
            <a:pPr>
              <a:buFont typeface="Arial" panose="020B0604020202020204" pitchFamily="34" charset="0"/>
              <a:buChar char="•"/>
            </a:pPr>
            <a:r>
              <a:rPr lang="en-IN" dirty="0"/>
              <a:t>Sewer-side proxies are generally analogous to Client-side proxies. </a:t>
            </a:r>
          </a:p>
          <a:p>
            <a:pPr>
              <a:buFont typeface="Arial" panose="020B0604020202020204" pitchFamily="34" charset="0"/>
              <a:buChar char="•"/>
            </a:pPr>
            <a:r>
              <a:rPr lang="en-IN" dirty="0"/>
              <a:t>The difference is that they are responsible for receiving requests, unpacking incoming messages, marshalling the parameters, and calling the appropriate service. </a:t>
            </a:r>
          </a:p>
          <a:p>
            <a:pPr>
              <a:buFont typeface="Arial" panose="020B0604020202020204" pitchFamily="34" charset="0"/>
              <a:buChar char="•"/>
            </a:pPr>
            <a:r>
              <a:rPr lang="en-IN" dirty="0"/>
              <a:t>They are used in addition for marshalling results and exceptions before sending them to the client.</a:t>
            </a:r>
          </a:p>
        </p:txBody>
      </p:sp>
      <p:sp>
        <p:nvSpPr>
          <p:cNvPr id="3" name="Content Placeholder 2">
            <a:extLst>
              <a:ext uri="{FF2B5EF4-FFF2-40B4-BE49-F238E27FC236}">
                <a16:creationId xmlns:a16="http://schemas.microsoft.com/office/drawing/2014/main" id="{51587CC6-BD6C-4214-A9B3-BB3457334C39}"/>
              </a:ext>
            </a:extLst>
          </p:cNvPr>
          <p:cNvSpPr>
            <a:spLocks noGrp="1"/>
          </p:cNvSpPr>
          <p:nvPr>
            <p:ph sz="quarter" idx="10"/>
          </p:nvPr>
        </p:nvSpPr>
        <p:spPr/>
        <p:txBody>
          <a:bodyPr/>
          <a:lstStyle/>
          <a:p>
            <a:r>
              <a:rPr lang="en-IN" dirty="0"/>
              <a:t>Server Side Proxy</a:t>
            </a:r>
          </a:p>
        </p:txBody>
      </p:sp>
      <p:sp>
        <p:nvSpPr>
          <p:cNvPr id="4" name="Date Placeholder 3">
            <a:extLst>
              <a:ext uri="{FF2B5EF4-FFF2-40B4-BE49-F238E27FC236}">
                <a16:creationId xmlns:a16="http://schemas.microsoft.com/office/drawing/2014/main" id="{868DEA81-EEBF-4EFB-AF45-A54CED17A23E}"/>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BDAFC4F5-DBFA-4286-88AD-EB3128CCA44D}"/>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01501C52-3B95-4C46-AF14-47D4134E0E1D}"/>
              </a:ext>
            </a:extLst>
          </p:cNvPr>
          <p:cNvSpPr>
            <a:spLocks noGrp="1"/>
          </p:cNvSpPr>
          <p:nvPr>
            <p:ph type="sldNum" sz="quarter" idx="14"/>
          </p:nvPr>
        </p:nvSpPr>
        <p:spPr/>
        <p:txBody>
          <a:bodyPr/>
          <a:lstStyle/>
          <a:p>
            <a:fld id="{BC8D7E44-7D4F-4942-A8C9-2DF6BF8399E8}" type="slidenum">
              <a:rPr lang="en-US" smtClean="0"/>
              <a:pPr/>
              <a:t>95</a:t>
            </a:fld>
            <a:endParaRPr lang="en-US" dirty="0"/>
          </a:p>
        </p:txBody>
      </p:sp>
    </p:spTree>
    <p:extLst>
      <p:ext uri="{BB962C8B-B14F-4D97-AF65-F5344CB8AC3E}">
        <p14:creationId xmlns:p14="http://schemas.microsoft.com/office/powerpoint/2010/main" val="13144055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D6B891E-4292-48C1-917E-8CA01F0C449E}"/>
              </a:ext>
            </a:extLst>
          </p:cNvPr>
          <p:cNvPicPr>
            <a:picLocks noGrp="1" noChangeAspect="1"/>
          </p:cNvPicPr>
          <p:nvPr>
            <p:ph idx="1"/>
          </p:nvPr>
        </p:nvPicPr>
        <p:blipFill>
          <a:blip r:embed="rId2"/>
          <a:stretch>
            <a:fillRect/>
          </a:stretch>
        </p:blipFill>
        <p:spPr>
          <a:xfrm>
            <a:off x="1007721" y="1493838"/>
            <a:ext cx="6823758" cy="4525962"/>
          </a:xfrm>
          <a:prstGeom prst="rect">
            <a:avLst/>
          </a:prstGeom>
        </p:spPr>
      </p:pic>
      <p:sp>
        <p:nvSpPr>
          <p:cNvPr id="3" name="Content Placeholder 2">
            <a:extLst>
              <a:ext uri="{FF2B5EF4-FFF2-40B4-BE49-F238E27FC236}">
                <a16:creationId xmlns:a16="http://schemas.microsoft.com/office/drawing/2014/main" id="{83E89840-79FE-45FF-B607-5F103ABB8CD3}"/>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791672E2-BB6A-41A3-A4E8-ED964B748F1B}"/>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44C9BCB1-5EA0-4F49-995B-A893FBC9B5CA}"/>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6C1092B4-0956-4EA3-A033-232CE8A77B33}"/>
              </a:ext>
            </a:extLst>
          </p:cNvPr>
          <p:cNvSpPr>
            <a:spLocks noGrp="1"/>
          </p:cNvSpPr>
          <p:nvPr>
            <p:ph type="sldNum" sz="quarter" idx="14"/>
          </p:nvPr>
        </p:nvSpPr>
        <p:spPr/>
        <p:txBody>
          <a:bodyPr/>
          <a:lstStyle/>
          <a:p>
            <a:fld id="{BC8D7E44-7D4F-4942-A8C9-2DF6BF8399E8}" type="slidenum">
              <a:rPr lang="en-US" smtClean="0"/>
              <a:pPr/>
              <a:t>96</a:t>
            </a:fld>
            <a:endParaRPr lang="en-US" dirty="0"/>
          </a:p>
        </p:txBody>
      </p:sp>
    </p:spTree>
    <p:extLst>
      <p:ext uri="{BB962C8B-B14F-4D97-AF65-F5344CB8AC3E}">
        <p14:creationId xmlns:p14="http://schemas.microsoft.com/office/powerpoint/2010/main" val="23123220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69323E-A31F-48BA-AA87-8B5A6B58DAF1}"/>
              </a:ext>
            </a:extLst>
          </p:cNvPr>
          <p:cNvSpPr>
            <a:spLocks noGrp="1"/>
          </p:cNvSpPr>
          <p:nvPr>
            <p:ph idx="1"/>
          </p:nvPr>
        </p:nvSpPr>
        <p:spPr/>
        <p:txBody>
          <a:bodyPr/>
          <a:lstStyle/>
          <a:p>
            <a:pPr>
              <a:buFont typeface="Arial" panose="020B0604020202020204" pitchFamily="34" charset="0"/>
              <a:buChar char="•"/>
            </a:pPr>
            <a:r>
              <a:rPr lang="en-IN" dirty="0"/>
              <a:t>Bridges are optional components used for hiding implementation details when two brokers interoperate.</a:t>
            </a:r>
          </a:p>
          <a:p>
            <a:pPr>
              <a:buFont typeface="Arial" panose="020B0604020202020204" pitchFamily="34" charset="0"/>
              <a:buChar char="•"/>
            </a:pPr>
            <a:r>
              <a:rPr lang="en-IN" dirty="0"/>
              <a:t>Suppose a Broker system runs on a heterogeneous network. </a:t>
            </a:r>
          </a:p>
          <a:p>
            <a:pPr>
              <a:buFont typeface="Arial" panose="020B0604020202020204" pitchFamily="34" charset="0"/>
              <a:buChar char="•"/>
            </a:pPr>
            <a:r>
              <a:rPr lang="en-IN" dirty="0"/>
              <a:t>If requests are transmitted over the network, different brokers have to communicate independently of the different network and operating systems in use. </a:t>
            </a:r>
          </a:p>
          <a:p>
            <a:pPr>
              <a:buFont typeface="Arial" panose="020B0604020202020204" pitchFamily="34" charset="0"/>
              <a:buChar char="•"/>
            </a:pPr>
            <a:r>
              <a:rPr lang="en-IN" dirty="0"/>
              <a:t>A bridge builds a layer that encapsulates all these system-specific details. </a:t>
            </a:r>
          </a:p>
        </p:txBody>
      </p:sp>
      <p:sp>
        <p:nvSpPr>
          <p:cNvPr id="3" name="Content Placeholder 2">
            <a:extLst>
              <a:ext uri="{FF2B5EF4-FFF2-40B4-BE49-F238E27FC236}">
                <a16:creationId xmlns:a16="http://schemas.microsoft.com/office/drawing/2014/main" id="{55B83A0A-9F9A-4C2F-9196-DD91C69D939A}"/>
              </a:ext>
            </a:extLst>
          </p:cNvPr>
          <p:cNvSpPr>
            <a:spLocks noGrp="1"/>
          </p:cNvSpPr>
          <p:nvPr>
            <p:ph sz="quarter" idx="10"/>
          </p:nvPr>
        </p:nvSpPr>
        <p:spPr/>
        <p:txBody>
          <a:bodyPr/>
          <a:lstStyle/>
          <a:p>
            <a:r>
              <a:rPr lang="en-IN" dirty="0"/>
              <a:t>Bridges</a:t>
            </a:r>
          </a:p>
        </p:txBody>
      </p:sp>
      <p:sp>
        <p:nvSpPr>
          <p:cNvPr id="4" name="Date Placeholder 3">
            <a:extLst>
              <a:ext uri="{FF2B5EF4-FFF2-40B4-BE49-F238E27FC236}">
                <a16:creationId xmlns:a16="http://schemas.microsoft.com/office/drawing/2014/main" id="{6782207E-0B4F-4DCB-B868-57E708A1CF1C}"/>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4707E8A3-5F0D-4429-99EB-03B1DF5831E6}"/>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4FCD8A24-0775-443E-843B-880C150E4050}"/>
              </a:ext>
            </a:extLst>
          </p:cNvPr>
          <p:cNvSpPr>
            <a:spLocks noGrp="1"/>
          </p:cNvSpPr>
          <p:nvPr>
            <p:ph type="sldNum" sz="quarter" idx="14"/>
          </p:nvPr>
        </p:nvSpPr>
        <p:spPr/>
        <p:txBody>
          <a:bodyPr/>
          <a:lstStyle/>
          <a:p>
            <a:fld id="{BC8D7E44-7D4F-4942-A8C9-2DF6BF8399E8}" type="slidenum">
              <a:rPr lang="en-US" smtClean="0"/>
              <a:pPr/>
              <a:t>97</a:t>
            </a:fld>
            <a:endParaRPr lang="en-US" dirty="0"/>
          </a:p>
        </p:txBody>
      </p:sp>
    </p:spTree>
    <p:extLst>
      <p:ext uri="{BB962C8B-B14F-4D97-AF65-F5344CB8AC3E}">
        <p14:creationId xmlns:p14="http://schemas.microsoft.com/office/powerpoint/2010/main" val="38613391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91EE287-0BD3-45BF-950B-96A4383C0146}"/>
              </a:ext>
            </a:extLst>
          </p:cNvPr>
          <p:cNvPicPr>
            <a:picLocks noGrp="1" noChangeAspect="1"/>
          </p:cNvPicPr>
          <p:nvPr>
            <p:ph idx="1"/>
          </p:nvPr>
        </p:nvPicPr>
        <p:blipFill>
          <a:blip r:embed="rId2"/>
          <a:stretch>
            <a:fillRect/>
          </a:stretch>
        </p:blipFill>
        <p:spPr>
          <a:xfrm>
            <a:off x="1023201" y="1493838"/>
            <a:ext cx="6792798" cy="4525962"/>
          </a:xfrm>
          <a:prstGeom prst="rect">
            <a:avLst/>
          </a:prstGeom>
        </p:spPr>
      </p:pic>
      <p:sp>
        <p:nvSpPr>
          <p:cNvPr id="3" name="Content Placeholder 2">
            <a:extLst>
              <a:ext uri="{FF2B5EF4-FFF2-40B4-BE49-F238E27FC236}">
                <a16:creationId xmlns:a16="http://schemas.microsoft.com/office/drawing/2014/main" id="{9F07FB76-7C6F-402D-8BE8-F3322B3ECAB1}"/>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BC3EDB83-2A12-4CA4-8F96-D03F1590C3F7}"/>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92850052-E620-4177-9664-C770A5002C5A}"/>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28C9CED4-4AA1-4845-A0C0-C3A783A0FCCA}"/>
              </a:ext>
            </a:extLst>
          </p:cNvPr>
          <p:cNvSpPr>
            <a:spLocks noGrp="1"/>
          </p:cNvSpPr>
          <p:nvPr>
            <p:ph type="sldNum" sz="quarter" idx="14"/>
          </p:nvPr>
        </p:nvSpPr>
        <p:spPr/>
        <p:txBody>
          <a:bodyPr/>
          <a:lstStyle/>
          <a:p>
            <a:fld id="{BC8D7E44-7D4F-4942-A8C9-2DF6BF8399E8}" type="slidenum">
              <a:rPr lang="en-US" smtClean="0"/>
              <a:pPr/>
              <a:t>98</a:t>
            </a:fld>
            <a:endParaRPr lang="en-US" dirty="0"/>
          </a:p>
        </p:txBody>
      </p:sp>
    </p:spTree>
    <p:extLst>
      <p:ext uri="{BB962C8B-B14F-4D97-AF65-F5344CB8AC3E}">
        <p14:creationId xmlns:p14="http://schemas.microsoft.com/office/powerpoint/2010/main" val="29028854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6EE7432-2AFD-4825-AEE9-9094AEACC1DF}"/>
              </a:ext>
            </a:extLst>
          </p:cNvPr>
          <p:cNvPicPr>
            <a:picLocks noGrp="1" noChangeAspect="1"/>
          </p:cNvPicPr>
          <p:nvPr>
            <p:ph idx="1"/>
          </p:nvPr>
        </p:nvPicPr>
        <p:blipFill>
          <a:blip r:embed="rId2"/>
          <a:stretch>
            <a:fillRect/>
          </a:stretch>
        </p:blipFill>
        <p:spPr>
          <a:xfrm>
            <a:off x="304800" y="1512631"/>
            <a:ext cx="8229600" cy="4488376"/>
          </a:xfrm>
          <a:prstGeom prst="rect">
            <a:avLst/>
          </a:prstGeom>
        </p:spPr>
      </p:pic>
      <p:sp>
        <p:nvSpPr>
          <p:cNvPr id="3" name="Content Placeholder 2">
            <a:extLst>
              <a:ext uri="{FF2B5EF4-FFF2-40B4-BE49-F238E27FC236}">
                <a16:creationId xmlns:a16="http://schemas.microsoft.com/office/drawing/2014/main" id="{4CCCA123-7DA9-4D12-844C-639BDBAE9596}"/>
              </a:ext>
            </a:extLst>
          </p:cNvPr>
          <p:cNvSpPr>
            <a:spLocks noGrp="1"/>
          </p:cNvSpPr>
          <p:nvPr>
            <p:ph sz="quarter" idx="10"/>
          </p:nvPr>
        </p:nvSpPr>
        <p:spPr/>
        <p:txBody>
          <a:bodyPr/>
          <a:lstStyle/>
          <a:p>
            <a:r>
              <a:rPr lang="en-IN" dirty="0"/>
              <a:t>Broker System</a:t>
            </a:r>
          </a:p>
        </p:txBody>
      </p:sp>
      <p:sp>
        <p:nvSpPr>
          <p:cNvPr id="4" name="Date Placeholder 3">
            <a:extLst>
              <a:ext uri="{FF2B5EF4-FFF2-40B4-BE49-F238E27FC236}">
                <a16:creationId xmlns:a16="http://schemas.microsoft.com/office/drawing/2014/main" id="{5409A8FC-46CF-4F3F-82DE-F86EDBE38291}"/>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A01AC577-959D-48A5-BDE9-C09485DB19B1}"/>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0C88D0B6-A380-402D-B687-2BC944C5AD79}"/>
              </a:ext>
            </a:extLst>
          </p:cNvPr>
          <p:cNvSpPr>
            <a:spLocks noGrp="1"/>
          </p:cNvSpPr>
          <p:nvPr>
            <p:ph type="sldNum" sz="quarter" idx="14"/>
          </p:nvPr>
        </p:nvSpPr>
        <p:spPr/>
        <p:txBody>
          <a:bodyPr/>
          <a:lstStyle/>
          <a:p>
            <a:fld id="{BC8D7E44-7D4F-4942-A8C9-2DF6BF8399E8}" type="slidenum">
              <a:rPr lang="en-US" smtClean="0"/>
              <a:pPr/>
              <a:t>99</a:t>
            </a:fld>
            <a:endParaRPr lang="en-US" dirty="0"/>
          </a:p>
        </p:txBody>
      </p:sp>
    </p:spTree>
    <p:extLst>
      <p:ext uri="{BB962C8B-B14F-4D97-AF65-F5344CB8AC3E}">
        <p14:creationId xmlns:p14="http://schemas.microsoft.com/office/powerpoint/2010/main" val="29488805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66C8F2-C6BB-45DD-BEDD-58408C14B0E8}"/>
              </a:ext>
            </a:extLst>
          </p:cNvPr>
          <p:cNvSpPr>
            <a:spLocks noGrp="1"/>
          </p:cNvSpPr>
          <p:nvPr>
            <p:ph idx="1"/>
          </p:nvPr>
        </p:nvSpPr>
        <p:spPr/>
        <p:txBody>
          <a:bodyPr/>
          <a:lstStyle/>
          <a:p>
            <a:pPr marL="457200" indent="-457200">
              <a:buAutoNum type="arabicPeriod"/>
            </a:pPr>
            <a:r>
              <a:rPr lang="en-IN" dirty="0"/>
              <a:t>Define an object model, or use an </a:t>
            </a:r>
            <a:r>
              <a:rPr lang="en-IN" dirty="0" err="1"/>
              <a:t>exlsling</a:t>
            </a:r>
            <a:r>
              <a:rPr lang="en-IN" dirty="0"/>
              <a:t> model</a:t>
            </a:r>
          </a:p>
          <a:p>
            <a:pPr marL="457200" indent="-457200">
              <a:buAutoNum type="arabicPeriod"/>
            </a:pPr>
            <a:r>
              <a:rPr lang="en-IN" dirty="0"/>
              <a:t>Decide which kind of component-interoperability the system should offer.</a:t>
            </a:r>
          </a:p>
          <a:p>
            <a:pPr marL="457200" indent="-457200">
              <a:buAutoNum type="arabicPeriod"/>
            </a:pPr>
            <a:r>
              <a:rPr lang="en-IN" dirty="0"/>
              <a:t>Specify the APIs the broker component provides for collaborating with clients and servers.</a:t>
            </a:r>
          </a:p>
          <a:p>
            <a:pPr marL="457200" indent="-457200">
              <a:buAutoNum type="arabicPeriod"/>
            </a:pPr>
            <a:r>
              <a:rPr lang="en-IN" dirty="0"/>
              <a:t>Use proxy objects to hide implementation details from clients and servers.</a:t>
            </a:r>
          </a:p>
          <a:p>
            <a:pPr marL="457200" indent="-457200">
              <a:buAutoNum type="arabicPeriod"/>
            </a:pPr>
            <a:r>
              <a:rPr lang="en-IN" dirty="0"/>
              <a:t>Design the broker component in parallel with steps 3 and 4. (Note the steps involved)</a:t>
            </a:r>
          </a:p>
          <a:p>
            <a:pPr marL="457200" indent="-457200">
              <a:buAutoNum type="arabicPeriod"/>
            </a:pPr>
            <a:r>
              <a:rPr lang="en-IN" dirty="0"/>
              <a:t>Develop IDL compilers.</a:t>
            </a:r>
          </a:p>
          <a:p>
            <a:pPr marL="457200" indent="-457200">
              <a:buAutoNum type="arabicPeriod"/>
            </a:pPr>
            <a:endParaRPr lang="en-IN" dirty="0"/>
          </a:p>
        </p:txBody>
      </p:sp>
      <p:sp>
        <p:nvSpPr>
          <p:cNvPr id="3" name="Content Placeholder 2">
            <a:extLst>
              <a:ext uri="{FF2B5EF4-FFF2-40B4-BE49-F238E27FC236}">
                <a16:creationId xmlns:a16="http://schemas.microsoft.com/office/drawing/2014/main" id="{6D44A30F-E34B-4927-91E1-17372752A9BE}"/>
              </a:ext>
            </a:extLst>
          </p:cNvPr>
          <p:cNvSpPr>
            <a:spLocks noGrp="1"/>
          </p:cNvSpPr>
          <p:nvPr>
            <p:ph sz="quarter" idx="10"/>
          </p:nvPr>
        </p:nvSpPr>
        <p:spPr/>
        <p:txBody>
          <a:bodyPr/>
          <a:lstStyle/>
          <a:p>
            <a:r>
              <a:rPr lang="en-IN" dirty="0"/>
              <a:t>Implementation</a:t>
            </a:r>
          </a:p>
        </p:txBody>
      </p:sp>
      <p:sp>
        <p:nvSpPr>
          <p:cNvPr id="4" name="Date Placeholder 3">
            <a:extLst>
              <a:ext uri="{FF2B5EF4-FFF2-40B4-BE49-F238E27FC236}">
                <a16:creationId xmlns:a16="http://schemas.microsoft.com/office/drawing/2014/main" id="{0EA16D36-2A78-43F1-B0D9-6F138924A410}"/>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C0818A31-5C9C-4E7B-B217-D86E15096C44}"/>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B20954E3-E708-46FA-9784-A009762041FA}"/>
              </a:ext>
            </a:extLst>
          </p:cNvPr>
          <p:cNvSpPr>
            <a:spLocks noGrp="1"/>
          </p:cNvSpPr>
          <p:nvPr>
            <p:ph type="sldNum" sz="quarter" idx="14"/>
          </p:nvPr>
        </p:nvSpPr>
        <p:spPr/>
        <p:txBody>
          <a:bodyPr/>
          <a:lstStyle/>
          <a:p>
            <a:fld id="{BC8D7E44-7D4F-4942-A8C9-2DF6BF8399E8}" type="slidenum">
              <a:rPr lang="en-US" smtClean="0"/>
              <a:pPr/>
              <a:t>100</a:t>
            </a:fld>
            <a:endParaRPr lang="en-US" dirty="0"/>
          </a:p>
        </p:txBody>
      </p:sp>
    </p:spTree>
    <p:extLst>
      <p:ext uri="{BB962C8B-B14F-4D97-AF65-F5344CB8AC3E}">
        <p14:creationId xmlns:p14="http://schemas.microsoft.com/office/powerpoint/2010/main" val="192336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9F7DB2-1A9B-48FE-9B34-A09970FF3F5E}"/>
              </a:ext>
            </a:extLst>
          </p:cNvPr>
          <p:cNvSpPr>
            <a:spLocks noGrp="1"/>
          </p:cNvSpPr>
          <p:nvPr>
            <p:ph idx="1"/>
          </p:nvPr>
        </p:nvSpPr>
        <p:spPr/>
        <p:txBody>
          <a:bodyPr/>
          <a:lstStyle/>
          <a:p>
            <a:pPr>
              <a:buFont typeface="Arial" panose="020B0604020202020204" pitchFamily="34" charset="0"/>
              <a:buChar char="•"/>
            </a:pPr>
            <a:r>
              <a:rPr lang="en-IN" dirty="0"/>
              <a:t>Direct Communication Broker System</a:t>
            </a:r>
          </a:p>
          <a:p>
            <a:pPr>
              <a:buFont typeface="Arial" panose="020B0604020202020204" pitchFamily="34" charset="0"/>
              <a:buChar char="•"/>
            </a:pPr>
            <a:r>
              <a:rPr lang="en-IN" dirty="0"/>
              <a:t>Message Passing Broker System</a:t>
            </a:r>
          </a:p>
          <a:p>
            <a:pPr>
              <a:buFont typeface="Arial" panose="020B0604020202020204" pitchFamily="34" charset="0"/>
              <a:buChar char="•"/>
            </a:pPr>
            <a:r>
              <a:rPr lang="en-IN" dirty="0"/>
              <a:t>Trader System</a:t>
            </a:r>
          </a:p>
          <a:p>
            <a:pPr>
              <a:buFont typeface="Arial" panose="020B0604020202020204" pitchFamily="34" charset="0"/>
              <a:buChar char="•"/>
            </a:pPr>
            <a:r>
              <a:rPr lang="en-IN" dirty="0"/>
              <a:t>Adapter Broker System</a:t>
            </a:r>
          </a:p>
          <a:p>
            <a:pPr>
              <a:buFont typeface="Arial" panose="020B0604020202020204" pitchFamily="34" charset="0"/>
              <a:buChar char="•"/>
            </a:pPr>
            <a:r>
              <a:rPr lang="en-IN" dirty="0" err="1"/>
              <a:t>Callback</a:t>
            </a:r>
            <a:r>
              <a:rPr lang="en-IN" dirty="0"/>
              <a:t> Broker System</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E941241F-05A1-4EC7-825A-27605371EB2A}"/>
              </a:ext>
            </a:extLst>
          </p:cNvPr>
          <p:cNvSpPr>
            <a:spLocks noGrp="1"/>
          </p:cNvSpPr>
          <p:nvPr>
            <p:ph sz="quarter" idx="10"/>
          </p:nvPr>
        </p:nvSpPr>
        <p:spPr/>
        <p:txBody>
          <a:bodyPr/>
          <a:lstStyle/>
          <a:p>
            <a:r>
              <a:rPr lang="en-IN" dirty="0"/>
              <a:t>Variants</a:t>
            </a:r>
          </a:p>
        </p:txBody>
      </p:sp>
      <p:sp>
        <p:nvSpPr>
          <p:cNvPr id="4" name="Date Placeholder 3">
            <a:extLst>
              <a:ext uri="{FF2B5EF4-FFF2-40B4-BE49-F238E27FC236}">
                <a16:creationId xmlns:a16="http://schemas.microsoft.com/office/drawing/2014/main" id="{AF161133-E187-4ABA-BFD6-AFDAA6B790F9}"/>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4EAAF823-BDE6-4E66-ABAB-F7432DD4E34D}"/>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EE0FB0B0-9589-44A5-B51E-9A8AA8EA3046}"/>
              </a:ext>
            </a:extLst>
          </p:cNvPr>
          <p:cNvSpPr>
            <a:spLocks noGrp="1"/>
          </p:cNvSpPr>
          <p:nvPr>
            <p:ph type="sldNum" sz="quarter" idx="14"/>
          </p:nvPr>
        </p:nvSpPr>
        <p:spPr/>
        <p:txBody>
          <a:bodyPr/>
          <a:lstStyle/>
          <a:p>
            <a:fld id="{BC8D7E44-7D4F-4942-A8C9-2DF6BF8399E8}" type="slidenum">
              <a:rPr lang="en-US" smtClean="0"/>
              <a:pPr/>
              <a:t>101</a:t>
            </a:fld>
            <a:endParaRPr lang="en-US" dirty="0"/>
          </a:p>
        </p:txBody>
      </p:sp>
    </p:spTree>
    <p:extLst>
      <p:ext uri="{BB962C8B-B14F-4D97-AF65-F5344CB8AC3E}">
        <p14:creationId xmlns:p14="http://schemas.microsoft.com/office/powerpoint/2010/main" val="23030253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99C726-C4FB-4E55-8F4E-E94A2B53AC3F}"/>
              </a:ext>
            </a:extLst>
          </p:cNvPr>
          <p:cNvSpPr>
            <a:spLocks noGrp="1"/>
          </p:cNvSpPr>
          <p:nvPr>
            <p:ph idx="1"/>
          </p:nvPr>
        </p:nvSpPr>
        <p:spPr/>
        <p:txBody>
          <a:bodyPr/>
          <a:lstStyle/>
          <a:p>
            <a:pPr>
              <a:buFont typeface="Arial" panose="020B0604020202020204" pitchFamily="34" charset="0"/>
              <a:buChar char="•"/>
            </a:pPr>
            <a:r>
              <a:rPr lang="en-IN" dirty="0"/>
              <a:t>CORBA</a:t>
            </a:r>
          </a:p>
          <a:p>
            <a:pPr>
              <a:buFont typeface="Arial" panose="020B0604020202020204" pitchFamily="34" charset="0"/>
              <a:buChar char="•"/>
            </a:pPr>
            <a:r>
              <a:rPr lang="en-IN" dirty="0"/>
              <a:t>IBM SOM/DSOM</a:t>
            </a:r>
          </a:p>
          <a:p>
            <a:pPr>
              <a:buFont typeface="Arial" panose="020B0604020202020204" pitchFamily="34" charset="0"/>
              <a:buChar char="•"/>
            </a:pPr>
            <a:r>
              <a:rPr lang="en-IN" dirty="0"/>
              <a:t>Microsoft's OLE 2.x</a:t>
            </a:r>
          </a:p>
          <a:p>
            <a:pPr>
              <a:buFont typeface="Arial" panose="020B0604020202020204" pitchFamily="34" charset="0"/>
              <a:buChar char="•"/>
            </a:pPr>
            <a:r>
              <a:rPr lang="en-IN" dirty="0"/>
              <a:t>World Wide Web</a:t>
            </a:r>
          </a:p>
          <a:p>
            <a:pPr>
              <a:buFont typeface="Arial" panose="020B0604020202020204" pitchFamily="34" charset="0"/>
              <a:buChar char="•"/>
            </a:pPr>
            <a:r>
              <a:rPr lang="en-IN" dirty="0"/>
              <a:t>ATM-P.</a:t>
            </a:r>
          </a:p>
        </p:txBody>
      </p:sp>
      <p:sp>
        <p:nvSpPr>
          <p:cNvPr id="3" name="Content Placeholder 2">
            <a:extLst>
              <a:ext uri="{FF2B5EF4-FFF2-40B4-BE49-F238E27FC236}">
                <a16:creationId xmlns:a16="http://schemas.microsoft.com/office/drawing/2014/main" id="{7A41063D-F622-4C63-9574-59F871C1398B}"/>
              </a:ext>
            </a:extLst>
          </p:cNvPr>
          <p:cNvSpPr>
            <a:spLocks noGrp="1"/>
          </p:cNvSpPr>
          <p:nvPr>
            <p:ph sz="quarter" idx="10"/>
          </p:nvPr>
        </p:nvSpPr>
        <p:spPr/>
        <p:txBody>
          <a:bodyPr/>
          <a:lstStyle/>
          <a:p>
            <a:r>
              <a:rPr lang="en-IN" dirty="0"/>
              <a:t>Known Usages</a:t>
            </a:r>
          </a:p>
        </p:txBody>
      </p:sp>
      <p:sp>
        <p:nvSpPr>
          <p:cNvPr id="4" name="Date Placeholder 3">
            <a:extLst>
              <a:ext uri="{FF2B5EF4-FFF2-40B4-BE49-F238E27FC236}">
                <a16:creationId xmlns:a16="http://schemas.microsoft.com/office/drawing/2014/main" id="{D32908AE-0C08-45AF-913A-3C64EF61AF52}"/>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BEC6AE84-E06C-4D92-81D8-7A4A3E0CEC43}"/>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9DD856BA-A98C-4FFF-B120-A93EC807D41D}"/>
              </a:ext>
            </a:extLst>
          </p:cNvPr>
          <p:cNvSpPr>
            <a:spLocks noGrp="1"/>
          </p:cNvSpPr>
          <p:nvPr>
            <p:ph type="sldNum" sz="quarter" idx="14"/>
          </p:nvPr>
        </p:nvSpPr>
        <p:spPr/>
        <p:txBody>
          <a:bodyPr/>
          <a:lstStyle/>
          <a:p>
            <a:fld id="{BC8D7E44-7D4F-4942-A8C9-2DF6BF8399E8}" type="slidenum">
              <a:rPr lang="en-US" smtClean="0"/>
              <a:pPr/>
              <a:t>102</a:t>
            </a:fld>
            <a:endParaRPr lang="en-US" dirty="0"/>
          </a:p>
        </p:txBody>
      </p:sp>
    </p:spTree>
    <p:extLst>
      <p:ext uri="{BB962C8B-B14F-4D97-AF65-F5344CB8AC3E}">
        <p14:creationId xmlns:p14="http://schemas.microsoft.com/office/powerpoint/2010/main" val="36912270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560D4-644E-486E-92CA-8A819DADBD57}"/>
              </a:ext>
            </a:extLst>
          </p:cNvPr>
          <p:cNvSpPr>
            <a:spLocks noGrp="1"/>
          </p:cNvSpPr>
          <p:nvPr>
            <p:ph idx="1"/>
          </p:nvPr>
        </p:nvSpPr>
        <p:spPr/>
        <p:txBody>
          <a:bodyPr/>
          <a:lstStyle/>
          <a:p>
            <a:pPr>
              <a:buFont typeface="Arial" panose="020B0604020202020204" pitchFamily="34" charset="0"/>
              <a:buChar char="•"/>
            </a:pPr>
            <a:r>
              <a:rPr lang="en-IN" dirty="0"/>
              <a:t>Location Transparency</a:t>
            </a:r>
          </a:p>
          <a:p>
            <a:pPr>
              <a:buFont typeface="Arial" panose="020B0604020202020204" pitchFamily="34" charset="0"/>
              <a:buChar char="•"/>
            </a:pPr>
            <a:r>
              <a:rPr lang="en-IN" dirty="0"/>
              <a:t>Changeability and extensibility of components</a:t>
            </a:r>
          </a:p>
          <a:p>
            <a:pPr>
              <a:buFont typeface="Arial" panose="020B0604020202020204" pitchFamily="34" charset="0"/>
              <a:buChar char="•"/>
            </a:pPr>
            <a:r>
              <a:rPr lang="en-IN" dirty="0"/>
              <a:t>Portability of a Broker system</a:t>
            </a:r>
          </a:p>
          <a:p>
            <a:pPr>
              <a:buFont typeface="Arial" panose="020B0604020202020204" pitchFamily="34" charset="0"/>
              <a:buChar char="•"/>
            </a:pPr>
            <a:r>
              <a:rPr lang="en-IN" dirty="0"/>
              <a:t>Interoperability between </a:t>
            </a:r>
            <a:r>
              <a:rPr lang="en-IN" dirty="0" err="1"/>
              <a:t>dzflerent</a:t>
            </a:r>
            <a:r>
              <a:rPr lang="en-IN" dirty="0"/>
              <a:t> Broker systems.</a:t>
            </a:r>
          </a:p>
          <a:p>
            <a:pPr>
              <a:buFont typeface="Arial" panose="020B0604020202020204" pitchFamily="34" charset="0"/>
              <a:buChar char="•"/>
            </a:pPr>
            <a:r>
              <a:rPr lang="en-IN" dirty="0"/>
              <a:t>Reusability</a:t>
            </a:r>
          </a:p>
          <a:p>
            <a:pPr>
              <a:buFont typeface="Arial" panose="020B0604020202020204" pitchFamily="34" charset="0"/>
              <a:buChar char="•"/>
            </a:pPr>
            <a:r>
              <a:rPr lang="en-IN" dirty="0"/>
              <a:t>Testing and Debugging</a:t>
            </a:r>
          </a:p>
        </p:txBody>
      </p:sp>
      <p:sp>
        <p:nvSpPr>
          <p:cNvPr id="3" name="Content Placeholder 2">
            <a:extLst>
              <a:ext uri="{FF2B5EF4-FFF2-40B4-BE49-F238E27FC236}">
                <a16:creationId xmlns:a16="http://schemas.microsoft.com/office/drawing/2014/main" id="{43B3F71A-51D1-43BD-B6E5-161A1A62772D}"/>
              </a:ext>
            </a:extLst>
          </p:cNvPr>
          <p:cNvSpPr>
            <a:spLocks noGrp="1"/>
          </p:cNvSpPr>
          <p:nvPr>
            <p:ph sz="quarter" idx="10"/>
          </p:nvPr>
        </p:nvSpPr>
        <p:spPr/>
        <p:txBody>
          <a:bodyPr/>
          <a:lstStyle/>
          <a:p>
            <a:r>
              <a:rPr lang="en-IN" dirty="0"/>
              <a:t>Consequences: benefits</a:t>
            </a:r>
          </a:p>
        </p:txBody>
      </p:sp>
      <p:sp>
        <p:nvSpPr>
          <p:cNvPr id="4" name="Date Placeholder 3">
            <a:extLst>
              <a:ext uri="{FF2B5EF4-FFF2-40B4-BE49-F238E27FC236}">
                <a16:creationId xmlns:a16="http://schemas.microsoft.com/office/drawing/2014/main" id="{FB34F20A-DA11-4E40-AADA-A52BBDE6AE00}"/>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506330CD-B56F-4D06-A6E4-E3AD644C25E5}"/>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26F13C11-8B26-4590-9038-9DC000091FB9}"/>
              </a:ext>
            </a:extLst>
          </p:cNvPr>
          <p:cNvSpPr>
            <a:spLocks noGrp="1"/>
          </p:cNvSpPr>
          <p:nvPr>
            <p:ph type="sldNum" sz="quarter" idx="14"/>
          </p:nvPr>
        </p:nvSpPr>
        <p:spPr/>
        <p:txBody>
          <a:bodyPr/>
          <a:lstStyle/>
          <a:p>
            <a:fld id="{BC8D7E44-7D4F-4942-A8C9-2DF6BF8399E8}" type="slidenum">
              <a:rPr lang="en-US" smtClean="0"/>
              <a:pPr/>
              <a:t>103</a:t>
            </a:fld>
            <a:endParaRPr lang="en-US" dirty="0"/>
          </a:p>
        </p:txBody>
      </p:sp>
    </p:spTree>
    <p:extLst>
      <p:ext uri="{BB962C8B-B14F-4D97-AF65-F5344CB8AC3E}">
        <p14:creationId xmlns:p14="http://schemas.microsoft.com/office/powerpoint/2010/main" val="12793726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560D4-644E-486E-92CA-8A819DADBD57}"/>
              </a:ext>
            </a:extLst>
          </p:cNvPr>
          <p:cNvSpPr>
            <a:spLocks noGrp="1"/>
          </p:cNvSpPr>
          <p:nvPr>
            <p:ph idx="1"/>
          </p:nvPr>
        </p:nvSpPr>
        <p:spPr/>
        <p:txBody>
          <a:bodyPr/>
          <a:lstStyle/>
          <a:p>
            <a:pPr>
              <a:buFont typeface="Arial" panose="020B0604020202020204" pitchFamily="34" charset="0"/>
              <a:buChar char="•"/>
            </a:pPr>
            <a:r>
              <a:rPr lang="en-IN" dirty="0"/>
              <a:t>Restricted efficiency</a:t>
            </a:r>
          </a:p>
          <a:p>
            <a:pPr>
              <a:buFont typeface="Arial" panose="020B0604020202020204" pitchFamily="34" charset="0"/>
              <a:buChar char="•"/>
            </a:pPr>
            <a:r>
              <a:rPr lang="en-IN" dirty="0"/>
              <a:t>Lower fault tolerance</a:t>
            </a:r>
          </a:p>
          <a:p>
            <a:pPr>
              <a:buFont typeface="Arial" panose="020B0604020202020204" pitchFamily="34" charset="0"/>
              <a:buChar char="•"/>
            </a:pPr>
            <a:r>
              <a:rPr lang="en-IN" dirty="0"/>
              <a:t>Testing and Debugging</a:t>
            </a:r>
          </a:p>
        </p:txBody>
      </p:sp>
      <p:sp>
        <p:nvSpPr>
          <p:cNvPr id="3" name="Content Placeholder 2">
            <a:extLst>
              <a:ext uri="{FF2B5EF4-FFF2-40B4-BE49-F238E27FC236}">
                <a16:creationId xmlns:a16="http://schemas.microsoft.com/office/drawing/2014/main" id="{43B3F71A-51D1-43BD-B6E5-161A1A62772D}"/>
              </a:ext>
            </a:extLst>
          </p:cNvPr>
          <p:cNvSpPr>
            <a:spLocks noGrp="1"/>
          </p:cNvSpPr>
          <p:nvPr>
            <p:ph sz="quarter" idx="10"/>
          </p:nvPr>
        </p:nvSpPr>
        <p:spPr/>
        <p:txBody>
          <a:bodyPr/>
          <a:lstStyle/>
          <a:p>
            <a:r>
              <a:rPr lang="en-IN" dirty="0"/>
              <a:t>Consequences: Liabilities</a:t>
            </a:r>
          </a:p>
        </p:txBody>
      </p:sp>
      <p:sp>
        <p:nvSpPr>
          <p:cNvPr id="4" name="Date Placeholder 3">
            <a:extLst>
              <a:ext uri="{FF2B5EF4-FFF2-40B4-BE49-F238E27FC236}">
                <a16:creationId xmlns:a16="http://schemas.microsoft.com/office/drawing/2014/main" id="{FB34F20A-DA11-4E40-AADA-A52BBDE6AE00}"/>
              </a:ext>
            </a:extLst>
          </p:cNvPr>
          <p:cNvSpPr>
            <a:spLocks noGrp="1"/>
          </p:cNvSpPr>
          <p:nvPr>
            <p:ph type="dt" sz="half" idx="12"/>
          </p:nvPr>
        </p:nvSpPr>
        <p:spPr/>
        <p:txBody>
          <a:bodyPr/>
          <a:lstStyle/>
          <a:p>
            <a:r>
              <a:rPr lang="en-US"/>
              <a:t>October 3, 2026</a:t>
            </a:r>
          </a:p>
        </p:txBody>
      </p:sp>
      <p:sp>
        <p:nvSpPr>
          <p:cNvPr id="5" name="Footer Placeholder 4">
            <a:extLst>
              <a:ext uri="{FF2B5EF4-FFF2-40B4-BE49-F238E27FC236}">
                <a16:creationId xmlns:a16="http://schemas.microsoft.com/office/drawing/2014/main" id="{506330CD-B56F-4D06-A6E4-E3AD644C25E5}"/>
              </a:ext>
            </a:extLst>
          </p:cNvPr>
          <p:cNvSpPr>
            <a:spLocks noGrp="1"/>
          </p:cNvSpPr>
          <p:nvPr>
            <p:ph type="ftr" sz="quarter" idx="13"/>
          </p:nvPr>
        </p:nvSpPr>
        <p:spPr/>
        <p:txBody>
          <a:bodyPr/>
          <a:lstStyle/>
          <a:p>
            <a:r>
              <a:rPr lang="en-US"/>
              <a:t>SE ZG651/ SS ZG653 Software Architectures</a:t>
            </a:r>
          </a:p>
        </p:txBody>
      </p:sp>
      <p:sp>
        <p:nvSpPr>
          <p:cNvPr id="6" name="Slide Number Placeholder 5">
            <a:extLst>
              <a:ext uri="{FF2B5EF4-FFF2-40B4-BE49-F238E27FC236}">
                <a16:creationId xmlns:a16="http://schemas.microsoft.com/office/drawing/2014/main" id="{26F13C11-8B26-4590-9038-9DC000091FB9}"/>
              </a:ext>
            </a:extLst>
          </p:cNvPr>
          <p:cNvSpPr>
            <a:spLocks noGrp="1"/>
          </p:cNvSpPr>
          <p:nvPr>
            <p:ph type="sldNum" sz="quarter" idx="14"/>
          </p:nvPr>
        </p:nvSpPr>
        <p:spPr/>
        <p:txBody>
          <a:bodyPr/>
          <a:lstStyle/>
          <a:p>
            <a:fld id="{BC8D7E44-7D4F-4942-A8C9-2DF6BF8399E8}" type="slidenum">
              <a:rPr lang="en-US" smtClean="0"/>
              <a:pPr/>
              <a:t>104</a:t>
            </a:fld>
            <a:endParaRPr lang="en-US" dirty="0"/>
          </a:p>
        </p:txBody>
      </p:sp>
    </p:spTree>
    <p:extLst>
      <p:ext uri="{BB962C8B-B14F-4D97-AF65-F5344CB8AC3E}">
        <p14:creationId xmlns:p14="http://schemas.microsoft.com/office/powerpoint/2010/main" val="20753922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5CD4A-74A3-23C0-25CD-A34BDA1F33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635A42-7378-3018-E5D8-99CF3EE1AECC}"/>
              </a:ext>
            </a:extLst>
          </p:cNvPr>
          <p:cNvSpPr>
            <a:spLocks noGrp="1"/>
          </p:cNvSpPr>
          <p:nvPr>
            <p:ph idx="1"/>
          </p:nvPr>
        </p:nvSpPr>
        <p:spPr/>
        <p:txBody>
          <a:bodyPr/>
          <a:lstStyle/>
          <a:p>
            <a:r>
              <a:rPr lang="en-IN" dirty="0"/>
              <a:t>End of Part 3 or 4</a:t>
            </a:r>
          </a:p>
        </p:txBody>
      </p:sp>
      <p:sp>
        <p:nvSpPr>
          <p:cNvPr id="3" name="Content Placeholder 2">
            <a:extLst>
              <a:ext uri="{FF2B5EF4-FFF2-40B4-BE49-F238E27FC236}">
                <a16:creationId xmlns:a16="http://schemas.microsoft.com/office/drawing/2014/main" id="{159E2F5C-97D6-FE49-26CB-DFDC01C4562B}"/>
              </a:ext>
            </a:extLst>
          </p:cNvPr>
          <p:cNvSpPr>
            <a:spLocks noGrp="1"/>
          </p:cNvSpPr>
          <p:nvPr>
            <p:ph sz="quarter" idx="10"/>
          </p:nvPr>
        </p:nvSpPr>
        <p:spPr/>
        <p:txBody>
          <a:bodyPr/>
          <a:lstStyle/>
          <a:p>
            <a:r>
              <a:rPr lang="en-IN" dirty="0"/>
              <a:t>Thank you</a:t>
            </a:r>
          </a:p>
        </p:txBody>
      </p:sp>
      <p:sp>
        <p:nvSpPr>
          <p:cNvPr id="4" name="Date Placeholder 3">
            <a:extLst>
              <a:ext uri="{FF2B5EF4-FFF2-40B4-BE49-F238E27FC236}">
                <a16:creationId xmlns:a16="http://schemas.microsoft.com/office/drawing/2014/main" id="{EC445791-D6A3-937E-329F-5137A5A2BC0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C0A864DD-D099-64B5-D2BE-537B97304EA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B6B8775B-7812-8251-49FD-D883CADEA1B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365222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a:t>Module 6 </a:t>
            </a:r>
            <a:r>
              <a:rPr lang="en-US" sz="3200"/>
              <a:t>CS 09</a:t>
            </a:r>
            <a:br>
              <a:rPr lang="en-US" sz="3200" dirty="0"/>
            </a:br>
            <a:r>
              <a:rPr lang="en-US" sz="2400" dirty="0"/>
              <a:t>Patterns – Part 4</a:t>
            </a:r>
            <a:br>
              <a:rPr lang="en-US" sz="2400" dirty="0"/>
            </a:br>
            <a:r>
              <a:rPr lang="en-US" sz="2400" dirty="0"/>
              <a:t>Interactive Systems – MVC/PAC</a:t>
            </a:r>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10563886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3B2218-2420-40DD-9767-B6FD2B77F361}"/>
              </a:ext>
            </a:extLst>
          </p:cNvPr>
          <p:cNvSpPr>
            <a:spLocks noGrp="1"/>
          </p:cNvSpPr>
          <p:nvPr>
            <p:ph idx="1"/>
          </p:nvPr>
        </p:nvSpPr>
        <p:spPr>
          <a:xfrm>
            <a:off x="304800" y="1493837"/>
            <a:ext cx="8763000" cy="5364163"/>
          </a:xfrm>
        </p:spPr>
        <p:txBody>
          <a:bodyPr>
            <a:normAutofit fontScale="55000" lnSpcReduction="20000"/>
          </a:bodyPr>
          <a:lstStyle/>
          <a:p>
            <a:r>
              <a:rPr lang="en-IN" dirty="0"/>
              <a:t>From Mud to Structure. </a:t>
            </a:r>
          </a:p>
          <a:p>
            <a:pPr>
              <a:buFont typeface="Arial" panose="020B0604020202020204" pitchFamily="34" charset="0"/>
              <a:buChar char="•"/>
            </a:pPr>
            <a:r>
              <a:rPr lang="en-IN" dirty="0"/>
              <a:t>Patterns in this category help you to avoid a 'sea' of components or objects. </a:t>
            </a:r>
          </a:p>
          <a:p>
            <a:pPr>
              <a:buFont typeface="Arial" panose="020B0604020202020204" pitchFamily="34" charset="0"/>
              <a:buChar char="•"/>
            </a:pPr>
            <a:r>
              <a:rPr lang="en-IN" dirty="0"/>
              <a:t>In particular, they support a controlled decomposition of an overall system task into cooperating subtasks. </a:t>
            </a:r>
          </a:p>
          <a:p>
            <a:pPr>
              <a:buFont typeface="Arial" panose="020B0604020202020204" pitchFamily="34" charset="0"/>
              <a:buChar char="•"/>
            </a:pPr>
            <a:r>
              <a:rPr lang="en-IN" dirty="0"/>
              <a:t>The category includes </a:t>
            </a:r>
          </a:p>
          <a:p>
            <a:pPr lvl="1">
              <a:buFont typeface="Arial" panose="020B0604020202020204" pitchFamily="34" charset="0"/>
              <a:buChar char="•"/>
            </a:pPr>
            <a:r>
              <a:rPr lang="en-IN" dirty="0"/>
              <a:t>the Layers pattern </a:t>
            </a:r>
          </a:p>
          <a:p>
            <a:pPr lvl="1">
              <a:buFont typeface="Arial" panose="020B0604020202020204" pitchFamily="34" charset="0"/>
              <a:buChar char="•"/>
            </a:pPr>
            <a:r>
              <a:rPr lang="en-IN" dirty="0"/>
              <a:t>the Pipes and Filters pattern </a:t>
            </a:r>
          </a:p>
          <a:p>
            <a:pPr lvl="1">
              <a:buFont typeface="Arial" panose="020B0604020202020204" pitchFamily="34" charset="0"/>
              <a:buChar char="•"/>
            </a:pPr>
            <a:r>
              <a:rPr lang="en-IN" dirty="0"/>
              <a:t>the Blackboard pattern</a:t>
            </a:r>
          </a:p>
          <a:p>
            <a:r>
              <a:rPr lang="en-IN" dirty="0"/>
              <a:t>Distributed Systems. </a:t>
            </a:r>
          </a:p>
          <a:p>
            <a:pPr>
              <a:buFont typeface="Arial" panose="020B0604020202020204" pitchFamily="34" charset="0"/>
              <a:buChar char="•"/>
            </a:pPr>
            <a:r>
              <a:rPr lang="en-IN" dirty="0"/>
              <a:t>This category includes one pattern. </a:t>
            </a:r>
          </a:p>
          <a:p>
            <a:pPr lvl="1">
              <a:buFont typeface="Arial" panose="020B0604020202020204" pitchFamily="34" charset="0"/>
              <a:buChar char="•"/>
            </a:pPr>
            <a:r>
              <a:rPr lang="en-IN" dirty="0"/>
              <a:t>Broker </a:t>
            </a:r>
          </a:p>
          <a:p>
            <a:pPr>
              <a:buFont typeface="Arial" panose="020B0604020202020204" pitchFamily="34" charset="0"/>
              <a:buChar char="•"/>
            </a:pPr>
            <a:r>
              <a:rPr lang="en-IN" dirty="0"/>
              <a:t>and refers to two patterns in other categories, </a:t>
            </a:r>
          </a:p>
          <a:p>
            <a:pPr lvl="1">
              <a:buFont typeface="Arial" panose="020B0604020202020204" pitchFamily="34" charset="0"/>
              <a:buChar char="•"/>
            </a:pPr>
            <a:r>
              <a:rPr lang="en-IN" dirty="0"/>
              <a:t>Microkernel</a:t>
            </a:r>
          </a:p>
          <a:p>
            <a:pPr lvl="1">
              <a:buFont typeface="Arial" panose="020B0604020202020204" pitchFamily="34" charset="0"/>
              <a:buChar char="•"/>
            </a:pPr>
            <a:r>
              <a:rPr lang="en-IN" dirty="0"/>
              <a:t>Pipes and Filters </a:t>
            </a:r>
          </a:p>
          <a:p>
            <a:pPr>
              <a:buFont typeface="Arial" panose="020B0604020202020204" pitchFamily="34" charset="0"/>
              <a:buChar char="•"/>
            </a:pPr>
            <a:r>
              <a:rPr lang="en-IN" dirty="0"/>
              <a:t>The Broker pattern provides a complete infrastructure for distributed applications. </a:t>
            </a:r>
          </a:p>
          <a:p>
            <a:pPr>
              <a:buFont typeface="Arial" panose="020B0604020202020204" pitchFamily="34" charset="0"/>
              <a:buChar char="•"/>
            </a:pPr>
            <a:r>
              <a:rPr lang="en-IN" dirty="0"/>
              <a:t>The Microkernel and Pipes and Filters patterns only consider distribution as a secondary concern and are therefore listed under their respective primary categories. </a:t>
            </a:r>
          </a:p>
          <a:p>
            <a:r>
              <a:rPr lang="en-IN" dirty="0"/>
              <a:t>Interactive Systems. </a:t>
            </a:r>
          </a:p>
          <a:p>
            <a:pPr>
              <a:buFont typeface="Arial" panose="020B0604020202020204" pitchFamily="34" charset="0"/>
              <a:buChar char="•"/>
            </a:pPr>
            <a:r>
              <a:rPr lang="en-IN" dirty="0"/>
              <a:t>This category comprises two patterns, </a:t>
            </a:r>
          </a:p>
          <a:p>
            <a:pPr lvl="1">
              <a:buFont typeface="Arial" panose="020B0604020202020204" pitchFamily="34" charset="0"/>
              <a:buChar char="•"/>
            </a:pPr>
            <a:r>
              <a:rPr lang="en-IN" dirty="0"/>
              <a:t>the Model-View-Controller pattern (well-known from Smalltalk,)</a:t>
            </a:r>
          </a:p>
          <a:p>
            <a:pPr lvl="1">
              <a:buFont typeface="Arial" panose="020B0604020202020204" pitchFamily="34" charset="0"/>
              <a:buChar char="•"/>
            </a:pPr>
            <a:r>
              <a:rPr lang="en-IN" dirty="0"/>
              <a:t>the Presentation-Abstraction-Control pattern. </a:t>
            </a:r>
          </a:p>
          <a:p>
            <a:pPr>
              <a:buFont typeface="Arial" panose="020B0604020202020204" pitchFamily="34" charset="0"/>
              <a:buChar char="•"/>
            </a:pPr>
            <a:r>
              <a:rPr lang="en-IN" dirty="0"/>
              <a:t>Both patterns support the structuring of software systems that feature human-computer interaction. </a:t>
            </a:r>
          </a:p>
          <a:p>
            <a:pPr marL="0" indent="0"/>
            <a:r>
              <a:rPr lang="en-IN" dirty="0"/>
              <a:t>Adaptable Systems. </a:t>
            </a:r>
          </a:p>
          <a:p>
            <a:pPr>
              <a:buFont typeface="Arial" panose="020B0604020202020204" pitchFamily="34" charset="0"/>
              <a:buChar char="•"/>
            </a:pPr>
            <a:r>
              <a:rPr lang="en-IN" dirty="0"/>
              <a:t>This category includes</a:t>
            </a:r>
          </a:p>
          <a:p>
            <a:pPr lvl="1">
              <a:buFont typeface="Arial" panose="020B0604020202020204" pitchFamily="34" charset="0"/>
              <a:buChar char="•"/>
            </a:pPr>
            <a:r>
              <a:rPr lang="en-IN" dirty="0"/>
              <a:t>The Reflection pattern </a:t>
            </a:r>
          </a:p>
          <a:p>
            <a:pPr lvl="1">
              <a:buFont typeface="Arial" panose="020B0604020202020204" pitchFamily="34" charset="0"/>
              <a:buChar char="•"/>
            </a:pPr>
            <a:r>
              <a:rPr lang="en-IN" dirty="0"/>
              <a:t>the Microkernel pattern </a:t>
            </a:r>
          </a:p>
          <a:p>
            <a:pPr>
              <a:buFont typeface="Arial" panose="020B0604020202020204" pitchFamily="34" charset="0"/>
              <a:buChar char="•"/>
            </a:pPr>
            <a:r>
              <a:rPr lang="en-IN" dirty="0"/>
              <a:t>strongly support extension of applications and their adaptation to evolving technology and changing functional requirements. </a:t>
            </a:r>
          </a:p>
        </p:txBody>
      </p:sp>
      <p:sp>
        <p:nvSpPr>
          <p:cNvPr id="3" name="Content Placeholder 2">
            <a:extLst>
              <a:ext uri="{FF2B5EF4-FFF2-40B4-BE49-F238E27FC236}">
                <a16:creationId xmlns:a16="http://schemas.microsoft.com/office/drawing/2014/main" id="{32007265-0CB3-4700-AADA-FC3DBBD81B0B}"/>
              </a:ext>
            </a:extLst>
          </p:cNvPr>
          <p:cNvSpPr>
            <a:spLocks noGrp="1"/>
          </p:cNvSpPr>
          <p:nvPr>
            <p:ph sz="quarter" idx="10"/>
          </p:nvPr>
        </p:nvSpPr>
        <p:spPr/>
        <p:txBody>
          <a:bodyPr/>
          <a:lstStyle/>
          <a:p>
            <a:r>
              <a:rPr lang="en-IN" dirty="0"/>
              <a:t>Categories</a:t>
            </a:r>
          </a:p>
        </p:txBody>
      </p:sp>
      <p:sp>
        <p:nvSpPr>
          <p:cNvPr id="5" name="Date Placeholder 4">
            <a:extLst>
              <a:ext uri="{FF2B5EF4-FFF2-40B4-BE49-F238E27FC236}">
                <a16:creationId xmlns:a16="http://schemas.microsoft.com/office/drawing/2014/main" id="{D7D7129D-8E69-4D7D-8A25-48F8A2042F2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F4F2A314-9096-4C83-BC8C-A040BE391E8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1E0E476-2B26-44EE-8FD1-7F31241A36D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358944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881F94-A9A4-43D2-8BD3-41EF58BF95F8}"/>
              </a:ext>
            </a:extLst>
          </p:cNvPr>
          <p:cNvSpPr>
            <a:spLocks noGrp="1"/>
          </p:cNvSpPr>
          <p:nvPr>
            <p:ph idx="1"/>
          </p:nvPr>
        </p:nvSpPr>
        <p:spPr/>
        <p:txBody>
          <a:bodyPr>
            <a:normAutofit/>
          </a:bodyPr>
          <a:lstStyle/>
          <a:p>
            <a:r>
              <a:rPr lang="en-IN" dirty="0"/>
              <a:t> </a:t>
            </a:r>
          </a:p>
          <a:p>
            <a:pPr>
              <a:buFont typeface="Arial" panose="020B0604020202020204" pitchFamily="34" charset="0"/>
              <a:buChar char="•"/>
            </a:pPr>
            <a:r>
              <a:rPr lang="en-IN" dirty="0"/>
              <a:t>This category comprises two patterns, </a:t>
            </a:r>
          </a:p>
          <a:p>
            <a:pPr lvl="2"/>
            <a:r>
              <a:rPr lang="en-IN" dirty="0"/>
              <a:t>the Model-View-Controller pattern </a:t>
            </a:r>
          </a:p>
          <a:p>
            <a:pPr marL="914400" lvl="2" indent="0">
              <a:buNone/>
            </a:pPr>
            <a:r>
              <a:rPr lang="en-IN" dirty="0"/>
              <a:t>	</a:t>
            </a:r>
            <a:r>
              <a:rPr lang="en-IN" sz="2000" dirty="0"/>
              <a:t>(well-known from Smalltalk,)</a:t>
            </a:r>
            <a:endParaRPr lang="en-IN" dirty="0"/>
          </a:p>
          <a:p>
            <a:pPr lvl="2"/>
            <a:r>
              <a:rPr lang="en-IN" dirty="0"/>
              <a:t>the Presentation-Abstraction-Control pattern. </a:t>
            </a:r>
          </a:p>
          <a:p>
            <a:pPr>
              <a:buFont typeface="Arial" panose="020B0604020202020204" pitchFamily="34" charset="0"/>
              <a:buChar char="•"/>
            </a:pPr>
            <a:r>
              <a:rPr lang="en-IN" dirty="0"/>
              <a:t>Both patterns support the structuring of software systems that feature human-computer interaction. </a:t>
            </a:r>
          </a:p>
        </p:txBody>
      </p:sp>
      <p:sp>
        <p:nvSpPr>
          <p:cNvPr id="3" name="Content Placeholder 2">
            <a:extLst>
              <a:ext uri="{FF2B5EF4-FFF2-40B4-BE49-F238E27FC236}">
                <a16:creationId xmlns:a16="http://schemas.microsoft.com/office/drawing/2014/main" id="{128F28FE-0E57-4CC3-845C-C6969616A8E2}"/>
              </a:ext>
            </a:extLst>
          </p:cNvPr>
          <p:cNvSpPr>
            <a:spLocks noGrp="1"/>
          </p:cNvSpPr>
          <p:nvPr>
            <p:ph sz="quarter" idx="10"/>
          </p:nvPr>
        </p:nvSpPr>
        <p:spPr/>
        <p:txBody>
          <a:bodyPr/>
          <a:lstStyle/>
          <a:p>
            <a:r>
              <a:rPr lang="en-IN" dirty="0"/>
              <a:t>Interactive Systems</a:t>
            </a:r>
          </a:p>
        </p:txBody>
      </p:sp>
      <p:sp>
        <p:nvSpPr>
          <p:cNvPr id="5" name="Date Placeholder 4">
            <a:extLst>
              <a:ext uri="{FF2B5EF4-FFF2-40B4-BE49-F238E27FC236}">
                <a16:creationId xmlns:a16="http://schemas.microsoft.com/office/drawing/2014/main" id="{8656C25F-0DFD-4778-8F00-AC8929237E0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03E3BA7-D5D8-481C-BF0C-F6D42E5E39D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5D35A6B-8A7B-422F-BF94-4465A1EE1D7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385190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Interactive Systems</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341232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IN" dirty="0"/>
              <a:t>Today's systems allow a high degree of user interaction, mainly achieved with help of graphical user interfaces. </a:t>
            </a:r>
          </a:p>
          <a:p>
            <a:pPr>
              <a:buFont typeface="Arial" panose="020B0604020202020204" pitchFamily="34" charset="0"/>
              <a:buChar char="•"/>
            </a:pPr>
            <a:r>
              <a:rPr lang="en-IN" dirty="0"/>
              <a:t>The objective is to enhance the usability of an application. </a:t>
            </a:r>
          </a:p>
          <a:p>
            <a:pPr>
              <a:buFont typeface="Arial" panose="020B0604020202020204" pitchFamily="34" charset="0"/>
              <a:buChar char="•"/>
            </a:pPr>
            <a:r>
              <a:rPr lang="en-IN" dirty="0"/>
              <a:t>Usable software systems provide convenient access to their services, and therefore allow users to learn the application and produce results quickly. </a:t>
            </a:r>
          </a:p>
        </p:txBody>
      </p:sp>
      <p:sp>
        <p:nvSpPr>
          <p:cNvPr id="4" name="Content Placeholder 3"/>
          <p:cNvSpPr>
            <a:spLocks noGrp="1"/>
          </p:cNvSpPr>
          <p:nvPr>
            <p:ph sz="quarter" idx="10"/>
          </p:nvPr>
        </p:nvSpPr>
        <p:spPr/>
        <p:txBody>
          <a:bodyPr/>
          <a:lstStyle/>
          <a:p>
            <a:r>
              <a:rPr lang="en-US" dirty="0"/>
              <a:t>User Interaction</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Tree>
    <p:extLst>
      <p:ext uri="{BB962C8B-B14F-4D97-AF65-F5344CB8AC3E}">
        <p14:creationId xmlns:p14="http://schemas.microsoft.com/office/powerpoint/2010/main" val="19146961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3663B-2502-47B9-80CC-F027F38EF271}"/>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IN" dirty="0"/>
              <a:t>When specifying the architecture of such systems, the challenge is to keep the functional core independent of the user interface. </a:t>
            </a:r>
          </a:p>
          <a:p>
            <a:pPr>
              <a:buFont typeface="Arial" panose="020B0604020202020204" pitchFamily="34" charset="0"/>
              <a:buChar char="•"/>
            </a:pPr>
            <a:r>
              <a:rPr lang="en-IN" dirty="0"/>
              <a:t>The core of interactive systems is based on the functional requirements for the system, and usually remains stable. </a:t>
            </a:r>
          </a:p>
          <a:p>
            <a:pPr>
              <a:buFont typeface="Arial" panose="020B0604020202020204" pitchFamily="34" charset="0"/>
              <a:buChar char="•"/>
            </a:pPr>
            <a:r>
              <a:rPr lang="en-IN" dirty="0"/>
              <a:t>User interfaces, however, are often subject to change and adaptation. </a:t>
            </a:r>
          </a:p>
          <a:p>
            <a:pPr>
              <a:buFont typeface="Arial" panose="020B0604020202020204" pitchFamily="34" charset="0"/>
              <a:buChar char="•"/>
            </a:pPr>
            <a:r>
              <a:rPr lang="en-IN" dirty="0"/>
              <a:t>For example, systems may have to support different user interface standards, customer-specific 'look and feel' metaphors, or interfaces that must be adjusted to fit into a customer's business processes. </a:t>
            </a:r>
          </a:p>
          <a:p>
            <a:pPr>
              <a:buFont typeface="Arial" panose="020B0604020202020204" pitchFamily="34" charset="0"/>
              <a:buChar char="•"/>
            </a:pPr>
            <a:r>
              <a:rPr lang="en-IN" dirty="0"/>
              <a:t>This requires architectures that support the adaptation of user interface parts without causing major effects to application-specific functionality or the data model underlying the software.</a:t>
            </a:r>
            <a:endParaRPr lang="en-US" dirty="0"/>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80E52E8A-0838-4423-9AC6-7DF85A82A758}"/>
              </a:ext>
            </a:extLst>
          </p:cNvPr>
          <p:cNvSpPr>
            <a:spLocks noGrp="1"/>
          </p:cNvSpPr>
          <p:nvPr>
            <p:ph sz="quarter" idx="10"/>
          </p:nvPr>
        </p:nvSpPr>
        <p:spPr/>
        <p:txBody>
          <a:bodyPr/>
          <a:lstStyle/>
          <a:p>
            <a:r>
              <a:rPr lang="en-IN" dirty="0"/>
              <a:t>user interface</a:t>
            </a:r>
          </a:p>
        </p:txBody>
      </p:sp>
      <p:sp>
        <p:nvSpPr>
          <p:cNvPr id="5" name="Date Placeholder 4">
            <a:extLst>
              <a:ext uri="{FF2B5EF4-FFF2-40B4-BE49-F238E27FC236}">
                <a16:creationId xmlns:a16="http://schemas.microsoft.com/office/drawing/2014/main" id="{8088EE12-7837-4990-81E2-8F53DC6B00E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84DEB90C-9828-4D99-8EB5-AF1DF08DBB2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E1874EFA-BEB8-48D6-9EFF-9DD063172B1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7692351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3EE165-5EA1-41BF-AA05-28F1E5AE1C53}"/>
              </a:ext>
            </a:extLst>
          </p:cNvPr>
          <p:cNvSpPr>
            <a:spLocks noGrp="1"/>
          </p:cNvSpPr>
          <p:nvPr>
            <p:ph idx="1"/>
          </p:nvPr>
        </p:nvSpPr>
        <p:spPr/>
        <p:txBody>
          <a:bodyPr/>
          <a:lstStyle/>
          <a:p>
            <a:pPr>
              <a:buFont typeface="Arial" panose="020B0604020202020204" pitchFamily="34" charset="0"/>
              <a:buChar char="•"/>
            </a:pPr>
            <a:r>
              <a:rPr lang="en-IN" dirty="0"/>
              <a:t> MVC divides an interactive application into three components. </a:t>
            </a:r>
          </a:p>
          <a:p>
            <a:pPr lvl="2"/>
            <a:r>
              <a:rPr lang="en-IN" dirty="0"/>
              <a:t>The model contains the core functionality and data. </a:t>
            </a:r>
          </a:p>
          <a:p>
            <a:pPr lvl="2"/>
            <a:r>
              <a:rPr lang="en-IN" dirty="0"/>
              <a:t>Views display information to the user. </a:t>
            </a:r>
          </a:p>
          <a:p>
            <a:pPr lvl="2"/>
            <a:r>
              <a:rPr lang="en-IN" dirty="0"/>
              <a:t>Controllers handle user input. </a:t>
            </a:r>
          </a:p>
          <a:p>
            <a:pPr>
              <a:buFont typeface="Arial" panose="020B0604020202020204" pitchFamily="34" charset="0"/>
              <a:buChar char="•"/>
            </a:pPr>
            <a:r>
              <a:rPr lang="en-IN" dirty="0"/>
              <a:t>Views and controllers together comprise the user interface. </a:t>
            </a:r>
          </a:p>
          <a:p>
            <a:pPr>
              <a:buFont typeface="Arial" panose="020B0604020202020204" pitchFamily="34" charset="0"/>
              <a:buChar char="•"/>
            </a:pPr>
            <a:r>
              <a:rPr lang="en-IN" dirty="0"/>
              <a:t>A change-propagation mechanism ensures consistency between the user interface and the model.</a:t>
            </a:r>
          </a:p>
        </p:txBody>
      </p:sp>
      <p:sp>
        <p:nvSpPr>
          <p:cNvPr id="3" name="Content Placeholder 2">
            <a:extLst>
              <a:ext uri="{FF2B5EF4-FFF2-40B4-BE49-F238E27FC236}">
                <a16:creationId xmlns:a16="http://schemas.microsoft.com/office/drawing/2014/main" id="{F3AD7340-09DA-45D5-BDA0-D5AABD912920}"/>
              </a:ext>
            </a:extLst>
          </p:cNvPr>
          <p:cNvSpPr>
            <a:spLocks noGrp="1"/>
          </p:cNvSpPr>
          <p:nvPr>
            <p:ph sz="quarter" idx="10"/>
          </p:nvPr>
        </p:nvSpPr>
        <p:spPr/>
        <p:txBody>
          <a:bodyPr/>
          <a:lstStyle/>
          <a:p>
            <a:r>
              <a:rPr lang="en-IN" dirty="0"/>
              <a:t>Model-View-Controller pattern (MVC)</a:t>
            </a:r>
          </a:p>
        </p:txBody>
      </p:sp>
      <p:sp>
        <p:nvSpPr>
          <p:cNvPr id="5" name="Date Placeholder 4">
            <a:extLst>
              <a:ext uri="{FF2B5EF4-FFF2-40B4-BE49-F238E27FC236}">
                <a16:creationId xmlns:a16="http://schemas.microsoft.com/office/drawing/2014/main" id="{66BA93E8-56C0-417D-9165-93E705FA977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664C7D0-ACB1-4513-A5F1-E02444014B75}"/>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009ADA13-3053-48ED-AC95-E4C2F33B8D8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375497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B07D76-A4B4-4D5C-90DD-BD42D1AD4E8E}"/>
              </a:ext>
            </a:extLst>
          </p:cNvPr>
          <p:cNvSpPr>
            <a:spLocks noGrp="1"/>
          </p:cNvSpPr>
          <p:nvPr>
            <p:ph idx="1"/>
          </p:nvPr>
        </p:nvSpPr>
        <p:spPr/>
        <p:txBody>
          <a:bodyPr/>
          <a:lstStyle/>
          <a:p>
            <a:pPr>
              <a:buFont typeface="Arial" panose="020B0604020202020204" pitchFamily="34" charset="0"/>
              <a:buChar char="•"/>
            </a:pPr>
            <a:r>
              <a:rPr lang="en-IN" dirty="0"/>
              <a:t>PAC defines a structure for interactive software systems in the form of a hierarchy of cooperating agents. </a:t>
            </a:r>
          </a:p>
          <a:p>
            <a:pPr>
              <a:buFont typeface="Arial" panose="020B0604020202020204" pitchFamily="34" charset="0"/>
              <a:buChar char="•"/>
            </a:pPr>
            <a:r>
              <a:rPr lang="en-IN" dirty="0"/>
              <a:t>Every agent is responsible for a specific aspect of the application's functionality and consists of three components: </a:t>
            </a:r>
          </a:p>
          <a:p>
            <a:pPr lvl="2"/>
            <a:r>
              <a:rPr lang="en-IN" dirty="0"/>
              <a:t>presentation, </a:t>
            </a:r>
          </a:p>
          <a:p>
            <a:pPr lvl="2"/>
            <a:r>
              <a:rPr lang="en-IN" dirty="0"/>
              <a:t>abstraction, and </a:t>
            </a:r>
          </a:p>
          <a:p>
            <a:pPr lvl="2"/>
            <a:r>
              <a:rPr lang="en-IN" dirty="0"/>
              <a:t>control. </a:t>
            </a:r>
          </a:p>
          <a:p>
            <a:pPr>
              <a:buFont typeface="Arial" panose="020B0604020202020204" pitchFamily="34" charset="0"/>
              <a:buChar char="•"/>
            </a:pPr>
            <a:r>
              <a:rPr lang="en-IN" dirty="0"/>
              <a:t>This subdivision separates the human-computer interaction aspects of the agent from its functional core and its communication with other agents.</a:t>
            </a:r>
          </a:p>
        </p:txBody>
      </p:sp>
      <p:sp>
        <p:nvSpPr>
          <p:cNvPr id="3" name="Content Placeholder 2">
            <a:extLst>
              <a:ext uri="{FF2B5EF4-FFF2-40B4-BE49-F238E27FC236}">
                <a16:creationId xmlns:a16="http://schemas.microsoft.com/office/drawing/2014/main" id="{22762F76-F4AA-4A23-B84B-1110F70AFC8D}"/>
              </a:ext>
            </a:extLst>
          </p:cNvPr>
          <p:cNvSpPr>
            <a:spLocks noGrp="1"/>
          </p:cNvSpPr>
          <p:nvPr>
            <p:ph sz="quarter" idx="10"/>
          </p:nvPr>
        </p:nvSpPr>
        <p:spPr/>
        <p:txBody>
          <a:bodyPr/>
          <a:lstStyle/>
          <a:p>
            <a:r>
              <a:rPr lang="en-IN" dirty="0"/>
              <a:t>The Presentation-Abstraction-Control pattern (PAC)</a:t>
            </a:r>
          </a:p>
        </p:txBody>
      </p:sp>
      <p:sp>
        <p:nvSpPr>
          <p:cNvPr id="5" name="Date Placeholder 4">
            <a:extLst>
              <a:ext uri="{FF2B5EF4-FFF2-40B4-BE49-F238E27FC236}">
                <a16:creationId xmlns:a16="http://schemas.microsoft.com/office/drawing/2014/main" id="{3371A522-94DD-4CAF-9269-66D7A0BA1D2D}"/>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5243573-19AF-4A3E-AA45-A3600060792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D3C75025-AA5F-4FA4-942C-38C419F2B33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2015800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041ADE-9998-43F3-A54A-D0E17DF1C254}"/>
              </a:ext>
            </a:extLst>
          </p:cNvPr>
          <p:cNvSpPr>
            <a:spLocks noGrp="1"/>
          </p:cNvSpPr>
          <p:nvPr>
            <p:ph sz="quarter" idx="10"/>
          </p:nvPr>
        </p:nvSpPr>
        <p:spPr/>
        <p:txBody>
          <a:bodyPr/>
          <a:lstStyle/>
          <a:p>
            <a:r>
              <a:rPr lang="en-IN" dirty="0"/>
              <a:t>Model-View-Controller</a:t>
            </a:r>
          </a:p>
        </p:txBody>
      </p:sp>
      <p:sp>
        <p:nvSpPr>
          <p:cNvPr id="3" name="Date Placeholder 2">
            <a:extLst>
              <a:ext uri="{FF2B5EF4-FFF2-40B4-BE49-F238E27FC236}">
                <a16:creationId xmlns:a16="http://schemas.microsoft.com/office/drawing/2014/main" id="{6DB4A40B-4997-44AD-B6D2-E306FF0984FF}"/>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D8FD648C-11E2-4930-8C49-612567A9C6FA}"/>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a:extLst>
              <a:ext uri="{FF2B5EF4-FFF2-40B4-BE49-F238E27FC236}">
                <a16:creationId xmlns:a16="http://schemas.microsoft.com/office/drawing/2014/main" id="{DB341B80-FE5C-497B-80ED-B789CEBD1636}"/>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229669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8351CA-8376-417F-928A-4956C9A3A70A}"/>
              </a:ext>
            </a:extLst>
          </p:cNvPr>
          <p:cNvSpPr>
            <a:spLocks noGrp="1"/>
          </p:cNvSpPr>
          <p:nvPr>
            <p:ph idx="1"/>
          </p:nvPr>
        </p:nvSpPr>
        <p:spPr/>
        <p:txBody>
          <a:bodyPr/>
          <a:lstStyle/>
          <a:p>
            <a:pPr>
              <a:buFont typeface="Arial" panose="020B0604020202020204" pitchFamily="34" charset="0"/>
              <a:buChar char="•"/>
            </a:pPr>
            <a:r>
              <a:rPr lang="en-IN" dirty="0"/>
              <a:t>The MVC divides an interactive application into three components. </a:t>
            </a:r>
          </a:p>
          <a:p>
            <a:pPr lvl="2"/>
            <a:r>
              <a:rPr lang="en-IN" dirty="0"/>
              <a:t>The model contains the core functionality and data. </a:t>
            </a:r>
          </a:p>
          <a:p>
            <a:pPr lvl="2"/>
            <a:r>
              <a:rPr lang="en-IN" dirty="0"/>
              <a:t>Views display information to the user. </a:t>
            </a:r>
          </a:p>
          <a:p>
            <a:pPr lvl="2"/>
            <a:r>
              <a:rPr lang="en-IN" dirty="0"/>
              <a:t>Controllers handle user input. </a:t>
            </a:r>
          </a:p>
          <a:p>
            <a:pPr>
              <a:buFont typeface="Arial" panose="020B0604020202020204" pitchFamily="34" charset="0"/>
              <a:buChar char="•"/>
            </a:pPr>
            <a:r>
              <a:rPr lang="en-IN" dirty="0"/>
              <a:t>Views and controllers together comprise the user interface. </a:t>
            </a:r>
          </a:p>
          <a:p>
            <a:pPr>
              <a:buFont typeface="Arial" panose="020B0604020202020204" pitchFamily="34" charset="0"/>
              <a:buChar char="•"/>
            </a:pPr>
            <a:r>
              <a:rPr lang="en-IN" dirty="0"/>
              <a:t>A change-propagation mechanism ensures consistency between the user interface and the model.</a:t>
            </a:r>
          </a:p>
        </p:txBody>
      </p:sp>
      <p:sp>
        <p:nvSpPr>
          <p:cNvPr id="3" name="Content Placeholder 2">
            <a:extLst>
              <a:ext uri="{FF2B5EF4-FFF2-40B4-BE49-F238E27FC236}">
                <a16:creationId xmlns:a16="http://schemas.microsoft.com/office/drawing/2014/main" id="{FB9711A3-EBEA-43B6-B920-7F889237F87E}"/>
              </a:ext>
            </a:extLst>
          </p:cNvPr>
          <p:cNvSpPr>
            <a:spLocks noGrp="1"/>
          </p:cNvSpPr>
          <p:nvPr>
            <p:ph sz="quarter" idx="10"/>
          </p:nvPr>
        </p:nvSpPr>
        <p:spPr/>
        <p:txBody>
          <a:bodyPr/>
          <a:lstStyle/>
          <a:p>
            <a:r>
              <a:rPr lang="en-IN" dirty="0"/>
              <a:t>Model-View-Controller</a:t>
            </a:r>
          </a:p>
        </p:txBody>
      </p:sp>
      <p:sp>
        <p:nvSpPr>
          <p:cNvPr id="5" name="Date Placeholder 4">
            <a:extLst>
              <a:ext uri="{FF2B5EF4-FFF2-40B4-BE49-F238E27FC236}">
                <a16:creationId xmlns:a16="http://schemas.microsoft.com/office/drawing/2014/main" id="{073EE849-F3F7-4B38-9466-05D3DFAC03E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8E29C59D-1086-4303-9137-DB23AE24EAA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6ADE551-0B2A-4A20-9ECD-9CF6C14C1D3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745366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A08B58-8AED-43AA-A33A-1B30BF74E33B}"/>
              </a:ext>
            </a:extLst>
          </p:cNvPr>
          <p:cNvSpPr>
            <a:spLocks noGrp="1"/>
          </p:cNvSpPr>
          <p:nvPr>
            <p:ph idx="1"/>
          </p:nvPr>
        </p:nvSpPr>
        <p:spPr/>
        <p:txBody>
          <a:bodyPr/>
          <a:lstStyle/>
          <a:p>
            <a:pPr>
              <a:buFont typeface="Arial" panose="020B0604020202020204" pitchFamily="34" charset="0"/>
              <a:buChar char="•"/>
            </a:pPr>
            <a:r>
              <a:rPr lang="en-IN" dirty="0"/>
              <a:t>Interactive applications with a flexible human-computer interface.</a:t>
            </a:r>
          </a:p>
        </p:txBody>
      </p:sp>
      <p:sp>
        <p:nvSpPr>
          <p:cNvPr id="3" name="Content Placeholder 2">
            <a:extLst>
              <a:ext uri="{FF2B5EF4-FFF2-40B4-BE49-F238E27FC236}">
                <a16:creationId xmlns:a16="http://schemas.microsoft.com/office/drawing/2014/main" id="{E47F6006-82C3-418D-8055-04B2E04A35A7}"/>
              </a:ext>
            </a:extLst>
          </p:cNvPr>
          <p:cNvSpPr>
            <a:spLocks noGrp="1"/>
          </p:cNvSpPr>
          <p:nvPr>
            <p:ph sz="quarter" idx="10"/>
          </p:nvPr>
        </p:nvSpPr>
        <p:spPr/>
        <p:txBody>
          <a:bodyPr/>
          <a:lstStyle/>
          <a:p>
            <a:r>
              <a:rPr lang="en-IN" dirty="0"/>
              <a:t>Context</a:t>
            </a:r>
          </a:p>
        </p:txBody>
      </p:sp>
      <p:sp>
        <p:nvSpPr>
          <p:cNvPr id="5" name="Date Placeholder 4">
            <a:extLst>
              <a:ext uri="{FF2B5EF4-FFF2-40B4-BE49-F238E27FC236}">
                <a16:creationId xmlns:a16="http://schemas.microsoft.com/office/drawing/2014/main" id="{587B2665-978C-4C88-81C8-80C773F1304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E1425B28-7A62-4A00-B3BF-108FA59C307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C12BC3F-D379-4D7D-B7A4-430D696B415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13654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89D943-50C2-4450-80B1-02B1CC94789C}"/>
              </a:ext>
            </a:extLst>
          </p:cNvPr>
          <p:cNvSpPr>
            <a:spLocks noGrp="1"/>
          </p:cNvSpPr>
          <p:nvPr>
            <p:ph idx="1"/>
          </p:nvPr>
        </p:nvSpPr>
        <p:spPr/>
        <p:txBody>
          <a:bodyPr>
            <a:normAutofit/>
          </a:bodyPr>
          <a:lstStyle/>
          <a:p>
            <a:pPr>
              <a:buFont typeface="Arial" panose="020B0604020202020204" pitchFamily="34" charset="0"/>
              <a:buChar char="•"/>
            </a:pPr>
            <a:r>
              <a:rPr lang="en-IN" dirty="0"/>
              <a:t>User interfaces are especially prone to change requests. When you extend the functionality of an application, you must modify menus to access these new functions. </a:t>
            </a:r>
          </a:p>
          <a:p>
            <a:pPr>
              <a:buFont typeface="Arial" panose="020B0604020202020204" pitchFamily="34" charset="0"/>
              <a:buChar char="•"/>
            </a:pPr>
            <a:r>
              <a:rPr lang="en-IN" dirty="0"/>
              <a:t>A customer may call for a specific user interface adaptation, or a system may need to be ported to another platform with a different 'look and feel' standard. </a:t>
            </a:r>
          </a:p>
          <a:p>
            <a:pPr>
              <a:buFont typeface="Arial" panose="020B0604020202020204" pitchFamily="34" charset="0"/>
              <a:buChar char="•"/>
            </a:pPr>
            <a:r>
              <a:rPr lang="en-IN" dirty="0"/>
              <a:t>Even upgrading to a new release of your windowing system can imply code changes. </a:t>
            </a:r>
          </a:p>
          <a:p>
            <a:pPr>
              <a:buFont typeface="Arial" panose="020B0604020202020204" pitchFamily="34" charset="0"/>
              <a:buChar char="•"/>
            </a:pPr>
            <a:r>
              <a:rPr lang="en-IN" dirty="0"/>
              <a:t>The user interface platform of long-lived systems thus represents a moving target. </a:t>
            </a:r>
          </a:p>
        </p:txBody>
      </p:sp>
      <p:sp>
        <p:nvSpPr>
          <p:cNvPr id="3" name="Content Placeholder 2">
            <a:extLst>
              <a:ext uri="{FF2B5EF4-FFF2-40B4-BE49-F238E27FC236}">
                <a16:creationId xmlns:a16="http://schemas.microsoft.com/office/drawing/2014/main" id="{C19B403F-9236-4AE9-9894-D1E2E12F365E}"/>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74C58C01-7C8B-404E-A420-E6E36DE2F4E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3212030-7C1C-4DE6-A7FF-6B6084FFCB9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A5801BC-E403-4445-9466-CE1CE1684B0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82887221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89D943-50C2-4450-80B1-02B1CC94789C}"/>
              </a:ext>
            </a:extLst>
          </p:cNvPr>
          <p:cNvSpPr>
            <a:spLocks noGrp="1"/>
          </p:cNvSpPr>
          <p:nvPr>
            <p:ph idx="1"/>
          </p:nvPr>
        </p:nvSpPr>
        <p:spPr>
          <a:xfrm>
            <a:off x="304800" y="1493837"/>
            <a:ext cx="8229600" cy="4972839"/>
          </a:xfrm>
        </p:spPr>
        <p:txBody>
          <a:bodyPr>
            <a:normAutofit fontScale="92500" lnSpcReduction="10000"/>
          </a:bodyPr>
          <a:lstStyle/>
          <a:p>
            <a:pPr>
              <a:buFont typeface="Arial" panose="020B0604020202020204" pitchFamily="34" charset="0"/>
              <a:buChar char="•"/>
            </a:pPr>
            <a:r>
              <a:rPr lang="en-IN" dirty="0"/>
              <a:t>Different users place conflicting requirements on the user interface. </a:t>
            </a:r>
          </a:p>
          <a:p>
            <a:pPr>
              <a:buFont typeface="Arial" panose="020B0604020202020204" pitchFamily="34" charset="0"/>
              <a:buChar char="•"/>
            </a:pPr>
            <a:r>
              <a:rPr lang="en-IN" dirty="0"/>
              <a:t>A typist enters information into forms via the keyboard. </a:t>
            </a:r>
          </a:p>
          <a:p>
            <a:pPr>
              <a:buFont typeface="Arial" panose="020B0604020202020204" pitchFamily="34" charset="0"/>
              <a:buChar char="•"/>
            </a:pPr>
            <a:r>
              <a:rPr lang="en-IN" dirty="0"/>
              <a:t>A manager wants to use the same system mainly by clicking icons and buttons. </a:t>
            </a:r>
          </a:p>
          <a:p>
            <a:pPr>
              <a:buFont typeface="Arial" panose="020B0604020202020204" pitchFamily="34" charset="0"/>
              <a:buChar char="•"/>
            </a:pPr>
            <a:r>
              <a:rPr lang="en-IN" dirty="0"/>
              <a:t>Consequently, support for several user interface paradigms should be easily incorporated. </a:t>
            </a:r>
          </a:p>
          <a:p>
            <a:pPr>
              <a:buFont typeface="Arial" panose="020B0604020202020204" pitchFamily="34" charset="0"/>
              <a:buChar char="•"/>
            </a:pPr>
            <a:r>
              <a:rPr lang="en-IN" dirty="0"/>
              <a:t>Building a system with the required flexibility is expensive and error-prone if the user interface is tightly interwoven with the functional core. </a:t>
            </a:r>
          </a:p>
          <a:p>
            <a:pPr>
              <a:buFont typeface="Arial" panose="020B0604020202020204" pitchFamily="34" charset="0"/>
              <a:buChar char="•"/>
            </a:pPr>
            <a:r>
              <a:rPr lang="en-IN" dirty="0"/>
              <a:t>This can result in the need to develop and maintain several substantially different software systems, one for each user interface implementation. </a:t>
            </a:r>
          </a:p>
          <a:p>
            <a:pPr>
              <a:buFont typeface="Arial" panose="020B0604020202020204" pitchFamily="34" charset="0"/>
              <a:buChar char="•"/>
            </a:pPr>
            <a:r>
              <a:rPr lang="en-IN" dirty="0"/>
              <a:t>Ensuing changes spread over many modules. </a:t>
            </a:r>
          </a:p>
        </p:txBody>
      </p:sp>
      <p:sp>
        <p:nvSpPr>
          <p:cNvPr id="3" name="Content Placeholder 2">
            <a:extLst>
              <a:ext uri="{FF2B5EF4-FFF2-40B4-BE49-F238E27FC236}">
                <a16:creationId xmlns:a16="http://schemas.microsoft.com/office/drawing/2014/main" id="{C19B403F-9236-4AE9-9894-D1E2E12F365E}"/>
              </a:ext>
            </a:extLst>
          </p:cNvPr>
          <p:cNvSpPr>
            <a:spLocks noGrp="1"/>
          </p:cNvSpPr>
          <p:nvPr>
            <p:ph sz="quarter" idx="10"/>
          </p:nvPr>
        </p:nvSpPr>
        <p:spPr/>
        <p:txBody>
          <a:bodyPr/>
          <a:lstStyle/>
          <a:p>
            <a:r>
              <a:rPr lang="en-IN" dirty="0"/>
              <a:t>Problem</a:t>
            </a:r>
          </a:p>
        </p:txBody>
      </p:sp>
      <p:sp>
        <p:nvSpPr>
          <p:cNvPr id="5" name="Date Placeholder 4">
            <a:extLst>
              <a:ext uri="{FF2B5EF4-FFF2-40B4-BE49-F238E27FC236}">
                <a16:creationId xmlns:a16="http://schemas.microsoft.com/office/drawing/2014/main" id="{74C58C01-7C8B-404E-A420-E6E36DE2F4E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13212030-7C1C-4DE6-A7FF-6B6084FFCB9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5A5801BC-E403-4445-9466-CE1CE1684B0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314161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6C8547-D843-46B0-891A-FA629B386C89}"/>
              </a:ext>
            </a:extLst>
          </p:cNvPr>
          <p:cNvSpPr>
            <a:spLocks noGrp="1"/>
          </p:cNvSpPr>
          <p:nvPr>
            <p:ph idx="1"/>
          </p:nvPr>
        </p:nvSpPr>
        <p:spPr/>
        <p:txBody>
          <a:bodyPr/>
          <a:lstStyle/>
          <a:p>
            <a:r>
              <a:rPr lang="en-IN" dirty="0"/>
              <a:t>The following forces influence the solution: </a:t>
            </a:r>
          </a:p>
          <a:p>
            <a:pPr>
              <a:buFont typeface="Arial" panose="020B0604020202020204" pitchFamily="34" charset="0"/>
              <a:buChar char="•"/>
            </a:pPr>
            <a:r>
              <a:rPr lang="en-IN" dirty="0"/>
              <a:t>The same information is presented differently in different windows, for example, in a bar or pie chart. </a:t>
            </a:r>
          </a:p>
          <a:p>
            <a:pPr>
              <a:buFont typeface="Arial" panose="020B0604020202020204" pitchFamily="34" charset="0"/>
              <a:buChar char="•"/>
            </a:pPr>
            <a:r>
              <a:rPr lang="en-IN" dirty="0"/>
              <a:t>The display and behaviour of the application must reflect data manipulations immediately. </a:t>
            </a:r>
          </a:p>
          <a:p>
            <a:pPr>
              <a:buFont typeface="Arial" panose="020B0604020202020204" pitchFamily="34" charset="0"/>
              <a:buChar char="•"/>
            </a:pPr>
            <a:r>
              <a:rPr lang="en-IN" dirty="0"/>
              <a:t>Changes to the user interface should be easy, and even possible at run-time. </a:t>
            </a:r>
          </a:p>
          <a:p>
            <a:pPr>
              <a:buFont typeface="Arial" panose="020B0604020202020204" pitchFamily="34" charset="0"/>
              <a:buChar char="•"/>
            </a:pPr>
            <a:r>
              <a:rPr lang="en-IN" dirty="0"/>
              <a:t>Supporting different 'look and feel' standards or porting the user interface should not affect code in the core of the application.</a:t>
            </a:r>
          </a:p>
          <a:p>
            <a:endParaRPr lang="en-IN" dirty="0"/>
          </a:p>
        </p:txBody>
      </p:sp>
      <p:sp>
        <p:nvSpPr>
          <p:cNvPr id="3" name="Content Placeholder 2">
            <a:extLst>
              <a:ext uri="{FF2B5EF4-FFF2-40B4-BE49-F238E27FC236}">
                <a16:creationId xmlns:a16="http://schemas.microsoft.com/office/drawing/2014/main" id="{E495329A-BBB4-4868-B335-129E2B91C689}"/>
              </a:ext>
            </a:extLst>
          </p:cNvPr>
          <p:cNvSpPr>
            <a:spLocks noGrp="1"/>
          </p:cNvSpPr>
          <p:nvPr>
            <p:ph sz="quarter" idx="10"/>
          </p:nvPr>
        </p:nvSpPr>
        <p:spPr/>
        <p:txBody>
          <a:bodyPr/>
          <a:lstStyle/>
          <a:p>
            <a:r>
              <a:rPr lang="en-IN" dirty="0"/>
              <a:t>Influences</a:t>
            </a:r>
          </a:p>
        </p:txBody>
      </p:sp>
      <p:sp>
        <p:nvSpPr>
          <p:cNvPr id="5" name="Date Placeholder 4">
            <a:extLst>
              <a:ext uri="{FF2B5EF4-FFF2-40B4-BE49-F238E27FC236}">
                <a16:creationId xmlns:a16="http://schemas.microsoft.com/office/drawing/2014/main" id="{5D6BA769-E4C8-4799-A1D5-EE448C83B9AA}"/>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F9A1789E-6A57-4EC1-92E9-468E3BAEC53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B3E37CD3-8DC1-4B68-B853-14C5DC6622C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104145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A0F5BC-B95C-43A0-AD8A-CC5CC1736E04}"/>
              </a:ext>
            </a:extLst>
          </p:cNvPr>
          <p:cNvSpPr>
            <a:spLocks noGrp="1"/>
          </p:cNvSpPr>
          <p:nvPr>
            <p:ph idx="1"/>
          </p:nvPr>
        </p:nvSpPr>
        <p:spPr/>
        <p:txBody>
          <a:bodyPr/>
          <a:lstStyle/>
          <a:p>
            <a:pPr>
              <a:buFont typeface="Arial" panose="020B0604020202020204" pitchFamily="34" charset="0"/>
              <a:buChar char="•"/>
            </a:pPr>
            <a:r>
              <a:rPr lang="en-IN" dirty="0"/>
              <a:t>Model-View-Controller (MVC] was first introduced in the Smalltalk-80 programming environment. </a:t>
            </a:r>
          </a:p>
          <a:p>
            <a:pPr>
              <a:buFont typeface="Arial" panose="020B0604020202020204" pitchFamily="34" charset="0"/>
              <a:buChar char="•"/>
            </a:pPr>
            <a:r>
              <a:rPr lang="en-IN" dirty="0"/>
              <a:t>MVC divides an interactive application into the three areas: </a:t>
            </a:r>
          </a:p>
          <a:p>
            <a:pPr lvl="2"/>
            <a:r>
              <a:rPr lang="en-IN" dirty="0"/>
              <a:t>processing, </a:t>
            </a:r>
          </a:p>
          <a:p>
            <a:pPr lvl="2"/>
            <a:r>
              <a:rPr lang="en-IN" dirty="0"/>
              <a:t>output, and </a:t>
            </a:r>
          </a:p>
          <a:p>
            <a:pPr lvl="2"/>
            <a:r>
              <a:rPr lang="en-IN" dirty="0"/>
              <a:t>input. </a:t>
            </a:r>
          </a:p>
        </p:txBody>
      </p:sp>
      <p:sp>
        <p:nvSpPr>
          <p:cNvPr id="3" name="Content Placeholder 2">
            <a:extLst>
              <a:ext uri="{FF2B5EF4-FFF2-40B4-BE49-F238E27FC236}">
                <a16:creationId xmlns:a16="http://schemas.microsoft.com/office/drawing/2014/main" id="{AAE16707-68E5-4613-8663-022BA35B64DD}"/>
              </a:ext>
            </a:extLst>
          </p:cNvPr>
          <p:cNvSpPr>
            <a:spLocks noGrp="1"/>
          </p:cNvSpPr>
          <p:nvPr>
            <p:ph sz="quarter" idx="10"/>
          </p:nvPr>
        </p:nvSpPr>
        <p:spPr/>
        <p:txBody>
          <a:bodyPr/>
          <a:lstStyle/>
          <a:p>
            <a:r>
              <a:rPr lang="en-IN" dirty="0"/>
              <a:t>Solution</a:t>
            </a:r>
          </a:p>
        </p:txBody>
      </p:sp>
      <p:sp>
        <p:nvSpPr>
          <p:cNvPr id="5" name="Date Placeholder 4">
            <a:extLst>
              <a:ext uri="{FF2B5EF4-FFF2-40B4-BE49-F238E27FC236}">
                <a16:creationId xmlns:a16="http://schemas.microsoft.com/office/drawing/2014/main" id="{25244051-D4FA-4DD3-ABCC-AD13835412B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50C33E16-7797-43FC-9269-490FE086073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DF6E70D9-E8FB-4127-A6CA-74BA2737CBF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1056967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221B89-B52C-4339-B951-B477704D8118}"/>
              </a:ext>
            </a:extLst>
          </p:cNvPr>
          <p:cNvSpPr>
            <a:spLocks noGrp="1"/>
          </p:cNvSpPr>
          <p:nvPr>
            <p:ph idx="1"/>
          </p:nvPr>
        </p:nvSpPr>
        <p:spPr/>
        <p:txBody>
          <a:bodyPr/>
          <a:lstStyle/>
          <a:p>
            <a:pPr>
              <a:buFont typeface="Arial" panose="020B0604020202020204" pitchFamily="34" charset="0"/>
              <a:buChar char="•"/>
            </a:pPr>
            <a:r>
              <a:rPr lang="en-IN" dirty="0"/>
              <a:t>The model component encapsulates core data and functionality. </a:t>
            </a:r>
          </a:p>
          <a:p>
            <a:pPr>
              <a:buFont typeface="Arial" panose="020B0604020202020204" pitchFamily="34" charset="0"/>
              <a:buChar char="•"/>
            </a:pPr>
            <a:r>
              <a:rPr lang="en-IN" dirty="0"/>
              <a:t>The model is independent of specific output representations or input behaviour. </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C9C02B5F-B603-4A89-A6D7-509235D04F03}"/>
              </a:ext>
            </a:extLst>
          </p:cNvPr>
          <p:cNvSpPr>
            <a:spLocks noGrp="1"/>
          </p:cNvSpPr>
          <p:nvPr>
            <p:ph sz="quarter" idx="10"/>
          </p:nvPr>
        </p:nvSpPr>
        <p:spPr/>
        <p:txBody>
          <a:bodyPr/>
          <a:lstStyle/>
          <a:p>
            <a:r>
              <a:rPr lang="en-IN" dirty="0"/>
              <a:t>Model</a:t>
            </a:r>
          </a:p>
        </p:txBody>
      </p:sp>
      <p:sp>
        <p:nvSpPr>
          <p:cNvPr id="5" name="Date Placeholder 4">
            <a:extLst>
              <a:ext uri="{FF2B5EF4-FFF2-40B4-BE49-F238E27FC236}">
                <a16:creationId xmlns:a16="http://schemas.microsoft.com/office/drawing/2014/main" id="{3367B6DD-25FD-42FA-BA13-7B418F8A7DFC}"/>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FCDEEADA-55F4-4F65-A2A7-C03C368C8A1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1F639CDA-61F7-48BB-A1B3-A7A480B7E9A5}"/>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2457002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5BF704-2502-4A26-87DE-6E4C4C80673A}"/>
              </a:ext>
            </a:extLst>
          </p:cNvPr>
          <p:cNvSpPr>
            <a:spLocks noGrp="1"/>
          </p:cNvSpPr>
          <p:nvPr>
            <p:ph idx="1"/>
          </p:nvPr>
        </p:nvSpPr>
        <p:spPr/>
        <p:txBody>
          <a:bodyPr/>
          <a:lstStyle/>
          <a:p>
            <a:pPr>
              <a:buFont typeface="Arial" panose="020B0604020202020204" pitchFamily="34" charset="0"/>
              <a:buChar char="•"/>
            </a:pPr>
            <a:r>
              <a:rPr lang="en-IN" dirty="0"/>
              <a:t>View components display information to the user. A view obtains the data from the model. </a:t>
            </a:r>
          </a:p>
          <a:p>
            <a:pPr>
              <a:buFont typeface="Arial" panose="020B0604020202020204" pitchFamily="34" charset="0"/>
              <a:buChar char="•"/>
            </a:pPr>
            <a:r>
              <a:rPr lang="en-IN" dirty="0"/>
              <a:t>There can be multiple views of the model. </a:t>
            </a:r>
          </a:p>
        </p:txBody>
      </p:sp>
      <p:sp>
        <p:nvSpPr>
          <p:cNvPr id="3" name="Content Placeholder 2">
            <a:extLst>
              <a:ext uri="{FF2B5EF4-FFF2-40B4-BE49-F238E27FC236}">
                <a16:creationId xmlns:a16="http://schemas.microsoft.com/office/drawing/2014/main" id="{049F1BC0-5C44-4247-B071-EEAE6854CCE1}"/>
              </a:ext>
            </a:extLst>
          </p:cNvPr>
          <p:cNvSpPr>
            <a:spLocks noGrp="1"/>
          </p:cNvSpPr>
          <p:nvPr>
            <p:ph sz="quarter" idx="10"/>
          </p:nvPr>
        </p:nvSpPr>
        <p:spPr/>
        <p:txBody>
          <a:bodyPr/>
          <a:lstStyle/>
          <a:p>
            <a:r>
              <a:rPr lang="en-IN" dirty="0"/>
              <a:t>View</a:t>
            </a:r>
          </a:p>
        </p:txBody>
      </p:sp>
      <p:sp>
        <p:nvSpPr>
          <p:cNvPr id="5" name="Date Placeholder 4">
            <a:extLst>
              <a:ext uri="{FF2B5EF4-FFF2-40B4-BE49-F238E27FC236}">
                <a16:creationId xmlns:a16="http://schemas.microsoft.com/office/drawing/2014/main" id="{2FA340D5-F6C0-4480-A3BF-43A02128AA1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E918AC73-EF16-4EBF-9A0B-1961A4FFEA4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3BEA2366-9389-41EF-8975-F451A5242C83}"/>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1604020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6C2A7F-CB1F-4039-8F62-C4BC039331E0}"/>
              </a:ext>
            </a:extLst>
          </p:cNvPr>
          <p:cNvSpPr>
            <a:spLocks noGrp="1"/>
          </p:cNvSpPr>
          <p:nvPr>
            <p:ph idx="1"/>
          </p:nvPr>
        </p:nvSpPr>
        <p:spPr/>
        <p:txBody>
          <a:bodyPr>
            <a:normAutofit/>
          </a:bodyPr>
          <a:lstStyle/>
          <a:p>
            <a:pPr>
              <a:buFont typeface="Arial" panose="020B0604020202020204" pitchFamily="34" charset="0"/>
              <a:buChar char="•"/>
            </a:pPr>
            <a:r>
              <a:rPr lang="en-IN" dirty="0"/>
              <a:t>Each view has an associated controller component. </a:t>
            </a:r>
          </a:p>
          <a:p>
            <a:pPr>
              <a:buFont typeface="Arial" panose="020B0604020202020204" pitchFamily="34" charset="0"/>
              <a:buChar char="•"/>
            </a:pPr>
            <a:r>
              <a:rPr lang="en-IN" dirty="0"/>
              <a:t>Controllers receive input, usually as events that encode mouse movement, activation of mouse buttons, or keyboard input. </a:t>
            </a:r>
          </a:p>
          <a:p>
            <a:pPr>
              <a:buFont typeface="Arial" panose="020B0604020202020204" pitchFamily="34" charset="0"/>
              <a:buChar char="•"/>
            </a:pPr>
            <a:r>
              <a:rPr lang="en-IN" dirty="0"/>
              <a:t>Events are translated to service requests for the model or the view. </a:t>
            </a:r>
          </a:p>
          <a:p>
            <a:pPr>
              <a:buFont typeface="Arial" panose="020B0604020202020204" pitchFamily="34" charset="0"/>
              <a:buChar char="•"/>
            </a:pPr>
            <a:r>
              <a:rPr lang="en-IN" dirty="0"/>
              <a:t>The user interacts with the system solely through controllers. </a:t>
            </a:r>
          </a:p>
        </p:txBody>
      </p:sp>
      <p:sp>
        <p:nvSpPr>
          <p:cNvPr id="3" name="Content Placeholder 2">
            <a:extLst>
              <a:ext uri="{FF2B5EF4-FFF2-40B4-BE49-F238E27FC236}">
                <a16:creationId xmlns:a16="http://schemas.microsoft.com/office/drawing/2014/main" id="{45D389D9-93AD-4DC4-99EB-F7B030C510DA}"/>
              </a:ext>
            </a:extLst>
          </p:cNvPr>
          <p:cNvSpPr>
            <a:spLocks noGrp="1"/>
          </p:cNvSpPr>
          <p:nvPr>
            <p:ph sz="quarter" idx="10"/>
          </p:nvPr>
        </p:nvSpPr>
        <p:spPr/>
        <p:txBody>
          <a:bodyPr/>
          <a:lstStyle/>
          <a:p>
            <a:r>
              <a:rPr lang="en-IN" dirty="0"/>
              <a:t>Controller</a:t>
            </a:r>
          </a:p>
        </p:txBody>
      </p:sp>
      <p:sp>
        <p:nvSpPr>
          <p:cNvPr id="5" name="Date Placeholder 4">
            <a:extLst>
              <a:ext uri="{FF2B5EF4-FFF2-40B4-BE49-F238E27FC236}">
                <a16:creationId xmlns:a16="http://schemas.microsoft.com/office/drawing/2014/main" id="{27783DDF-3F0D-45F9-AA93-7D7D801D7A0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A5CF7D62-AD59-4171-8297-24DC3B73072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30EB0800-5110-401B-829B-18A8FCC0204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7500409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8EE254-C438-43AD-8D04-5982B47DA4E0}"/>
              </a:ext>
            </a:extLst>
          </p:cNvPr>
          <p:cNvSpPr>
            <a:spLocks noGrp="1"/>
          </p:cNvSpPr>
          <p:nvPr>
            <p:ph idx="1"/>
          </p:nvPr>
        </p:nvSpPr>
        <p:spPr/>
        <p:txBody>
          <a:bodyPr/>
          <a:lstStyle/>
          <a:p>
            <a:pPr>
              <a:buFont typeface="Arial" panose="020B0604020202020204" pitchFamily="34" charset="0"/>
              <a:buChar char="•"/>
            </a:pPr>
            <a:r>
              <a:rPr lang="en-IN" dirty="0"/>
              <a:t>The separation of the model from view and controller components allows multiple views of the same model. </a:t>
            </a:r>
          </a:p>
          <a:p>
            <a:pPr>
              <a:buFont typeface="Arial" panose="020B0604020202020204" pitchFamily="34" charset="0"/>
              <a:buChar char="•"/>
            </a:pPr>
            <a:r>
              <a:rPr lang="en-IN" dirty="0"/>
              <a:t>If the user changes the model via the controller of one view, all other views dependent on this data should reflect the changes. </a:t>
            </a:r>
          </a:p>
          <a:p>
            <a:pPr>
              <a:buFont typeface="Arial" panose="020B0604020202020204" pitchFamily="34" charset="0"/>
              <a:buChar char="•"/>
            </a:pPr>
            <a:r>
              <a:rPr lang="en-IN" dirty="0"/>
              <a:t>The model therefore notifies all views whenever its data changes. </a:t>
            </a:r>
          </a:p>
          <a:p>
            <a:pPr>
              <a:buFont typeface="Arial" panose="020B0604020202020204" pitchFamily="34" charset="0"/>
              <a:buChar char="•"/>
            </a:pPr>
            <a:r>
              <a:rPr lang="en-IN" dirty="0"/>
              <a:t>The views in turn retrieve new data from the model and update the displayed information. </a:t>
            </a:r>
          </a:p>
          <a:p>
            <a:pPr>
              <a:buFont typeface="Arial" panose="020B0604020202020204" pitchFamily="34" charset="0"/>
              <a:buChar char="•"/>
            </a:pPr>
            <a:r>
              <a:rPr lang="en-IN" dirty="0"/>
              <a:t>This change- propagation mechanism is described in the Publisher-Subscriber pattern</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259ABA16-6D1B-41EE-8B97-3AA2522465C7}"/>
              </a:ext>
            </a:extLst>
          </p:cNvPr>
          <p:cNvSpPr>
            <a:spLocks noGrp="1"/>
          </p:cNvSpPr>
          <p:nvPr>
            <p:ph sz="quarter" idx="10"/>
          </p:nvPr>
        </p:nvSpPr>
        <p:spPr/>
        <p:txBody>
          <a:bodyPr/>
          <a:lstStyle/>
          <a:p>
            <a:r>
              <a:rPr lang="en-IN" dirty="0"/>
              <a:t>MVC</a:t>
            </a:r>
          </a:p>
        </p:txBody>
      </p:sp>
      <p:sp>
        <p:nvSpPr>
          <p:cNvPr id="5" name="Date Placeholder 4">
            <a:extLst>
              <a:ext uri="{FF2B5EF4-FFF2-40B4-BE49-F238E27FC236}">
                <a16:creationId xmlns:a16="http://schemas.microsoft.com/office/drawing/2014/main" id="{2CD01E22-6655-49D6-BDB4-C2F28719855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23C4309C-6F35-465B-A7D3-3C1C6FB4961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BE360DB9-E6F1-4205-84A7-4D574AF5CEB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88464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45F077-09A2-4341-B39D-AD823BF1D9ED}"/>
              </a:ext>
            </a:extLst>
          </p:cNvPr>
          <p:cNvSpPr>
            <a:spLocks noGrp="1"/>
          </p:cNvSpPr>
          <p:nvPr>
            <p:ph idx="1"/>
          </p:nvPr>
        </p:nvSpPr>
        <p:spPr>
          <a:xfrm>
            <a:off x="304800" y="1493837"/>
            <a:ext cx="8458200" cy="5059363"/>
          </a:xfrm>
        </p:spPr>
        <p:txBody>
          <a:bodyPr>
            <a:normAutofit fontScale="92500" lnSpcReduction="20000"/>
          </a:bodyPr>
          <a:lstStyle/>
          <a:p>
            <a:pPr>
              <a:buFont typeface="Arial" panose="020B0604020202020204" pitchFamily="34" charset="0"/>
              <a:buChar char="•"/>
            </a:pPr>
            <a:r>
              <a:rPr lang="en-IN" dirty="0"/>
              <a:t>The model component contains the functional core of the application. </a:t>
            </a:r>
          </a:p>
          <a:p>
            <a:pPr>
              <a:buFont typeface="Arial" panose="020B0604020202020204" pitchFamily="34" charset="0"/>
              <a:buChar char="•"/>
            </a:pPr>
            <a:r>
              <a:rPr lang="en-IN" dirty="0"/>
              <a:t>It encapsulates the appropriate data, and exports procedures that perform application-specific processing. </a:t>
            </a:r>
          </a:p>
          <a:p>
            <a:pPr>
              <a:buFont typeface="Arial" panose="020B0604020202020204" pitchFamily="34" charset="0"/>
              <a:buChar char="•"/>
            </a:pPr>
            <a:r>
              <a:rPr lang="en-IN" dirty="0"/>
              <a:t>Controllers call these procedures on behalf of the user. </a:t>
            </a:r>
          </a:p>
          <a:p>
            <a:pPr>
              <a:buFont typeface="Arial" panose="020B0604020202020204" pitchFamily="34" charset="0"/>
              <a:buChar char="•"/>
            </a:pPr>
            <a:r>
              <a:rPr lang="en-IN" dirty="0"/>
              <a:t>The model also provides functions to access its data that are used by view components to acquire the data to be displayed. </a:t>
            </a:r>
          </a:p>
          <a:p>
            <a:pPr>
              <a:buFont typeface="Arial" panose="020B0604020202020204" pitchFamily="34" charset="0"/>
              <a:buChar char="•"/>
            </a:pPr>
            <a:r>
              <a:rPr lang="en-IN" dirty="0"/>
              <a:t>The change-propagation mechanism maintains a registry of the dependent components within the model. </a:t>
            </a:r>
          </a:p>
          <a:p>
            <a:pPr>
              <a:buFont typeface="Arial" panose="020B0604020202020204" pitchFamily="34" charset="0"/>
              <a:buChar char="•"/>
            </a:pPr>
            <a:r>
              <a:rPr lang="en-IN" dirty="0"/>
              <a:t>All views and also selected controllers register their need to be informed about changes. </a:t>
            </a:r>
          </a:p>
          <a:p>
            <a:pPr>
              <a:buFont typeface="Arial" panose="020B0604020202020204" pitchFamily="34" charset="0"/>
              <a:buChar char="•"/>
            </a:pPr>
            <a:r>
              <a:rPr lang="en-IN" dirty="0"/>
              <a:t>Changes to the state of the model trigger the change-propagation mechanism. </a:t>
            </a:r>
          </a:p>
          <a:p>
            <a:pPr>
              <a:buFont typeface="Arial" panose="020B0604020202020204" pitchFamily="34" charset="0"/>
              <a:buChar char="•"/>
            </a:pPr>
            <a:r>
              <a:rPr lang="en-IN" dirty="0"/>
              <a:t>The change-propagation mechanism is the only link between the model and the views and controllers. </a:t>
            </a:r>
          </a:p>
        </p:txBody>
      </p:sp>
      <p:sp>
        <p:nvSpPr>
          <p:cNvPr id="3" name="Content Placeholder 2">
            <a:extLst>
              <a:ext uri="{FF2B5EF4-FFF2-40B4-BE49-F238E27FC236}">
                <a16:creationId xmlns:a16="http://schemas.microsoft.com/office/drawing/2014/main" id="{ECEC03A1-4131-4D26-B8F0-E5937F2D046A}"/>
              </a:ext>
            </a:extLst>
          </p:cNvPr>
          <p:cNvSpPr>
            <a:spLocks noGrp="1"/>
          </p:cNvSpPr>
          <p:nvPr>
            <p:ph sz="quarter" idx="10"/>
          </p:nvPr>
        </p:nvSpPr>
        <p:spPr/>
        <p:txBody>
          <a:bodyPr/>
          <a:lstStyle/>
          <a:p>
            <a:r>
              <a:rPr lang="en-IN" dirty="0"/>
              <a:t>Structure: Model</a:t>
            </a:r>
          </a:p>
        </p:txBody>
      </p:sp>
      <p:sp>
        <p:nvSpPr>
          <p:cNvPr id="5" name="Date Placeholder 4">
            <a:extLst>
              <a:ext uri="{FF2B5EF4-FFF2-40B4-BE49-F238E27FC236}">
                <a16:creationId xmlns:a16="http://schemas.microsoft.com/office/drawing/2014/main" id="{282E736C-8F97-480B-B8A8-C7872B70765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7C2B5B97-E68B-4B5B-B89E-BFF010E84E6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2291CE76-5E6B-4B22-8F78-AEB43A1DB22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5819490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D1F7BC3-1D3F-4DC3-B647-2CC8329A7EEF}"/>
              </a:ext>
            </a:extLst>
          </p:cNvPr>
          <p:cNvPicPr>
            <a:picLocks noGrp="1" noChangeAspect="1"/>
          </p:cNvPicPr>
          <p:nvPr>
            <p:ph idx="1"/>
          </p:nvPr>
        </p:nvPicPr>
        <p:blipFill>
          <a:blip r:embed="rId2"/>
          <a:stretch>
            <a:fillRect/>
          </a:stretch>
        </p:blipFill>
        <p:spPr>
          <a:xfrm>
            <a:off x="1552575" y="1837531"/>
            <a:ext cx="5734050" cy="3838575"/>
          </a:xfrm>
          <a:prstGeom prst="rect">
            <a:avLst/>
          </a:prstGeom>
        </p:spPr>
      </p:pic>
      <p:sp>
        <p:nvSpPr>
          <p:cNvPr id="3" name="Content Placeholder 2">
            <a:extLst>
              <a:ext uri="{FF2B5EF4-FFF2-40B4-BE49-F238E27FC236}">
                <a16:creationId xmlns:a16="http://schemas.microsoft.com/office/drawing/2014/main" id="{E3789BE4-7ACA-4779-A554-4C8846C91EFE}"/>
              </a:ext>
            </a:extLst>
          </p:cNvPr>
          <p:cNvSpPr>
            <a:spLocks noGrp="1"/>
          </p:cNvSpPr>
          <p:nvPr>
            <p:ph sz="quarter" idx="10"/>
          </p:nvPr>
        </p:nvSpPr>
        <p:spPr/>
        <p:txBody>
          <a:bodyPr/>
          <a:lstStyle/>
          <a:p>
            <a:r>
              <a:rPr lang="en-IN" dirty="0"/>
              <a:t>CRC Diagram</a:t>
            </a:r>
          </a:p>
        </p:txBody>
      </p:sp>
      <p:sp>
        <p:nvSpPr>
          <p:cNvPr id="5" name="Date Placeholder 4">
            <a:extLst>
              <a:ext uri="{FF2B5EF4-FFF2-40B4-BE49-F238E27FC236}">
                <a16:creationId xmlns:a16="http://schemas.microsoft.com/office/drawing/2014/main" id="{5C393A54-58F4-41A5-8B32-B2570CB7B86A}"/>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0B667DC-DDDA-4E5A-BB8F-FAFADAB0493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96144362-AF63-477C-A23A-33EA6E31029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455509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332971-7C78-4545-9B81-2EF7A03D90EA}"/>
              </a:ext>
            </a:extLst>
          </p:cNvPr>
          <p:cNvSpPr>
            <a:spLocks noGrp="1"/>
          </p:cNvSpPr>
          <p:nvPr>
            <p:ph idx="1"/>
          </p:nvPr>
        </p:nvSpPr>
        <p:spPr>
          <a:xfrm>
            <a:off x="304800" y="1493837"/>
            <a:ext cx="8305800" cy="4972839"/>
          </a:xfrm>
        </p:spPr>
        <p:txBody>
          <a:bodyPr>
            <a:normAutofit fontScale="85000" lnSpcReduction="10000"/>
          </a:bodyPr>
          <a:lstStyle/>
          <a:p>
            <a:pPr>
              <a:buFont typeface="Arial" panose="020B0604020202020204" pitchFamily="34" charset="0"/>
              <a:buChar char="•"/>
            </a:pPr>
            <a:r>
              <a:rPr lang="en-IN" dirty="0"/>
              <a:t>View components present information to the user. </a:t>
            </a:r>
          </a:p>
          <a:p>
            <a:pPr>
              <a:buFont typeface="Arial" panose="020B0604020202020204" pitchFamily="34" charset="0"/>
              <a:buChar char="•"/>
            </a:pPr>
            <a:r>
              <a:rPr lang="en-IN" dirty="0"/>
              <a:t>Different views present the information of the model in different ways. </a:t>
            </a:r>
          </a:p>
          <a:p>
            <a:pPr>
              <a:buFont typeface="Arial" panose="020B0604020202020204" pitchFamily="34" charset="0"/>
              <a:buChar char="•"/>
            </a:pPr>
            <a:r>
              <a:rPr lang="en-IN" dirty="0"/>
              <a:t>Each view defines an update procedure that is activated by the change- propagation mechanism. </a:t>
            </a:r>
          </a:p>
          <a:p>
            <a:pPr>
              <a:buFont typeface="Arial" panose="020B0604020202020204" pitchFamily="34" charset="0"/>
              <a:buChar char="•"/>
            </a:pPr>
            <a:r>
              <a:rPr lang="en-IN" dirty="0"/>
              <a:t>When the update procedure is called, a view retrieves the current data values to be displayed from the model, and puts them on the screen. </a:t>
            </a:r>
          </a:p>
          <a:p>
            <a:pPr>
              <a:buFont typeface="Arial" panose="020B0604020202020204" pitchFamily="34" charset="0"/>
              <a:buChar char="•"/>
            </a:pPr>
            <a:r>
              <a:rPr lang="en-IN" dirty="0"/>
              <a:t>During initialization all views are associated with the model, and register with the change-propagation mechanism. </a:t>
            </a:r>
          </a:p>
          <a:p>
            <a:pPr>
              <a:buFont typeface="Arial" panose="020B0604020202020204" pitchFamily="34" charset="0"/>
              <a:buChar char="•"/>
            </a:pPr>
            <a:r>
              <a:rPr lang="en-IN" dirty="0"/>
              <a:t>Each view creates a suitable controller. </a:t>
            </a:r>
          </a:p>
          <a:p>
            <a:pPr>
              <a:buFont typeface="Arial" panose="020B0604020202020204" pitchFamily="34" charset="0"/>
              <a:buChar char="•"/>
            </a:pPr>
            <a:r>
              <a:rPr lang="en-IN" dirty="0"/>
              <a:t>There is a one-to-one relationship between views and controllers. </a:t>
            </a:r>
          </a:p>
          <a:p>
            <a:pPr>
              <a:buFont typeface="Arial" panose="020B0604020202020204" pitchFamily="34" charset="0"/>
              <a:buChar char="•"/>
            </a:pPr>
            <a:r>
              <a:rPr lang="en-IN" dirty="0"/>
              <a:t>Views often offer functionality that allows controllers to manipulate the display. </a:t>
            </a:r>
          </a:p>
          <a:p>
            <a:pPr>
              <a:buFont typeface="Arial" panose="020B0604020202020204" pitchFamily="34" charset="0"/>
              <a:buChar char="•"/>
            </a:pPr>
            <a:r>
              <a:rPr lang="en-IN" dirty="0"/>
              <a:t>This is useful for user-triggered operations that do not affect the model, such as scrolling.</a:t>
            </a:r>
          </a:p>
        </p:txBody>
      </p:sp>
      <p:sp>
        <p:nvSpPr>
          <p:cNvPr id="3" name="Content Placeholder 2">
            <a:extLst>
              <a:ext uri="{FF2B5EF4-FFF2-40B4-BE49-F238E27FC236}">
                <a16:creationId xmlns:a16="http://schemas.microsoft.com/office/drawing/2014/main" id="{9AD15B29-30E4-4FB8-A1F4-0110CA7CB9B0}"/>
              </a:ext>
            </a:extLst>
          </p:cNvPr>
          <p:cNvSpPr>
            <a:spLocks noGrp="1"/>
          </p:cNvSpPr>
          <p:nvPr>
            <p:ph sz="quarter" idx="10"/>
          </p:nvPr>
        </p:nvSpPr>
        <p:spPr/>
        <p:txBody>
          <a:bodyPr/>
          <a:lstStyle/>
          <a:p>
            <a:r>
              <a:rPr lang="en-IN" dirty="0"/>
              <a:t>Structure: View</a:t>
            </a:r>
          </a:p>
        </p:txBody>
      </p:sp>
      <p:sp>
        <p:nvSpPr>
          <p:cNvPr id="5" name="Date Placeholder 4">
            <a:extLst>
              <a:ext uri="{FF2B5EF4-FFF2-40B4-BE49-F238E27FC236}">
                <a16:creationId xmlns:a16="http://schemas.microsoft.com/office/drawing/2014/main" id="{00EA3780-EFDD-405A-BC1F-A590B28EAA7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575142D2-7AA9-4ADD-A80A-4F483727EC2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C12668E8-D57B-4B6B-ABAF-FD3E854DFBC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0545985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E40CCEC-5487-4936-BB40-601545C69970}"/>
              </a:ext>
            </a:extLst>
          </p:cNvPr>
          <p:cNvPicPr>
            <a:picLocks noGrp="1" noChangeAspect="1"/>
          </p:cNvPicPr>
          <p:nvPr>
            <p:ph idx="1"/>
          </p:nvPr>
        </p:nvPicPr>
        <p:blipFill>
          <a:blip r:embed="rId2"/>
          <a:stretch>
            <a:fillRect/>
          </a:stretch>
        </p:blipFill>
        <p:spPr>
          <a:xfrm>
            <a:off x="1547812" y="1699419"/>
            <a:ext cx="5743575" cy="4114800"/>
          </a:xfrm>
          <a:prstGeom prst="rect">
            <a:avLst/>
          </a:prstGeom>
        </p:spPr>
      </p:pic>
      <p:sp>
        <p:nvSpPr>
          <p:cNvPr id="3" name="Content Placeholder 2">
            <a:extLst>
              <a:ext uri="{FF2B5EF4-FFF2-40B4-BE49-F238E27FC236}">
                <a16:creationId xmlns:a16="http://schemas.microsoft.com/office/drawing/2014/main" id="{18B752C6-A9C9-46D7-98F8-3A7845051F97}"/>
              </a:ext>
            </a:extLst>
          </p:cNvPr>
          <p:cNvSpPr>
            <a:spLocks noGrp="1"/>
          </p:cNvSpPr>
          <p:nvPr>
            <p:ph sz="quarter" idx="10"/>
          </p:nvPr>
        </p:nvSpPr>
        <p:spPr/>
        <p:txBody>
          <a:bodyPr/>
          <a:lstStyle/>
          <a:p>
            <a:r>
              <a:rPr lang="en-IN" dirty="0"/>
              <a:t>CRC Diagram</a:t>
            </a:r>
          </a:p>
        </p:txBody>
      </p:sp>
      <p:sp>
        <p:nvSpPr>
          <p:cNvPr id="5" name="Date Placeholder 4">
            <a:extLst>
              <a:ext uri="{FF2B5EF4-FFF2-40B4-BE49-F238E27FC236}">
                <a16:creationId xmlns:a16="http://schemas.microsoft.com/office/drawing/2014/main" id="{FFC4B9A8-B00E-4D55-BFFF-E1DC31493AB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08884998-3E25-4B7D-93EC-1753523DC1F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45E2315E-7A69-463B-94F2-006446D7C4F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020735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D129AF-9261-4577-B4B4-2F7BF36C1AE7}"/>
              </a:ext>
            </a:extLst>
          </p:cNvPr>
          <p:cNvSpPr>
            <a:spLocks noGrp="1"/>
          </p:cNvSpPr>
          <p:nvPr>
            <p:ph idx="1"/>
          </p:nvPr>
        </p:nvSpPr>
        <p:spPr>
          <a:xfrm>
            <a:off x="304800" y="1493837"/>
            <a:ext cx="8458200" cy="5059363"/>
          </a:xfrm>
        </p:spPr>
        <p:txBody>
          <a:bodyPr>
            <a:normAutofit fontScale="92500"/>
          </a:bodyPr>
          <a:lstStyle/>
          <a:p>
            <a:pPr>
              <a:buFont typeface="Arial" panose="020B0604020202020204" pitchFamily="34" charset="0"/>
              <a:buChar char="•"/>
            </a:pPr>
            <a:r>
              <a:rPr lang="en-IN" dirty="0"/>
              <a:t>The controller components accept user input as events. </a:t>
            </a:r>
          </a:p>
          <a:p>
            <a:pPr>
              <a:buFont typeface="Arial" panose="020B0604020202020204" pitchFamily="34" charset="0"/>
              <a:buChar char="•"/>
            </a:pPr>
            <a:r>
              <a:rPr lang="en-IN" dirty="0"/>
              <a:t>How these events are delivered to a controller depends on the user interface platform. </a:t>
            </a:r>
          </a:p>
          <a:p>
            <a:pPr>
              <a:buFont typeface="Arial" panose="020B0604020202020204" pitchFamily="34" charset="0"/>
              <a:buChar char="•"/>
            </a:pPr>
            <a:r>
              <a:rPr lang="en-IN" dirty="0"/>
              <a:t>For simplicity, let us assume that each controller implements an event-handling procedure that is called for each relevant event. </a:t>
            </a:r>
          </a:p>
          <a:p>
            <a:pPr>
              <a:buFont typeface="Arial" panose="020B0604020202020204" pitchFamily="34" charset="0"/>
              <a:buChar char="•"/>
            </a:pPr>
            <a:r>
              <a:rPr lang="en-IN" dirty="0"/>
              <a:t>Events are translated into requests for the model or the associated view. </a:t>
            </a:r>
          </a:p>
          <a:p>
            <a:pPr>
              <a:buFont typeface="Arial" panose="020B0604020202020204" pitchFamily="34" charset="0"/>
              <a:buChar char="•"/>
            </a:pPr>
            <a:r>
              <a:rPr lang="en-IN" dirty="0"/>
              <a:t>If the behaviour of a controller depends on the state of the model, the controller registers itself with the change-propagation mechanism and implements an update procedure. </a:t>
            </a:r>
          </a:p>
          <a:p>
            <a:pPr>
              <a:buFont typeface="Arial" panose="020B0604020202020204" pitchFamily="34" charset="0"/>
              <a:buChar char="•"/>
            </a:pPr>
            <a:r>
              <a:rPr lang="en-IN" dirty="0"/>
              <a:t>For example, this is necessary when a change to the model enables or disables a menu entry. </a:t>
            </a:r>
          </a:p>
        </p:txBody>
      </p:sp>
      <p:sp>
        <p:nvSpPr>
          <p:cNvPr id="3" name="Content Placeholder 2">
            <a:extLst>
              <a:ext uri="{FF2B5EF4-FFF2-40B4-BE49-F238E27FC236}">
                <a16:creationId xmlns:a16="http://schemas.microsoft.com/office/drawing/2014/main" id="{88AD8DCB-A16B-4E86-9A16-024A238EC794}"/>
              </a:ext>
            </a:extLst>
          </p:cNvPr>
          <p:cNvSpPr>
            <a:spLocks noGrp="1"/>
          </p:cNvSpPr>
          <p:nvPr>
            <p:ph sz="quarter" idx="10"/>
          </p:nvPr>
        </p:nvSpPr>
        <p:spPr/>
        <p:txBody>
          <a:bodyPr/>
          <a:lstStyle/>
          <a:p>
            <a:r>
              <a:rPr lang="en-IN" dirty="0"/>
              <a:t>Structure: Controller</a:t>
            </a:r>
          </a:p>
        </p:txBody>
      </p:sp>
      <p:sp>
        <p:nvSpPr>
          <p:cNvPr id="5" name="Date Placeholder 4">
            <a:extLst>
              <a:ext uri="{FF2B5EF4-FFF2-40B4-BE49-F238E27FC236}">
                <a16:creationId xmlns:a16="http://schemas.microsoft.com/office/drawing/2014/main" id="{2B5E6B7F-45E8-412B-BBFA-FA31B9869AE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6" name="Footer Placeholder 5">
            <a:extLst>
              <a:ext uri="{FF2B5EF4-FFF2-40B4-BE49-F238E27FC236}">
                <a16:creationId xmlns:a16="http://schemas.microsoft.com/office/drawing/2014/main" id="{B581C10F-7F64-4437-AC96-559905B52FE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7" name="Slide Number Placeholder 6">
            <a:extLst>
              <a:ext uri="{FF2B5EF4-FFF2-40B4-BE49-F238E27FC236}">
                <a16:creationId xmlns:a16="http://schemas.microsoft.com/office/drawing/2014/main" id="{80046E43-2029-4422-973E-BB658FE5B1B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870768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2C432D8-ECD6-4A0D-80CF-46140944E8FC}"/>
              </a:ext>
            </a:extLst>
          </p:cNvPr>
          <p:cNvPicPr>
            <a:picLocks noGrp="1" noChangeAspect="1"/>
          </p:cNvPicPr>
          <p:nvPr>
            <p:ph idx="1"/>
          </p:nvPr>
        </p:nvPicPr>
        <p:blipFill>
          <a:blip r:embed="rId2"/>
          <a:stretch>
            <a:fillRect/>
          </a:stretch>
        </p:blipFill>
        <p:spPr>
          <a:xfrm>
            <a:off x="1576387" y="1704181"/>
            <a:ext cx="5686425" cy="4105275"/>
          </a:xfrm>
          <a:prstGeom prst="rect">
            <a:avLst/>
          </a:prstGeom>
        </p:spPr>
      </p:pic>
      <p:sp>
        <p:nvSpPr>
          <p:cNvPr id="3" name="Content Placeholder 2">
            <a:extLst>
              <a:ext uri="{FF2B5EF4-FFF2-40B4-BE49-F238E27FC236}">
                <a16:creationId xmlns:a16="http://schemas.microsoft.com/office/drawing/2014/main" id="{7070A453-F978-44F7-BAC2-F8D48B90491F}"/>
              </a:ext>
            </a:extLst>
          </p:cNvPr>
          <p:cNvSpPr>
            <a:spLocks noGrp="1"/>
          </p:cNvSpPr>
          <p:nvPr>
            <p:ph sz="quarter" idx="10"/>
          </p:nvPr>
        </p:nvSpPr>
        <p:spPr/>
        <p:txBody>
          <a:bodyPr/>
          <a:lstStyle/>
          <a:p>
            <a:r>
              <a:rPr lang="en-IN" dirty="0"/>
              <a:t>CRC Diagram</a:t>
            </a:r>
          </a:p>
        </p:txBody>
      </p:sp>
      <p:sp>
        <p:nvSpPr>
          <p:cNvPr id="4" name="Date Placeholder 3">
            <a:extLst>
              <a:ext uri="{FF2B5EF4-FFF2-40B4-BE49-F238E27FC236}">
                <a16:creationId xmlns:a16="http://schemas.microsoft.com/office/drawing/2014/main" id="{CEBDBABE-D483-4BB5-B974-E7C61FB332A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69FC54A1-4320-414C-BB42-F2622F891FE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FDE0ED9-4F1A-47EC-889B-3BFC9CB28A3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095905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91FF56-C394-4121-A63B-4C3FCD464E6E}"/>
              </a:ext>
            </a:extLst>
          </p:cNvPr>
          <p:cNvSpPr>
            <a:spLocks noGrp="1"/>
          </p:cNvSpPr>
          <p:nvPr>
            <p:ph idx="1"/>
          </p:nvPr>
        </p:nvSpPr>
        <p:spPr/>
        <p:txBody>
          <a:bodyPr/>
          <a:lstStyle/>
          <a:p>
            <a:pPr>
              <a:buFont typeface="Arial" panose="020B0604020202020204" pitchFamily="34" charset="0"/>
              <a:buChar char="•"/>
            </a:pPr>
            <a:r>
              <a:rPr lang="en-IN" dirty="0"/>
              <a:t>Object Oriented</a:t>
            </a:r>
          </a:p>
          <a:p>
            <a:pPr lvl="2"/>
            <a:r>
              <a:rPr lang="en-IN" dirty="0"/>
              <a:t> implementation of MVC would define a separate class for each component</a:t>
            </a:r>
          </a:p>
          <a:p>
            <a:pPr>
              <a:buFont typeface="Arial" panose="020B0604020202020204" pitchFamily="34" charset="0"/>
              <a:buChar char="•"/>
            </a:pPr>
            <a:r>
              <a:rPr lang="en-IN" dirty="0"/>
              <a:t>C++</a:t>
            </a:r>
          </a:p>
          <a:p>
            <a:pPr lvl="2"/>
            <a:r>
              <a:rPr lang="en-IN" dirty="0"/>
              <a:t>view and controller classes share a common parent that defines the update interface.</a:t>
            </a:r>
          </a:p>
          <a:p>
            <a:pPr>
              <a:buFont typeface="Arial" panose="020B0604020202020204" pitchFamily="34" charset="0"/>
              <a:buChar char="•"/>
            </a:pPr>
            <a:r>
              <a:rPr lang="en-IN" dirty="0"/>
              <a:t>Smalltalk.</a:t>
            </a:r>
          </a:p>
          <a:p>
            <a:pPr lvl="2"/>
            <a:r>
              <a:rPr lang="en-IN" dirty="0"/>
              <a:t>the class Object </a:t>
            </a:r>
            <a:r>
              <a:rPr lang="en-IN" dirty="0" err="1"/>
              <a:t>dehes</a:t>
            </a:r>
            <a:r>
              <a:rPr lang="en-IN" dirty="0"/>
              <a:t> methods for both sides of the change- propagation mechanism. </a:t>
            </a:r>
          </a:p>
          <a:p>
            <a:pPr lvl="2"/>
            <a:r>
              <a:rPr lang="en-IN" dirty="0"/>
              <a:t>A separate class Observer is not needed. </a:t>
            </a:r>
          </a:p>
        </p:txBody>
      </p:sp>
      <p:sp>
        <p:nvSpPr>
          <p:cNvPr id="3" name="Content Placeholder 2">
            <a:extLst>
              <a:ext uri="{FF2B5EF4-FFF2-40B4-BE49-F238E27FC236}">
                <a16:creationId xmlns:a16="http://schemas.microsoft.com/office/drawing/2014/main" id="{DBD9E59F-28AD-4EC2-A5D6-5ECA34ACF213}"/>
              </a:ext>
            </a:extLst>
          </p:cNvPr>
          <p:cNvSpPr>
            <a:spLocks noGrp="1"/>
          </p:cNvSpPr>
          <p:nvPr>
            <p:ph sz="quarter" idx="10"/>
          </p:nvPr>
        </p:nvSpPr>
        <p:spPr/>
        <p:txBody>
          <a:bodyPr/>
          <a:lstStyle/>
          <a:p>
            <a:r>
              <a:rPr lang="en-IN" dirty="0"/>
              <a:t>Popular Structural Variations</a:t>
            </a:r>
          </a:p>
        </p:txBody>
      </p:sp>
      <p:sp>
        <p:nvSpPr>
          <p:cNvPr id="4" name="Date Placeholder 3">
            <a:extLst>
              <a:ext uri="{FF2B5EF4-FFF2-40B4-BE49-F238E27FC236}">
                <a16:creationId xmlns:a16="http://schemas.microsoft.com/office/drawing/2014/main" id="{F3217F2C-5C82-4EE7-AE76-FDE26CDFB48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8CDC43D3-2B01-4C12-9670-1E692FB36F6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4BF7ACB9-8450-4293-A497-F5940D12AE4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6016241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7A5B4D3-0775-4670-B501-F41C8B6A2F17}"/>
              </a:ext>
            </a:extLst>
          </p:cNvPr>
          <p:cNvPicPr>
            <a:picLocks noGrp="1" noChangeAspect="1"/>
          </p:cNvPicPr>
          <p:nvPr>
            <p:ph idx="1"/>
          </p:nvPr>
        </p:nvPicPr>
        <p:blipFill>
          <a:blip r:embed="rId2"/>
          <a:stretch>
            <a:fillRect/>
          </a:stretch>
        </p:blipFill>
        <p:spPr>
          <a:xfrm>
            <a:off x="304800" y="1744340"/>
            <a:ext cx="8229600" cy="4024957"/>
          </a:xfrm>
          <a:prstGeom prst="rect">
            <a:avLst/>
          </a:prstGeom>
        </p:spPr>
      </p:pic>
      <p:sp>
        <p:nvSpPr>
          <p:cNvPr id="3" name="Content Placeholder 2">
            <a:extLst>
              <a:ext uri="{FF2B5EF4-FFF2-40B4-BE49-F238E27FC236}">
                <a16:creationId xmlns:a16="http://schemas.microsoft.com/office/drawing/2014/main" id="{3BB7BC5F-0F4F-46A5-A25F-B09B205B14B4}"/>
              </a:ext>
            </a:extLst>
          </p:cNvPr>
          <p:cNvSpPr>
            <a:spLocks noGrp="1"/>
          </p:cNvSpPr>
          <p:nvPr>
            <p:ph sz="quarter" idx="10"/>
          </p:nvPr>
        </p:nvSpPr>
        <p:spPr/>
        <p:txBody>
          <a:bodyPr/>
          <a:lstStyle/>
          <a:p>
            <a:r>
              <a:rPr lang="en-IN" dirty="0"/>
              <a:t>Structure: C++</a:t>
            </a:r>
          </a:p>
        </p:txBody>
      </p:sp>
      <p:sp>
        <p:nvSpPr>
          <p:cNvPr id="4" name="Date Placeholder 3">
            <a:extLst>
              <a:ext uri="{FF2B5EF4-FFF2-40B4-BE49-F238E27FC236}">
                <a16:creationId xmlns:a16="http://schemas.microsoft.com/office/drawing/2014/main" id="{6BB4C8BB-F36A-4055-8728-B32271EBF29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92D3FE25-216F-4745-A35C-7AF0E27777B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A5A6EBA7-1EF3-455C-A76B-3429471E2E7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9807504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D57104-855D-45F5-9501-FF1B453B9D3B}"/>
              </a:ext>
            </a:extLst>
          </p:cNvPr>
          <p:cNvSpPr>
            <a:spLocks noGrp="1"/>
          </p:cNvSpPr>
          <p:nvPr>
            <p:ph idx="1"/>
          </p:nvPr>
        </p:nvSpPr>
        <p:spPr/>
        <p:txBody>
          <a:bodyPr>
            <a:normAutofit lnSpcReduction="10000"/>
          </a:bodyPr>
          <a:lstStyle/>
          <a:p>
            <a:pPr marL="457200" indent="-457200">
              <a:buFont typeface="+mj-lt"/>
              <a:buAutoNum type="arabicPeriod"/>
            </a:pPr>
            <a:r>
              <a:rPr lang="en-IN" dirty="0"/>
              <a:t>Separate human-computer </a:t>
            </a:r>
            <a:r>
              <a:rPr lang="en-IN" dirty="0" err="1"/>
              <a:t>interactionfrom</a:t>
            </a:r>
            <a:r>
              <a:rPr lang="en-IN" dirty="0"/>
              <a:t> </a:t>
            </a:r>
            <a:r>
              <a:rPr lang="en-IN" dirty="0" err="1"/>
              <a:t>corefunctionality</a:t>
            </a:r>
            <a:endParaRPr lang="en-IN" dirty="0"/>
          </a:p>
          <a:p>
            <a:pPr marL="457200" indent="-457200">
              <a:buFont typeface="+mj-lt"/>
              <a:buAutoNum type="arabicPeriod"/>
            </a:pPr>
            <a:r>
              <a:rPr lang="en-IN" dirty="0"/>
              <a:t>Implement the change-</a:t>
            </a:r>
            <a:r>
              <a:rPr lang="en-IN" dirty="0" err="1"/>
              <a:t>propagationm</a:t>
            </a:r>
            <a:r>
              <a:rPr lang="en-IN" dirty="0"/>
              <a:t> </a:t>
            </a:r>
            <a:r>
              <a:rPr lang="en-IN" dirty="0" err="1"/>
              <a:t>echanism</a:t>
            </a:r>
            <a:endParaRPr lang="en-IN" dirty="0"/>
          </a:p>
          <a:p>
            <a:pPr marL="457200" indent="-457200">
              <a:buFont typeface="+mj-lt"/>
              <a:buAutoNum type="arabicPeriod"/>
            </a:pPr>
            <a:r>
              <a:rPr lang="en-IN" dirty="0"/>
              <a:t>Design and implement the views</a:t>
            </a:r>
          </a:p>
          <a:p>
            <a:pPr marL="457200" indent="-457200">
              <a:buFont typeface="+mj-lt"/>
              <a:buAutoNum type="arabicPeriod"/>
            </a:pPr>
            <a:r>
              <a:rPr lang="en-IN" dirty="0"/>
              <a:t>Design and implement the controllers</a:t>
            </a:r>
          </a:p>
          <a:p>
            <a:pPr marL="457200" indent="-457200">
              <a:buFont typeface="+mj-lt"/>
              <a:buAutoNum type="arabicPeriod"/>
            </a:pPr>
            <a:r>
              <a:rPr lang="en-IN" dirty="0"/>
              <a:t>Design and implement the view-controller relationship</a:t>
            </a:r>
          </a:p>
          <a:p>
            <a:pPr marL="457200" indent="-457200">
              <a:buFont typeface="+mj-lt"/>
              <a:buAutoNum type="arabicPeriod"/>
            </a:pPr>
            <a:r>
              <a:rPr lang="en-IN" dirty="0"/>
              <a:t>Implement the set-up of MVC</a:t>
            </a:r>
          </a:p>
          <a:p>
            <a:pPr marL="457200" indent="-457200">
              <a:buFont typeface="+mj-lt"/>
              <a:buAutoNum type="arabicPeriod"/>
            </a:pPr>
            <a:r>
              <a:rPr lang="en-IN" dirty="0"/>
              <a:t>Dynamic view creation</a:t>
            </a:r>
          </a:p>
          <a:p>
            <a:pPr marL="457200" indent="-457200">
              <a:buFont typeface="+mj-lt"/>
              <a:buAutoNum type="arabicPeriod"/>
            </a:pPr>
            <a:r>
              <a:rPr lang="en-IN" dirty="0"/>
              <a:t>'Pluggable controllers</a:t>
            </a:r>
          </a:p>
          <a:p>
            <a:pPr marL="457200" indent="-457200">
              <a:buFont typeface="+mj-lt"/>
              <a:buAutoNum type="arabicPeriod"/>
            </a:pPr>
            <a:r>
              <a:rPr lang="en-IN" dirty="0"/>
              <a:t>Infrastructure for hierarchical views and controllers</a:t>
            </a:r>
          </a:p>
          <a:p>
            <a:pPr marL="457200" indent="-457200">
              <a:buFont typeface="+mj-lt"/>
              <a:buAutoNum type="arabicPeriod"/>
            </a:pPr>
            <a:r>
              <a:rPr lang="en-IN" dirty="0"/>
              <a:t>Further decoupling from system dependencies</a:t>
            </a:r>
          </a:p>
        </p:txBody>
      </p:sp>
      <p:sp>
        <p:nvSpPr>
          <p:cNvPr id="3" name="Content Placeholder 2">
            <a:extLst>
              <a:ext uri="{FF2B5EF4-FFF2-40B4-BE49-F238E27FC236}">
                <a16:creationId xmlns:a16="http://schemas.microsoft.com/office/drawing/2014/main" id="{CC0F02A3-52BF-40F7-A9E5-002898DC015F}"/>
              </a:ext>
            </a:extLst>
          </p:cNvPr>
          <p:cNvSpPr>
            <a:spLocks noGrp="1"/>
          </p:cNvSpPr>
          <p:nvPr>
            <p:ph sz="quarter" idx="10"/>
          </p:nvPr>
        </p:nvSpPr>
        <p:spPr/>
        <p:txBody>
          <a:bodyPr/>
          <a:lstStyle/>
          <a:p>
            <a:r>
              <a:rPr lang="en-IN" dirty="0"/>
              <a:t>Implementation</a:t>
            </a:r>
          </a:p>
        </p:txBody>
      </p:sp>
      <p:sp>
        <p:nvSpPr>
          <p:cNvPr id="4" name="Date Placeholder 3">
            <a:extLst>
              <a:ext uri="{FF2B5EF4-FFF2-40B4-BE49-F238E27FC236}">
                <a16:creationId xmlns:a16="http://schemas.microsoft.com/office/drawing/2014/main" id="{363425B6-B009-4D49-AAE9-A9436B45B86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061CD32B-3F2B-498E-976A-D8D2E542C12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EEF3C10A-7A5F-45B7-8F3C-11EA84CD8FC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9138294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4FA4FA-3E3C-47A8-9000-C086DD33844C}"/>
              </a:ext>
            </a:extLst>
          </p:cNvPr>
          <p:cNvSpPr>
            <a:spLocks noGrp="1"/>
          </p:cNvSpPr>
          <p:nvPr>
            <p:ph idx="1"/>
          </p:nvPr>
        </p:nvSpPr>
        <p:spPr/>
        <p:txBody>
          <a:bodyPr/>
          <a:lstStyle/>
          <a:p>
            <a:pPr>
              <a:buFont typeface="Arial" panose="020B0604020202020204" pitchFamily="34" charset="0"/>
              <a:buChar char="•"/>
            </a:pPr>
            <a:r>
              <a:rPr lang="en-IN" dirty="0"/>
              <a:t>Document-View</a:t>
            </a:r>
          </a:p>
          <a:p>
            <a:pPr lvl="2"/>
            <a:r>
              <a:rPr lang="en-IN" dirty="0"/>
              <a:t>This variant relaxes the separation of view and controller. </a:t>
            </a:r>
          </a:p>
          <a:p>
            <a:pPr lvl="2"/>
            <a:r>
              <a:rPr lang="en-IN" dirty="0"/>
              <a:t>In several GUI platforms, window display and event handling are closely interwoven. </a:t>
            </a:r>
          </a:p>
          <a:p>
            <a:pPr lvl="2"/>
            <a:r>
              <a:rPr lang="en-IN" dirty="0"/>
              <a:t>For example, the X Window System reports events relative to a window. </a:t>
            </a:r>
          </a:p>
          <a:p>
            <a:pPr lvl="2"/>
            <a:r>
              <a:rPr lang="en-IN" dirty="0"/>
              <a:t>You can combine the responsibilities of the view and the controller from MVC in a single component by sacrificing exchangeability of controllers. </a:t>
            </a:r>
          </a:p>
        </p:txBody>
      </p:sp>
      <p:sp>
        <p:nvSpPr>
          <p:cNvPr id="3" name="Content Placeholder 2">
            <a:extLst>
              <a:ext uri="{FF2B5EF4-FFF2-40B4-BE49-F238E27FC236}">
                <a16:creationId xmlns:a16="http://schemas.microsoft.com/office/drawing/2014/main" id="{27090EB0-FA82-4300-9126-2AFD9FBDA237}"/>
              </a:ext>
            </a:extLst>
          </p:cNvPr>
          <p:cNvSpPr>
            <a:spLocks noGrp="1"/>
          </p:cNvSpPr>
          <p:nvPr>
            <p:ph sz="quarter" idx="10"/>
          </p:nvPr>
        </p:nvSpPr>
        <p:spPr/>
        <p:txBody>
          <a:bodyPr/>
          <a:lstStyle/>
          <a:p>
            <a:r>
              <a:rPr lang="en-IN" dirty="0"/>
              <a:t>Variants</a:t>
            </a:r>
          </a:p>
        </p:txBody>
      </p:sp>
      <p:sp>
        <p:nvSpPr>
          <p:cNvPr id="4" name="Date Placeholder 3">
            <a:extLst>
              <a:ext uri="{FF2B5EF4-FFF2-40B4-BE49-F238E27FC236}">
                <a16:creationId xmlns:a16="http://schemas.microsoft.com/office/drawing/2014/main" id="{CF176F26-CC68-482D-ACEB-59E5255ADE48}"/>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55A01CE9-5CD0-4713-A4B7-533F26FBFC1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71723B8-471B-4125-A568-3ECE69ECE0C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8873977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E56028-7403-48AF-9913-8E13CDC17FE3}"/>
              </a:ext>
            </a:extLst>
          </p:cNvPr>
          <p:cNvSpPr>
            <a:spLocks noGrp="1"/>
          </p:cNvSpPr>
          <p:nvPr>
            <p:ph idx="1"/>
          </p:nvPr>
        </p:nvSpPr>
        <p:spPr>
          <a:xfrm>
            <a:off x="304800" y="1493837"/>
            <a:ext cx="8305800" cy="4862513"/>
          </a:xfrm>
        </p:spPr>
        <p:txBody>
          <a:bodyPr>
            <a:normAutofit fontScale="92500" lnSpcReduction="10000"/>
          </a:bodyPr>
          <a:lstStyle/>
          <a:p>
            <a:pPr>
              <a:buFont typeface="Arial" panose="020B0604020202020204" pitchFamily="34" charset="0"/>
              <a:buChar char="•"/>
            </a:pPr>
            <a:r>
              <a:rPr lang="en-IN" dirty="0"/>
              <a:t>Smalltalk</a:t>
            </a:r>
          </a:p>
          <a:p>
            <a:pPr lvl="2"/>
            <a:r>
              <a:rPr lang="en-IN" dirty="0"/>
              <a:t>The </a:t>
            </a:r>
            <a:r>
              <a:rPr lang="en-IN" dirty="0" err="1"/>
              <a:t>VisualWorks</a:t>
            </a:r>
            <a:r>
              <a:rPr lang="en-IN" dirty="0"/>
              <a:t> Smalltalk environment supports different 'look and feel' standards by decoupling view and controllers via display and sensor classes</a:t>
            </a:r>
          </a:p>
          <a:p>
            <a:pPr>
              <a:buFont typeface="Arial" panose="020B0604020202020204" pitchFamily="34" charset="0"/>
              <a:buChar char="•"/>
            </a:pPr>
            <a:r>
              <a:rPr lang="en-IN" dirty="0"/>
              <a:t>MFC (Microsoft Foundation Class Library)</a:t>
            </a:r>
          </a:p>
          <a:p>
            <a:pPr lvl="2"/>
            <a:r>
              <a:rPr lang="en-IN" dirty="0"/>
              <a:t>The Document-View variant of the Model-View- Controller pattern is integrated in the Visual C++ environment</a:t>
            </a:r>
          </a:p>
          <a:p>
            <a:pPr>
              <a:buFont typeface="Arial" panose="020B0604020202020204" pitchFamily="34" charset="0"/>
              <a:buChar char="•"/>
            </a:pPr>
            <a:r>
              <a:rPr lang="en-IN" dirty="0"/>
              <a:t>ET++</a:t>
            </a:r>
          </a:p>
          <a:p>
            <a:pPr lvl="2"/>
            <a:r>
              <a:rPr lang="en-IN" dirty="0"/>
              <a:t> Establishes 'look and feel' independence by defining a class Window port that encapsulates the user interface platform dependencies, in the same way as do our display and sensor classes. Uses document-view variant.</a:t>
            </a:r>
          </a:p>
        </p:txBody>
      </p:sp>
      <p:sp>
        <p:nvSpPr>
          <p:cNvPr id="3" name="Content Placeholder 2">
            <a:extLst>
              <a:ext uri="{FF2B5EF4-FFF2-40B4-BE49-F238E27FC236}">
                <a16:creationId xmlns:a16="http://schemas.microsoft.com/office/drawing/2014/main" id="{8BBAB98C-DCC8-4437-BBAA-820B784B824F}"/>
              </a:ext>
            </a:extLst>
          </p:cNvPr>
          <p:cNvSpPr>
            <a:spLocks noGrp="1"/>
          </p:cNvSpPr>
          <p:nvPr>
            <p:ph sz="quarter" idx="10"/>
          </p:nvPr>
        </p:nvSpPr>
        <p:spPr/>
        <p:txBody>
          <a:bodyPr/>
          <a:lstStyle/>
          <a:p>
            <a:r>
              <a:rPr lang="en-IN" dirty="0"/>
              <a:t>Known Usages</a:t>
            </a:r>
          </a:p>
        </p:txBody>
      </p:sp>
      <p:sp>
        <p:nvSpPr>
          <p:cNvPr id="4" name="Date Placeholder 3">
            <a:extLst>
              <a:ext uri="{FF2B5EF4-FFF2-40B4-BE49-F238E27FC236}">
                <a16:creationId xmlns:a16="http://schemas.microsoft.com/office/drawing/2014/main" id="{2948ABD3-9909-469B-A74E-AF4F5D31D07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5454CF30-2C5D-4439-A914-0CF00812AAA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B5A421A-F88A-4611-BB56-5D5BD1EB183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8473468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676A2-8AD1-46DF-B512-5C785ABDC5F7}"/>
              </a:ext>
            </a:extLst>
          </p:cNvPr>
          <p:cNvSpPr>
            <a:spLocks noGrp="1"/>
          </p:cNvSpPr>
          <p:nvPr>
            <p:ph idx="1"/>
          </p:nvPr>
        </p:nvSpPr>
        <p:spPr/>
        <p:txBody>
          <a:bodyPr/>
          <a:lstStyle/>
          <a:p>
            <a:pPr>
              <a:buFont typeface="Arial" panose="020B0604020202020204" pitchFamily="34" charset="0"/>
              <a:buChar char="•"/>
            </a:pPr>
            <a:r>
              <a:rPr lang="en-IN" dirty="0"/>
              <a:t>Multiple views of the same model</a:t>
            </a:r>
          </a:p>
          <a:p>
            <a:pPr>
              <a:buFont typeface="Arial" panose="020B0604020202020204" pitchFamily="34" charset="0"/>
              <a:buChar char="•"/>
            </a:pPr>
            <a:r>
              <a:rPr lang="en-IN" dirty="0"/>
              <a:t>Synchronized views.</a:t>
            </a:r>
          </a:p>
          <a:p>
            <a:pPr>
              <a:buFont typeface="Arial" panose="020B0604020202020204" pitchFamily="34" charset="0"/>
              <a:buChar char="•"/>
            </a:pPr>
            <a:r>
              <a:rPr lang="en-IN" dirty="0"/>
              <a:t>'Pluggable' views and controllers.</a:t>
            </a:r>
          </a:p>
          <a:p>
            <a:pPr>
              <a:buFont typeface="Arial" panose="020B0604020202020204" pitchFamily="34" charset="0"/>
              <a:buChar char="•"/>
            </a:pPr>
            <a:r>
              <a:rPr lang="en-IN" dirty="0"/>
              <a:t>Exchangeability of 'look and feel’.</a:t>
            </a:r>
          </a:p>
          <a:p>
            <a:pPr>
              <a:buFont typeface="Arial" panose="020B0604020202020204" pitchFamily="34" charset="0"/>
              <a:buChar char="•"/>
            </a:pPr>
            <a:r>
              <a:rPr lang="en-IN" dirty="0"/>
              <a:t>Framework Potential.</a:t>
            </a:r>
          </a:p>
        </p:txBody>
      </p:sp>
      <p:sp>
        <p:nvSpPr>
          <p:cNvPr id="3" name="Content Placeholder 2">
            <a:extLst>
              <a:ext uri="{FF2B5EF4-FFF2-40B4-BE49-F238E27FC236}">
                <a16:creationId xmlns:a16="http://schemas.microsoft.com/office/drawing/2014/main" id="{95C414C7-B0CA-4C08-A40C-F5C7AF88F11B}"/>
              </a:ext>
            </a:extLst>
          </p:cNvPr>
          <p:cNvSpPr>
            <a:spLocks noGrp="1"/>
          </p:cNvSpPr>
          <p:nvPr>
            <p:ph sz="quarter" idx="10"/>
          </p:nvPr>
        </p:nvSpPr>
        <p:spPr/>
        <p:txBody>
          <a:bodyPr/>
          <a:lstStyle/>
          <a:p>
            <a:r>
              <a:rPr lang="en-IN" dirty="0"/>
              <a:t>Consequences: Benefits</a:t>
            </a:r>
          </a:p>
        </p:txBody>
      </p:sp>
      <p:sp>
        <p:nvSpPr>
          <p:cNvPr id="4" name="Date Placeholder 3">
            <a:extLst>
              <a:ext uri="{FF2B5EF4-FFF2-40B4-BE49-F238E27FC236}">
                <a16:creationId xmlns:a16="http://schemas.microsoft.com/office/drawing/2014/main" id="{312A206F-7F87-4345-B5F7-9553BE88D34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333167E9-204D-46A0-B9F8-EB6AEC4E362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BDB0C6AC-A5A1-420D-BEF5-E3BC04B0B2E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928897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AABEAB-609A-4409-A0F5-4783069CBC20}"/>
              </a:ext>
            </a:extLst>
          </p:cNvPr>
          <p:cNvSpPr>
            <a:spLocks noGrp="1"/>
          </p:cNvSpPr>
          <p:nvPr>
            <p:ph idx="1"/>
          </p:nvPr>
        </p:nvSpPr>
        <p:spPr/>
        <p:txBody>
          <a:bodyPr/>
          <a:lstStyle/>
          <a:p>
            <a:pPr>
              <a:buFont typeface="Arial" panose="020B0604020202020204" pitchFamily="34" charset="0"/>
              <a:buChar char="•"/>
            </a:pPr>
            <a:r>
              <a:rPr lang="en-IN" dirty="0"/>
              <a:t>Increased complexity.</a:t>
            </a:r>
          </a:p>
          <a:p>
            <a:pPr>
              <a:buFont typeface="Arial" panose="020B0604020202020204" pitchFamily="34" charset="0"/>
              <a:buChar char="•"/>
            </a:pPr>
            <a:r>
              <a:rPr lang="en-IN" dirty="0"/>
              <a:t>Potential for excessive number of updates.</a:t>
            </a:r>
          </a:p>
          <a:p>
            <a:pPr>
              <a:buFont typeface="Arial" panose="020B0604020202020204" pitchFamily="34" charset="0"/>
              <a:buChar char="•"/>
            </a:pPr>
            <a:r>
              <a:rPr lang="en-IN" dirty="0"/>
              <a:t>Intimate connection between view and controller.</a:t>
            </a:r>
          </a:p>
          <a:p>
            <a:pPr>
              <a:buFont typeface="Arial" panose="020B0604020202020204" pitchFamily="34" charset="0"/>
              <a:buChar char="•"/>
            </a:pPr>
            <a:r>
              <a:rPr lang="en-IN" dirty="0"/>
              <a:t>Close coupling of views and controllers to a model.</a:t>
            </a:r>
          </a:p>
          <a:p>
            <a:pPr>
              <a:buFont typeface="Arial" panose="020B0604020202020204" pitchFamily="34" charset="0"/>
              <a:buChar char="•"/>
            </a:pPr>
            <a:r>
              <a:rPr lang="en-IN" dirty="0"/>
              <a:t>Inefficiency of data access in view.</a:t>
            </a:r>
          </a:p>
          <a:p>
            <a:pPr>
              <a:buFont typeface="Arial" panose="020B0604020202020204" pitchFamily="34" charset="0"/>
              <a:buChar char="•"/>
            </a:pPr>
            <a:r>
              <a:rPr lang="en-IN" dirty="0"/>
              <a:t>Inevitability of change to view and controller when porting.</a:t>
            </a:r>
          </a:p>
          <a:p>
            <a:pPr>
              <a:buFont typeface="Arial" panose="020B0604020202020204" pitchFamily="34" charset="0"/>
              <a:buChar char="•"/>
            </a:pPr>
            <a:r>
              <a:rPr lang="en-IN" dirty="0"/>
              <a:t>Difficulty of using MVC with modern user-interface took. </a:t>
            </a:r>
          </a:p>
        </p:txBody>
      </p:sp>
      <p:sp>
        <p:nvSpPr>
          <p:cNvPr id="3" name="Content Placeholder 2">
            <a:extLst>
              <a:ext uri="{FF2B5EF4-FFF2-40B4-BE49-F238E27FC236}">
                <a16:creationId xmlns:a16="http://schemas.microsoft.com/office/drawing/2014/main" id="{E6946CE9-C4A6-4963-99D2-AD9065FF0B0B}"/>
              </a:ext>
            </a:extLst>
          </p:cNvPr>
          <p:cNvSpPr>
            <a:spLocks noGrp="1"/>
          </p:cNvSpPr>
          <p:nvPr>
            <p:ph sz="quarter" idx="10"/>
          </p:nvPr>
        </p:nvSpPr>
        <p:spPr/>
        <p:txBody>
          <a:bodyPr/>
          <a:lstStyle/>
          <a:p>
            <a:r>
              <a:rPr lang="en-IN" dirty="0"/>
              <a:t>Consequences: Liabilities</a:t>
            </a:r>
          </a:p>
        </p:txBody>
      </p:sp>
      <p:sp>
        <p:nvSpPr>
          <p:cNvPr id="4" name="Date Placeholder 3">
            <a:extLst>
              <a:ext uri="{FF2B5EF4-FFF2-40B4-BE49-F238E27FC236}">
                <a16:creationId xmlns:a16="http://schemas.microsoft.com/office/drawing/2014/main" id="{656194D1-B74B-4D80-9796-917A1E04453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15D46AC8-5A07-43DC-899D-082DA159622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11F4DC9-833C-4EFC-B6D5-F98E33C89D5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289705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5E9591-F3A9-471E-816D-42F418DFDCDB}"/>
              </a:ext>
            </a:extLst>
          </p:cNvPr>
          <p:cNvSpPr>
            <a:spLocks noGrp="1"/>
          </p:cNvSpPr>
          <p:nvPr>
            <p:ph sz="quarter" idx="10"/>
          </p:nvPr>
        </p:nvSpPr>
        <p:spPr/>
        <p:txBody>
          <a:bodyPr/>
          <a:lstStyle/>
          <a:p>
            <a:r>
              <a:rPr lang="en-IN" dirty="0"/>
              <a:t>PAC: Presentation-Abstraction-Control </a:t>
            </a:r>
          </a:p>
        </p:txBody>
      </p:sp>
      <p:sp>
        <p:nvSpPr>
          <p:cNvPr id="3" name="Date Placeholder 2">
            <a:extLst>
              <a:ext uri="{FF2B5EF4-FFF2-40B4-BE49-F238E27FC236}">
                <a16:creationId xmlns:a16="http://schemas.microsoft.com/office/drawing/2014/main" id="{6CD0CB33-480B-4EF9-A691-EA6506997C9E}"/>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a:extLst>
              <a:ext uri="{FF2B5EF4-FFF2-40B4-BE49-F238E27FC236}">
                <a16:creationId xmlns:a16="http://schemas.microsoft.com/office/drawing/2014/main" id="{652E3519-3169-4DB2-AEAF-59A7CA60457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a:extLst>
              <a:ext uri="{FF2B5EF4-FFF2-40B4-BE49-F238E27FC236}">
                <a16:creationId xmlns:a16="http://schemas.microsoft.com/office/drawing/2014/main" id="{240D4A8C-CBE0-4D0B-AFE0-02BC13805365}"/>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4242877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94691A-08E2-4BF2-8A4B-D64E2A3CDF2C}"/>
              </a:ext>
            </a:extLst>
          </p:cNvPr>
          <p:cNvSpPr>
            <a:spLocks noGrp="1"/>
          </p:cNvSpPr>
          <p:nvPr>
            <p:ph idx="1"/>
          </p:nvPr>
        </p:nvSpPr>
        <p:spPr/>
        <p:txBody>
          <a:bodyPr/>
          <a:lstStyle/>
          <a:p>
            <a:pPr>
              <a:buFont typeface="Arial" panose="020B0604020202020204" pitchFamily="34" charset="0"/>
              <a:buChar char="•"/>
            </a:pPr>
            <a:r>
              <a:rPr lang="en-IN" dirty="0"/>
              <a:t>The Presentation-Abstraction-Control architectural pattern (PAC) defines a structure for interactive software systems in the form of a hierarchy of cooperating agents. </a:t>
            </a:r>
          </a:p>
          <a:p>
            <a:pPr>
              <a:buFont typeface="Arial" panose="020B0604020202020204" pitchFamily="34" charset="0"/>
              <a:buChar char="•"/>
            </a:pPr>
            <a:r>
              <a:rPr lang="en-IN" dirty="0"/>
              <a:t>Every agent is responsible for a specific aspect of the application's functionality and consists of three components: presentation, abstraction, and control. </a:t>
            </a:r>
          </a:p>
          <a:p>
            <a:pPr>
              <a:buFont typeface="Arial" panose="020B0604020202020204" pitchFamily="34" charset="0"/>
              <a:buChar char="•"/>
            </a:pPr>
            <a:r>
              <a:rPr lang="en-IN" dirty="0"/>
              <a:t>This subdivision separates the human-computer interaction aspects of the agent from its functional core and its communication with other agents</a:t>
            </a:r>
          </a:p>
        </p:txBody>
      </p:sp>
      <p:sp>
        <p:nvSpPr>
          <p:cNvPr id="3" name="Content Placeholder 2">
            <a:extLst>
              <a:ext uri="{FF2B5EF4-FFF2-40B4-BE49-F238E27FC236}">
                <a16:creationId xmlns:a16="http://schemas.microsoft.com/office/drawing/2014/main" id="{9D5FB59A-A939-44F2-815D-C9CEAF84A746}"/>
              </a:ext>
            </a:extLst>
          </p:cNvPr>
          <p:cNvSpPr>
            <a:spLocks noGrp="1"/>
          </p:cNvSpPr>
          <p:nvPr>
            <p:ph sz="quarter" idx="10"/>
          </p:nvPr>
        </p:nvSpPr>
        <p:spPr/>
        <p:txBody>
          <a:bodyPr/>
          <a:lstStyle/>
          <a:p>
            <a:r>
              <a:rPr lang="en-IN" dirty="0"/>
              <a:t>Presentation-Abstraction-Control</a:t>
            </a:r>
          </a:p>
        </p:txBody>
      </p:sp>
      <p:sp>
        <p:nvSpPr>
          <p:cNvPr id="4" name="Date Placeholder 3">
            <a:extLst>
              <a:ext uri="{FF2B5EF4-FFF2-40B4-BE49-F238E27FC236}">
                <a16:creationId xmlns:a16="http://schemas.microsoft.com/office/drawing/2014/main" id="{E5074E6A-85B7-4FC8-8756-2137C3B94E9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0DEF8AD1-4902-4045-98AB-AD93DD56205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0A039A10-9E90-4A89-A64C-489B2B74370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42114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2AE8C2-25F7-44DC-A9CF-24EFB4F069DE}"/>
              </a:ext>
            </a:extLst>
          </p:cNvPr>
          <p:cNvSpPr>
            <a:spLocks noGrp="1"/>
          </p:cNvSpPr>
          <p:nvPr>
            <p:ph idx="1"/>
          </p:nvPr>
        </p:nvSpPr>
        <p:spPr/>
        <p:txBody>
          <a:bodyPr/>
          <a:lstStyle/>
          <a:p>
            <a:pPr>
              <a:buFont typeface="Arial" panose="020B0604020202020204" pitchFamily="34" charset="0"/>
              <a:buChar char="•"/>
            </a:pPr>
            <a:r>
              <a:rPr lang="en-IN" dirty="0"/>
              <a:t>Development of an interactive application with the help of agents.</a:t>
            </a:r>
          </a:p>
          <a:p>
            <a:pPr>
              <a:buFont typeface="Arial" panose="020B0604020202020204" pitchFamily="34" charset="0"/>
              <a:buChar char="•"/>
            </a:pPr>
            <a:r>
              <a:rPr lang="en-IN" dirty="0"/>
              <a:t>In the context of this pattern an agent denotes an information-processing component that includes event receivers and transmitters, data structures to maintain stale, and a processor that handles incoming events, updates its own state, and that may produce new events. </a:t>
            </a:r>
          </a:p>
          <a:p>
            <a:pPr>
              <a:buFont typeface="Arial" panose="020B0604020202020204" pitchFamily="34" charset="0"/>
              <a:buChar char="•"/>
            </a:pPr>
            <a:r>
              <a:rPr lang="en-IN" dirty="0"/>
              <a:t>Agents can be as small as a single object, but also as complex as a complete software system. </a:t>
            </a:r>
          </a:p>
          <a:p>
            <a:pPr>
              <a:buFont typeface="Arial" panose="020B0604020202020204" pitchFamily="34" charset="0"/>
              <a:buChar char="•"/>
            </a:pPr>
            <a:r>
              <a:rPr lang="en-IN" dirty="0"/>
              <a:t>We use the terms agent and PAC agent as synonyms in this pattern description</a:t>
            </a:r>
          </a:p>
        </p:txBody>
      </p:sp>
      <p:sp>
        <p:nvSpPr>
          <p:cNvPr id="3" name="Content Placeholder 2">
            <a:extLst>
              <a:ext uri="{FF2B5EF4-FFF2-40B4-BE49-F238E27FC236}">
                <a16:creationId xmlns:a16="http://schemas.microsoft.com/office/drawing/2014/main" id="{A0A155A2-ECE7-47C7-8794-DB2AED61E039}"/>
              </a:ext>
            </a:extLst>
          </p:cNvPr>
          <p:cNvSpPr>
            <a:spLocks noGrp="1"/>
          </p:cNvSpPr>
          <p:nvPr>
            <p:ph sz="quarter" idx="10"/>
          </p:nvPr>
        </p:nvSpPr>
        <p:spPr/>
        <p:txBody>
          <a:bodyPr/>
          <a:lstStyle/>
          <a:p>
            <a:r>
              <a:rPr lang="en-IN" dirty="0"/>
              <a:t>Context</a:t>
            </a:r>
          </a:p>
        </p:txBody>
      </p:sp>
      <p:sp>
        <p:nvSpPr>
          <p:cNvPr id="4" name="Date Placeholder 3">
            <a:extLst>
              <a:ext uri="{FF2B5EF4-FFF2-40B4-BE49-F238E27FC236}">
                <a16:creationId xmlns:a16="http://schemas.microsoft.com/office/drawing/2014/main" id="{135582DF-8B0B-422F-909D-9B2390A5323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96C1A32C-C4D7-41DE-A86A-C1B760ECC72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DF9B18B8-629C-4C13-963E-AB173AB4362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753280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21371A-E12A-4E80-B6F8-8B799357F425}"/>
              </a:ext>
            </a:extLst>
          </p:cNvPr>
          <p:cNvSpPr>
            <a:spLocks noGrp="1"/>
          </p:cNvSpPr>
          <p:nvPr>
            <p:ph idx="1"/>
          </p:nvPr>
        </p:nvSpPr>
        <p:spPr/>
        <p:txBody>
          <a:bodyPr>
            <a:normAutofit lnSpcReduction="10000"/>
          </a:bodyPr>
          <a:lstStyle/>
          <a:p>
            <a:pPr>
              <a:buFont typeface="Arial" panose="020B0604020202020204" pitchFamily="34" charset="0"/>
              <a:buChar char="•"/>
            </a:pPr>
            <a:r>
              <a:rPr lang="en-IN" dirty="0"/>
              <a:t>Interactive systems can often be viewed as a set of cooperating agents. </a:t>
            </a:r>
          </a:p>
          <a:p>
            <a:pPr>
              <a:buFont typeface="Arial" panose="020B0604020202020204" pitchFamily="34" charset="0"/>
              <a:buChar char="•"/>
            </a:pPr>
            <a:r>
              <a:rPr lang="en-IN" dirty="0"/>
              <a:t>Agents specialized in human-computer interaction accept user input and display data. </a:t>
            </a:r>
          </a:p>
          <a:p>
            <a:pPr>
              <a:buFont typeface="Arial" panose="020B0604020202020204" pitchFamily="34" charset="0"/>
              <a:buChar char="•"/>
            </a:pPr>
            <a:r>
              <a:rPr lang="en-IN" dirty="0"/>
              <a:t>Other agents maintain the data model of the system and offer functionality that operates on this data. </a:t>
            </a:r>
          </a:p>
          <a:p>
            <a:pPr>
              <a:buFont typeface="Arial" panose="020B0604020202020204" pitchFamily="34" charset="0"/>
              <a:buChar char="•"/>
            </a:pPr>
            <a:r>
              <a:rPr lang="en-IN" dirty="0"/>
              <a:t>Additional agents are responsible for diverse tasks such as error handling or communication with other software systems. </a:t>
            </a:r>
          </a:p>
          <a:p>
            <a:pPr>
              <a:buFont typeface="Arial" panose="020B0604020202020204" pitchFamily="34" charset="0"/>
              <a:buChar char="•"/>
            </a:pPr>
            <a:r>
              <a:rPr lang="en-IN" dirty="0"/>
              <a:t>Besides this horizontal decomposition of system functionality, we often encounter a vertical decomposition. </a:t>
            </a:r>
          </a:p>
        </p:txBody>
      </p:sp>
      <p:sp>
        <p:nvSpPr>
          <p:cNvPr id="3" name="Content Placeholder 2">
            <a:extLst>
              <a:ext uri="{FF2B5EF4-FFF2-40B4-BE49-F238E27FC236}">
                <a16:creationId xmlns:a16="http://schemas.microsoft.com/office/drawing/2014/main" id="{4C5E3B72-5149-4961-8AFB-D1A0C8379EC0}"/>
              </a:ext>
            </a:extLst>
          </p:cNvPr>
          <p:cNvSpPr>
            <a:spLocks noGrp="1"/>
          </p:cNvSpPr>
          <p:nvPr>
            <p:ph sz="quarter" idx="10"/>
          </p:nvPr>
        </p:nvSpPr>
        <p:spPr/>
        <p:txBody>
          <a:bodyPr/>
          <a:lstStyle/>
          <a:p>
            <a:r>
              <a:rPr lang="en-IN" dirty="0"/>
              <a:t>Problem</a:t>
            </a:r>
          </a:p>
        </p:txBody>
      </p:sp>
      <p:sp>
        <p:nvSpPr>
          <p:cNvPr id="4" name="Date Placeholder 3">
            <a:extLst>
              <a:ext uri="{FF2B5EF4-FFF2-40B4-BE49-F238E27FC236}">
                <a16:creationId xmlns:a16="http://schemas.microsoft.com/office/drawing/2014/main" id="{602CE876-74B1-487D-9098-62BD26FBBD30}"/>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7B7287FE-504A-4521-B405-6A631F08CAC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E2F5B149-2826-4A09-80E2-DB0F9EF1F81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606796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8C4F0-2C2D-4C54-B24F-B33C16E0AEB6}"/>
              </a:ext>
            </a:extLst>
          </p:cNvPr>
          <p:cNvSpPr>
            <a:spLocks noGrp="1"/>
          </p:cNvSpPr>
          <p:nvPr>
            <p:ph idx="1"/>
          </p:nvPr>
        </p:nvSpPr>
        <p:spPr/>
        <p:txBody>
          <a:bodyPr/>
          <a:lstStyle/>
          <a:p>
            <a:pPr>
              <a:buFont typeface="Arial" panose="020B0604020202020204" pitchFamily="34" charset="0"/>
              <a:buChar char="•"/>
            </a:pPr>
            <a:r>
              <a:rPr lang="en-IN" dirty="0"/>
              <a:t>Production planning systems (PPS) , for example, distinguish between production planning and the execution of a previously specified production plan. </a:t>
            </a:r>
          </a:p>
          <a:p>
            <a:pPr>
              <a:buFont typeface="Arial" panose="020B0604020202020204" pitchFamily="34" charset="0"/>
              <a:buChar char="•"/>
            </a:pPr>
            <a:r>
              <a:rPr lang="en-IN" dirty="0"/>
              <a:t>For each of these tasks separate agents can be defined. </a:t>
            </a:r>
          </a:p>
          <a:p>
            <a:pPr>
              <a:buFont typeface="Arial" panose="020B0604020202020204" pitchFamily="34" charset="0"/>
              <a:buChar char="•"/>
            </a:pPr>
            <a:r>
              <a:rPr lang="en-IN" dirty="0"/>
              <a:t>In such an architecture of cooperating agents, each agent is specialized for a specific task, and all agents together provide the system functionality. </a:t>
            </a:r>
          </a:p>
          <a:p>
            <a:pPr>
              <a:buFont typeface="Arial" panose="020B0604020202020204" pitchFamily="34" charset="0"/>
              <a:buChar char="•"/>
            </a:pPr>
            <a:r>
              <a:rPr lang="en-IN" dirty="0"/>
              <a:t>This architecture also captures both a horizontal and vertical decomposition.</a:t>
            </a:r>
          </a:p>
          <a:p>
            <a:endParaRPr lang="en-IN" dirty="0"/>
          </a:p>
        </p:txBody>
      </p:sp>
      <p:sp>
        <p:nvSpPr>
          <p:cNvPr id="3" name="Content Placeholder 2">
            <a:extLst>
              <a:ext uri="{FF2B5EF4-FFF2-40B4-BE49-F238E27FC236}">
                <a16:creationId xmlns:a16="http://schemas.microsoft.com/office/drawing/2014/main" id="{3C7D23C3-F813-4DBF-A052-B1933C357B84}"/>
              </a:ext>
            </a:extLst>
          </p:cNvPr>
          <p:cNvSpPr>
            <a:spLocks noGrp="1"/>
          </p:cNvSpPr>
          <p:nvPr>
            <p:ph sz="quarter" idx="10"/>
          </p:nvPr>
        </p:nvSpPr>
        <p:spPr/>
        <p:txBody>
          <a:bodyPr/>
          <a:lstStyle/>
          <a:p>
            <a:r>
              <a:rPr lang="en-IN" dirty="0"/>
              <a:t>Example</a:t>
            </a:r>
          </a:p>
        </p:txBody>
      </p:sp>
      <p:sp>
        <p:nvSpPr>
          <p:cNvPr id="4" name="Date Placeholder 3">
            <a:extLst>
              <a:ext uri="{FF2B5EF4-FFF2-40B4-BE49-F238E27FC236}">
                <a16:creationId xmlns:a16="http://schemas.microsoft.com/office/drawing/2014/main" id="{7B6120E9-A7F9-4B78-B946-71A6AA25F15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0054B50A-58FB-4B6C-8EBA-6EE3A9A1C5D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E416D686-C774-40C6-A453-75B7F4AEA0B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13706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D93A01-46EA-4222-B157-23B450B88D79}"/>
              </a:ext>
            </a:extLst>
          </p:cNvPr>
          <p:cNvSpPr>
            <a:spLocks noGrp="1"/>
          </p:cNvSpPr>
          <p:nvPr>
            <p:ph idx="1"/>
          </p:nvPr>
        </p:nvSpPr>
        <p:spPr>
          <a:xfrm>
            <a:off x="304800" y="1493837"/>
            <a:ext cx="8382000" cy="5059363"/>
          </a:xfrm>
        </p:spPr>
        <p:txBody>
          <a:bodyPr>
            <a:normAutofit fontScale="92500"/>
          </a:bodyPr>
          <a:lstStyle/>
          <a:p>
            <a:pPr>
              <a:buFont typeface="Arial" panose="020B0604020202020204" pitchFamily="34" charset="0"/>
              <a:buChar char="•"/>
            </a:pPr>
            <a:r>
              <a:rPr lang="en-IN" dirty="0"/>
              <a:t>Agents often maintain their own state and data. </a:t>
            </a:r>
          </a:p>
          <a:p>
            <a:pPr lvl="1">
              <a:buFont typeface="Arial" panose="020B0604020202020204" pitchFamily="34" charset="0"/>
              <a:buChar char="•"/>
            </a:pPr>
            <a:r>
              <a:rPr lang="en-IN" dirty="0"/>
              <a:t>For example, in a PPS system, the production planning and the actual production control may work on different data models, one tuned for planning and simulation and one performance-optimized for efficient production. </a:t>
            </a:r>
          </a:p>
          <a:p>
            <a:pPr lvl="1">
              <a:buFont typeface="Arial" panose="020B0604020202020204" pitchFamily="34" charset="0"/>
              <a:buChar char="•"/>
            </a:pPr>
            <a:r>
              <a:rPr lang="en-IN" dirty="0"/>
              <a:t>However, individual agents must effectively cooperate to provide the overall task of the application. </a:t>
            </a:r>
          </a:p>
          <a:p>
            <a:pPr lvl="1">
              <a:buFont typeface="Arial" panose="020B0604020202020204" pitchFamily="34" charset="0"/>
              <a:buChar char="•"/>
            </a:pPr>
            <a:r>
              <a:rPr lang="en-IN" dirty="0"/>
              <a:t>To achieve this, they need a mechanism for exchanging, data, messages, and events. </a:t>
            </a:r>
          </a:p>
          <a:p>
            <a:pPr>
              <a:buFont typeface="Arial" panose="020B0604020202020204" pitchFamily="34" charset="0"/>
              <a:buChar char="•"/>
            </a:pPr>
            <a:r>
              <a:rPr lang="en-IN" dirty="0"/>
              <a:t>Interactive agents provide their own user interface, since their respective human-computer interactions often differ widely. </a:t>
            </a:r>
          </a:p>
          <a:p>
            <a:pPr lvl="1">
              <a:buFont typeface="Arial" panose="020B0604020202020204" pitchFamily="34" charset="0"/>
              <a:buChar char="•"/>
            </a:pPr>
            <a:r>
              <a:rPr lang="en-IN" dirty="0"/>
              <a:t>For example, entering data into spreadsheets is done using keyboard input, while the manipulation of graphical objects uses a pointing device. </a:t>
            </a:r>
          </a:p>
          <a:p>
            <a:pPr>
              <a:buFont typeface="Arial" panose="020B0604020202020204" pitchFamily="34" charset="0"/>
              <a:buChar char="•"/>
            </a:pPr>
            <a:r>
              <a:rPr lang="en-IN" dirty="0"/>
              <a:t>Systems evolve over time. </a:t>
            </a:r>
          </a:p>
          <a:p>
            <a:pPr lvl="1">
              <a:buFont typeface="Arial" panose="020B0604020202020204" pitchFamily="34" charset="0"/>
              <a:buChar char="•"/>
            </a:pPr>
            <a:r>
              <a:rPr lang="en-IN" dirty="0"/>
              <a:t>Their presentation aspect is particularly prone to change. </a:t>
            </a:r>
          </a:p>
          <a:p>
            <a:pPr lvl="1">
              <a:buFont typeface="Arial" panose="020B0604020202020204" pitchFamily="34" charset="0"/>
              <a:buChar char="•"/>
            </a:pPr>
            <a:r>
              <a:rPr lang="en-IN" dirty="0"/>
              <a:t>The use of graphics, and more recently, multi-media features, are examples of pervasive changes to user interfaces. </a:t>
            </a:r>
          </a:p>
          <a:p>
            <a:pPr lvl="1">
              <a:buFont typeface="Arial" panose="020B0604020202020204" pitchFamily="34" charset="0"/>
              <a:buChar char="•"/>
            </a:pPr>
            <a:r>
              <a:rPr lang="en-IN" dirty="0"/>
              <a:t>Changes to individual agents, or the extension of the system with new agents, should not affect the whole system. </a:t>
            </a:r>
          </a:p>
        </p:txBody>
      </p:sp>
      <p:sp>
        <p:nvSpPr>
          <p:cNvPr id="3" name="Content Placeholder 2">
            <a:extLst>
              <a:ext uri="{FF2B5EF4-FFF2-40B4-BE49-F238E27FC236}">
                <a16:creationId xmlns:a16="http://schemas.microsoft.com/office/drawing/2014/main" id="{17599A1C-EE06-4B11-9D8A-3C9BCE7DDCF4}"/>
              </a:ext>
            </a:extLst>
          </p:cNvPr>
          <p:cNvSpPr>
            <a:spLocks noGrp="1"/>
          </p:cNvSpPr>
          <p:nvPr>
            <p:ph sz="quarter" idx="10"/>
          </p:nvPr>
        </p:nvSpPr>
        <p:spPr/>
        <p:txBody>
          <a:bodyPr/>
          <a:lstStyle/>
          <a:p>
            <a:r>
              <a:rPr lang="en-IN" dirty="0"/>
              <a:t>Forces</a:t>
            </a:r>
          </a:p>
        </p:txBody>
      </p:sp>
      <p:sp>
        <p:nvSpPr>
          <p:cNvPr id="4" name="Date Placeholder 3">
            <a:extLst>
              <a:ext uri="{FF2B5EF4-FFF2-40B4-BE49-F238E27FC236}">
                <a16:creationId xmlns:a16="http://schemas.microsoft.com/office/drawing/2014/main" id="{2A19389A-66C9-4A3F-B84D-C32F6A93230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DF32AB2F-328C-4E55-8756-BCF39BC1460A}"/>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1D1E393A-E587-4CA2-8F2F-5E959B5B5BF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8121843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0EE3E5-218B-4522-8620-58E8F3A6273D}"/>
              </a:ext>
            </a:extLst>
          </p:cNvPr>
          <p:cNvSpPr>
            <a:spLocks noGrp="1"/>
          </p:cNvSpPr>
          <p:nvPr>
            <p:ph idx="1"/>
          </p:nvPr>
        </p:nvSpPr>
        <p:spPr/>
        <p:txBody>
          <a:bodyPr>
            <a:normAutofit lnSpcReduction="10000"/>
          </a:bodyPr>
          <a:lstStyle/>
          <a:p>
            <a:pPr>
              <a:buFont typeface="Arial" panose="020B0604020202020204" pitchFamily="34" charset="0"/>
              <a:buChar char="•"/>
            </a:pPr>
            <a:r>
              <a:rPr lang="en-IN" dirty="0"/>
              <a:t>Structure the interactive application as a tree-like hierarchy of PAC agents. </a:t>
            </a:r>
          </a:p>
          <a:p>
            <a:pPr>
              <a:buFont typeface="Arial" panose="020B0604020202020204" pitchFamily="34" charset="0"/>
              <a:buChar char="•"/>
            </a:pPr>
            <a:r>
              <a:rPr lang="en-IN" dirty="0"/>
              <a:t>There should be one top-level agent, several intermediate-level agents, and even more bottom-level agents. </a:t>
            </a:r>
          </a:p>
          <a:p>
            <a:pPr>
              <a:buFont typeface="Arial" panose="020B0604020202020204" pitchFamily="34" charset="0"/>
              <a:buChar char="•"/>
            </a:pPr>
            <a:r>
              <a:rPr lang="en-IN" dirty="0"/>
              <a:t>Every agent is responsible for a specific aspect of the application's functionality, and consists of three components: presentation, abstraction, and control. </a:t>
            </a:r>
          </a:p>
          <a:p>
            <a:pPr>
              <a:buFont typeface="Arial" panose="020B0604020202020204" pitchFamily="34" charset="0"/>
              <a:buChar char="•"/>
            </a:pPr>
            <a:r>
              <a:rPr lang="en-IN" dirty="0"/>
              <a:t>The whole hierarchy reflects transitive dependencies between agents. </a:t>
            </a:r>
          </a:p>
          <a:p>
            <a:pPr>
              <a:buFont typeface="Arial" panose="020B0604020202020204" pitchFamily="34" charset="0"/>
              <a:buChar char="•"/>
            </a:pPr>
            <a:r>
              <a:rPr lang="en-IN" dirty="0"/>
              <a:t>Each agent depends on all higher-level agents up the hierarchy to the top-level agent. </a:t>
            </a:r>
          </a:p>
        </p:txBody>
      </p:sp>
      <p:sp>
        <p:nvSpPr>
          <p:cNvPr id="3" name="Content Placeholder 2">
            <a:extLst>
              <a:ext uri="{FF2B5EF4-FFF2-40B4-BE49-F238E27FC236}">
                <a16:creationId xmlns:a16="http://schemas.microsoft.com/office/drawing/2014/main" id="{2105F5D6-9190-4E89-8FDA-2FFA978BC72D}"/>
              </a:ext>
            </a:extLst>
          </p:cNvPr>
          <p:cNvSpPr>
            <a:spLocks noGrp="1"/>
          </p:cNvSpPr>
          <p:nvPr>
            <p:ph sz="quarter" idx="10"/>
          </p:nvPr>
        </p:nvSpPr>
        <p:spPr/>
        <p:txBody>
          <a:bodyPr/>
          <a:lstStyle/>
          <a:p>
            <a:r>
              <a:rPr lang="en-IN" dirty="0"/>
              <a:t>Solution</a:t>
            </a:r>
          </a:p>
        </p:txBody>
      </p:sp>
      <p:sp>
        <p:nvSpPr>
          <p:cNvPr id="4" name="Date Placeholder 3">
            <a:extLst>
              <a:ext uri="{FF2B5EF4-FFF2-40B4-BE49-F238E27FC236}">
                <a16:creationId xmlns:a16="http://schemas.microsoft.com/office/drawing/2014/main" id="{17329203-9EF3-46E1-9824-17EBEE186DE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FA03E234-54F6-4B9B-B648-B00DB019C13E}"/>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42347705-3AAB-43CB-BDAF-78E05A9D1B55}"/>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927196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7E038-B54C-47F3-9942-47BFCBFAC8D2}"/>
              </a:ext>
            </a:extLst>
          </p:cNvPr>
          <p:cNvSpPr>
            <a:spLocks noGrp="1"/>
          </p:cNvSpPr>
          <p:nvPr>
            <p:ph idx="1"/>
          </p:nvPr>
        </p:nvSpPr>
        <p:spPr/>
        <p:txBody>
          <a:bodyPr>
            <a:normAutofit/>
          </a:bodyPr>
          <a:lstStyle/>
          <a:p>
            <a:pPr>
              <a:buFont typeface="Arial" panose="020B0604020202020204" pitchFamily="34" charset="0"/>
              <a:buChar char="•"/>
            </a:pPr>
            <a:r>
              <a:rPr lang="en-IN" dirty="0"/>
              <a:t>The agent's presentation component provides the visible behaviour of the PAC agent. </a:t>
            </a:r>
          </a:p>
          <a:p>
            <a:pPr>
              <a:buFont typeface="Arial" panose="020B0604020202020204" pitchFamily="34" charset="0"/>
              <a:buChar char="•"/>
            </a:pPr>
            <a:r>
              <a:rPr lang="en-IN" dirty="0"/>
              <a:t>Its abstraction component maintains the data model that underlies the agent, and provides functionality that operates on this data. </a:t>
            </a:r>
          </a:p>
          <a:p>
            <a:pPr>
              <a:buFont typeface="Arial" panose="020B0604020202020204" pitchFamily="34" charset="0"/>
              <a:buChar char="•"/>
            </a:pPr>
            <a:r>
              <a:rPr lang="en-IN" dirty="0"/>
              <a:t>Its control component connects the presentation and abstraction components, and provides functionality that allows the agent to communicate with other PAC agents. </a:t>
            </a:r>
          </a:p>
        </p:txBody>
      </p:sp>
      <p:sp>
        <p:nvSpPr>
          <p:cNvPr id="3" name="Content Placeholder 2">
            <a:extLst>
              <a:ext uri="{FF2B5EF4-FFF2-40B4-BE49-F238E27FC236}">
                <a16:creationId xmlns:a16="http://schemas.microsoft.com/office/drawing/2014/main" id="{0975EB83-EDEA-42A1-AAF2-3FC7BBE5B30C}"/>
              </a:ext>
            </a:extLst>
          </p:cNvPr>
          <p:cNvSpPr>
            <a:spLocks noGrp="1"/>
          </p:cNvSpPr>
          <p:nvPr>
            <p:ph sz="quarter" idx="10"/>
          </p:nvPr>
        </p:nvSpPr>
        <p:spPr/>
        <p:txBody>
          <a:bodyPr/>
          <a:lstStyle/>
          <a:p>
            <a:r>
              <a:rPr lang="en-IN" dirty="0"/>
              <a:t>Agents</a:t>
            </a:r>
          </a:p>
        </p:txBody>
      </p:sp>
      <p:sp>
        <p:nvSpPr>
          <p:cNvPr id="4" name="Date Placeholder 3">
            <a:extLst>
              <a:ext uri="{FF2B5EF4-FFF2-40B4-BE49-F238E27FC236}">
                <a16:creationId xmlns:a16="http://schemas.microsoft.com/office/drawing/2014/main" id="{99F75470-50F3-4091-8119-BDAA2D54C26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D723E6D3-D1F7-410B-B55B-35C7C85F360A}"/>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44BAB0C3-14B4-4697-9A09-E2D9554897A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4094912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CC0196-261A-4F8A-A977-ADEC140ECCF8}"/>
              </a:ext>
            </a:extLst>
          </p:cNvPr>
          <p:cNvSpPr>
            <a:spLocks noGrp="1"/>
          </p:cNvSpPr>
          <p:nvPr>
            <p:ph idx="1"/>
          </p:nvPr>
        </p:nvSpPr>
        <p:spPr/>
        <p:txBody>
          <a:bodyPr>
            <a:normAutofit/>
          </a:bodyPr>
          <a:lstStyle/>
          <a:p>
            <a:pPr>
              <a:buFont typeface="Arial" panose="020B0604020202020204" pitchFamily="34" charset="0"/>
              <a:buChar char="•"/>
            </a:pPr>
            <a:r>
              <a:rPr lang="en-IN" dirty="0"/>
              <a:t>The top-level PAC agent provides the functional core of the system. </a:t>
            </a:r>
          </a:p>
          <a:p>
            <a:pPr>
              <a:buFont typeface="Arial" panose="020B0604020202020204" pitchFamily="34" charset="0"/>
              <a:buChar char="•"/>
            </a:pPr>
            <a:r>
              <a:rPr lang="en-IN" dirty="0"/>
              <a:t>Most other PAC agents depend or operate on this core. Furthermore, the top-level PAC agent includes those parts of the user interface that cannot be assigned to particular subtasks, such as menu bars or a dialog box displaying information about the application. </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3A2B5885-C8C9-4C1C-9537-91BD0F28637F}"/>
              </a:ext>
            </a:extLst>
          </p:cNvPr>
          <p:cNvSpPr>
            <a:spLocks noGrp="1"/>
          </p:cNvSpPr>
          <p:nvPr>
            <p:ph sz="quarter" idx="10"/>
          </p:nvPr>
        </p:nvSpPr>
        <p:spPr/>
        <p:txBody>
          <a:bodyPr/>
          <a:lstStyle/>
          <a:p>
            <a:r>
              <a:rPr lang="en-IN" dirty="0"/>
              <a:t>The top-level PAC agent</a:t>
            </a:r>
          </a:p>
        </p:txBody>
      </p:sp>
      <p:sp>
        <p:nvSpPr>
          <p:cNvPr id="4" name="Date Placeholder 3">
            <a:extLst>
              <a:ext uri="{FF2B5EF4-FFF2-40B4-BE49-F238E27FC236}">
                <a16:creationId xmlns:a16="http://schemas.microsoft.com/office/drawing/2014/main" id="{66C9C62F-235B-43C8-9D1A-5DF625F60CF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07915198-E485-43F3-A4E1-86D79C884F06}"/>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FADEB511-074D-4A99-954C-03C3D3F2622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1992342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0E1F3F-77C7-4161-A204-822E3A3F020F}"/>
              </a:ext>
            </a:extLst>
          </p:cNvPr>
          <p:cNvSpPr>
            <a:spLocks noGrp="1"/>
          </p:cNvSpPr>
          <p:nvPr>
            <p:ph idx="1"/>
          </p:nvPr>
        </p:nvSpPr>
        <p:spPr/>
        <p:txBody>
          <a:bodyPr>
            <a:normAutofit/>
          </a:bodyPr>
          <a:lstStyle/>
          <a:p>
            <a:pPr>
              <a:buFont typeface="Arial" panose="020B0604020202020204" pitchFamily="34" charset="0"/>
              <a:buChar char="•"/>
            </a:pPr>
            <a:r>
              <a:rPr lang="en-IN" dirty="0"/>
              <a:t>Bottom-level PAC agents represent self-contained semantic concepts on which users of the system can act, such as spreadsheets and charts. </a:t>
            </a:r>
          </a:p>
          <a:p>
            <a:pPr>
              <a:buFont typeface="Arial" panose="020B0604020202020204" pitchFamily="34" charset="0"/>
              <a:buChar char="•"/>
            </a:pPr>
            <a:r>
              <a:rPr lang="en-IN" dirty="0"/>
              <a:t>The bottom-level agents present these concepts to the user and support all operations that users can perform on these agents, such as zooming or moving a chart. </a:t>
            </a:r>
          </a:p>
        </p:txBody>
      </p:sp>
      <p:sp>
        <p:nvSpPr>
          <p:cNvPr id="3" name="Content Placeholder 2">
            <a:extLst>
              <a:ext uri="{FF2B5EF4-FFF2-40B4-BE49-F238E27FC236}">
                <a16:creationId xmlns:a16="http://schemas.microsoft.com/office/drawing/2014/main" id="{435F2EB7-CB2D-40B3-82C8-272F9DF9435C}"/>
              </a:ext>
            </a:extLst>
          </p:cNvPr>
          <p:cNvSpPr>
            <a:spLocks noGrp="1"/>
          </p:cNvSpPr>
          <p:nvPr>
            <p:ph sz="quarter" idx="10"/>
          </p:nvPr>
        </p:nvSpPr>
        <p:spPr/>
        <p:txBody>
          <a:bodyPr/>
          <a:lstStyle/>
          <a:p>
            <a:r>
              <a:rPr lang="en-IN" dirty="0"/>
              <a:t>Bottom-level PAC agents</a:t>
            </a:r>
          </a:p>
        </p:txBody>
      </p:sp>
      <p:sp>
        <p:nvSpPr>
          <p:cNvPr id="4" name="Date Placeholder 3">
            <a:extLst>
              <a:ext uri="{FF2B5EF4-FFF2-40B4-BE49-F238E27FC236}">
                <a16:creationId xmlns:a16="http://schemas.microsoft.com/office/drawing/2014/main" id="{4F3E5D5E-EEDC-4F14-9265-7C843727BAF9}"/>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78CB9744-7F3A-48E5-9948-5E75200D05B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B0B0FBA9-B2EC-4354-8CB3-CA468D236B8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1166274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D7C95C-C20F-4B54-BD96-48A44DBDC487}"/>
              </a:ext>
            </a:extLst>
          </p:cNvPr>
          <p:cNvSpPr>
            <a:spLocks noGrp="1"/>
          </p:cNvSpPr>
          <p:nvPr>
            <p:ph idx="1"/>
          </p:nvPr>
        </p:nvSpPr>
        <p:spPr/>
        <p:txBody>
          <a:bodyPr/>
          <a:lstStyle/>
          <a:p>
            <a:pPr>
              <a:buFont typeface="Arial" panose="020B0604020202020204" pitchFamily="34" charset="0"/>
              <a:buChar char="•"/>
            </a:pPr>
            <a:r>
              <a:rPr lang="en-IN" dirty="0"/>
              <a:t>Intermediate-level PAC agents represent either combinations of, or relationships between, lower-level agents. </a:t>
            </a:r>
          </a:p>
          <a:p>
            <a:pPr lvl="2"/>
            <a:r>
              <a:rPr lang="en-IN" dirty="0"/>
              <a:t>For example, an intermediate-level agent may maintain several views of the same data, such as a floor plan and an external view of a house in a CAD system for architecture. </a:t>
            </a:r>
          </a:p>
          <a:p>
            <a:pPr>
              <a:buFont typeface="Arial" panose="020B0604020202020204" pitchFamily="34" charset="0"/>
              <a:buChar char="•"/>
            </a:pPr>
            <a:endParaRPr lang="en-IN" dirty="0"/>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0345B9D8-6BDC-40D4-BEA2-57F499209CDA}"/>
              </a:ext>
            </a:extLst>
          </p:cNvPr>
          <p:cNvSpPr>
            <a:spLocks noGrp="1"/>
          </p:cNvSpPr>
          <p:nvPr>
            <p:ph sz="quarter" idx="10"/>
          </p:nvPr>
        </p:nvSpPr>
        <p:spPr/>
        <p:txBody>
          <a:bodyPr/>
          <a:lstStyle/>
          <a:p>
            <a:r>
              <a:rPr lang="en-IN" dirty="0"/>
              <a:t>Intermediate-level PAC agents</a:t>
            </a:r>
          </a:p>
        </p:txBody>
      </p:sp>
      <p:sp>
        <p:nvSpPr>
          <p:cNvPr id="4" name="Date Placeholder 3">
            <a:extLst>
              <a:ext uri="{FF2B5EF4-FFF2-40B4-BE49-F238E27FC236}">
                <a16:creationId xmlns:a16="http://schemas.microsoft.com/office/drawing/2014/main" id="{183A9B69-BC7B-442C-B357-BFE5A848652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58DA3497-B036-4876-BDCA-373FB0FA4E2D}"/>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41F2F4FB-4E62-41F9-8EA4-94D559E0D5C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8191778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E1A5CE0-1FAF-4D28-B336-ACE30950001E}"/>
              </a:ext>
            </a:extLst>
          </p:cNvPr>
          <p:cNvPicPr>
            <a:picLocks noGrp="1" noChangeAspect="1"/>
          </p:cNvPicPr>
          <p:nvPr>
            <p:ph idx="1"/>
          </p:nvPr>
        </p:nvPicPr>
        <p:blipFill>
          <a:blip r:embed="rId2"/>
          <a:stretch>
            <a:fillRect/>
          </a:stretch>
        </p:blipFill>
        <p:spPr>
          <a:xfrm>
            <a:off x="304800" y="1959849"/>
            <a:ext cx="8229600" cy="3593939"/>
          </a:xfrm>
          <a:prstGeom prst="rect">
            <a:avLst/>
          </a:prstGeom>
        </p:spPr>
      </p:pic>
      <p:sp>
        <p:nvSpPr>
          <p:cNvPr id="3" name="Content Placeholder 2">
            <a:extLst>
              <a:ext uri="{FF2B5EF4-FFF2-40B4-BE49-F238E27FC236}">
                <a16:creationId xmlns:a16="http://schemas.microsoft.com/office/drawing/2014/main" id="{28DBFFE5-C29A-46A3-9AD6-68C3C4392700}"/>
              </a:ext>
            </a:extLst>
          </p:cNvPr>
          <p:cNvSpPr>
            <a:spLocks noGrp="1"/>
          </p:cNvSpPr>
          <p:nvPr>
            <p:ph sz="quarter" idx="10"/>
          </p:nvPr>
        </p:nvSpPr>
        <p:spPr/>
        <p:txBody>
          <a:bodyPr/>
          <a:lstStyle/>
          <a:p>
            <a:r>
              <a:rPr lang="en-IN" dirty="0"/>
              <a:t>Typical Hierarchy of Agents</a:t>
            </a:r>
          </a:p>
        </p:txBody>
      </p:sp>
      <p:sp>
        <p:nvSpPr>
          <p:cNvPr id="4" name="Date Placeholder 3">
            <a:extLst>
              <a:ext uri="{FF2B5EF4-FFF2-40B4-BE49-F238E27FC236}">
                <a16:creationId xmlns:a16="http://schemas.microsoft.com/office/drawing/2014/main" id="{0975AF29-ABEC-4613-898A-CEE11AA0B75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796A22FA-A061-47E1-BA39-034A7639A863}"/>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8AFD667E-E348-45A2-9A71-74D7295576C0}"/>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631288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BD777A-DD69-4BE8-820A-A012305D7D3B}"/>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IN" dirty="0"/>
              <a:t>The main responsibility of the top-level PAC agent is to provide the global data model of the software. </a:t>
            </a:r>
          </a:p>
          <a:p>
            <a:pPr>
              <a:buFont typeface="Arial" panose="020B0604020202020204" pitchFamily="34" charset="0"/>
              <a:buChar char="•"/>
            </a:pPr>
            <a:r>
              <a:rPr lang="en-IN" dirty="0"/>
              <a:t>This is maintained in the abstraction component of the top-level agent. </a:t>
            </a:r>
          </a:p>
          <a:p>
            <a:pPr>
              <a:buFont typeface="Arial" panose="020B0604020202020204" pitchFamily="34" charset="0"/>
              <a:buChar char="•"/>
            </a:pPr>
            <a:r>
              <a:rPr lang="en-IN" dirty="0"/>
              <a:t>The interface of the abstraction component offers functions to manipulate the data model and to retrieve information about it. </a:t>
            </a:r>
          </a:p>
          <a:p>
            <a:pPr>
              <a:buFont typeface="Arial" panose="020B0604020202020204" pitchFamily="34" charset="0"/>
              <a:buChar char="•"/>
            </a:pPr>
            <a:r>
              <a:rPr lang="en-IN" dirty="0"/>
              <a:t>The representation of data within the abstraction component is media-independent. </a:t>
            </a:r>
          </a:p>
          <a:p>
            <a:pPr>
              <a:buFont typeface="Arial" panose="020B0604020202020204" pitchFamily="34" charset="0"/>
              <a:buChar char="•"/>
            </a:pPr>
            <a:r>
              <a:rPr lang="en-IN" dirty="0"/>
              <a:t>For example, in a CAD system for architecture, walls, doors, and windows are represented in centimetres or inches that reflect their real size, not in pixels for display purposes. </a:t>
            </a:r>
          </a:p>
          <a:p>
            <a:pPr>
              <a:buFont typeface="Arial" panose="020B0604020202020204" pitchFamily="34" charset="0"/>
              <a:buChar char="•"/>
            </a:pPr>
            <a:r>
              <a:rPr lang="en-IN" dirty="0"/>
              <a:t>This media-independency supports adaptation of the PAC agent to different environments without major changes in its abstraction component.</a:t>
            </a:r>
          </a:p>
        </p:txBody>
      </p:sp>
      <p:sp>
        <p:nvSpPr>
          <p:cNvPr id="3" name="Content Placeholder 2">
            <a:extLst>
              <a:ext uri="{FF2B5EF4-FFF2-40B4-BE49-F238E27FC236}">
                <a16:creationId xmlns:a16="http://schemas.microsoft.com/office/drawing/2014/main" id="{22CB7063-DEDB-4056-A871-D97A8F4C4C96}"/>
              </a:ext>
            </a:extLst>
          </p:cNvPr>
          <p:cNvSpPr>
            <a:spLocks noGrp="1"/>
          </p:cNvSpPr>
          <p:nvPr>
            <p:ph sz="quarter" idx="10"/>
          </p:nvPr>
        </p:nvSpPr>
        <p:spPr/>
        <p:txBody>
          <a:bodyPr/>
          <a:lstStyle/>
          <a:p>
            <a:r>
              <a:rPr lang="en-IN" dirty="0"/>
              <a:t>Structure: Top Level Agent</a:t>
            </a:r>
          </a:p>
          <a:p>
            <a:r>
              <a:rPr lang="en-IN" dirty="0"/>
              <a:t>(component)</a:t>
            </a:r>
          </a:p>
        </p:txBody>
      </p:sp>
      <p:sp>
        <p:nvSpPr>
          <p:cNvPr id="4" name="Date Placeholder 3">
            <a:extLst>
              <a:ext uri="{FF2B5EF4-FFF2-40B4-BE49-F238E27FC236}">
                <a16:creationId xmlns:a16="http://schemas.microsoft.com/office/drawing/2014/main" id="{C4EE52F2-A1AE-440C-BEF3-F89E10AAD7A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22430156-0918-44AA-9044-5243C1EC487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AC81C05-7391-4F40-A8E2-F4E44B11B08A}"/>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0612470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6CF778-2F36-4A67-B24E-5F561E62FD89}"/>
              </a:ext>
            </a:extLst>
          </p:cNvPr>
          <p:cNvSpPr>
            <a:spLocks noGrp="1"/>
          </p:cNvSpPr>
          <p:nvPr>
            <p:ph idx="1"/>
          </p:nvPr>
        </p:nvSpPr>
        <p:spPr/>
        <p:txBody>
          <a:bodyPr/>
          <a:lstStyle/>
          <a:p>
            <a:pPr>
              <a:buFont typeface="Arial" panose="020B0604020202020204" pitchFamily="34" charset="0"/>
              <a:buChar char="•"/>
            </a:pPr>
            <a:r>
              <a:rPr lang="en-IN" dirty="0"/>
              <a:t>The presentation component of the top-level agent often has few responsibilities. </a:t>
            </a:r>
          </a:p>
          <a:p>
            <a:pPr>
              <a:buFont typeface="Arial" panose="020B0604020202020204" pitchFamily="34" charset="0"/>
              <a:buChar char="•"/>
            </a:pPr>
            <a:r>
              <a:rPr lang="en-IN" dirty="0"/>
              <a:t>It may include user-interface elements common to the whole application. </a:t>
            </a:r>
          </a:p>
          <a:p>
            <a:pPr>
              <a:buFont typeface="Arial" panose="020B0604020202020204" pitchFamily="34" charset="0"/>
              <a:buChar char="•"/>
            </a:pPr>
            <a:r>
              <a:rPr lang="en-IN" dirty="0"/>
              <a:t>In some systems, such as the network traffic manager, there is no top-level presentation component at all. </a:t>
            </a:r>
          </a:p>
        </p:txBody>
      </p:sp>
      <p:sp>
        <p:nvSpPr>
          <p:cNvPr id="3" name="Content Placeholder 2">
            <a:extLst>
              <a:ext uri="{FF2B5EF4-FFF2-40B4-BE49-F238E27FC236}">
                <a16:creationId xmlns:a16="http://schemas.microsoft.com/office/drawing/2014/main" id="{3084B302-197A-4E63-8FF1-AB3AC6716094}"/>
              </a:ext>
            </a:extLst>
          </p:cNvPr>
          <p:cNvSpPr>
            <a:spLocks noGrp="1"/>
          </p:cNvSpPr>
          <p:nvPr>
            <p:ph sz="quarter" idx="10"/>
          </p:nvPr>
        </p:nvSpPr>
        <p:spPr/>
        <p:txBody>
          <a:bodyPr/>
          <a:lstStyle/>
          <a:p>
            <a:r>
              <a:rPr lang="en-IN" dirty="0"/>
              <a:t>Structure: Top Level Agent</a:t>
            </a:r>
          </a:p>
          <a:p>
            <a:r>
              <a:rPr lang="en-IN" dirty="0"/>
              <a:t>(presentation)</a:t>
            </a:r>
          </a:p>
        </p:txBody>
      </p:sp>
      <p:sp>
        <p:nvSpPr>
          <p:cNvPr id="4" name="Date Placeholder 3">
            <a:extLst>
              <a:ext uri="{FF2B5EF4-FFF2-40B4-BE49-F238E27FC236}">
                <a16:creationId xmlns:a16="http://schemas.microsoft.com/office/drawing/2014/main" id="{FEB3E7CD-7FAC-4624-95F9-802C14E2DEE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E4C53922-887A-4E16-A124-CD8D2279D44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A91964B9-52F3-441A-BF09-7C8FCDB15C91}"/>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1320003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53929D-DBEE-41E0-82EA-F74FBF16F67B}"/>
              </a:ext>
            </a:extLst>
          </p:cNvPr>
          <p:cNvSpPr>
            <a:spLocks noGrp="1"/>
          </p:cNvSpPr>
          <p:nvPr>
            <p:ph idx="1"/>
          </p:nvPr>
        </p:nvSpPr>
        <p:spPr/>
        <p:txBody>
          <a:bodyPr>
            <a:normAutofit fontScale="62500" lnSpcReduction="20000"/>
          </a:bodyPr>
          <a:lstStyle/>
          <a:p>
            <a:pPr>
              <a:buFont typeface="Arial" panose="020B0604020202020204" pitchFamily="34" charset="0"/>
              <a:buChar char="•"/>
            </a:pPr>
            <a:r>
              <a:rPr lang="en-IN" dirty="0"/>
              <a:t>The control component of the top-level PAC agent has three responsibilities: </a:t>
            </a:r>
          </a:p>
          <a:p>
            <a:pPr marL="0" indent="0"/>
            <a:r>
              <a:rPr lang="en-IN" dirty="0"/>
              <a:t>1</a:t>
            </a:r>
          </a:p>
          <a:p>
            <a:pPr lvl="2"/>
            <a:r>
              <a:rPr lang="en-IN" dirty="0"/>
              <a:t>It allows lower-level agents to make use of the services of the top-level agents, mostly to access and manipulate the global data model. </a:t>
            </a:r>
          </a:p>
          <a:p>
            <a:pPr lvl="2"/>
            <a:r>
              <a:rPr lang="en-IN" dirty="0"/>
              <a:t>Incoming service requests from lower-level agents are forwarded either to the abstraction component or the presentation component. </a:t>
            </a:r>
          </a:p>
          <a:p>
            <a:r>
              <a:rPr lang="en-IN" dirty="0"/>
              <a:t>2</a:t>
            </a:r>
          </a:p>
          <a:p>
            <a:pPr lvl="2"/>
            <a:r>
              <a:rPr lang="en-IN" dirty="0"/>
              <a:t>It coordinates the hierarchy of PAC agents. </a:t>
            </a:r>
          </a:p>
          <a:p>
            <a:pPr lvl="2"/>
            <a:r>
              <a:rPr lang="en-IN" dirty="0"/>
              <a:t>It maintains information about connections between the top-level agent and lower-level agents. </a:t>
            </a:r>
          </a:p>
          <a:p>
            <a:pPr lvl="2"/>
            <a:r>
              <a:rPr lang="en-IN" dirty="0"/>
              <a:t>The control component uses this information to ensure correct collaboration and data exchange between the top-level agent and lower-level agents. </a:t>
            </a:r>
          </a:p>
          <a:p>
            <a:r>
              <a:rPr lang="en-IN" dirty="0"/>
              <a:t>3</a:t>
            </a:r>
          </a:p>
          <a:p>
            <a:pPr lvl="2"/>
            <a:r>
              <a:rPr lang="en-IN" dirty="0"/>
              <a:t>It maintains information about the interaction of the user with the system. </a:t>
            </a:r>
          </a:p>
          <a:p>
            <a:pPr lvl="2"/>
            <a:r>
              <a:rPr lang="en-IN" dirty="0"/>
              <a:t>For example, it may check whether a particular operation can be performed on the data model when triggered by the user. </a:t>
            </a:r>
          </a:p>
          <a:p>
            <a:pPr lvl="2"/>
            <a:r>
              <a:rPr lang="en-IN" dirty="0"/>
              <a:t>It may also keep track of the functions called to provide history or undo/redo services for operations on the functional core. </a:t>
            </a:r>
          </a:p>
        </p:txBody>
      </p:sp>
      <p:sp>
        <p:nvSpPr>
          <p:cNvPr id="3" name="Content Placeholder 2">
            <a:extLst>
              <a:ext uri="{FF2B5EF4-FFF2-40B4-BE49-F238E27FC236}">
                <a16:creationId xmlns:a16="http://schemas.microsoft.com/office/drawing/2014/main" id="{3681EE19-7F7A-45FA-AB6B-A0421DA334F1}"/>
              </a:ext>
            </a:extLst>
          </p:cNvPr>
          <p:cNvSpPr>
            <a:spLocks noGrp="1"/>
          </p:cNvSpPr>
          <p:nvPr>
            <p:ph sz="quarter" idx="10"/>
          </p:nvPr>
        </p:nvSpPr>
        <p:spPr/>
        <p:txBody>
          <a:bodyPr/>
          <a:lstStyle/>
          <a:p>
            <a:r>
              <a:rPr lang="en-IN" dirty="0"/>
              <a:t>Structure: Top Level Agent</a:t>
            </a:r>
          </a:p>
          <a:p>
            <a:r>
              <a:rPr lang="en-IN" dirty="0"/>
              <a:t>(control)</a:t>
            </a:r>
          </a:p>
        </p:txBody>
      </p:sp>
      <p:sp>
        <p:nvSpPr>
          <p:cNvPr id="4" name="Date Placeholder 3">
            <a:extLst>
              <a:ext uri="{FF2B5EF4-FFF2-40B4-BE49-F238E27FC236}">
                <a16:creationId xmlns:a16="http://schemas.microsoft.com/office/drawing/2014/main" id="{67CF2FB8-9F05-4D79-B146-976433F095F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B837FF1C-A8FF-4E4A-8866-BD751E98AA1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D30815C0-4D1E-4653-AD85-2F27F181572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7682803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EFF138-C2AE-4B54-96C5-360AD634182E}"/>
              </a:ext>
            </a:extLst>
          </p:cNvPr>
          <p:cNvSpPr>
            <a:spLocks noGrp="1"/>
          </p:cNvSpPr>
          <p:nvPr>
            <p:ph idx="1"/>
          </p:nvPr>
        </p:nvSpPr>
        <p:spPr/>
        <p:txBody>
          <a:bodyPr>
            <a:normAutofit/>
          </a:bodyPr>
          <a:lstStyle/>
          <a:p>
            <a:pPr>
              <a:buFont typeface="Arial" panose="020B0604020202020204" pitchFamily="34" charset="0"/>
              <a:buChar char="•"/>
            </a:pPr>
            <a:r>
              <a:rPr lang="en-IN" dirty="0"/>
              <a:t>Bottom-level PAC agents represent a specific semantic concept of the application domain, such as a mailbox in a network traffic management system or a wall in a mobile robot system.</a:t>
            </a:r>
          </a:p>
          <a:p>
            <a:pPr>
              <a:buFont typeface="Arial" panose="020B0604020202020204" pitchFamily="34" charset="0"/>
              <a:buChar char="•"/>
            </a:pPr>
            <a:r>
              <a:rPr lang="en-IN" dirty="0"/>
              <a:t>This semantic concept may be as low-level as a simple graphical object such as a circle, or as complex as a bar chart that summarizes all the data in the system. </a:t>
            </a:r>
          </a:p>
        </p:txBody>
      </p:sp>
      <p:sp>
        <p:nvSpPr>
          <p:cNvPr id="3" name="Content Placeholder 2">
            <a:extLst>
              <a:ext uri="{FF2B5EF4-FFF2-40B4-BE49-F238E27FC236}">
                <a16:creationId xmlns:a16="http://schemas.microsoft.com/office/drawing/2014/main" id="{A5DB7591-3308-40E8-BF20-66632CDD6361}"/>
              </a:ext>
            </a:extLst>
          </p:cNvPr>
          <p:cNvSpPr>
            <a:spLocks noGrp="1"/>
          </p:cNvSpPr>
          <p:nvPr>
            <p:ph sz="quarter" idx="10"/>
          </p:nvPr>
        </p:nvSpPr>
        <p:spPr/>
        <p:txBody>
          <a:bodyPr/>
          <a:lstStyle/>
          <a:p>
            <a:r>
              <a:rPr lang="en-IN" dirty="0"/>
              <a:t>Bottom Level Agent</a:t>
            </a:r>
          </a:p>
        </p:txBody>
      </p:sp>
      <p:sp>
        <p:nvSpPr>
          <p:cNvPr id="4" name="Date Placeholder 3">
            <a:extLst>
              <a:ext uri="{FF2B5EF4-FFF2-40B4-BE49-F238E27FC236}">
                <a16:creationId xmlns:a16="http://schemas.microsoft.com/office/drawing/2014/main" id="{4013A6A4-5F32-4EED-8324-F7D0348BEE7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7BF86448-2E81-4B6C-B6A0-794393EB38E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80DC61AE-7C5C-4A11-A3C9-02168E9A6EA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24886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5E5939-E956-4C8B-892E-77347D939DB9}"/>
              </a:ext>
            </a:extLst>
          </p:cNvPr>
          <p:cNvSpPr>
            <a:spLocks noGrp="1"/>
          </p:cNvSpPr>
          <p:nvPr>
            <p:ph idx="1"/>
          </p:nvPr>
        </p:nvSpPr>
        <p:spPr/>
        <p:txBody>
          <a:bodyPr>
            <a:normAutofit/>
          </a:bodyPr>
          <a:lstStyle/>
          <a:p>
            <a:pPr>
              <a:buFont typeface="Arial" panose="020B0604020202020204" pitchFamily="34" charset="0"/>
              <a:buChar char="•"/>
            </a:pPr>
            <a:r>
              <a:rPr lang="en-IN" dirty="0"/>
              <a:t>The presentation component of a bottom-level PAC agent presents a specific view of the corresponding semantic concept, and provides access to all the functions users can apply to it. </a:t>
            </a:r>
          </a:p>
          <a:p>
            <a:pPr>
              <a:buFont typeface="Arial" panose="020B0604020202020204" pitchFamily="34" charset="0"/>
              <a:buChar char="•"/>
            </a:pPr>
            <a:r>
              <a:rPr lang="en-IN" dirty="0"/>
              <a:t>Internally, the presentation component also maintains information about the view, such as its position on the screen. </a:t>
            </a:r>
          </a:p>
        </p:txBody>
      </p:sp>
      <p:sp>
        <p:nvSpPr>
          <p:cNvPr id="3" name="Content Placeholder 2">
            <a:extLst>
              <a:ext uri="{FF2B5EF4-FFF2-40B4-BE49-F238E27FC236}">
                <a16:creationId xmlns:a16="http://schemas.microsoft.com/office/drawing/2014/main" id="{CA417A09-5A30-4090-BEA1-1C5455255F4E}"/>
              </a:ext>
            </a:extLst>
          </p:cNvPr>
          <p:cNvSpPr>
            <a:spLocks noGrp="1"/>
          </p:cNvSpPr>
          <p:nvPr>
            <p:ph sz="quarter" idx="10"/>
          </p:nvPr>
        </p:nvSpPr>
        <p:spPr/>
        <p:txBody>
          <a:bodyPr/>
          <a:lstStyle/>
          <a:p>
            <a:r>
              <a:rPr lang="en-IN" dirty="0"/>
              <a:t>Bottom Level Agent</a:t>
            </a:r>
          </a:p>
          <a:p>
            <a:r>
              <a:rPr lang="en-IN" dirty="0"/>
              <a:t>(presentation)</a:t>
            </a:r>
          </a:p>
        </p:txBody>
      </p:sp>
      <p:sp>
        <p:nvSpPr>
          <p:cNvPr id="4" name="Date Placeholder 3">
            <a:extLst>
              <a:ext uri="{FF2B5EF4-FFF2-40B4-BE49-F238E27FC236}">
                <a16:creationId xmlns:a16="http://schemas.microsoft.com/office/drawing/2014/main" id="{E9D64CAD-E3E6-4427-8415-0880B7C714A2}"/>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E41F8FBE-EDA5-4E19-87CF-36ED6168DA2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7474DA52-2C80-4583-9467-B7DED30B1FD7}"/>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3744126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15EDD9-A1AA-4F9F-9FBE-CA0BB6CC44E5}"/>
              </a:ext>
            </a:extLst>
          </p:cNvPr>
          <p:cNvSpPr>
            <a:spLocks noGrp="1"/>
          </p:cNvSpPr>
          <p:nvPr>
            <p:ph idx="1"/>
          </p:nvPr>
        </p:nvSpPr>
        <p:spPr/>
        <p:txBody>
          <a:bodyPr>
            <a:normAutofit/>
          </a:bodyPr>
          <a:lstStyle/>
          <a:p>
            <a:pPr>
              <a:buFont typeface="Arial" panose="020B0604020202020204" pitchFamily="34" charset="0"/>
              <a:buChar char="•"/>
            </a:pPr>
            <a:r>
              <a:rPr lang="en-IN" dirty="0"/>
              <a:t>The abstraction component of a bottom-level PAC agent has a similar responsibility as the abstraction component of the top-level PAC agent, maintaining agent-specific data. </a:t>
            </a:r>
          </a:p>
          <a:p>
            <a:pPr>
              <a:buFont typeface="Arial" panose="020B0604020202020204" pitchFamily="34" charset="0"/>
              <a:buChar char="•"/>
            </a:pPr>
            <a:r>
              <a:rPr lang="en-IN" dirty="0"/>
              <a:t>In contrast to the abstraction component of the top-level agent, however, no other PAC agents depend on this data. </a:t>
            </a:r>
          </a:p>
        </p:txBody>
      </p:sp>
      <p:sp>
        <p:nvSpPr>
          <p:cNvPr id="3" name="Content Placeholder 2">
            <a:extLst>
              <a:ext uri="{FF2B5EF4-FFF2-40B4-BE49-F238E27FC236}">
                <a16:creationId xmlns:a16="http://schemas.microsoft.com/office/drawing/2014/main" id="{C8562F08-D742-46CF-9FC2-E1159836FEDC}"/>
              </a:ext>
            </a:extLst>
          </p:cNvPr>
          <p:cNvSpPr>
            <a:spLocks noGrp="1"/>
          </p:cNvSpPr>
          <p:nvPr>
            <p:ph sz="quarter" idx="10"/>
          </p:nvPr>
        </p:nvSpPr>
        <p:spPr/>
        <p:txBody>
          <a:bodyPr/>
          <a:lstStyle/>
          <a:p>
            <a:r>
              <a:rPr lang="en-IN" dirty="0"/>
              <a:t>Bottom Level Agent</a:t>
            </a:r>
          </a:p>
          <a:p>
            <a:r>
              <a:rPr lang="en-IN" dirty="0"/>
              <a:t>(abstraction)</a:t>
            </a:r>
          </a:p>
        </p:txBody>
      </p:sp>
      <p:sp>
        <p:nvSpPr>
          <p:cNvPr id="4" name="Date Placeholder 3">
            <a:extLst>
              <a:ext uri="{FF2B5EF4-FFF2-40B4-BE49-F238E27FC236}">
                <a16:creationId xmlns:a16="http://schemas.microsoft.com/office/drawing/2014/main" id="{297D27AE-8D21-4562-8E43-81778BDF8F2F}"/>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B9208F55-2473-49C1-AD7B-2A1BE94427B0}"/>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5106B6DD-2EA8-4F45-9DDF-064CBFBC514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1694121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FA9E6A-F9D1-4719-966C-403B5032A8D2}"/>
              </a:ext>
            </a:extLst>
          </p:cNvPr>
          <p:cNvSpPr>
            <a:spLocks noGrp="1"/>
          </p:cNvSpPr>
          <p:nvPr>
            <p:ph idx="1"/>
          </p:nvPr>
        </p:nvSpPr>
        <p:spPr>
          <a:xfrm>
            <a:off x="304800" y="1493837"/>
            <a:ext cx="8229600" cy="4862513"/>
          </a:xfrm>
        </p:spPr>
        <p:txBody>
          <a:bodyPr>
            <a:normAutofit fontScale="92500" lnSpcReduction="20000"/>
          </a:bodyPr>
          <a:lstStyle/>
          <a:p>
            <a:pPr>
              <a:buFont typeface="Arial" panose="020B0604020202020204" pitchFamily="34" charset="0"/>
              <a:buChar char="•"/>
            </a:pPr>
            <a:r>
              <a:rPr lang="en-IN" dirty="0"/>
              <a:t>The control component of a bottom-level PAC agent maintains consistency between the abstraction and presentation components, thereby avoiding direct dependencies between them. </a:t>
            </a:r>
          </a:p>
          <a:p>
            <a:pPr>
              <a:buFont typeface="Arial" panose="020B0604020202020204" pitchFamily="34" charset="0"/>
              <a:buChar char="•"/>
            </a:pPr>
            <a:r>
              <a:rPr lang="en-IN" dirty="0"/>
              <a:t>It serves as an adapter and performs both interface and data adaptation. </a:t>
            </a:r>
          </a:p>
          <a:p>
            <a:pPr>
              <a:buFont typeface="Arial" panose="020B0604020202020204" pitchFamily="34" charset="0"/>
              <a:buChar char="•"/>
            </a:pPr>
            <a:r>
              <a:rPr lang="en-IN" dirty="0"/>
              <a:t>The control component of bottom-level PAC agents communicates with higher-level agents to exchange events and data. </a:t>
            </a:r>
          </a:p>
          <a:p>
            <a:pPr>
              <a:buFont typeface="Arial" panose="020B0604020202020204" pitchFamily="34" charset="0"/>
              <a:buChar char="•"/>
            </a:pPr>
            <a:r>
              <a:rPr lang="en-IN" dirty="0"/>
              <a:t>Incoming events-such as a 'close window' request-are forwarded to the presentation component of the bottom-level agent, while incoming data is forwarded to its abstraction component. </a:t>
            </a:r>
          </a:p>
          <a:p>
            <a:pPr>
              <a:buFont typeface="Arial" panose="020B0604020202020204" pitchFamily="34" charset="0"/>
              <a:buChar char="•"/>
            </a:pPr>
            <a:r>
              <a:rPr lang="en-IN" dirty="0"/>
              <a:t>Outgoing events and data, for example error messages, are sent to the associated higher-level agent. </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E6D36D9E-89DD-4075-90ED-8D6DB0EF34C2}"/>
              </a:ext>
            </a:extLst>
          </p:cNvPr>
          <p:cNvSpPr>
            <a:spLocks noGrp="1"/>
          </p:cNvSpPr>
          <p:nvPr>
            <p:ph sz="quarter" idx="10"/>
          </p:nvPr>
        </p:nvSpPr>
        <p:spPr/>
        <p:txBody>
          <a:bodyPr/>
          <a:lstStyle/>
          <a:p>
            <a:r>
              <a:rPr lang="en-IN" dirty="0"/>
              <a:t>Bottom Level Agent</a:t>
            </a:r>
          </a:p>
          <a:p>
            <a:r>
              <a:rPr lang="en-IN" dirty="0"/>
              <a:t>(control)</a:t>
            </a:r>
          </a:p>
        </p:txBody>
      </p:sp>
      <p:sp>
        <p:nvSpPr>
          <p:cNvPr id="4" name="Date Placeholder 3">
            <a:extLst>
              <a:ext uri="{FF2B5EF4-FFF2-40B4-BE49-F238E27FC236}">
                <a16:creationId xmlns:a16="http://schemas.microsoft.com/office/drawing/2014/main" id="{775D3C68-23CD-4F22-B25E-8FD4D8C481D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C6B0396F-30BE-4C0F-8D71-29DE82C4E6AB}"/>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3AF9922C-C171-4340-A730-B1FB72E7185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0251536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B25710-5036-4ACB-A1A1-E6F86D4D97DE}"/>
              </a:ext>
            </a:extLst>
          </p:cNvPr>
          <p:cNvSpPr>
            <a:spLocks noGrp="1"/>
          </p:cNvSpPr>
          <p:nvPr>
            <p:ph idx="1"/>
          </p:nvPr>
        </p:nvSpPr>
        <p:spPr>
          <a:xfrm>
            <a:off x="304800" y="1493837"/>
            <a:ext cx="8229600" cy="4972839"/>
          </a:xfrm>
        </p:spPr>
        <p:txBody>
          <a:bodyPr>
            <a:normAutofit lnSpcReduction="10000"/>
          </a:bodyPr>
          <a:lstStyle/>
          <a:p>
            <a:pPr>
              <a:buFont typeface="Arial" panose="020B0604020202020204" pitchFamily="34" charset="0"/>
              <a:buChar char="•"/>
            </a:pPr>
            <a:r>
              <a:rPr lang="en-IN" dirty="0"/>
              <a:t>Concepts represented by bottom-level PAC agents, such as the bar and pie charts in the example, are atomic in the sense that they are the smallest units a user can manipulate. The users can only operate on the bar chart as a whole, for instance by changing the scaling factor of the y-axis. They cannot, for example, resize an individual bar of a bar chart. </a:t>
            </a:r>
          </a:p>
          <a:p>
            <a:pPr>
              <a:buFont typeface="Arial" panose="020B0604020202020204" pitchFamily="34" charset="0"/>
              <a:buChar char="•"/>
            </a:pPr>
            <a:r>
              <a:rPr lang="en-IN" dirty="0"/>
              <a:t>Bottom-level PAC agents are not restricted to providing semantic concepts of the application domain. You can also specify bottom-level agents that implement system services. </a:t>
            </a:r>
          </a:p>
          <a:p>
            <a:pPr>
              <a:buFont typeface="Arial" panose="020B0604020202020204" pitchFamily="34" charset="0"/>
              <a:buChar char="•"/>
            </a:pPr>
            <a:r>
              <a:rPr lang="en-IN" dirty="0"/>
              <a:t>For example, there may be a communication agent that allows the system to cooperate with other applications and to monitor this cooperation</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B7976029-0742-405A-A35D-5B92A20F3ABB}"/>
              </a:ext>
            </a:extLst>
          </p:cNvPr>
          <p:cNvSpPr>
            <a:spLocks noGrp="1"/>
          </p:cNvSpPr>
          <p:nvPr>
            <p:ph sz="quarter" idx="10"/>
          </p:nvPr>
        </p:nvSpPr>
        <p:spPr/>
        <p:txBody>
          <a:bodyPr/>
          <a:lstStyle/>
          <a:p>
            <a:r>
              <a:rPr lang="en-IN" dirty="0"/>
              <a:t>Bottom Level Agent</a:t>
            </a:r>
          </a:p>
        </p:txBody>
      </p:sp>
      <p:sp>
        <p:nvSpPr>
          <p:cNvPr id="4" name="Date Placeholder 3">
            <a:extLst>
              <a:ext uri="{FF2B5EF4-FFF2-40B4-BE49-F238E27FC236}">
                <a16:creationId xmlns:a16="http://schemas.microsoft.com/office/drawing/2014/main" id="{8E1C12FF-7EB0-4FD9-872E-EB8D6A84AF70}"/>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C2CAECD3-E2A7-4A1E-B76A-2D262B9E7597}"/>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F5F6593-D79B-4C47-881A-6CF978CD9F9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26131786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007327-4159-49C1-8308-13EF9756C4DE}"/>
              </a:ext>
            </a:extLst>
          </p:cNvPr>
          <p:cNvSpPr>
            <a:spLocks noGrp="1"/>
          </p:cNvSpPr>
          <p:nvPr>
            <p:ph idx="1"/>
          </p:nvPr>
        </p:nvSpPr>
        <p:spPr/>
        <p:txBody>
          <a:bodyPr>
            <a:normAutofit/>
          </a:bodyPr>
          <a:lstStyle/>
          <a:p>
            <a:pPr>
              <a:buFont typeface="Arial" panose="020B0604020202020204" pitchFamily="34" charset="0"/>
              <a:buChar char="•"/>
            </a:pPr>
            <a:r>
              <a:rPr lang="en-IN" dirty="0"/>
              <a:t>Intermediate-Level PAC agents can fulfil two different roles:</a:t>
            </a:r>
          </a:p>
          <a:p>
            <a:pPr>
              <a:buFont typeface="Arial" panose="020B0604020202020204" pitchFamily="34" charset="0"/>
              <a:buChar char="•"/>
            </a:pPr>
            <a:r>
              <a:rPr lang="en-IN" dirty="0"/>
              <a:t>composition and coordination </a:t>
            </a:r>
          </a:p>
          <a:p>
            <a:pPr>
              <a:buFont typeface="Arial" panose="020B0604020202020204" pitchFamily="34" charset="0"/>
              <a:buChar char="•"/>
            </a:pPr>
            <a:r>
              <a:rPr lang="en-IN" dirty="0"/>
              <a:t>When, for example, each object in a complex graphic is represented by a separate PAC agent, an intermediate-level agent groups these objects to form a composite graphical object. </a:t>
            </a:r>
          </a:p>
          <a:p>
            <a:pPr>
              <a:buFont typeface="Arial" panose="020B0604020202020204" pitchFamily="34" charset="0"/>
              <a:buChar char="•"/>
            </a:pPr>
            <a:r>
              <a:rPr lang="en-IN" dirty="0"/>
              <a:t>The intermediate-level agent defines a new abstraction, whose behaviour encompasses both the behaviour of its components and the new characteristics that are added to the composite object. </a:t>
            </a:r>
          </a:p>
        </p:txBody>
      </p:sp>
      <p:sp>
        <p:nvSpPr>
          <p:cNvPr id="3" name="Content Placeholder 2">
            <a:extLst>
              <a:ext uri="{FF2B5EF4-FFF2-40B4-BE49-F238E27FC236}">
                <a16:creationId xmlns:a16="http://schemas.microsoft.com/office/drawing/2014/main" id="{CA056A91-7D2B-41B7-A090-C0705589E685}"/>
              </a:ext>
            </a:extLst>
          </p:cNvPr>
          <p:cNvSpPr>
            <a:spLocks noGrp="1"/>
          </p:cNvSpPr>
          <p:nvPr>
            <p:ph sz="quarter" idx="10"/>
          </p:nvPr>
        </p:nvSpPr>
        <p:spPr/>
        <p:txBody>
          <a:bodyPr>
            <a:normAutofit/>
          </a:bodyPr>
          <a:lstStyle/>
          <a:p>
            <a:r>
              <a:rPr lang="en-IN" sz="3200" dirty="0"/>
              <a:t>Intermediate-Level PAC agents</a:t>
            </a:r>
          </a:p>
          <a:p>
            <a:r>
              <a:rPr lang="en-IN" sz="3200" dirty="0"/>
              <a:t>(composition)</a:t>
            </a:r>
          </a:p>
        </p:txBody>
      </p:sp>
      <p:sp>
        <p:nvSpPr>
          <p:cNvPr id="4" name="Date Placeholder 3">
            <a:extLst>
              <a:ext uri="{FF2B5EF4-FFF2-40B4-BE49-F238E27FC236}">
                <a16:creationId xmlns:a16="http://schemas.microsoft.com/office/drawing/2014/main" id="{103EB3EB-6C1E-4E3E-A4E3-6E8D5867CCE4}"/>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1B5AC82C-8F1A-4536-87BE-A469B06330F2}"/>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D7955913-32BD-4853-B189-1801931A2502}"/>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993863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B67FC9-7D23-41C0-AC60-D0FA921A96CA}"/>
              </a:ext>
            </a:extLst>
          </p:cNvPr>
          <p:cNvSpPr>
            <a:spLocks noGrp="1"/>
          </p:cNvSpPr>
          <p:nvPr>
            <p:ph idx="1"/>
          </p:nvPr>
        </p:nvSpPr>
        <p:spPr/>
        <p:txBody>
          <a:bodyPr/>
          <a:lstStyle/>
          <a:p>
            <a:pPr>
              <a:buFont typeface="Arial" panose="020B0604020202020204" pitchFamily="34" charset="0"/>
              <a:buChar char="•"/>
            </a:pPr>
            <a:r>
              <a:rPr lang="en-IN" dirty="0"/>
              <a:t>The second role of an intermediate-level agent is to maintain consistency between lower- level agents, for example when coordinating multiple views of the same data. </a:t>
            </a:r>
          </a:p>
          <a:p>
            <a:pPr>
              <a:buFont typeface="Arial" panose="020B0604020202020204" pitchFamily="34" charset="0"/>
              <a:buChar char="•"/>
            </a:pPr>
            <a:r>
              <a:rPr lang="en-IN" dirty="0"/>
              <a:t>The abstraction component maintains the specific data of the intermediate-level PAC agent. The presentation component implements its user interface. The control component has the same responsibilities of the control components of bottom-level PAC agents and of the top- level PAC agent. </a:t>
            </a:r>
          </a:p>
          <a:p>
            <a:endParaRPr lang="en-IN" dirty="0"/>
          </a:p>
        </p:txBody>
      </p:sp>
      <p:sp>
        <p:nvSpPr>
          <p:cNvPr id="3" name="Content Placeholder 2">
            <a:extLst>
              <a:ext uri="{FF2B5EF4-FFF2-40B4-BE49-F238E27FC236}">
                <a16:creationId xmlns:a16="http://schemas.microsoft.com/office/drawing/2014/main" id="{D9072DD6-5CED-433C-A831-7DABADFBAE0F}"/>
              </a:ext>
            </a:extLst>
          </p:cNvPr>
          <p:cNvSpPr>
            <a:spLocks noGrp="1"/>
          </p:cNvSpPr>
          <p:nvPr>
            <p:ph sz="quarter" idx="10"/>
          </p:nvPr>
        </p:nvSpPr>
        <p:spPr/>
        <p:txBody>
          <a:bodyPr>
            <a:normAutofit fontScale="92500"/>
          </a:bodyPr>
          <a:lstStyle/>
          <a:p>
            <a:r>
              <a:rPr lang="en-IN" dirty="0"/>
              <a:t>Intermediate-Level PAC agents</a:t>
            </a:r>
          </a:p>
          <a:p>
            <a:r>
              <a:rPr lang="en-IN" dirty="0"/>
              <a:t>(coordination)</a:t>
            </a:r>
          </a:p>
        </p:txBody>
      </p:sp>
      <p:sp>
        <p:nvSpPr>
          <p:cNvPr id="4" name="Date Placeholder 3">
            <a:extLst>
              <a:ext uri="{FF2B5EF4-FFF2-40B4-BE49-F238E27FC236}">
                <a16:creationId xmlns:a16="http://schemas.microsoft.com/office/drawing/2014/main" id="{4B67E802-FC86-469A-B0E4-A8179D5E9E4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696F5622-27FC-4041-8EC2-89FAFE024F6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6EFF62F-3654-45CF-9EA5-C65FD0F60CC4}"/>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9687060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4026D1B-61A0-412C-8B0D-96B1E2D8F829}"/>
              </a:ext>
            </a:extLst>
          </p:cNvPr>
          <p:cNvPicPr>
            <a:picLocks noGrp="1" noChangeAspect="1"/>
          </p:cNvPicPr>
          <p:nvPr>
            <p:ph idx="1"/>
          </p:nvPr>
        </p:nvPicPr>
        <p:blipFill>
          <a:blip r:embed="rId2"/>
          <a:stretch>
            <a:fillRect/>
          </a:stretch>
        </p:blipFill>
        <p:spPr>
          <a:xfrm>
            <a:off x="378562" y="1493838"/>
            <a:ext cx="8082075" cy="4525962"/>
          </a:xfrm>
          <a:prstGeom prst="rect">
            <a:avLst/>
          </a:prstGeom>
        </p:spPr>
      </p:pic>
      <p:sp>
        <p:nvSpPr>
          <p:cNvPr id="3" name="Content Placeholder 2">
            <a:extLst>
              <a:ext uri="{FF2B5EF4-FFF2-40B4-BE49-F238E27FC236}">
                <a16:creationId xmlns:a16="http://schemas.microsoft.com/office/drawing/2014/main" id="{D9674AA3-AD80-4E88-8637-1FA8D1C466CE}"/>
              </a:ext>
            </a:extLst>
          </p:cNvPr>
          <p:cNvSpPr>
            <a:spLocks noGrp="1"/>
          </p:cNvSpPr>
          <p:nvPr>
            <p:ph sz="quarter" idx="10"/>
          </p:nvPr>
        </p:nvSpPr>
        <p:spPr/>
        <p:txBody>
          <a:bodyPr/>
          <a:lstStyle/>
          <a:p>
            <a:r>
              <a:rPr lang="en-IN" dirty="0"/>
              <a:t>CRC Diagrams</a:t>
            </a:r>
          </a:p>
        </p:txBody>
      </p:sp>
      <p:sp>
        <p:nvSpPr>
          <p:cNvPr id="4" name="Date Placeholder 3">
            <a:extLst>
              <a:ext uri="{FF2B5EF4-FFF2-40B4-BE49-F238E27FC236}">
                <a16:creationId xmlns:a16="http://schemas.microsoft.com/office/drawing/2014/main" id="{69D276CE-9EB6-4869-9952-C5F8442A9D5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C3E84052-EE3C-4F40-85D8-317E3C194CFF}"/>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2C9C378-B82F-4CAA-B503-E1AF5A47CD3D}"/>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1489244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BB52C26-157A-4136-91AF-555EC5E5FAF1}"/>
              </a:ext>
            </a:extLst>
          </p:cNvPr>
          <p:cNvPicPr>
            <a:picLocks noGrp="1" noChangeAspect="1"/>
          </p:cNvPicPr>
          <p:nvPr>
            <p:ph idx="1"/>
          </p:nvPr>
        </p:nvPicPr>
        <p:blipFill>
          <a:blip r:embed="rId2"/>
          <a:stretch>
            <a:fillRect/>
          </a:stretch>
        </p:blipFill>
        <p:spPr>
          <a:xfrm>
            <a:off x="1595109" y="1493838"/>
            <a:ext cx="5648981" cy="4525962"/>
          </a:xfrm>
          <a:prstGeom prst="rect">
            <a:avLst/>
          </a:prstGeom>
        </p:spPr>
      </p:pic>
      <p:sp>
        <p:nvSpPr>
          <p:cNvPr id="3" name="Content Placeholder 2">
            <a:extLst>
              <a:ext uri="{FF2B5EF4-FFF2-40B4-BE49-F238E27FC236}">
                <a16:creationId xmlns:a16="http://schemas.microsoft.com/office/drawing/2014/main" id="{7D983D78-1109-4D8A-B7C4-327F31B121B1}"/>
              </a:ext>
            </a:extLst>
          </p:cNvPr>
          <p:cNvSpPr>
            <a:spLocks noGrp="1"/>
          </p:cNvSpPr>
          <p:nvPr>
            <p:ph sz="quarter" idx="10"/>
          </p:nvPr>
        </p:nvSpPr>
        <p:spPr/>
        <p:txBody>
          <a:bodyPr/>
          <a:lstStyle/>
          <a:p>
            <a:r>
              <a:rPr lang="en-IN" dirty="0"/>
              <a:t>Typical PAC Object Model</a:t>
            </a:r>
          </a:p>
        </p:txBody>
      </p:sp>
      <p:sp>
        <p:nvSpPr>
          <p:cNvPr id="4" name="Date Placeholder 3">
            <a:extLst>
              <a:ext uri="{FF2B5EF4-FFF2-40B4-BE49-F238E27FC236}">
                <a16:creationId xmlns:a16="http://schemas.microsoft.com/office/drawing/2014/main" id="{77ED7682-B510-4C16-BAF1-4F1E3A3C36FE}"/>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BA21699B-30A4-47E9-BCD5-EE64F1DFCDC4}"/>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E18CA64-9141-4DB9-B785-79E2842BB3F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019584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F4B4DEC-8D18-458A-9385-3374E56EFE1A}"/>
              </a:ext>
            </a:extLst>
          </p:cNvPr>
          <p:cNvPicPr>
            <a:picLocks noGrp="1" noChangeAspect="1"/>
          </p:cNvPicPr>
          <p:nvPr>
            <p:ph idx="1"/>
          </p:nvPr>
        </p:nvPicPr>
        <p:blipFill>
          <a:blip r:embed="rId2"/>
          <a:stretch>
            <a:fillRect/>
          </a:stretch>
        </p:blipFill>
        <p:spPr>
          <a:xfrm>
            <a:off x="304800" y="2098238"/>
            <a:ext cx="8229600" cy="3317161"/>
          </a:xfrm>
          <a:prstGeom prst="rect">
            <a:avLst/>
          </a:prstGeom>
        </p:spPr>
      </p:pic>
      <p:sp>
        <p:nvSpPr>
          <p:cNvPr id="3" name="Content Placeholder 2">
            <a:extLst>
              <a:ext uri="{FF2B5EF4-FFF2-40B4-BE49-F238E27FC236}">
                <a16:creationId xmlns:a16="http://schemas.microsoft.com/office/drawing/2014/main" id="{FCB930A3-0557-451A-BEB7-6B3BC78A5FAF}"/>
              </a:ext>
            </a:extLst>
          </p:cNvPr>
          <p:cNvSpPr>
            <a:spLocks noGrp="1"/>
          </p:cNvSpPr>
          <p:nvPr>
            <p:ph sz="quarter" idx="10"/>
          </p:nvPr>
        </p:nvSpPr>
        <p:spPr/>
        <p:txBody>
          <a:bodyPr/>
          <a:lstStyle/>
          <a:p>
            <a:r>
              <a:rPr lang="en-IN" dirty="0"/>
              <a:t>Internal Structure of a PAC Agent</a:t>
            </a:r>
          </a:p>
        </p:txBody>
      </p:sp>
      <p:sp>
        <p:nvSpPr>
          <p:cNvPr id="4" name="Date Placeholder 3">
            <a:extLst>
              <a:ext uri="{FF2B5EF4-FFF2-40B4-BE49-F238E27FC236}">
                <a16:creationId xmlns:a16="http://schemas.microsoft.com/office/drawing/2014/main" id="{F55D4968-9032-4161-B7C0-5B9952412411}"/>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410E64BE-1510-4A61-833B-D50C16CDAF0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27AB8408-BD3B-4407-981F-6EFC915BD6E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7973751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4BB4F8-27BA-44A3-ACEE-8F904D604EEB}"/>
              </a:ext>
            </a:extLst>
          </p:cNvPr>
          <p:cNvSpPr>
            <a:spLocks noGrp="1"/>
          </p:cNvSpPr>
          <p:nvPr>
            <p:ph idx="1"/>
          </p:nvPr>
        </p:nvSpPr>
        <p:spPr>
          <a:xfrm>
            <a:off x="304800" y="1493837"/>
            <a:ext cx="8229600" cy="5227638"/>
          </a:xfrm>
        </p:spPr>
        <p:txBody>
          <a:bodyPr>
            <a:normAutofit lnSpcReduction="10000"/>
          </a:bodyPr>
          <a:lstStyle/>
          <a:p>
            <a:pPr marL="457200" indent="-457200">
              <a:buFont typeface="+mj-lt"/>
              <a:buAutoNum type="arabicPeriod"/>
            </a:pPr>
            <a:r>
              <a:rPr lang="en-IN" dirty="0"/>
              <a:t>Define a model of the application.</a:t>
            </a:r>
          </a:p>
          <a:p>
            <a:pPr marL="457200" indent="-457200">
              <a:buFont typeface="+mj-lt"/>
              <a:buAutoNum type="arabicPeriod"/>
            </a:pPr>
            <a:r>
              <a:rPr lang="en-IN" dirty="0"/>
              <a:t>Define a general strategy for organizing the PAC hierarchy</a:t>
            </a:r>
          </a:p>
          <a:p>
            <a:pPr marL="457200" indent="-457200">
              <a:buFont typeface="+mj-lt"/>
              <a:buAutoNum type="arabicPeriod"/>
            </a:pPr>
            <a:r>
              <a:rPr lang="en-IN" dirty="0"/>
              <a:t>Specify the top-level PAC agent.</a:t>
            </a:r>
          </a:p>
          <a:p>
            <a:pPr marL="457200" indent="-457200">
              <a:buFont typeface="+mj-lt"/>
              <a:buAutoNum type="arabicPeriod"/>
            </a:pPr>
            <a:r>
              <a:rPr lang="en-IN" dirty="0"/>
              <a:t>Specify the bottom-level PAC agents</a:t>
            </a:r>
          </a:p>
          <a:p>
            <a:pPr marL="457200" indent="-457200">
              <a:buFont typeface="+mj-lt"/>
              <a:buAutoNum type="arabicPeriod"/>
            </a:pPr>
            <a:r>
              <a:rPr lang="en-IN" dirty="0" err="1"/>
              <a:t>Specih</a:t>
            </a:r>
            <a:r>
              <a:rPr lang="en-IN" dirty="0"/>
              <a:t> bottom-level PAC agents for system services. </a:t>
            </a:r>
          </a:p>
          <a:p>
            <a:pPr marL="457200" indent="-457200">
              <a:buFont typeface="+mj-lt"/>
              <a:buAutoNum type="arabicPeriod"/>
            </a:pPr>
            <a:r>
              <a:rPr lang="en-IN" dirty="0"/>
              <a:t>Specify intermediate-level PAC agents to compose lower-level PAC agents</a:t>
            </a:r>
          </a:p>
          <a:p>
            <a:pPr marL="457200" indent="-457200">
              <a:buFont typeface="+mj-lt"/>
              <a:buAutoNum type="arabicPeriod"/>
            </a:pPr>
            <a:r>
              <a:rPr lang="en-IN" dirty="0"/>
              <a:t>Specify intermediate-level PAC agents to coordinate lower-level PAC agents.</a:t>
            </a:r>
          </a:p>
          <a:p>
            <a:pPr marL="457200" indent="-457200">
              <a:buFont typeface="+mj-lt"/>
              <a:buAutoNum type="arabicPeriod"/>
            </a:pPr>
            <a:r>
              <a:rPr lang="en-IN" dirty="0"/>
              <a:t>Separate core functionality from human-computer interaction</a:t>
            </a:r>
          </a:p>
          <a:p>
            <a:pPr marL="457200" indent="-457200">
              <a:buFont typeface="+mj-lt"/>
              <a:buAutoNum type="arabicPeriod"/>
            </a:pPr>
            <a:r>
              <a:rPr lang="en-IN" dirty="0"/>
              <a:t>Provide the external interface.</a:t>
            </a:r>
          </a:p>
        </p:txBody>
      </p:sp>
      <p:sp>
        <p:nvSpPr>
          <p:cNvPr id="3" name="Content Placeholder 2">
            <a:extLst>
              <a:ext uri="{FF2B5EF4-FFF2-40B4-BE49-F238E27FC236}">
                <a16:creationId xmlns:a16="http://schemas.microsoft.com/office/drawing/2014/main" id="{CB107CEC-7E47-45F0-85A3-D4EACC69BC8E}"/>
              </a:ext>
            </a:extLst>
          </p:cNvPr>
          <p:cNvSpPr>
            <a:spLocks noGrp="1"/>
          </p:cNvSpPr>
          <p:nvPr>
            <p:ph sz="quarter" idx="10"/>
          </p:nvPr>
        </p:nvSpPr>
        <p:spPr/>
        <p:txBody>
          <a:bodyPr/>
          <a:lstStyle/>
          <a:p>
            <a:r>
              <a:rPr lang="en-IN" dirty="0"/>
              <a:t>Implementation</a:t>
            </a:r>
          </a:p>
        </p:txBody>
      </p:sp>
      <p:sp>
        <p:nvSpPr>
          <p:cNvPr id="4" name="Date Placeholder 3">
            <a:extLst>
              <a:ext uri="{FF2B5EF4-FFF2-40B4-BE49-F238E27FC236}">
                <a16:creationId xmlns:a16="http://schemas.microsoft.com/office/drawing/2014/main" id="{64905826-D26B-4240-A15D-68E3DFD9A373}"/>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924E6455-3F88-4151-9FE0-B994DF4923C5}"/>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32D668F5-F175-4C10-8D43-D5BCE4F2B27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7163326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B5DCF0-A57F-4764-8E83-5386B49E0433}"/>
              </a:ext>
            </a:extLst>
          </p:cNvPr>
          <p:cNvSpPr>
            <a:spLocks noGrp="1"/>
          </p:cNvSpPr>
          <p:nvPr>
            <p:ph idx="1"/>
          </p:nvPr>
        </p:nvSpPr>
        <p:spPr/>
        <p:txBody>
          <a:bodyPr/>
          <a:lstStyle/>
          <a:p>
            <a:pPr>
              <a:buFont typeface="Arial" panose="020B0604020202020204" pitchFamily="34" charset="0"/>
              <a:buChar char="•"/>
            </a:pPr>
            <a:r>
              <a:rPr lang="en-IN" dirty="0"/>
              <a:t>Many large applications-especially interactive ones-are multi-user systems. Multi-tasking is thus a major concern when designing such software systems. </a:t>
            </a:r>
          </a:p>
          <a:p>
            <a:pPr>
              <a:buFont typeface="Arial" panose="020B0604020202020204" pitchFamily="34" charset="0"/>
              <a:buChar char="•"/>
            </a:pPr>
            <a:endParaRPr lang="en-IN" dirty="0"/>
          </a:p>
          <a:p>
            <a:pPr marL="0" indent="0"/>
            <a:r>
              <a:rPr lang="en-IN" dirty="0"/>
              <a:t>Variants</a:t>
            </a:r>
          </a:p>
          <a:p>
            <a:pPr>
              <a:buFont typeface="Arial" panose="020B0604020202020204" pitchFamily="34" charset="0"/>
              <a:buChar char="•"/>
            </a:pPr>
            <a:r>
              <a:rPr lang="en-IN" dirty="0"/>
              <a:t>PAC agents as active objects</a:t>
            </a:r>
          </a:p>
          <a:p>
            <a:pPr>
              <a:buFont typeface="Arial" panose="020B0604020202020204" pitchFamily="34" charset="0"/>
              <a:buChar char="•"/>
            </a:pPr>
            <a:endParaRPr lang="en-IN" dirty="0"/>
          </a:p>
          <a:p>
            <a:pPr>
              <a:buFont typeface="Arial" panose="020B0604020202020204" pitchFamily="34" charset="0"/>
              <a:buChar char="•"/>
            </a:pPr>
            <a:r>
              <a:rPr lang="en-IN" dirty="0"/>
              <a:t>PAC agents as processes.</a:t>
            </a:r>
          </a:p>
        </p:txBody>
      </p:sp>
      <p:sp>
        <p:nvSpPr>
          <p:cNvPr id="3" name="Content Placeholder 2">
            <a:extLst>
              <a:ext uri="{FF2B5EF4-FFF2-40B4-BE49-F238E27FC236}">
                <a16:creationId xmlns:a16="http://schemas.microsoft.com/office/drawing/2014/main" id="{2BD9D8E7-E58C-492F-96CB-8D4BDF94A2F6}"/>
              </a:ext>
            </a:extLst>
          </p:cNvPr>
          <p:cNvSpPr>
            <a:spLocks noGrp="1"/>
          </p:cNvSpPr>
          <p:nvPr>
            <p:ph sz="quarter" idx="10"/>
          </p:nvPr>
        </p:nvSpPr>
        <p:spPr/>
        <p:txBody>
          <a:bodyPr/>
          <a:lstStyle/>
          <a:p>
            <a:r>
              <a:rPr lang="en-IN" dirty="0"/>
              <a:t>Variants</a:t>
            </a:r>
          </a:p>
        </p:txBody>
      </p:sp>
      <p:sp>
        <p:nvSpPr>
          <p:cNvPr id="4" name="Date Placeholder 3">
            <a:extLst>
              <a:ext uri="{FF2B5EF4-FFF2-40B4-BE49-F238E27FC236}">
                <a16:creationId xmlns:a16="http://schemas.microsoft.com/office/drawing/2014/main" id="{A7E15B5F-6ED4-4B14-8FE6-27687C0FBE07}"/>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8C671DC3-54FC-4381-AA37-6F01B7374FE9}"/>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CCD63C0D-C23F-49BC-87F7-9783CF5403CE}"/>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0372453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05D7E2-BE48-477A-9CF7-5737E6300174}"/>
              </a:ext>
            </a:extLst>
          </p:cNvPr>
          <p:cNvSpPr>
            <a:spLocks noGrp="1"/>
          </p:cNvSpPr>
          <p:nvPr>
            <p:ph idx="1"/>
          </p:nvPr>
        </p:nvSpPr>
        <p:spPr/>
        <p:txBody>
          <a:bodyPr/>
          <a:lstStyle/>
          <a:p>
            <a:pPr>
              <a:buFont typeface="Arial" panose="020B0604020202020204" pitchFamily="34" charset="0"/>
              <a:buChar char="•"/>
            </a:pPr>
            <a:r>
              <a:rPr lang="en-IN" dirty="0"/>
              <a:t>Network Traffic Management.</a:t>
            </a:r>
          </a:p>
          <a:p>
            <a:pPr>
              <a:buFont typeface="Arial" panose="020B0604020202020204" pitchFamily="34" charset="0"/>
              <a:buChar char="•"/>
            </a:pPr>
            <a:r>
              <a:rPr lang="en-IN" dirty="0"/>
              <a:t>Mobile Robot.</a:t>
            </a:r>
          </a:p>
        </p:txBody>
      </p:sp>
      <p:sp>
        <p:nvSpPr>
          <p:cNvPr id="3" name="Content Placeholder 2">
            <a:extLst>
              <a:ext uri="{FF2B5EF4-FFF2-40B4-BE49-F238E27FC236}">
                <a16:creationId xmlns:a16="http://schemas.microsoft.com/office/drawing/2014/main" id="{01E37490-2668-4C36-B588-BDBD9ADE7244}"/>
              </a:ext>
            </a:extLst>
          </p:cNvPr>
          <p:cNvSpPr>
            <a:spLocks noGrp="1"/>
          </p:cNvSpPr>
          <p:nvPr>
            <p:ph sz="quarter" idx="10"/>
          </p:nvPr>
        </p:nvSpPr>
        <p:spPr/>
        <p:txBody>
          <a:bodyPr/>
          <a:lstStyle/>
          <a:p>
            <a:r>
              <a:rPr lang="en-IN" dirty="0"/>
              <a:t>Known Usages</a:t>
            </a:r>
          </a:p>
        </p:txBody>
      </p:sp>
      <p:sp>
        <p:nvSpPr>
          <p:cNvPr id="4" name="Date Placeholder 3">
            <a:extLst>
              <a:ext uri="{FF2B5EF4-FFF2-40B4-BE49-F238E27FC236}">
                <a16:creationId xmlns:a16="http://schemas.microsoft.com/office/drawing/2014/main" id="{6C638E38-DE22-4E27-8E72-F32FEA5ADD6B}"/>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B7E38B31-7996-46E2-BBD8-C4E6BC855CA8}"/>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C546B9C2-FA7F-4363-A8FE-17CB3B01BE4F}"/>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3210368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1A2AC2-28FB-40F8-9872-9BED057118AC}"/>
              </a:ext>
            </a:extLst>
          </p:cNvPr>
          <p:cNvSpPr>
            <a:spLocks noGrp="1"/>
          </p:cNvSpPr>
          <p:nvPr>
            <p:ph idx="1"/>
          </p:nvPr>
        </p:nvSpPr>
        <p:spPr/>
        <p:txBody>
          <a:bodyPr/>
          <a:lstStyle/>
          <a:p>
            <a:pPr>
              <a:buFont typeface="Arial" panose="020B0604020202020204" pitchFamily="34" charset="0"/>
              <a:buChar char="•"/>
            </a:pPr>
            <a:r>
              <a:rPr lang="en-IN" dirty="0"/>
              <a:t>Separation of concerns</a:t>
            </a:r>
          </a:p>
          <a:p>
            <a:pPr>
              <a:buFont typeface="Arial" panose="020B0604020202020204" pitchFamily="34" charset="0"/>
              <a:buChar char="•"/>
            </a:pPr>
            <a:r>
              <a:rPr lang="en-IN" dirty="0"/>
              <a:t>Support for change and extension</a:t>
            </a:r>
          </a:p>
          <a:p>
            <a:pPr>
              <a:buFont typeface="Arial" panose="020B0604020202020204" pitchFamily="34" charset="0"/>
              <a:buChar char="•"/>
            </a:pPr>
            <a:r>
              <a:rPr lang="en-IN" dirty="0"/>
              <a:t>Support for multi-tasking</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91B8308F-A601-498A-A68B-17EFE4E139AA}"/>
              </a:ext>
            </a:extLst>
          </p:cNvPr>
          <p:cNvSpPr>
            <a:spLocks noGrp="1"/>
          </p:cNvSpPr>
          <p:nvPr>
            <p:ph sz="quarter" idx="10"/>
          </p:nvPr>
        </p:nvSpPr>
        <p:spPr/>
        <p:txBody>
          <a:bodyPr>
            <a:normAutofit/>
          </a:bodyPr>
          <a:lstStyle/>
          <a:p>
            <a:r>
              <a:rPr lang="en-IN" dirty="0"/>
              <a:t>Consequences: benefits</a:t>
            </a:r>
          </a:p>
        </p:txBody>
      </p:sp>
      <p:sp>
        <p:nvSpPr>
          <p:cNvPr id="4" name="Date Placeholder 3">
            <a:extLst>
              <a:ext uri="{FF2B5EF4-FFF2-40B4-BE49-F238E27FC236}">
                <a16:creationId xmlns:a16="http://schemas.microsoft.com/office/drawing/2014/main" id="{CACEF201-6CA9-4B5B-9AB8-27C283514A3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A9539D00-C298-49BC-8EAF-FB866317192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F554E1B-ADCF-48A4-85CD-6646AA47B2F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15645040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1A2AC2-28FB-40F8-9872-9BED057118AC}"/>
              </a:ext>
            </a:extLst>
          </p:cNvPr>
          <p:cNvSpPr>
            <a:spLocks noGrp="1"/>
          </p:cNvSpPr>
          <p:nvPr>
            <p:ph idx="1"/>
          </p:nvPr>
        </p:nvSpPr>
        <p:spPr/>
        <p:txBody>
          <a:bodyPr/>
          <a:lstStyle/>
          <a:p>
            <a:pPr>
              <a:buFont typeface="Arial" panose="020B0604020202020204" pitchFamily="34" charset="0"/>
              <a:buChar char="•"/>
            </a:pPr>
            <a:r>
              <a:rPr lang="en-IN" dirty="0"/>
              <a:t>Increased system complexity. </a:t>
            </a:r>
          </a:p>
          <a:p>
            <a:pPr>
              <a:buFont typeface="Arial" panose="020B0604020202020204" pitchFamily="34" charset="0"/>
              <a:buChar char="•"/>
            </a:pPr>
            <a:r>
              <a:rPr lang="en-IN" dirty="0"/>
              <a:t>Complex control component</a:t>
            </a:r>
          </a:p>
          <a:p>
            <a:pPr>
              <a:buFont typeface="Arial" panose="020B0604020202020204" pitchFamily="34" charset="0"/>
              <a:buChar char="•"/>
            </a:pPr>
            <a:r>
              <a:rPr lang="en-IN" dirty="0"/>
              <a:t>Applicability.</a:t>
            </a:r>
          </a:p>
        </p:txBody>
      </p:sp>
      <p:sp>
        <p:nvSpPr>
          <p:cNvPr id="3" name="Content Placeholder 2">
            <a:extLst>
              <a:ext uri="{FF2B5EF4-FFF2-40B4-BE49-F238E27FC236}">
                <a16:creationId xmlns:a16="http://schemas.microsoft.com/office/drawing/2014/main" id="{91B8308F-A601-498A-A68B-17EFE4E139AA}"/>
              </a:ext>
            </a:extLst>
          </p:cNvPr>
          <p:cNvSpPr>
            <a:spLocks noGrp="1"/>
          </p:cNvSpPr>
          <p:nvPr>
            <p:ph sz="quarter" idx="10"/>
          </p:nvPr>
        </p:nvSpPr>
        <p:spPr/>
        <p:txBody>
          <a:bodyPr>
            <a:normAutofit/>
          </a:bodyPr>
          <a:lstStyle/>
          <a:p>
            <a:r>
              <a:rPr lang="en-IN" dirty="0"/>
              <a:t>Consequences: Liabilities</a:t>
            </a:r>
          </a:p>
        </p:txBody>
      </p:sp>
      <p:sp>
        <p:nvSpPr>
          <p:cNvPr id="4" name="Date Placeholder 3">
            <a:extLst>
              <a:ext uri="{FF2B5EF4-FFF2-40B4-BE49-F238E27FC236}">
                <a16:creationId xmlns:a16="http://schemas.microsoft.com/office/drawing/2014/main" id="{CACEF201-6CA9-4B5B-9AB8-27C283514A35}"/>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A9539D00-C298-49BC-8EAF-FB866317192C}"/>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6F554E1B-ADCF-48A4-85CD-6646AA47B2FB}"/>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4868909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893AD3-49DE-4E08-A67E-167C5966C2CA}"/>
              </a:ext>
            </a:extLst>
          </p:cNvPr>
          <p:cNvSpPr>
            <a:spLocks noGrp="1"/>
          </p:cNvSpPr>
          <p:nvPr>
            <p:ph idx="1"/>
          </p:nvPr>
        </p:nvSpPr>
        <p:spPr/>
        <p:txBody>
          <a:bodyPr/>
          <a:lstStyle/>
          <a:p>
            <a:r>
              <a:rPr lang="en-IN"/>
              <a:t>The END</a:t>
            </a:r>
          </a:p>
        </p:txBody>
      </p:sp>
      <p:sp>
        <p:nvSpPr>
          <p:cNvPr id="3" name="Content Placeholder 2">
            <a:extLst>
              <a:ext uri="{FF2B5EF4-FFF2-40B4-BE49-F238E27FC236}">
                <a16:creationId xmlns:a16="http://schemas.microsoft.com/office/drawing/2014/main" id="{04990F08-284A-48E5-9A0B-7C2AEE58D165}"/>
              </a:ext>
            </a:extLst>
          </p:cNvPr>
          <p:cNvSpPr>
            <a:spLocks noGrp="1"/>
          </p:cNvSpPr>
          <p:nvPr>
            <p:ph sz="quarter" idx="10"/>
          </p:nvPr>
        </p:nvSpPr>
        <p:spPr/>
        <p:txBody>
          <a:bodyPr/>
          <a:lstStyle/>
          <a:p>
            <a:r>
              <a:rPr lang="en-IN" dirty="0"/>
              <a:t>Thank you</a:t>
            </a:r>
          </a:p>
        </p:txBody>
      </p:sp>
      <p:sp>
        <p:nvSpPr>
          <p:cNvPr id="4" name="Date Placeholder 3">
            <a:extLst>
              <a:ext uri="{FF2B5EF4-FFF2-40B4-BE49-F238E27FC236}">
                <a16:creationId xmlns:a16="http://schemas.microsoft.com/office/drawing/2014/main" id="{D54300C3-8853-4B93-A342-5A0C2451D6A6}"/>
              </a:ext>
            </a:extLst>
          </p:cNvPr>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October 3, 2026</a:t>
            </a:r>
          </a:p>
        </p:txBody>
      </p:sp>
      <p:sp>
        <p:nvSpPr>
          <p:cNvPr id="5" name="Footer Placeholder 4">
            <a:extLst>
              <a:ext uri="{FF2B5EF4-FFF2-40B4-BE49-F238E27FC236}">
                <a16:creationId xmlns:a16="http://schemas.microsoft.com/office/drawing/2014/main" id="{49F02D1A-9753-4736-98D9-42BD4BF68BA1}"/>
              </a:ext>
            </a:extLst>
          </p:cNvPr>
          <p:cNvSpPr>
            <a:spLocks noGrp="1"/>
          </p:cNvSpPr>
          <p:nvPr>
            <p:ph type="ftr" sz="quarter" idx="1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SE ZG651/ SS ZG653 Software Architectures</a:t>
            </a:r>
          </a:p>
        </p:txBody>
      </p:sp>
      <p:sp>
        <p:nvSpPr>
          <p:cNvPr id="6" name="Slide Number Placeholder 5">
            <a:extLst>
              <a:ext uri="{FF2B5EF4-FFF2-40B4-BE49-F238E27FC236}">
                <a16:creationId xmlns:a16="http://schemas.microsoft.com/office/drawing/2014/main" id="{CD8D690B-5259-444E-9CBD-88548F8093A9}"/>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39985724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9A8AB0-EF70-4F3A-BF90-6EE7F7995AD8}"/>
</file>

<file path=customXml/itemProps2.xml><?xml version="1.0" encoding="utf-8"?>
<ds:datastoreItem xmlns:ds="http://schemas.openxmlformats.org/officeDocument/2006/customXml" ds:itemID="{EA677946-3576-414C-BE4F-B4CEB7CF01CE}"/>
</file>

<file path=customXml/itemProps3.xml><?xml version="1.0" encoding="utf-8"?>
<ds:datastoreItem xmlns:ds="http://schemas.openxmlformats.org/officeDocument/2006/customXml" ds:itemID="{B1068E7B-5EB5-4E9F-AB73-CD67AC652E60}"/>
</file>

<file path=docProps/app.xml><?xml version="1.0" encoding="utf-8"?>
<Properties xmlns="http://schemas.openxmlformats.org/officeDocument/2006/extended-properties" xmlns:vt="http://schemas.openxmlformats.org/officeDocument/2006/docPropsVTypes">
  <TotalTime>93</TotalTime>
  <Words>13469</Words>
  <Application>Microsoft Office PowerPoint</Application>
  <PresentationFormat>On-screen Show (4:3)</PresentationFormat>
  <Paragraphs>1453</Paragraphs>
  <Slides>168</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168</vt:i4>
      </vt:variant>
    </vt:vector>
  </HeadingPairs>
  <TitlesOfParts>
    <vt:vector size="174" baseType="lpstr">
      <vt:lpstr>Arial</vt:lpstr>
      <vt:lpstr>Calibri</vt:lpstr>
      <vt:lpstr>Wingdings</vt:lpstr>
      <vt:lpstr>1_Office Theme</vt:lpstr>
      <vt:lpstr>2_Office Theme</vt:lpstr>
      <vt:lpstr>3_Office Theme</vt:lpstr>
      <vt:lpstr>Module 6: CS 09 Patterns – Part 1 Layers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6: CS 09 Patterns – Part 2 Mud to Structures: Layer/Pipes and Filters/BlackBoard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6 CS09 Patterns – Part 3 Distributed Systems Brokers/Bridge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6 CS 09 Patterns – Part 4 Interactive Systems – MVC/PAC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Harvinder Jabbal</cp:lastModifiedBy>
  <cp:revision>16</cp:revision>
  <dcterms:modified xsi:type="dcterms:W3CDTF">2026-10-02T13:23:12Z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