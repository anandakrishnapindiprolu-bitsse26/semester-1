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311" r:id="rId2"/>
    <p:sldId id="312" r:id="rId3"/>
    <p:sldId id="374" r:id="rId4"/>
    <p:sldId id="375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28" r:id="rId19"/>
    <p:sldId id="26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go9uSRA0WETdhqdHWNBKCI42gc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0E78D-CFBE-46A0-B656-1FB9B1C8EDF3}">
  <a:tblStyle styleId="{51A0E78D-CFBE-46A0-B656-1FB9B1C8E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72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schemas.openxmlformats.org/officeDocument/2006/relationships/presProps" Target="presProps.xml"/><Relationship Id="rId71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6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3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8"/>
          <p:cNvPicPr preferRelativeResize="0"/>
          <p:nvPr/>
        </p:nvPicPr>
        <p:blipFill rotWithShape="1">
          <a:blip r:embed="rId2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8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77" name="Google Shape;7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8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18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0" name="Google Shape;80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8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-3947"/>
            <a:ext cx="10151227" cy="1731985"/>
            <a:chOff x="2116079" y="5959736"/>
            <a:chExt cx="10151227" cy="1731985"/>
          </a:xfrm>
        </p:grpSpPr>
        <p:pic>
          <p:nvPicPr>
            <p:cNvPr id="88" name="Google Shape;88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" name="Google Shape;89;p19"/>
            <p:cNvSpPr/>
            <p:nvPr/>
          </p:nvSpPr>
          <p:spPr>
            <a:xfrm>
              <a:off x="2191385" y="6030200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9"/>
          <p:cNvGrpSpPr/>
          <p:nvPr/>
        </p:nvGrpSpPr>
        <p:grpSpPr>
          <a:xfrm>
            <a:off x="2051531" y="5137310"/>
            <a:ext cx="10140469" cy="1726066"/>
            <a:chOff x="2051531" y="5793529"/>
            <a:chExt cx="10140469" cy="1726066"/>
          </a:xfrm>
        </p:grpSpPr>
        <p:pic>
          <p:nvPicPr>
            <p:cNvPr id="91" name="Google Shape;91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116079" y="5959736"/>
              <a:ext cx="10075921" cy="15598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9"/>
            <p:cNvSpPr/>
            <p:nvPr/>
          </p:nvSpPr>
          <p:spPr>
            <a:xfrm>
              <a:off x="2051531" y="5793529"/>
              <a:ext cx="10075921" cy="1661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2260457" y="6532234"/>
            <a:ext cx="969864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994" y="6364482"/>
            <a:ext cx="1468823" cy="54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body" idx="2"/>
          </p:nvPr>
        </p:nvSpPr>
        <p:spPr>
          <a:xfrm>
            <a:off x="695325" y="1226065"/>
            <a:ext cx="10801350" cy="4938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l="13070" t="2102" r="13441" b="24408"/>
          <a:stretch/>
        </p:blipFill>
        <p:spPr>
          <a:xfrm>
            <a:off x="11131297" y="231878"/>
            <a:ext cx="828826" cy="82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95325" y="231878"/>
            <a:ext cx="10801350" cy="82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1D70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211D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399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7" name="Rectangle 6"/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8" name="Rectangle 7"/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611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4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67210A1-D9D8-4406-AA8C-189570548DAB}" type="datetime1">
              <a:rPr lang="en-US" smtClean="0"/>
              <a:t>10/2/2026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19D97FF-0E15-4DEA-9B96-99199D6F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8" r:id="rId3"/>
    <p:sldLayoutId id="2147483659" r:id="rId4"/>
    <p:sldLayoutId id="2147483660" r:id="rId5"/>
    <p:sldLayoutId id="214748366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cose.org/wp-content/uploads/legacy/working-groups/requirements-wg/guidetowritingrequirements/incose_rwg_gtwr_v4_summary_sheet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879003" y="3810000"/>
            <a:ext cx="8500198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AI-Augmented Software Development Life Cycle </a:t>
            </a:r>
            <a:br>
              <a:rPr lang="en-US" sz="4000" dirty="0"/>
            </a:br>
            <a:r>
              <a:rPr lang="en-US" sz="4000" dirty="0"/>
              <a:t>SEZG534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 err="1"/>
              <a:t>Akshaya</a:t>
            </a:r>
            <a:r>
              <a:rPr lang="en-US" altLang="en-US" dirty="0"/>
              <a:t> </a:t>
            </a:r>
            <a:r>
              <a:rPr lang="en-US" altLang="en-US" dirty="0" err="1"/>
              <a:t>Ganesan</a:t>
            </a: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CSIS, WILP</a:t>
            </a:r>
          </a:p>
        </p:txBody>
      </p:sp>
    </p:spTree>
    <p:extLst>
      <p:ext uri="{BB962C8B-B14F-4D97-AF65-F5344CB8AC3E}">
        <p14:creationId xmlns:p14="http://schemas.microsoft.com/office/powerpoint/2010/main" val="201877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sz="3600" dirty="0">
                <a:latin typeface="Arial" charset="0"/>
                <a:cs typeface="Arial" charset="0"/>
              </a:rPr>
              <a:t>Contact Session: 9 </a:t>
            </a:r>
            <a:r>
              <a:rPr lang="en-US" dirty="0">
                <a:latin typeface="Arial" charset="0"/>
                <a:cs typeface="Arial" charset="0"/>
              </a:rPr>
              <a:t>– Spec Driven Development</a:t>
            </a:r>
            <a:endParaRPr lang="en-US" dirty="0"/>
          </a:p>
          <a:p>
            <a:pPr>
              <a:spcBef>
                <a:spcPct val="0"/>
              </a:spcBef>
              <a:defRPr/>
            </a:pPr>
            <a:endParaRPr lang="en-US" sz="3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6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9E05A5-2F48-264F-2DFB-20E68DF63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F4641-8958-925C-95DC-E5D0D118D09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Requirements elicitation is the process of discovering, extracting, and uncovering stakeholder needs, system constraints, and business goals.</a:t>
            </a:r>
          </a:p>
          <a:p>
            <a:r>
              <a:rPr lang="en-IN" dirty="0"/>
              <a:t>Validating assumptions quickly with tangible software rather than trying to predict all future needs up front.</a:t>
            </a:r>
          </a:p>
          <a:p>
            <a:r>
              <a:rPr lang="en-IN" dirty="0"/>
              <a:t>Agile Methodologies:</a:t>
            </a:r>
          </a:p>
          <a:p>
            <a:r>
              <a:rPr lang="en-IN" b="1" dirty="0"/>
              <a:t>Techniques:</a:t>
            </a:r>
            <a:endParaRPr lang="en-IN" dirty="0"/>
          </a:p>
          <a:p>
            <a:pPr lvl="1"/>
            <a:r>
              <a:rPr lang="en-IN" b="1" dirty="0"/>
              <a:t>User Story Mapping:</a:t>
            </a:r>
            <a:r>
              <a:rPr lang="en-IN" dirty="0"/>
              <a:t> Visual mapping of user journeys to identify core workflows, minimum viable products (MVP), and release slices.</a:t>
            </a:r>
          </a:p>
          <a:p>
            <a:pPr lvl="1"/>
            <a:r>
              <a:rPr lang="en-IN" b="1" dirty="0"/>
              <a:t>Sprint Reviews &amp; Demos:</a:t>
            </a:r>
            <a:r>
              <a:rPr lang="en-IN" dirty="0"/>
              <a:t> Direct gathering of feedback from end-users and business stakeholders based on working software increments delivered each sprint.</a:t>
            </a:r>
          </a:p>
          <a:p>
            <a:pPr lvl="1"/>
            <a:r>
              <a:rPr lang="en-IN" b="1" dirty="0"/>
              <a:t>Spikes &amp; Prototyping:</a:t>
            </a:r>
            <a:r>
              <a:rPr lang="en-IN" dirty="0"/>
              <a:t> Short technical or design investigations used to clarify ambiguous requirements before committing implementation effort.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0262AE-C6B5-AEAE-9356-0306B58C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6200">
              <a:buClr>
                <a:schemeClr val="dk1"/>
              </a:buClr>
              <a:buSzPts val="2400"/>
            </a:pPr>
            <a:br>
              <a:rPr lang="en-IN" dirty="0"/>
            </a:br>
            <a:r>
              <a:rPr lang="en-IN" dirty="0"/>
              <a:t>Requirements Elicitation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27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67D9A7-9763-F0B6-96E6-E34237BCA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CB156-8EA4-266B-A717-0E0A2975F06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Requirements synthesis involves converting raw elicitation data into structured, understandable, and actionable artifacts for development and testing teams.</a:t>
            </a:r>
          </a:p>
          <a:p>
            <a:r>
              <a:rPr lang="en-IN" b="1" dirty="0"/>
              <a:t>Business Requirements Document (BRD) &amp; Software Requirements Specification (SRS):</a:t>
            </a:r>
            <a:r>
              <a:rPr lang="en-IN" dirty="0"/>
              <a:t> Comprehensive, highly detailed text documents (often hundreds of pages) defining the "what" and "how" of the system.</a:t>
            </a:r>
          </a:p>
          <a:p>
            <a:r>
              <a:rPr lang="en-IN" dirty="0"/>
              <a:t>Agile Methodologies:</a:t>
            </a:r>
          </a:p>
          <a:p>
            <a:pPr lvl="1"/>
            <a:r>
              <a:rPr lang="en-IN" b="1" dirty="0"/>
              <a:t>User Stories:</a:t>
            </a:r>
            <a:r>
              <a:rPr lang="en-IN" dirty="0"/>
              <a:t> Structured short-form requirements written from the end-user perspective: </a:t>
            </a:r>
            <a:r>
              <a:rPr lang="en-IN" i="1" dirty="0"/>
              <a:t>As a [role], I want [action], So that [benefit]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Acceptance Criteria:</a:t>
            </a:r>
            <a:r>
              <a:rPr lang="en-IN" dirty="0"/>
              <a:t> Specific conditions that must be met for a story to be considered complete, frequently written using </a:t>
            </a:r>
            <a:r>
              <a:rPr lang="en-IN" dirty="0" err="1"/>
              <a:t>Behavior</a:t>
            </a:r>
            <a:r>
              <a:rPr lang="en-IN" dirty="0"/>
              <a:t>-Driven Development (BDD) templates (</a:t>
            </a:r>
            <a:r>
              <a:rPr lang="en-IN" i="1" dirty="0"/>
              <a:t>Given [context], When [action], Then [outcome]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Themes &amp; Epics:</a:t>
            </a:r>
            <a:r>
              <a:rPr lang="en-IN" dirty="0"/>
              <a:t> High-level abstractions representing large bodies of work or broad capabilities, which are progressively broken down ("decomposed") into smaller user stories over time.</a:t>
            </a:r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7A8D63-4A1F-F37D-A4E9-FC6A4EE3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Requirements Synthesis</a:t>
            </a:r>
          </a:p>
        </p:txBody>
      </p:sp>
    </p:spTree>
    <p:extLst>
      <p:ext uri="{BB962C8B-B14F-4D97-AF65-F5344CB8AC3E}">
        <p14:creationId xmlns:p14="http://schemas.microsoft.com/office/powerpoint/2010/main" val="875570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6C9A02-A11F-C8D4-2EAA-270D67E22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28908-36A9-08F0-A192-A88B41E5C55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Requirements management is the process of tracking, prioritizing, and controlling changes to requirements throughout the project lifecycle.</a:t>
            </a:r>
          </a:p>
          <a:p>
            <a:r>
              <a:rPr lang="en-IN" b="1" i="1" dirty="0"/>
              <a:t>Prioritization:</a:t>
            </a:r>
            <a:r>
              <a:rPr lang="en-IN" dirty="0"/>
              <a:t> Once gathered, requirements are prioritized based on customer value, dependencies, and risk. </a:t>
            </a:r>
          </a:p>
          <a:p>
            <a:r>
              <a:rPr lang="en-IN" dirty="0"/>
              <a:t>Agile teams use techniques like </a:t>
            </a:r>
            <a:r>
              <a:rPr lang="en-IN" dirty="0" err="1"/>
              <a:t>MoSCoW</a:t>
            </a:r>
            <a:r>
              <a:rPr lang="en-IN" dirty="0"/>
              <a:t> (Must-haves, Should-haves, Could-haves, and Won’t-haves) to classify requirements.</a:t>
            </a:r>
          </a:p>
          <a:p>
            <a:r>
              <a:rPr lang="en-IN" b="1" dirty="0"/>
              <a:t>Product Backlog Management:</a:t>
            </a:r>
            <a:r>
              <a:rPr lang="en-IN" dirty="0"/>
              <a:t> Requirements exist as a single, ordered list (the Product Backlog) managed and continuously re-prioritized by the </a:t>
            </a:r>
            <a:r>
              <a:rPr lang="en-IN" b="1" dirty="0"/>
              <a:t>Product Owner</a:t>
            </a:r>
            <a:r>
              <a:rPr lang="en-IN" dirty="0"/>
              <a:t>.</a:t>
            </a:r>
          </a:p>
          <a:p>
            <a:r>
              <a:rPr lang="en-IN" dirty="0"/>
              <a:t>Time and resources (sprint duration and team capacity) remain fixed; scope is adjusted by moving items in or out of the backlog.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148589-3A5F-0639-DB1E-AC3560690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Requirements Management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66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4FC8BD-E4C2-5029-3734-0BE2AA8A3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32B2A-AAF9-DD98-A543-2A1B424F756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Artificial Intelligence can transform elicitation from a manual discovery exercise into a continuous, data-driven engine capable of uncovering both explicit and implicit user needs.</a:t>
            </a:r>
          </a:p>
          <a:p>
            <a:r>
              <a:rPr lang="en-IN" dirty="0"/>
              <a:t>AI ingests unstructured data (tickets, logs, transcripts, app reviews) and simulates user personas to surface implicit needs.</a:t>
            </a:r>
          </a:p>
          <a:p>
            <a:r>
              <a:rPr lang="en-IN" b="1" dirty="0"/>
              <a:t>Implicit Need &amp; Telemetry Analysis</a:t>
            </a:r>
          </a:p>
          <a:p>
            <a:r>
              <a:rPr lang="en-IN" dirty="0"/>
              <a:t>Synthetic User Personas &amp; Autonomous Interviewing</a:t>
            </a:r>
            <a:endParaRPr lang="en-IN" b="1" dirty="0"/>
          </a:p>
          <a:p>
            <a:r>
              <a:rPr lang="en-IN" dirty="0"/>
              <a:t>Instant Functional Prototyping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9B72CE-816C-1C77-73DA-CC4E7445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AI-Driven Requirements Elicitation</a:t>
            </a:r>
          </a:p>
        </p:txBody>
      </p:sp>
    </p:spTree>
    <p:extLst>
      <p:ext uri="{BB962C8B-B14F-4D97-AF65-F5344CB8AC3E}">
        <p14:creationId xmlns:p14="http://schemas.microsoft.com/office/powerpoint/2010/main" val="290583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95E370-6F35-0B71-A34C-864C643A3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81372-AC11-F50B-F16C-D2153BD7353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AI accelerates synthesis by acting as an intelligent authoring partner that automates formal drafting, detects ambiguity, and ensures compliance with industry standards.</a:t>
            </a:r>
          </a:p>
          <a:p>
            <a:r>
              <a:rPr lang="en-IN" dirty="0"/>
              <a:t>Automated Artifact Conversion</a:t>
            </a:r>
          </a:p>
          <a:p>
            <a:r>
              <a:rPr lang="en-IN" dirty="0"/>
              <a:t>Real-Time Ambiguity &amp; Quality Scoring: AI models pre-trained on standards (such as INCOSE guidelines or EARS syntax)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4D1470-63EB-707C-E59E-9F08B881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AI-Driven Requirements Synthesis</a:t>
            </a:r>
          </a:p>
        </p:txBody>
      </p:sp>
    </p:spTree>
    <p:extLst>
      <p:ext uri="{BB962C8B-B14F-4D97-AF65-F5344CB8AC3E}">
        <p14:creationId xmlns:p14="http://schemas.microsoft.com/office/powerpoint/2010/main" val="243877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68483C-F5BC-B695-AB0B-8A45F1E54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D0161-8FBC-B630-AC03-9FE138EC3A9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Live Bidirectional AI Traceability</a:t>
            </a:r>
          </a:p>
          <a:p>
            <a:r>
              <a:rPr lang="en-IN" dirty="0"/>
              <a:t>Proactive Drift &amp; Scope Creep Monitoring</a:t>
            </a:r>
          </a:p>
          <a:p>
            <a:r>
              <a:rPr lang="en-IN" dirty="0"/>
              <a:t>Strategic trade-offs, legal accountability, and stakeholder relationships still require human business analysts and Product Owners to review and approve AI-generated artifacts before sign-off.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F955D8-67DC-A928-188A-A0321F21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AI-Driven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2791497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4CFD23-D465-311E-16F4-00309A3D2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5BC51-E3B5-0140-C3F0-3C8A42E2F19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The spec declares intent; the code realizes it.</a:t>
            </a:r>
          </a:p>
          <a:p>
            <a:r>
              <a:rPr lang="en-IN" dirty="0"/>
              <a:t>In SDD, specifications live in version control directly alongside or above the codebase.</a:t>
            </a:r>
          </a:p>
          <a:p>
            <a:r>
              <a:rPr lang="en-IN" dirty="0"/>
              <a:t>When business needs change, developers do not edit raw source code directly; they update the specification file, allowing AI to refactor the codebase and regenerate tests to match the new spec baseline.</a:t>
            </a:r>
          </a:p>
          <a:p>
            <a:r>
              <a:rPr lang="en-IN" dirty="0"/>
              <a:t>Elicitation Feeds Directly into Bounded Guardrails</a:t>
            </a:r>
          </a:p>
          <a:p>
            <a:r>
              <a:rPr lang="en-IN" dirty="0"/>
              <a:t>Elicitation explicitly defines what the feature </a:t>
            </a:r>
            <a:r>
              <a:rPr lang="en-IN" i="1" dirty="0"/>
              <a:t>must not</a:t>
            </a:r>
            <a:r>
              <a:rPr lang="en-IN" dirty="0"/>
              <a:t> do, preventing AI agents from generating unnecessary dependencies.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F193D6-3672-EAF7-6C94-21D92D35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How SDD Transforms the Requirements Lifecycle</a:t>
            </a:r>
          </a:p>
        </p:txBody>
      </p:sp>
    </p:spTree>
    <p:extLst>
      <p:ext uri="{BB962C8B-B14F-4D97-AF65-F5344CB8AC3E}">
        <p14:creationId xmlns:p14="http://schemas.microsoft.com/office/powerpoint/2010/main" val="63775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16FEC1-BF5F-1C7E-4F6A-7071E33B2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REF:https</a:t>
            </a:r>
            <a:r>
              <a:rPr lang="en-IN" dirty="0"/>
              <a:t>://arxiv.org/pdf/2602.00180v1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CCAF-F89E-BAD1-B6F4-706D7BE4388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259EF0-6CCB-8CE9-B319-850BE0E0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cap="small" dirty="0"/>
            </a:br>
            <a:r>
              <a:rPr lang="en-IN" cap="small" dirty="0"/>
              <a:t>The Specification Spectrum</a:t>
            </a:r>
            <a:br>
              <a:rPr lang="en-IN" dirty="0"/>
            </a:b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316EE1-CA4D-C27E-8EF5-0E5F0588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712" y="2412905"/>
            <a:ext cx="7790487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98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A464C1-1AB2-5B76-FC05-516533D6E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239BB-123D-0AB4-683D-D75FE0C753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Spec-First</a:t>
            </a:r>
          </a:p>
          <a:p>
            <a:pPr lvl="1"/>
            <a:r>
              <a:rPr lang="en-US" dirty="0"/>
              <a:t>In spec-first development, a specification is written before coding to guide the initial implementation. Once code exists, the spec may or may not be maintained—the primary value is in the initial clarity it provides.</a:t>
            </a:r>
          </a:p>
          <a:p>
            <a:r>
              <a:rPr lang="en-IN" dirty="0"/>
              <a:t>Spec-Anchored</a:t>
            </a:r>
          </a:p>
          <a:p>
            <a:pPr lvl="1"/>
            <a:r>
              <a:rPr lang="en-IN" dirty="0"/>
              <a:t> In spec-anchored development, the specification is maintained alongside the code throughout the system’s lifecycle. Changes to </a:t>
            </a:r>
            <a:r>
              <a:rPr lang="en-IN" dirty="0" err="1"/>
              <a:t>behavior</a:t>
            </a:r>
            <a:r>
              <a:rPr lang="en-IN" dirty="0"/>
              <a:t> require updating both the spec and the code, keeping them synchronized. </a:t>
            </a:r>
          </a:p>
          <a:p>
            <a:r>
              <a:rPr lang="en-IN" dirty="0"/>
              <a:t>Spec-as-Source </a:t>
            </a:r>
          </a:p>
          <a:p>
            <a:pPr lvl="1"/>
            <a:r>
              <a:rPr lang="en-IN" dirty="0"/>
              <a:t>In spec-as-source development, the specification is the only artifact humans edit directly. Code is entirely generated from the spec and should never be manually modified. Any change to </a:t>
            </a:r>
            <a:r>
              <a:rPr lang="en-IN" dirty="0" err="1"/>
              <a:t>behavior</a:t>
            </a:r>
            <a:r>
              <a:rPr lang="en-IN" dirty="0"/>
              <a:t> means changing the spec and regenerating.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810F3-C158-D84C-2BA0-8BF4F4AB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small" dirty="0"/>
              <a:t>The Specification Spectrum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910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E78E77-D95B-13BC-F17E-8E531706D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278FE-2B0A-24D5-2768-C2FE906BAFC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7190F4-784F-F1BB-75AC-53151732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Demo: </a:t>
            </a: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 err="1"/>
              <a:t>speckit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60CA8B-491F-5BD8-B05A-B858EEF98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740762"/>
              </p:ext>
            </p:extLst>
          </p:nvPr>
        </p:nvGraphicFramePr>
        <p:xfrm>
          <a:off x="838200" y="1840601"/>
          <a:ext cx="10515600" cy="3261360"/>
        </p:xfrm>
        <a:graphic>
          <a:graphicData uri="http://schemas.openxmlformats.org/drawingml/2006/table">
            <a:tbl>
              <a:tblPr>
                <a:tableStyleId>{51A0E78D-CFBE-46A0-B656-1FB9B1C8EDF3}</a:tableStyleId>
              </a:tblPr>
              <a:tblGrid>
                <a:gridCol w="2683933">
                  <a:extLst>
                    <a:ext uri="{9D8B030D-6E8A-4147-A177-3AD203B41FA5}">
                      <a16:colId xmlns:a16="http://schemas.microsoft.com/office/drawing/2014/main" val="1968374070"/>
                    </a:ext>
                  </a:extLst>
                </a:gridCol>
                <a:gridCol w="4326467">
                  <a:extLst>
                    <a:ext uri="{9D8B030D-6E8A-4147-A177-3AD203B41FA5}">
                      <a16:colId xmlns:a16="http://schemas.microsoft.com/office/drawing/2014/main" val="31062967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61643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When to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445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/speckit.constitution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project-wide principles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 the beginning of a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65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/speckit.specify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a feature 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 technical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377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/speckit.clarify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and resolve ambiguities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initial specification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646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the technical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requirements are sufficiently clear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03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/speckit.checklist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quality checklists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763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actionable implementation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97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/speckit.analyze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artifact 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 implementation or after significant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493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/speckit.implement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Execute implementation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During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08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/speckit.converge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remaining gaps against the artifacts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During and after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04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01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F38152-7B10-24C7-54C2-7CDE7514E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D5084-C4E1-7713-E344-C8B04E35421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While Spec-Driven Development using GitHub Spec Kit brings structure to AI-assisted engineering, shifting architecture and design to Markdown artifacts (spec.md, plan.md, constitution.md) introduces distinct risks across execution, architecture, and governance.</a:t>
            </a:r>
          </a:p>
          <a:p>
            <a:pPr lvl="2"/>
            <a:r>
              <a:rPr lang="en-IN" dirty="0"/>
              <a:t>Architectural &amp; Technical Risks</a:t>
            </a:r>
          </a:p>
          <a:p>
            <a:pPr lvl="2"/>
            <a:r>
              <a:rPr lang="en-IN" dirty="0"/>
              <a:t>Dependency &amp; API Hallucinations</a:t>
            </a:r>
          </a:p>
          <a:p>
            <a:pPr lvl="2"/>
            <a:r>
              <a:rPr lang="en-IN" dirty="0"/>
              <a:t>Shallow Edge-Case &amp; Non-Functional Coverage</a:t>
            </a:r>
          </a:p>
          <a:p>
            <a:pPr lvl="2"/>
            <a:r>
              <a:rPr lang="en-IN" dirty="0"/>
              <a:t>Spec-to-Code Drift</a:t>
            </a:r>
          </a:p>
          <a:p>
            <a:pPr lvl="2"/>
            <a:r>
              <a:rPr lang="en-IN" dirty="0"/>
              <a:t>Cascading Error Propagation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DED41F-08DB-0303-EADE-94EB9D96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Risks</a:t>
            </a:r>
          </a:p>
        </p:txBody>
      </p:sp>
    </p:spTree>
    <p:extLst>
      <p:ext uri="{BB962C8B-B14F-4D97-AF65-F5344CB8AC3E}">
        <p14:creationId xmlns:p14="http://schemas.microsoft.com/office/powerpoint/2010/main" val="68515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0FD60F-900C-CBA6-D8E7-33A9C93BD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2CDFB-16EB-A6B0-9943-83C384CB9E4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5D2C4E-B3B8-6D3F-166B-FC2AFBC5A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Mitigation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1EC9E1-4441-652C-E420-D1F5BB00E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994390"/>
              </p:ext>
            </p:extLst>
          </p:nvPr>
        </p:nvGraphicFramePr>
        <p:xfrm>
          <a:off x="838200" y="2309654"/>
          <a:ext cx="10515600" cy="3383280"/>
        </p:xfrm>
        <a:graphic>
          <a:graphicData uri="http://schemas.openxmlformats.org/drawingml/2006/table">
            <a:tbl>
              <a:tblPr>
                <a:tableStyleId>{51A0E78D-CFBE-46A0-B656-1FB9B1C8EDF3}</a:tableStyleId>
              </a:tblPr>
              <a:tblGrid>
                <a:gridCol w="2504440">
                  <a:extLst>
                    <a:ext uri="{9D8B030D-6E8A-4147-A177-3AD203B41FA5}">
                      <a16:colId xmlns:a16="http://schemas.microsoft.com/office/drawing/2014/main" val="2288610524"/>
                    </a:ext>
                  </a:extLst>
                </a:gridCol>
                <a:gridCol w="4505960">
                  <a:extLst>
                    <a:ext uri="{9D8B030D-6E8A-4147-A177-3AD203B41FA5}">
                      <a16:colId xmlns:a16="http://schemas.microsoft.com/office/drawing/2014/main" val="30693143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7485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Problem / Risk Area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Root Cause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Practical Mitigation Strategy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049147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Architectural Bloat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LLM tendency toward maximal complexity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Mandate simplicity rules in </a:t>
                      </a:r>
                      <a:r>
                        <a:rPr lang="en-IN" sz="1125">
                          <a:effectLst/>
                        </a:rPr>
                        <a:t>constitution.md</a:t>
                      </a:r>
                      <a:r>
                        <a:rPr lang="en-IN">
                          <a:effectLst/>
                        </a:rPr>
                        <a:t> (e.g., "Prefer single relational tables over new microservices").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21810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Cascading Errors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Unchecked transition from </a:t>
                      </a:r>
                      <a:r>
                        <a:rPr lang="en-IN" sz="1125">
                          <a:effectLst/>
                        </a:rPr>
                        <a:t>/plan</a:t>
                      </a:r>
                      <a:r>
                        <a:rPr lang="en-IN">
                          <a:effectLst/>
                        </a:rPr>
                        <a:t> to </a:t>
                      </a:r>
                      <a:r>
                        <a:rPr lang="en-IN" sz="1125">
                          <a:effectLst/>
                        </a:rPr>
                        <a:t>/tasks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Treat </a:t>
                      </a:r>
                      <a:r>
                        <a:rPr lang="en-IN" sz="1125">
                          <a:effectLst/>
                        </a:rPr>
                        <a:t>plan.md</a:t>
                      </a:r>
                      <a:r>
                        <a:rPr lang="en-IN">
                          <a:effectLst/>
                        </a:rPr>
                        <a:t> as an explicit PR gate requiring mandatory senior human review before running </a:t>
                      </a:r>
                      <a:r>
                        <a:rPr lang="en-IN" sz="1125">
                          <a:effectLst/>
                        </a:rPr>
                        <a:t>/tasks</a:t>
                      </a:r>
                      <a:r>
                        <a:rPr lang="en-IN">
                          <a:effectLst/>
                        </a:rPr>
                        <a:t>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709045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Spec-to-Code Drift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Unlinked code changes during </a:t>
                      </a:r>
                      <a:r>
                        <a:rPr lang="en-IN" sz="1125">
                          <a:effectLst/>
                        </a:rPr>
                        <a:t>/implement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Require </a:t>
                      </a:r>
                      <a:r>
                        <a:rPr lang="en-IN" sz="1125">
                          <a:effectLst/>
                        </a:rPr>
                        <a:t>/speckit</a:t>
                      </a:r>
                      <a:r>
                        <a:rPr lang="en-IN">
                          <a:effectLst/>
                        </a:rPr>
                        <a:t> validation or CI checks that fail if code commits touch architecture files without updated specs.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69502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Legacy Context Loss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LLM context limitations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Include explicit reference files (e.g., schema dumps, </a:t>
                      </a:r>
                      <a:r>
                        <a:rPr lang="en-IN" dirty="0" err="1">
                          <a:effectLst/>
                        </a:rPr>
                        <a:t>OpenAPI</a:t>
                      </a:r>
                      <a:r>
                        <a:rPr lang="en-IN" dirty="0">
                          <a:effectLst/>
                        </a:rPr>
                        <a:t> contracts) in </a:t>
                      </a:r>
                      <a:r>
                        <a:rPr lang="en-IN" sz="1125" dirty="0">
                          <a:effectLst/>
                        </a:rPr>
                        <a:t>.specify/</a:t>
                      </a:r>
                      <a:r>
                        <a:rPr lang="en-IN" dirty="0">
                          <a:effectLst/>
                        </a:rPr>
                        <a:t> context during the </a:t>
                      </a:r>
                      <a:r>
                        <a:rPr lang="en-IN" sz="1125" dirty="0">
                          <a:effectLst/>
                        </a:rPr>
                        <a:t>/plan</a:t>
                      </a:r>
                      <a:r>
                        <a:rPr lang="en-IN" dirty="0">
                          <a:effectLst/>
                        </a:rPr>
                        <a:t> prompt.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627476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942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4D4D38-DB00-0132-16AB-279E0228C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B4147-4E7F-05D9-A84A-C3DD3FDEC07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An Architectural Decision (AD) is a justified design choice that addresses a functional or non-functional requirement that is architecturally significant. </a:t>
            </a:r>
          </a:p>
          <a:p>
            <a:r>
              <a:rPr lang="en-US" dirty="0"/>
              <a:t>An Architecturally Significant Requirement (ASR) is a requirement that has a measurable effect on the architecture and quality of a software and/or hardware system. </a:t>
            </a:r>
          </a:p>
          <a:p>
            <a:r>
              <a:rPr lang="en-US" dirty="0"/>
              <a:t>An Architectural Decision Record (ADR) captures a single AD and its rationale; </a:t>
            </a:r>
          </a:p>
          <a:p>
            <a:r>
              <a:rPr lang="en-US" dirty="0"/>
              <a:t>Put it simply, ADR can help you understand the reasons for a chosen architectural decision, along with its trade-offs and consequences. 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2C6545-0E37-C1C6-A3A3-34A05E73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ADR</a:t>
            </a:r>
          </a:p>
        </p:txBody>
      </p:sp>
    </p:spTree>
    <p:extLst>
      <p:ext uri="{BB962C8B-B14F-4D97-AF65-F5344CB8AC3E}">
        <p14:creationId xmlns:p14="http://schemas.microsoft.com/office/powerpoint/2010/main" val="2446191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39A984-D10E-99C2-FD2F-C4EB4903D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5E3E1-9D0F-21DF-F28C-D94973E134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ADRs help by:</a:t>
            </a:r>
          </a:p>
          <a:p>
            <a:pPr lvl="1"/>
            <a:r>
              <a:rPr lang="en-US" dirty="0"/>
              <a:t>Preserving decision history: Recording why a particular technology or design was selected.</a:t>
            </a:r>
          </a:p>
          <a:p>
            <a:pPr lvl="1"/>
            <a:r>
              <a:rPr lang="en-US" dirty="0"/>
              <a:t>Improving team communication: Keeping developers, architects, and stakeholders aligned.</a:t>
            </a:r>
          </a:p>
          <a:p>
            <a:pPr lvl="1"/>
            <a:r>
              <a:rPr lang="en-US" dirty="0"/>
              <a:t>Supporting maintenance: Helping future developers understand existing architectural choices.</a:t>
            </a:r>
          </a:p>
          <a:p>
            <a:pPr lvl="1"/>
            <a:r>
              <a:rPr lang="en-US" dirty="0"/>
              <a:t>Avoiding repeated discussions: Making previous decisions and their rationale accessible.</a:t>
            </a:r>
          </a:p>
          <a:p>
            <a:pPr lvl="1"/>
            <a:r>
              <a:rPr lang="en-US" dirty="0"/>
              <a:t>Managing change: Providing a reference when an existing architectural decision needs to be revisited.</a:t>
            </a:r>
          </a:p>
          <a:p>
            <a:r>
              <a:rPr lang="en-IN" dirty="0"/>
              <a:t>The </a:t>
            </a:r>
            <a:r>
              <a:rPr lang="en-IN" dirty="0" err="1"/>
              <a:t>adrkit</a:t>
            </a:r>
            <a:r>
              <a:rPr lang="en-IN" dirty="0"/>
              <a:t> extension drafts ADRs from plans, retrieves existing decisions, and checks plans against them.</a:t>
            </a:r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78ADE0-B0FB-96C2-3DE9-206F3DE6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ADR</a:t>
            </a:r>
          </a:p>
        </p:txBody>
      </p:sp>
    </p:spTree>
    <p:extLst>
      <p:ext uri="{BB962C8B-B14F-4D97-AF65-F5344CB8AC3E}">
        <p14:creationId xmlns:p14="http://schemas.microsoft.com/office/powerpoint/2010/main" val="275337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00F16-FED3-CBCA-5A71-7B2D1E07D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6E55-EFEB-A655-33A2-FC5F720BB80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1. Requirements validation</a:t>
            </a:r>
          </a:p>
          <a:p>
            <a:r>
              <a:rPr lang="en-IN" dirty="0"/>
              <a:t>2. Architecture risk analysis</a:t>
            </a:r>
          </a:p>
          <a:p>
            <a:r>
              <a:rPr lang="en-IN" dirty="0"/>
              <a:t>3. Security and threat modelling</a:t>
            </a:r>
          </a:p>
          <a:p>
            <a:r>
              <a:rPr lang="en-IN" dirty="0"/>
              <a:t>4. Task decomposition and dependency validation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7804BC-9474-E663-17F8-F695EF1D9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Risk-control activities across the SDD lifecycle</a:t>
            </a:r>
          </a:p>
        </p:txBody>
      </p:sp>
    </p:spTree>
    <p:extLst>
      <p:ext uri="{BB962C8B-B14F-4D97-AF65-F5344CB8AC3E}">
        <p14:creationId xmlns:p14="http://schemas.microsoft.com/office/powerpoint/2010/main" val="3409844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C9E487-BD1C-7792-633D-707F56FA7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75B5C-777E-35B4-DE2C-D0C0E66D7D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https://www.incose.org/wp-content/uploads/legacy/working-groups/requirements-wg/guidetowritingrequirements/incose_rwg_gtwr_v4_summary_sheet.pdf</a:t>
            </a:r>
            <a:endParaRPr lang="en-US" dirty="0"/>
          </a:p>
          <a:p>
            <a:r>
              <a:rPr lang="en-US" dirty="0"/>
              <a:t>https://arxiv.org/pdf/2602.00180v1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BB71B0-72B9-EFC3-EB0E-EAC3D5E5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470054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C2324A8A8974418F4287FF4BA2FD86" ma:contentTypeVersion="3" ma:contentTypeDescription="Create a new document." ma:contentTypeScope="" ma:versionID="c20ae23d9ac856c6053e676649c543ef">
  <xsd:schema xmlns:xsd="http://www.w3.org/2001/XMLSchema" xmlns:xs="http://www.w3.org/2001/XMLSchema" xmlns:p="http://schemas.microsoft.com/office/2006/metadata/properties" xmlns:ns2="3719838a-b8de-4044-bbc5-cde9575f33d8" targetNamespace="http://schemas.microsoft.com/office/2006/metadata/properties" ma:root="true" ma:fieldsID="5bcd724bed00bb7cfe4f11aa70afd346" ns2:_="">
    <xsd:import namespace="3719838a-b8de-4044-bbc5-cde9575f33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9838a-b8de-4044-bbc5-cde9575f33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9AFB0B-4C2C-4AFA-9CA4-73CEB5CCE137}"/>
</file>

<file path=customXml/itemProps2.xml><?xml version="1.0" encoding="utf-8"?>
<ds:datastoreItem xmlns:ds="http://schemas.openxmlformats.org/officeDocument/2006/customXml" ds:itemID="{B0B74FFF-9881-4C7F-A593-6E9709510089}"/>
</file>

<file path=customXml/itemProps3.xml><?xml version="1.0" encoding="utf-8"?>
<ds:datastoreItem xmlns:ds="http://schemas.openxmlformats.org/officeDocument/2006/customXml" ds:itemID="{0FA9FE42-0DB1-4D25-BD17-099429E52048}"/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1347</Words>
  <Application>Microsoft Office PowerPoint</Application>
  <PresentationFormat>Widescreen</PresentationFormat>
  <Paragraphs>130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Google Sans Text</vt:lpstr>
      <vt:lpstr>Helvetica</vt:lpstr>
      <vt:lpstr>1_Office Theme</vt:lpstr>
      <vt:lpstr>AI-Augmented Software Development Life Cycle  SEZG534</vt:lpstr>
      <vt:lpstr>PowerPoint Presentation</vt:lpstr>
      <vt:lpstr> Requirements Elicitation </vt:lpstr>
      <vt:lpstr>Requirements Synthesis</vt:lpstr>
      <vt:lpstr> Requirements Management </vt:lpstr>
      <vt:lpstr>AI-Driven Requirements Elicitation</vt:lpstr>
      <vt:lpstr>AI-Driven Requirements Synthesis</vt:lpstr>
      <vt:lpstr>AI-Driven Requirements Management</vt:lpstr>
      <vt:lpstr>How SDD Transforms the Requirements Lifecycle</vt:lpstr>
      <vt:lpstr> The Specification Spectrum </vt:lpstr>
      <vt:lpstr>The Specification Spectrum</vt:lpstr>
      <vt:lpstr>Example Demo: Github speckit</vt:lpstr>
      <vt:lpstr>Risks</vt:lpstr>
      <vt:lpstr>Risk Mitigation</vt:lpstr>
      <vt:lpstr>ADR</vt:lpstr>
      <vt:lpstr>ADR</vt:lpstr>
      <vt:lpstr>Risk-control activities across the SDD lifecycle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Shivam Chauhan</dc:creator>
  <cp:lastModifiedBy>AKSHAYA GANESAN .</cp:lastModifiedBy>
  <cp:revision>87</cp:revision>
  <dcterms:created xsi:type="dcterms:W3CDTF">2022-09-26T09:02:06Z</dcterms:created>
  <dcterms:modified xsi:type="dcterms:W3CDTF">2026-10-02T20:28:03Z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0x0101001EC2324A8A8974418F4287FF4BA2FD86</vt:lpwstr>
  </property>
</Properties>
</file>