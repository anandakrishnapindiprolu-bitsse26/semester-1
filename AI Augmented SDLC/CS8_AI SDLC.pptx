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11" r:id="rId2"/>
    <p:sldId id="312" r:id="rId3"/>
    <p:sldId id="358" r:id="rId4"/>
    <p:sldId id="359" r:id="rId5"/>
    <p:sldId id="357" r:id="rId6"/>
    <p:sldId id="361" r:id="rId7"/>
    <p:sldId id="360" r:id="rId8"/>
    <p:sldId id="362" r:id="rId9"/>
    <p:sldId id="363" r:id="rId10"/>
    <p:sldId id="367" r:id="rId11"/>
    <p:sldId id="364" r:id="rId12"/>
    <p:sldId id="365" r:id="rId13"/>
    <p:sldId id="366" r:id="rId14"/>
    <p:sldId id="368" r:id="rId15"/>
    <p:sldId id="370" r:id="rId16"/>
    <p:sldId id="369" r:id="rId17"/>
    <p:sldId id="371" r:id="rId18"/>
    <p:sldId id="372" r:id="rId19"/>
    <p:sldId id="373" r:id="rId20"/>
    <p:sldId id="328" r:id="rId21"/>
    <p:sldId id="265"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go9uSRA0WETdhqdHWNBKCI42gc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A0E78D-CFBE-46A0-B656-1FB9B1C8EDF3}">
  <a:tblStyle styleId="{51A0E78D-CFBE-46A0-B656-1FB9B1C8EDF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72"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slide" Target="slides/slide20.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67" Type="http://schemas.openxmlformats.org/officeDocument/2006/relationships/presProps" Target="presProps.xml"/><Relationship Id="rId71"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6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74"/>
        <p:cNvGrpSpPr/>
        <p:nvPr/>
      </p:nvGrpSpPr>
      <p:grpSpPr>
        <a:xfrm>
          <a:off x="0" y="0"/>
          <a:ext cx="0" cy="0"/>
          <a:chOff x="0" y="0"/>
          <a:chExt cx="0" cy="0"/>
        </a:xfrm>
      </p:grpSpPr>
      <p:pic>
        <p:nvPicPr>
          <p:cNvPr id="75" name="Google Shape;75;p18"/>
          <p:cNvPicPr preferRelativeResize="0"/>
          <p:nvPr/>
        </p:nvPicPr>
        <p:blipFill rotWithShape="1">
          <a:blip r:embed="rId2">
            <a:alphaModFix/>
          </a:blip>
          <a:srcRect l="13070" t="2102" r="13441" b="24408"/>
          <a:stretch/>
        </p:blipFill>
        <p:spPr>
          <a:xfrm>
            <a:off x="11131297" y="231878"/>
            <a:ext cx="828826" cy="828826"/>
          </a:xfrm>
          <a:prstGeom prst="rect">
            <a:avLst/>
          </a:prstGeom>
          <a:noFill/>
          <a:ln>
            <a:noFill/>
          </a:ln>
        </p:spPr>
      </p:pic>
      <p:grpSp>
        <p:nvGrpSpPr>
          <p:cNvPr id="76" name="Google Shape;76;p18"/>
          <p:cNvGrpSpPr/>
          <p:nvPr/>
        </p:nvGrpSpPr>
        <p:grpSpPr>
          <a:xfrm>
            <a:off x="2051531" y="5137310"/>
            <a:ext cx="10140469" cy="1726066"/>
            <a:chOff x="2051531" y="5793529"/>
            <a:chExt cx="10140469" cy="1726066"/>
          </a:xfrm>
        </p:grpSpPr>
        <p:pic>
          <p:nvPicPr>
            <p:cNvPr id="77" name="Google Shape;77;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78" name="Google Shape;78;p18"/>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79" name="Google Shape;79;p18"/>
          <p:cNvGrpSpPr/>
          <p:nvPr/>
        </p:nvGrpSpPr>
        <p:grpSpPr>
          <a:xfrm>
            <a:off x="0" y="-3947"/>
            <a:ext cx="10151227" cy="1731985"/>
            <a:chOff x="2116079" y="5959736"/>
            <a:chExt cx="10151227" cy="1731985"/>
          </a:xfrm>
        </p:grpSpPr>
        <p:pic>
          <p:nvPicPr>
            <p:cNvPr id="80" name="Google Shape;80;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81" name="Google Shape;81;p18"/>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82" name="Google Shape;82;p18"/>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18"/>
          <p:cNvSpPr txBox="1">
            <a:spLocks noGrp="1"/>
          </p:cNvSpPr>
          <p:nvPr>
            <p:ph type="body" idx="1"/>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body" idx="2"/>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5" name="Google Shape;85;p18"/>
          <p:cNvPicPr preferRelativeResize="0"/>
          <p:nvPr/>
        </p:nvPicPr>
        <p:blipFill rotWithShape="1">
          <a:blip r:embed="rId4">
            <a:alphaModFix/>
          </a:blip>
          <a:srcRect/>
          <a:stretch/>
        </p:blipFill>
        <p:spPr>
          <a:xfrm>
            <a:off x="187994" y="6364482"/>
            <a:ext cx="1468823" cy="5417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6"/>
        <p:cNvGrpSpPr/>
        <p:nvPr/>
      </p:nvGrpSpPr>
      <p:grpSpPr>
        <a:xfrm>
          <a:off x="0" y="0"/>
          <a:ext cx="0" cy="0"/>
          <a:chOff x="0" y="0"/>
          <a:chExt cx="0" cy="0"/>
        </a:xfrm>
      </p:grpSpPr>
      <p:grpSp>
        <p:nvGrpSpPr>
          <p:cNvPr id="87" name="Google Shape;87;p19"/>
          <p:cNvGrpSpPr/>
          <p:nvPr/>
        </p:nvGrpSpPr>
        <p:grpSpPr>
          <a:xfrm>
            <a:off x="0" y="-3947"/>
            <a:ext cx="10151227" cy="1731985"/>
            <a:chOff x="2116079" y="5959736"/>
            <a:chExt cx="10151227" cy="1731985"/>
          </a:xfrm>
        </p:grpSpPr>
        <p:pic>
          <p:nvPicPr>
            <p:cNvPr id="88" name="Google Shape;88;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89" name="Google Shape;89;p19"/>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0" name="Google Shape;90;p19"/>
          <p:cNvGrpSpPr/>
          <p:nvPr/>
        </p:nvGrpSpPr>
        <p:grpSpPr>
          <a:xfrm>
            <a:off x="2051531" y="5137310"/>
            <a:ext cx="10140469" cy="1726066"/>
            <a:chOff x="2051531" y="5793529"/>
            <a:chExt cx="10140469" cy="1726066"/>
          </a:xfrm>
        </p:grpSpPr>
        <p:pic>
          <p:nvPicPr>
            <p:cNvPr id="91" name="Google Shape;91;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92" name="Google Shape;92;p19"/>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93" name="Google Shape;93;p19"/>
          <p:cNvSpPr txBox="1">
            <a:spLocks noGrp="1"/>
          </p:cNvSpPr>
          <p:nvPr>
            <p:ph type="body" idx="1"/>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4" name="Google Shape;94;p19"/>
          <p:cNvPicPr preferRelativeResize="0"/>
          <p:nvPr/>
        </p:nvPicPr>
        <p:blipFill rotWithShape="1">
          <a:blip r:embed="rId3">
            <a:alphaModFix/>
          </a:blip>
          <a:srcRect/>
          <a:stretch/>
        </p:blipFill>
        <p:spPr>
          <a:xfrm>
            <a:off x="187994" y="6364482"/>
            <a:ext cx="1468823" cy="541779"/>
          </a:xfrm>
          <a:prstGeom prst="rect">
            <a:avLst/>
          </a:prstGeom>
          <a:noFill/>
          <a:ln>
            <a:noFill/>
          </a:ln>
        </p:spPr>
      </p:pic>
      <p:sp>
        <p:nvSpPr>
          <p:cNvPr id="95" name="Google Shape;95;p19"/>
          <p:cNvSpPr txBox="1">
            <a:spLocks noGrp="1"/>
          </p:cNvSpPr>
          <p:nvPr>
            <p:ph type="body" idx="2"/>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6" name="Google Shape;96;p19"/>
          <p:cNvPicPr preferRelativeResize="0"/>
          <p:nvPr/>
        </p:nvPicPr>
        <p:blipFill rotWithShape="1">
          <a:blip r:embed="rId4">
            <a:alphaModFix/>
          </a:blip>
          <a:srcRect l="13070" t="2102" r="13441" b="24408"/>
          <a:stretch/>
        </p:blipFill>
        <p:spPr>
          <a:xfrm>
            <a:off x="11131297" y="231878"/>
            <a:ext cx="828826" cy="828826"/>
          </a:xfrm>
          <a:prstGeom prst="rect">
            <a:avLst/>
          </a:prstGeom>
          <a:noFill/>
          <a:ln>
            <a:noFill/>
          </a:ln>
        </p:spPr>
      </p:pic>
      <p:sp>
        <p:nvSpPr>
          <p:cNvPr id="97" name="Google Shape;97;p19"/>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76399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36943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5" name="Picture 8"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9" name="TextBox 8"/>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611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Click to edit Master text styles</a:t>
            </a:r>
          </a:p>
        </p:txBody>
      </p:sp>
      <p:sp>
        <p:nvSpPr>
          <p:cNvPr id="2" name="Date Placeholder 1"/>
          <p:cNvSpPr>
            <a:spLocks noGrp="1"/>
          </p:cNvSpPr>
          <p:nvPr>
            <p:ph type="dt" sz="half" idx="11"/>
          </p:nvPr>
        </p:nvSpPr>
        <p:spPr/>
        <p:txBody>
          <a:bodyPr/>
          <a:lstStyle/>
          <a:p>
            <a:fld id="{367210A1-D9D8-4406-AA8C-189570548DAB}" type="datetime1">
              <a:rPr lang="en-US" smtClean="0"/>
              <a:t>9/11/2026</a:t>
            </a:fld>
            <a:endParaRPr lang="en-US" dirty="0"/>
          </a:p>
        </p:txBody>
      </p:sp>
      <p:sp>
        <p:nvSpPr>
          <p:cNvPr id="18" name="Footer Placeholder 17"/>
          <p:cNvSpPr>
            <a:spLocks noGrp="1"/>
          </p:cNvSpPr>
          <p:nvPr>
            <p:ph type="ftr" sz="quarter" idx="12"/>
          </p:nvPr>
        </p:nvSpPr>
        <p:spPr/>
        <p:txBody>
          <a:bodyPr/>
          <a:lstStyle/>
          <a:p>
            <a:endParaRPr lang="en-US" dirty="0"/>
          </a:p>
        </p:txBody>
      </p:sp>
      <p:sp>
        <p:nvSpPr>
          <p:cNvPr id="19" name="Slide Number Placeholder 18"/>
          <p:cNvSpPr>
            <a:spLocks noGrp="1"/>
          </p:cNvSpPr>
          <p:nvPr>
            <p:ph type="sldNum" sz="quarter" idx="13"/>
          </p:nvPr>
        </p:nvSpPr>
        <p:spPr/>
        <p:txBody>
          <a:bodyPr/>
          <a:lstStyle/>
          <a:p>
            <a:fld id="{419D97FF-0E15-4DEA-9B96-99199D6F8EB2}" type="slidenum">
              <a:rPr lang="en-US" smtClean="0"/>
              <a:t>‹#›</a:t>
            </a:fld>
            <a:endParaRPr lang="en-US"/>
          </a:p>
        </p:txBody>
      </p:sp>
    </p:spTree>
    <p:extLst>
      <p:ext uri="{BB962C8B-B14F-4D97-AF65-F5344CB8AC3E}">
        <p14:creationId xmlns:p14="http://schemas.microsoft.com/office/powerpoint/2010/main" val="19416500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5" r:id="rId1"/>
    <p:sldLayoutId id="2147483656" r:id="rId2"/>
    <p:sldLayoutId id="2147483658" r:id="rId3"/>
    <p:sldLayoutId id="2147483659" r:id="rId4"/>
    <p:sldLayoutId id="2147483660" r:id="rId5"/>
    <p:sldLayoutId id="214748366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ithub.com/github/spec-ki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microsoft.com/blog/spec-driven-development-ai-native-engineering/" TargetMode="External"/><Relationship Id="rId2" Type="http://schemas.openxmlformats.org/officeDocument/2006/relationships/hyperlink" Target="https://claude.com/blog/the-ai-native-sdlc-playbook"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879003" y="3810000"/>
            <a:ext cx="8500198" cy="1524000"/>
          </a:xfrm>
        </p:spPr>
        <p:txBody>
          <a:bodyPr/>
          <a:lstStyle/>
          <a:p>
            <a:pPr>
              <a:defRPr/>
            </a:pPr>
            <a:r>
              <a:rPr lang="en-US" sz="4000" dirty="0"/>
              <a:t>AI-Augmented Software Development Life Cycle </a:t>
            </a:r>
            <a:br>
              <a:rPr lang="en-US" sz="4000" dirty="0"/>
            </a:br>
            <a:r>
              <a:rPr lang="en-US" sz="4000" dirty="0"/>
              <a:t>SEZG534</a:t>
            </a:r>
          </a:p>
        </p:txBody>
      </p:sp>
      <p:sp>
        <p:nvSpPr>
          <p:cNvPr id="13315" name="Content Placeholder 5"/>
          <p:cNvSpPr>
            <a:spLocks noGrp="1"/>
          </p:cNvSpPr>
          <p:nvPr>
            <p:ph sz="quarter" idx="13"/>
          </p:nvPr>
        </p:nvSpPr>
        <p:spPr/>
        <p:txBody>
          <a:bodyPr/>
          <a:lstStyle/>
          <a:p>
            <a:pPr eaLnBrk="1" hangingPunct="1">
              <a:spcBef>
                <a:spcPct val="0"/>
              </a:spcBef>
            </a:pPr>
            <a:r>
              <a:rPr lang="en-US" altLang="en-US" dirty="0" err="1"/>
              <a:t>Akshaya</a:t>
            </a:r>
            <a:r>
              <a:rPr lang="en-US" altLang="en-US" dirty="0"/>
              <a:t> </a:t>
            </a:r>
            <a:r>
              <a:rPr lang="en-US" altLang="en-US" dirty="0" err="1"/>
              <a:t>Ganesan</a:t>
            </a:r>
            <a:endParaRPr lang="en-US" altLang="en-US" dirty="0"/>
          </a:p>
          <a:p>
            <a:pPr eaLnBrk="1" hangingPunct="1">
              <a:spcBef>
                <a:spcPct val="0"/>
              </a:spcBef>
            </a:pPr>
            <a:r>
              <a:rPr lang="en-US" altLang="en-US" dirty="0"/>
              <a:t>CSIS, WILP</a:t>
            </a:r>
          </a:p>
        </p:txBody>
      </p:sp>
    </p:spTree>
    <p:extLst>
      <p:ext uri="{BB962C8B-B14F-4D97-AF65-F5344CB8AC3E}">
        <p14:creationId xmlns:p14="http://schemas.microsoft.com/office/powerpoint/2010/main" val="2018772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spcBef>
                <a:spcPct val="0"/>
              </a:spcBef>
              <a:defRPr/>
            </a:pPr>
            <a:r>
              <a:rPr lang="en-US" sz="3600" dirty="0">
                <a:latin typeface="Arial" charset="0"/>
                <a:cs typeface="Arial" charset="0"/>
              </a:rPr>
              <a:t>Contact Session: 8 </a:t>
            </a:r>
            <a:r>
              <a:rPr lang="en-US" dirty="0">
                <a:latin typeface="Arial" charset="0"/>
                <a:cs typeface="Arial" charset="0"/>
              </a:rPr>
              <a:t>– </a:t>
            </a:r>
            <a:r>
              <a:rPr lang="en-US" dirty="0"/>
              <a:t>AI-Native SDLC</a:t>
            </a:r>
          </a:p>
          <a:p>
            <a:pPr>
              <a:spcBef>
                <a:spcPct val="0"/>
              </a:spcBef>
              <a:defRPr/>
            </a:pPr>
            <a:endParaRPr lang="en-US" sz="3600" dirty="0">
              <a:latin typeface="Arial" charset="0"/>
              <a:cs typeface="Arial" charset="0"/>
            </a:endParaRPr>
          </a:p>
        </p:txBody>
      </p:sp>
    </p:spTree>
    <p:extLst>
      <p:ext uri="{BB962C8B-B14F-4D97-AF65-F5344CB8AC3E}">
        <p14:creationId xmlns:p14="http://schemas.microsoft.com/office/powerpoint/2010/main" val="98716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518B-0AE0-42E3-C762-232D0DF67A1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8D9D27E-B46E-6013-C267-181CE65236C5}"/>
              </a:ext>
            </a:extLst>
          </p:cNvPr>
          <p:cNvSpPr>
            <a:spLocks noGrp="1"/>
          </p:cNvSpPr>
          <p:nvPr>
            <p:ph type="body" idx="2"/>
          </p:nvPr>
        </p:nvSpPr>
        <p:spPr/>
        <p:txBody>
          <a:bodyPr/>
          <a:lstStyle/>
          <a:p>
            <a:r>
              <a:rPr lang="en-US" dirty="0"/>
              <a:t>The traditional software development lifecycle (SDLC) is process-heavy to ensure accountability and control at each step.</a:t>
            </a:r>
          </a:p>
          <a:p>
            <a:endParaRPr lang="en-US" dirty="0"/>
          </a:p>
        </p:txBody>
      </p:sp>
      <p:sp>
        <p:nvSpPr>
          <p:cNvPr id="4" name="Title 3">
            <a:extLst>
              <a:ext uri="{FF2B5EF4-FFF2-40B4-BE49-F238E27FC236}">
                <a16:creationId xmlns:a16="http://schemas.microsoft.com/office/drawing/2014/main" id="{09B87A57-34FE-9C11-A525-5055C0BA454C}"/>
              </a:ext>
            </a:extLst>
          </p:cNvPr>
          <p:cNvSpPr>
            <a:spLocks noGrp="1"/>
          </p:cNvSpPr>
          <p:nvPr>
            <p:ph type="title"/>
          </p:nvPr>
        </p:nvSpPr>
        <p:spPr/>
        <p:txBody>
          <a:bodyPr/>
          <a:lstStyle/>
          <a:p>
            <a:r>
              <a:rPr lang="en-US" dirty="0"/>
              <a:t>Traditional SDLC </a:t>
            </a:r>
          </a:p>
        </p:txBody>
      </p:sp>
      <p:pic>
        <p:nvPicPr>
          <p:cNvPr id="5" name="Picture 4">
            <a:extLst>
              <a:ext uri="{FF2B5EF4-FFF2-40B4-BE49-F238E27FC236}">
                <a16:creationId xmlns:a16="http://schemas.microsoft.com/office/drawing/2014/main" id="{15228A37-A7A9-7C4E-1593-CE860E5E983D}"/>
              </a:ext>
            </a:extLst>
          </p:cNvPr>
          <p:cNvPicPr>
            <a:picLocks noChangeAspect="1"/>
          </p:cNvPicPr>
          <p:nvPr/>
        </p:nvPicPr>
        <p:blipFill>
          <a:blip r:embed="rId2"/>
          <a:stretch>
            <a:fillRect/>
          </a:stretch>
        </p:blipFill>
        <p:spPr>
          <a:xfrm>
            <a:off x="1520982" y="2320896"/>
            <a:ext cx="9150036" cy="3843217"/>
          </a:xfrm>
          <a:prstGeom prst="rect">
            <a:avLst/>
          </a:prstGeom>
        </p:spPr>
      </p:pic>
      <p:sp>
        <p:nvSpPr>
          <p:cNvPr id="6" name="Text Placeholder 1">
            <a:extLst>
              <a:ext uri="{FF2B5EF4-FFF2-40B4-BE49-F238E27FC236}">
                <a16:creationId xmlns:a16="http://schemas.microsoft.com/office/drawing/2014/main" id="{177332E1-CF79-7F41-36D7-2AF4A978383B}"/>
              </a:ext>
            </a:extLst>
          </p:cNvPr>
          <p:cNvSpPr>
            <a:spLocks noGrp="1"/>
          </p:cNvSpPr>
          <p:nvPr>
            <p:ph type="body" idx="1"/>
          </p:nvPr>
        </p:nvSpPr>
        <p:spPr>
          <a:xfrm>
            <a:off x="2260600" y="6532563"/>
            <a:ext cx="9698038" cy="133350"/>
          </a:xfrm>
        </p:spPr>
        <p:txBody>
          <a:bodyPr/>
          <a:lstStyle/>
          <a:p>
            <a:r>
              <a:rPr lang="en-US" dirty="0"/>
              <a:t>Image Ref: https://claude.com/blog/the-ai-native-sdlc-playbook</a:t>
            </a:r>
          </a:p>
        </p:txBody>
      </p:sp>
    </p:spTree>
    <p:extLst>
      <p:ext uri="{BB962C8B-B14F-4D97-AF65-F5344CB8AC3E}">
        <p14:creationId xmlns:p14="http://schemas.microsoft.com/office/powerpoint/2010/main" val="198475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67B48A-9C27-D737-29D3-84CDEC6809C3}"/>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2963F55D-67F6-C31E-0366-B2B36FDD9728}"/>
              </a:ext>
            </a:extLst>
          </p:cNvPr>
          <p:cNvSpPr>
            <a:spLocks noGrp="1"/>
          </p:cNvSpPr>
          <p:nvPr>
            <p:ph type="body" idx="2"/>
          </p:nvPr>
        </p:nvSpPr>
        <p:spPr/>
        <p:txBody>
          <a:bodyPr/>
          <a:lstStyle/>
          <a:p>
            <a:r>
              <a:rPr lang="en-US" dirty="0"/>
              <a:t>The bottleneck moves to the stages on either side of the build phase: mainly plan, review/test, and deploy, which still run at human speed.</a:t>
            </a:r>
          </a:p>
          <a:p>
            <a:r>
              <a:rPr lang="en-US" dirty="0"/>
              <a:t>The controls stop matching reality and become intractable. </a:t>
            </a:r>
          </a:p>
          <a:p>
            <a:r>
              <a:rPr lang="en-US" dirty="0"/>
              <a:t>Reviewing each line by hand made sense when a person had written it, but it can't keep up once agents write most of the diff.</a:t>
            </a:r>
          </a:p>
          <a:p>
            <a:r>
              <a:rPr lang="en-US" dirty="0"/>
              <a:t>Governance costs increase because exceptions still route through meetings and committees that meet weekly or monthly.</a:t>
            </a:r>
          </a:p>
          <a:p>
            <a:r>
              <a:rPr lang="en-US" i="1" dirty="0">
                <a:solidFill>
                  <a:srgbClr val="FF0000"/>
                </a:solidFill>
              </a:rPr>
              <a:t>The bottleneck moved: build collapses to agent speed while the stages around it still run at human speed.</a:t>
            </a:r>
            <a:endParaRPr lang="en-US" dirty="0">
              <a:solidFill>
                <a:srgbClr val="FF0000"/>
              </a:solidFill>
            </a:endParaRPr>
          </a:p>
        </p:txBody>
      </p:sp>
      <p:sp>
        <p:nvSpPr>
          <p:cNvPr id="4" name="Title 3">
            <a:extLst>
              <a:ext uri="{FF2B5EF4-FFF2-40B4-BE49-F238E27FC236}">
                <a16:creationId xmlns:a16="http://schemas.microsoft.com/office/drawing/2014/main" id="{E4555A71-4618-D543-56F7-FC02329B6B06}"/>
              </a:ext>
            </a:extLst>
          </p:cNvPr>
          <p:cNvSpPr>
            <a:spLocks noGrp="1"/>
          </p:cNvSpPr>
          <p:nvPr>
            <p:ph type="title"/>
          </p:nvPr>
        </p:nvSpPr>
        <p:spPr/>
        <p:txBody>
          <a:bodyPr/>
          <a:lstStyle/>
          <a:p>
            <a:r>
              <a:rPr lang="en-US" dirty="0"/>
              <a:t>When code is no longer the bottleneck</a:t>
            </a:r>
          </a:p>
        </p:txBody>
      </p:sp>
    </p:spTree>
    <p:extLst>
      <p:ext uri="{BB962C8B-B14F-4D97-AF65-F5344CB8AC3E}">
        <p14:creationId xmlns:p14="http://schemas.microsoft.com/office/powerpoint/2010/main" val="74948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89392E-4B22-548D-1FD7-5BB79655850B}"/>
              </a:ext>
            </a:extLst>
          </p:cNvPr>
          <p:cNvSpPr>
            <a:spLocks noGrp="1"/>
          </p:cNvSpPr>
          <p:nvPr>
            <p:ph type="body" idx="1"/>
          </p:nvPr>
        </p:nvSpPr>
        <p:spPr/>
        <p:txBody>
          <a:bodyPr/>
          <a:lstStyle/>
          <a:p>
            <a:r>
              <a:rPr lang="en-US" dirty="0"/>
              <a:t>Image Ref: https://claude.com/blog/the-ai-native-sdlc-playbook</a:t>
            </a:r>
          </a:p>
        </p:txBody>
      </p:sp>
      <p:sp>
        <p:nvSpPr>
          <p:cNvPr id="3" name="Text Placeholder 2">
            <a:extLst>
              <a:ext uri="{FF2B5EF4-FFF2-40B4-BE49-F238E27FC236}">
                <a16:creationId xmlns:a16="http://schemas.microsoft.com/office/drawing/2014/main" id="{5E230600-B85E-2399-B714-33A254F2B798}"/>
              </a:ext>
            </a:extLst>
          </p:cNvPr>
          <p:cNvSpPr>
            <a:spLocks noGrp="1"/>
          </p:cNvSpPr>
          <p:nvPr>
            <p:ph type="body" idx="2"/>
          </p:nvPr>
        </p:nvSpPr>
        <p:spPr/>
        <p:txBody>
          <a:bodyPr/>
          <a:lstStyle/>
          <a:p>
            <a:r>
              <a:rPr lang="en-US" dirty="0"/>
              <a:t>The AI-native SDLC promotes automated handover and triggering of subsequent plays.</a:t>
            </a:r>
          </a:p>
          <a:p>
            <a:r>
              <a:rPr lang="en-US" dirty="0"/>
              <a:t>Address the manual handoff between the phases of the traditional SDLC.</a:t>
            </a:r>
          </a:p>
        </p:txBody>
      </p:sp>
      <p:sp>
        <p:nvSpPr>
          <p:cNvPr id="4" name="Title 3">
            <a:extLst>
              <a:ext uri="{FF2B5EF4-FFF2-40B4-BE49-F238E27FC236}">
                <a16:creationId xmlns:a16="http://schemas.microsoft.com/office/drawing/2014/main" id="{24E12716-3908-E26A-C72B-4D58DBF2845E}"/>
              </a:ext>
            </a:extLst>
          </p:cNvPr>
          <p:cNvSpPr>
            <a:spLocks noGrp="1"/>
          </p:cNvSpPr>
          <p:nvPr>
            <p:ph type="title"/>
          </p:nvPr>
        </p:nvSpPr>
        <p:spPr/>
        <p:txBody>
          <a:bodyPr>
            <a:normAutofit fontScale="90000"/>
          </a:bodyPr>
          <a:lstStyle/>
          <a:p>
            <a:br>
              <a:rPr lang="en-US" b="0" dirty="0"/>
            </a:br>
            <a:r>
              <a:rPr lang="en-US" b="0" dirty="0"/>
              <a:t>AI-native SDLC</a:t>
            </a:r>
            <a:br>
              <a:rPr lang="en-US" b="0" dirty="0"/>
            </a:br>
            <a:endParaRPr lang="en-US" dirty="0"/>
          </a:p>
        </p:txBody>
      </p:sp>
      <p:pic>
        <p:nvPicPr>
          <p:cNvPr id="6" name="Picture 5">
            <a:extLst>
              <a:ext uri="{FF2B5EF4-FFF2-40B4-BE49-F238E27FC236}">
                <a16:creationId xmlns:a16="http://schemas.microsoft.com/office/drawing/2014/main" id="{FFA73CEF-7CDC-4E62-9C41-0EBF28A895C5}"/>
              </a:ext>
            </a:extLst>
          </p:cNvPr>
          <p:cNvPicPr>
            <a:picLocks noChangeAspect="1"/>
          </p:cNvPicPr>
          <p:nvPr/>
        </p:nvPicPr>
        <p:blipFill>
          <a:blip r:embed="rId2"/>
          <a:stretch>
            <a:fillRect/>
          </a:stretch>
        </p:blipFill>
        <p:spPr>
          <a:xfrm>
            <a:off x="1774482" y="2768471"/>
            <a:ext cx="8501204" cy="3317152"/>
          </a:xfrm>
          <a:prstGeom prst="rect">
            <a:avLst/>
          </a:prstGeom>
        </p:spPr>
      </p:pic>
    </p:spTree>
    <p:extLst>
      <p:ext uri="{BB962C8B-B14F-4D97-AF65-F5344CB8AC3E}">
        <p14:creationId xmlns:p14="http://schemas.microsoft.com/office/powerpoint/2010/main" val="2358943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428542-5F47-026A-CF00-3E7AD85FF215}"/>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CFAF5D3B-A93D-01B8-E924-181C15FCFB06}"/>
              </a:ext>
            </a:extLst>
          </p:cNvPr>
          <p:cNvSpPr>
            <a:spLocks noGrp="1"/>
          </p:cNvSpPr>
          <p:nvPr>
            <p:ph type="body" idx="2"/>
          </p:nvPr>
        </p:nvSpPr>
        <p:spPr/>
        <p:txBody>
          <a:bodyPr/>
          <a:lstStyle/>
          <a:p>
            <a:r>
              <a:rPr lang="en-US" b="1" dirty="0"/>
              <a:t>A Spec-First Approach to AI-Native Engineering</a:t>
            </a:r>
          </a:p>
          <a:p>
            <a:r>
              <a:rPr lang="en-US" dirty="0"/>
              <a:t>Teams often ship software that works but still misses the original intent.</a:t>
            </a:r>
          </a:p>
          <a:p>
            <a:r>
              <a:rPr lang="en-US" dirty="0"/>
              <a:t>Prompt-first workflows can work well for simple tasks, but they often struggle as scope and complexity increase.</a:t>
            </a:r>
          </a:p>
          <a:p>
            <a:r>
              <a:rPr lang="en-US" dirty="0"/>
              <a:t>Spec-Driven Development (SDD) is a spec-first approach. </a:t>
            </a:r>
          </a:p>
          <a:p>
            <a:r>
              <a:rPr lang="en-US" dirty="0"/>
              <a:t>Teams define common guardrails, requirements, constraints, acceptance criteria, and edge cases up front, then use AI to generate code, tests, and supporting artifacts from that shared context.</a:t>
            </a:r>
          </a:p>
          <a:p>
            <a:r>
              <a:rPr lang="en-US" dirty="0"/>
              <a:t>In practice, the spec becomes the connective tissue across the lifecycle.</a:t>
            </a:r>
          </a:p>
          <a:p>
            <a:endParaRPr lang="en-US" dirty="0"/>
          </a:p>
        </p:txBody>
      </p:sp>
      <p:sp>
        <p:nvSpPr>
          <p:cNvPr id="4" name="Title 3">
            <a:extLst>
              <a:ext uri="{FF2B5EF4-FFF2-40B4-BE49-F238E27FC236}">
                <a16:creationId xmlns:a16="http://schemas.microsoft.com/office/drawing/2014/main" id="{5616FCF4-BFF5-84D4-E88B-D7771F2DFFAF}"/>
              </a:ext>
            </a:extLst>
          </p:cNvPr>
          <p:cNvSpPr>
            <a:spLocks noGrp="1"/>
          </p:cNvSpPr>
          <p:nvPr>
            <p:ph type="title"/>
          </p:nvPr>
        </p:nvSpPr>
        <p:spPr/>
        <p:txBody>
          <a:bodyPr>
            <a:normAutofit fontScale="90000"/>
          </a:bodyPr>
          <a:lstStyle/>
          <a:p>
            <a:br>
              <a:rPr lang="en-US" dirty="0"/>
            </a:br>
            <a:r>
              <a:rPr lang="en-US" dirty="0"/>
              <a:t>Spec-Driven Development</a:t>
            </a:r>
            <a:br>
              <a:rPr lang="en-US" dirty="0"/>
            </a:br>
            <a:endParaRPr lang="en-US" dirty="0"/>
          </a:p>
        </p:txBody>
      </p:sp>
    </p:spTree>
    <p:extLst>
      <p:ext uri="{BB962C8B-B14F-4D97-AF65-F5344CB8AC3E}">
        <p14:creationId xmlns:p14="http://schemas.microsoft.com/office/powerpoint/2010/main" val="774793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7DF302-2BD5-C210-EB0F-43E1B461DE33}"/>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9D5CECF-86BD-832A-D888-34AE4D6D93EC}"/>
              </a:ext>
            </a:extLst>
          </p:cNvPr>
          <p:cNvSpPr>
            <a:spLocks noGrp="1"/>
          </p:cNvSpPr>
          <p:nvPr>
            <p:ph type="body" idx="2"/>
          </p:nvPr>
        </p:nvSpPr>
        <p:spPr/>
        <p:txBody>
          <a:bodyPr/>
          <a:lstStyle/>
          <a:p>
            <a:pPr lvl="0"/>
            <a:r>
              <a:rPr lang="en-US" dirty="0"/>
              <a:t>Less ambiguity and rework because requirements are clarified earlier.</a:t>
            </a:r>
          </a:p>
          <a:p>
            <a:pPr lvl="0"/>
            <a:r>
              <a:rPr lang="en-US" dirty="0"/>
              <a:t>Better alignment across product, engineering, and test through a shared source of truth.</a:t>
            </a:r>
          </a:p>
          <a:p>
            <a:pPr lvl="0"/>
            <a:r>
              <a:rPr lang="en-US" dirty="0"/>
              <a:t>Faster implementation because AI can generate against structured context.</a:t>
            </a:r>
          </a:p>
          <a:p>
            <a:pPr lvl="0"/>
            <a:r>
              <a:rPr lang="en-US" dirty="0"/>
              <a:t>More predictable delivery because validation is tied back to the original intent.</a:t>
            </a:r>
          </a:p>
          <a:p>
            <a:endParaRPr lang="en-US" dirty="0"/>
          </a:p>
        </p:txBody>
      </p:sp>
      <p:sp>
        <p:nvSpPr>
          <p:cNvPr id="4" name="Title 3">
            <a:extLst>
              <a:ext uri="{FF2B5EF4-FFF2-40B4-BE49-F238E27FC236}">
                <a16:creationId xmlns:a16="http://schemas.microsoft.com/office/drawing/2014/main" id="{7B77328C-4F35-D327-A642-131A96AAE86C}"/>
              </a:ext>
            </a:extLst>
          </p:cNvPr>
          <p:cNvSpPr>
            <a:spLocks noGrp="1"/>
          </p:cNvSpPr>
          <p:nvPr>
            <p:ph type="title"/>
          </p:nvPr>
        </p:nvSpPr>
        <p:spPr/>
        <p:txBody>
          <a:bodyPr>
            <a:normAutofit fontScale="90000"/>
          </a:bodyPr>
          <a:lstStyle/>
          <a:p>
            <a:br>
              <a:rPr lang="en-US" b="0" dirty="0"/>
            </a:br>
            <a:r>
              <a:rPr lang="en-US" b="0" dirty="0"/>
              <a:t>Spec-Driven-Development-Benefits</a:t>
            </a:r>
            <a:br>
              <a:rPr lang="en-US" b="0" dirty="0"/>
            </a:br>
            <a:endParaRPr lang="en-US" dirty="0"/>
          </a:p>
        </p:txBody>
      </p:sp>
    </p:spTree>
    <p:extLst>
      <p:ext uri="{BB962C8B-B14F-4D97-AF65-F5344CB8AC3E}">
        <p14:creationId xmlns:p14="http://schemas.microsoft.com/office/powerpoint/2010/main" val="2935333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BAE774-7660-3109-9EA1-7200396F1C38}"/>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4F5F5EBB-BECA-109E-C685-8C4F50CF251A}"/>
              </a:ext>
            </a:extLst>
          </p:cNvPr>
          <p:cNvSpPr>
            <a:spLocks noGrp="1"/>
          </p:cNvSpPr>
          <p:nvPr>
            <p:ph type="body" idx="2"/>
          </p:nvPr>
        </p:nvSpPr>
        <p:spPr/>
        <p:txBody>
          <a:bodyPr/>
          <a:lstStyle/>
          <a:p>
            <a:r>
              <a:rPr lang="en-US" dirty="0"/>
              <a:t>The ideas behind SDD matter only if teams can apply them consistently in day-to-day engineering work.</a:t>
            </a:r>
          </a:p>
          <a:p>
            <a:endParaRPr lang="en-US" dirty="0"/>
          </a:p>
          <a:p>
            <a:r>
              <a:rPr lang="en-US" b="1" dirty="0"/>
              <a:t>GitHub Spec Kit</a:t>
            </a:r>
          </a:p>
          <a:p>
            <a:r>
              <a:rPr lang="en-US" b="1" dirty="0"/>
              <a:t>Kiro</a:t>
            </a:r>
          </a:p>
          <a:p>
            <a:r>
              <a:rPr lang="en-US" b="1" dirty="0"/>
              <a:t>The AI-Native SDLC playbook-Anthropic</a:t>
            </a:r>
          </a:p>
          <a:p>
            <a:endParaRPr lang="en-US" b="1" dirty="0"/>
          </a:p>
        </p:txBody>
      </p:sp>
      <p:sp>
        <p:nvSpPr>
          <p:cNvPr id="4" name="Title 3">
            <a:extLst>
              <a:ext uri="{FF2B5EF4-FFF2-40B4-BE49-F238E27FC236}">
                <a16:creationId xmlns:a16="http://schemas.microsoft.com/office/drawing/2014/main" id="{04F431E0-CE6F-A809-7D2A-89ADF353116A}"/>
              </a:ext>
            </a:extLst>
          </p:cNvPr>
          <p:cNvSpPr>
            <a:spLocks noGrp="1"/>
          </p:cNvSpPr>
          <p:nvPr>
            <p:ph type="title"/>
          </p:nvPr>
        </p:nvSpPr>
        <p:spPr/>
        <p:txBody>
          <a:bodyPr/>
          <a:lstStyle/>
          <a:p>
            <a:r>
              <a:rPr lang="en-US" dirty="0"/>
              <a:t>Tools</a:t>
            </a:r>
          </a:p>
        </p:txBody>
      </p:sp>
    </p:spTree>
    <p:extLst>
      <p:ext uri="{BB962C8B-B14F-4D97-AF65-F5344CB8AC3E}">
        <p14:creationId xmlns:p14="http://schemas.microsoft.com/office/powerpoint/2010/main" val="56822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742D2-CEEE-7250-CF45-31F48859FF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0E08CB-AC14-00F5-0FAE-A6849C500C0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5C993FFC-5013-36C3-F504-D405BF842096}"/>
              </a:ext>
            </a:extLst>
          </p:cNvPr>
          <p:cNvSpPr>
            <a:spLocks noGrp="1"/>
          </p:cNvSpPr>
          <p:nvPr>
            <p:ph type="body" idx="2"/>
          </p:nvPr>
        </p:nvSpPr>
        <p:spPr/>
        <p:txBody>
          <a:bodyPr/>
          <a:lstStyle/>
          <a:p>
            <a:pPr lvl="1"/>
            <a:r>
              <a:rPr lang="en-US" b="1" dirty="0">
                <a:hlinkClick r:id="rId2"/>
              </a:rPr>
              <a:t>https://github.com/github/spec-kit</a:t>
            </a:r>
            <a:endParaRPr lang="en-US" b="1" dirty="0"/>
          </a:p>
          <a:p>
            <a:pPr lvl="1"/>
            <a:r>
              <a:rPr lang="en-US" b="1" dirty="0"/>
              <a:t>An open-source tools, created by Microsoft</a:t>
            </a:r>
            <a:endParaRPr lang="en-US" dirty="0"/>
          </a:p>
        </p:txBody>
      </p:sp>
      <p:sp>
        <p:nvSpPr>
          <p:cNvPr id="4" name="Title 3">
            <a:extLst>
              <a:ext uri="{FF2B5EF4-FFF2-40B4-BE49-F238E27FC236}">
                <a16:creationId xmlns:a16="http://schemas.microsoft.com/office/drawing/2014/main" id="{4FC51B49-2FCD-B7B6-8787-AE77507873D0}"/>
              </a:ext>
            </a:extLst>
          </p:cNvPr>
          <p:cNvSpPr>
            <a:spLocks noGrp="1"/>
          </p:cNvSpPr>
          <p:nvPr>
            <p:ph type="title"/>
          </p:nvPr>
        </p:nvSpPr>
        <p:spPr/>
        <p:txBody>
          <a:bodyPr/>
          <a:lstStyle/>
          <a:p>
            <a:r>
              <a:rPr lang="en-US" dirty="0"/>
              <a:t>GitHub Spec Kit </a:t>
            </a:r>
          </a:p>
        </p:txBody>
      </p:sp>
      <p:pic>
        <p:nvPicPr>
          <p:cNvPr id="6" name="Picture 5">
            <a:extLst>
              <a:ext uri="{FF2B5EF4-FFF2-40B4-BE49-F238E27FC236}">
                <a16:creationId xmlns:a16="http://schemas.microsoft.com/office/drawing/2014/main" id="{F89CB8A2-DB87-3987-42B6-7BA7668FA381}"/>
              </a:ext>
            </a:extLst>
          </p:cNvPr>
          <p:cNvPicPr>
            <a:picLocks noChangeAspect="1"/>
          </p:cNvPicPr>
          <p:nvPr/>
        </p:nvPicPr>
        <p:blipFill>
          <a:blip r:embed="rId3"/>
          <a:stretch>
            <a:fillRect/>
          </a:stretch>
        </p:blipFill>
        <p:spPr>
          <a:xfrm>
            <a:off x="2534971" y="2202754"/>
            <a:ext cx="6418152" cy="4145420"/>
          </a:xfrm>
          <a:prstGeom prst="rect">
            <a:avLst/>
          </a:prstGeom>
        </p:spPr>
      </p:pic>
    </p:spTree>
    <p:extLst>
      <p:ext uri="{BB962C8B-B14F-4D97-AF65-F5344CB8AC3E}">
        <p14:creationId xmlns:p14="http://schemas.microsoft.com/office/powerpoint/2010/main" val="242185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978FD-3C78-4BF2-A874-CE79F13380D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11435CA-A321-143C-9B71-21B6DA2BAF14}"/>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28E340B4-7FC3-0242-4FFB-F6352855A84F}"/>
              </a:ext>
            </a:extLst>
          </p:cNvPr>
          <p:cNvSpPr>
            <a:spLocks noGrp="1"/>
          </p:cNvSpPr>
          <p:nvPr>
            <p:ph type="body" idx="2"/>
          </p:nvPr>
        </p:nvSpPr>
        <p:spPr/>
        <p:txBody>
          <a:bodyPr/>
          <a:lstStyle/>
          <a:p>
            <a:r>
              <a:rPr lang="en-US" dirty="0"/>
              <a:t>GitHub Spec Kit has two key components</a:t>
            </a:r>
          </a:p>
          <a:p>
            <a:pPr lvl="0"/>
            <a:r>
              <a:rPr lang="en-US" b="1" dirty="0"/>
              <a:t>Specify CLI</a:t>
            </a:r>
            <a:r>
              <a:rPr lang="en-US" dirty="0"/>
              <a:t>. A helper CLI that bootstraps your projects for SDD. It downloads the official templates from the GitHub repo for the coding agent and platform of your choice and sets up the SDD scaffolding in a way that the agent can start iterating on it.</a:t>
            </a:r>
          </a:p>
          <a:p>
            <a:pPr lvl="0"/>
            <a:r>
              <a:rPr lang="en-US" b="1" dirty="0"/>
              <a:t>A set of templates and helper scripts</a:t>
            </a:r>
            <a:r>
              <a:rPr lang="en-US" dirty="0"/>
              <a:t>. This establishes the foundation for our SDD experience. Templates define what a spec looks like, what a technical plan encompasses for a given project, and how all of this is broken down into individual tasks that an AI agent can pick up and execute.</a:t>
            </a:r>
          </a:p>
          <a:p>
            <a:pPr lvl="1"/>
            <a:endParaRPr lang="en-US" dirty="0"/>
          </a:p>
        </p:txBody>
      </p:sp>
      <p:sp>
        <p:nvSpPr>
          <p:cNvPr id="4" name="Title 3">
            <a:extLst>
              <a:ext uri="{FF2B5EF4-FFF2-40B4-BE49-F238E27FC236}">
                <a16:creationId xmlns:a16="http://schemas.microsoft.com/office/drawing/2014/main" id="{9852851D-4ADD-E7E6-A86B-07A3572D7D1C}"/>
              </a:ext>
            </a:extLst>
          </p:cNvPr>
          <p:cNvSpPr>
            <a:spLocks noGrp="1"/>
          </p:cNvSpPr>
          <p:nvPr>
            <p:ph type="title"/>
          </p:nvPr>
        </p:nvSpPr>
        <p:spPr/>
        <p:txBody>
          <a:bodyPr/>
          <a:lstStyle/>
          <a:p>
            <a:r>
              <a:rPr lang="en-US" dirty="0"/>
              <a:t>GitHub Spec Kit </a:t>
            </a:r>
          </a:p>
        </p:txBody>
      </p:sp>
    </p:spTree>
    <p:extLst>
      <p:ext uri="{BB962C8B-B14F-4D97-AF65-F5344CB8AC3E}">
        <p14:creationId xmlns:p14="http://schemas.microsoft.com/office/powerpoint/2010/main" val="2288889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934747-AA7D-1145-5D2C-622FA2151E96}"/>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8C4C3619-9193-E0B1-A242-C895C1563460}"/>
              </a:ext>
            </a:extLst>
          </p:cNvPr>
          <p:cNvSpPr>
            <a:spLocks noGrp="1"/>
          </p:cNvSpPr>
          <p:nvPr>
            <p:ph type="body" idx="2"/>
          </p:nvPr>
        </p:nvSpPr>
        <p:spPr/>
        <p:txBody>
          <a:bodyPr>
            <a:normAutofit lnSpcReduction="10000"/>
          </a:bodyPr>
          <a:lstStyle/>
          <a:p>
            <a:r>
              <a:rPr lang="en-US" b="1" dirty="0"/>
              <a:t>Agentic AI by AWS</a:t>
            </a:r>
          </a:p>
          <a:p>
            <a:r>
              <a:rPr lang="en-US" dirty="0"/>
              <a:t>Kiro is available as a desktop IDE, a command-line interface, a web app, a mobile app, and a personal AI agent (Crew)</a:t>
            </a:r>
            <a:endParaRPr lang="en-US" b="1" dirty="0"/>
          </a:p>
          <a:p>
            <a:r>
              <a:rPr lang="en-US" b="1" dirty="0"/>
              <a:t>Workflow:</a:t>
            </a:r>
            <a:r>
              <a:rPr lang="en-US" dirty="0"/>
              <a:t> Requirements → Design → Tasks</a:t>
            </a:r>
          </a:p>
          <a:p>
            <a:r>
              <a:rPr lang="en-US" dirty="0"/>
              <a:t>Every spec generates three key files that form the foundation of your specification:</a:t>
            </a:r>
          </a:p>
          <a:p>
            <a:pPr lvl="1"/>
            <a:r>
              <a:rPr lang="en-US" b="1" dirty="0"/>
              <a:t>requirements.md</a:t>
            </a:r>
            <a:r>
              <a:rPr lang="en-US" dirty="0"/>
              <a:t> (or </a:t>
            </a:r>
            <a:r>
              <a:rPr lang="en-US" b="1" dirty="0"/>
              <a:t>bugfix.md</a:t>
            </a:r>
            <a:r>
              <a:rPr lang="en-US" dirty="0"/>
              <a:t>) - Captures user stories, acceptance criteria, or bug analysis in structured notation</a:t>
            </a:r>
          </a:p>
          <a:p>
            <a:pPr lvl="1"/>
            <a:r>
              <a:rPr lang="en-US" b="1" dirty="0"/>
              <a:t>design.md</a:t>
            </a:r>
            <a:r>
              <a:rPr lang="en-US" dirty="0"/>
              <a:t> - Documents technical architecture, sequence diagrams, and implementation considerations</a:t>
            </a:r>
          </a:p>
          <a:p>
            <a:pPr lvl="1"/>
            <a:r>
              <a:rPr lang="en-US" b="1" dirty="0"/>
              <a:t>tasks.md</a:t>
            </a:r>
            <a:r>
              <a:rPr lang="en-US" dirty="0"/>
              <a:t> - Provides a detailed implementation plan with discrete, trackable tasks</a:t>
            </a:r>
          </a:p>
          <a:p>
            <a:endParaRPr lang="en-US" dirty="0"/>
          </a:p>
        </p:txBody>
      </p:sp>
      <p:sp>
        <p:nvSpPr>
          <p:cNvPr id="4" name="Title 3">
            <a:extLst>
              <a:ext uri="{FF2B5EF4-FFF2-40B4-BE49-F238E27FC236}">
                <a16:creationId xmlns:a16="http://schemas.microsoft.com/office/drawing/2014/main" id="{A52ABD37-28FB-E3D9-C3F9-C760DB9FE8F3}"/>
              </a:ext>
            </a:extLst>
          </p:cNvPr>
          <p:cNvSpPr>
            <a:spLocks noGrp="1"/>
          </p:cNvSpPr>
          <p:nvPr>
            <p:ph type="title"/>
          </p:nvPr>
        </p:nvSpPr>
        <p:spPr/>
        <p:txBody>
          <a:bodyPr/>
          <a:lstStyle/>
          <a:p>
            <a:r>
              <a:rPr lang="en-US" dirty="0"/>
              <a:t>Kiro</a:t>
            </a:r>
          </a:p>
        </p:txBody>
      </p:sp>
    </p:spTree>
    <p:extLst>
      <p:ext uri="{BB962C8B-B14F-4D97-AF65-F5344CB8AC3E}">
        <p14:creationId xmlns:p14="http://schemas.microsoft.com/office/powerpoint/2010/main" val="1101153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5EE9-6F39-DB3F-7090-C3573E1D5A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6E5E84-E330-6BD3-F5FB-7EFB6009FC0C}"/>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A00AF647-03CF-8381-35EF-B547654216A3}"/>
              </a:ext>
            </a:extLst>
          </p:cNvPr>
          <p:cNvSpPr>
            <a:spLocks noGrp="1"/>
          </p:cNvSpPr>
          <p:nvPr>
            <p:ph type="body" idx="2"/>
          </p:nvPr>
        </p:nvSpPr>
        <p:spPr/>
        <p:txBody>
          <a:bodyPr>
            <a:normAutofit/>
          </a:bodyPr>
          <a:lstStyle/>
          <a:p>
            <a:r>
              <a:rPr lang="en-US" dirty="0"/>
              <a:t>Kiro builds a </a:t>
            </a:r>
            <a:r>
              <a:rPr lang="en-US" b="1" dirty="0"/>
              <a:t>dependency graph</a:t>
            </a:r>
            <a:r>
              <a:rPr lang="en-US" dirty="0"/>
              <a:t> of the tasks in your tasks.md and groups independent tasks into </a:t>
            </a:r>
            <a:r>
              <a:rPr lang="en-US" b="1" dirty="0"/>
              <a:t>waves</a:t>
            </a:r>
            <a:r>
              <a:rPr lang="en-US" dirty="0"/>
              <a:t>:</a:t>
            </a:r>
          </a:p>
          <a:p>
            <a:pPr lvl="1"/>
            <a:r>
              <a:rPr lang="en-US" b="1" dirty="0"/>
              <a:t>Wave 1</a:t>
            </a:r>
            <a:r>
              <a:rPr lang="en-US" dirty="0"/>
              <a:t> - all tasks with no dependencies. These run concurrently.</a:t>
            </a:r>
          </a:p>
          <a:p>
            <a:pPr lvl="1"/>
            <a:r>
              <a:rPr lang="en-US" b="1" dirty="0"/>
              <a:t>Wave 2</a:t>
            </a:r>
            <a:r>
              <a:rPr lang="en-US" dirty="0"/>
              <a:t> - all tasks whose dependencies were satisfied by Wave 1. These run concurrently.</a:t>
            </a:r>
          </a:p>
          <a:p>
            <a:pPr lvl="1"/>
            <a:r>
              <a:rPr lang="en-US" b="1" dirty="0"/>
              <a:t>Wave N</a:t>
            </a:r>
            <a:r>
              <a:rPr lang="en-US" dirty="0"/>
              <a:t> - continues until all tasks are complete.</a:t>
            </a:r>
          </a:p>
          <a:p>
            <a:r>
              <a:rPr lang="en-US" dirty="0"/>
              <a:t>Waves execute sequentially; tasks within a wave execute concurrently.</a:t>
            </a:r>
          </a:p>
          <a:p>
            <a:endParaRPr lang="en-US" dirty="0"/>
          </a:p>
        </p:txBody>
      </p:sp>
      <p:sp>
        <p:nvSpPr>
          <p:cNvPr id="4" name="Title 3">
            <a:extLst>
              <a:ext uri="{FF2B5EF4-FFF2-40B4-BE49-F238E27FC236}">
                <a16:creationId xmlns:a16="http://schemas.microsoft.com/office/drawing/2014/main" id="{E7B4580B-87A0-F5A2-8CEB-8B2AB94C12F7}"/>
              </a:ext>
            </a:extLst>
          </p:cNvPr>
          <p:cNvSpPr>
            <a:spLocks noGrp="1"/>
          </p:cNvSpPr>
          <p:nvPr>
            <p:ph type="title"/>
          </p:nvPr>
        </p:nvSpPr>
        <p:spPr/>
        <p:txBody>
          <a:bodyPr/>
          <a:lstStyle/>
          <a:p>
            <a:r>
              <a:rPr lang="en-US" dirty="0"/>
              <a:t>Kiro</a:t>
            </a:r>
          </a:p>
        </p:txBody>
      </p:sp>
    </p:spTree>
    <p:extLst>
      <p:ext uri="{BB962C8B-B14F-4D97-AF65-F5344CB8AC3E}">
        <p14:creationId xmlns:p14="http://schemas.microsoft.com/office/powerpoint/2010/main" val="3941053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D23B99-2CB8-5487-2432-66878D66555D}"/>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B48536BE-FDBD-8766-5780-44C3C584670B}"/>
              </a:ext>
            </a:extLst>
          </p:cNvPr>
          <p:cNvSpPr>
            <a:spLocks noGrp="1"/>
          </p:cNvSpPr>
          <p:nvPr>
            <p:ph type="body" idx="2"/>
          </p:nvPr>
        </p:nvSpPr>
        <p:spPr/>
        <p:txBody>
          <a:bodyPr/>
          <a:lstStyle/>
          <a:p>
            <a:r>
              <a:rPr lang="en-US" dirty="0"/>
              <a:t>Kiro supports two types of specs to match your development needs:</a:t>
            </a:r>
            <a:br>
              <a:rPr lang="en-US" dirty="0"/>
            </a:br>
            <a:r>
              <a:rPr lang="en-US" b="1" dirty="0"/>
              <a:t>Feature Specs: </a:t>
            </a:r>
            <a:r>
              <a:rPr lang="en-US" dirty="0"/>
              <a:t>For building new features and capabilities in your application.</a:t>
            </a:r>
          </a:p>
          <a:p>
            <a:r>
              <a:rPr lang="en-US" b="1" dirty="0"/>
              <a:t>Bugfix </a:t>
            </a:r>
            <a:r>
              <a:rPr lang="en-US" b="1" dirty="0" err="1"/>
              <a:t>Specs:</a:t>
            </a:r>
            <a:r>
              <a:rPr lang="en-US" dirty="0" err="1"/>
              <a:t>For</a:t>
            </a:r>
            <a:r>
              <a:rPr lang="en-US" dirty="0"/>
              <a:t> systematically diagnosing and fixing bugs with surgical precision while preventing regressions. </a:t>
            </a:r>
          </a:p>
          <a:p>
            <a:r>
              <a:rPr lang="en-US" b="1" dirty="0"/>
              <a:t>Steering Files:</a:t>
            </a:r>
            <a:r>
              <a:rPr lang="en-US" dirty="0"/>
              <a:t> Kiro scans your repository to generate persistent context files (product.md, tech.md, and structure.md) so the AI permanently understands your project conventions without needing repetitive explanations in chat. </a:t>
            </a:r>
            <a:endParaRPr lang="en-US" b="1" dirty="0"/>
          </a:p>
          <a:p>
            <a:r>
              <a:rPr lang="en-US" dirty="0"/>
              <a:t>Available as an IDE application, plus a CLI, browser interface, and mobile companion app. </a:t>
            </a:r>
          </a:p>
        </p:txBody>
      </p:sp>
      <p:sp>
        <p:nvSpPr>
          <p:cNvPr id="4" name="Title 3">
            <a:extLst>
              <a:ext uri="{FF2B5EF4-FFF2-40B4-BE49-F238E27FC236}">
                <a16:creationId xmlns:a16="http://schemas.microsoft.com/office/drawing/2014/main" id="{C4981B89-D27D-C726-E94E-5183BCCD1C52}"/>
              </a:ext>
            </a:extLst>
          </p:cNvPr>
          <p:cNvSpPr>
            <a:spLocks noGrp="1"/>
          </p:cNvSpPr>
          <p:nvPr>
            <p:ph type="title"/>
          </p:nvPr>
        </p:nvSpPr>
        <p:spPr/>
        <p:txBody>
          <a:bodyPr/>
          <a:lstStyle/>
          <a:p>
            <a:r>
              <a:rPr lang="en-US" dirty="0"/>
              <a:t>Kiro</a:t>
            </a:r>
          </a:p>
        </p:txBody>
      </p:sp>
    </p:spTree>
    <p:extLst>
      <p:ext uri="{BB962C8B-B14F-4D97-AF65-F5344CB8AC3E}">
        <p14:creationId xmlns:p14="http://schemas.microsoft.com/office/powerpoint/2010/main" val="1572045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5A85BA-B73E-523E-0684-D03F6F685258}"/>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835BECA4-3A7B-CF08-5573-062DE8141D46}"/>
              </a:ext>
            </a:extLst>
          </p:cNvPr>
          <p:cNvSpPr>
            <a:spLocks noGrp="1"/>
          </p:cNvSpPr>
          <p:nvPr>
            <p:ph type="body" idx="2"/>
          </p:nvPr>
        </p:nvSpPr>
        <p:spPr/>
        <p:txBody>
          <a:bodyPr/>
          <a:lstStyle/>
          <a:p>
            <a:r>
              <a:rPr lang="en-US" dirty="0"/>
              <a:t>The plays are the core of the playbook and are grouped into six non-linear stages (Plan, Design, Build, Test, Deploy, Maintain).</a:t>
            </a:r>
          </a:p>
          <a:p>
            <a:r>
              <a:rPr lang="en-US" dirty="0"/>
              <a:t>Each play covers:</a:t>
            </a:r>
          </a:p>
          <a:p>
            <a:pPr lvl="1"/>
            <a:r>
              <a:rPr lang="en-US" dirty="0"/>
              <a:t>What changes;</a:t>
            </a:r>
          </a:p>
          <a:p>
            <a:pPr lvl="1"/>
            <a:r>
              <a:rPr lang="en-US" dirty="0"/>
              <a:t>Getting started;</a:t>
            </a:r>
          </a:p>
          <a:p>
            <a:pPr lvl="1"/>
            <a:r>
              <a:rPr lang="en-US" dirty="0"/>
              <a:t>Concrete steps for implementation;</a:t>
            </a:r>
          </a:p>
          <a:p>
            <a:pPr lvl="1"/>
            <a:r>
              <a:rPr lang="en-US" dirty="0"/>
              <a:t>Governance considerations; and</a:t>
            </a:r>
          </a:p>
          <a:p>
            <a:pPr lvl="1"/>
            <a:r>
              <a:rPr lang="en-US" dirty="0"/>
              <a:t>How you measure whether it worked.</a:t>
            </a:r>
          </a:p>
          <a:p>
            <a:endParaRPr lang="en-US" dirty="0"/>
          </a:p>
        </p:txBody>
      </p:sp>
      <p:sp>
        <p:nvSpPr>
          <p:cNvPr id="4" name="Title 3">
            <a:extLst>
              <a:ext uri="{FF2B5EF4-FFF2-40B4-BE49-F238E27FC236}">
                <a16:creationId xmlns:a16="http://schemas.microsoft.com/office/drawing/2014/main" id="{2ADA8286-20F1-ADA3-E35E-1783A7ACB563}"/>
              </a:ext>
            </a:extLst>
          </p:cNvPr>
          <p:cNvSpPr>
            <a:spLocks noGrp="1"/>
          </p:cNvSpPr>
          <p:nvPr>
            <p:ph type="title"/>
          </p:nvPr>
        </p:nvSpPr>
        <p:spPr/>
        <p:txBody>
          <a:bodyPr>
            <a:normAutofit fontScale="90000"/>
          </a:bodyPr>
          <a:lstStyle/>
          <a:p>
            <a:br>
              <a:rPr lang="en-US" dirty="0"/>
            </a:br>
            <a:r>
              <a:rPr lang="en-US" dirty="0"/>
              <a:t>The AI-Native SDLC playbook</a:t>
            </a:r>
            <a:br>
              <a:rPr lang="en-US" dirty="0"/>
            </a:br>
            <a:endParaRPr lang="en-US" dirty="0"/>
          </a:p>
        </p:txBody>
      </p:sp>
    </p:spTree>
    <p:extLst>
      <p:ext uri="{BB962C8B-B14F-4D97-AF65-F5344CB8AC3E}">
        <p14:creationId xmlns:p14="http://schemas.microsoft.com/office/powerpoint/2010/main" val="3491120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565F20-5E8F-272A-20E5-0CC88FD15006}"/>
              </a:ext>
            </a:extLst>
          </p:cNvPr>
          <p:cNvSpPr>
            <a:spLocks noGrp="1"/>
          </p:cNvSpPr>
          <p:nvPr>
            <p:ph type="body" idx="1"/>
          </p:nvPr>
        </p:nvSpPr>
        <p:spPr/>
        <p:txBody>
          <a:bodyPr/>
          <a:lstStyle/>
          <a:p>
            <a:r>
              <a:rPr lang="en-US" dirty="0"/>
              <a:t>https://academy.claude.com/courses/ai-native-sdlc-playbook/introduction</a:t>
            </a:r>
          </a:p>
        </p:txBody>
      </p:sp>
      <p:pic>
        <p:nvPicPr>
          <p:cNvPr id="5" name="Picture 4" descr="Dependency graph of the twelve plays in five rows. Row 1, no prerequisites: Capture intent, CLAUDE.md, Skills, Feedback loop, Hooks, Plan mode. Row 2: Subagents (needs CLAUDE.md; the feedback loop helps), Evals (needs CLAUDE.md and the feedback loop). Row 3: Requirements and design (needs Capture intent and Skills), PR review (needs Evals and Subagents; Skills help). Row 4: CI/CD (needs PR review and Hooks). Row 5: Closing the loop (needs CI/CD and Capture intent). CLAUDE.md helps Skills but is not required.">
            <a:extLst>
              <a:ext uri="{FF2B5EF4-FFF2-40B4-BE49-F238E27FC236}">
                <a16:creationId xmlns:a16="http://schemas.microsoft.com/office/drawing/2014/main" id="{7C35880F-DD7C-66FD-58BB-2E90FF293664}"/>
              </a:ext>
            </a:extLst>
          </p:cNvPr>
          <p:cNvPicPr>
            <a:picLocks noChangeAspect="1"/>
          </p:cNvPicPr>
          <p:nvPr/>
        </p:nvPicPr>
        <p:blipFill>
          <a:blip r:embed="rId2"/>
          <a:stretch>
            <a:fillRect/>
          </a:stretch>
        </p:blipFill>
        <p:spPr>
          <a:xfrm>
            <a:off x="1874067" y="1226065"/>
            <a:ext cx="7810359" cy="4730436"/>
          </a:xfrm>
          <a:prstGeom prst="rect">
            <a:avLst/>
          </a:prstGeom>
        </p:spPr>
      </p:pic>
      <p:sp>
        <p:nvSpPr>
          <p:cNvPr id="3" name="Text Placeholder 2">
            <a:extLst>
              <a:ext uri="{FF2B5EF4-FFF2-40B4-BE49-F238E27FC236}">
                <a16:creationId xmlns:a16="http://schemas.microsoft.com/office/drawing/2014/main" id="{3B624045-0D2A-D437-5FD6-3C94F09DE77D}"/>
              </a:ext>
            </a:extLst>
          </p:cNvPr>
          <p:cNvSpPr>
            <a:spLocks noGrp="1"/>
          </p:cNvSpPr>
          <p:nvPr>
            <p:ph type="body" idx="2"/>
          </p:nvPr>
        </p:nvSpPr>
        <p:spPr>
          <a:xfrm>
            <a:off x="803967" y="1461455"/>
            <a:ext cx="10801350" cy="4938048"/>
          </a:xfrm>
        </p:spPr>
        <p:txBody>
          <a:bodyPr/>
          <a:lstStyle/>
          <a:p>
            <a:endParaRPr lang="en-US" dirty="0"/>
          </a:p>
        </p:txBody>
      </p:sp>
      <p:sp>
        <p:nvSpPr>
          <p:cNvPr id="4" name="Title 3">
            <a:extLst>
              <a:ext uri="{FF2B5EF4-FFF2-40B4-BE49-F238E27FC236}">
                <a16:creationId xmlns:a16="http://schemas.microsoft.com/office/drawing/2014/main" id="{E81E600F-9FF0-ED6F-FAB3-101E4C50C4AE}"/>
              </a:ext>
            </a:extLst>
          </p:cNvPr>
          <p:cNvSpPr>
            <a:spLocks noGrp="1"/>
          </p:cNvSpPr>
          <p:nvPr>
            <p:ph type="title"/>
          </p:nvPr>
        </p:nvSpPr>
        <p:spPr/>
        <p:txBody>
          <a:bodyPr/>
          <a:lstStyle/>
          <a:p>
            <a:r>
              <a:rPr lang="en-US" b="0" i="1" dirty="0"/>
              <a:t>The play dependency graph</a:t>
            </a:r>
            <a:endParaRPr lang="en-US" dirty="0"/>
          </a:p>
        </p:txBody>
      </p:sp>
    </p:spTree>
    <p:extLst>
      <p:ext uri="{BB962C8B-B14F-4D97-AF65-F5344CB8AC3E}">
        <p14:creationId xmlns:p14="http://schemas.microsoft.com/office/powerpoint/2010/main" val="1822732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D62690-CC71-6E29-AF2C-B3720C6A9196}"/>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F63B9DFD-6B9A-3421-5443-5625017CAB14}"/>
              </a:ext>
            </a:extLst>
          </p:cNvPr>
          <p:cNvSpPr>
            <a:spLocks noGrp="1"/>
          </p:cNvSpPr>
          <p:nvPr>
            <p:ph type="body" idx="2"/>
          </p:nvPr>
        </p:nvSpPr>
        <p:spPr/>
        <p:txBody>
          <a:bodyPr/>
          <a:lstStyle/>
          <a:p>
            <a:r>
              <a:rPr lang="en-US" dirty="0"/>
              <a:t>Each stage ends by writing one to version control and the next stage begins by reading it. </a:t>
            </a:r>
          </a:p>
          <a:p>
            <a:r>
              <a:rPr lang="en-US" dirty="0"/>
              <a:t>For the early stages, .md files are the predominant artifact because a product owner and an agent can both read and act on the same file. </a:t>
            </a:r>
          </a:p>
          <a:p>
            <a:r>
              <a:rPr lang="en-US" dirty="0"/>
              <a:t>From Build onward, the artifact is code and its records. </a:t>
            </a:r>
          </a:p>
          <a:p>
            <a:r>
              <a:rPr lang="en-US" dirty="0"/>
              <a:t>The chain of commits is also the audit trail: who asked for what, what the agent produced, and who approved it.</a:t>
            </a:r>
          </a:p>
        </p:txBody>
      </p:sp>
      <p:sp>
        <p:nvSpPr>
          <p:cNvPr id="4" name="Title 3">
            <a:extLst>
              <a:ext uri="{FF2B5EF4-FFF2-40B4-BE49-F238E27FC236}">
                <a16:creationId xmlns:a16="http://schemas.microsoft.com/office/drawing/2014/main" id="{F700A218-4C3A-F6D9-5CAC-1BAC8B0F571C}"/>
              </a:ext>
            </a:extLst>
          </p:cNvPr>
          <p:cNvSpPr>
            <a:spLocks noGrp="1"/>
          </p:cNvSpPr>
          <p:nvPr>
            <p:ph type="title"/>
          </p:nvPr>
        </p:nvSpPr>
        <p:spPr/>
        <p:txBody>
          <a:bodyPr/>
          <a:lstStyle/>
          <a:p>
            <a:r>
              <a:rPr lang="en-US" dirty="0"/>
              <a:t>The AI-Native SDLC playbook</a:t>
            </a:r>
          </a:p>
        </p:txBody>
      </p:sp>
    </p:spTree>
    <p:extLst>
      <p:ext uri="{BB962C8B-B14F-4D97-AF65-F5344CB8AC3E}">
        <p14:creationId xmlns:p14="http://schemas.microsoft.com/office/powerpoint/2010/main" val="31588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2E2135-5CE9-B752-EB52-C66DD4594B1F}"/>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6283F23F-3859-D07D-80C4-B4FAA402063B}"/>
              </a:ext>
            </a:extLst>
          </p:cNvPr>
          <p:cNvSpPr>
            <a:spLocks noGrp="1"/>
          </p:cNvSpPr>
          <p:nvPr>
            <p:ph type="body" idx="2"/>
          </p:nvPr>
        </p:nvSpPr>
        <p:spPr/>
        <p:txBody>
          <a:bodyPr/>
          <a:lstStyle/>
          <a:p>
            <a:pPr lvl="0" fontAlgn="base"/>
            <a:r>
              <a:rPr lang="en-US" sz="2000" b="1" dirty="0"/>
              <a:t>Spec-first</a:t>
            </a:r>
            <a:r>
              <a:rPr lang="en-US" sz="2000" dirty="0"/>
              <a:t>: A well thought-out spec is written first, and then used in the AI-assisted development workflow for the task at hand.</a:t>
            </a:r>
          </a:p>
          <a:p>
            <a:pPr lvl="0" fontAlgn="base"/>
            <a:r>
              <a:rPr lang="en-US" sz="2000" b="1" dirty="0"/>
              <a:t>Spec-anchored</a:t>
            </a:r>
            <a:r>
              <a:rPr lang="en-US" sz="2000" dirty="0"/>
              <a:t>: The spec is kept even after the task is complete, to continue using it for evolution and maintenance of the respective feature.</a:t>
            </a:r>
          </a:p>
          <a:p>
            <a:pPr lvl="0" fontAlgn="base"/>
            <a:r>
              <a:rPr lang="en-US" sz="2000" b="1" dirty="0"/>
              <a:t>Spec-as-source</a:t>
            </a:r>
            <a:r>
              <a:rPr lang="en-US" sz="2000" dirty="0"/>
              <a:t>: The spec is the main source file over time, and only the spec is edited by the human, the human never touches the code.</a:t>
            </a:r>
          </a:p>
          <a:p>
            <a:endParaRPr lang="en-US" dirty="0"/>
          </a:p>
        </p:txBody>
      </p:sp>
      <p:sp>
        <p:nvSpPr>
          <p:cNvPr id="4" name="Title 3">
            <a:extLst>
              <a:ext uri="{FF2B5EF4-FFF2-40B4-BE49-F238E27FC236}">
                <a16:creationId xmlns:a16="http://schemas.microsoft.com/office/drawing/2014/main" id="{3D5450F4-3CDF-5F5A-7AB6-E590FCA88B9C}"/>
              </a:ext>
            </a:extLst>
          </p:cNvPr>
          <p:cNvSpPr>
            <a:spLocks noGrp="1"/>
          </p:cNvSpPr>
          <p:nvPr>
            <p:ph type="title"/>
          </p:nvPr>
        </p:nvSpPr>
        <p:spPr/>
        <p:txBody>
          <a:bodyPr/>
          <a:lstStyle/>
          <a:p>
            <a:r>
              <a:rPr lang="en-US" dirty="0"/>
              <a:t>SDD Approaches</a:t>
            </a:r>
          </a:p>
        </p:txBody>
      </p:sp>
      <p:pic>
        <p:nvPicPr>
          <p:cNvPr id="5" name="Picture 4" descr="An illustration of the three observed levels of SDD, in 2 columns of “Creation of feature” and “Evolution and maintenance of feature”, each level shown in a row. Spec-first: Spec documents lead to code, both specs and code are marked with a robot and human icon, to show that both AI and humans are editing specs and code. Then after creation of feature, the specs are deleted, and during evolution a new spec is created that describes the change. Next row is spec-anchored, shows the same as spec-first, but the spec is not deleted after creation, instead it gets edited during evolution. Final row is spec-as-source, same as spec-anchored, but the human icon is crossed out for the code files, because humans here do not edit the code. All three concepts are connected with inheritance arrows (arrow with a head that is not filled with color), because they build up on top of each other.">
            <a:extLst>
              <a:ext uri="{FF2B5EF4-FFF2-40B4-BE49-F238E27FC236}">
                <a16:creationId xmlns:a16="http://schemas.microsoft.com/office/drawing/2014/main" id="{3E2E1B6E-60C9-64A4-DE8C-E267118434AD}"/>
              </a:ext>
            </a:extLst>
          </p:cNvPr>
          <p:cNvPicPr>
            <a:picLocks noChangeAspect="1"/>
          </p:cNvPicPr>
          <p:nvPr/>
        </p:nvPicPr>
        <p:blipFill>
          <a:blip r:embed="rId2"/>
          <a:stretch>
            <a:fillRect/>
          </a:stretch>
        </p:blipFill>
        <p:spPr>
          <a:xfrm>
            <a:off x="1448554" y="3567921"/>
            <a:ext cx="8845237" cy="3058201"/>
          </a:xfrm>
          <a:prstGeom prst="rect">
            <a:avLst/>
          </a:prstGeom>
        </p:spPr>
      </p:pic>
    </p:spTree>
    <p:extLst>
      <p:ext uri="{BB962C8B-B14F-4D97-AF65-F5344CB8AC3E}">
        <p14:creationId xmlns:p14="http://schemas.microsoft.com/office/powerpoint/2010/main" val="2798781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314441-F20C-36D6-790D-C84BEDB0F08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82443DA7-835F-262C-5B53-540CE823EED7}"/>
              </a:ext>
            </a:extLst>
          </p:cNvPr>
          <p:cNvSpPr>
            <a:spLocks noGrp="1"/>
          </p:cNvSpPr>
          <p:nvPr>
            <p:ph type="body" idx="2"/>
          </p:nvPr>
        </p:nvSpPr>
        <p:spPr>
          <a:xfrm>
            <a:off x="695325" y="1226065"/>
            <a:ext cx="9698644" cy="4938048"/>
          </a:xfrm>
        </p:spPr>
        <p:txBody>
          <a:bodyPr>
            <a:normAutofit/>
          </a:bodyPr>
          <a:lstStyle/>
          <a:p>
            <a:r>
              <a:rPr lang="en-US" dirty="0"/>
              <a:t>Harder to evaluate their usefulness for brownfield codebases. </a:t>
            </a:r>
          </a:p>
          <a:p>
            <a:r>
              <a:rPr lang="en-US" dirty="0"/>
              <a:t>False sense of control</a:t>
            </a:r>
          </a:p>
          <a:p>
            <a:r>
              <a:rPr lang="en-US" dirty="0"/>
              <a:t>Reviewing markdown over reviewing code</a:t>
            </a:r>
          </a:p>
          <a:p>
            <a:endParaRPr lang="en-US" b="1" dirty="0"/>
          </a:p>
          <a:p>
            <a:endParaRPr lang="en-US" dirty="0"/>
          </a:p>
        </p:txBody>
      </p:sp>
      <p:sp>
        <p:nvSpPr>
          <p:cNvPr id="4" name="Title 3">
            <a:extLst>
              <a:ext uri="{FF2B5EF4-FFF2-40B4-BE49-F238E27FC236}">
                <a16:creationId xmlns:a16="http://schemas.microsoft.com/office/drawing/2014/main" id="{8057ADC7-E1E5-46CB-C7F1-FF427DAEC2D7}"/>
              </a:ext>
            </a:extLst>
          </p:cNvPr>
          <p:cNvSpPr>
            <a:spLocks noGrp="1"/>
          </p:cNvSpPr>
          <p:nvPr>
            <p:ph type="title"/>
          </p:nvPr>
        </p:nvSpPr>
        <p:spPr/>
        <p:txBody>
          <a:bodyPr>
            <a:normAutofit fontScale="90000"/>
          </a:bodyPr>
          <a:lstStyle/>
          <a:p>
            <a:br>
              <a:rPr lang="en-US" dirty="0"/>
            </a:br>
            <a:r>
              <a:rPr lang="en-US" dirty="0"/>
              <a:t>The challenge with SDD tools</a:t>
            </a:r>
            <a:br>
              <a:rPr lang="en-US" dirty="0"/>
            </a:br>
            <a:endParaRPr lang="en-US" dirty="0"/>
          </a:p>
        </p:txBody>
      </p:sp>
    </p:spTree>
    <p:extLst>
      <p:ext uri="{BB962C8B-B14F-4D97-AF65-F5344CB8AC3E}">
        <p14:creationId xmlns:p14="http://schemas.microsoft.com/office/powerpoint/2010/main" val="4129590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297ABF-C77E-5FF6-2E46-A48D743D3D99}"/>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EDC40D99-603A-ABFA-1F21-8695CB1E2AEE}"/>
              </a:ext>
            </a:extLst>
          </p:cNvPr>
          <p:cNvSpPr>
            <a:spLocks noGrp="1"/>
          </p:cNvSpPr>
          <p:nvPr>
            <p:ph type="body" idx="2"/>
          </p:nvPr>
        </p:nvSpPr>
        <p:spPr/>
        <p:txBody>
          <a:bodyPr>
            <a:normAutofit fontScale="92500" lnSpcReduction="10000"/>
          </a:bodyPr>
          <a:lstStyle/>
          <a:p>
            <a:r>
              <a:rPr lang="en-US" dirty="0"/>
              <a:t>Requirements elicitation remains one of the least automated stages of software delivery. </a:t>
            </a:r>
          </a:p>
          <a:p>
            <a:r>
              <a:rPr lang="en-US" dirty="0"/>
              <a:t>Requirements elicitation is the process of discovering, understanding and documenting what stakeholders need from a proposed system.</a:t>
            </a:r>
          </a:p>
          <a:p>
            <a:r>
              <a:rPr lang="en-US" dirty="0"/>
              <a:t>Common elicitation techniques</a:t>
            </a:r>
          </a:p>
          <a:p>
            <a:pPr lvl="1" fontAlgn="base"/>
            <a:r>
              <a:rPr lang="en-US" dirty="0"/>
              <a:t>Stakeholder interviews</a:t>
            </a:r>
          </a:p>
          <a:p>
            <a:pPr lvl="1" fontAlgn="base"/>
            <a:r>
              <a:rPr lang="en-US" dirty="0"/>
              <a:t>Workshops</a:t>
            </a:r>
          </a:p>
          <a:p>
            <a:pPr lvl="1" fontAlgn="base"/>
            <a:r>
              <a:rPr lang="en-US" dirty="0"/>
              <a:t>Observation</a:t>
            </a:r>
          </a:p>
          <a:p>
            <a:pPr lvl="1" fontAlgn="base"/>
            <a:r>
              <a:rPr lang="en-US" dirty="0"/>
              <a:t>Document analysis</a:t>
            </a:r>
          </a:p>
          <a:p>
            <a:pPr lvl="1" fontAlgn="base"/>
            <a:r>
              <a:rPr lang="en-US" dirty="0"/>
              <a:t>Surveys</a:t>
            </a:r>
          </a:p>
          <a:p>
            <a:pPr lvl="1" fontAlgn="base"/>
            <a:r>
              <a:rPr lang="en-US" dirty="0"/>
              <a:t>Process mapping</a:t>
            </a:r>
          </a:p>
          <a:p>
            <a:pPr lvl="1" fontAlgn="base"/>
            <a:r>
              <a:rPr lang="en-US" dirty="0"/>
              <a:t>Prototyping</a:t>
            </a:r>
          </a:p>
          <a:p>
            <a:endParaRPr lang="en-US" dirty="0"/>
          </a:p>
        </p:txBody>
      </p:sp>
      <p:sp>
        <p:nvSpPr>
          <p:cNvPr id="4" name="Title 3">
            <a:extLst>
              <a:ext uri="{FF2B5EF4-FFF2-40B4-BE49-F238E27FC236}">
                <a16:creationId xmlns:a16="http://schemas.microsoft.com/office/drawing/2014/main" id="{8E019FDF-E357-C222-36B0-CB937FE391E4}"/>
              </a:ext>
            </a:extLst>
          </p:cNvPr>
          <p:cNvSpPr>
            <a:spLocks noGrp="1"/>
          </p:cNvSpPr>
          <p:nvPr>
            <p:ph type="title"/>
          </p:nvPr>
        </p:nvSpPr>
        <p:spPr/>
        <p:txBody>
          <a:bodyPr/>
          <a:lstStyle/>
          <a:p>
            <a:r>
              <a:rPr lang="en-US" dirty="0"/>
              <a:t>AI Requirements Elicitation </a:t>
            </a:r>
          </a:p>
        </p:txBody>
      </p:sp>
    </p:spTree>
    <p:extLst>
      <p:ext uri="{BB962C8B-B14F-4D97-AF65-F5344CB8AC3E}">
        <p14:creationId xmlns:p14="http://schemas.microsoft.com/office/powerpoint/2010/main" val="3573662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C9E487-BD1C-7792-633D-707F56FA7C2F}"/>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E5B75B5C-777E-35B4-DE2C-D0C0E66D7D75}"/>
              </a:ext>
            </a:extLst>
          </p:cNvPr>
          <p:cNvSpPr>
            <a:spLocks noGrp="1"/>
          </p:cNvSpPr>
          <p:nvPr>
            <p:ph type="body" idx="2"/>
          </p:nvPr>
        </p:nvSpPr>
        <p:spPr/>
        <p:txBody>
          <a:bodyPr/>
          <a:lstStyle/>
          <a:p>
            <a:r>
              <a:rPr lang="en-US" dirty="0">
                <a:hlinkClick r:id="rId2"/>
              </a:rPr>
              <a:t>https://claude.com/blog/the-ai-native-sdlc-playbook</a:t>
            </a:r>
            <a:endParaRPr lang="en-US" dirty="0"/>
          </a:p>
          <a:p>
            <a:r>
              <a:rPr lang="en-US" dirty="0">
                <a:hlinkClick r:id="rId3"/>
              </a:rPr>
              <a:t>https://developer.microsoft.com/blog/spec-driven-development-ai-native-engineering/</a:t>
            </a:r>
            <a:endParaRPr lang="en-US" dirty="0"/>
          </a:p>
          <a:p>
            <a:r>
              <a:rPr lang="en-US" dirty="0"/>
              <a:t>https://martinfowler.com/articles/exploring-gen-ai/sdd-3-tools.html</a:t>
            </a:r>
          </a:p>
        </p:txBody>
      </p:sp>
      <p:sp>
        <p:nvSpPr>
          <p:cNvPr id="4" name="Title 3">
            <a:extLst>
              <a:ext uri="{FF2B5EF4-FFF2-40B4-BE49-F238E27FC236}">
                <a16:creationId xmlns:a16="http://schemas.microsoft.com/office/drawing/2014/main" id="{9BBB71B0-72B9-EFC3-EB0E-EAC3D5E5FF50}"/>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3470054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4" name="Content Placeholder 3"/>
          <p:cNvSpPr>
            <a:spLocks noGrp="1"/>
          </p:cNvSpPr>
          <p:nvPr>
            <p:ph sz="quarter" idx="10"/>
          </p:nvPr>
        </p:nvSpPr>
        <p:spPr/>
        <p:txBody>
          <a:bodyPr/>
          <a:lstStyle/>
          <a:p>
            <a:pPr algn="ctr"/>
            <a:r>
              <a:rPr lang="en-US" dirty="0"/>
              <a:t>Thank you</a:t>
            </a: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C2324A8A8974418F4287FF4BA2FD86" ma:contentTypeVersion="3" ma:contentTypeDescription="Create a new document." ma:contentTypeScope="" ma:versionID="c20ae23d9ac856c6053e676649c543ef">
  <xsd:schema xmlns:xsd="http://www.w3.org/2001/XMLSchema" xmlns:xs="http://www.w3.org/2001/XMLSchema" xmlns:p="http://schemas.microsoft.com/office/2006/metadata/properties" xmlns:ns2="3719838a-b8de-4044-bbc5-cde9575f33d8" targetNamespace="http://schemas.microsoft.com/office/2006/metadata/properties" ma:root="true" ma:fieldsID="5bcd724bed00bb7cfe4f11aa70afd346" ns2:_="">
    <xsd:import namespace="3719838a-b8de-4044-bbc5-cde9575f33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19838a-b8de-4044-bbc5-cde9575f33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9CEAF0-7FEF-41D5-A341-2C9DEAB684EB}"/>
</file>

<file path=customXml/itemProps2.xml><?xml version="1.0" encoding="utf-8"?>
<ds:datastoreItem xmlns:ds="http://schemas.openxmlformats.org/officeDocument/2006/customXml" ds:itemID="{28917B5F-1C78-4AA8-8C93-D9FC97EB6BEF}"/>
</file>

<file path=customXml/itemProps3.xml><?xml version="1.0" encoding="utf-8"?>
<ds:datastoreItem xmlns:ds="http://schemas.openxmlformats.org/officeDocument/2006/customXml" ds:itemID="{FF74377D-B116-4B50-9623-7CA0F3172749}"/>
</file>

<file path=docProps/app.xml><?xml version="1.0" encoding="utf-8"?>
<Properties xmlns="http://schemas.openxmlformats.org/officeDocument/2006/extended-properties" xmlns:vt="http://schemas.openxmlformats.org/officeDocument/2006/docPropsVTypes">
  <TotalTime>2288</TotalTime>
  <Words>1150</Words>
  <Application>Microsoft Office PowerPoint</Application>
  <PresentationFormat>Widescreen</PresentationFormat>
  <Paragraphs>100</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Helvetica</vt:lpstr>
      <vt:lpstr>1_Office Theme</vt:lpstr>
      <vt:lpstr>AI-Augmented Software Development Life Cycle  SEZG534</vt:lpstr>
      <vt:lpstr>PowerPoint Presentation</vt:lpstr>
      <vt:lpstr>Traditional SDLC </vt:lpstr>
      <vt:lpstr>When code is no longer the bottleneck</vt:lpstr>
      <vt:lpstr> AI-native SDLC </vt:lpstr>
      <vt:lpstr> Spec-Driven Development </vt:lpstr>
      <vt:lpstr> Spec-Driven-Development-Benefits </vt:lpstr>
      <vt:lpstr>Tools</vt:lpstr>
      <vt:lpstr>GitHub Spec Kit </vt:lpstr>
      <vt:lpstr>GitHub Spec Kit </vt:lpstr>
      <vt:lpstr>Kiro</vt:lpstr>
      <vt:lpstr>Kiro</vt:lpstr>
      <vt:lpstr>Kiro</vt:lpstr>
      <vt:lpstr> The AI-Native SDLC playbook </vt:lpstr>
      <vt:lpstr>The play dependency graph</vt:lpstr>
      <vt:lpstr>The AI-Native SDLC playbook</vt:lpstr>
      <vt:lpstr>SDD Approaches</vt:lpstr>
      <vt:lpstr> The challenge with SDD tools </vt:lpstr>
      <vt:lpstr>AI Requirements Elicitation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Shivam Chauhan</dc:creator>
  <cp:lastModifiedBy>AKSHAYA GANESAN .</cp:lastModifiedBy>
  <cp:revision>85</cp:revision>
  <dcterms:created xsi:type="dcterms:W3CDTF">2022-09-26T09:02:06Z</dcterms:created>
  <dcterms:modified xsi:type="dcterms:W3CDTF">2026-09-11T19:39:54Z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0x0101001EC2324A8A8974418F4287FF4BA2FD86</vt:lpwstr>
  </property>
</Properties>
</file>