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2.xml" ContentType="application/vnd.openxmlformats-officedocument.presentationml.notesSlide+xml"/>
  <Override PartName="/ppt/notesSlides/notesSlide31.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0.xml" ContentType="application/vnd.openxmlformats-officedocument.presentationml.notesSlide+xml"/>
  <Override PartName="/ppt/slideLayouts/slideLayout13.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0"/>
  </p:notesMasterIdLst>
  <p:sldIdLst>
    <p:sldId id="260" r:id="rId2"/>
    <p:sldId id="343" r:id="rId3"/>
    <p:sldId id="283" r:id="rId4"/>
    <p:sldId id="258" r:id="rId5"/>
    <p:sldId id="259" r:id="rId6"/>
    <p:sldId id="379" r:id="rId7"/>
    <p:sldId id="261" r:id="rId8"/>
    <p:sldId id="340" r:id="rId9"/>
    <p:sldId id="376" r:id="rId10"/>
    <p:sldId id="344" r:id="rId11"/>
    <p:sldId id="341" r:id="rId12"/>
    <p:sldId id="375" r:id="rId13"/>
    <p:sldId id="342" r:id="rId14"/>
    <p:sldId id="284" r:id="rId15"/>
    <p:sldId id="374" r:id="rId16"/>
    <p:sldId id="285" r:id="rId17"/>
    <p:sldId id="286" r:id="rId18"/>
    <p:sldId id="287" r:id="rId19"/>
    <p:sldId id="288" r:id="rId20"/>
    <p:sldId id="373" r:id="rId21"/>
    <p:sldId id="289" r:id="rId22"/>
    <p:sldId id="372" r:id="rId23"/>
    <p:sldId id="290" r:id="rId24"/>
    <p:sldId id="291" r:id="rId25"/>
    <p:sldId id="292" r:id="rId26"/>
    <p:sldId id="293" r:id="rId27"/>
    <p:sldId id="294" r:id="rId28"/>
    <p:sldId id="295" r:id="rId29"/>
    <p:sldId id="296" r:id="rId30"/>
    <p:sldId id="371" r:id="rId31"/>
    <p:sldId id="370" r:id="rId32"/>
    <p:sldId id="297" r:id="rId33"/>
    <p:sldId id="369" r:id="rId34"/>
    <p:sldId id="368" r:id="rId35"/>
    <p:sldId id="298" r:id="rId36"/>
    <p:sldId id="367" r:id="rId37"/>
    <p:sldId id="299" r:id="rId38"/>
    <p:sldId id="300" r:id="rId39"/>
    <p:sldId id="301" r:id="rId40"/>
    <p:sldId id="302" r:id="rId41"/>
    <p:sldId id="366" r:id="rId42"/>
    <p:sldId id="303" r:id="rId43"/>
    <p:sldId id="304" r:id="rId44"/>
    <p:sldId id="305" r:id="rId45"/>
    <p:sldId id="306" r:id="rId46"/>
    <p:sldId id="307" r:id="rId47"/>
    <p:sldId id="308" r:id="rId48"/>
    <p:sldId id="365" r:id="rId49"/>
    <p:sldId id="309" r:id="rId50"/>
    <p:sldId id="310" r:id="rId51"/>
    <p:sldId id="364" r:id="rId52"/>
    <p:sldId id="311" r:id="rId53"/>
    <p:sldId id="312" r:id="rId54"/>
    <p:sldId id="363" r:id="rId55"/>
    <p:sldId id="313" r:id="rId56"/>
    <p:sldId id="314" r:id="rId57"/>
    <p:sldId id="362" r:id="rId58"/>
    <p:sldId id="315" r:id="rId59"/>
    <p:sldId id="361" r:id="rId60"/>
    <p:sldId id="316" r:id="rId61"/>
    <p:sldId id="360" r:id="rId62"/>
    <p:sldId id="359" r:id="rId63"/>
    <p:sldId id="317" r:id="rId64"/>
    <p:sldId id="318" r:id="rId65"/>
    <p:sldId id="358" r:id="rId66"/>
    <p:sldId id="319" r:id="rId67"/>
    <p:sldId id="320" r:id="rId68"/>
    <p:sldId id="321" r:id="rId69"/>
    <p:sldId id="357" r:id="rId70"/>
    <p:sldId id="378" r:id="rId71"/>
    <p:sldId id="356" r:id="rId72"/>
    <p:sldId id="355" r:id="rId73"/>
    <p:sldId id="354" r:id="rId74"/>
    <p:sldId id="322" r:id="rId75"/>
    <p:sldId id="323" r:id="rId76"/>
    <p:sldId id="324" r:id="rId77"/>
    <p:sldId id="353" r:id="rId78"/>
    <p:sldId id="325" r:id="rId79"/>
    <p:sldId id="326" r:id="rId80"/>
    <p:sldId id="327" r:id="rId81"/>
    <p:sldId id="328" r:id="rId82"/>
    <p:sldId id="329" r:id="rId83"/>
    <p:sldId id="352" r:id="rId84"/>
    <p:sldId id="351" r:id="rId85"/>
    <p:sldId id="330" r:id="rId86"/>
    <p:sldId id="331" r:id="rId87"/>
    <p:sldId id="332" r:id="rId88"/>
    <p:sldId id="333" r:id="rId89"/>
    <p:sldId id="334" r:id="rId90"/>
    <p:sldId id="349" r:id="rId91"/>
    <p:sldId id="335" r:id="rId92"/>
    <p:sldId id="336" r:id="rId93"/>
    <p:sldId id="337" r:id="rId94"/>
    <p:sldId id="338" r:id="rId95"/>
    <p:sldId id="347" r:id="rId96"/>
    <p:sldId id="346" r:id="rId97"/>
    <p:sldId id="339" r:id="rId98"/>
    <p:sldId id="345" r:id="rId9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5" autoAdjust="0"/>
    <p:restoredTop sz="94660"/>
  </p:normalViewPr>
  <p:slideViewPr>
    <p:cSldViewPr snapToGrid="0">
      <p:cViewPr varScale="1">
        <p:scale>
          <a:sx n="101" d="100"/>
          <a:sy n="101" d="100"/>
        </p:scale>
        <p:origin x="27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customXml" Target="../customXml/item3.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customXml" Target="../customXml/item2.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105" Type="http://schemas.openxmlformats.org/officeDocument/2006/relationships/customXml" Target="../customXml/item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5EB930-700A-42B8-B707-B30174039DB0}" type="datetimeFigureOut">
              <a:rPr lang="en-IN" smtClean="0"/>
              <a:t>16-08-2026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B39D73-7E85-4DAC-A784-8C9D33EFBF5A}" type="slidenum">
              <a:rPr lang="en-IN" smtClean="0"/>
              <a:t>‹#›</a:t>
            </a:fld>
            <a:endParaRPr lang="en-IN"/>
          </a:p>
        </p:txBody>
      </p:sp>
    </p:spTree>
    <p:extLst>
      <p:ext uri="{BB962C8B-B14F-4D97-AF65-F5344CB8AC3E}">
        <p14:creationId xmlns:p14="http://schemas.microsoft.com/office/powerpoint/2010/main" val="862347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to place the session inside the wider course, and to flag which weeks are only touched on today.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2 is the one students underestimate — five real interviews is harder than it sounds.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Weeks 5 and 6 are the core PM craft — worth the most practice time in the course.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11 pairs well with the audiences slide — the mock presentation is where that content gets tested.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 minutes. Run the vote before saying anything.</a:t>
            </a:r>
          </a:p>
          <a:p>
            <a:r>
              <a:t>Point to land: B usually wins on reach x impact / effort — every user, every session, no new surface area, no legal review. D is the one people pick emotionally.</a:t>
            </a:r>
          </a:p>
          <a:p>
            <a:r>
              <a:t>If the room argues C, agree it is the biggest customer pain, then ask what fraction of it one dev team can move in four weeks. That distinction — problem size vs. what you can shift — is the whole job.</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 minutes, pairs, then two or three answers out loud.</a:t>
            </a:r>
          </a:p>
          <a:p>
            <a:r>
              <a:t>You are not fishing for complaints about PMs. You are establishing that each of these is a prioritisation failure that happened upstream of the code, and that the engineer in the room usually saw it coming.</a:t>
            </a:r>
          </a:p>
          <a:p>
            <a:r>
              <a:t>Bridge line into the next slide: 'Product management is the discipline that is supposed to stop these three things. When it is done badly, you feel it in your sprint.'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this fast — 3 minutes of talking.</a:t>
            </a:r>
          </a:p>
          <a:p>
            <a:r>
              <a:t>The 'how measured' row is the one engineers under-rate. Note that all three are behaviour metrics, not shipping metrics: none of them say 'features released'.</a:t>
            </a:r>
          </a:p>
          <a:p>
            <a:r>
              <a:t>If someone works on internal tooling or platform, push them to answer it anyway. The customer is another engineering team, and the metric is usually build time, deploy frequency or on-call pages.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Answers: 1 solution, 2 problem, 3 problem, 4 solution, 5 problem.</a:t>
            </a:r>
          </a:p>
          <a:p>
            <a:r>
              <a:t>1 and 2 are the same user. 4 and 5 are the same user. Make that explicit — the solution-shaped version closes the design space, the problem-shaped version opens it. Dark mode is one answer to 2; so is a warm-tint reading mode or a brightness-aware theme.</a:t>
            </a:r>
          </a:p>
          <a:p>
            <a:r>
              <a:t>Ask who in the room already has access to all five sources on the left. Usually everyone does, and nobody has opened them this month.</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 minutes. The point is quantity before quality.</a:t>
            </a:r>
          </a:p>
          <a:p>
            <a:r>
              <a:t>Engineers tend to jump to the most technically interesting option (the status timeline). Push on cost: the SMS and the auto-refund are the cheapest and probably remove most of the anxiety, because the real problem is uncertainty, not the failure itself.</a:t>
            </a:r>
          </a:p>
          <a:p>
            <a:r>
              <a:t>Land the rule: one problem always has many solutions, and the first one suggested is almost never the cheapest one that works.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not let this slide pass as obvious. Ask: 'who owns the uninstall number on your product, and where is it displayed?' Usually nobody, and nowhere.</a:t>
            </a:r>
          </a:p>
          <a:p>
            <a:r>
              <a:t>Real anchors if the room wants them: WhatsApp's blue read receipts in 2014 raised engagement and produced enough backlash that a switch to disable them was added. Notification-driven engagement gains at several social apps have been followed by retention damage.</a:t>
            </a:r>
          </a:p>
          <a:p>
            <a:r>
              <a:t>Term to give them: guardrail metric, sometimes called a counter-metric. It comes back on the measurement slides at the end.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Answers: 1 C, 2 B, 3 C.</a:t>
            </a:r>
          </a:p>
          <a:p>
            <a:r>
              <a:t>Q1 — make them do the arithmetic rather than eyeball it. The first step loses 18%, but the last loses 27,000 of 71,000, which is 38% and by far the largest absolute loss. People reliably point at the top of the funnel because that is where the biggest raw number sits.</a:t>
            </a:r>
          </a:p>
          <a:p>
            <a:r>
              <a:t>Q2 — the last step is where the money actually moves, so it is almost certainly a payment failure and not a design problem. Segmenting by method and error code will usually show one gateway or one card type failing. Option A is the trap: acting before you have localised the problem.</a:t>
            </a:r>
          </a:p>
          <a:p>
            <a:r>
              <a:t>Q3 — a rate travels; a raw count does not. 44,000 sounds fine until you know the denominator, and 100,000 carts is a vanity number. Completion rate is the one you can compare month to month and set a target against.</a:t>
            </a:r>
          </a:p>
          <a:p>
            <a:r>
              <a:t>Extension for the room: what would you have to instrument to answer Q2 today? If the answer is 'we do not log the error code', that is the finding.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slide that reframes discovery for engineers. Discovery is not brainstorming; it is usually deletion, and it usually destroys work that people were proud of.</a:t>
            </a:r>
          </a:p>
          <a:p>
            <a:r>
              <a:t>Ask: 'what is in your product right now that nobody uses, and who would have to agree to remove it?' Expect an uncomfortable pause.</a:t>
            </a:r>
          </a:p>
          <a:p>
            <a:r>
              <a:t>If someone objects that this is survivorship bias, agree — the lesson is the mechanism (watch what people actually do, then cut to it), not the outcome.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Engineers respond to this one because most of them have written the tool in question.</a:t>
            </a:r>
          </a:p>
          <a:p>
            <a:r>
              <a:t>The transferable move: strong revealed preference from a small group beats stated preference from a large survey. 'We would be annoyed if this disappeared' is the signal.</a:t>
            </a:r>
          </a:p>
          <a:p>
            <a:r>
              <a:t>Optional callback later: this is the same logic as Superhuman's product-market-fit survey — asking users how disappointed they would be if the product went away.</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 minutes. Take answers out loud, and accept an argued answer over the 'right' one.</a:t>
            </a:r>
          </a:p>
          <a:p>
            <a:r>
              <a:t>1  Step 1-2, problem and market research. The engineering was flawless; the demand was never validated.</a:t>
            </a:r>
          </a:p>
          <a:p>
            <a:r>
              <a:t>2  Step 7, testing — specifically load and performance testing, plus release planning. Functional tests all passed.</a:t>
            </a:r>
          </a:p>
          <a:p>
            <a:r>
              <a:t>3  Step 10, measure success — and really Step 5, because the instrumentation should have been designed into the story.</a:t>
            </a:r>
          </a:p>
          <a:p>
            <a:r>
              <a:t>4  Step 1. The ticket was the requirement, and nobody had written down the problem it was meant to solve. This is the one your audience lives with.</a:t>
            </a:r>
          </a:p>
          <a:p>
            <a:r>
              <a:t>5  Step 3-4, and User Acceptance Testing. A real user would have hit walk-ins on day one; the team optimised the happy path.</a:t>
            </a:r>
          </a:p>
          <a:p>
            <a:r>
              <a:t>Close by asking which of the five is most likely happening on their team right now. It is usually 3 or 4.</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engineer's objection is 'that does not scale' — accept it immediately. That is the point: an MVP is an experiment, not version one of the architecture.</a:t>
            </a:r>
          </a:p>
          <a:p>
            <a:r>
              <a:t>Useful framing: what is the cheapest artefact that would change your mind? Sometimes a video, a spreadsheet, a manual process, or a fake button that logs the click and shows 'coming soon'.</a:t>
            </a:r>
          </a:p>
          <a:p>
            <a:r>
              <a:t>If you want a fourth: Buffer's landing page with a pricing table that led to an email capture, before the product existed.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 minutes, rapid fire, no discussion until the end.</a:t>
            </a:r>
          </a:p>
          <a:p>
            <a:r>
              <a:t>1 discovery.  2 delivery.  3 both — it is a design decision, but the right default comes from knowing where your users are, which is discovery.  4 discovery.  5 delivery.  6 discovery (prioritisation is a discovery output).  7 delivery.  8 both, and really discovery — it is a fake-door test; you ship production code purely to measure demand.</a:t>
            </a:r>
          </a:p>
          <a:p>
            <a:r>
              <a:t>Item 8 is the one worth spending time on. It is code in production that deliberately does nothing, and it is one of the cheapest experiments an engineering team can run. Ask whether anyone has done it, and whether their team would allow it.</a:t>
            </a:r>
          </a:p>
          <a:p>
            <a:r>
              <a:t>Item 6 catches people out: they file prioritisation under 'management', not discovery. Deciding what not to build is the highest-leverage discovery decision there is.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 minutes of discussion. This is the emotional centre of the discovery/delivery topic for an engineering audience: your craft cannot save a product from the wrong question.</a:t>
            </a:r>
          </a:p>
          <a:p>
            <a:r>
              <a:t>Push back on the easy answer. Interviews would probably have caught Fire Phone (nobody wanted 3D) and Glass (social discomfort is immediate and visible). Quibi is harder — people say they want short premium video; the failure was in what they would pay for and where they would watch it. That distinction between stated and revealed preference is worth the whole discussion.</a:t>
            </a:r>
          </a:p>
          <a:p>
            <a:r>
              <a:t>Figures are public: Amazon Q3 2014 earnings; Google's January 2015 Explorer announcement; Quibi's shutdown in October 2020.</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Answers: 1 B, 2 B, 3 C.</a:t>
            </a:r>
          </a:p>
          <a:p>
            <a:r>
              <a:t>Q1 is the point of the whole discovery/delivery topic: Qwikster was never a build problem. The split was executable; it was simply not something any customer wanted.</a:t>
            </a:r>
          </a:p>
          <a:p>
            <a:r>
              <a:t>Q2 — the failure was a mental-model failure. Netflix reasoned about two cost structures; customers reasoned about one habit. Watch for anyone who argues A; ask them how they would have tested it.</a:t>
            </a:r>
          </a:p>
          <a:p>
            <a:r>
              <a:t>Q3 — MAU is a lagging, slow-moving number and would have looked fine for weeks. Cancellations are the guardrail. Reed Hastings publicly apologised and reversed the decision within about a month, which is worth naming as the correct response to bad evidence.</a:t>
            </a:r>
          </a:p>
          <a:p>
            <a:r>
              <a:t>Follow-up if there is time: was reversing it a failure or a success? Reversing quickly on evidence is exactly what you want a team to do.</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 minutes, everyone writes, then two or three read theirs out.</a:t>
            </a:r>
          </a:p>
          <a:p>
            <a:r>
              <a:t>The common failure is a fake benefit: 'so that the system stores my timezone' just restates the what. Push until the 'so that' names a human consequence.</a:t>
            </a:r>
          </a:p>
          <a:p>
            <a:r>
              <a:t>Second failure: 'As a user' — too vague to design against. Make them name the role.</a:t>
            </a:r>
          </a:p>
          <a:p>
            <a:r>
              <a:t>Payoff line: the user story is not paperwork. It is the artefact that lets an engineer push back on a bad default before writing the migration.</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Answers.</a:t>
            </a:r>
          </a:p>
          <a:p>
            <a:r>
              <a:t>1  Three faults at once. 'A user' is nobody in particular, 'better' cannot be tested, and the benefit just restates the goal. This is the most common shape of bad story in the wild.</a:t>
            </a:r>
          </a:p>
          <a:p>
            <a:r>
              <a:t>2  Not a user story at all — it is an engineering decision wearing the format. The PM is not the user, and the real story underneath is about whoever suffers from slow queries. Ask the room how they would rewrite it.</a:t>
            </a:r>
          </a:p>
          <a:p>
            <a:r>
              <a:t>3  An epic, not a story. Five separate jobs bolted together; it cannot be finished in a sprint, cannot be tested cleanly, and cannot be partially delivered. Split it by job.</a:t>
            </a:r>
          </a:p>
          <a:p>
            <a:r>
              <a:t>4  Correct. Named role, one need, a real benefit with a deadline attached, and it is obviously testable.</a:t>
            </a:r>
          </a:p>
          <a:p>
            <a:r>
              <a:t>If a group argues 2 is fine because tech debt matters — agree that the work may well be right, and hold the line that it does not belong in this format. Technical work gets prioritised on its own merits, not by inventing a fake user.</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4-minute extension: in pairs, write three acceptance criteria for the edge cases on the right, for the timezone story. Expect daylight saving, users with no timezone set, and historical tickets.</a:t>
            </a:r>
          </a:p>
          <a:p>
            <a:r>
              <a:t>Point for engineers: every line on the right is a question you would otherwise discover in code review, in QA, or in production. Writing acceptance criteria is not admin — it is the cheapest place to find those questions.</a:t>
            </a:r>
          </a:p>
          <a:p>
            <a:r>
              <a:t>The last item is the product lesson: reversibility is a feature, especially for anything that changes what other people can see about a user.</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Answers: valid are 1, 3 and 5. Invalid are 2, 4 and 6.</a:t>
            </a:r>
          </a:p>
          <a:p>
            <a:r>
              <a:t>2 is an implementation instruction. It may even be the right choice, but it belongs in a technical design note, not in the criteria — putting it here removes the engineer's judgement and hides the actual requirement, which is the 5-second target in 1.</a:t>
            </a:r>
          </a:p>
          <a:p>
            <a:r>
              <a:t>4 and 6 fail the only real test: could QA disprove this? 'User-friendly' and 'all edge cases' cannot be passed or failed, so they will be argued about in review instead.</a:t>
            </a:r>
          </a:p>
          <a:p>
            <a:r>
              <a:t>3 is the best one on the slide. It defines behaviour under failure, which is where the double-payment risk in the story actually lives.</a:t>
            </a:r>
          </a:p>
          <a:p>
            <a:r>
              <a:t>Extension: ask them to rewrite 6 as a real criterion. They will have to name the edge cases, which was the whole point.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8 minutes in groups of four, then one group presents and another challenges.</a:t>
            </a:r>
          </a:p>
          <a:p>
            <a:r>
              <a:t>Designed traps: the crash is cheap and enormous (1 week, 4% of orders) and teams still skip it because it is not a feature. 2FA has a hard external deadline, which is a different kind of must. The AI assistant is the most expensive and has the weakest evidence — but it is the one with the most political weight.</a:t>
            </a:r>
          </a:p>
          <a:p>
            <a:r>
              <a:t>A defensible answer is crash + 2FA + search, or crash + 2FA + bulk upload if the renewal is large. Do not give a single right answer; grade the reasoning.</a:t>
            </a:r>
          </a:p>
          <a:p>
            <a:r>
              <a:t>Carry this backlog forward — the RICE slide scores three of these rows.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8 minutes in groups, then compare lists.</a:t>
            </a:r>
          </a:p>
          <a:p>
            <a:r>
              <a:t>A defensible answer: Must = 1, 2, 3, 7. Without any of those four the hotel cannot open its doors on 1 March, and 7 is the one teams forget — no migration means no bookings, no guests, no rates. Should = 5, because housekeeping can run on paper for a few weeks and everyone will hate it. Could = 6, in a cut-down form; three charts may be enough. Won't (this release) = 4 and 8.</a:t>
            </a:r>
          </a:p>
          <a:p>
            <a:r>
              <a:t>The teaching point is that a fixed date makes scope the only variable. Anyone who tries to keep all eight has quietly decided to move the date or to ship all eight badly.</a:t>
            </a:r>
          </a:p>
          <a:p>
            <a:r>
              <a:t>Push on 4: loyalty is often the reason the client bought the system, and it is still not a Must for go-live. Saying that out loud to a client is the actual skill.</a:t>
            </a:r>
          </a:p>
          <a:p>
            <a:r>
              <a:t>Also worth naming: 'Won't have' means not in this release, not never. Teams that drop the bracket lose the client's trust the first time an item reappears.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arithmetic once: 40,000 x 3 x 1.0 / 1 = 120,000.</a:t>
            </a:r>
          </a:p>
          <a:p>
            <a:r>
              <a:t>The AI assistant scores badly not because it is a bad idea but because Confidence is 50% and Effort is 5 weeks. Show what happens if you argue Reach up to 60,000 — it still loses. That is how you disagree with a senior stakeholder without making it personal: attack the input, not the idea.</a:t>
            </a:r>
          </a:p>
          <a:p>
            <a:r>
              <a:t>Warn them about the failure mode: teams reverse-engineer the inputs until their favourite feature wins. The defence is agreeing Reach and Effort with different people than the ones who proposed the feature.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quadrant uses the same eight-item backlog, so they can check it against their own answer.</a:t>
            </a:r>
          </a:p>
          <a:p>
            <a:r>
              <a:t>Kano is the frame that explains why 'we fixed 40 bugs and satisfaction did not move' — basics are invisible when they work. It also explains why a team can be busy all quarter and feel unloved.</a:t>
            </a:r>
          </a:p>
          <a:p>
            <a:r>
              <a:t>Ask for one delighter in a product they use that has since become a basic. Usual answers: live tracking, one-click checkout, autosave, dark mode.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 minutes in groups, then compare numbers on the board.</a:t>
            </a:r>
          </a:p>
          <a:p>
            <a:r>
              <a:t>A: 120,000 x 2 x 0.8 / 4 = 48,000.  B: 60,000 x 3 x 1.0 / 3 = 60,000.  C: 25,000 x 3 x 0.8 / 2 = 30,000.  Ranking B, A, C.</a:t>
            </a:r>
          </a:p>
          <a:p>
            <a:r>
              <a:t>The twist: B becomes 60,000 x 3 x 1.0 / 6 = 30,000. B drops from first to joint last, and A wins. One conversation with a team outside your own reversed the quarter — which is why Effort is agreed with the people doing the work, not estimated by the person who wants the feature.</a:t>
            </a:r>
          </a:p>
          <a:p>
            <a:r>
              <a:t>On the closing question: Reach is almost always the weakest number and is usually owned by analytics or growth, not by the PM. Confidence is the honest one — if it is 50%, the right next step is a cheap experiment, not a build.</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things to land.</a:t>
            </a:r>
          </a:p>
          <a:p>
            <a:r>
              <a:t>First, every item is phrased as an outcome with a number, not a feature name. 'Search under 1 second at p95' can be verified; 'improve search' cannot.</a:t>
            </a:r>
          </a:p>
          <a:p>
            <a:r>
              <a:t>Second, confidence decreases across the columns and the roadmap says so. Engineers distrust roadmaps because everything on them is presented with equal certainty and then half of it moves. Now/Next/Later is honest about that.</a:t>
            </a:r>
          </a:p>
          <a:p>
            <a:r>
              <a:t>Ask: 'what is on your roadmap right now that is really in the Later column but has a date on it?' — that gap is where most missed commitments come from.</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slide where the release topic stops being abstract for this audience.</a:t>
            </a:r>
          </a:p>
          <a:p>
            <a:r>
              <a:t>Flipkart is a scale and capacity failure — the fix is load testing, queueing, graceful degradation, and staged access rather than a single 08:00 door-open.</a:t>
            </a:r>
          </a:p>
          <a:p>
            <a:r>
              <a:t>Apple Maps is a quality-bar failure — the fix is not a flag, it is not making yourself the default until the data is good, and shipping alongside the incumbent first.</a:t>
            </a:r>
          </a:p>
          <a:p>
            <a:r>
              <a:t>Ask who in the room has a tested rollback for what they shipped last. Usually a written one, rarely a tested one.</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Answers: 1 hotfix, 2 major, 3 minor, 4 patch (a security patch).</a:t>
            </a:r>
          </a:p>
          <a:p>
            <a:r>
              <a:t>Who gets told: 1 support and the affected customers, immediately, plus an incident record. 2 everyone — sales, marketing, support, training, documentation, and customers in advance. 3 release notes and support. 4 usually nobody outside engineering, though a regulated product may need a security notification.</a:t>
            </a:r>
          </a:p>
          <a:p>
            <a:r>
              <a:t>Follow-up answers: 2 is the obvious flag candidate — dark ship, canary, then a staged rollout. 1 cannot wait; the customer is losing money now, and the discipline that saves you is a tested rollback, not a flag.</a:t>
            </a:r>
          </a:p>
          <a:p>
            <a:r>
              <a:t>Worth naming: 4 has no user-visible change and no business pressure, which is exactly why it gets deferred for months. That is a prioritisation failure, not an engineering one.</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Answers: 1 output, 2 outcome, 3 output, 4 outcome, 5 output, 6 outcome.</a:t>
            </a:r>
          </a:p>
          <a:p>
            <a:r>
              <a:t>The pattern to name: outputs are things your team did; outcomes are things other people did differently afterwards. Outputs are always in your control, which is exactly why teams report them.</a:t>
            </a:r>
          </a:p>
          <a:p>
            <a:r>
              <a:t>The instrumentation question is the one that matters for engineers. Number 2 needs funnel events on both ends and a baseline captured before release. Number 6 needs the tracking-open event joined to order history. If you did not build that before shipping, you cannot answer the question afterwards — and that work belongs in the story's acceptance criteria.</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the loop with 'the metric that lied' from earlier in the session.</a:t>
            </a:r>
          </a:p>
          <a:p>
            <a:r>
              <a:t>Candidate guardrails: time-to-complete the top three existing actions, sessions per day among power users specifically, store rating, uninstall rate, and support volume by topic. Segmenting matters more than the average — the new-user metric moved the way they wanted while the core-user metric collapsed underneath it.</a:t>
            </a:r>
          </a:p>
          <a:p>
            <a:r>
              <a:t>Fair counterpoint worth raising: Facebook's News Feed launch in 2006 also produced mass protest and turned out to be right. The difference is whether you are watching for the signal and can still change course — not whether users complain.</a:t>
            </a:r>
          </a:p>
          <a:p>
            <a:r>
              <a:t>Figures are public: Snap Q1 and Q2 2018 results; the Change.org petition passed 1.2M in February 2018.</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Answers, with the source that matters more than the name.</a:t>
            </a:r>
          </a:p>
          <a:p>
            <a:r>
              <a:t>1  Retention, or repeat usage of that feature by the same cohort. Product analytics, and it needs a cohort definition agreed before release.</a:t>
            </a:r>
          </a:p>
          <a:p>
            <a:r>
              <a:t>2  Feature adoption within the target segment — not overall adoption. A feature built for night auditors can show 4% overall adoption and be a complete success.</a:t>
            </a:r>
          </a:p>
          <a:p>
            <a:r>
              <a:t>3  Time saved, or task completion time. Instrumented in the product, or measured directly with a stopwatch and five users, which is faster and often better.</a:t>
            </a:r>
          </a:p>
          <a:p>
            <a:r>
              <a:t>4  NPS. Survey, and worth reminding the room it is a lagging, noisy number that moves slowly and should never be the only thing on a dashboard.</a:t>
            </a:r>
          </a:p>
          <a:p>
            <a:r>
              <a:t>5  Churn, and its early-warning cousins: falling logins, support escalations, an unrenewed seat count.</a:t>
            </a:r>
          </a:p>
          <a:p>
            <a:r>
              <a:t>The reverse exercise at the bottom is the real one. Most dashboards contain at least one metric nobody can attach a question to, and that metric is costing somebody's attention every week.</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25 minutes of work plus roughly 2 minutes per team to present.</a:t>
            </a:r>
          </a:p>
          <a:p>
            <a:r>
              <a:t>Circulate and look for two failures: problem statements with a solution smuggled inside ('users need a dashboard'), and Reach numbers with no stated basis.</a:t>
            </a:r>
          </a:p>
          <a:p>
            <a:r>
              <a:t>Close the session on the guardrail metric. If a team names only a success metric, ask what number would have to move in the wrong direction before they would turn the feature off again. That question is the whole course in one line.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D9C08-F28F-07F0-F675-AA02AD370D8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6931EC9-B3A0-4EB1-9A43-D91A8B9BAF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E575A91-BEF9-A92D-D2DD-0AB0234621CA}"/>
              </a:ext>
            </a:extLst>
          </p:cNvPr>
          <p:cNvSpPr>
            <a:spLocks noGrp="1"/>
          </p:cNvSpPr>
          <p:nvPr>
            <p:ph type="dt" sz="half" idx="10"/>
          </p:nvPr>
        </p:nvSpPr>
        <p:spPr/>
        <p:txBody>
          <a:bodyPr/>
          <a:lstStyle/>
          <a:p>
            <a:fld id="{4176CA33-C0EB-49AF-A1E8-048F4E697C3E}" type="datetimeFigureOut">
              <a:rPr lang="en-IN" smtClean="0"/>
              <a:t>16-08-2026</a:t>
            </a:fld>
            <a:endParaRPr lang="en-IN"/>
          </a:p>
        </p:txBody>
      </p:sp>
      <p:sp>
        <p:nvSpPr>
          <p:cNvPr id="5" name="Footer Placeholder 4">
            <a:extLst>
              <a:ext uri="{FF2B5EF4-FFF2-40B4-BE49-F238E27FC236}">
                <a16:creationId xmlns:a16="http://schemas.microsoft.com/office/drawing/2014/main" id="{27C4B82D-C133-FF4A-E0C9-8A0C140AB5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401CB4-1ADC-61C7-D7A1-E8669698034D}"/>
              </a:ext>
            </a:extLst>
          </p:cNvPr>
          <p:cNvSpPr>
            <a:spLocks noGrp="1"/>
          </p:cNvSpPr>
          <p:nvPr>
            <p:ph type="sldNum" sz="quarter" idx="12"/>
          </p:nvPr>
        </p:nvSpPr>
        <p:spPr/>
        <p:txBody>
          <a:bodyPr/>
          <a:lstStyle/>
          <a:p>
            <a:fld id="{3D3B880A-110C-4ADD-B184-C15601EC413A}" type="slidenum">
              <a:rPr lang="en-IN" smtClean="0"/>
              <a:t>‹#›</a:t>
            </a:fld>
            <a:endParaRPr lang="en-IN"/>
          </a:p>
        </p:txBody>
      </p:sp>
    </p:spTree>
    <p:extLst>
      <p:ext uri="{BB962C8B-B14F-4D97-AF65-F5344CB8AC3E}">
        <p14:creationId xmlns:p14="http://schemas.microsoft.com/office/powerpoint/2010/main" val="2372121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B8D9C-D741-45D9-FED5-404C099430D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B346AC2-91A1-5E89-5614-4C5EA54688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974B0D-B1E9-D769-6EEF-D4A8C358CA31}"/>
              </a:ext>
            </a:extLst>
          </p:cNvPr>
          <p:cNvSpPr>
            <a:spLocks noGrp="1"/>
          </p:cNvSpPr>
          <p:nvPr>
            <p:ph type="dt" sz="half" idx="10"/>
          </p:nvPr>
        </p:nvSpPr>
        <p:spPr/>
        <p:txBody>
          <a:bodyPr/>
          <a:lstStyle/>
          <a:p>
            <a:fld id="{4176CA33-C0EB-49AF-A1E8-048F4E697C3E}" type="datetimeFigureOut">
              <a:rPr lang="en-IN" smtClean="0"/>
              <a:t>16-08-2026</a:t>
            </a:fld>
            <a:endParaRPr lang="en-IN"/>
          </a:p>
        </p:txBody>
      </p:sp>
      <p:sp>
        <p:nvSpPr>
          <p:cNvPr id="5" name="Footer Placeholder 4">
            <a:extLst>
              <a:ext uri="{FF2B5EF4-FFF2-40B4-BE49-F238E27FC236}">
                <a16:creationId xmlns:a16="http://schemas.microsoft.com/office/drawing/2014/main" id="{BBBBC610-AAC5-DB94-C016-AF961594D0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787BB4-673D-AE28-9740-2396B239366E}"/>
              </a:ext>
            </a:extLst>
          </p:cNvPr>
          <p:cNvSpPr>
            <a:spLocks noGrp="1"/>
          </p:cNvSpPr>
          <p:nvPr>
            <p:ph type="sldNum" sz="quarter" idx="12"/>
          </p:nvPr>
        </p:nvSpPr>
        <p:spPr/>
        <p:txBody>
          <a:bodyPr/>
          <a:lstStyle/>
          <a:p>
            <a:fld id="{3D3B880A-110C-4ADD-B184-C15601EC413A}" type="slidenum">
              <a:rPr lang="en-IN" smtClean="0"/>
              <a:t>‹#›</a:t>
            </a:fld>
            <a:endParaRPr lang="en-IN"/>
          </a:p>
        </p:txBody>
      </p:sp>
    </p:spTree>
    <p:extLst>
      <p:ext uri="{BB962C8B-B14F-4D97-AF65-F5344CB8AC3E}">
        <p14:creationId xmlns:p14="http://schemas.microsoft.com/office/powerpoint/2010/main" val="3095047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5D032-1FBD-C7C7-2AE8-F953D9EE0C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445D57F-655D-19E9-23C5-0B8E4464F7E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1EA5502-CDC2-6CD3-EFDA-12A3DE67300B}"/>
              </a:ext>
            </a:extLst>
          </p:cNvPr>
          <p:cNvSpPr>
            <a:spLocks noGrp="1"/>
          </p:cNvSpPr>
          <p:nvPr>
            <p:ph type="dt" sz="half" idx="10"/>
          </p:nvPr>
        </p:nvSpPr>
        <p:spPr/>
        <p:txBody>
          <a:bodyPr/>
          <a:lstStyle/>
          <a:p>
            <a:fld id="{4176CA33-C0EB-49AF-A1E8-048F4E697C3E}" type="datetimeFigureOut">
              <a:rPr lang="en-IN" smtClean="0"/>
              <a:t>16-08-2026</a:t>
            </a:fld>
            <a:endParaRPr lang="en-IN"/>
          </a:p>
        </p:txBody>
      </p:sp>
      <p:sp>
        <p:nvSpPr>
          <p:cNvPr id="5" name="Footer Placeholder 4">
            <a:extLst>
              <a:ext uri="{FF2B5EF4-FFF2-40B4-BE49-F238E27FC236}">
                <a16:creationId xmlns:a16="http://schemas.microsoft.com/office/drawing/2014/main" id="{1F26B0A4-7D92-6702-7556-6707820849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7D6B2B-71E0-F15A-2DE6-95B10EC6481B}"/>
              </a:ext>
            </a:extLst>
          </p:cNvPr>
          <p:cNvSpPr>
            <a:spLocks noGrp="1"/>
          </p:cNvSpPr>
          <p:nvPr>
            <p:ph type="sldNum" sz="quarter" idx="12"/>
          </p:nvPr>
        </p:nvSpPr>
        <p:spPr/>
        <p:txBody>
          <a:bodyPr/>
          <a:lstStyle/>
          <a:p>
            <a:fld id="{3D3B880A-110C-4ADD-B184-C15601EC413A}" type="slidenum">
              <a:rPr lang="en-IN" smtClean="0"/>
              <a:t>‹#›</a:t>
            </a:fld>
            <a:endParaRPr lang="en-IN"/>
          </a:p>
        </p:txBody>
      </p:sp>
    </p:spTree>
    <p:extLst>
      <p:ext uri="{BB962C8B-B14F-4D97-AF65-F5344CB8AC3E}">
        <p14:creationId xmlns:p14="http://schemas.microsoft.com/office/powerpoint/2010/main" val="36746929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81388-C5CE-D188-B02B-76AA474AC72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271F023-D192-AC3A-70AC-0DA02CD00B4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E0145C5-E243-A0E0-D90D-819DE3FD1B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520B000-2DDD-A26D-24BE-8B3D0BD52FF5}"/>
              </a:ext>
            </a:extLst>
          </p:cNvPr>
          <p:cNvSpPr>
            <a:spLocks noGrp="1"/>
          </p:cNvSpPr>
          <p:nvPr>
            <p:ph type="dt" sz="half" idx="10"/>
          </p:nvPr>
        </p:nvSpPr>
        <p:spPr/>
        <p:txBody>
          <a:bodyPr/>
          <a:lstStyle/>
          <a:p>
            <a:fld id="{4176CA33-C0EB-49AF-A1E8-048F4E697C3E}" type="datetimeFigureOut">
              <a:rPr lang="en-IN" smtClean="0"/>
              <a:t>16-08-2026</a:t>
            </a:fld>
            <a:endParaRPr lang="en-IN"/>
          </a:p>
        </p:txBody>
      </p:sp>
      <p:sp>
        <p:nvSpPr>
          <p:cNvPr id="6" name="Footer Placeholder 5">
            <a:extLst>
              <a:ext uri="{FF2B5EF4-FFF2-40B4-BE49-F238E27FC236}">
                <a16:creationId xmlns:a16="http://schemas.microsoft.com/office/drawing/2014/main" id="{98938BB7-AC90-5BBE-4DB2-69855BC8D12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47F8E9D-4E69-8291-8961-DCE880B97BC5}"/>
              </a:ext>
            </a:extLst>
          </p:cNvPr>
          <p:cNvSpPr>
            <a:spLocks noGrp="1"/>
          </p:cNvSpPr>
          <p:nvPr>
            <p:ph type="sldNum" sz="quarter" idx="12"/>
          </p:nvPr>
        </p:nvSpPr>
        <p:spPr/>
        <p:txBody>
          <a:bodyPr/>
          <a:lstStyle/>
          <a:p>
            <a:fld id="{3D3B880A-110C-4ADD-B184-C15601EC413A}" type="slidenum">
              <a:rPr lang="en-IN" smtClean="0"/>
              <a:t>‹#›</a:t>
            </a:fld>
            <a:endParaRPr lang="en-IN"/>
          </a:p>
        </p:txBody>
      </p:sp>
    </p:spTree>
    <p:extLst>
      <p:ext uri="{BB962C8B-B14F-4D97-AF65-F5344CB8AC3E}">
        <p14:creationId xmlns:p14="http://schemas.microsoft.com/office/powerpoint/2010/main" val="8382939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B55A9-A804-00D7-E90E-A6758C230A8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E5914E5-4121-54F9-30F0-8612032564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BA0668-650D-4738-6BD6-9FF6883588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3DF6BB1-DB56-5FC8-4456-35961830C0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CEE3C62-BE98-164E-A8B5-4CEE1E1387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3F80A47-1A57-7CE1-D24C-409E63B57196}"/>
              </a:ext>
            </a:extLst>
          </p:cNvPr>
          <p:cNvSpPr>
            <a:spLocks noGrp="1"/>
          </p:cNvSpPr>
          <p:nvPr>
            <p:ph type="dt" sz="half" idx="10"/>
          </p:nvPr>
        </p:nvSpPr>
        <p:spPr/>
        <p:txBody>
          <a:bodyPr/>
          <a:lstStyle/>
          <a:p>
            <a:fld id="{4176CA33-C0EB-49AF-A1E8-048F4E697C3E}" type="datetimeFigureOut">
              <a:rPr lang="en-IN" smtClean="0"/>
              <a:t>16-08-2026</a:t>
            </a:fld>
            <a:endParaRPr lang="en-IN"/>
          </a:p>
        </p:txBody>
      </p:sp>
      <p:sp>
        <p:nvSpPr>
          <p:cNvPr id="8" name="Footer Placeholder 7">
            <a:extLst>
              <a:ext uri="{FF2B5EF4-FFF2-40B4-BE49-F238E27FC236}">
                <a16:creationId xmlns:a16="http://schemas.microsoft.com/office/drawing/2014/main" id="{665E670F-BB0F-772B-25AE-05AF22B9897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DD8D61B-F503-788F-CE96-57A0937FC317}"/>
              </a:ext>
            </a:extLst>
          </p:cNvPr>
          <p:cNvSpPr>
            <a:spLocks noGrp="1"/>
          </p:cNvSpPr>
          <p:nvPr>
            <p:ph type="sldNum" sz="quarter" idx="12"/>
          </p:nvPr>
        </p:nvSpPr>
        <p:spPr/>
        <p:txBody>
          <a:bodyPr/>
          <a:lstStyle/>
          <a:p>
            <a:fld id="{3D3B880A-110C-4ADD-B184-C15601EC413A}" type="slidenum">
              <a:rPr lang="en-IN" smtClean="0"/>
              <a:t>‹#›</a:t>
            </a:fld>
            <a:endParaRPr lang="en-IN"/>
          </a:p>
        </p:txBody>
      </p:sp>
    </p:spTree>
    <p:extLst>
      <p:ext uri="{BB962C8B-B14F-4D97-AF65-F5344CB8AC3E}">
        <p14:creationId xmlns:p14="http://schemas.microsoft.com/office/powerpoint/2010/main" val="27834070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A3992-68B0-C60A-08EE-F9218DC14DD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0CF1579-1D5C-C343-CC82-38B83204720B}"/>
              </a:ext>
            </a:extLst>
          </p:cNvPr>
          <p:cNvSpPr>
            <a:spLocks noGrp="1"/>
          </p:cNvSpPr>
          <p:nvPr>
            <p:ph type="dt" sz="half" idx="10"/>
          </p:nvPr>
        </p:nvSpPr>
        <p:spPr/>
        <p:txBody>
          <a:bodyPr/>
          <a:lstStyle/>
          <a:p>
            <a:fld id="{4176CA33-C0EB-49AF-A1E8-048F4E697C3E}" type="datetimeFigureOut">
              <a:rPr lang="en-IN" smtClean="0"/>
              <a:t>16-08-2026</a:t>
            </a:fld>
            <a:endParaRPr lang="en-IN"/>
          </a:p>
        </p:txBody>
      </p:sp>
      <p:sp>
        <p:nvSpPr>
          <p:cNvPr id="4" name="Footer Placeholder 3">
            <a:extLst>
              <a:ext uri="{FF2B5EF4-FFF2-40B4-BE49-F238E27FC236}">
                <a16:creationId xmlns:a16="http://schemas.microsoft.com/office/drawing/2014/main" id="{ECF966CD-004E-BC8D-F28A-6F8C4BF3B0B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2364BD8-CBB2-D4F9-9A79-5BDDA246A0AB}"/>
              </a:ext>
            </a:extLst>
          </p:cNvPr>
          <p:cNvSpPr>
            <a:spLocks noGrp="1"/>
          </p:cNvSpPr>
          <p:nvPr>
            <p:ph type="sldNum" sz="quarter" idx="12"/>
          </p:nvPr>
        </p:nvSpPr>
        <p:spPr/>
        <p:txBody>
          <a:bodyPr/>
          <a:lstStyle/>
          <a:p>
            <a:fld id="{3D3B880A-110C-4ADD-B184-C15601EC413A}" type="slidenum">
              <a:rPr lang="en-IN" smtClean="0"/>
              <a:t>‹#›</a:t>
            </a:fld>
            <a:endParaRPr lang="en-IN"/>
          </a:p>
        </p:txBody>
      </p:sp>
    </p:spTree>
    <p:extLst>
      <p:ext uri="{BB962C8B-B14F-4D97-AF65-F5344CB8AC3E}">
        <p14:creationId xmlns:p14="http://schemas.microsoft.com/office/powerpoint/2010/main" val="1727913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33633A-04B9-DDFE-173A-1D8986A9A17F}"/>
              </a:ext>
            </a:extLst>
          </p:cNvPr>
          <p:cNvSpPr>
            <a:spLocks noGrp="1"/>
          </p:cNvSpPr>
          <p:nvPr>
            <p:ph type="dt" sz="half" idx="10"/>
          </p:nvPr>
        </p:nvSpPr>
        <p:spPr/>
        <p:txBody>
          <a:bodyPr/>
          <a:lstStyle/>
          <a:p>
            <a:fld id="{4176CA33-C0EB-49AF-A1E8-048F4E697C3E}" type="datetimeFigureOut">
              <a:rPr lang="en-IN" smtClean="0"/>
              <a:t>16-08-2026</a:t>
            </a:fld>
            <a:endParaRPr lang="en-IN"/>
          </a:p>
        </p:txBody>
      </p:sp>
      <p:sp>
        <p:nvSpPr>
          <p:cNvPr id="3" name="Footer Placeholder 2">
            <a:extLst>
              <a:ext uri="{FF2B5EF4-FFF2-40B4-BE49-F238E27FC236}">
                <a16:creationId xmlns:a16="http://schemas.microsoft.com/office/drawing/2014/main" id="{E1784E8F-A9EA-EC50-7DF2-4FF5ADD30FA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CB8B951-A853-58C3-44D0-EE937D2392A2}"/>
              </a:ext>
            </a:extLst>
          </p:cNvPr>
          <p:cNvSpPr>
            <a:spLocks noGrp="1"/>
          </p:cNvSpPr>
          <p:nvPr>
            <p:ph type="sldNum" sz="quarter" idx="12"/>
          </p:nvPr>
        </p:nvSpPr>
        <p:spPr/>
        <p:txBody>
          <a:bodyPr/>
          <a:lstStyle/>
          <a:p>
            <a:fld id="{3D3B880A-110C-4ADD-B184-C15601EC413A}" type="slidenum">
              <a:rPr lang="en-IN" smtClean="0"/>
              <a:t>‹#›</a:t>
            </a:fld>
            <a:endParaRPr lang="en-IN"/>
          </a:p>
        </p:txBody>
      </p:sp>
    </p:spTree>
    <p:extLst>
      <p:ext uri="{BB962C8B-B14F-4D97-AF65-F5344CB8AC3E}">
        <p14:creationId xmlns:p14="http://schemas.microsoft.com/office/powerpoint/2010/main" val="3077375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70F53-09FB-CDE2-E705-5FACA998FB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8694A7B-903C-1F3A-476B-5E10C9552D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81DB646-35B6-270D-3E43-55187457F3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E646E1-DC6C-6C4A-2C53-AB8D1CF91D69}"/>
              </a:ext>
            </a:extLst>
          </p:cNvPr>
          <p:cNvSpPr>
            <a:spLocks noGrp="1"/>
          </p:cNvSpPr>
          <p:nvPr>
            <p:ph type="dt" sz="half" idx="10"/>
          </p:nvPr>
        </p:nvSpPr>
        <p:spPr/>
        <p:txBody>
          <a:bodyPr/>
          <a:lstStyle/>
          <a:p>
            <a:fld id="{4176CA33-C0EB-49AF-A1E8-048F4E697C3E}" type="datetimeFigureOut">
              <a:rPr lang="en-IN" smtClean="0"/>
              <a:t>16-08-2026</a:t>
            </a:fld>
            <a:endParaRPr lang="en-IN"/>
          </a:p>
        </p:txBody>
      </p:sp>
      <p:sp>
        <p:nvSpPr>
          <p:cNvPr id="6" name="Footer Placeholder 5">
            <a:extLst>
              <a:ext uri="{FF2B5EF4-FFF2-40B4-BE49-F238E27FC236}">
                <a16:creationId xmlns:a16="http://schemas.microsoft.com/office/drawing/2014/main" id="{4D998016-C478-AB3B-88EA-6A313D9CE9A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5412327-8E9A-3648-D4A6-941B5B04E309}"/>
              </a:ext>
            </a:extLst>
          </p:cNvPr>
          <p:cNvSpPr>
            <a:spLocks noGrp="1"/>
          </p:cNvSpPr>
          <p:nvPr>
            <p:ph type="sldNum" sz="quarter" idx="12"/>
          </p:nvPr>
        </p:nvSpPr>
        <p:spPr/>
        <p:txBody>
          <a:bodyPr/>
          <a:lstStyle/>
          <a:p>
            <a:fld id="{3D3B880A-110C-4ADD-B184-C15601EC413A}" type="slidenum">
              <a:rPr lang="en-IN" smtClean="0"/>
              <a:t>‹#›</a:t>
            </a:fld>
            <a:endParaRPr lang="en-IN"/>
          </a:p>
        </p:txBody>
      </p:sp>
    </p:spTree>
    <p:extLst>
      <p:ext uri="{BB962C8B-B14F-4D97-AF65-F5344CB8AC3E}">
        <p14:creationId xmlns:p14="http://schemas.microsoft.com/office/powerpoint/2010/main" val="2732418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E8EC4-8E6B-063D-75BF-6ED6FF3A0A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DA07D14-9F06-EFFB-64DA-60C414C7F6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98C600D-1D72-C9C5-AAD0-FBB81157F8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D8F719-AA02-49D0-7FD6-559B4113EEE1}"/>
              </a:ext>
            </a:extLst>
          </p:cNvPr>
          <p:cNvSpPr>
            <a:spLocks noGrp="1"/>
          </p:cNvSpPr>
          <p:nvPr>
            <p:ph type="dt" sz="half" idx="10"/>
          </p:nvPr>
        </p:nvSpPr>
        <p:spPr/>
        <p:txBody>
          <a:bodyPr/>
          <a:lstStyle/>
          <a:p>
            <a:fld id="{4176CA33-C0EB-49AF-A1E8-048F4E697C3E}" type="datetimeFigureOut">
              <a:rPr lang="en-IN" smtClean="0"/>
              <a:t>16-08-2026</a:t>
            </a:fld>
            <a:endParaRPr lang="en-IN"/>
          </a:p>
        </p:txBody>
      </p:sp>
      <p:sp>
        <p:nvSpPr>
          <p:cNvPr id="6" name="Footer Placeholder 5">
            <a:extLst>
              <a:ext uri="{FF2B5EF4-FFF2-40B4-BE49-F238E27FC236}">
                <a16:creationId xmlns:a16="http://schemas.microsoft.com/office/drawing/2014/main" id="{27B09A06-1493-C4AA-1CC1-3D67886A3F4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0BF2D0A-3D9B-0A7B-6A31-82B8B0304C1E}"/>
              </a:ext>
            </a:extLst>
          </p:cNvPr>
          <p:cNvSpPr>
            <a:spLocks noGrp="1"/>
          </p:cNvSpPr>
          <p:nvPr>
            <p:ph type="sldNum" sz="quarter" idx="12"/>
          </p:nvPr>
        </p:nvSpPr>
        <p:spPr/>
        <p:txBody>
          <a:bodyPr/>
          <a:lstStyle/>
          <a:p>
            <a:fld id="{3D3B880A-110C-4ADD-B184-C15601EC413A}" type="slidenum">
              <a:rPr lang="en-IN" smtClean="0"/>
              <a:t>‹#›</a:t>
            </a:fld>
            <a:endParaRPr lang="en-IN"/>
          </a:p>
        </p:txBody>
      </p:sp>
    </p:spTree>
    <p:extLst>
      <p:ext uri="{BB962C8B-B14F-4D97-AF65-F5344CB8AC3E}">
        <p14:creationId xmlns:p14="http://schemas.microsoft.com/office/powerpoint/2010/main" val="1597187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6FF23-8F9E-C57F-09E4-6ACEF5F1DF5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B9F5F27-C04D-F51E-E88F-F06E772C94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7ADD96-6887-36A1-0820-932406EC517F}"/>
              </a:ext>
            </a:extLst>
          </p:cNvPr>
          <p:cNvSpPr>
            <a:spLocks noGrp="1"/>
          </p:cNvSpPr>
          <p:nvPr>
            <p:ph type="dt" sz="half" idx="10"/>
          </p:nvPr>
        </p:nvSpPr>
        <p:spPr/>
        <p:txBody>
          <a:bodyPr/>
          <a:lstStyle/>
          <a:p>
            <a:fld id="{4176CA33-C0EB-49AF-A1E8-048F4E697C3E}" type="datetimeFigureOut">
              <a:rPr lang="en-IN" smtClean="0"/>
              <a:t>16-08-2026</a:t>
            </a:fld>
            <a:endParaRPr lang="en-IN"/>
          </a:p>
        </p:txBody>
      </p:sp>
      <p:sp>
        <p:nvSpPr>
          <p:cNvPr id="5" name="Footer Placeholder 4">
            <a:extLst>
              <a:ext uri="{FF2B5EF4-FFF2-40B4-BE49-F238E27FC236}">
                <a16:creationId xmlns:a16="http://schemas.microsoft.com/office/drawing/2014/main" id="{F3BF7F17-8FF7-DE9C-9557-18F0AB566B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CFD50F-359F-9833-F542-62DCA4A987AF}"/>
              </a:ext>
            </a:extLst>
          </p:cNvPr>
          <p:cNvSpPr>
            <a:spLocks noGrp="1"/>
          </p:cNvSpPr>
          <p:nvPr>
            <p:ph type="sldNum" sz="quarter" idx="12"/>
          </p:nvPr>
        </p:nvSpPr>
        <p:spPr/>
        <p:txBody>
          <a:bodyPr/>
          <a:lstStyle/>
          <a:p>
            <a:fld id="{3D3B880A-110C-4ADD-B184-C15601EC413A}" type="slidenum">
              <a:rPr lang="en-IN" smtClean="0"/>
              <a:t>‹#›</a:t>
            </a:fld>
            <a:endParaRPr lang="en-IN"/>
          </a:p>
        </p:txBody>
      </p:sp>
    </p:spTree>
    <p:extLst>
      <p:ext uri="{BB962C8B-B14F-4D97-AF65-F5344CB8AC3E}">
        <p14:creationId xmlns:p14="http://schemas.microsoft.com/office/powerpoint/2010/main" val="1696372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52D3B7C-EE06-CA82-1B54-524C562788E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6F7FB0B-69E7-84E8-C909-85A5FB23012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9C261E-6313-45B7-4BA8-0A2DE1DB5686}"/>
              </a:ext>
            </a:extLst>
          </p:cNvPr>
          <p:cNvSpPr>
            <a:spLocks noGrp="1"/>
          </p:cNvSpPr>
          <p:nvPr>
            <p:ph type="dt" sz="half" idx="10"/>
          </p:nvPr>
        </p:nvSpPr>
        <p:spPr/>
        <p:txBody>
          <a:bodyPr/>
          <a:lstStyle/>
          <a:p>
            <a:fld id="{4176CA33-C0EB-49AF-A1E8-048F4E697C3E}" type="datetimeFigureOut">
              <a:rPr lang="en-IN" smtClean="0"/>
              <a:t>16-08-2026</a:t>
            </a:fld>
            <a:endParaRPr lang="en-IN"/>
          </a:p>
        </p:txBody>
      </p:sp>
      <p:sp>
        <p:nvSpPr>
          <p:cNvPr id="5" name="Footer Placeholder 4">
            <a:extLst>
              <a:ext uri="{FF2B5EF4-FFF2-40B4-BE49-F238E27FC236}">
                <a16:creationId xmlns:a16="http://schemas.microsoft.com/office/drawing/2014/main" id="{2C180999-CBD8-01CD-0E3A-1CC720D5DA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C88412-9363-0B8E-4DE0-588C8260E126}"/>
              </a:ext>
            </a:extLst>
          </p:cNvPr>
          <p:cNvSpPr>
            <a:spLocks noGrp="1"/>
          </p:cNvSpPr>
          <p:nvPr>
            <p:ph type="sldNum" sz="quarter" idx="12"/>
          </p:nvPr>
        </p:nvSpPr>
        <p:spPr/>
        <p:txBody>
          <a:bodyPr/>
          <a:lstStyle/>
          <a:p>
            <a:fld id="{3D3B880A-110C-4ADD-B184-C15601EC413A}" type="slidenum">
              <a:rPr lang="en-IN" smtClean="0"/>
              <a:t>‹#›</a:t>
            </a:fld>
            <a:endParaRPr lang="en-IN"/>
          </a:p>
        </p:txBody>
      </p:sp>
    </p:spTree>
    <p:extLst>
      <p:ext uri="{BB962C8B-B14F-4D97-AF65-F5344CB8AC3E}">
        <p14:creationId xmlns:p14="http://schemas.microsoft.com/office/powerpoint/2010/main" val="38643350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4EA1C9F-BEB6-CA0B-D6F7-4A0637860C0A}"/>
              </a:ext>
            </a:extLst>
          </p:cNvPr>
          <p:cNvSpPr/>
          <p:nvPr userDrawn="1"/>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dirty="0">
              <a:latin typeface="Arial" pitchFamily="34" charset="0"/>
              <a:cs typeface="Arial" pitchFamily="34" charset="0"/>
            </a:endParaRPr>
          </a:p>
        </p:txBody>
      </p:sp>
      <p:sp>
        <p:nvSpPr>
          <p:cNvPr id="4" name="Rectangle 3">
            <a:extLst>
              <a:ext uri="{FF2B5EF4-FFF2-40B4-BE49-F238E27FC236}">
                <a16:creationId xmlns:a16="http://schemas.microsoft.com/office/drawing/2014/main" id="{CADA72E6-68DE-D42C-8E21-937CDFCA863A}"/>
              </a:ext>
            </a:extLst>
          </p:cNvPr>
          <p:cNvSpPr/>
          <p:nvPr userDrawn="1"/>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5" name="Rectangle 4">
            <a:extLst>
              <a:ext uri="{FF2B5EF4-FFF2-40B4-BE49-F238E27FC236}">
                <a16:creationId xmlns:a16="http://schemas.microsoft.com/office/drawing/2014/main" id="{9058C517-81E1-8B28-9B81-51A07D1A71F6}"/>
              </a:ext>
            </a:extLst>
          </p:cNvPr>
          <p:cNvSpPr/>
          <p:nvPr userDrawn="1"/>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6" name="Rectangle 5">
            <a:extLst>
              <a:ext uri="{FF2B5EF4-FFF2-40B4-BE49-F238E27FC236}">
                <a16:creationId xmlns:a16="http://schemas.microsoft.com/office/drawing/2014/main" id="{2CFA26EF-F88D-6168-C59A-FF3390DE2C02}"/>
              </a:ext>
            </a:extLst>
          </p:cNvPr>
          <p:cNvSpPr/>
          <p:nvPr userDrawn="1"/>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pic>
        <p:nvPicPr>
          <p:cNvPr id="8" name="Picture 10" descr="BITS_university_logo_whitevert.png">
            <a:extLst>
              <a:ext uri="{FF2B5EF4-FFF2-40B4-BE49-F238E27FC236}">
                <a16:creationId xmlns:a16="http://schemas.microsoft.com/office/drawing/2014/main" id="{AC430C8B-923B-4B5B-3308-D7606A5BC546}"/>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101600" y="3352801"/>
            <a:ext cx="27432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596A23DA-81ED-1EE1-27E5-092356CAE9CF}"/>
              </a:ext>
            </a:extLst>
          </p:cNvPr>
          <p:cNvSpPr txBox="1"/>
          <p:nvPr userDrawn="1"/>
        </p:nvSpPr>
        <p:spPr>
          <a:xfrm>
            <a:off x="-101600" y="5257800"/>
            <a:ext cx="29464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9">
            <a:extLst>
              <a:ext uri="{FF2B5EF4-FFF2-40B4-BE49-F238E27FC236}">
                <a16:creationId xmlns:a16="http://schemas.microsoft.com/office/drawing/2014/main" id="{9C33295B-A0DA-C271-9429-F2E421FEA788}"/>
              </a:ext>
            </a:extLst>
          </p:cNvPr>
          <p:cNvSpPr txBox="1">
            <a:spLocks noChangeArrowheads="1"/>
          </p:cNvSpPr>
          <p:nvPr userDrawn="1"/>
        </p:nvSpPr>
        <p:spPr bwMode="auto">
          <a:xfrm>
            <a:off x="203200" y="5667376"/>
            <a:ext cx="2540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9463475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97868F-1983-1119-7C17-94BD0A8426A3}"/>
              </a:ext>
            </a:extLst>
          </p:cNvPr>
          <p:cNvSpPr txBox="1">
            <a:spLocks noChangeArrowheads="1"/>
          </p:cNvSpPr>
          <p:nvPr userDrawn="1"/>
        </p:nvSpPr>
        <p:spPr bwMode="auto">
          <a:xfrm>
            <a:off x="4368800" y="6596064"/>
            <a:ext cx="78232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4" name="Group 11">
            <a:extLst>
              <a:ext uri="{FF2B5EF4-FFF2-40B4-BE49-F238E27FC236}">
                <a16:creationId xmlns:a16="http://schemas.microsoft.com/office/drawing/2014/main" id="{989D272C-8B88-F7C0-551F-E9FAA384707E}"/>
              </a:ext>
            </a:extLst>
          </p:cNvPr>
          <p:cNvGrpSpPr>
            <a:grpSpLocks/>
          </p:cNvGrpSpPr>
          <p:nvPr userDrawn="1"/>
        </p:nvGrpSpPr>
        <p:grpSpPr bwMode="auto">
          <a:xfrm>
            <a:off x="2779184" y="6550026"/>
            <a:ext cx="9412816" cy="49213"/>
            <a:chOff x="2083888" y="6550671"/>
            <a:chExt cx="7060112" cy="48665"/>
          </a:xfrm>
        </p:grpSpPr>
        <p:sp>
          <p:nvSpPr>
            <p:cNvPr id="5" name="Rectangle 4">
              <a:extLst>
                <a:ext uri="{FF2B5EF4-FFF2-40B4-BE49-F238E27FC236}">
                  <a16:creationId xmlns:a16="http://schemas.microsoft.com/office/drawing/2014/main" id="{EC819667-99EA-96EE-DD91-AD8D3AC0BE67}"/>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6" name="Rectangle 5">
              <a:extLst>
                <a:ext uri="{FF2B5EF4-FFF2-40B4-BE49-F238E27FC236}">
                  <a16:creationId xmlns:a16="http://schemas.microsoft.com/office/drawing/2014/main" id="{86FC9DF5-663B-00A2-73DA-05FA06DD9675}"/>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a:extLst>
                <a:ext uri="{FF2B5EF4-FFF2-40B4-BE49-F238E27FC236}">
                  <a16:creationId xmlns:a16="http://schemas.microsoft.com/office/drawing/2014/main" id="{3BB87CC0-0560-D45F-AB57-024F9824BD54}"/>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pic>
        <p:nvPicPr>
          <p:cNvPr id="8" name="Picture 11" descr="Picture 7.png">
            <a:extLst>
              <a:ext uri="{FF2B5EF4-FFF2-40B4-BE49-F238E27FC236}">
                <a16:creationId xmlns:a16="http://schemas.microsoft.com/office/drawing/2014/main" id="{971CB67F-28CE-4F50-1C50-89886762560A}"/>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3CC2C6D1-29E3-A40B-FE22-C14091590DA3}"/>
              </a:ext>
            </a:extLst>
          </p:cNvPr>
          <p:cNvGrpSpPr>
            <a:grpSpLocks/>
          </p:cNvGrpSpPr>
          <p:nvPr userDrawn="1"/>
        </p:nvGrpSpPr>
        <p:grpSpPr bwMode="auto">
          <a:xfrm>
            <a:off x="2844800" y="6553200"/>
            <a:ext cx="9347200" cy="46038"/>
            <a:chOff x="1905000" y="6553200"/>
            <a:chExt cx="7010400" cy="45719"/>
          </a:xfrm>
        </p:grpSpPr>
        <p:sp>
          <p:nvSpPr>
            <p:cNvPr id="10" name="Rectangle 9">
              <a:extLst>
                <a:ext uri="{FF2B5EF4-FFF2-40B4-BE49-F238E27FC236}">
                  <a16:creationId xmlns:a16="http://schemas.microsoft.com/office/drawing/2014/main" id="{A4584775-D5FF-688C-EFE7-6F52E0C6EB9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1" name="Rectangle 10">
              <a:extLst>
                <a:ext uri="{FF2B5EF4-FFF2-40B4-BE49-F238E27FC236}">
                  <a16:creationId xmlns:a16="http://schemas.microsoft.com/office/drawing/2014/main" id="{F7B45312-51FA-FF58-730D-97E9C19F794F}"/>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2" name="Rectangle 11">
              <a:extLst>
                <a:ext uri="{FF2B5EF4-FFF2-40B4-BE49-F238E27FC236}">
                  <a16:creationId xmlns:a16="http://schemas.microsoft.com/office/drawing/2014/main" id="{C55DDC51-FEE6-5D5B-CB84-9554480FF73F}"/>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grpSp>
        <p:nvGrpSpPr>
          <p:cNvPr id="13" name="Group 22">
            <a:extLst>
              <a:ext uri="{FF2B5EF4-FFF2-40B4-BE49-F238E27FC236}">
                <a16:creationId xmlns:a16="http://schemas.microsoft.com/office/drawing/2014/main" id="{6FECCDE8-71B7-B144-22DA-EEB1CEABDEF4}"/>
              </a:ext>
            </a:extLst>
          </p:cNvPr>
          <p:cNvGrpSpPr>
            <a:grpSpLocks/>
          </p:cNvGrpSpPr>
          <p:nvPr userDrawn="1"/>
        </p:nvGrpSpPr>
        <p:grpSpPr bwMode="auto">
          <a:xfrm>
            <a:off x="0" y="1295400"/>
            <a:ext cx="9347200" cy="46038"/>
            <a:chOff x="1905000" y="6553200"/>
            <a:chExt cx="7010400" cy="45719"/>
          </a:xfrm>
        </p:grpSpPr>
        <p:sp>
          <p:nvSpPr>
            <p:cNvPr id="14" name="Rectangle 13">
              <a:extLst>
                <a:ext uri="{FF2B5EF4-FFF2-40B4-BE49-F238E27FC236}">
                  <a16:creationId xmlns:a16="http://schemas.microsoft.com/office/drawing/2014/main" id="{97140FD7-856C-E598-20FF-A09D5710135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5" name="Rectangle 14">
              <a:extLst>
                <a:ext uri="{FF2B5EF4-FFF2-40B4-BE49-F238E27FC236}">
                  <a16:creationId xmlns:a16="http://schemas.microsoft.com/office/drawing/2014/main" id="{C9EFC119-B4EF-83A7-EA1A-76A895713F2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6" name="Rectangle 15">
              <a:extLst>
                <a:ext uri="{FF2B5EF4-FFF2-40B4-BE49-F238E27FC236}">
                  <a16:creationId xmlns:a16="http://schemas.microsoft.com/office/drawing/2014/main" id="{C127F66E-4A58-6A67-1592-333717431D4B}"/>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1436239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259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471AEA-D709-0CE5-B744-3B2054EC57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10566A6-F60A-51DF-AB1E-C62A98B6A2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8EA262-4B2E-CD00-1F95-CB60E51E10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176CA33-C0EB-49AF-A1E8-048F4E697C3E}" type="datetimeFigureOut">
              <a:rPr lang="en-IN" smtClean="0"/>
              <a:t>16-08-2026</a:t>
            </a:fld>
            <a:endParaRPr lang="en-IN"/>
          </a:p>
        </p:txBody>
      </p:sp>
      <p:sp>
        <p:nvSpPr>
          <p:cNvPr id="5" name="Footer Placeholder 4">
            <a:extLst>
              <a:ext uri="{FF2B5EF4-FFF2-40B4-BE49-F238E27FC236}">
                <a16:creationId xmlns:a16="http://schemas.microsoft.com/office/drawing/2014/main" id="{42CA4FB3-B5C7-66BB-639A-EB3D414EE1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FD92BF5-C9E1-DBD9-5AF2-2CCB8E35CA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D3B880A-110C-4ADD-B184-C15601EC413A}" type="slidenum">
              <a:rPr lang="en-IN" smtClean="0"/>
              <a:t>‹#›</a:t>
            </a:fld>
            <a:endParaRPr lang="en-IN"/>
          </a:p>
        </p:txBody>
      </p:sp>
    </p:spTree>
    <p:extLst>
      <p:ext uri="{BB962C8B-B14F-4D97-AF65-F5344CB8AC3E}">
        <p14:creationId xmlns:p14="http://schemas.microsoft.com/office/powerpoint/2010/main" val="26675938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85AC000-AC75-477B-5F39-FE956AD907BD}"/>
              </a:ext>
            </a:extLst>
          </p:cNvPr>
          <p:cNvSpPr>
            <a:spLocks noGrp="1"/>
          </p:cNvSpPr>
          <p:nvPr>
            <p:ph type="title"/>
          </p:nvPr>
        </p:nvSpPr>
        <p:spPr/>
        <p:txBody>
          <a:bodyPr/>
          <a:lstStyle/>
          <a:p>
            <a:pPr>
              <a:defRPr/>
            </a:pPr>
            <a:r>
              <a:rPr lang="en-US" dirty="0"/>
              <a:t>BITS Pilani presentation</a:t>
            </a:r>
          </a:p>
        </p:txBody>
      </p:sp>
      <p:sp>
        <p:nvSpPr>
          <p:cNvPr id="13315" name="Content Placeholder 5">
            <a:extLst>
              <a:ext uri="{FF2B5EF4-FFF2-40B4-BE49-F238E27FC236}">
                <a16:creationId xmlns:a16="http://schemas.microsoft.com/office/drawing/2014/main" id="{F9E5C040-1650-C3D9-4B44-A9AD14C41AB2}"/>
              </a:ext>
            </a:extLst>
          </p:cNvPr>
          <p:cNvSpPr>
            <a:spLocks noGrp="1"/>
          </p:cNvSpPr>
          <p:nvPr>
            <p:ph sz="quarter" idx="13"/>
          </p:nvPr>
        </p:nvSpPr>
        <p:spPr/>
        <p:txBody>
          <a:bodyPr/>
          <a:lstStyle/>
          <a:p>
            <a:pPr eaLnBrk="1" hangingPunct="1">
              <a:spcBef>
                <a:spcPct val="0"/>
              </a:spcBef>
            </a:pPr>
            <a:r>
              <a:rPr lang="en-US" altLang="en-US" dirty="0"/>
              <a:t>Madhu Venkat</a:t>
            </a:r>
          </a:p>
          <a:p>
            <a:pPr eaLnBrk="1" hangingPunct="1">
              <a:spcBef>
                <a:spcPct val="0"/>
              </a:spcBef>
            </a:pPr>
            <a:r>
              <a:rPr lang="en-US" altLang="en-US" dirty="0"/>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E84993D-ADD6-144A-A8F0-89F17132B894}"/>
              </a:ext>
            </a:extLst>
          </p:cNvPr>
          <p:cNvSpPr>
            <a:spLocks noGrp="1"/>
          </p:cNvSpPr>
          <p:nvPr>
            <p:ph idx="1"/>
          </p:nvPr>
        </p:nvSpPr>
        <p:spPr/>
        <p:txBody>
          <a:bodyPr/>
          <a:lstStyle/>
          <a:p>
            <a:pPr>
              <a:buFont typeface="Arial" panose="020B0604020202020204" pitchFamily="34" charset="0"/>
              <a:buChar char="•"/>
            </a:pPr>
            <a:r>
              <a:rPr lang="en-IN" dirty="0"/>
              <a:t>25+ years of Software Industry experience</a:t>
            </a:r>
          </a:p>
          <a:p>
            <a:pPr>
              <a:buFont typeface="Arial" panose="020B0604020202020204" pitchFamily="34" charset="0"/>
              <a:buChar char="•"/>
            </a:pPr>
            <a:r>
              <a:rPr lang="en-IN" dirty="0"/>
              <a:t>20+ years of Product Management &amp; Development experience</a:t>
            </a:r>
          </a:p>
          <a:p>
            <a:pPr>
              <a:buFont typeface="Arial" panose="020B0604020202020204" pitchFamily="34" charset="0"/>
              <a:buChar char="•"/>
            </a:pPr>
            <a:r>
              <a:rPr lang="en-IN" dirty="0"/>
              <a:t>20+ years in building products for Oil &amp; Gas, Healthcare, Hospitality domains</a:t>
            </a:r>
          </a:p>
          <a:p>
            <a:pPr>
              <a:buFont typeface="Arial" panose="020B0604020202020204" pitchFamily="34" charset="0"/>
              <a:buChar char="•"/>
            </a:pPr>
            <a:r>
              <a:rPr lang="en-IN" dirty="0"/>
              <a:t>10+ years of experience in building products for global markets</a:t>
            </a:r>
          </a:p>
          <a:p>
            <a:pPr>
              <a:buFont typeface="Arial" panose="020B0604020202020204" pitchFamily="34" charset="0"/>
              <a:buChar char="•"/>
            </a:pPr>
            <a:r>
              <a:rPr lang="en-IN" dirty="0"/>
              <a:t>MS in Computer Science</a:t>
            </a:r>
          </a:p>
          <a:p>
            <a:pPr>
              <a:buFont typeface="Arial" panose="020B0604020202020204" pitchFamily="34" charset="0"/>
              <a:buChar char="•"/>
            </a:pPr>
            <a:endParaRPr lang="en-IN" dirty="0"/>
          </a:p>
        </p:txBody>
      </p:sp>
      <p:sp>
        <p:nvSpPr>
          <p:cNvPr id="3" name="Content Placeholder 2">
            <a:extLst>
              <a:ext uri="{FF2B5EF4-FFF2-40B4-BE49-F238E27FC236}">
                <a16:creationId xmlns:a16="http://schemas.microsoft.com/office/drawing/2014/main" id="{91745D84-FD8B-2121-EC69-C530D39ABE8B}"/>
              </a:ext>
            </a:extLst>
          </p:cNvPr>
          <p:cNvSpPr>
            <a:spLocks noGrp="1"/>
          </p:cNvSpPr>
          <p:nvPr>
            <p:ph sz="quarter" idx="10"/>
          </p:nvPr>
        </p:nvSpPr>
        <p:spPr/>
        <p:txBody>
          <a:bodyPr/>
          <a:lstStyle/>
          <a:p>
            <a:r>
              <a:rPr lang="en-IN" dirty="0"/>
              <a:t>About Me – Madhu Venkat</a:t>
            </a:r>
          </a:p>
        </p:txBody>
      </p:sp>
    </p:spTree>
    <p:extLst>
      <p:ext uri="{BB962C8B-B14F-4D97-AF65-F5344CB8AC3E}">
        <p14:creationId xmlns:p14="http://schemas.microsoft.com/office/powerpoint/2010/main" val="42508732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41BB977-FA8E-F267-3020-381008CD07A6}"/>
              </a:ext>
            </a:extLst>
          </p:cNvPr>
          <p:cNvSpPr>
            <a:spLocks noGrp="1"/>
          </p:cNvSpPr>
          <p:nvPr>
            <p:ph idx="1"/>
          </p:nvPr>
        </p:nvSpPr>
        <p:spPr/>
        <p:txBody>
          <a:bodyPr>
            <a:normAutofit/>
          </a:bodyPr>
          <a:lstStyle/>
          <a:p>
            <a:pPr>
              <a:buFont typeface="Arial" panose="020B0604020202020204" pitchFamily="34" charset="0"/>
              <a:buChar char="•"/>
            </a:pPr>
            <a:r>
              <a:rPr lang="en-IN" dirty="0"/>
              <a:t>Why Product Management?</a:t>
            </a:r>
          </a:p>
          <a:p>
            <a:pPr>
              <a:buFont typeface="Arial" panose="020B0604020202020204" pitchFamily="34" charset="0"/>
              <a:buChar char="•"/>
            </a:pPr>
            <a:r>
              <a:rPr lang="en-IN" dirty="0"/>
              <a:t>What is Product Management?</a:t>
            </a:r>
          </a:p>
          <a:p>
            <a:pPr>
              <a:buFont typeface="Arial" panose="020B0604020202020204" pitchFamily="34" charset="0"/>
              <a:buChar char="•"/>
            </a:pPr>
            <a:r>
              <a:rPr lang="en-IN" dirty="0"/>
              <a:t>Product Development Lifecycle</a:t>
            </a:r>
          </a:p>
          <a:p>
            <a:pPr>
              <a:buFont typeface="Arial" panose="020B0604020202020204" pitchFamily="34" charset="0"/>
              <a:buChar char="•"/>
            </a:pPr>
            <a:r>
              <a:rPr lang="en-IN" dirty="0"/>
              <a:t>Understanding Customers</a:t>
            </a:r>
          </a:p>
          <a:p>
            <a:pPr>
              <a:buFont typeface="Arial" panose="020B0604020202020204" pitchFamily="34" charset="0"/>
              <a:buChar char="•"/>
            </a:pPr>
            <a:r>
              <a:rPr lang="en-IN" dirty="0"/>
              <a:t>Product Discovery vs Delivery</a:t>
            </a:r>
          </a:p>
          <a:p>
            <a:pPr>
              <a:buFont typeface="Arial" panose="020B0604020202020204" pitchFamily="34" charset="0"/>
              <a:buChar char="•"/>
            </a:pPr>
            <a:r>
              <a:rPr lang="en-IN" dirty="0"/>
              <a:t>Writing User Stories</a:t>
            </a:r>
          </a:p>
          <a:p>
            <a:pPr>
              <a:buFont typeface="Arial" panose="020B0604020202020204" pitchFamily="34" charset="0"/>
              <a:buChar char="•"/>
            </a:pPr>
            <a:r>
              <a:rPr lang="en-IN" dirty="0"/>
              <a:t>Prioritization Techniques</a:t>
            </a:r>
          </a:p>
          <a:p>
            <a:pPr>
              <a:buFont typeface="Arial" panose="020B0604020202020204" pitchFamily="34" charset="0"/>
              <a:buChar char="•"/>
            </a:pPr>
            <a:r>
              <a:rPr lang="en-IN" dirty="0"/>
              <a:t>Product Roadmaps &amp; Releases</a:t>
            </a:r>
          </a:p>
          <a:p>
            <a:pPr>
              <a:buFont typeface="Arial" panose="020B0604020202020204" pitchFamily="34" charset="0"/>
              <a:buChar char="•"/>
            </a:pPr>
            <a:r>
              <a:rPr lang="en-IN" dirty="0"/>
              <a:t>Measuring </a:t>
            </a:r>
            <a:r>
              <a:rPr lang="en-IN"/>
              <a:t>Product Success</a:t>
            </a:r>
            <a:endParaRPr lang="en-IN" dirty="0"/>
          </a:p>
          <a:p>
            <a:endParaRPr lang="en-IN" dirty="0"/>
          </a:p>
        </p:txBody>
      </p:sp>
      <p:sp>
        <p:nvSpPr>
          <p:cNvPr id="3" name="Content Placeholder 2">
            <a:extLst>
              <a:ext uri="{FF2B5EF4-FFF2-40B4-BE49-F238E27FC236}">
                <a16:creationId xmlns:a16="http://schemas.microsoft.com/office/drawing/2014/main" id="{6EB945A6-04F0-636B-9E9A-51576FDA2BD0}"/>
              </a:ext>
            </a:extLst>
          </p:cNvPr>
          <p:cNvSpPr>
            <a:spLocks noGrp="1"/>
          </p:cNvSpPr>
          <p:nvPr>
            <p:ph sz="quarter" idx="10"/>
          </p:nvPr>
        </p:nvSpPr>
        <p:spPr/>
        <p:txBody>
          <a:bodyPr/>
          <a:lstStyle/>
          <a:p>
            <a:r>
              <a:rPr lang="en-IN" dirty="0"/>
              <a:t>Agenda</a:t>
            </a:r>
          </a:p>
        </p:txBody>
      </p:sp>
    </p:spTree>
    <p:extLst>
      <p:ext uri="{BB962C8B-B14F-4D97-AF65-F5344CB8AC3E}">
        <p14:creationId xmlns:p14="http://schemas.microsoft.com/office/powerpoint/2010/main" val="2046243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lIns="0" tIns="0" rIns="0" bIns="0" rtlCol="0" anchor="ctr"/>
          <a:lstStyle/>
          <a:p>
            <a:pPr marL="0" indent="0">
              <a:buNone/>
            </a:pPr>
            <a:r>
              <a:rPr lang="en-US" sz="1100" b="1" kern="0" spc="200" dirty="0">
                <a:solidFill>
                  <a:srgbClr val="63E7A4"/>
                </a:solidFill>
                <a:latin typeface="Century Gothic" pitchFamily="34" charset="0"/>
                <a:ea typeface="Century Gothic" pitchFamily="34" charset="-122"/>
                <a:cs typeface="Century Gothic" pitchFamily="34" charset="-120"/>
              </a:rPr>
              <a:t>THE FULL FLOW</a:t>
            </a:r>
            <a:endParaRPr lang="en-US" sz="1100" dirty="0"/>
          </a:p>
        </p:txBody>
      </p:sp>
      <p:sp>
        <p:nvSpPr>
          <p:cNvPr id="3" name="Text 1"/>
          <p:cNvSpPr/>
          <p:nvPr/>
        </p:nvSpPr>
        <p:spPr>
          <a:xfrm>
            <a:off x="640080" y="685800"/>
            <a:ext cx="10911535" cy="685800"/>
          </a:xfrm>
          <a:prstGeom prst="rect">
            <a:avLst/>
          </a:prstGeom>
          <a:noFill/>
          <a:ln/>
        </p:spPr>
        <p:txBody>
          <a:bodyPr wrap="square" lIns="0" tIns="0" rIns="0" bIns="0" rtlCol="0" anchor="t"/>
          <a:lstStyle/>
          <a:p>
            <a:pPr marL="0" indent="0">
              <a:buNone/>
            </a:pPr>
            <a:r>
              <a:rPr lang="en-US" sz="2900" b="1" dirty="0">
                <a:solidFill>
                  <a:srgbClr val="003352"/>
                </a:solidFill>
                <a:latin typeface="Century Gothic" pitchFamily="34" charset="0"/>
                <a:ea typeface="Century Gothic" pitchFamily="34" charset="-122"/>
                <a:cs typeface="Century Gothic" pitchFamily="34" charset="-120"/>
              </a:rPr>
              <a:t>Twelve weeks, four phases</a:t>
            </a:r>
            <a:endParaRPr lang="en-US" sz="2900" dirty="0"/>
          </a:p>
        </p:txBody>
      </p:sp>
      <p:sp>
        <p:nvSpPr>
          <p:cNvPr id="4" name="Text 2"/>
          <p:cNvSpPr/>
          <p:nvPr/>
        </p:nvSpPr>
        <p:spPr>
          <a:xfrm>
            <a:off x="640080" y="1536192"/>
            <a:ext cx="10911535" cy="320040"/>
          </a:xfrm>
          <a:prstGeom prst="rect">
            <a:avLst/>
          </a:prstGeom>
          <a:noFill/>
          <a:ln/>
        </p:spPr>
        <p:txBody>
          <a:bodyPr wrap="square" lIns="0" tIns="0" rIns="0" bIns="0" rtlCol="0" anchor="ctr"/>
          <a:lstStyle/>
          <a:p>
            <a:pPr marL="0" indent="0">
              <a:buNone/>
            </a:pPr>
            <a:r>
              <a:rPr lang="en-US" sz="1300" dirty="0">
                <a:solidFill>
                  <a:srgbClr val="5C7A8C"/>
                </a:solidFill>
                <a:latin typeface="Century Gothic" pitchFamily="34" charset="0"/>
                <a:ea typeface="Century Gothic" pitchFamily="34" charset="-122"/>
                <a:cs typeface="Century Gothic" pitchFamily="34" charset="-120"/>
              </a:rPr>
              <a:t>The complete product management cycle, in the order a product actually moves through it — understand, decide, build, launch.</a:t>
            </a:r>
            <a:endParaRPr lang="en-US" sz="1300" dirty="0"/>
          </a:p>
        </p:txBody>
      </p:sp>
      <p:sp>
        <p:nvSpPr>
          <p:cNvPr id="5" name="Shape 3"/>
          <p:cNvSpPr/>
          <p:nvPr/>
        </p:nvSpPr>
        <p:spPr>
          <a:xfrm>
            <a:off x="640080" y="2057400"/>
            <a:ext cx="2587752" cy="3291840"/>
          </a:xfrm>
          <a:prstGeom prst="roundRect">
            <a:avLst>
              <a:gd name="adj" fmla="val 2827"/>
            </a:avLst>
          </a:prstGeom>
          <a:solidFill>
            <a:srgbClr val="003352"/>
          </a:solidFill>
          <a:ln w="6350">
            <a:solidFill>
              <a:srgbClr val="003352"/>
            </a:solidFill>
            <a:prstDash val="solid"/>
          </a:ln>
        </p:spPr>
        <p:txBody>
          <a:bodyPr/>
          <a:lstStyle/>
          <a:p>
            <a:endParaRPr lang="en-IN"/>
          </a:p>
        </p:txBody>
      </p:sp>
      <p:sp>
        <p:nvSpPr>
          <p:cNvPr id="6" name="Text 4"/>
          <p:cNvSpPr/>
          <p:nvPr/>
        </p:nvSpPr>
        <p:spPr>
          <a:xfrm>
            <a:off x="914400" y="2267712"/>
            <a:ext cx="2148840" cy="274320"/>
          </a:xfrm>
          <a:prstGeom prst="rect">
            <a:avLst/>
          </a:prstGeom>
          <a:noFill/>
          <a:ln/>
        </p:spPr>
        <p:txBody>
          <a:bodyPr wrap="square" lIns="0" tIns="0" rIns="0" bIns="0" rtlCol="0" anchor="ctr"/>
          <a:lstStyle/>
          <a:p>
            <a:pPr marL="0" indent="0">
              <a:buNone/>
            </a:pPr>
            <a:r>
              <a:rPr lang="en-US" sz="900" b="1" kern="0" spc="100" dirty="0">
                <a:solidFill>
                  <a:srgbClr val="63E7A4"/>
                </a:solidFill>
                <a:latin typeface="Century Gothic" pitchFamily="34" charset="0"/>
                <a:ea typeface="Century Gothic" pitchFamily="34" charset="-122"/>
                <a:cs typeface="Century Gothic" pitchFamily="34" charset="-120"/>
              </a:rPr>
              <a:t>WEEKS 1–3</a:t>
            </a:r>
            <a:endParaRPr lang="en-US" sz="900" dirty="0"/>
          </a:p>
        </p:txBody>
      </p:sp>
      <p:sp>
        <p:nvSpPr>
          <p:cNvPr id="7" name="Text 5"/>
          <p:cNvSpPr/>
          <p:nvPr/>
        </p:nvSpPr>
        <p:spPr>
          <a:xfrm>
            <a:off x="914400" y="2560320"/>
            <a:ext cx="2194560" cy="685800"/>
          </a:xfrm>
          <a:prstGeom prst="rect">
            <a:avLst/>
          </a:prstGeom>
          <a:noFill/>
          <a:ln/>
        </p:spPr>
        <p:txBody>
          <a:bodyPr wrap="square" lIns="0" tIns="0" rIns="0" bIns="0" rtlCol="0" anchor="t"/>
          <a:lstStyle/>
          <a:p>
            <a:pPr marL="0" indent="0">
              <a:buNone/>
            </a:pPr>
            <a:r>
              <a:rPr lang="en-US" sz="1600" b="1" dirty="0">
                <a:solidFill>
                  <a:srgbClr val="FFFFFF"/>
                </a:solidFill>
                <a:latin typeface="Century Gothic" pitchFamily="34" charset="0"/>
                <a:ea typeface="Century Gothic" pitchFamily="34" charset="-122"/>
                <a:cs typeface="Century Gothic" pitchFamily="34" charset="-120"/>
              </a:rPr>
              <a:t>Understand</a:t>
            </a:r>
            <a:endParaRPr lang="en-US" sz="1600" dirty="0"/>
          </a:p>
        </p:txBody>
      </p:sp>
      <p:sp>
        <p:nvSpPr>
          <p:cNvPr id="8" name="Text 6"/>
          <p:cNvSpPr/>
          <p:nvPr/>
        </p:nvSpPr>
        <p:spPr>
          <a:xfrm>
            <a:off x="914400" y="3291840"/>
            <a:ext cx="2194560" cy="100584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B7D0DC"/>
                </a:solidFill>
                <a:latin typeface="Century Gothic" pitchFamily="34" charset="0"/>
                <a:ea typeface="Century Gothic" pitchFamily="34" charset="-122"/>
                <a:cs typeface="Century Gothic" pitchFamily="34" charset="-120"/>
              </a:rPr>
              <a:t>The role and lifecycle</a:t>
            </a:r>
            <a:endParaRPr lang="en-US" sz="1000" dirty="0"/>
          </a:p>
          <a:p>
            <a:pPr marL="342900" indent="-342900">
              <a:spcAft>
                <a:spcPts val="500"/>
              </a:spcAft>
              <a:buSzPct val="100000"/>
              <a:buChar char="•"/>
            </a:pPr>
            <a:r>
              <a:rPr lang="en-US" sz="1000" dirty="0">
                <a:solidFill>
                  <a:srgbClr val="B7D0DC"/>
                </a:solidFill>
                <a:latin typeface="Century Gothic" pitchFamily="34" charset="0"/>
                <a:ea typeface="Century Gothic" pitchFamily="34" charset="-122"/>
                <a:cs typeface="Century Gothic" pitchFamily="34" charset="-120"/>
              </a:rPr>
              <a:t>Customer discovery</a:t>
            </a:r>
            <a:endParaRPr lang="en-US" sz="1000" dirty="0"/>
          </a:p>
          <a:p>
            <a:pPr marL="342900" indent="-342900">
              <a:spcAft>
                <a:spcPts val="500"/>
              </a:spcAft>
              <a:buSzPct val="100000"/>
              <a:buChar char="•"/>
            </a:pPr>
            <a:r>
              <a:rPr lang="en-US" sz="1000" dirty="0">
                <a:solidFill>
                  <a:srgbClr val="B7D0DC"/>
                </a:solidFill>
                <a:latin typeface="Century Gothic" pitchFamily="34" charset="0"/>
                <a:ea typeface="Century Gothic" pitchFamily="34" charset="-122"/>
                <a:cs typeface="Century Gothic" pitchFamily="34" charset="-120"/>
              </a:rPr>
              <a:t>Market and competitors</a:t>
            </a:r>
            <a:endParaRPr lang="en-US" sz="1000" dirty="0"/>
          </a:p>
        </p:txBody>
      </p:sp>
      <p:sp>
        <p:nvSpPr>
          <p:cNvPr id="9" name="Shape 7"/>
          <p:cNvSpPr/>
          <p:nvPr/>
        </p:nvSpPr>
        <p:spPr>
          <a:xfrm>
            <a:off x="914400" y="4434840"/>
            <a:ext cx="2103120" cy="18288"/>
          </a:xfrm>
          <a:prstGeom prst="rect">
            <a:avLst/>
          </a:prstGeom>
          <a:solidFill>
            <a:srgbClr val="2E6B87"/>
          </a:solidFill>
          <a:ln/>
        </p:spPr>
        <p:txBody>
          <a:bodyPr/>
          <a:lstStyle/>
          <a:p>
            <a:endParaRPr lang="en-IN"/>
          </a:p>
        </p:txBody>
      </p:sp>
      <p:sp>
        <p:nvSpPr>
          <p:cNvPr id="10" name="Text 8"/>
          <p:cNvSpPr/>
          <p:nvPr/>
        </p:nvSpPr>
        <p:spPr>
          <a:xfrm>
            <a:off x="914400" y="4572000"/>
            <a:ext cx="2194560" cy="685800"/>
          </a:xfrm>
          <a:prstGeom prst="rect">
            <a:avLst/>
          </a:prstGeom>
          <a:noFill/>
          <a:ln/>
        </p:spPr>
        <p:txBody>
          <a:bodyPr wrap="square" lIns="0" tIns="0" rIns="0" bIns="0" rtlCol="0" anchor="t"/>
          <a:lstStyle/>
          <a:p>
            <a:pPr marL="0" indent="0">
              <a:lnSpc>
                <a:spcPts val="1300"/>
              </a:lnSpc>
              <a:buNone/>
            </a:pPr>
            <a:r>
              <a:rPr lang="en-US" sz="950" i="1" dirty="0">
                <a:solidFill>
                  <a:srgbClr val="63E7A4"/>
                </a:solidFill>
                <a:latin typeface="Century Gothic" pitchFamily="34" charset="0"/>
                <a:ea typeface="Century Gothic" pitchFamily="34" charset="-122"/>
                <a:cs typeface="Century Gothic" pitchFamily="34" charset="-120"/>
              </a:rPr>
              <a:t>Who are we building for, and what is already out there?</a:t>
            </a:r>
            <a:endParaRPr lang="en-US" sz="950" dirty="0"/>
          </a:p>
        </p:txBody>
      </p:sp>
      <p:sp>
        <p:nvSpPr>
          <p:cNvPr id="11" name="Shape 9"/>
          <p:cNvSpPr/>
          <p:nvPr/>
        </p:nvSpPr>
        <p:spPr>
          <a:xfrm>
            <a:off x="3410712" y="2057400"/>
            <a:ext cx="2587752" cy="3291840"/>
          </a:xfrm>
          <a:prstGeom prst="roundRect">
            <a:avLst>
              <a:gd name="adj" fmla="val 2827"/>
            </a:avLst>
          </a:prstGeom>
          <a:solidFill>
            <a:srgbClr val="EDF3F6"/>
          </a:solidFill>
          <a:ln w="6350">
            <a:solidFill>
              <a:srgbClr val="EDF3F6"/>
            </a:solidFill>
            <a:prstDash val="solid"/>
          </a:ln>
        </p:spPr>
        <p:txBody>
          <a:bodyPr/>
          <a:lstStyle/>
          <a:p>
            <a:endParaRPr lang="en-IN"/>
          </a:p>
        </p:txBody>
      </p:sp>
      <p:sp>
        <p:nvSpPr>
          <p:cNvPr id="12" name="Text 10"/>
          <p:cNvSpPr/>
          <p:nvPr/>
        </p:nvSpPr>
        <p:spPr>
          <a:xfrm>
            <a:off x="3685032" y="2267712"/>
            <a:ext cx="2148840" cy="274320"/>
          </a:xfrm>
          <a:prstGeom prst="rect">
            <a:avLst/>
          </a:prstGeom>
          <a:noFill/>
          <a:ln/>
        </p:spPr>
        <p:txBody>
          <a:bodyPr wrap="square" lIns="0" tIns="0" rIns="0" bIns="0" rtlCol="0" anchor="ctr"/>
          <a:lstStyle/>
          <a:p>
            <a:pPr marL="0" indent="0">
              <a:buNone/>
            </a:pPr>
            <a:r>
              <a:rPr lang="en-US" sz="900" b="1" kern="0" spc="100" dirty="0">
                <a:solidFill>
                  <a:srgbClr val="2E7D8F"/>
                </a:solidFill>
                <a:latin typeface="Century Gothic" pitchFamily="34" charset="0"/>
                <a:ea typeface="Century Gothic" pitchFamily="34" charset="-122"/>
                <a:cs typeface="Century Gothic" pitchFamily="34" charset="-120"/>
              </a:rPr>
              <a:t>WEEKS 4–6</a:t>
            </a:r>
            <a:endParaRPr lang="en-US" sz="900" dirty="0"/>
          </a:p>
        </p:txBody>
      </p:sp>
      <p:sp>
        <p:nvSpPr>
          <p:cNvPr id="13" name="Text 11"/>
          <p:cNvSpPr/>
          <p:nvPr/>
        </p:nvSpPr>
        <p:spPr>
          <a:xfrm>
            <a:off x="3685032" y="2560320"/>
            <a:ext cx="2194560" cy="685800"/>
          </a:xfrm>
          <a:prstGeom prst="rect">
            <a:avLst/>
          </a:prstGeom>
          <a:noFill/>
          <a:ln/>
        </p:spPr>
        <p:txBody>
          <a:bodyPr wrap="square" lIns="0" tIns="0" rIns="0" bIns="0" rtlCol="0" anchor="t"/>
          <a:lstStyle/>
          <a:p>
            <a:pPr marL="0" indent="0">
              <a:buNone/>
            </a:pPr>
            <a:r>
              <a:rPr lang="en-US" sz="1600" b="1" dirty="0">
                <a:solidFill>
                  <a:srgbClr val="003352"/>
                </a:solidFill>
                <a:latin typeface="Century Gothic" pitchFamily="34" charset="0"/>
                <a:ea typeface="Century Gothic" pitchFamily="34" charset="-122"/>
                <a:cs typeface="Century Gothic" pitchFamily="34" charset="-120"/>
              </a:rPr>
              <a:t>Decide</a:t>
            </a:r>
            <a:endParaRPr lang="en-US" sz="1600" dirty="0"/>
          </a:p>
        </p:txBody>
      </p:sp>
      <p:sp>
        <p:nvSpPr>
          <p:cNvPr id="14" name="Text 12"/>
          <p:cNvSpPr/>
          <p:nvPr/>
        </p:nvSpPr>
        <p:spPr>
          <a:xfrm>
            <a:off x="3685032" y="3291840"/>
            <a:ext cx="2194560" cy="100584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5C7A8C"/>
                </a:solidFill>
                <a:latin typeface="Century Gothic" pitchFamily="34" charset="0"/>
                <a:ea typeface="Century Gothic" pitchFamily="34" charset="-122"/>
                <a:cs typeface="Century Gothic" pitchFamily="34" charset="-120"/>
              </a:rPr>
              <a:t>Vision and strategy</a:t>
            </a:r>
            <a:endParaRPr lang="en-US" sz="1000" dirty="0"/>
          </a:p>
          <a:p>
            <a:pPr marL="342900" indent="-342900">
              <a:spcAft>
                <a:spcPts val="500"/>
              </a:spcAft>
              <a:buSzPct val="100000"/>
              <a:buChar char="•"/>
            </a:pPr>
            <a:r>
              <a:rPr lang="en-US" sz="1000" dirty="0">
                <a:solidFill>
                  <a:srgbClr val="5C7A8C"/>
                </a:solidFill>
                <a:latin typeface="Century Gothic" pitchFamily="34" charset="0"/>
                <a:ea typeface="Century Gothic" pitchFamily="34" charset="-122"/>
                <a:cs typeface="Century Gothic" pitchFamily="34" charset="-120"/>
              </a:rPr>
              <a:t>Writing requirements</a:t>
            </a:r>
            <a:endParaRPr lang="en-US" sz="1000" dirty="0"/>
          </a:p>
          <a:p>
            <a:pPr marL="342900" indent="-342900">
              <a:spcAft>
                <a:spcPts val="500"/>
              </a:spcAft>
              <a:buSzPct val="100000"/>
              <a:buChar char="•"/>
            </a:pPr>
            <a:r>
              <a:rPr lang="en-US" sz="1000" dirty="0">
                <a:solidFill>
                  <a:srgbClr val="5C7A8C"/>
                </a:solidFill>
                <a:latin typeface="Century Gothic" pitchFamily="34" charset="0"/>
                <a:ea typeface="Century Gothic" pitchFamily="34" charset="-122"/>
                <a:cs typeface="Century Gothic" pitchFamily="34" charset="-120"/>
              </a:rPr>
              <a:t>Prioritisation</a:t>
            </a:r>
            <a:endParaRPr lang="en-US" sz="1000" dirty="0"/>
          </a:p>
        </p:txBody>
      </p:sp>
      <p:sp>
        <p:nvSpPr>
          <p:cNvPr id="15" name="Shape 13"/>
          <p:cNvSpPr/>
          <p:nvPr/>
        </p:nvSpPr>
        <p:spPr>
          <a:xfrm>
            <a:off x="3685032" y="4434840"/>
            <a:ext cx="2103120" cy="18288"/>
          </a:xfrm>
          <a:prstGeom prst="rect">
            <a:avLst/>
          </a:prstGeom>
          <a:solidFill>
            <a:srgbClr val="CFDDE4"/>
          </a:solidFill>
          <a:ln/>
        </p:spPr>
        <p:txBody>
          <a:bodyPr/>
          <a:lstStyle/>
          <a:p>
            <a:endParaRPr lang="en-IN"/>
          </a:p>
        </p:txBody>
      </p:sp>
      <p:sp>
        <p:nvSpPr>
          <p:cNvPr id="16" name="Text 14"/>
          <p:cNvSpPr/>
          <p:nvPr/>
        </p:nvSpPr>
        <p:spPr>
          <a:xfrm>
            <a:off x="3685032" y="4572000"/>
            <a:ext cx="2194560" cy="685800"/>
          </a:xfrm>
          <a:prstGeom prst="rect">
            <a:avLst/>
          </a:prstGeom>
          <a:noFill/>
          <a:ln/>
        </p:spPr>
        <p:txBody>
          <a:bodyPr wrap="square" lIns="0" tIns="0" rIns="0" bIns="0" rtlCol="0" anchor="t"/>
          <a:lstStyle/>
          <a:p>
            <a:pPr marL="0" indent="0">
              <a:lnSpc>
                <a:spcPts val="1300"/>
              </a:lnSpc>
              <a:buNone/>
            </a:pPr>
            <a:r>
              <a:rPr lang="en-US" sz="950" i="1" dirty="0">
                <a:solidFill>
                  <a:srgbClr val="2E7D8F"/>
                </a:solidFill>
                <a:latin typeface="Century Gothic" pitchFamily="34" charset="0"/>
                <a:ea typeface="Century Gothic" pitchFamily="34" charset="-122"/>
                <a:cs typeface="Century Gothic" pitchFamily="34" charset="-120"/>
              </a:rPr>
              <a:t>What are we building, and in what order?</a:t>
            </a:r>
            <a:endParaRPr lang="en-US" sz="950" dirty="0"/>
          </a:p>
        </p:txBody>
      </p:sp>
      <p:sp>
        <p:nvSpPr>
          <p:cNvPr id="17" name="Shape 15"/>
          <p:cNvSpPr/>
          <p:nvPr/>
        </p:nvSpPr>
        <p:spPr>
          <a:xfrm>
            <a:off x="6181344" y="2057400"/>
            <a:ext cx="2587752" cy="3291840"/>
          </a:xfrm>
          <a:prstGeom prst="roundRect">
            <a:avLst>
              <a:gd name="adj" fmla="val 2827"/>
            </a:avLst>
          </a:prstGeom>
          <a:solidFill>
            <a:srgbClr val="EDF3F6"/>
          </a:solidFill>
          <a:ln w="6350">
            <a:solidFill>
              <a:srgbClr val="EDF3F6"/>
            </a:solidFill>
            <a:prstDash val="solid"/>
          </a:ln>
        </p:spPr>
        <p:txBody>
          <a:bodyPr/>
          <a:lstStyle/>
          <a:p>
            <a:endParaRPr lang="en-IN"/>
          </a:p>
        </p:txBody>
      </p:sp>
      <p:sp>
        <p:nvSpPr>
          <p:cNvPr id="18" name="Text 16"/>
          <p:cNvSpPr/>
          <p:nvPr/>
        </p:nvSpPr>
        <p:spPr>
          <a:xfrm>
            <a:off x="6455664" y="2267712"/>
            <a:ext cx="2148840" cy="274320"/>
          </a:xfrm>
          <a:prstGeom prst="rect">
            <a:avLst/>
          </a:prstGeom>
          <a:noFill/>
          <a:ln/>
        </p:spPr>
        <p:txBody>
          <a:bodyPr wrap="square" lIns="0" tIns="0" rIns="0" bIns="0" rtlCol="0" anchor="ctr"/>
          <a:lstStyle/>
          <a:p>
            <a:pPr marL="0" indent="0">
              <a:buNone/>
            </a:pPr>
            <a:r>
              <a:rPr lang="en-US" sz="900" b="1" kern="0" spc="100" dirty="0">
                <a:solidFill>
                  <a:srgbClr val="2E7D8F"/>
                </a:solidFill>
                <a:latin typeface="Century Gothic" pitchFamily="34" charset="0"/>
                <a:ea typeface="Century Gothic" pitchFamily="34" charset="-122"/>
                <a:cs typeface="Century Gothic" pitchFamily="34" charset="-120"/>
              </a:rPr>
              <a:t>WEEKS 7–9</a:t>
            </a:r>
            <a:endParaRPr lang="en-US" sz="900" dirty="0"/>
          </a:p>
        </p:txBody>
      </p:sp>
      <p:sp>
        <p:nvSpPr>
          <p:cNvPr id="19" name="Text 17"/>
          <p:cNvSpPr/>
          <p:nvPr/>
        </p:nvSpPr>
        <p:spPr>
          <a:xfrm>
            <a:off x="6455664" y="2560320"/>
            <a:ext cx="2194560" cy="685800"/>
          </a:xfrm>
          <a:prstGeom prst="rect">
            <a:avLst/>
          </a:prstGeom>
          <a:noFill/>
          <a:ln/>
        </p:spPr>
        <p:txBody>
          <a:bodyPr wrap="square" lIns="0" tIns="0" rIns="0" bIns="0" rtlCol="0" anchor="t"/>
          <a:lstStyle/>
          <a:p>
            <a:pPr marL="0" indent="0">
              <a:buNone/>
            </a:pPr>
            <a:r>
              <a:rPr lang="en-US" sz="1600" b="1" dirty="0">
                <a:solidFill>
                  <a:srgbClr val="003352"/>
                </a:solidFill>
                <a:latin typeface="Century Gothic" pitchFamily="34" charset="0"/>
                <a:ea typeface="Century Gothic" pitchFamily="34" charset="-122"/>
                <a:cs typeface="Century Gothic" pitchFamily="34" charset="-120"/>
              </a:rPr>
              <a:t>Build and measure</a:t>
            </a:r>
            <a:endParaRPr lang="en-US" sz="1600" dirty="0"/>
          </a:p>
        </p:txBody>
      </p:sp>
      <p:sp>
        <p:nvSpPr>
          <p:cNvPr id="20" name="Text 18"/>
          <p:cNvSpPr/>
          <p:nvPr/>
        </p:nvSpPr>
        <p:spPr>
          <a:xfrm>
            <a:off x="6455664" y="3291840"/>
            <a:ext cx="2194560" cy="100584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5C7A8C"/>
                </a:solidFill>
                <a:latin typeface="Century Gothic" pitchFamily="34" charset="0"/>
                <a:ea typeface="Century Gothic" pitchFamily="34" charset="-122"/>
                <a:cs typeface="Century Gothic" pitchFamily="34" charset="-120"/>
              </a:rPr>
              <a:t>Agile and Scrum</a:t>
            </a:r>
            <a:endParaRPr lang="en-US" sz="1000" dirty="0"/>
          </a:p>
          <a:p>
            <a:pPr marL="342900" indent="-342900">
              <a:spcAft>
                <a:spcPts val="500"/>
              </a:spcAft>
              <a:buSzPct val="100000"/>
              <a:buChar char="•"/>
            </a:pPr>
            <a:r>
              <a:rPr lang="en-US" sz="1000" dirty="0">
                <a:solidFill>
                  <a:srgbClr val="5C7A8C"/>
                </a:solidFill>
                <a:latin typeface="Century Gothic" pitchFamily="34" charset="0"/>
                <a:ea typeface="Century Gothic" pitchFamily="34" charset="-122"/>
                <a:cs typeface="Century Gothic" pitchFamily="34" charset="-120"/>
              </a:rPr>
              <a:t>UX fundamentals</a:t>
            </a:r>
            <a:endParaRPr lang="en-US" sz="1000" dirty="0"/>
          </a:p>
          <a:p>
            <a:pPr marL="342900" indent="-342900">
              <a:spcAft>
                <a:spcPts val="500"/>
              </a:spcAft>
              <a:buSzPct val="100000"/>
              <a:buChar char="•"/>
            </a:pPr>
            <a:r>
              <a:rPr lang="en-US" sz="1000" dirty="0">
                <a:solidFill>
                  <a:srgbClr val="5C7A8C"/>
                </a:solidFill>
                <a:latin typeface="Century Gothic" pitchFamily="34" charset="0"/>
                <a:ea typeface="Century Gothic" pitchFamily="34" charset="-122"/>
                <a:cs typeface="Century Gothic" pitchFamily="34" charset="-120"/>
              </a:rPr>
              <a:t>Data and metrics</a:t>
            </a:r>
            <a:endParaRPr lang="en-US" sz="1000" dirty="0"/>
          </a:p>
        </p:txBody>
      </p:sp>
      <p:sp>
        <p:nvSpPr>
          <p:cNvPr id="21" name="Shape 19"/>
          <p:cNvSpPr/>
          <p:nvPr/>
        </p:nvSpPr>
        <p:spPr>
          <a:xfrm>
            <a:off x="6455664" y="4434840"/>
            <a:ext cx="2103120" cy="18288"/>
          </a:xfrm>
          <a:prstGeom prst="rect">
            <a:avLst/>
          </a:prstGeom>
          <a:solidFill>
            <a:srgbClr val="CFDDE4"/>
          </a:solidFill>
          <a:ln/>
        </p:spPr>
        <p:txBody>
          <a:bodyPr/>
          <a:lstStyle/>
          <a:p>
            <a:endParaRPr lang="en-IN"/>
          </a:p>
        </p:txBody>
      </p:sp>
      <p:sp>
        <p:nvSpPr>
          <p:cNvPr id="22" name="Text 20"/>
          <p:cNvSpPr/>
          <p:nvPr/>
        </p:nvSpPr>
        <p:spPr>
          <a:xfrm>
            <a:off x="6455664" y="4572000"/>
            <a:ext cx="2194560" cy="685800"/>
          </a:xfrm>
          <a:prstGeom prst="rect">
            <a:avLst/>
          </a:prstGeom>
          <a:noFill/>
          <a:ln/>
        </p:spPr>
        <p:txBody>
          <a:bodyPr wrap="square" lIns="0" tIns="0" rIns="0" bIns="0" rtlCol="0" anchor="t"/>
          <a:lstStyle/>
          <a:p>
            <a:pPr marL="0" indent="0">
              <a:lnSpc>
                <a:spcPts val="1300"/>
              </a:lnSpc>
              <a:buNone/>
            </a:pPr>
            <a:r>
              <a:rPr lang="en-US" sz="950" i="1" dirty="0">
                <a:solidFill>
                  <a:srgbClr val="2E7D8F"/>
                </a:solidFill>
                <a:latin typeface="Century Gothic" pitchFamily="34" charset="0"/>
                <a:ea typeface="Century Gothic" pitchFamily="34" charset="-122"/>
                <a:cs typeface="Century Gothic" pitchFamily="34" charset="-120"/>
              </a:rPr>
              <a:t>How does it get made, and how do we know it works?</a:t>
            </a:r>
            <a:endParaRPr lang="en-US" sz="950" dirty="0"/>
          </a:p>
        </p:txBody>
      </p:sp>
      <p:sp>
        <p:nvSpPr>
          <p:cNvPr id="23" name="Shape 21"/>
          <p:cNvSpPr/>
          <p:nvPr/>
        </p:nvSpPr>
        <p:spPr>
          <a:xfrm>
            <a:off x="8951976" y="2057400"/>
            <a:ext cx="2587752" cy="3291840"/>
          </a:xfrm>
          <a:prstGeom prst="roundRect">
            <a:avLst>
              <a:gd name="adj" fmla="val 2827"/>
            </a:avLst>
          </a:prstGeom>
          <a:solidFill>
            <a:srgbClr val="EDF3F6"/>
          </a:solidFill>
          <a:ln w="6350">
            <a:solidFill>
              <a:srgbClr val="EDF3F6"/>
            </a:solidFill>
            <a:prstDash val="solid"/>
          </a:ln>
        </p:spPr>
        <p:txBody>
          <a:bodyPr/>
          <a:lstStyle/>
          <a:p>
            <a:endParaRPr lang="en-IN"/>
          </a:p>
        </p:txBody>
      </p:sp>
      <p:sp>
        <p:nvSpPr>
          <p:cNvPr id="24" name="Text 22"/>
          <p:cNvSpPr/>
          <p:nvPr/>
        </p:nvSpPr>
        <p:spPr>
          <a:xfrm>
            <a:off x="9226296" y="2267712"/>
            <a:ext cx="2148840" cy="274320"/>
          </a:xfrm>
          <a:prstGeom prst="rect">
            <a:avLst/>
          </a:prstGeom>
          <a:noFill/>
          <a:ln/>
        </p:spPr>
        <p:txBody>
          <a:bodyPr wrap="square" lIns="0" tIns="0" rIns="0" bIns="0" rtlCol="0" anchor="ctr"/>
          <a:lstStyle/>
          <a:p>
            <a:pPr marL="0" indent="0">
              <a:buNone/>
            </a:pPr>
            <a:r>
              <a:rPr lang="en-US" sz="900" b="1" kern="0" spc="100" dirty="0">
                <a:solidFill>
                  <a:srgbClr val="2E7D8F"/>
                </a:solidFill>
                <a:latin typeface="Century Gothic" pitchFamily="34" charset="0"/>
                <a:ea typeface="Century Gothic" pitchFamily="34" charset="-122"/>
                <a:cs typeface="Century Gothic" pitchFamily="34" charset="-120"/>
              </a:rPr>
              <a:t>WEEKS 10–12</a:t>
            </a:r>
            <a:endParaRPr lang="en-US" sz="900" dirty="0"/>
          </a:p>
        </p:txBody>
      </p:sp>
      <p:sp>
        <p:nvSpPr>
          <p:cNvPr id="25" name="Text 23"/>
          <p:cNvSpPr/>
          <p:nvPr/>
        </p:nvSpPr>
        <p:spPr>
          <a:xfrm>
            <a:off x="9226296" y="2560320"/>
            <a:ext cx="2194560" cy="685800"/>
          </a:xfrm>
          <a:prstGeom prst="rect">
            <a:avLst/>
          </a:prstGeom>
          <a:noFill/>
          <a:ln/>
        </p:spPr>
        <p:txBody>
          <a:bodyPr wrap="square" lIns="0" tIns="0" rIns="0" bIns="0" rtlCol="0" anchor="t"/>
          <a:lstStyle/>
          <a:p>
            <a:pPr marL="0" indent="0">
              <a:buNone/>
            </a:pPr>
            <a:r>
              <a:rPr lang="en-US" sz="1600" b="1" dirty="0">
                <a:solidFill>
                  <a:srgbClr val="003352"/>
                </a:solidFill>
                <a:latin typeface="Century Gothic" pitchFamily="34" charset="0"/>
                <a:ea typeface="Century Gothic" pitchFamily="34" charset="-122"/>
                <a:cs typeface="Century Gothic" pitchFamily="34" charset="-120"/>
              </a:rPr>
              <a:t>Launch and lead</a:t>
            </a:r>
            <a:endParaRPr lang="en-US" sz="1600" dirty="0"/>
          </a:p>
        </p:txBody>
      </p:sp>
      <p:sp>
        <p:nvSpPr>
          <p:cNvPr id="26" name="Text 24"/>
          <p:cNvSpPr/>
          <p:nvPr/>
        </p:nvSpPr>
        <p:spPr>
          <a:xfrm>
            <a:off x="9226296" y="3291840"/>
            <a:ext cx="2194560" cy="100584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5C7A8C"/>
                </a:solidFill>
                <a:latin typeface="Century Gothic" pitchFamily="34" charset="0"/>
                <a:ea typeface="Century Gothic" pitchFamily="34" charset="-122"/>
                <a:cs typeface="Century Gothic" pitchFamily="34" charset="-120"/>
              </a:rPr>
              <a:t>Go-to-market</a:t>
            </a:r>
            <a:endParaRPr lang="en-US" sz="1000" dirty="0"/>
          </a:p>
          <a:p>
            <a:pPr marL="342900" indent="-342900">
              <a:spcAft>
                <a:spcPts val="500"/>
              </a:spcAft>
              <a:buSzPct val="100000"/>
              <a:buChar char="•"/>
            </a:pPr>
            <a:r>
              <a:rPr lang="en-US" sz="1000" dirty="0">
                <a:solidFill>
                  <a:srgbClr val="5C7A8C"/>
                </a:solidFill>
                <a:latin typeface="Century Gothic" pitchFamily="34" charset="0"/>
                <a:ea typeface="Century Gothic" pitchFamily="34" charset="-122"/>
                <a:cs typeface="Century Gothic" pitchFamily="34" charset="-120"/>
              </a:rPr>
              <a:t>Stakeholder management</a:t>
            </a:r>
            <a:endParaRPr lang="en-US" sz="1000" dirty="0"/>
          </a:p>
          <a:p>
            <a:pPr marL="342900" indent="-342900">
              <a:spcAft>
                <a:spcPts val="500"/>
              </a:spcAft>
              <a:buSzPct val="100000"/>
              <a:buChar char="•"/>
            </a:pPr>
            <a:r>
              <a:rPr lang="en-US" sz="1000" dirty="0">
                <a:solidFill>
                  <a:srgbClr val="5C7A8C"/>
                </a:solidFill>
                <a:latin typeface="Century Gothic" pitchFamily="34" charset="0"/>
                <a:ea typeface="Century Gothic" pitchFamily="34" charset="-122"/>
                <a:cs typeface="Century Gothic" pitchFamily="34" charset="-120"/>
              </a:rPr>
              <a:t>AI in product</a:t>
            </a:r>
            <a:endParaRPr lang="en-US" sz="1000" dirty="0"/>
          </a:p>
        </p:txBody>
      </p:sp>
      <p:sp>
        <p:nvSpPr>
          <p:cNvPr id="27" name="Shape 25"/>
          <p:cNvSpPr/>
          <p:nvPr/>
        </p:nvSpPr>
        <p:spPr>
          <a:xfrm>
            <a:off x="9226296" y="4434840"/>
            <a:ext cx="2103120" cy="18288"/>
          </a:xfrm>
          <a:prstGeom prst="rect">
            <a:avLst/>
          </a:prstGeom>
          <a:solidFill>
            <a:srgbClr val="CFDDE4"/>
          </a:solidFill>
          <a:ln/>
        </p:spPr>
        <p:txBody>
          <a:bodyPr/>
          <a:lstStyle/>
          <a:p>
            <a:endParaRPr lang="en-IN"/>
          </a:p>
        </p:txBody>
      </p:sp>
      <p:sp>
        <p:nvSpPr>
          <p:cNvPr id="28" name="Text 26"/>
          <p:cNvSpPr/>
          <p:nvPr/>
        </p:nvSpPr>
        <p:spPr>
          <a:xfrm>
            <a:off x="9226296" y="4572000"/>
            <a:ext cx="2194560" cy="685800"/>
          </a:xfrm>
          <a:prstGeom prst="rect">
            <a:avLst/>
          </a:prstGeom>
          <a:noFill/>
          <a:ln/>
        </p:spPr>
        <p:txBody>
          <a:bodyPr wrap="square" lIns="0" tIns="0" rIns="0" bIns="0" rtlCol="0" anchor="t"/>
          <a:lstStyle/>
          <a:p>
            <a:pPr marL="0" indent="0">
              <a:lnSpc>
                <a:spcPts val="1300"/>
              </a:lnSpc>
              <a:buNone/>
            </a:pPr>
            <a:r>
              <a:rPr lang="en-US" sz="950" i="1" dirty="0">
                <a:solidFill>
                  <a:srgbClr val="2E7D8F"/>
                </a:solidFill>
                <a:latin typeface="Century Gothic" pitchFamily="34" charset="0"/>
                <a:ea typeface="Century Gothic" pitchFamily="34" charset="-122"/>
                <a:cs typeface="Century Gothic" pitchFamily="34" charset="-120"/>
              </a:rPr>
              <a:t>How does it reach people, and how do we carry the org?</a:t>
            </a:r>
            <a:endParaRPr lang="en-US" sz="950" dirty="0"/>
          </a:p>
        </p:txBody>
      </p:sp>
      <p:sp>
        <p:nvSpPr>
          <p:cNvPr id="29" name="Text 27"/>
          <p:cNvSpPr/>
          <p:nvPr/>
        </p:nvSpPr>
        <p:spPr>
          <a:xfrm>
            <a:off x="640080" y="5532120"/>
            <a:ext cx="10911535" cy="365760"/>
          </a:xfrm>
          <a:prstGeom prst="rect">
            <a:avLst/>
          </a:prstGeom>
          <a:noFill/>
          <a:ln/>
        </p:spPr>
        <p:txBody>
          <a:bodyPr wrap="square" lIns="0" tIns="0" rIns="0" bIns="0" rtlCol="0" anchor="ctr"/>
          <a:lstStyle/>
          <a:p>
            <a:pPr marL="0" indent="0">
              <a:buNone/>
            </a:pPr>
            <a:r>
              <a:rPr lang="en-US" sz="1200" i="1" dirty="0">
                <a:solidFill>
                  <a:srgbClr val="5C7A8C"/>
                </a:solidFill>
                <a:latin typeface="Century Gothic" pitchFamily="34" charset="0"/>
                <a:ea typeface="Century Gothic" pitchFamily="34" charset="-122"/>
                <a:cs typeface="Century Gothic" pitchFamily="34" charset="-120"/>
              </a:rPr>
              <a:t>Today’s session compresses weeks 1, 4, 5, 6 and 9 — the role, direction, requirements, prioritisation and measurement — into one sitting.</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lIns="0" tIns="0" rIns="0" bIns="0" rtlCol="0" anchor="ctr"/>
          <a:lstStyle/>
          <a:p>
            <a:pPr marL="0" indent="0">
              <a:buNone/>
            </a:pPr>
            <a:r>
              <a:rPr lang="en-US" sz="1100" b="1" kern="0" spc="200" dirty="0">
                <a:solidFill>
                  <a:srgbClr val="63E7A4"/>
                </a:solidFill>
                <a:latin typeface="Century Gothic" pitchFamily="34" charset="0"/>
                <a:ea typeface="Century Gothic" pitchFamily="34" charset="-122"/>
                <a:cs typeface="Century Gothic" pitchFamily="34" charset="-120"/>
              </a:rPr>
              <a:t>THE FULL FLOW</a:t>
            </a:r>
            <a:endParaRPr lang="en-US" sz="1100" dirty="0"/>
          </a:p>
        </p:txBody>
      </p:sp>
      <p:sp>
        <p:nvSpPr>
          <p:cNvPr id="3" name="Text 1"/>
          <p:cNvSpPr/>
          <p:nvPr/>
        </p:nvSpPr>
        <p:spPr>
          <a:xfrm>
            <a:off x="640080" y="685800"/>
            <a:ext cx="10911535" cy="685800"/>
          </a:xfrm>
          <a:prstGeom prst="rect">
            <a:avLst/>
          </a:prstGeom>
          <a:noFill/>
          <a:ln/>
        </p:spPr>
        <p:txBody>
          <a:bodyPr wrap="square" lIns="0" tIns="0" rIns="0" bIns="0" rtlCol="0" anchor="t"/>
          <a:lstStyle/>
          <a:p>
            <a:pPr marL="0" indent="0">
              <a:buNone/>
            </a:pPr>
            <a:r>
              <a:rPr lang="en-US" sz="2900" b="1" dirty="0">
                <a:solidFill>
                  <a:srgbClr val="003352"/>
                </a:solidFill>
                <a:latin typeface="Century Gothic" pitchFamily="34" charset="0"/>
                <a:ea typeface="Century Gothic" pitchFamily="34" charset="-122"/>
                <a:cs typeface="Century Gothic" pitchFamily="34" charset="-120"/>
              </a:rPr>
              <a:t>Weeks 1 to 4 — understand and decide</a:t>
            </a:r>
            <a:endParaRPr lang="en-US" sz="2900" dirty="0"/>
          </a:p>
        </p:txBody>
      </p:sp>
      <p:sp>
        <p:nvSpPr>
          <p:cNvPr id="4" name="Text 2"/>
          <p:cNvSpPr/>
          <p:nvPr/>
        </p:nvSpPr>
        <p:spPr>
          <a:xfrm>
            <a:off x="640080" y="1536192"/>
            <a:ext cx="10911535" cy="320040"/>
          </a:xfrm>
          <a:prstGeom prst="rect">
            <a:avLst/>
          </a:prstGeom>
          <a:noFill/>
          <a:ln/>
        </p:spPr>
        <p:txBody>
          <a:bodyPr wrap="square" lIns="0" tIns="0" rIns="0" bIns="0" rtlCol="0" anchor="ctr"/>
          <a:lstStyle/>
          <a:p>
            <a:pPr marL="0" indent="0">
              <a:buNone/>
            </a:pPr>
            <a:r>
              <a:rPr lang="en-US" sz="1300" dirty="0">
                <a:solidFill>
                  <a:srgbClr val="5C7A8C"/>
                </a:solidFill>
                <a:latin typeface="Century Gothic" pitchFamily="34" charset="0"/>
                <a:ea typeface="Century Gothic" pitchFamily="34" charset="-122"/>
                <a:cs typeface="Century Gothic" pitchFamily="34" charset="-120"/>
              </a:rPr>
              <a:t>The front half of the cycle: who the customer is, what the market looks like, and where the product is headed.</a:t>
            </a:r>
            <a:endParaRPr lang="en-US" sz="1300" dirty="0"/>
          </a:p>
        </p:txBody>
      </p:sp>
      <p:graphicFrame>
        <p:nvGraphicFramePr>
          <p:cNvPr id="5" name="Table 0"/>
          <p:cNvGraphicFramePr>
            <a:graphicFrameLocks noGrp="1"/>
          </p:cNvGraphicFramePr>
          <p:nvPr/>
        </p:nvGraphicFramePr>
        <p:xfrm>
          <a:off x="640080" y="1965960"/>
          <a:ext cx="10908792" cy="3657600"/>
        </p:xfrm>
        <a:graphic>
          <a:graphicData uri="http://schemas.openxmlformats.org/drawingml/2006/table">
            <a:tbl>
              <a:tblPr/>
              <a:tblGrid>
                <a:gridCol w="86868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gridCol w="3456432">
                  <a:extLst>
                    <a:ext uri="{9D8B030D-6E8A-4147-A177-3AD203B41FA5}">
                      <a16:colId xmlns:a16="http://schemas.microsoft.com/office/drawing/2014/main" val="20003"/>
                    </a:ext>
                  </a:extLst>
                </a:gridCol>
              </a:tblGrid>
              <a:tr h="731520">
                <a:tc>
                  <a:txBody>
                    <a:bodyPr/>
                    <a:lstStyle/>
                    <a:p>
                      <a:pPr marL="0" indent="0" algn="ctr">
                        <a:buNone/>
                      </a:pPr>
                      <a:r>
                        <a:rPr lang="en-US" sz="1050" b="1" dirty="0">
                          <a:solidFill>
                            <a:srgbClr val="63E7A4"/>
                          </a:solidFill>
                          <a:latin typeface="Century Gothic" pitchFamily="34" charset="0"/>
                          <a:ea typeface="Century Gothic" pitchFamily="34" charset="-122"/>
                          <a:cs typeface="Century Gothic" pitchFamily="34" charset="-120"/>
                        </a:rPr>
                        <a:t>Week</a:t>
                      </a:r>
                      <a:endParaRPr lang="en-US" sz="105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03352"/>
                    </a:solidFill>
                  </a:tcPr>
                </a:tc>
                <a:tc>
                  <a:txBody>
                    <a:bodyPr/>
                    <a:lstStyle/>
                    <a:p>
                      <a:pPr marL="0" indent="0" algn="l">
                        <a:buNone/>
                      </a:pPr>
                      <a:r>
                        <a:rPr lang="en-US" sz="1050" b="1" dirty="0">
                          <a:solidFill>
                            <a:srgbClr val="63E7A4"/>
                          </a:solidFill>
                          <a:latin typeface="Century Gothic" pitchFamily="34" charset="0"/>
                          <a:ea typeface="Century Gothic" pitchFamily="34" charset="-122"/>
                          <a:cs typeface="Century Gothic" pitchFamily="34" charset="-120"/>
                        </a:rPr>
                        <a:t>Topic</a:t>
                      </a:r>
                      <a:endParaRPr lang="en-US" sz="105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03352"/>
                    </a:solidFill>
                  </a:tcPr>
                </a:tc>
                <a:tc>
                  <a:txBody>
                    <a:bodyPr/>
                    <a:lstStyle/>
                    <a:p>
                      <a:pPr marL="0" indent="0" algn="l">
                        <a:buNone/>
                      </a:pPr>
                      <a:r>
                        <a:rPr lang="en-US" sz="1050" b="1" dirty="0">
                          <a:solidFill>
                            <a:srgbClr val="63E7A4"/>
                          </a:solidFill>
                          <a:latin typeface="Century Gothic" pitchFamily="34" charset="0"/>
                          <a:ea typeface="Century Gothic" pitchFamily="34" charset="-122"/>
                          <a:cs typeface="Century Gothic" pitchFamily="34" charset="-120"/>
                        </a:rPr>
                        <a:t>What you will learn</a:t>
                      </a:r>
                      <a:endParaRPr lang="en-US" sz="105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03352"/>
                    </a:solidFill>
                  </a:tcPr>
                </a:tc>
                <a:tc>
                  <a:txBody>
                    <a:bodyPr/>
                    <a:lstStyle/>
                    <a:p>
                      <a:pPr marL="0" indent="0" algn="l">
                        <a:buNone/>
                      </a:pPr>
                      <a:r>
                        <a:rPr lang="en-US" sz="1050" b="1" dirty="0">
                          <a:solidFill>
                            <a:srgbClr val="63E7A4"/>
                          </a:solidFill>
                          <a:latin typeface="Century Gothic" pitchFamily="34" charset="0"/>
                          <a:ea typeface="Century Gothic" pitchFamily="34" charset="-122"/>
                          <a:cs typeface="Century Gothic" pitchFamily="34" charset="-120"/>
                        </a:rPr>
                        <a:t>Practical exercise</a:t>
                      </a:r>
                      <a:endParaRPr lang="en-US" sz="105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03352"/>
                    </a:solidFill>
                  </a:tcPr>
                </a:tc>
                <a:extLst>
                  <a:ext uri="{0D108BD9-81ED-4DB2-BD59-A6C34878D82A}">
                    <a16:rowId xmlns:a16="http://schemas.microsoft.com/office/drawing/2014/main" val="10000"/>
                  </a:ext>
                </a:extLst>
              </a:tr>
              <a:tr h="731520">
                <a:tc>
                  <a:txBody>
                    <a:bodyPr/>
                    <a:lstStyle/>
                    <a:p>
                      <a:pPr marL="0" indent="0" algn="ctr">
                        <a:buNone/>
                      </a:pPr>
                      <a:r>
                        <a:rPr lang="en-US" sz="1600" b="1" dirty="0">
                          <a:solidFill>
                            <a:srgbClr val="003352"/>
                          </a:solidFill>
                          <a:latin typeface="Century Gothic" pitchFamily="34" charset="0"/>
                          <a:ea typeface="Century Gothic" pitchFamily="34" charset="-122"/>
                          <a:cs typeface="Century Gothic" pitchFamily="34" charset="-120"/>
                        </a:rPr>
                        <a:t>1</a:t>
                      </a:r>
                      <a:endParaRPr lang="en-US" sz="160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F3F6"/>
                    </a:solidFill>
                  </a:tcPr>
                </a:tc>
                <a:tc>
                  <a:txBody>
                    <a:bodyPr/>
                    <a:lstStyle/>
                    <a:p>
                      <a:pPr marL="0" indent="0">
                        <a:buNone/>
                      </a:pPr>
                      <a:r>
                        <a:rPr lang="en-US" sz="1150" b="1" dirty="0">
                          <a:solidFill>
                            <a:srgbClr val="003352"/>
                          </a:solidFill>
                          <a:latin typeface="Century Gothic" pitchFamily="34" charset="0"/>
                          <a:ea typeface="Century Gothic" pitchFamily="34" charset="-122"/>
                          <a:cs typeface="Century Gothic" pitchFamily="34" charset="-120"/>
                        </a:rPr>
                        <a:t>Introduction to Product Management</a:t>
                      </a:r>
                      <a:endParaRPr lang="en-US" sz="115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F3F6"/>
                    </a:solidFill>
                  </a:tcPr>
                </a:tc>
                <a:tc>
                  <a:txBody>
                    <a:bodyPr/>
                    <a:lstStyle/>
                    <a:p>
                      <a:pPr marL="0" indent="0">
                        <a:buNone/>
                      </a:pPr>
                      <a:r>
                        <a:rPr lang="en-US" sz="1000" dirty="0">
                          <a:solidFill>
                            <a:srgbClr val="5C7A8C"/>
                          </a:solidFill>
                          <a:latin typeface="Century Gothic" pitchFamily="34" charset="0"/>
                          <a:ea typeface="Century Gothic" pitchFamily="34" charset="-122"/>
                          <a:cs typeface="Century Gothic" pitchFamily="34" charset="-120"/>
                        </a:rPr>
                        <a:t>What a product manager does, the product lifecycle, PM vs project manager</a:t>
                      </a:r>
                      <a:endParaRPr lang="en-US" sz="100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F3F6"/>
                    </a:solidFill>
                  </a:tcPr>
                </a:tc>
                <a:tc>
                  <a:txBody>
                    <a:bodyPr/>
                    <a:lstStyle/>
                    <a:p>
                      <a:pPr marL="0" indent="0">
                        <a:buNone/>
                      </a:pPr>
                      <a:r>
                        <a:rPr lang="en-US" sz="1000" dirty="0">
                          <a:solidFill>
                            <a:srgbClr val="5C7A8C"/>
                          </a:solidFill>
                          <a:latin typeface="Century Gothic" pitchFamily="34" charset="0"/>
                          <a:ea typeface="Century Gothic" pitchFamily="34" charset="-122"/>
                          <a:cs typeface="Century Gothic" pitchFamily="34" charset="-120"/>
                        </a:rPr>
                        <a:t>Pick an app (Uber, Amazon, Airbnb) and identify its core product</a:t>
                      </a:r>
                      <a:endParaRPr lang="en-US" sz="100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F3F6"/>
                    </a:solidFill>
                  </a:tcPr>
                </a:tc>
                <a:extLst>
                  <a:ext uri="{0D108BD9-81ED-4DB2-BD59-A6C34878D82A}">
                    <a16:rowId xmlns:a16="http://schemas.microsoft.com/office/drawing/2014/main" val="10001"/>
                  </a:ext>
                </a:extLst>
              </a:tr>
              <a:tr h="731520">
                <a:tc>
                  <a:txBody>
                    <a:bodyPr/>
                    <a:lstStyle/>
                    <a:p>
                      <a:pPr marL="0" indent="0" algn="ctr">
                        <a:buNone/>
                      </a:pPr>
                      <a:r>
                        <a:rPr lang="en-US" sz="1600" b="1" dirty="0">
                          <a:solidFill>
                            <a:srgbClr val="003352"/>
                          </a:solidFill>
                          <a:latin typeface="Century Gothic" pitchFamily="34" charset="0"/>
                          <a:ea typeface="Century Gothic" pitchFamily="34" charset="-122"/>
                          <a:cs typeface="Century Gothic" pitchFamily="34" charset="-120"/>
                        </a:rPr>
                        <a:t>2</a:t>
                      </a:r>
                      <a:endParaRPr lang="en-US" sz="160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6F9FB"/>
                    </a:solidFill>
                  </a:tcPr>
                </a:tc>
                <a:tc>
                  <a:txBody>
                    <a:bodyPr/>
                    <a:lstStyle/>
                    <a:p>
                      <a:pPr marL="0" indent="0">
                        <a:buNone/>
                      </a:pPr>
                      <a:r>
                        <a:rPr lang="en-US" sz="1150" b="1" dirty="0">
                          <a:solidFill>
                            <a:srgbClr val="003352"/>
                          </a:solidFill>
                          <a:latin typeface="Century Gothic" pitchFamily="34" charset="0"/>
                          <a:ea typeface="Century Gothic" pitchFamily="34" charset="-122"/>
                          <a:cs typeface="Century Gothic" pitchFamily="34" charset="-120"/>
                        </a:rPr>
                        <a:t>Customer Discovery</a:t>
                      </a:r>
                      <a:endParaRPr lang="en-US" sz="115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6F9FB"/>
                    </a:solidFill>
                  </a:tcPr>
                </a:tc>
                <a:tc>
                  <a:txBody>
                    <a:bodyPr/>
                    <a:lstStyle/>
                    <a:p>
                      <a:pPr marL="0" indent="0">
                        <a:buNone/>
                      </a:pPr>
                      <a:r>
                        <a:rPr lang="en-US" sz="1000" dirty="0">
                          <a:solidFill>
                            <a:srgbClr val="5C7A8C"/>
                          </a:solidFill>
                          <a:latin typeface="Century Gothic" pitchFamily="34" charset="0"/>
                          <a:ea typeface="Century Gothic" pitchFamily="34" charset="-122"/>
                          <a:cs typeface="Century Gothic" pitchFamily="34" charset="-120"/>
                        </a:rPr>
                        <a:t>Customer interviews, Jobs-to-be-Done, personas</a:t>
                      </a:r>
                      <a:endParaRPr lang="en-US" sz="100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6F9FB"/>
                    </a:solidFill>
                  </a:tcPr>
                </a:tc>
                <a:tc>
                  <a:txBody>
                    <a:bodyPr/>
                    <a:lstStyle/>
                    <a:p>
                      <a:pPr marL="0" indent="0">
                        <a:buNone/>
                      </a:pPr>
                      <a:r>
                        <a:rPr lang="en-US" sz="1000" dirty="0">
                          <a:solidFill>
                            <a:srgbClr val="5C7A8C"/>
                          </a:solidFill>
                          <a:latin typeface="Century Gothic" pitchFamily="34" charset="0"/>
                          <a:ea typeface="Century Gothic" pitchFamily="34" charset="-122"/>
                          <a:cs typeface="Century Gothic" pitchFamily="34" charset="-120"/>
                        </a:rPr>
                        <a:t>Interview five users about a product they use daily</a:t>
                      </a:r>
                      <a:endParaRPr lang="en-US" sz="100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6F9FB"/>
                    </a:solidFill>
                  </a:tcPr>
                </a:tc>
                <a:extLst>
                  <a:ext uri="{0D108BD9-81ED-4DB2-BD59-A6C34878D82A}">
                    <a16:rowId xmlns:a16="http://schemas.microsoft.com/office/drawing/2014/main" val="10002"/>
                  </a:ext>
                </a:extLst>
              </a:tr>
              <a:tr h="731520">
                <a:tc>
                  <a:txBody>
                    <a:bodyPr/>
                    <a:lstStyle/>
                    <a:p>
                      <a:pPr marL="0" indent="0" algn="ctr">
                        <a:buNone/>
                      </a:pPr>
                      <a:r>
                        <a:rPr lang="en-US" sz="1600" b="1" dirty="0">
                          <a:solidFill>
                            <a:srgbClr val="003352"/>
                          </a:solidFill>
                          <a:latin typeface="Century Gothic" pitchFamily="34" charset="0"/>
                          <a:ea typeface="Century Gothic" pitchFamily="34" charset="-122"/>
                          <a:cs typeface="Century Gothic" pitchFamily="34" charset="-120"/>
                        </a:rPr>
                        <a:t>3</a:t>
                      </a:r>
                      <a:endParaRPr lang="en-US" sz="160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F3F6"/>
                    </a:solidFill>
                  </a:tcPr>
                </a:tc>
                <a:tc>
                  <a:txBody>
                    <a:bodyPr/>
                    <a:lstStyle/>
                    <a:p>
                      <a:pPr marL="0" indent="0">
                        <a:buNone/>
                      </a:pPr>
                      <a:r>
                        <a:rPr lang="en-US" sz="1150" b="1" dirty="0">
                          <a:solidFill>
                            <a:srgbClr val="003352"/>
                          </a:solidFill>
                          <a:latin typeface="Century Gothic" pitchFamily="34" charset="0"/>
                          <a:ea typeface="Century Gothic" pitchFamily="34" charset="-122"/>
                          <a:cs typeface="Century Gothic" pitchFamily="34" charset="-120"/>
                        </a:rPr>
                        <a:t>Market Research</a:t>
                      </a:r>
                      <a:endParaRPr lang="en-US" sz="115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F3F6"/>
                    </a:solidFill>
                  </a:tcPr>
                </a:tc>
                <a:tc>
                  <a:txBody>
                    <a:bodyPr/>
                    <a:lstStyle/>
                    <a:p>
                      <a:pPr marL="0" indent="0">
                        <a:buNone/>
                      </a:pPr>
                      <a:r>
                        <a:rPr lang="en-US" sz="1000" dirty="0">
                          <a:solidFill>
                            <a:srgbClr val="5C7A8C"/>
                          </a:solidFill>
                          <a:latin typeface="Century Gothic" pitchFamily="34" charset="0"/>
                          <a:ea typeface="Century Gothic" pitchFamily="34" charset="-122"/>
                          <a:cs typeface="Century Gothic" pitchFamily="34" charset="-120"/>
                        </a:rPr>
                        <a:t>Competitors, SWOT, TAM, SAM, SOM</a:t>
                      </a:r>
                      <a:endParaRPr lang="en-US" sz="100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F3F6"/>
                    </a:solidFill>
                  </a:tcPr>
                </a:tc>
                <a:tc>
                  <a:txBody>
                    <a:bodyPr/>
                    <a:lstStyle/>
                    <a:p>
                      <a:pPr marL="0" indent="0">
                        <a:buNone/>
                      </a:pPr>
                      <a:r>
                        <a:rPr lang="en-US" sz="1000" dirty="0">
                          <a:solidFill>
                            <a:srgbClr val="5C7A8C"/>
                          </a:solidFill>
                          <a:latin typeface="Century Gothic" pitchFamily="34" charset="0"/>
                          <a:ea typeface="Century Gothic" pitchFamily="34" charset="-122"/>
                          <a:cs typeface="Century Gothic" pitchFamily="34" charset="-120"/>
                        </a:rPr>
                        <a:t>Analyse three competitors of your company</a:t>
                      </a:r>
                      <a:endParaRPr lang="en-US" sz="100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F3F6"/>
                    </a:solidFill>
                  </a:tcPr>
                </a:tc>
                <a:extLst>
                  <a:ext uri="{0D108BD9-81ED-4DB2-BD59-A6C34878D82A}">
                    <a16:rowId xmlns:a16="http://schemas.microsoft.com/office/drawing/2014/main" val="10003"/>
                  </a:ext>
                </a:extLst>
              </a:tr>
              <a:tr h="731520">
                <a:tc>
                  <a:txBody>
                    <a:bodyPr/>
                    <a:lstStyle/>
                    <a:p>
                      <a:pPr marL="0" indent="0" algn="ctr">
                        <a:buNone/>
                      </a:pPr>
                      <a:r>
                        <a:rPr lang="en-US" sz="1600" b="1" dirty="0">
                          <a:solidFill>
                            <a:srgbClr val="003352"/>
                          </a:solidFill>
                          <a:latin typeface="Century Gothic" pitchFamily="34" charset="0"/>
                          <a:ea typeface="Century Gothic" pitchFamily="34" charset="-122"/>
                          <a:cs typeface="Century Gothic" pitchFamily="34" charset="-120"/>
                        </a:rPr>
                        <a:t>4</a:t>
                      </a:r>
                      <a:endParaRPr lang="en-US" sz="160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6F9FB"/>
                    </a:solidFill>
                  </a:tcPr>
                </a:tc>
                <a:tc>
                  <a:txBody>
                    <a:bodyPr/>
                    <a:lstStyle/>
                    <a:p>
                      <a:pPr marL="0" indent="0">
                        <a:buNone/>
                      </a:pPr>
                      <a:r>
                        <a:rPr lang="en-US" sz="1150" b="1" dirty="0">
                          <a:solidFill>
                            <a:srgbClr val="003352"/>
                          </a:solidFill>
                          <a:latin typeface="Century Gothic" pitchFamily="34" charset="0"/>
                          <a:ea typeface="Century Gothic" pitchFamily="34" charset="-122"/>
                          <a:cs typeface="Century Gothic" pitchFamily="34" charset="-120"/>
                        </a:rPr>
                        <a:t>Product Strategy</a:t>
                      </a:r>
                      <a:endParaRPr lang="en-US" sz="115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6F9FB"/>
                    </a:solidFill>
                  </a:tcPr>
                </a:tc>
                <a:tc>
                  <a:txBody>
                    <a:bodyPr/>
                    <a:lstStyle/>
                    <a:p>
                      <a:pPr marL="0" indent="0">
                        <a:buNone/>
                      </a:pPr>
                      <a:r>
                        <a:rPr lang="en-US" sz="1000" dirty="0">
                          <a:solidFill>
                            <a:srgbClr val="5C7A8C"/>
                          </a:solidFill>
                          <a:latin typeface="Century Gothic" pitchFamily="34" charset="0"/>
                          <a:ea typeface="Century Gothic" pitchFamily="34" charset="-122"/>
                          <a:cs typeface="Century Gothic" pitchFamily="34" charset="-120"/>
                        </a:rPr>
                        <a:t>Vision, mission, north star metric, product-market fit</a:t>
                      </a:r>
                      <a:endParaRPr lang="en-US" sz="100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6F9FB"/>
                    </a:solidFill>
                  </a:tcPr>
                </a:tc>
                <a:tc>
                  <a:txBody>
                    <a:bodyPr/>
                    <a:lstStyle/>
                    <a:p>
                      <a:pPr marL="0" indent="0">
                        <a:buNone/>
                      </a:pPr>
                      <a:r>
                        <a:rPr lang="en-US" sz="1000" dirty="0">
                          <a:solidFill>
                            <a:srgbClr val="5C7A8C"/>
                          </a:solidFill>
                          <a:latin typeface="Century Gothic" pitchFamily="34" charset="0"/>
                          <a:ea typeface="Century Gothic" pitchFamily="34" charset="-122"/>
                          <a:cs typeface="Century Gothic" pitchFamily="34" charset="-120"/>
                        </a:rPr>
                        <a:t>Write a product vision document</a:t>
                      </a:r>
                      <a:endParaRPr lang="en-US" sz="100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6F9FB"/>
                    </a:solidFill>
                  </a:tcPr>
                </a:tc>
                <a:extLst>
                  <a:ext uri="{0D108BD9-81ED-4DB2-BD59-A6C34878D82A}">
                    <a16:rowId xmlns:a16="http://schemas.microsoft.com/office/drawing/2014/main" val="10004"/>
                  </a:ext>
                </a:extLst>
              </a:tr>
            </a:tbl>
          </a:graphicData>
        </a:graphic>
      </p:graphicFrame>
      <p:sp>
        <p:nvSpPr>
          <p:cNvPr id="6" name="Text 3"/>
          <p:cNvSpPr/>
          <p:nvPr/>
        </p:nvSpPr>
        <p:spPr>
          <a:xfrm>
            <a:off x="640080" y="5943600"/>
            <a:ext cx="10911535" cy="365760"/>
          </a:xfrm>
          <a:prstGeom prst="rect">
            <a:avLst/>
          </a:prstGeom>
          <a:noFill/>
          <a:ln/>
        </p:spPr>
        <p:txBody>
          <a:bodyPr wrap="square" lIns="0" tIns="0" rIns="0" bIns="0" rtlCol="0" anchor="ctr"/>
          <a:lstStyle/>
          <a:p>
            <a:pPr marL="0" indent="0">
              <a:buNone/>
            </a:pPr>
            <a:r>
              <a:rPr lang="en-US" sz="1150" i="1" dirty="0">
                <a:solidFill>
                  <a:srgbClr val="5C7A8C"/>
                </a:solidFill>
                <a:latin typeface="Century Gothic" pitchFamily="34" charset="0"/>
                <a:ea typeface="Century Gothic" pitchFamily="34" charset="-122"/>
                <a:cs typeface="Century Gothic" pitchFamily="34" charset="-120"/>
              </a:rPr>
              <a:t>Weeks 1 and 4 are covered in Parts One and Two of today’s session.</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lIns="0" tIns="0" rIns="0" bIns="0" rtlCol="0" anchor="ctr"/>
          <a:lstStyle/>
          <a:p>
            <a:pPr marL="0" indent="0">
              <a:buNone/>
            </a:pPr>
            <a:r>
              <a:rPr lang="en-US" sz="1100" b="1" kern="0" spc="200" dirty="0">
                <a:solidFill>
                  <a:srgbClr val="63E7A4"/>
                </a:solidFill>
                <a:latin typeface="Century Gothic" pitchFamily="34" charset="0"/>
                <a:ea typeface="Century Gothic" pitchFamily="34" charset="-122"/>
                <a:cs typeface="Century Gothic" pitchFamily="34" charset="-120"/>
              </a:rPr>
              <a:t>THE FULL FLOW</a:t>
            </a:r>
            <a:endParaRPr lang="en-US" sz="1100" dirty="0"/>
          </a:p>
        </p:txBody>
      </p:sp>
      <p:sp>
        <p:nvSpPr>
          <p:cNvPr id="3" name="Text 1"/>
          <p:cNvSpPr/>
          <p:nvPr/>
        </p:nvSpPr>
        <p:spPr>
          <a:xfrm>
            <a:off x="640080" y="685800"/>
            <a:ext cx="10911535" cy="685800"/>
          </a:xfrm>
          <a:prstGeom prst="rect">
            <a:avLst/>
          </a:prstGeom>
          <a:noFill/>
          <a:ln/>
        </p:spPr>
        <p:txBody>
          <a:bodyPr wrap="square" lIns="0" tIns="0" rIns="0" bIns="0" rtlCol="0" anchor="t"/>
          <a:lstStyle/>
          <a:p>
            <a:pPr marL="0" indent="0">
              <a:buNone/>
            </a:pPr>
            <a:r>
              <a:rPr lang="en-US" sz="2900" b="1" dirty="0">
                <a:solidFill>
                  <a:srgbClr val="003352"/>
                </a:solidFill>
                <a:latin typeface="Century Gothic" pitchFamily="34" charset="0"/>
                <a:ea typeface="Century Gothic" pitchFamily="34" charset="-122"/>
                <a:cs typeface="Century Gothic" pitchFamily="34" charset="-120"/>
              </a:rPr>
              <a:t>Weeks 5 to 8 — define and build</a:t>
            </a:r>
            <a:endParaRPr lang="en-US" sz="2900" dirty="0"/>
          </a:p>
        </p:txBody>
      </p:sp>
      <p:sp>
        <p:nvSpPr>
          <p:cNvPr id="4" name="Text 2"/>
          <p:cNvSpPr/>
          <p:nvPr/>
        </p:nvSpPr>
        <p:spPr>
          <a:xfrm>
            <a:off x="640080" y="1536192"/>
            <a:ext cx="10911535" cy="320040"/>
          </a:xfrm>
          <a:prstGeom prst="rect">
            <a:avLst/>
          </a:prstGeom>
          <a:noFill/>
          <a:ln/>
        </p:spPr>
        <p:txBody>
          <a:bodyPr wrap="square" lIns="0" tIns="0" rIns="0" bIns="0" rtlCol="0" anchor="ctr"/>
          <a:lstStyle/>
          <a:p>
            <a:pPr marL="0" indent="0">
              <a:buNone/>
            </a:pPr>
            <a:r>
              <a:rPr lang="en-US" sz="1300" dirty="0">
                <a:solidFill>
                  <a:srgbClr val="5C7A8C"/>
                </a:solidFill>
                <a:latin typeface="Century Gothic" pitchFamily="34" charset="0"/>
                <a:ea typeface="Century Gothic" pitchFamily="34" charset="-122"/>
                <a:cs typeface="Century Gothic" pitchFamily="34" charset="-120"/>
              </a:rPr>
              <a:t>The middle of the cycle: turning direction into work a team can pick up and ship.</a:t>
            </a:r>
            <a:endParaRPr lang="en-US" sz="1300" dirty="0"/>
          </a:p>
        </p:txBody>
      </p:sp>
      <p:graphicFrame>
        <p:nvGraphicFramePr>
          <p:cNvPr id="6" name="Table 0"/>
          <p:cNvGraphicFramePr>
            <a:graphicFrameLocks noGrp="1"/>
          </p:cNvGraphicFramePr>
          <p:nvPr/>
        </p:nvGraphicFramePr>
        <p:xfrm>
          <a:off x="640080" y="1965960"/>
          <a:ext cx="10908792" cy="3657600"/>
        </p:xfrm>
        <a:graphic>
          <a:graphicData uri="http://schemas.openxmlformats.org/drawingml/2006/table">
            <a:tbl>
              <a:tblPr/>
              <a:tblGrid>
                <a:gridCol w="86868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gridCol w="3456432">
                  <a:extLst>
                    <a:ext uri="{9D8B030D-6E8A-4147-A177-3AD203B41FA5}">
                      <a16:colId xmlns:a16="http://schemas.microsoft.com/office/drawing/2014/main" val="20003"/>
                    </a:ext>
                  </a:extLst>
                </a:gridCol>
              </a:tblGrid>
              <a:tr h="731520">
                <a:tc>
                  <a:txBody>
                    <a:bodyPr/>
                    <a:lstStyle/>
                    <a:p>
                      <a:pPr marL="0" indent="0" algn="ctr">
                        <a:buNone/>
                      </a:pPr>
                      <a:r>
                        <a:rPr lang="en-US" sz="1050" b="1" dirty="0">
                          <a:solidFill>
                            <a:srgbClr val="63E7A4"/>
                          </a:solidFill>
                          <a:latin typeface="Century Gothic" pitchFamily="34" charset="0"/>
                          <a:ea typeface="Century Gothic" pitchFamily="34" charset="-122"/>
                          <a:cs typeface="Century Gothic" pitchFamily="34" charset="-120"/>
                        </a:rPr>
                        <a:t>Week</a:t>
                      </a:r>
                      <a:endParaRPr lang="en-US" sz="105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03352"/>
                    </a:solidFill>
                  </a:tcPr>
                </a:tc>
                <a:tc>
                  <a:txBody>
                    <a:bodyPr/>
                    <a:lstStyle/>
                    <a:p>
                      <a:pPr marL="0" indent="0" algn="l">
                        <a:buNone/>
                      </a:pPr>
                      <a:r>
                        <a:rPr lang="en-US" sz="1050" b="1" dirty="0">
                          <a:solidFill>
                            <a:srgbClr val="63E7A4"/>
                          </a:solidFill>
                          <a:latin typeface="Century Gothic" pitchFamily="34" charset="0"/>
                          <a:ea typeface="Century Gothic" pitchFamily="34" charset="-122"/>
                          <a:cs typeface="Century Gothic" pitchFamily="34" charset="-120"/>
                        </a:rPr>
                        <a:t>Topic</a:t>
                      </a:r>
                      <a:endParaRPr lang="en-US" sz="105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03352"/>
                    </a:solidFill>
                  </a:tcPr>
                </a:tc>
                <a:tc>
                  <a:txBody>
                    <a:bodyPr/>
                    <a:lstStyle/>
                    <a:p>
                      <a:pPr marL="0" indent="0" algn="l">
                        <a:buNone/>
                      </a:pPr>
                      <a:r>
                        <a:rPr lang="en-US" sz="1050" b="1" dirty="0">
                          <a:solidFill>
                            <a:srgbClr val="63E7A4"/>
                          </a:solidFill>
                          <a:latin typeface="Century Gothic" pitchFamily="34" charset="0"/>
                          <a:ea typeface="Century Gothic" pitchFamily="34" charset="-122"/>
                          <a:cs typeface="Century Gothic" pitchFamily="34" charset="-120"/>
                        </a:rPr>
                        <a:t>What you will learn</a:t>
                      </a:r>
                      <a:endParaRPr lang="en-US" sz="105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03352"/>
                    </a:solidFill>
                  </a:tcPr>
                </a:tc>
                <a:tc>
                  <a:txBody>
                    <a:bodyPr/>
                    <a:lstStyle/>
                    <a:p>
                      <a:pPr marL="0" indent="0" algn="l">
                        <a:buNone/>
                      </a:pPr>
                      <a:r>
                        <a:rPr lang="en-US" sz="1050" b="1" dirty="0">
                          <a:solidFill>
                            <a:srgbClr val="63E7A4"/>
                          </a:solidFill>
                          <a:latin typeface="Century Gothic" pitchFamily="34" charset="0"/>
                          <a:ea typeface="Century Gothic" pitchFamily="34" charset="-122"/>
                          <a:cs typeface="Century Gothic" pitchFamily="34" charset="-120"/>
                        </a:rPr>
                        <a:t>Practical exercise</a:t>
                      </a:r>
                      <a:endParaRPr lang="en-US" sz="105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03352"/>
                    </a:solidFill>
                  </a:tcPr>
                </a:tc>
                <a:extLst>
                  <a:ext uri="{0D108BD9-81ED-4DB2-BD59-A6C34878D82A}">
                    <a16:rowId xmlns:a16="http://schemas.microsoft.com/office/drawing/2014/main" val="10000"/>
                  </a:ext>
                </a:extLst>
              </a:tr>
              <a:tr h="731520">
                <a:tc>
                  <a:txBody>
                    <a:bodyPr/>
                    <a:lstStyle/>
                    <a:p>
                      <a:pPr marL="0" indent="0" algn="ctr">
                        <a:buNone/>
                      </a:pPr>
                      <a:r>
                        <a:rPr lang="en-US" sz="1600" b="1" dirty="0">
                          <a:solidFill>
                            <a:srgbClr val="003352"/>
                          </a:solidFill>
                          <a:latin typeface="Century Gothic" pitchFamily="34" charset="0"/>
                          <a:ea typeface="Century Gothic" pitchFamily="34" charset="-122"/>
                          <a:cs typeface="Century Gothic" pitchFamily="34" charset="-120"/>
                        </a:rPr>
                        <a:t>5</a:t>
                      </a:r>
                      <a:endParaRPr lang="en-US" sz="160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F3F6"/>
                    </a:solidFill>
                  </a:tcPr>
                </a:tc>
                <a:tc>
                  <a:txBody>
                    <a:bodyPr/>
                    <a:lstStyle/>
                    <a:p>
                      <a:pPr marL="0" indent="0">
                        <a:buNone/>
                      </a:pPr>
                      <a:r>
                        <a:rPr lang="en-US" sz="1150" b="1" dirty="0">
                          <a:solidFill>
                            <a:srgbClr val="003352"/>
                          </a:solidFill>
                          <a:latin typeface="Century Gothic" pitchFamily="34" charset="0"/>
                          <a:ea typeface="Century Gothic" pitchFamily="34" charset="-122"/>
                          <a:cs typeface="Century Gothic" pitchFamily="34" charset="-120"/>
                        </a:rPr>
                        <a:t>Writing Requirements</a:t>
                      </a:r>
                      <a:endParaRPr lang="en-US" sz="115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F3F6"/>
                    </a:solidFill>
                  </a:tcPr>
                </a:tc>
                <a:tc>
                  <a:txBody>
                    <a:bodyPr/>
                    <a:lstStyle/>
                    <a:p>
                      <a:pPr marL="0" indent="0">
                        <a:buNone/>
                      </a:pPr>
                      <a:r>
                        <a:rPr lang="en-US" sz="1000" dirty="0">
                          <a:solidFill>
                            <a:srgbClr val="5C7A8C"/>
                          </a:solidFill>
                          <a:latin typeface="Century Gothic" pitchFamily="34" charset="0"/>
                          <a:ea typeface="Century Gothic" pitchFamily="34" charset="-122"/>
                          <a:cs typeface="Century Gothic" pitchFamily="34" charset="-120"/>
                        </a:rPr>
                        <a:t>User stories, epics, acceptance criteria</a:t>
                      </a:r>
                      <a:endParaRPr lang="en-US" sz="100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F3F6"/>
                    </a:solidFill>
                  </a:tcPr>
                </a:tc>
                <a:tc>
                  <a:txBody>
                    <a:bodyPr/>
                    <a:lstStyle/>
                    <a:p>
                      <a:pPr marL="0" indent="0">
                        <a:buNone/>
                      </a:pPr>
                      <a:r>
                        <a:rPr lang="en-US" sz="1000" dirty="0">
                          <a:solidFill>
                            <a:srgbClr val="5C7A8C"/>
                          </a:solidFill>
                          <a:latin typeface="Century Gothic" pitchFamily="34" charset="0"/>
                          <a:ea typeface="Century Gothic" pitchFamily="34" charset="-122"/>
                          <a:cs typeface="Century Gothic" pitchFamily="34" charset="-120"/>
                        </a:rPr>
                        <a:t>Write twenty user stories for a hotel booking app</a:t>
                      </a:r>
                      <a:endParaRPr lang="en-US" sz="100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F3F6"/>
                    </a:solidFill>
                  </a:tcPr>
                </a:tc>
                <a:extLst>
                  <a:ext uri="{0D108BD9-81ED-4DB2-BD59-A6C34878D82A}">
                    <a16:rowId xmlns:a16="http://schemas.microsoft.com/office/drawing/2014/main" val="10001"/>
                  </a:ext>
                </a:extLst>
              </a:tr>
              <a:tr h="731520">
                <a:tc>
                  <a:txBody>
                    <a:bodyPr/>
                    <a:lstStyle/>
                    <a:p>
                      <a:pPr marL="0" indent="0" algn="ctr">
                        <a:buNone/>
                      </a:pPr>
                      <a:r>
                        <a:rPr lang="en-US" sz="1600" b="1" dirty="0">
                          <a:solidFill>
                            <a:srgbClr val="003352"/>
                          </a:solidFill>
                          <a:latin typeface="Century Gothic" pitchFamily="34" charset="0"/>
                          <a:ea typeface="Century Gothic" pitchFamily="34" charset="-122"/>
                          <a:cs typeface="Century Gothic" pitchFamily="34" charset="-120"/>
                        </a:rPr>
                        <a:t>6</a:t>
                      </a:r>
                      <a:endParaRPr lang="en-US" sz="160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6F9FB"/>
                    </a:solidFill>
                  </a:tcPr>
                </a:tc>
                <a:tc>
                  <a:txBody>
                    <a:bodyPr/>
                    <a:lstStyle/>
                    <a:p>
                      <a:pPr marL="0" indent="0">
                        <a:buNone/>
                      </a:pPr>
                      <a:r>
                        <a:rPr lang="en-US" sz="1150" b="1" dirty="0">
                          <a:solidFill>
                            <a:srgbClr val="003352"/>
                          </a:solidFill>
                          <a:latin typeface="Century Gothic" pitchFamily="34" charset="0"/>
                          <a:ea typeface="Century Gothic" pitchFamily="34" charset="-122"/>
                          <a:cs typeface="Century Gothic" pitchFamily="34" charset="-120"/>
                        </a:rPr>
                        <a:t>Prioritisation</a:t>
                      </a:r>
                      <a:endParaRPr lang="en-US" sz="115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6F9FB"/>
                    </a:solidFill>
                  </a:tcPr>
                </a:tc>
                <a:tc>
                  <a:txBody>
                    <a:bodyPr/>
                    <a:lstStyle/>
                    <a:p>
                      <a:pPr marL="0" indent="0">
                        <a:buNone/>
                      </a:pPr>
                      <a:r>
                        <a:rPr lang="en-US" sz="1000" dirty="0">
                          <a:solidFill>
                            <a:srgbClr val="5C7A8C"/>
                          </a:solidFill>
                          <a:latin typeface="Century Gothic" pitchFamily="34" charset="0"/>
                          <a:ea typeface="Century Gothic" pitchFamily="34" charset="-122"/>
                          <a:cs typeface="Century Gothic" pitchFamily="34" charset="-120"/>
                        </a:rPr>
                        <a:t>RICE, MoSCoW, Kano, ICE</a:t>
                      </a:r>
                      <a:endParaRPr lang="en-US" sz="100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6F9FB"/>
                    </a:solidFill>
                  </a:tcPr>
                </a:tc>
                <a:tc>
                  <a:txBody>
                    <a:bodyPr/>
                    <a:lstStyle/>
                    <a:p>
                      <a:pPr marL="0" indent="0">
                        <a:buNone/>
                      </a:pPr>
                      <a:r>
                        <a:rPr lang="en-US" sz="1000" dirty="0">
                          <a:solidFill>
                            <a:srgbClr val="5C7A8C"/>
                          </a:solidFill>
                          <a:latin typeface="Century Gothic" pitchFamily="34" charset="0"/>
                          <a:ea typeface="Century Gothic" pitchFamily="34" charset="-122"/>
                          <a:cs typeface="Century Gothic" pitchFamily="34" charset="-120"/>
                        </a:rPr>
                        <a:t>Prioritise thirty feature requests</a:t>
                      </a:r>
                      <a:endParaRPr lang="en-US" sz="100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6F9FB"/>
                    </a:solidFill>
                  </a:tcPr>
                </a:tc>
                <a:extLst>
                  <a:ext uri="{0D108BD9-81ED-4DB2-BD59-A6C34878D82A}">
                    <a16:rowId xmlns:a16="http://schemas.microsoft.com/office/drawing/2014/main" val="10002"/>
                  </a:ext>
                </a:extLst>
              </a:tr>
              <a:tr h="731520">
                <a:tc>
                  <a:txBody>
                    <a:bodyPr/>
                    <a:lstStyle/>
                    <a:p>
                      <a:pPr marL="0" indent="0" algn="ctr">
                        <a:buNone/>
                      </a:pPr>
                      <a:r>
                        <a:rPr lang="en-US" sz="1600" b="1" dirty="0">
                          <a:solidFill>
                            <a:srgbClr val="003352"/>
                          </a:solidFill>
                          <a:latin typeface="Century Gothic" pitchFamily="34" charset="0"/>
                          <a:ea typeface="Century Gothic" pitchFamily="34" charset="-122"/>
                          <a:cs typeface="Century Gothic" pitchFamily="34" charset="-120"/>
                        </a:rPr>
                        <a:t>7</a:t>
                      </a:r>
                      <a:endParaRPr lang="en-US" sz="160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F3F6"/>
                    </a:solidFill>
                  </a:tcPr>
                </a:tc>
                <a:tc>
                  <a:txBody>
                    <a:bodyPr/>
                    <a:lstStyle/>
                    <a:p>
                      <a:pPr marL="0" indent="0">
                        <a:buNone/>
                      </a:pPr>
                      <a:r>
                        <a:rPr lang="en-US" sz="1150" b="1" dirty="0">
                          <a:solidFill>
                            <a:srgbClr val="003352"/>
                          </a:solidFill>
                          <a:latin typeface="Century Gothic" pitchFamily="34" charset="0"/>
                          <a:ea typeface="Century Gothic" pitchFamily="34" charset="-122"/>
                          <a:cs typeface="Century Gothic" pitchFamily="34" charset="-120"/>
                        </a:rPr>
                        <a:t>Agile and Scrum</a:t>
                      </a:r>
                      <a:endParaRPr lang="en-US" sz="115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F3F6"/>
                    </a:solidFill>
                  </a:tcPr>
                </a:tc>
                <a:tc>
                  <a:txBody>
                    <a:bodyPr/>
                    <a:lstStyle/>
                    <a:p>
                      <a:pPr marL="0" indent="0">
                        <a:buNone/>
                      </a:pPr>
                      <a:r>
                        <a:rPr lang="en-US" sz="1000" dirty="0">
                          <a:solidFill>
                            <a:srgbClr val="5C7A8C"/>
                          </a:solidFill>
                          <a:latin typeface="Century Gothic" pitchFamily="34" charset="0"/>
                          <a:ea typeface="Century Gothic" pitchFamily="34" charset="-122"/>
                          <a:cs typeface="Century Gothic" pitchFamily="34" charset="-120"/>
                        </a:rPr>
                        <a:t>Sprint planning, backlog grooming, story points</a:t>
                      </a:r>
                      <a:endParaRPr lang="en-US" sz="100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F3F6"/>
                    </a:solidFill>
                  </a:tcPr>
                </a:tc>
                <a:tc>
                  <a:txBody>
                    <a:bodyPr/>
                    <a:lstStyle/>
                    <a:p>
                      <a:pPr marL="0" indent="0">
                        <a:buNone/>
                      </a:pPr>
                      <a:r>
                        <a:rPr lang="en-US" sz="1000" dirty="0">
                          <a:solidFill>
                            <a:srgbClr val="5C7A8C"/>
                          </a:solidFill>
                          <a:latin typeface="Century Gothic" pitchFamily="34" charset="0"/>
                          <a:ea typeface="Century Gothic" pitchFamily="34" charset="-122"/>
                          <a:cs typeface="Century Gothic" pitchFamily="34" charset="-120"/>
                        </a:rPr>
                        <a:t>Create a sprint backlog</a:t>
                      </a:r>
                      <a:endParaRPr lang="en-US" sz="100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F3F6"/>
                    </a:solidFill>
                  </a:tcPr>
                </a:tc>
                <a:extLst>
                  <a:ext uri="{0D108BD9-81ED-4DB2-BD59-A6C34878D82A}">
                    <a16:rowId xmlns:a16="http://schemas.microsoft.com/office/drawing/2014/main" val="10003"/>
                  </a:ext>
                </a:extLst>
              </a:tr>
              <a:tr h="731520">
                <a:tc>
                  <a:txBody>
                    <a:bodyPr/>
                    <a:lstStyle/>
                    <a:p>
                      <a:pPr marL="0" indent="0" algn="ctr">
                        <a:buNone/>
                      </a:pPr>
                      <a:r>
                        <a:rPr lang="en-US" sz="1600" b="1" dirty="0">
                          <a:solidFill>
                            <a:srgbClr val="003352"/>
                          </a:solidFill>
                          <a:latin typeface="Century Gothic" pitchFamily="34" charset="0"/>
                          <a:ea typeface="Century Gothic" pitchFamily="34" charset="-122"/>
                          <a:cs typeface="Century Gothic" pitchFamily="34" charset="-120"/>
                        </a:rPr>
                        <a:t>8</a:t>
                      </a:r>
                      <a:endParaRPr lang="en-US" sz="160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6F9FB"/>
                    </a:solidFill>
                  </a:tcPr>
                </a:tc>
                <a:tc>
                  <a:txBody>
                    <a:bodyPr/>
                    <a:lstStyle/>
                    <a:p>
                      <a:pPr marL="0" indent="0">
                        <a:buNone/>
                      </a:pPr>
                      <a:r>
                        <a:rPr lang="en-US" sz="1150" b="1" dirty="0">
                          <a:solidFill>
                            <a:srgbClr val="003352"/>
                          </a:solidFill>
                          <a:latin typeface="Century Gothic" pitchFamily="34" charset="0"/>
                          <a:ea typeface="Century Gothic" pitchFamily="34" charset="-122"/>
                          <a:cs typeface="Century Gothic" pitchFamily="34" charset="-120"/>
                        </a:rPr>
                        <a:t>UX Fundamentals</a:t>
                      </a:r>
                      <a:endParaRPr lang="en-US" sz="115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6F9FB"/>
                    </a:solidFill>
                  </a:tcPr>
                </a:tc>
                <a:tc>
                  <a:txBody>
                    <a:bodyPr/>
                    <a:lstStyle/>
                    <a:p>
                      <a:pPr marL="0" indent="0">
                        <a:buNone/>
                      </a:pPr>
                      <a:r>
                        <a:rPr lang="en-US" sz="1000" dirty="0">
                          <a:solidFill>
                            <a:srgbClr val="5C7A8C"/>
                          </a:solidFill>
                          <a:latin typeface="Century Gothic" pitchFamily="34" charset="0"/>
                          <a:ea typeface="Century Gothic" pitchFamily="34" charset="-122"/>
                          <a:cs typeface="Century Gothic" pitchFamily="34" charset="-120"/>
                        </a:rPr>
                        <a:t>Wireframes, user journeys, usability</a:t>
                      </a:r>
                      <a:endParaRPr lang="en-US" sz="100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6F9FB"/>
                    </a:solidFill>
                  </a:tcPr>
                </a:tc>
                <a:tc>
                  <a:txBody>
                    <a:bodyPr/>
                    <a:lstStyle/>
                    <a:p>
                      <a:pPr marL="0" indent="0">
                        <a:buNone/>
                      </a:pPr>
                      <a:r>
                        <a:rPr lang="en-US" sz="1000" dirty="0">
                          <a:solidFill>
                            <a:srgbClr val="5C7A8C"/>
                          </a:solidFill>
                          <a:latin typeface="Century Gothic" pitchFamily="34" charset="0"/>
                          <a:ea typeface="Century Gothic" pitchFamily="34" charset="-122"/>
                          <a:cs typeface="Century Gothic" pitchFamily="34" charset="-120"/>
                        </a:rPr>
                        <a:t>Design screens using Figma</a:t>
                      </a:r>
                      <a:endParaRPr lang="en-US" sz="100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6F9FB"/>
                    </a:solidFill>
                  </a:tcPr>
                </a:tc>
                <a:extLst>
                  <a:ext uri="{0D108BD9-81ED-4DB2-BD59-A6C34878D82A}">
                    <a16:rowId xmlns:a16="http://schemas.microsoft.com/office/drawing/2014/main" val="10004"/>
                  </a:ext>
                </a:extLst>
              </a:tr>
            </a:tbl>
          </a:graphicData>
        </a:graphic>
      </p:graphicFrame>
      <p:sp>
        <p:nvSpPr>
          <p:cNvPr id="5" name="Text 3"/>
          <p:cNvSpPr/>
          <p:nvPr/>
        </p:nvSpPr>
        <p:spPr>
          <a:xfrm>
            <a:off x="640080" y="5943600"/>
            <a:ext cx="10911535" cy="365760"/>
          </a:xfrm>
          <a:prstGeom prst="rect">
            <a:avLst/>
          </a:prstGeom>
          <a:noFill/>
          <a:ln/>
        </p:spPr>
        <p:txBody>
          <a:bodyPr wrap="square" lIns="0" tIns="0" rIns="0" bIns="0" rtlCol="0" anchor="ctr"/>
          <a:lstStyle/>
          <a:p>
            <a:pPr marL="0" indent="0">
              <a:buNone/>
            </a:pPr>
            <a:r>
              <a:rPr lang="en-US" sz="1150" i="1" dirty="0">
                <a:solidFill>
                  <a:srgbClr val="5C7A8C"/>
                </a:solidFill>
                <a:latin typeface="Century Gothic" pitchFamily="34" charset="0"/>
                <a:ea typeface="Century Gothic" pitchFamily="34" charset="-122"/>
                <a:cs typeface="Century Gothic" pitchFamily="34" charset="-120"/>
              </a:rPr>
              <a:t>Weeks 5 and 6 map to Part Three and the prioritisation slide in Part One.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lIns="0" tIns="0" rIns="0" bIns="0" rtlCol="0" anchor="ctr"/>
          <a:lstStyle/>
          <a:p>
            <a:pPr marL="0" indent="0">
              <a:buNone/>
            </a:pPr>
            <a:r>
              <a:rPr lang="en-US" sz="1100" b="1" kern="0" spc="200" dirty="0">
                <a:solidFill>
                  <a:srgbClr val="63E7A4"/>
                </a:solidFill>
                <a:latin typeface="Century Gothic" pitchFamily="34" charset="0"/>
                <a:ea typeface="Century Gothic" pitchFamily="34" charset="-122"/>
                <a:cs typeface="Century Gothic" pitchFamily="34" charset="-120"/>
              </a:rPr>
              <a:t>THE FULL FLOW</a:t>
            </a:r>
            <a:endParaRPr lang="en-US" sz="1100" dirty="0"/>
          </a:p>
        </p:txBody>
      </p:sp>
      <p:sp>
        <p:nvSpPr>
          <p:cNvPr id="3" name="Text 1"/>
          <p:cNvSpPr/>
          <p:nvPr/>
        </p:nvSpPr>
        <p:spPr>
          <a:xfrm>
            <a:off x="640080" y="685800"/>
            <a:ext cx="10911535" cy="685800"/>
          </a:xfrm>
          <a:prstGeom prst="rect">
            <a:avLst/>
          </a:prstGeom>
          <a:noFill/>
          <a:ln/>
        </p:spPr>
        <p:txBody>
          <a:bodyPr wrap="square" lIns="0" tIns="0" rIns="0" bIns="0" rtlCol="0" anchor="t"/>
          <a:lstStyle/>
          <a:p>
            <a:pPr marL="0" indent="0">
              <a:buNone/>
            </a:pPr>
            <a:r>
              <a:rPr lang="en-US" sz="2900" b="1" dirty="0">
                <a:solidFill>
                  <a:srgbClr val="003352"/>
                </a:solidFill>
                <a:latin typeface="Century Gothic" pitchFamily="34" charset="0"/>
                <a:ea typeface="Century Gothic" pitchFamily="34" charset="-122"/>
                <a:cs typeface="Century Gothic" pitchFamily="34" charset="-120"/>
              </a:rPr>
              <a:t>Weeks 9 to 12 — measure, launch and lead</a:t>
            </a:r>
            <a:endParaRPr lang="en-US" sz="2900" dirty="0"/>
          </a:p>
        </p:txBody>
      </p:sp>
      <p:sp>
        <p:nvSpPr>
          <p:cNvPr id="4" name="Text 2"/>
          <p:cNvSpPr/>
          <p:nvPr/>
        </p:nvSpPr>
        <p:spPr>
          <a:xfrm>
            <a:off x="640080" y="1536192"/>
            <a:ext cx="10911535" cy="320040"/>
          </a:xfrm>
          <a:prstGeom prst="rect">
            <a:avLst/>
          </a:prstGeom>
          <a:noFill/>
          <a:ln/>
        </p:spPr>
        <p:txBody>
          <a:bodyPr wrap="square" lIns="0" tIns="0" rIns="0" bIns="0" rtlCol="0" anchor="ctr"/>
          <a:lstStyle/>
          <a:p>
            <a:pPr marL="0" indent="0">
              <a:buNone/>
            </a:pPr>
            <a:r>
              <a:rPr lang="en-US" sz="1300" dirty="0">
                <a:solidFill>
                  <a:srgbClr val="5C7A8C"/>
                </a:solidFill>
                <a:latin typeface="Century Gothic" pitchFamily="34" charset="0"/>
                <a:ea typeface="Century Gothic" pitchFamily="34" charset="-122"/>
                <a:cs typeface="Century Gothic" pitchFamily="34" charset="-120"/>
              </a:rPr>
              <a:t>The back half: proving it worked, getting it to market, and carrying the organisation with you.</a:t>
            </a:r>
            <a:endParaRPr lang="en-US" sz="1300" dirty="0"/>
          </a:p>
        </p:txBody>
      </p:sp>
      <p:graphicFrame>
        <p:nvGraphicFramePr>
          <p:cNvPr id="7" name="Table 0"/>
          <p:cNvGraphicFramePr>
            <a:graphicFrameLocks noGrp="1"/>
          </p:cNvGraphicFramePr>
          <p:nvPr/>
        </p:nvGraphicFramePr>
        <p:xfrm>
          <a:off x="640080" y="1965960"/>
          <a:ext cx="10908792" cy="3657600"/>
        </p:xfrm>
        <a:graphic>
          <a:graphicData uri="http://schemas.openxmlformats.org/drawingml/2006/table">
            <a:tbl>
              <a:tblPr/>
              <a:tblGrid>
                <a:gridCol w="86868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gridCol w="3456432">
                  <a:extLst>
                    <a:ext uri="{9D8B030D-6E8A-4147-A177-3AD203B41FA5}">
                      <a16:colId xmlns:a16="http://schemas.microsoft.com/office/drawing/2014/main" val="20003"/>
                    </a:ext>
                  </a:extLst>
                </a:gridCol>
              </a:tblGrid>
              <a:tr h="731520">
                <a:tc>
                  <a:txBody>
                    <a:bodyPr/>
                    <a:lstStyle/>
                    <a:p>
                      <a:pPr marL="0" indent="0" algn="ctr">
                        <a:buNone/>
                      </a:pPr>
                      <a:r>
                        <a:rPr lang="en-US" sz="1050" b="1" dirty="0">
                          <a:solidFill>
                            <a:srgbClr val="63E7A4"/>
                          </a:solidFill>
                          <a:latin typeface="Century Gothic" pitchFamily="34" charset="0"/>
                          <a:ea typeface="Century Gothic" pitchFamily="34" charset="-122"/>
                          <a:cs typeface="Century Gothic" pitchFamily="34" charset="-120"/>
                        </a:rPr>
                        <a:t>Week</a:t>
                      </a:r>
                      <a:endParaRPr lang="en-US" sz="105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03352"/>
                    </a:solidFill>
                  </a:tcPr>
                </a:tc>
                <a:tc>
                  <a:txBody>
                    <a:bodyPr/>
                    <a:lstStyle/>
                    <a:p>
                      <a:pPr marL="0" indent="0" algn="l">
                        <a:buNone/>
                      </a:pPr>
                      <a:r>
                        <a:rPr lang="en-US" sz="1050" b="1" dirty="0">
                          <a:solidFill>
                            <a:srgbClr val="63E7A4"/>
                          </a:solidFill>
                          <a:latin typeface="Century Gothic" pitchFamily="34" charset="0"/>
                          <a:ea typeface="Century Gothic" pitchFamily="34" charset="-122"/>
                          <a:cs typeface="Century Gothic" pitchFamily="34" charset="-120"/>
                        </a:rPr>
                        <a:t>Topic</a:t>
                      </a:r>
                      <a:endParaRPr lang="en-US" sz="105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03352"/>
                    </a:solidFill>
                  </a:tcPr>
                </a:tc>
                <a:tc>
                  <a:txBody>
                    <a:bodyPr/>
                    <a:lstStyle/>
                    <a:p>
                      <a:pPr marL="0" indent="0" algn="l">
                        <a:buNone/>
                      </a:pPr>
                      <a:r>
                        <a:rPr lang="en-US" sz="1050" b="1" dirty="0">
                          <a:solidFill>
                            <a:srgbClr val="63E7A4"/>
                          </a:solidFill>
                          <a:latin typeface="Century Gothic" pitchFamily="34" charset="0"/>
                          <a:ea typeface="Century Gothic" pitchFamily="34" charset="-122"/>
                          <a:cs typeface="Century Gothic" pitchFamily="34" charset="-120"/>
                        </a:rPr>
                        <a:t>What you will learn</a:t>
                      </a:r>
                      <a:endParaRPr lang="en-US" sz="105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03352"/>
                    </a:solidFill>
                  </a:tcPr>
                </a:tc>
                <a:tc>
                  <a:txBody>
                    <a:bodyPr/>
                    <a:lstStyle/>
                    <a:p>
                      <a:pPr marL="0" indent="0" algn="l">
                        <a:buNone/>
                      </a:pPr>
                      <a:r>
                        <a:rPr lang="en-US" sz="1050" b="1" dirty="0">
                          <a:solidFill>
                            <a:srgbClr val="63E7A4"/>
                          </a:solidFill>
                          <a:latin typeface="Century Gothic" pitchFamily="34" charset="0"/>
                          <a:ea typeface="Century Gothic" pitchFamily="34" charset="-122"/>
                          <a:cs typeface="Century Gothic" pitchFamily="34" charset="-120"/>
                        </a:rPr>
                        <a:t>Practical exercise</a:t>
                      </a:r>
                      <a:endParaRPr lang="en-US" sz="105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03352"/>
                    </a:solidFill>
                  </a:tcPr>
                </a:tc>
                <a:extLst>
                  <a:ext uri="{0D108BD9-81ED-4DB2-BD59-A6C34878D82A}">
                    <a16:rowId xmlns:a16="http://schemas.microsoft.com/office/drawing/2014/main" val="10000"/>
                  </a:ext>
                </a:extLst>
              </a:tr>
              <a:tr h="731520">
                <a:tc>
                  <a:txBody>
                    <a:bodyPr/>
                    <a:lstStyle/>
                    <a:p>
                      <a:pPr marL="0" indent="0" algn="ctr">
                        <a:buNone/>
                      </a:pPr>
                      <a:r>
                        <a:rPr lang="en-US" sz="1600" b="1" dirty="0">
                          <a:solidFill>
                            <a:srgbClr val="003352"/>
                          </a:solidFill>
                          <a:latin typeface="Century Gothic" pitchFamily="34" charset="0"/>
                          <a:ea typeface="Century Gothic" pitchFamily="34" charset="-122"/>
                          <a:cs typeface="Century Gothic" pitchFamily="34" charset="-120"/>
                        </a:rPr>
                        <a:t>9</a:t>
                      </a:r>
                      <a:endParaRPr lang="en-US" sz="160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F3F6"/>
                    </a:solidFill>
                  </a:tcPr>
                </a:tc>
                <a:tc>
                  <a:txBody>
                    <a:bodyPr/>
                    <a:lstStyle/>
                    <a:p>
                      <a:pPr marL="0" indent="0">
                        <a:buNone/>
                      </a:pPr>
                      <a:r>
                        <a:rPr lang="en-US" sz="1150" b="1" dirty="0">
                          <a:solidFill>
                            <a:srgbClr val="003352"/>
                          </a:solidFill>
                          <a:latin typeface="Century Gothic" pitchFamily="34" charset="0"/>
                          <a:ea typeface="Century Gothic" pitchFamily="34" charset="-122"/>
                          <a:cs typeface="Century Gothic" pitchFamily="34" charset="-120"/>
                        </a:rPr>
                        <a:t>Data and Metrics</a:t>
                      </a:r>
                      <a:endParaRPr lang="en-US" sz="115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F3F6"/>
                    </a:solidFill>
                  </a:tcPr>
                </a:tc>
                <a:tc>
                  <a:txBody>
                    <a:bodyPr/>
                    <a:lstStyle/>
                    <a:p>
                      <a:pPr marL="0" indent="0">
                        <a:buNone/>
                      </a:pPr>
                      <a:r>
                        <a:rPr lang="en-US" sz="1000" dirty="0">
                          <a:solidFill>
                            <a:srgbClr val="5C7A8C"/>
                          </a:solidFill>
                          <a:latin typeface="Century Gothic" pitchFamily="34" charset="0"/>
                          <a:ea typeface="Century Gothic" pitchFamily="34" charset="-122"/>
                          <a:cs typeface="Century Gothic" pitchFamily="34" charset="-120"/>
                        </a:rPr>
                        <a:t>DAU, MAU, retention, conversion, funnel analysis</a:t>
                      </a:r>
                      <a:endParaRPr lang="en-US" sz="100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F3F6"/>
                    </a:solidFill>
                  </a:tcPr>
                </a:tc>
                <a:tc>
                  <a:txBody>
                    <a:bodyPr/>
                    <a:lstStyle/>
                    <a:p>
                      <a:pPr marL="0" indent="0">
                        <a:buNone/>
                      </a:pPr>
                      <a:r>
                        <a:rPr lang="en-US" sz="1000" dirty="0">
                          <a:solidFill>
                            <a:srgbClr val="5C7A8C"/>
                          </a:solidFill>
                          <a:latin typeface="Century Gothic" pitchFamily="34" charset="0"/>
                          <a:ea typeface="Century Gothic" pitchFamily="34" charset="-122"/>
                          <a:cs typeface="Century Gothic" pitchFamily="34" charset="-120"/>
                        </a:rPr>
                        <a:t>Create a dashboard in Excel</a:t>
                      </a:r>
                      <a:endParaRPr lang="en-US" sz="100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F3F6"/>
                    </a:solidFill>
                  </a:tcPr>
                </a:tc>
                <a:extLst>
                  <a:ext uri="{0D108BD9-81ED-4DB2-BD59-A6C34878D82A}">
                    <a16:rowId xmlns:a16="http://schemas.microsoft.com/office/drawing/2014/main" val="10001"/>
                  </a:ext>
                </a:extLst>
              </a:tr>
              <a:tr h="731520">
                <a:tc>
                  <a:txBody>
                    <a:bodyPr/>
                    <a:lstStyle/>
                    <a:p>
                      <a:pPr marL="0" indent="0" algn="ctr">
                        <a:buNone/>
                      </a:pPr>
                      <a:r>
                        <a:rPr lang="en-US" sz="1600" b="1" dirty="0">
                          <a:solidFill>
                            <a:srgbClr val="003352"/>
                          </a:solidFill>
                          <a:latin typeface="Century Gothic" pitchFamily="34" charset="0"/>
                          <a:ea typeface="Century Gothic" pitchFamily="34" charset="-122"/>
                          <a:cs typeface="Century Gothic" pitchFamily="34" charset="-120"/>
                        </a:rPr>
                        <a:t>10</a:t>
                      </a:r>
                      <a:endParaRPr lang="en-US" sz="160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6F9FB"/>
                    </a:solidFill>
                  </a:tcPr>
                </a:tc>
                <a:tc>
                  <a:txBody>
                    <a:bodyPr/>
                    <a:lstStyle/>
                    <a:p>
                      <a:pPr marL="0" indent="0">
                        <a:buNone/>
                      </a:pPr>
                      <a:r>
                        <a:rPr lang="en-US" sz="1150" b="1" dirty="0">
                          <a:solidFill>
                            <a:srgbClr val="003352"/>
                          </a:solidFill>
                          <a:latin typeface="Century Gothic" pitchFamily="34" charset="0"/>
                          <a:ea typeface="Century Gothic" pitchFamily="34" charset="-122"/>
                          <a:cs typeface="Century Gothic" pitchFamily="34" charset="-120"/>
                        </a:rPr>
                        <a:t>Product Launch</a:t>
                      </a:r>
                      <a:endParaRPr lang="en-US" sz="115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6F9FB"/>
                    </a:solidFill>
                  </a:tcPr>
                </a:tc>
                <a:tc>
                  <a:txBody>
                    <a:bodyPr/>
                    <a:lstStyle/>
                    <a:p>
                      <a:pPr marL="0" indent="0">
                        <a:buNone/>
                      </a:pPr>
                      <a:r>
                        <a:rPr lang="en-US" sz="1000" dirty="0">
                          <a:solidFill>
                            <a:srgbClr val="5C7A8C"/>
                          </a:solidFill>
                          <a:latin typeface="Century Gothic" pitchFamily="34" charset="0"/>
                          <a:ea typeface="Century Gothic" pitchFamily="34" charset="-122"/>
                          <a:cs typeface="Century Gothic" pitchFamily="34" charset="-120"/>
                        </a:rPr>
                        <a:t>Go-to-market planning, pricing, release planning</a:t>
                      </a:r>
                      <a:endParaRPr lang="en-US" sz="100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6F9FB"/>
                    </a:solidFill>
                  </a:tcPr>
                </a:tc>
                <a:tc>
                  <a:txBody>
                    <a:bodyPr/>
                    <a:lstStyle/>
                    <a:p>
                      <a:pPr marL="0" indent="0">
                        <a:buNone/>
                      </a:pPr>
                      <a:r>
                        <a:rPr lang="en-US" sz="1000" dirty="0">
                          <a:solidFill>
                            <a:srgbClr val="5C7A8C"/>
                          </a:solidFill>
                          <a:latin typeface="Century Gothic" pitchFamily="34" charset="0"/>
                          <a:ea typeface="Century Gothic" pitchFamily="34" charset="-122"/>
                          <a:cs typeface="Century Gothic" pitchFamily="34" charset="-120"/>
                        </a:rPr>
                        <a:t>Build a launch checklist</a:t>
                      </a:r>
                      <a:endParaRPr lang="en-US" sz="100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6F9FB"/>
                    </a:solidFill>
                  </a:tcPr>
                </a:tc>
                <a:extLst>
                  <a:ext uri="{0D108BD9-81ED-4DB2-BD59-A6C34878D82A}">
                    <a16:rowId xmlns:a16="http://schemas.microsoft.com/office/drawing/2014/main" val="10002"/>
                  </a:ext>
                </a:extLst>
              </a:tr>
              <a:tr h="731520">
                <a:tc>
                  <a:txBody>
                    <a:bodyPr/>
                    <a:lstStyle/>
                    <a:p>
                      <a:pPr marL="0" indent="0" algn="ctr">
                        <a:buNone/>
                      </a:pPr>
                      <a:r>
                        <a:rPr lang="en-US" sz="1600" b="1" dirty="0">
                          <a:solidFill>
                            <a:srgbClr val="003352"/>
                          </a:solidFill>
                          <a:latin typeface="Century Gothic" pitchFamily="34" charset="0"/>
                          <a:ea typeface="Century Gothic" pitchFamily="34" charset="-122"/>
                          <a:cs typeface="Century Gothic" pitchFamily="34" charset="-120"/>
                        </a:rPr>
                        <a:t>11</a:t>
                      </a:r>
                      <a:endParaRPr lang="en-US" sz="160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F3F6"/>
                    </a:solidFill>
                  </a:tcPr>
                </a:tc>
                <a:tc>
                  <a:txBody>
                    <a:bodyPr/>
                    <a:lstStyle/>
                    <a:p>
                      <a:pPr marL="0" indent="0">
                        <a:buNone/>
                      </a:pPr>
                      <a:r>
                        <a:rPr lang="en-US" sz="1150" b="1" dirty="0">
                          <a:solidFill>
                            <a:srgbClr val="003352"/>
                          </a:solidFill>
                          <a:latin typeface="Century Gothic" pitchFamily="34" charset="0"/>
                          <a:ea typeface="Century Gothic" pitchFamily="34" charset="-122"/>
                          <a:cs typeface="Century Gothic" pitchFamily="34" charset="-120"/>
                        </a:rPr>
                        <a:t>Stakeholder Management</a:t>
                      </a:r>
                      <a:endParaRPr lang="en-US" sz="115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F3F6"/>
                    </a:solidFill>
                  </a:tcPr>
                </a:tc>
                <a:tc>
                  <a:txBody>
                    <a:bodyPr/>
                    <a:lstStyle/>
                    <a:p>
                      <a:pPr marL="0" indent="0">
                        <a:buNone/>
                      </a:pPr>
                      <a:r>
                        <a:rPr lang="en-US" sz="1000" dirty="0">
                          <a:solidFill>
                            <a:srgbClr val="5C7A8C"/>
                          </a:solidFill>
                          <a:latin typeface="Century Gothic" pitchFamily="34" charset="0"/>
                          <a:ea typeface="Century Gothic" pitchFamily="34" charset="-122"/>
                          <a:cs typeface="Century Gothic" pitchFamily="34" charset="-120"/>
                        </a:rPr>
                        <a:t>Working with engineering, sales and customer success</a:t>
                      </a:r>
                      <a:endParaRPr lang="en-US" sz="100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F3F6"/>
                    </a:solidFill>
                  </a:tcPr>
                </a:tc>
                <a:tc>
                  <a:txBody>
                    <a:bodyPr/>
                    <a:lstStyle/>
                    <a:p>
                      <a:pPr marL="0" indent="0">
                        <a:buNone/>
                      </a:pPr>
                      <a:r>
                        <a:rPr lang="en-US" sz="1000" dirty="0">
                          <a:solidFill>
                            <a:srgbClr val="5C7A8C"/>
                          </a:solidFill>
                          <a:latin typeface="Century Gothic" pitchFamily="34" charset="0"/>
                          <a:ea typeface="Century Gothic" pitchFamily="34" charset="-122"/>
                          <a:cs typeface="Century Gothic" pitchFamily="34" charset="-120"/>
                        </a:rPr>
                        <a:t>Conduct a mock roadmap presentation</a:t>
                      </a:r>
                      <a:endParaRPr lang="en-US" sz="100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F3F6"/>
                    </a:solidFill>
                  </a:tcPr>
                </a:tc>
                <a:extLst>
                  <a:ext uri="{0D108BD9-81ED-4DB2-BD59-A6C34878D82A}">
                    <a16:rowId xmlns:a16="http://schemas.microsoft.com/office/drawing/2014/main" val="10003"/>
                  </a:ext>
                </a:extLst>
              </a:tr>
              <a:tr h="731520">
                <a:tc>
                  <a:txBody>
                    <a:bodyPr/>
                    <a:lstStyle/>
                    <a:p>
                      <a:pPr marL="0" indent="0" algn="ctr">
                        <a:buNone/>
                      </a:pPr>
                      <a:r>
                        <a:rPr lang="en-US" sz="1600" b="1" dirty="0">
                          <a:solidFill>
                            <a:srgbClr val="003352"/>
                          </a:solidFill>
                          <a:latin typeface="Century Gothic" pitchFamily="34" charset="0"/>
                          <a:ea typeface="Century Gothic" pitchFamily="34" charset="-122"/>
                          <a:cs typeface="Century Gothic" pitchFamily="34" charset="-120"/>
                        </a:rPr>
                        <a:t>12</a:t>
                      </a:r>
                      <a:endParaRPr lang="en-US" sz="160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6F9FB"/>
                    </a:solidFill>
                  </a:tcPr>
                </a:tc>
                <a:tc>
                  <a:txBody>
                    <a:bodyPr/>
                    <a:lstStyle/>
                    <a:p>
                      <a:pPr marL="0" indent="0">
                        <a:buNone/>
                      </a:pPr>
                      <a:r>
                        <a:rPr lang="en-US" sz="1150" b="1" dirty="0">
                          <a:solidFill>
                            <a:srgbClr val="003352"/>
                          </a:solidFill>
                          <a:latin typeface="Century Gothic" pitchFamily="34" charset="0"/>
                          <a:ea typeface="Century Gothic" pitchFamily="34" charset="-122"/>
                          <a:cs typeface="Century Gothic" pitchFamily="34" charset="-120"/>
                        </a:rPr>
                        <a:t>AI in Product Management</a:t>
                      </a:r>
                      <a:endParaRPr lang="en-US" sz="115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6F9FB"/>
                    </a:solidFill>
                  </a:tcPr>
                </a:tc>
                <a:tc>
                  <a:txBody>
                    <a:bodyPr/>
                    <a:lstStyle/>
                    <a:p>
                      <a:pPr marL="0" indent="0">
                        <a:buNone/>
                      </a:pPr>
                      <a:r>
                        <a:rPr lang="en-US" sz="1000" dirty="0">
                          <a:solidFill>
                            <a:srgbClr val="5C7A8C"/>
                          </a:solidFill>
                          <a:latin typeface="Century Gothic" pitchFamily="34" charset="0"/>
                          <a:ea typeface="Century Gothic" pitchFamily="34" charset="-122"/>
                          <a:cs typeface="Century Gothic" pitchFamily="34" charset="-120"/>
                        </a:rPr>
                        <a:t>AI-assisted product discovery, prompting, analytics</a:t>
                      </a:r>
                      <a:endParaRPr lang="en-US" sz="100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6F9FB"/>
                    </a:solidFill>
                  </a:tcPr>
                </a:tc>
                <a:tc>
                  <a:txBody>
                    <a:bodyPr/>
                    <a:lstStyle/>
                    <a:p>
                      <a:pPr marL="0" indent="0">
                        <a:buNone/>
                      </a:pPr>
                      <a:r>
                        <a:rPr lang="en-US" sz="1000" dirty="0">
                          <a:solidFill>
                            <a:srgbClr val="5C7A8C"/>
                          </a:solidFill>
                          <a:latin typeface="Century Gothic" pitchFamily="34" charset="0"/>
                          <a:ea typeface="Century Gothic" pitchFamily="34" charset="-122"/>
                          <a:cs typeface="Century Gothic" pitchFamily="34" charset="-120"/>
                        </a:rPr>
                        <a:t>Build a simple AI feature concept</a:t>
                      </a:r>
                      <a:endParaRPr lang="en-US" sz="1000" dirty="0">
                        <a:latin typeface="Century Gothic" charset="0"/>
                        <a:ea typeface="Century Gothic" charset="0"/>
                        <a:cs typeface="Century Gothic"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6F9FB"/>
                    </a:solidFill>
                  </a:tcPr>
                </a:tc>
                <a:extLst>
                  <a:ext uri="{0D108BD9-81ED-4DB2-BD59-A6C34878D82A}">
                    <a16:rowId xmlns:a16="http://schemas.microsoft.com/office/drawing/2014/main" val="10004"/>
                  </a:ext>
                </a:extLst>
              </a:tr>
            </a:tbl>
          </a:graphicData>
        </a:graphic>
      </p:graphicFrame>
      <p:sp>
        <p:nvSpPr>
          <p:cNvPr id="6" name="Text 3"/>
          <p:cNvSpPr/>
          <p:nvPr/>
        </p:nvSpPr>
        <p:spPr>
          <a:xfrm>
            <a:off x="640080" y="5943600"/>
            <a:ext cx="10911535" cy="365760"/>
          </a:xfrm>
          <a:prstGeom prst="rect">
            <a:avLst/>
          </a:prstGeom>
          <a:noFill/>
          <a:ln/>
        </p:spPr>
        <p:txBody>
          <a:bodyPr wrap="square" lIns="0" tIns="0" rIns="0" bIns="0" rtlCol="0" anchor="ctr"/>
          <a:lstStyle/>
          <a:p>
            <a:pPr marL="0" indent="0">
              <a:buNone/>
            </a:pPr>
            <a:r>
              <a:rPr lang="en-US" sz="1150" i="1" dirty="0">
                <a:solidFill>
                  <a:srgbClr val="5C7A8C"/>
                </a:solidFill>
                <a:latin typeface="Century Gothic" pitchFamily="34" charset="0"/>
                <a:ea typeface="Century Gothic" pitchFamily="34" charset="-122"/>
                <a:cs typeface="Century Gothic" pitchFamily="34" charset="-120"/>
              </a:rPr>
              <a:t>Week 9 maps to Part Four; week 11 builds directly on the roadmap audiences slide.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1EF54C7-00E0-A2C9-4F85-27B68C31E945}"/>
              </a:ext>
            </a:extLst>
          </p:cNvPr>
          <p:cNvSpPr>
            <a:spLocks noGrp="1"/>
          </p:cNvSpPr>
          <p:nvPr>
            <p:ph idx="1"/>
          </p:nvPr>
        </p:nvSpPr>
        <p:spPr/>
        <p:txBody>
          <a:bodyPr/>
          <a:lstStyle/>
          <a:p>
            <a:r>
              <a:rPr lang="en-US" dirty="0"/>
              <a:t>Imagine you are CEO of Swiggy</a:t>
            </a:r>
          </a:p>
          <a:p>
            <a:endParaRPr lang="en-US" dirty="0"/>
          </a:p>
          <a:p>
            <a:r>
              <a:rPr lang="en-US" dirty="0"/>
              <a:t>Your customers have given about your Swiggy App</a:t>
            </a:r>
          </a:p>
          <a:p>
            <a:pPr>
              <a:buFont typeface="Arial" panose="020B0604020202020204" pitchFamily="34" charset="0"/>
              <a:buChar char="•"/>
            </a:pPr>
            <a:r>
              <a:rPr lang="en-US" dirty="0"/>
              <a:t>Add more veg dishes</a:t>
            </a:r>
          </a:p>
          <a:p>
            <a:pPr>
              <a:buFont typeface="Arial" panose="020B0604020202020204" pitchFamily="34" charset="0"/>
              <a:buChar char="•"/>
            </a:pPr>
            <a:r>
              <a:rPr lang="en-US" dirty="0"/>
              <a:t>Your mobile app is slow</a:t>
            </a:r>
          </a:p>
          <a:p>
            <a:pPr>
              <a:buFont typeface="Arial" panose="020B0604020202020204" pitchFamily="34" charset="0"/>
              <a:buChar char="•"/>
            </a:pPr>
            <a:r>
              <a:rPr lang="en-US" dirty="0"/>
              <a:t>Your food delivery takes too long</a:t>
            </a:r>
          </a:p>
          <a:p>
            <a:pPr>
              <a:buFont typeface="Arial" panose="020B0604020202020204" pitchFamily="34" charset="0"/>
              <a:buChar char="•"/>
            </a:pPr>
            <a:r>
              <a:rPr lang="en-US" dirty="0"/>
              <a:t>Introduce loyalty points</a:t>
            </a:r>
          </a:p>
          <a:p>
            <a:pPr>
              <a:buFont typeface="Arial" panose="020B0604020202020204" pitchFamily="34" charset="0"/>
              <a:buChar char="•"/>
            </a:pPr>
            <a:endParaRPr lang="en-IN" dirty="0"/>
          </a:p>
          <a:p>
            <a:pPr marL="0" indent="0"/>
            <a:r>
              <a:rPr lang="en-IN" dirty="0"/>
              <a:t>As a CEO you only have one development team and one month, what will you build first?</a:t>
            </a:r>
            <a:endParaRPr lang="en-US" dirty="0"/>
          </a:p>
        </p:txBody>
      </p:sp>
      <p:sp>
        <p:nvSpPr>
          <p:cNvPr id="3" name="Content Placeholder 2">
            <a:extLst>
              <a:ext uri="{FF2B5EF4-FFF2-40B4-BE49-F238E27FC236}">
                <a16:creationId xmlns:a16="http://schemas.microsoft.com/office/drawing/2014/main" id="{69D470CB-4288-11FB-D5B9-30AA823CB127}"/>
              </a:ext>
            </a:extLst>
          </p:cNvPr>
          <p:cNvSpPr>
            <a:spLocks noGrp="1"/>
          </p:cNvSpPr>
          <p:nvPr>
            <p:ph sz="quarter" idx="10"/>
          </p:nvPr>
        </p:nvSpPr>
        <p:spPr/>
        <p:txBody>
          <a:bodyPr/>
          <a:lstStyle/>
          <a:p>
            <a:r>
              <a:rPr lang="en-IN" dirty="0"/>
              <a:t>Why Product Management?</a:t>
            </a:r>
          </a:p>
        </p:txBody>
      </p:sp>
    </p:spTree>
    <p:extLst>
      <p:ext uri="{BB962C8B-B14F-4D97-AF65-F5344CB8AC3E}">
        <p14:creationId xmlns:p14="http://schemas.microsoft.com/office/powerpoint/2010/main" val="2832875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wrap="square"/>
          <a:lstStyle/>
          <a:p>
            <a:r>
              <a:rPr sz="2600" b="1">
                <a:solidFill>
                  <a:srgbClr val="003352"/>
                </a:solidFill>
                <a:latin typeface="Century Gothic"/>
              </a:rPr>
              <a:t>Poll: you have one team and one sprint</a:t>
            </a:r>
          </a:p>
        </p:txBody>
      </p:sp>
      <p:sp>
        <p:nvSpPr>
          <p:cNvPr id="4" name="Rounded Rectangle 3"/>
          <p:cNvSpPr/>
          <p:nvPr/>
        </p:nvSpPr>
        <p:spPr>
          <a:xfrm>
            <a:off x="502920" y="1371600"/>
            <a:ext cx="2468880" cy="292608"/>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ctr"/>
            <a:r>
              <a:rPr sz="1000" b="1" i="0">
                <a:solidFill>
                  <a:srgbClr val="003352"/>
                </a:solidFill>
                <a:latin typeface="Century Gothic"/>
              </a:rPr>
              <a:t>POLL  ·  5 MIN</a:t>
            </a:r>
          </a:p>
        </p:txBody>
      </p:sp>
      <p:sp>
        <p:nvSpPr>
          <p:cNvPr id="5" name="Rounded Rectangle 4"/>
          <p:cNvSpPr/>
          <p:nvPr/>
        </p:nvSpPr>
        <p:spPr>
          <a:xfrm>
            <a:off x="502920" y="1874519"/>
            <a:ext cx="2697480" cy="2103120"/>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ounded Rectangle 5"/>
          <p:cNvSpPr/>
          <p:nvPr/>
        </p:nvSpPr>
        <p:spPr>
          <a:xfrm>
            <a:off x="502920" y="1874519"/>
            <a:ext cx="2697480" cy="475488"/>
          </a:xfrm>
          <a:prstGeom prst="roundRect">
            <a:avLst>
              <a:gd name="adj" fmla="val 14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0" rIns="128016" bIns="0" rtlCol="0" anchor="ctr"/>
          <a:lstStyle/>
          <a:p>
            <a:r>
              <a:rPr sz="1300" b="1" i="0">
                <a:solidFill>
                  <a:srgbClr val="FFFFFF"/>
                </a:solidFill>
                <a:latin typeface="Century Gothic"/>
              </a:rPr>
              <a:t>A.  Add more veg dishes</a:t>
            </a:r>
          </a:p>
        </p:txBody>
      </p:sp>
      <p:sp>
        <p:nvSpPr>
          <p:cNvPr id="7" name="TextBox 6"/>
          <p:cNvSpPr txBox="1"/>
          <p:nvPr/>
        </p:nvSpPr>
        <p:spPr>
          <a:xfrm>
            <a:off x="685800" y="2496312"/>
            <a:ext cx="2331720" cy="1353311"/>
          </a:xfrm>
          <a:prstGeom prst="rect">
            <a:avLst/>
          </a:prstGeom>
          <a:noFill/>
        </p:spPr>
        <p:txBody>
          <a:bodyPr wrap="square" lIns="0" tIns="0" rIns="0" bIns="0" anchor="t">
            <a:spAutoFit/>
          </a:bodyPr>
          <a:lstStyle/>
          <a:p>
            <a:pPr algn="l">
              <a:spcBef>
                <a:spcPts val="0"/>
              </a:spcBef>
              <a:spcAft>
                <a:spcPts val="400"/>
              </a:spcAft>
            </a:pPr>
            <a:r>
              <a:rPr sz="1250" b="0" i="0">
                <a:solidFill>
                  <a:srgbClr val="003352"/>
                </a:solidFill>
                <a:latin typeface="Century Gothic"/>
              </a:rPr>
              <a:t>Catalogue work. The effort sits with restaurants, not with your engineers.</a:t>
            </a:r>
          </a:p>
        </p:txBody>
      </p:sp>
      <p:sp>
        <p:nvSpPr>
          <p:cNvPr id="8" name="Rounded Rectangle 7"/>
          <p:cNvSpPr/>
          <p:nvPr/>
        </p:nvSpPr>
        <p:spPr>
          <a:xfrm>
            <a:off x="3364992" y="1874519"/>
            <a:ext cx="2697480" cy="2103120"/>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ounded Rectangle 8"/>
          <p:cNvSpPr/>
          <p:nvPr/>
        </p:nvSpPr>
        <p:spPr>
          <a:xfrm>
            <a:off x="3364992" y="1874519"/>
            <a:ext cx="2697480" cy="475488"/>
          </a:xfrm>
          <a:prstGeom prst="roundRect">
            <a:avLst>
              <a:gd name="adj" fmla="val 14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0" rIns="128016" bIns="0" rtlCol="0" anchor="ctr"/>
          <a:lstStyle/>
          <a:p>
            <a:r>
              <a:rPr sz="1300" b="1" i="0">
                <a:solidFill>
                  <a:srgbClr val="FFFFFF"/>
                </a:solidFill>
                <a:latin typeface="Century Gothic"/>
              </a:rPr>
              <a:t>B.  The app is slow</a:t>
            </a:r>
          </a:p>
        </p:txBody>
      </p:sp>
      <p:sp>
        <p:nvSpPr>
          <p:cNvPr id="10" name="TextBox 9"/>
          <p:cNvSpPr txBox="1"/>
          <p:nvPr/>
        </p:nvSpPr>
        <p:spPr>
          <a:xfrm>
            <a:off x="3547872" y="2496312"/>
            <a:ext cx="2331720" cy="1353311"/>
          </a:xfrm>
          <a:prstGeom prst="rect">
            <a:avLst/>
          </a:prstGeom>
          <a:noFill/>
        </p:spPr>
        <p:txBody>
          <a:bodyPr wrap="square" lIns="0" tIns="0" rIns="0" bIns="0" anchor="t">
            <a:spAutoFit/>
          </a:bodyPr>
          <a:lstStyle/>
          <a:p>
            <a:pPr algn="l">
              <a:spcBef>
                <a:spcPts val="0"/>
              </a:spcBef>
              <a:spcAft>
                <a:spcPts val="400"/>
              </a:spcAft>
            </a:pPr>
            <a:r>
              <a:rPr sz="1250" b="0" i="0">
                <a:solidFill>
                  <a:srgbClr val="003352"/>
                </a:solidFill>
                <a:latin typeface="Century Gothic"/>
              </a:rPr>
              <a:t>Hits every user, every session, on every screen. No new feature required.</a:t>
            </a:r>
          </a:p>
        </p:txBody>
      </p:sp>
      <p:sp>
        <p:nvSpPr>
          <p:cNvPr id="11" name="Rounded Rectangle 10"/>
          <p:cNvSpPr/>
          <p:nvPr/>
        </p:nvSpPr>
        <p:spPr>
          <a:xfrm>
            <a:off x="6227064" y="1874519"/>
            <a:ext cx="2697480" cy="2103120"/>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6227064" y="1874519"/>
            <a:ext cx="2697480" cy="475488"/>
          </a:xfrm>
          <a:prstGeom prst="roundRect">
            <a:avLst>
              <a:gd name="adj" fmla="val 14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0" rIns="128016" bIns="0" rtlCol="0" anchor="ctr"/>
          <a:lstStyle/>
          <a:p>
            <a:r>
              <a:rPr sz="1300" b="1" i="0">
                <a:solidFill>
                  <a:srgbClr val="FFFFFF"/>
                </a:solidFill>
                <a:latin typeface="Century Gothic"/>
              </a:rPr>
              <a:t>C.  Delivery takes too long</a:t>
            </a:r>
          </a:p>
        </p:txBody>
      </p:sp>
      <p:sp>
        <p:nvSpPr>
          <p:cNvPr id="13" name="TextBox 12"/>
          <p:cNvSpPr txBox="1"/>
          <p:nvPr/>
        </p:nvSpPr>
        <p:spPr>
          <a:xfrm>
            <a:off x="6409944" y="2496312"/>
            <a:ext cx="2331720" cy="1353311"/>
          </a:xfrm>
          <a:prstGeom prst="rect">
            <a:avLst/>
          </a:prstGeom>
          <a:noFill/>
        </p:spPr>
        <p:txBody>
          <a:bodyPr wrap="square" lIns="0" tIns="0" rIns="0" bIns="0" anchor="t">
            <a:spAutoFit/>
          </a:bodyPr>
          <a:lstStyle/>
          <a:p>
            <a:pPr algn="l">
              <a:spcBef>
                <a:spcPts val="0"/>
              </a:spcBef>
              <a:spcAft>
                <a:spcPts val="400"/>
              </a:spcAft>
            </a:pPr>
            <a:r>
              <a:rPr sz="1250" b="0" i="0">
                <a:solidFill>
                  <a:srgbClr val="003352"/>
                </a:solidFill>
                <a:latin typeface="Century Gothic"/>
              </a:rPr>
              <a:t>A real problem — but it is fleet, routing and supply, not one sprint of code.</a:t>
            </a:r>
          </a:p>
        </p:txBody>
      </p:sp>
      <p:sp>
        <p:nvSpPr>
          <p:cNvPr id="14" name="Rounded Rectangle 13"/>
          <p:cNvSpPr/>
          <p:nvPr/>
        </p:nvSpPr>
        <p:spPr>
          <a:xfrm>
            <a:off x="9089136" y="1874519"/>
            <a:ext cx="2697480" cy="2103120"/>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unded Rectangle 14"/>
          <p:cNvSpPr/>
          <p:nvPr/>
        </p:nvSpPr>
        <p:spPr>
          <a:xfrm>
            <a:off x="9089136" y="1874519"/>
            <a:ext cx="2697480" cy="475488"/>
          </a:xfrm>
          <a:prstGeom prst="roundRect">
            <a:avLst>
              <a:gd name="adj" fmla="val 14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0" rIns="128016" bIns="0" rtlCol="0" anchor="ctr"/>
          <a:lstStyle/>
          <a:p>
            <a:r>
              <a:rPr sz="1300" b="1" i="0">
                <a:solidFill>
                  <a:srgbClr val="FFFFFF"/>
                </a:solidFill>
                <a:latin typeface="Century Gothic"/>
              </a:rPr>
              <a:t>D.  Introduce loyalty points</a:t>
            </a:r>
          </a:p>
        </p:txBody>
      </p:sp>
      <p:sp>
        <p:nvSpPr>
          <p:cNvPr id="16" name="TextBox 15"/>
          <p:cNvSpPr txBox="1"/>
          <p:nvPr/>
        </p:nvSpPr>
        <p:spPr>
          <a:xfrm>
            <a:off x="9272016" y="2496312"/>
            <a:ext cx="2331720" cy="1353311"/>
          </a:xfrm>
          <a:prstGeom prst="rect">
            <a:avLst/>
          </a:prstGeom>
          <a:noFill/>
        </p:spPr>
        <p:txBody>
          <a:bodyPr wrap="square" lIns="0" tIns="0" rIns="0" bIns="0" anchor="t">
            <a:spAutoFit/>
          </a:bodyPr>
          <a:lstStyle/>
          <a:p>
            <a:pPr algn="l">
              <a:spcBef>
                <a:spcPts val="0"/>
              </a:spcBef>
              <a:spcAft>
                <a:spcPts val="400"/>
              </a:spcAft>
            </a:pPr>
            <a:r>
              <a:rPr sz="1250" b="0" i="0">
                <a:solidFill>
                  <a:srgbClr val="003352"/>
                </a:solidFill>
                <a:latin typeface="Century Gothic"/>
              </a:rPr>
              <a:t>New revenue, and needs pricing, finance, fraud and legal before a line is written.</a:t>
            </a:r>
          </a:p>
        </p:txBody>
      </p:sp>
      <p:sp>
        <p:nvSpPr>
          <p:cNvPr id="17" name="Rounded Rectangle 16"/>
          <p:cNvSpPr/>
          <p:nvPr/>
        </p:nvSpPr>
        <p:spPr>
          <a:xfrm>
            <a:off x="502920" y="5486400"/>
            <a:ext cx="11201400" cy="658368"/>
          </a:xfrm>
          <a:prstGeom prst="roundRect">
            <a:avLst>
              <a:gd name="adj" fmla="val 10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54864" rIns="201168" bIns="54864" rtlCol="0" anchor="ctr"/>
          <a:lstStyle/>
          <a:p>
            <a:r>
              <a:rPr sz="1300" b="1" i="0">
                <a:solidFill>
                  <a:srgbClr val="FFFFFF"/>
                </a:solidFill>
                <a:latin typeface="Century Gothic"/>
              </a:rPr>
              <a:t>Show of hands, one vote each. Then ask whoever picked D to defend it against B — same team, same month. Reach, impact and cost are the whole argument.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9832587-2186-6A38-83C0-784A2AD1670C}"/>
              </a:ext>
            </a:extLst>
          </p:cNvPr>
          <p:cNvPicPr>
            <a:picLocks noGrp="1" noChangeAspect="1"/>
          </p:cNvPicPr>
          <p:nvPr>
            <p:ph idx="1"/>
          </p:nvPr>
        </p:nvPicPr>
        <p:blipFill>
          <a:blip r:embed="rId2"/>
          <a:stretch>
            <a:fillRect/>
          </a:stretch>
        </p:blipFill>
        <p:spPr>
          <a:xfrm>
            <a:off x="2625269" y="1580052"/>
            <a:ext cx="6535062" cy="4353533"/>
          </a:xfrm>
        </p:spPr>
      </p:pic>
      <p:sp>
        <p:nvSpPr>
          <p:cNvPr id="3" name="Content Placeholder 2">
            <a:extLst>
              <a:ext uri="{FF2B5EF4-FFF2-40B4-BE49-F238E27FC236}">
                <a16:creationId xmlns:a16="http://schemas.microsoft.com/office/drawing/2014/main" id="{D680FE2D-772C-7C08-4DEB-6DB5D89ACB1A}"/>
              </a:ext>
            </a:extLst>
          </p:cNvPr>
          <p:cNvSpPr>
            <a:spLocks noGrp="1"/>
          </p:cNvSpPr>
          <p:nvPr>
            <p:ph sz="quarter" idx="10"/>
          </p:nvPr>
        </p:nvSpPr>
        <p:spPr/>
        <p:txBody>
          <a:bodyPr/>
          <a:lstStyle/>
          <a:p>
            <a:r>
              <a:rPr lang="en-US" b="0" dirty="0">
                <a:solidFill>
                  <a:srgbClr val="1F1F1F"/>
                </a:solidFill>
                <a:latin typeface="Google Sans Flex"/>
              </a:rPr>
              <a:t>O</a:t>
            </a:r>
            <a:r>
              <a:rPr lang="en-US" b="0" i="0" dirty="0">
                <a:solidFill>
                  <a:srgbClr val="1F1F1F"/>
                </a:solidFill>
                <a:effectLst/>
                <a:latin typeface="Google Sans Flex"/>
              </a:rPr>
              <a:t>rganizing party for your friends. what are your prioritize?</a:t>
            </a:r>
            <a:endParaRPr lang="en-IN" dirty="0"/>
          </a:p>
        </p:txBody>
      </p:sp>
    </p:spTree>
    <p:extLst>
      <p:ext uri="{BB962C8B-B14F-4D97-AF65-F5344CB8AC3E}">
        <p14:creationId xmlns:p14="http://schemas.microsoft.com/office/powerpoint/2010/main" val="3806632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16DC3A-1F53-9DB5-DB41-133CC5FE4353}"/>
              </a:ext>
            </a:extLst>
          </p:cNvPr>
          <p:cNvSpPr>
            <a:spLocks noGrp="1"/>
          </p:cNvSpPr>
          <p:nvPr>
            <p:ph sz="quarter" idx="10"/>
          </p:nvPr>
        </p:nvSpPr>
        <p:spPr/>
        <p:txBody>
          <a:bodyPr/>
          <a:lstStyle/>
          <a:p>
            <a:r>
              <a:rPr lang="en-US" b="1" dirty="0"/>
              <a:t>The Problem Every Company Faces</a:t>
            </a:r>
          </a:p>
          <a:p>
            <a:endParaRPr lang="en-IN" dirty="0"/>
          </a:p>
        </p:txBody>
      </p:sp>
      <p:sp>
        <p:nvSpPr>
          <p:cNvPr id="4" name="Rectangle 1">
            <a:extLst>
              <a:ext uri="{FF2B5EF4-FFF2-40B4-BE49-F238E27FC236}">
                <a16:creationId xmlns:a16="http://schemas.microsoft.com/office/drawing/2014/main" id="{3B037C22-ABE9-07F5-96C8-839E62573204}"/>
              </a:ext>
            </a:extLst>
          </p:cNvPr>
          <p:cNvSpPr>
            <a:spLocks noGrp="1" noChangeArrowheads="1"/>
          </p:cNvSpPr>
          <p:nvPr>
            <p:ph idx="1"/>
          </p:nvPr>
        </p:nvSpPr>
        <p:spPr bwMode="auto">
          <a:xfrm>
            <a:off x="406400" y="1752104"/>
            <a:ext cx="390683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Which problems should be solved?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Which features should be built?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Which requests should wait? </a:t>
            </a:r>
          </a:p>
        </p:txBody>
      </p:sp>
    </p:spTree>
    <p:extLst>
      <p:ext uri="{BB962C8B-B14F-4D97-AF65-F5344CB8AC3E}">
        <p14:creationId xmlns:p14="http://schemas.microsoft.com/office/powerpoint/2010/main" val="30676627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wrap="square"/>
          <a:lstStyle/>
          <a:p>
            <a:r>
              <a:rPr sz="2600" b="1">
                <a:solidFill>
                  <a:srgbClr val="003352"/>
                </a:solidFill>
                <a:latin typeface="Century Gothic"/>
              </a:rPr>
              <a:t>You have already sat in this meeting</a:t>
            </a:r>
          </a:p>
        </p:txBody>
      </p:sp>
      <p:sp>
        <p:nvSpPr>
          <p:cNvPr id="4" name="Rounded Rectangle 3"/>
          <p:cNvSpPr/>
          <p:nvPr/>
        </p:nvSpPr>
        <p:spPr>
          <a:xfrm>
            <a:off x="502920" y="1371600"/>
            <a:ext cx="2907792" cy="292608"/>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ctr"/>
            <a:r>
              <a:rPr sz="1000" b="1" i="0">
                <a:solidFill>
                  <a:srgbClr val="003352"/>
                </a:solidFill>
                <a:latin typeface="Century Gothic"/>
              </a:rPr>
              <a:t>DISCUSS  ·  3 MIN</a:t>
            </a:r>
          </a:p>
        </p:txBody>
      </p:sp>
      <p:sp>
        <p:nvSpPr>
          <p:cNvPr id="5" name="Rounded Rectangle 4"/>
          <p:cNvSpPr/>
          <p:nvPr/>
        </p:nvSpPr>
        <p:spPr>
          <a:xfrm>
            <a:off x="502920" y="1874519"/>
            <a:ext cx="3611880" cy="2834640"/>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ounded Rectangle 5"/>
          <p:cNvSpPr/>
          <p:nvPr/>
        </p:nvSpPr>
        <p:spPr>
          <a:xfrm>
            <a:off x="502920" y="1874519"/>
            <a:ext cx="3611880" cy="475488"/>
          </a:xfrm>
          <a:prstGeom prst="roundRect">
            <a:avLst>
              <a:gd name="adj" fmla="val 14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0" rIns="128016" bIns="0" rtlCol="0" anchor="ctr"/>
          <a:lstStyle/>
          <a:p>
            <a:r>
              <a:rPr sz="1400" b="1" i="0">
                <a:solidFill>
                  <a:srgbClr val="FFFFFF"/>
                </a:solidFill>
                <a:latin typeface="Century Gothic"/>
              </a:rPr>
              <a:t>The feature nobody used</a:t>
            </a:r>
          </a:p>
        </p:txBody>
      </p:sp>
      <p:sp>
        <p:nvSpPr>
          <p:cNvPr id="7" name="TextBox 6"/>
          <p:cNvSpPr txBox="1"/>
          <p:nvPr/>
        </p:nvSpPr>
        <p:spPr>
          <a:xfrm>
            <a:off x="685800" y="2496312"/>
            <a:ext cx="3246120" cy="2084832"/>
          </a:xfrm>
          <a:prstGeom prst="rect">
            <a:avLst/>
          </a:prstGeom>
          <a:noFill/>
        </p:spPr>
        <p:txBody>
          <a:bodyPr wrap="square" lIns="0" tIns="0" rIns="0" bIns="0" anchor="t">
            <a:spAutoFit/>
          </a:bodyPr>
          <a:lstStyle/>
          <a:p>
            <a:pPr algn="l">
              <a:spcBef>
                <a:spcPts val="0"/>
              </a:spcBef>
              <a:spcAft>
                <a:spcPts val="400"/>
              </a:spcAft>
            </a:pPr>
            <a:r>
              <a:rPr sz="1200" b="0" i="0">
                <a:solidFill>
                  <a:srgbClr val="003352"/>
                </a:solidFill>
                <a:latin typeface="Century Gothic"/>
              </a:rPr>
              <a:t>Three sprints. Shipped on time. Clean code, good tests. One month later 0.4% of users had touched it. Nobody had asked who wanted it before the estimate was given.</a:t>
            </a:r>
          </a:p>
        </p:txBody>
      </p:sp>
      <p:sp>
        <p:nvSpPr>
          <p:cNvPr id="8" name="Rounded Rectangle 7"/>
          <p:cNvSpPr/>
          <p:nvPr/>
        </p:nvSpPr>
        <p:spPr>
          <a:xfrm>
            <a:off x="4297680" y="1874519"/>
            <a:ext cx="3611880" cy="2834640"/>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ounded Rectangle 8"/>
          <p:cNvSpPr/>
          <p:nvPr/>
        </p:nvSpPr>
        <p:spPr>
          <a:xfrm>
            <a:off x="4297680" y="1874519"/>
            <a:ext cx="3611880" cy="475488"/>
          </a:xfrm>
          <a:prstGeom prst="roundRect">
            <a:avLst>
              <a:gd name="adj" fmla="val 14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0" rIns="128016" bIns="0" rtlCol="0" anchor="ctr"/>
          <a:lstStyle/>
          <a:p>
            <a:r>
              <a:rPr sz="1400" b="1" i="0">
                <a:solidFill>
                  <a:srgbClr val="FFFFFF"/>
                </a:solidFill>
                <a:latin typeface="Century Gothic"/>
              </a:rPr>
              <a:t>The request that jumped the queue</a:t>
            </a:r>
          </a:p>
        </p:txBody>
      </p:sp>
      <p:sp>
        <p:nvSpPr>
          <p:cNvPr id="10" name="TextBox 9"/>
          <p:cNvSpPr txBox="1"/>
          <p:nvPr/>
        </p:nvSpPr>
        <p:spPr>
          <a:xfrm>
            <a:off x="4480560" y="2496312"/>
            <a:ext cx="3246120" cy="2084832"/>
          </a:xfrm>
          <a:prstGeom prst="rect">
            <a:avLst/>
          </a:prstGeom>
          <a:noFill/>
        </p:spPr>
        <p:txBody>
          <a:bodyPr wrap="square" lIns="0" tIns="0" rIns="0" bIns="0" anchor="t">
            <a:spAutoFit/>
          </a:bodyPr>
          <a:lstStyle/>
          <a:p>
            <a:pPr algn="l">
              <a:spcBef>
                <a:spcPts val="0"/>
              </a:spcBef>
              <a:spcAft>
                <a:spcPts val="400"/>
              </a:spcAft>
            </a:pPr>
            <a:r>
              <a:rPr sz="1200" b="0" i="0">
                <a:solidFill>
                  <a:srgbClr val="003352"/>
                </a:solidFill>
                <a:latin typeface="Century Gothic"/>
              </a:rPr>
              <a:t>Sales promised one customer a custom report by Friday. It goes in. Two other things slip a fortnight. Nobody can say whether that was the right trade, because nobody wrote down what the other two were worth.</a:t>
            </a:r>
          </a:p>
        </p:txBody>
      </p:sp>
      <p:sp>
        <p:nvSpPr>
          <p:cNvPr id="11" name="Rounded Rectangle 10"/>
          <p:cNvSpPr/>
          <p:nvPr/>
        </p:nvSpPr>
        <p:spPr>
          <a:xfrm>
            <a:off x="8092440" y="1874519"/>
            <a:ext cx="3611880" cy="2834640"/>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8092440" y="1874519"/>
            <a:ext cx="3611880" cy="475488"/>
          </a:xfrm>
          <a:prstGeom prst="roundRect">
            <a:avLst>
              <a:gd name="adj" fmla="val 14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0" rIns="128016" bIns="0" rtlCol="0" anchor="ctr"/>
          <a:lstStyle/>
          <a:p>
            <a:r>
              <a:rPr sz="1400" b="1" i="0">
                <a:solidFill>
                  <a:srgbClr val="FFFFFF"/>
                </a:solidFill>
                <a:latin typeface="Century Gothic"/>
              </a:rPr>
              <a:t>“Can you just add a checkbox?”</a:t>
            </a:r>
          </a:p>
        </p:txBody>
      </p:sp>
      <p:sp>
        <p:nvSpPr>
          <p:cNvPr id="13" name="TextBox 12"/>
          <p:cNvSpPr txBox="1"/>
          <p:nvPr/>
        </p:nvSpPr>
        <p:spPr>
          <a:xfrm>
            <a:off x="8275320" y="2496312"/>
            <a:ext cx="3246120" cy="2084832"/>
          </a:xfrm>
          <a:prstGeom prst="rect">
            <a:avLst/>
          </a:prstGeom>
          <a:noFill/>
        </p:spPr>
        <p:txBody>
          <a:bodyPr wrap="square" lIns="0" tIns="0" rIns="0" bIns="0" anchor="t">
            <a:spAutoFit/>
          </a:bodyPr>
          <a:lstStyle/>
          <a:p>
            <a:pPr algn="l">
              <a:spcBef>
                <a:spcPts val="0"/>
              </a:spcBef>
              <a:spcAft>
                <a:spcPts val="400"/>
              </a:spcAft>
            </a:pPr>
            <a:r>
              <a:rPr sz="1200" b="0" i="0">
                <a:solidFill>
                  <a:srgbClr val="003352"/>
                </a:solidFill>
                <a:latin typeface="Century Gothic"/>
              </a:rPr>
              <a:t>Two weeks later it is a schema change, a migration, a settings redesign and a support article. The ask was one sentence. The cost was never in the sentence.</a:t>
            </a:r>
          </a:p>
        </p:txBody>
      </p:sp>
      <p:sp>
        <p:nvSpPr>
          <p:cNvPr id="14" name="Rounded Rectangle 13"/>
          <p:cNvSpPr/>
          <p:nvPr/>
        </p:nvSpPr>
        <p:spPr>
          <a:xfrm>
            <a:off x="502920" y="5486400"/>
            <a:ext cx="11201400" cy="658368"/>
          </a:xfrm>
          <a:prstGeom prst="roundRect">
            <a:avLst>
              <a:gd name="adj" fmla="val 10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54864" rIns="201168" bIns="54864" rtlCol="0" anchor="ctr"/>
          <a:lstStyle/>
          <a:p>
            <a:r>
              <a:rPr sz="1300" b="1" i="0">
                <a:solidFill>
                  <a:srgbClr val="FFFFFF"/>
                </a:solidFill>
                <a:latin typeface="Century Gothic"/>
              </a:rPr>
              <a:t>Turn to the person next to you. Which of the three have you lived through? What decision, made before the ticket reached you, would have prevented it?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BEBBF4-754D-F1B2-2120-78DEF80D4E95}"/>
              </a:ext>
            </a:extLst>
          </p:cNvPr>
          <p:cNvSpPr>
            <a:spLocks noGrp="1"/>
          </p:cNvSpPr>
          <p:nvPr>
            <p:ph sz="quarter" idx="10"/>
          </p:nvPr>
        </p:nvSpPr>
        <p:spPr/>
        <p:txBody>
          <a:bodyPr/>
          <a:lstStyle/>
          <a:p>
            <a:r>
              <a:rPr lang="en-IN" dirty="0"/>
              <a:t>Lean Startup Canvas</a:t>
            </a:r>
          </a:p>
        </p:txBody>
      </p:sp>
      <p:pic>
        <p:nvPicPr>
          <p:cNvPr id="7" name="Content Placeholder 6">
            <a:extLst>
              <a:ext uri="{FF2B5EF4-FFF2-40B4-BE49-F238E27FC236}">
                <a16:creationId xmlns:a16="http://schemas.microsoft.com/office/drawing/2014/main" id="{7A393C86-7A57-4A3D-8BF2-71EC4853E6CB}"/>
              </a:ext>
            </a:extLst>
          </p:cNvPr>
          <p:cNvPicPr>
            <a:picLocks noGrp="1" noChangeAspect="1"/>
          </p:cNvPicPr>
          <p:nvPr>
            <p:ph idx="1"/>
          </p:nvPr>
        </p:nvPicPr>
        <p:blipFill>
          <a:blip r:embed="rId2"/>
          <a:stretch>
            <a:fillRect/>
          </a:stretch>
        </p:blipFill>
        <p:spPr bwMode="auto">
          <a:xfrm>
            <a:off x="2118219" y="1493838"/>
            <a:ext cx="7549162" cy="45259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81268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8E1120F-7869-A7A4-FE7B-24E3B490519E}"/>
              </a:ext>
            </a:extLst>
          </p:cNvPr>
          <p:cNvSpPr>
            <a:spLocks noGrp="1"/>
          </p:cNvSpPr>
          <p:nvPr>
            <p:ph idx="1"/>
          </p:nvPr>
        </p:nvSpPr>
        <p:spPr/>
        <p:txBody>
          <a:bodyPr/>
          <a:lstStyle/>
          <a:p>
            <a:r>
              <a:rPr lang="en-US" dirty="0"/>
              <a:t>Product Management is the process of identifying customer problems, deciding what product to build, guiding its development, and continuously improving it to create value for customers and the business.</a:t>
            </a:r>
          </a:p>
          <a:p>
            <a:endParaRPr lang="en-US" dirty="0"/>
          </a:p>
          <a:p>
            <a:r>
              <a:rPr lang="en-US" dirty="0"/>
              <a:t>It focuses on answering four important questions:</a:t>
            </a:r>
          </a:p>
          <a:p>
            <a:pPr>
              <a:buFont typeface="+mj-lt"/>
              <a:buAutoNum type="arabicPeriod"/>
            </a:pPr>
            <a:r>
              <a:rPr lang="en-US" b="1" dirty="0"/>
              <a:t>Who</a:t>
            </a:r>
            <a:r>
              <a:rPr lang="en-US" dirty="0"/>
              <a:t> are we building for? </a:t>
            </a:r>
          </a:p>
          <a:p>
            <a:pPr>
              <a:buFont typeface="+mj-lt"/>
              <a:buAutoNum type="arabicPeriod"/>
            </a:pPr>
            <a:r>
              <a:rPr lang="en-US" b="1" dirty="0"/>
              <a:t>What</a:t>
            </a:r>
            <a:r>
              <a:rPr lang="en-US" dirty="0"/>
              <a:t> should we build? </a:t>
            </a:r>
          </a:p>
          <a:p>
            <a:pPr>
              <a:buFont typeface="+mj-lt"/>
              <a:buAutoNum type="arabicPeriod"/>
            </a:pPr>
            <a:r>
              <a:rPr lang="en-US" b="1" dirty="0"/>
              <a:t>Why</a:t>
            </a:r>
            <a:r>
              <a:rPr lang="en-US" dirty="0"/>
              <a:t> should we build it? </a:t>
            </a:r>
          </a:p>
          <a:p>
            <a:pPr>
              <a:buFont typeface="+mj-lt"/>
              <a:buAutoNum type="arabicPeriod"/>
            </a:pPr>
            <a:r>
              <a:rPr lang="en-US" b="1" dirty="0"/>
              <a:t>How do we know it is successful?</a:t>
            </a:r>
            <a:endParaRPr lang="en-US" dirty="0"/>
          </a:p>
          <a:p>
            <a:endParaRPr lang="en-IN" dirty="0"/>
          </a:p>
        </p:txBody>
      </p:sp>
      <p:sp>
        <p:nvSpPr>
          <p:cNvPr id="3" name="Content Placeholder 2">
            <a:extLst>
              <a:ext uri="{FF2B5EF4-FFF2-40B4-BE49-F238E27FC236}">
                <a16:creationId xmlns:a16="http://schemas.microsoft.com/office/drawing/2014/main" id="{245A42B1-8D1F-085A-2EAF-07B10E02201E}"/>
              </a:ext>
            </a:extLst>
          </p:cNvPr>
          <p:cNvSpPr>
            <a:spLocks noGrp="1"/>
          </p:cNvSpPr>
          <p:nvPr>
            <p:ph sz="quarter" idx="10"/>
          </p:nvPr>
        </p:nvSpPr>
        <p:spPr/>
        <p:txBody>
          <a:bodyPr/>
          <a:lstStyle/>
          <a:p>
            <a:r>
              <a:rPr lang="en-IN" dirty="0"/>
              <a:t>What is Product Management?</a:t>
            </a:r>
          </a:p>
        </p:txBody>
      </p:sp>
    </p:spTree>
    <p:extLst>
      <p:ext uri="{BB962C8B-B14F-4D97-AF65-F5344CB8AC3E}">
        <p14:creationId xmlns:p14="http://schemas.microsoft.com/office/powerpoint/2010/main" val="36879740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wrap="square"/>
          <a:lstStyle/>
          <a:p>
            <a:r>
              <a:rPr sz="2600" b="1">
                <a:solidFill>
                  <a:srgbClr val="003352"/>
                </a:solidFill>
                <a:latin typeface="Century Gothic"/>
              </a:rPr>
              <a:t>The four questions, on products you already use</a:t>
            </a:r>
          </a:p>
        </p:txBody>
      </p:sp>
      <p:sp>
        <p:nvSpPr>
          <p:cNvPr id="4" name="Rounded Rectangle 3"/>
          <p:cNvSpPr/>
          <p:nvPr/>
        </p:nvSpPr>
        <p:spPr>
          <a:xfrm>
            <a:off x="502920" y="1371600"/>
            <a:ext cx="1444752" cy="292608"/>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ctr"/>
            <a:r>
              <a:rPr sz="1000" b="1" i="0">
                <a:solidFill>
                  <a:srgbClr val="003352"/>
                </a:solidFill>
                <a:latin typeface="Century Gothic"/>
              </a:rPr>
              <a:t>EXAMPLE</a:t>
            </a:r>
          </a:p>
        </p:txBody>
      </p:sp>
      <p:sp>
        <p:nvSpPr>
          <p:cNvPr id="5" name="Rounded Rectangle 4"/>
          <p:cNvSpPr/>
          <p:nvPr/>
        </p:nvSpPr>
        <p:spPr>
          <a:xfrm>
            <a:off x="502920" y="1874519"/>
            <a:ext cx="3611880" cy="3291840"/>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ounded Rectangle 5"/>
          <p:cNvSpPr/>
          <p:nvPr/>
        </p:nvSpPr>
        <p:spPr>
          <a:xfrm>
            <a:off x="502920" y="1874519"/>
            <a:ext cx="3611880" cy="475488"/>
          </a:xfrm>
          <a:prstGeom prst="roundRect">
            <a:avLst>
              <a:gd name="adj" fmla="val 14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0" rIns="128016" bIns="0" rtlCol="0" anchor="ctr"/>
          <a:lstStyle/>
          <a:p>
            <a:r>
              <a:rPr sz="1500" b="1" i="0">
                <a:solidFill>
                  <a:srgbClr val="FFFFFF"/>
                </a:solidFill>
                <a:latin typeface="Century Gothic"/>
              </a:rPr>
              <a:t>Uber</a:t>
            </a:r>
          </a:p>
        </p:txBody>
      </p:sp>
      <p:sp>
        <p:nvSpPr>
          <p:cNvPr id="7" name="TextBox 6"/>
          <p:cNvSpPr txBox="1"/>
          <p:nvPr/>
        </p:nvSpPr>
        <p:spPr>
          <a:xfrm>
            <a:off x="685800" y="2496312"/>
            <a:ext cx="3246120" cy="2542032"/>
          </a:xfrm>
          <a:prstGeom prst="rect">
            <a:avLst/>
          </a:prstGeom>
          <a:noFill/>
        </p:spPr>
        <p:txBody>
          <a:bodyPr wrap="square" lIns="0" tIns="0" rIns="0" bIns="0" anchor="t">
            <a:spAutoFit/>
          </a:bodyPr>
          <a:lstStyle/>
          <a:p>
            <a:pPr algn="l">
              <a:spcBef>
                <a:spcPts val="0"/>
              </a:spcBef>
              <a:spcAft>
                <a:spcPts val="100"/>
              </a:spcAft>
            </a:pPr>
            <a:r>
              <a:rPr sz="1000" b="1" i="0">
                <a:solidFill>
                  <a:srgbClr val="536B7A"/>
                </a:solidFill>
                <a:latin typeface="Century Gothic"/>
              </a:rPr>
              <a:t>WHO</a:t>
            </a:r>
          </a:p>
          <a:p>
            <a:pPr algn="l">
              <a:spcBef>
                <a:spcPts val="0"/>
              </a:spcBef>
              <a:spcAft>
                <a:spcPts val="0"/>
              </a:spcAft>
            </a:pPr>
            <a:r>
              <a:rPr sz="1200" b="0" i="0">
                <a:solidFill>
                  <a:srgbClr val="003352"/>
                </a:solidFill>
                <a:latin typeface="Century Gothic"/>
              </a:rPr>
              <a:t>People who cannot reliably hail a cab, and cannot tell if one is coming.</a:t>
            </a:r>
          </a:p>
          <a:p>
            <a:pPr algn="l">
              <a:spcBef>
                <a:spcPts val="800"/>
              </a:spcBef>
              <a:spcAft>
                <a:spcPts val="100"/>
              </a:spcAft>
            </a:pPr>
            <a:r>
              <a:rPr sz="1000" b="1" i="0">
                <a:solidFill>
                  <a:srgbClr val="536B7A"/>
                </a:solidFill>
                <a:latin typeface="Century Gothic"/>
              </a:rPr>
              <a:t>WHAT</a:t>
            </a:r>
          </a:p>
          <a:p>
            <a:pPr algn="l">
              <a:spcBef>
                <a:spcPts val="0"/>
              </a:spcBef>
              <a:spcAft>
                <a:spcPts val="0"/>
              </a:spcAft>
            </a:pPr>
            <a:r>
              <a:rPr sz="1200" b="0" i="0">
                <a:solidFill>
                  <a:srgbClr val="003352"/>
                </a:solidFill>
                <a:latin typeface="Century Gothic"/>
              </a:rPr>
              <a:t>Tap to ride. Price agreed up front, driver visible on a map.</a:t>
            </a:r>
          </a:p>
          <a:p>
            <a:pPr algn="l">
              <a:spcBef>
                <a:spcPts val="800"/>
              </a:spcBef>
              <a:spcAft>
                <a:spcPts val="100"/>
              </a:spcAft>
            </a:pPr>
            <a:r>
              <a:rPr sz="1000" b="1" i="0">
                <a:solidFill>
                  <a:srgbClr val="536B7A"/>
                </a:solidFill>
                <a:latin typeface="Century Gothic"/>
              </a:rPr>
              <a:t>WHY</a:t>
            </a:r>
          </a:p>
          <a:p>
            <a:pPr algn="l">
              <a:spcBef>
                <a:spcPts val="0"/>
              </a:spcBef>
              <a:spcAft>
                <a:spcPts val="0"/>
              </a:spcAft>
            </a:pPr>
            <a:r>
              <a:rPr sz="1200" b="0" i="0">
                <a:solidFill>
                  <a:srgbClr val="003352"/>
                </a:solidFill>
                <a:latin typeface="Century Gothic"/>
              </a:rPr>
              <a:t>Removes the haggling, the waiting and the cash.</a:t>
            </a:r>
          </a:p>
          <a:p>
            <a:pPr algn="l">
              <a:spcBef>
                <a:spcPts val="800"/>
              </a:spcBef>
              <a:spcAft>
                <a:spcPts val="100"/>
              </a:spcAft>
            </a:pPr>
            <a:r>
              <a:rPr sz="1000" b="1" i="0">
                <a:solidFill>
                  <a:srgbClr val="536B7A"/>
                </a:solidFill>
                <a:latin typeface="Century Gothic"/>
              </a:rPr>
              <a:t>HOW MEASURED</a:t>
            </a:r>
          </a:p>
          <a:p>
            <a:pPr algn="l">
              <a:spcBef>
                <a:spcPts val="0"/>
              </a:spcBef>
              <a:spcAft>
                <a:spcPts val="0"/>
              </a:spcAft>
            </a:pPr>
            <a:r>
              <a:rPr sz="1200" b="0" i="0">
                <a:solidFill>
                  <a:srgbClr val="003352"/>
                </a:solidFill>
                <a:latin typeface="Century Gothic"/>
              </a:rPr>
              <a:t>Completed trips, ETA accuracy, cancellation rate.</a:t>
            </a:r>
          </a:p>
        </p:txBody>
      </p:sp>
      <p:sp>
        <p:nvSpPr>
          <p:cNvPr id="8" name="Rounded Rectangle 7"/>
          <p:cNvSpPr/>
          <p:nvPr/>
        </p:nvSpPr>
        <p:spPr>
          <a:xfrm>
            <a:off x="4297680" y="1874519"/>
            <a:ext cx="3611880" cy="3291840"/>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ounded Rectangle 8"/>
          <p:cNvSpPr/>
          <p:nvPr/>
        </p:nvSpPr>
        <p:spPr>
          <a:xfrm>
            <a:off x="4297680" y="1874519"/>
            <a:ext cx="3611880" cy="475488"/>
          </a:xfrm>
          <a:prstGeom prst="roundRect">
            <a:avLst>
              <a:gd name="adj" fmla="val 14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0" rIns="128016" bIns="0" rtlCol="0" anchor="ctr"/>
          <a:lstStyle/>
          <a:p>
            <a:r>
              <a:rPr sz="1500" b="1" i="0">
                <a:solidFill>
                  <a:srgbClr val="FFFFFF"/>
                </a:solidFill>
                <a:latin typeface="Century Gothic"/>
              </a:rPr>
              <a:t>Duolingo</a:t>
            </a:r>
          </a:p>
        </p:txBody>
      </p:sp>
      <p:sp>
        <p:nvSpPr>
          <p:cNvPr id="10" name="TextBox 9"/>
          <p:cNvSpPr txBox="1"/>
          <p:nvPr/>
        </p:nvSpPr>
        <p:spPr>
          <a:xfrm>
            <a:off x="4480560" y="2496312"/>
            <a:ext cx="3246120" cy="2542032"/>
          </a:xfrm>
          <a:prstGeom prst="rect">
            <a:avLst/>
          </a:prstGeom>
          <a:noFill/>
        </p:spPr>
        <p:txBody>
          <a:bodyPr wrap="square" lIns="0" tIns="0" rIns="0" bIns="0" anchor="t">
            <a:spAutoFit/>
          </a:bodyPr>
          <a:lstStyle/>
          <a:p>
            <a:pPr algn="l">
              <a:spcBef>
                <a:spcPts val="0"/>
              </a:spcBef>
              <a:spcAft>
                <a:spcPts val="100"/>
              </a:spcAft>
            </a:pPr>
            <a:r>
              <a:rPr sz="1000" b="1" i="0">
                <a:solidFill>
                  <a:srgbClr val="536B7A"/>
                </a:solidFill>
                <a:latin typeface="Century Gothic"/>
              </a:rPr>
              <a:t>WHO</a:t>
            </a:r>
          </a:p>
          <a:p>
            <a:pPr algn="l">
              <a:spcBef>
                <a:spcPts val="0"/>
              </a:spcBef>
              <a:spcAft>
                <a:spcPts val="0"/>
              </a:spcAft>
            </a:pPr>
            <a:r>
              <a:rPr sz="1200" b="0" i="0">
                <a:solidFill>
                  <a:srgbClr val="003352"/>
                </a:solidFill>
                <a:latin typeface="Century Gothic"/>
              </a:rPr>
              <a:t>Casual learners who abandon language apps inside a week.</a:t>
            </a:r>
          </a:p>
          <a:p>
            <a:pPr algn="l">
              <a:spcBef>
                <a:spcPts val="800"/>
              </a:spcBef>
              <a:spcAft>
                <a:spcPts val="100"/>
              </a:spcAft>
            </a:pPr>
            <a:r>
              <a:rPr sz="1000" b="1" i="0">
                <a:solidFill>
                  <a:srgbClr val="536B7A"/>
                </a:solidFill>
                <a:latin typeface="Century Gothic"/>
              </a:rPr>
              <a:t>WHAT</a:t>
            </a:r>
          </a:p>
          <a:p>
            <a:pPr algn="l">
              <a:spcBef>
                <a:spcPts val="0"/>
              </a:spcBef>
              <a:spcAft>
                <a:spcPts val="0"/>
              </a:spcAft>
            </a:pPr>
            <a:r>
              <a:rPr sz="1200" b="0" i="0">
                <a:solidFill>
                  <a:srgbClr val="003352"/>
                </a:solidFill>
                <a:latin typeface="Century Gothic"/>
              </a:rPr>
              <a:t>Five-minute lessons, streaks, reminders, leagues.</a:t>
            </a:r>
          </a:p>
          <a:p>
            <a:pPr algn="l">
              <a:spcBef>
                <a:spcPts val="800"/>
              </a:spcBef>
              <a:spcAft>
                <a:spcPts val="100"/>
              </a:spcAft>
            </a:pPr>
            <a:r>
              <a:rPr sz="1000" b="1" i="0">
                <a:solidFill>
                  <a:srgbClr val="536B7A"/>
                </a:solidFill>
                <a:latin typeface="Century Gothic"/>
              </a:rPr>
              <a:t>WHY</a:t>
            </a:r>
          </a:p>
          <a:p>
            <a:pPr algn="l">
              <a:spcBef>
                <a:spcPts val="0"/>
              </a:spcBef>
              <a:spcAft>
                <a:spcPts val="0"/>
              </a:spcAft>
            </a:pPr>
            <a:r>
              <a:rPr sz="1200" b="0" i="0">
                <a:solidFill>
                  <a:srgbClr val="003352"/>
                </a:solidFill>
                <a:latin typeface="Century Gothic"/>
              </a:rPr>
              <a:t>For a hobby learner, habit beats intensity.</a:t>
            </a:r>
          </a:p>
          <a:p>
            <a:pPr algn="l">
              <a:spcBef>
                <a:spcPts val="800"/>
              </a:spcBef>
              <a:spcAft>
                <a:spcPts val="100"/>
              </a:spcAft>
            </a:pPr>
            <a:r>
              <a:rPr sz="1000" b="1" i="0">
                <a:solidFill>
                  <a:srgbClr val="536B7A"/>
                </a:solidFill>
                <a:latin typeface="Century Gothic"/>
              </a:rPr>
              <a:t>HOW MEASURED</a:t>
            </a:r>
          </a:p>
          <a:p>
            <a:pPr algn="l">
              <a:spcBef>
                <a:spcPts val="0"/>
              </a:spcBef>
              <a:spcAft>
                <a:spcPts val="0"/>
              </a:spcAft>
            </a:pPr>
            <a:r>
              <a:rPr sz="1200" b="0" i="0">
                <a:solidFill>
                  <a:srgbClr val="003352"/>
                </a:solidFill>
                <a:latin typeface="Century Gothic"/>
              </a:rPr>
              <a:t>Day-2 retention, streak length, lessons per day.</a:t>
            </a:r>
          </a:p>
        </p:txBody>
      </p:sp>
      <p:sp>
        <p:nvSpPr>
          <p:cNvPr id="11" name="Rounded Rectangle 10"/>
          <p:cNvSpPr/>
          <p:nvPr/>
        </p:nvSpPr>
        <p:spPr>
          <a:xfrm>
            <a:off x="8092440" y="1874519"/>
            <a:ext cx="3611880" cy="3291840"/>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8092440" y="1874519"/>
            <a:ext cx="3611880" cy="475488"/>
          </a:xfrm>
          <a:prstGeom prst="roundRect">
            <a:avLst>
              <a:gd name="adj" fmla="val 14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0" rIns="128016" bIns="0" rtlCol="0" anchor="ctr"/>
          <a:lstStyle/>
          <a:p>
            <a:r>
              <a:rPr sz="1500" b="1" i="0">
                <a:solidFill>
                  <a:srgbClr val="FFFFFF"/>
                </a:solidFill>
                <a:latin typeface="Century Gothic"/>
              </a:rPr>
              <a:t>Figma</a:t>
            </a:r>
          </a:p>
        </p:txBody>
      </p:sp>
      <p:sp>
        <p:nvSpPr>
          <p:cNvPr id="13" name="TextBox 12"/>
          <p:cNvSpPr txBox="1"/>
          <p:nvPr/>
        </p:nvSpPr>
        <p:spPr>
          <a:xfrm>
            <a:off x="8275320" y="2496312"/>
            <a:ext cx="3246120" cy="2542032"/>
          </a:xfrm>
          <a:prstGeom prst="rect">
            <a:avLst/>
          </a:prstGeom>
          <a:noFill/>
        </p:spPr>
        <p:txBody>
          <a:bodyPr wrap="square" lIns="0" tIns="0" rIns="0" bIns="0" anchor="t">
            <a:spAutoFit/>
          </a:bodyPr>
          <a:lstStyle/>
          <a:p>
            <a:pPr algn="l">
              <a:spcBef>
                <a:spcPts val="0"/>
              </a:spcBef>
              <a:spcAft>
                <a:spcPts val="100"/>
              </a:spcAft>
            </a:pPr>
            <a:r>
              <a:rPr sz="1000" b="1" i="0">
                <a:solidFill>
                  <a:srgbClr val="536B7A"/>
                </a:solidFill>
                <a:latin typeface="Century Gothic"/>
              </a:rPr>
              <a:t>WHO</a:t>
            </a:r>
          </a:p>
          <a:p>
            <a:pPr algn="l">
              <a:spcBef>
                <a:spcPts val="0"/>
              </a:spcBef>
              <a:spcAft>
                <a:spcPts val="0"/>
              </a:spcAft>
            </a:pPr>
            <a:r>
              <a:rPr sz="1200" b="0" i="0">
                <a:solidFill>
                  <a:srgbClr val="003352"/>
                </a:solidFill>
                <a:latin typeface="Century Gothic"/>
              </a:rPr>
              <a:t>Design teams emailing files named final_v3_FINAL.</a:t>
            </a:r>
          </a:p>
          <a:p>
            <a:pPr algn="l">
              <a:spcBef>
                <a:spcPts val="800"/>
              </a:spcBef>
              <a:spcAft>
                <a:spcPts val="100"/>
              </a:spcAft>
            </a:pPr>
            <a:r>
              <a:rPr sz="1000" b="1" i="0">
                <a:solidFill>
                  <a:srgbClr val="536B7A"/>
                </a:solidFill>
                <a:latin typeface="Century Gothic"/>
              </a:rPr>
              <a:t>WHAT</a:t>
            </a:r>
          </a:p>
          <a:p>
            <a:pPr algn="l">
              <a:spcBef>
                <a:spcPts val="0"/>
              </a:spcBef>
              <a:spcAft>
                <a:spcPts val="0"/>
              </a:spcAft>
            </a:pPr>
            <a:r>
              <a:rPr sz="1200" b="0" i="0">
                <a:solidFill>
                  <a:srgbClr val="003352"/>
                </a:solidFill>
                <a:latin typeface="Century Gothic"/>
              </a:rPr>
              <a:t>Design in the browser, several people in one file at once.</a:t>
            </a:r>
          </a:p>
          <a:p>
            <a:pPr algn="l">
              <a:spcBef>
                <a:spcPts val="800"/>
              </a:spcBef>
              <a:spcAft>
                <a:spcPts val="100"/>
              </a:spcAft>
            </a:pPr>
            <a:r>
              <a:rPr sz="1000" b="1" i="0">
                <a:solidFill>
                  <a:srgbClr val="536B7A"/>
                </a:solidFill>
                <a:latin typeface="Century Gothic"/>
              </a:rPr>
              <a:t>WHY</a:t>
            </a:r>
          </a:p>
          <a:p>
            <a:pPr algn="l">
              <a:spcBef>
                <a:spcPts val="0"/>
              </a:spcBef>
              <a:spcAft>
                <a:spcPts val="0"/>
              </a:spcAft>
            </a:pPr>
            <a:r>
              <a:rPr sz="1200" b="0" i="0">
                <a:solidFill>
                  <a:srgbClr val="003352"/>
                </a:solidFill>
                <a:latin typeface="Century Gothic"/>
              </a:rPr>
              <a:t>Kills version conflicts and the handoff gap to engineering.</a:t>
            </a:r>
          </a:p>
          <a:p>
            <a:pPr algn="l">
              <a:spcBef>
                <a:spcPts val="800"/>
              </a:spcBef>
              <a:spcAft>
                <a:spcPts val="100"/>
              </a:spcAft>
            </a:pPr>
            <a:r>
              <a:rPr sz="1000" b="1" i="0">
                <a:solidFill>
                  <a:srgbClr val="536B7A"/>
                </a:solidFill>
                <a:latin typeface="Century Gothic"/>
              </a:rPr>
              <a:t>HOW MEASURED</a:t>
            </a:r>
          </a:p>
          <a:p>
            <a:pPr algn="l">
              <a:spcBef>
                <a:spcPts val="0"/>
              </a:spcBef>
              <a:spcAft>
                <a:spcPts val="0"/>
              </a:spcAft>
            </a:pPr>
            <a:r>
              <a:rPr sz="1200" b="0" i="0">
                <a:solidFill>
                  <a:srgbClr val="003352"/>
                </a:solidFill>
                <a:latin typeface="Century Gothic"/>
              </a:rPr>
              <a:t>Weekly active editors, files with 2+ collaborators.</a:t>
            </a:r>
          </a:p>
        </p:txBody>
      </p:sp>
      <p:sp>
        <p:nvSpPr>
          <p:cNvPr id="14" name="Rounded Rectangle 13"/>
          <p:cNvSpPr/>
          <p:nvPr/>
        </p:nvSpPr>
        <p:spPr>
          <a:xfrm>
            <a:off x="502920" y="5486400"/>
            <a:ext cx="11201400" cy="658368"/>
          </a:xfrm>
          <a:prstGeom prst="roundRect">
            <a:avLst>
              <a:gd name="adj" fmla="val 10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54864" rIns="201168" bIns="54864" rtlCol="0" anchor="ctr"/>
          <a:lstStyle/>
          <a:p>
            <a:r>
              <a:rPr sz="1300" b="1" i="0">
                <a:solidFill>
                  <a:srgbClr val="FFFFFF"/>
                </a:solidFill>
                <a:latin typeface="Century Gothic"/>
              </a:rPr>
              <a:t>Now do it for the product you are working on this week. If you cannot answer “who” in one sentence without saying “users”, that is your first finding.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35794C7-B8FD-4104-765C-2C6325087F34}"/>
              </a:ext>
            </a:extLst>
          </p:cNvPr>
          <p:cNvSpPr>
            <a:spLocks noGrp="1"/>
          </p:cNvSpPr>
          <p:nvPr>
            <p:ph idx="1"/>
          </p:nvPr>
        </p:nvSpPr>
        <p:spPr/>
        <p:txBody>
          <a:bodyPr/>
          <a:lstStyle/>
          <a:p>
            <a:r>
              <a:rPr lang="en-US" dirty="0"/>
              <a:t>The </a:t>
            </a:r>
            <a:r>
              <a:rPr lang="en-US" b="1" dirty="0"/>
              <a:t>Product Development Lifecycle (PDLC)</a:t>
            </a:r>
            <a:r>
              <a:rPr lang="en-US" dirty="0"/>
              <a:t> is the end-to-end process of transforming a customer problem or market opportunity into a successful product and continuously improving it based on customer feedback and business outcomes.</a:t>
            </a:r>
          </a:p>
          <a:p>
            <a:endParaRPr lang="en-IN" dirty="0"/>
          </a:p>
        </p:txBody>
      </p:sp>
      <p:sp>
        <p:nvSpPr>
          <p:cNvPr id="3" name="Content Placeholder 2">
            <a:extLst>
              <a:ext uri="{FF2B5EF4-FFF2-40B4-BE49-F238E27FC236}">
                <a16:creationId xmlns:a16="http://schemas.microsoft.com/office/drawing/2014/main" id="{D2306C9C-08CE-4E4B-C510-5D58F357BFEC}"/>
              </a:ext>
            </a:extLst>
          </p:cNvPr>
          <p:cNvSpPr>
            <a:spLocks noGrp="1"/>
          </p:cNvSpPr>
          <p:nvPr>
            <p:ph sz="quarter" idx="10"/>
          </p:nvPr>
        </p:nvSpPr>
        <p:spPr/>
        <p:txBody>
          <a:bodyPr/>
          <a:lstStyle/>
          <a:p>
            <a:r>
              <a:rPr lang="en-IN" b="1" dirty="0"/>
              <a:t>Product Development Lifecycle</a:t>
            </a:r>
          </a:p>
          <a:p>
            <a:endParaRPr lang="en-IN" dirty="0"/>
          </a:p>
        </p:txBody>
      </p:sp>
    </p:spTree>
    <p:extLst>
      <p:ext uri="{BB962C8B-B14F-4D97-AF65-F5344CB8AC3E}">
        <p14:creationId xmlns:p14="http://schemas.microsoft.com/office/powerpoint/2010/main" val="20622448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09265B2-14FC-2AF0-A331-1A0E62EE1F78}"/>
              </a:ext>
            </a:extLst>
          </p:cNvPr>
          <p:cNvSpPr>
            <a:spLocks noGrp="1"/>
          </p:cNvSpPr>
          <p:nvPr>
            <p:ph idx="1"/>
          </p:nvPr>
        </p:nvSpPr>
        <p:spPr/>
        <p:txBody>
          <a:bodyPr>
            <a:normAutofit fontScale="55000" lnSpcReduction="20000"/>
          </a:bodyPr>
          <a:lstStyle/>
          <a:p>
            <a:r>
              <a:rPr lang="en-IN" dirty="0"/>
              <a:t>Customer Problem</a:t>
            </a:r>
          </a:p>
          <a:p>
            <a:r>
              <a:rPr lang="en-IN" dirty="0"/>
              <a:t>        ↓</a:t>
            </a:r>
          </a:p>
          <a:p>
            <a:r>
              <a:rPr lang="en-IN" dirty="0"/>
              <a:t>Market Research</a:t>
            </a:r>
          </a:p>
          <a:p>
            <a:r>
              <a:rPr lang="en-IN" dirty="0"/>
              <a:t>        ↓</a:t>
            </a:r>
          </a:p>
          <a:p>
            <a:r>
              <a:rPr lang="en-IN" dirty="0"/>
              <a:t>Idea Generation</a:t>
            </a:r>
          </a:p>
          <a:p>
            <a:r>
              <a:rPr lang="en-IN" dirty="0"/>
              <a:t>        ↓</a:t>
            </a:r>
          </a:p>
          <a:p>
            <a:r>
              <a:rPr lang="en-IN" dirty="0"/>
              <a:t>Prioritize Features</a:t>
            </a:r>
          </a:p>
          <a:p>
            <a:r>
              <a:rPr lang="en-IN" dirty="0"/>
              <a:t>        ↓</a:t>
            </a:r>
          </a:p>
          <a:p>
            <a:r>
              <a:rPr lang="en-IN" dirty="0"/>
              <a:t>Design Solution</a:t>
            </a:r>
          </a:p>
          <a:p>
            <a:r>
              <a:rPr lang="en-IN" dirty="0"/>
              <a:t>        ↓</a:t>
            </a:r>
          </a:p>
          <a:p>
            <a:r>
              <a:rPr lang="en-IN" dirty="0"/>
              <a:t>Development</a:t>
            </a:r>
          </a:p>
          <a:p>
            <a:r>
              <a:rPr lang="en-IN" dirty="0"/>
              <a:t>        ↓</a:t>
            </a:r>
          </a:p>
          <a:p>
            <a:r>
              <a:rPr lang="en-IN" dirty="0"/>
              <a:t>Testing</a:t>
            </a:r>
          </a:p>
          <a:p>
            <a:r>
              <a:rPr lang="en-IN" dirty="0"/>
              <a:t>        ↓</a:t>
            </a:r>
          </a:p>
          <a:p>
            <a:r>
              <a:rPr lang="en-IN" dirty="0"/>
              <a:t>Release</a:t>
            </a:r>
          </a:p>
          <a:p>
            <a:r>
              <a:rPr lang="en-IN" dirty="0"/>
              <a:t>        ↓</a:t>
            </a:r>
          </a:p>
          <a:p>
            <a:r>
              <a:rPr lang="en-IN" dirty="0"/>
              <a:t>Customer Feedback</a:t>
            </a:r>
          </a:p>
          <a:p>
            <a:r>
              <a:rPr lang="en-IN" dirty="0"/>
              <a:t>        ↓</a:t>
            </a:r>
          </a:p>
          <a:p>
            <a:r>
              <a:rPr lang="en-IN" dirty="0"/>
              <a:t>Measure Success</a:t>
            </a:r>
          </a:p>
          <a:p>
            <a:r>
              <a:rPr lang="en-IN" dirty="0"/>
              <a:t>        ↓</a:t>
            </a:r>
          </a:p>
          <a:p>
            <a:r>
              <a:rPr lang="en-IN" dirty="0"/>
              <a:t>Continuous Improvement</a:t>
            </a:r>
          </a:p>
        </p:txBody>
      </p:sp>
      <p:sp>
        <p:nvSpPr>
          <p:cNvPr id="4" name="Rectangle 1">
            <a:extLst>
              <a:ext uri="{FF2B5EF4-FFF2-40B4-BE49-F238E27FC236}">
                <a16:creationId xmlns:a16="http://schemas.microsoft.com/office/drawing/2014/main" id="{25012D7C-EB8A-CD74-6C37-4E9C2ADCE8B9}"/>
              </a:ext>
            </a:extLst>
          </p:cNvPr>
          <p:cNvSpPr>
            <a:spLocks noGrp="1" noChangeArrowheads="1"/>
          </p:cNvSpPr>
          <p:nvPr>
            <p:ph sz="quarter" idx="10"/>
          </p:nvPr>
        </p:nvSpPr>
        <p:spPr bwMode="auto">
          <a:xfrm>
            <a:off x="406400" y="262235"/>
            <a:ext cx="737253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The Product Development Lifecycle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827406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12739D-6706-28E9-2832-4080819564C9}"/>
              </a:ext>
            </a:extLst>
          </p:cNvPr>
          <p:cNvSpPr>
            <a:spLocks noGrp="1"/>
          </p:cNvSpPr>
          <p:nvPr>
            <p:ph idx="1"/>
          </p:nvPr>
        </p:nvSpPr>
        <p:spPr/>
        <p:txBody>
          <a:bodyPr/>
          <a:lstStyle/>
          <a:p>
            <a:r>
              <a:rPr lang="en-US" dirty="0"/>
              <a:t>Everything starts with a problem—not a feature.</a:t>
            </a:r>
          </a:p>
          <a:p>
            <a:endParaRPr lang="en-US" dirty="0"/>
          </a:p>
          <a:p>
            <a:r>
              <a:rPr lang="en-US" b="1" dirty="0"/>
              <a:t>Questions to Ask</a:t>
            </a:r>
          </a:p>
          <a:p>
            <a:pPr>
              <a:buFont typeface="Arial" panose="020B0604020202020204" pitchFamily="34" charset="0"/>
              <a:buChar char="•"/>
            </a:pPr>
            <a:r>
              <a:rPr lang="en-US" dirty="0"/>
              <a:t>What problem are customers facing? </a:t>
            </a:r>
          </a:p>
          <a:p>
            <a:pPr>
              <a:buFont typeface="Arial" panose="020B0604020202020204" pitchFamily="34" charset="0"/>
              <a:buChar char="•"/>
            </a:pPr>
            <a:r>
              <a:rPr lang="en-US" dirty="0"/>
              <a:t>How often does it occur? </a:t>
            </a:r>
          </a:p>
          <a:p>
            <a:pPr>
              <a:buFont typeface="Arial" panose="020B0604020202020204" pitchFamily="34" charset="0"/>
              <a:buChar char="•"/>
            </a:pPr>
            <a:r>
              <a:rPr lang="en-US" dirty="0"/>
              <a:t>How severe is the problem? </a:t>
            </a:r>
          </a:p>
          <a:p>
            <a:pPr>
              <a:buFont typeface="Arial" panose="020B0604020202020204" pitchFamily="34" charset="0"/>
              <a:buChar char="•"/>
            </a:pPr>
            <a:r>
              <a:rPr lang="en-US" dirty="0"/>
              <a:t>Is it worth solving?</a:t>
            </a:r>
          </a:p>
          <a:p>
            <a:endParaRPr lang="en-IN" dirty="0"/>
          </a:p>
        </p:txBody>
      </p:sp>
      <p:sp>
        <p:nvSpPr>
          <p:cNvPr id="3" name="Content Placeholder 2">
            <a:extLst>
              <a:ext uri="{FF2B5EF4-FFF2-40B4-BE49-F238E27FC236}">
                <a16:creationId xmlns:a16="http://schemas.microsoft.com/office/drawing/2014/main" id="{83B85128-1596-6865-1F84-5B10BF9D4397}"/>
              </a:ext>
            </a:extLst>
          </p:cNvPr>
          <p:cNvSpPr>
            <a:spLocks noGrp="1"/>
          </p:cNvSpPr>
          <p:nvPr>
            <p:ph sz="quarter" idx="10"/>
          </p:nvPr>
        </p:nvSpPr>
        <p:spPr/>
        <p:txBody>
          <a:bodyPr/>
          <a:lstStyle/>
          <a:p>
            <a:r>
              <a:rPr lang="en-IN" dirty="0"/>
              <a:t>Step 1 : Identify the Customer Problem</a:t>
            </a:r>
          </a:p>
        </p:txBody>
      </p:sp>
    </p:spTree>
    <p:extLst>
      <p:ext uri="{BB962C8B-B14F-4D97-AF65-F5344CB8AC3E}">
        <p14:creationId xmlns:p14="http://schemas.microsoft.com/office/powerpoint/2010/main" val="1806107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96165DC-2C4E-324C-4759-A67FD96DFF94}"/>
              </a:ext>
            </a:extLst>
          </p:cNvPr>
          <p:cNvSpPr>
            <a:spLocks noGrp="1"/>
          </p:cNvSpPr>
          <p:nvPr>
            <p:ph idx="1"/>
          </p:nvPr>
        </p:nvSpPr>
        <p:spPr/>
        <p:txBody>
          <a:bodyPr/>
          <a:lstStyle/>
          <a:p>
            <a:r>
              <a:rPr lang="en-US" dirty="0"/>
              <a:t>Once the problem is identified, validate that it is real and worth solving.</a:t>
            </a:r>
          </a:p>
          <a:p>
            <a:endParaRPr lang="en-IN" dirty="0"/>
          </a:p>
          <a:p>
            <a:r>
              <a:rPr lang="en-US" b="1" dirty="0"/>
              <a:t>Activities</a:t>
            </a:r>
          </a:p>
          <a:p>
            <a:pPr>
              <a:buFont typeface="Arial" panose="020B0604020202020204" pitchFamily="34" charset="0"/>
              <a:buChar char="•"/>
            </a:pPr>
            <a:r>
              <a:rPr lang="en-US" dirty="0"/>
              <a:t>Customer interviews </a:t>
            </a:r>
          </a:p>
          <a:p>
            <a:pPr>
              <a:buFont typeface="Arial" panose="020B0604020202020204" pitchFamily="34" charset="0"/>
              <a:buChar char="•"/>
            </a:pPr>
            <a:r>
              <a:rPr lang="en-US" dirty="0"/>
              <a:t>Surveys </a:t>
            </a:r>
          </a:p>
          <a:p>
            <a:pPr>
              <a:buFont typeface="Arial" panose="020B0604020202020204" pitchFamily="34" charset="0"/>
              <a:buChar char="•"/>
            </a:pPr>
            <a:r>
              <a:rPr lang="en-US" dirty="0"/>
              <a:t>Competitor analysis </a:t>
            </a:r>
          </a:p>
          <a:p>
            <a:pPr>
              <a:buFont typeface="Arial" panose="020B0604020202020204" pitchFamily="34" charset="0"/>
              <a:buChar char="•"/>
            </a:pPr>
            <a:r>
              <a:rPr lang="en-US" dirty="0"/>
              <a:t>Usage analytics </a:t>
            </a:r>
          </a:p>
          <a:p>
            <a:pPr>
              <a:buFont typeface="Arial" panose="020B0604020202020204" pitchFamily="34" charset="0"/>
              <a:buChar char="•"/>
            </a:pPr>
            <a:r>
              <a:rPr lang="en-US" dirty="0"/>
              <a:t>Support ticket analysis</a:t>
            </a:r>
          </a:p>
          <a:p>
            <a:endParaRPr lang="en-IN" dirty="0"/>
          </a:p>
        </p:txBody>
      </p:sp>
      <p:sp>
        <p:nvSpPr>
          <p:cNvPr id="3" name="Content Placeholder 2">
            <a:extLst>
              <a:ext uri="{FF2B5EF4-FFF2-40B4-BE49-F238E27FC236}">
                <a16:creationId xmlns:a16="http://schemas.microsoft.com/office/drawing/2014/main" id="{42243E1A-A5A0-369A-D47A-3BE3355FD329}"/>
              </a:ext>
            </a:extLst>
          </p:cNvPr>
          <p:cNvSpPr>
            <a:spLocks noGrp="1"/>
          </p:cNvSpPr>
          <p:nvPr>
            <p:ph sz="quarter" idx="10"/>
          </p:nvPr>
        </p:nvSpPr>
        <p:spPr/>
        <p:txBody>
          <a:bodyPr/>
          <a:lstStyle/>
          <a:p>
            <a:r>
              <a:rPr lang="en-IN" b="1" dirty="0"/>
              <a:t>Step 2: Market Research</a:t>
            </a:r>
          </a:p>
          <a:p>
            <a:endParaRPr lang="en-IN" dirty="0"/>
          </a:p>
        </p:txBody>
      </p:sp>
    </p:spTree>
    <p:extLst>
      <p:ext uri="{BB962C8B-B14F-4D97-AF65-F5344CB8AC3E}">
        <p14:creationId xmlns:p14="http://schemas.microsoft.com/office/powerpoint/2010/main" val="19169153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wrap="square"/>
          <a:lstStyle/>
          <a:p>
            <a:r>
              <a:rPr sz="2600" b="1">
                <a:solidFill>
                  <a:srgbClr val="003352"/>
                </a:solidFill>
                <a:latin typeface="Century Gothic"/>
              </a:rPr>
              <a:t>Where the signal already is</a:t>
            </a:r>
          </a:p>
        </p:txBody>
      </p:sp>
      <p:sp>
        <p:nvSpPr>
          <p:cNvPr id="4" name="Rounded Rectangle 3"/>
          <p:cNvSpPr/>
          <p:nvPr/>
        </p:nvSpPr>
        <p:spPr>
          <a:xfrm>
            <a:off x="502920" y="1371600"/>
            <a:ext cx="3054096" cy="292608"/>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ctr"/>
            <a:r>
              <a:rPr sz="1000" b="1" i="0">
                <a:solidFill>
                  <a:srgbClr val="003352"/>
                </a:solidFill>
                <a:latin typeface="Century Gothic"/>
              </a:rPr>
              <a:t>EXERCISE  ·  4 MIN</a:t>
            </a:r>
          </a:p>
        </p:txBody>
      </p:sp>
      <p:sp>
        <p:nvSpPr>
          <p:cNvPr id="5" name="Rounded Rectangle 4"/>
          <p:cNvSpPr/>
          <p:nvPr/>
        </p:nvSpPr>
        <p:spPr>
          <a:xfrm>
            <a:off x="502920" y="1874519"/>
            <a:ext cx="5532120" cy="3246120"/>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ounded Rectangle 5"/>
          <p:cNvSpPr/>
          <p:nvPr/>
        </p:nvSpPr>
        <p:spPr>
          <a:xfrm>
            <a:off x="502920" y="1874519"/>
            <a:ext cx="5532120" cy="475488"/>
          </a:xfrm>
          <a:prstGeom prst="roundRect">
            <a:avLst>
              <a:gd name="adj" fmla="val 14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0" rIns="128016" bIns="0" rtlCol="0" anchor="ctr"/>
          <a:lstStyle/>
          <a:p>
            <a:r>
              <a:rPr sz="1400" b="1" i="0">
                <a:solidFill>
                  <a:srgbClr val="FFFFFF"/>
                </a:solidFill>
                <a:latin typeface="Century Gothic"/>
              </a:rPr>
              <a:t>Research you can do without anyone's permission</a:t>
            </a:r>
          </a:p>
        </p:txBody>
      </p:sp>
      <p:sp>
        <p:nvSpPr>
          <p:cNvPr id="7" name="TextBox 6"/>
          <p:cNvSpPr txBox="1"/>
          <p:nvPr/>
        </p:nvSpPr>
        <p:spPr>
          <a:xfrm>
            <a:off x="685800" y="2496312"/>
            <a:ext cx="5166359" cy="2496312"/>
          </a:xfrm>
          <a:prstGeom prst="rect">
            <a:avLst/>
          </a:prstGeom>
          <a:noFill/>
        </p:spPr>
        <p:txBody>
          <a:bodyPr wrap="square" lIns="0" tIns="0" rIns="0" bIns="0" anchor="t">
            <a:spAutoFit/>
          </a:bodyPr>
          <a:lstStyle/>
          <a:p>
            <a:pPr algn="l">
              <a:spcBef>
                <a:spcPts val="0"/>
              </a:spcBef>
              <a:spcAft>
                <a:spcPts val="100"/>
              </a:spcAft>
            </a:pPr>
            <a:r>
              <a:rPr sz="1200" b="1" i="0">
                <a:solidFill>
                  <a:srgbClr val="003352"/>
                </a:solidFill>
                <a:latin typeface="Century Gothic"/>
              </a:rPr>
              <a:t>Support tickets, grouped by tag</a:t>
            </a:r>
          </a:p>
          <a:p>
            <a:pPr algn="l">
              <a:spcBef>
                <a:spcPts val="0"/>
              </a:spcBef>
              <a:spcAft>
                <a:spcPts val="900"/>
              </a:spcAft>
            </a:pPr>
            <a:r>
              <a:rPr sz="1100" b="0" i="0">
                <a:solidFill>
                  <a:srgbClr val="536B7A"/>
                </a:solidFill>
                <a:latin typeface="Century Gothic"/>
              </a:rPr>
              <a:t>The same complaint, fifty times, already written down.</a:t>
            </a:r>
          </a:p>
          <a:p>
            <a:pPr algn="l">
              <a:spcBef>
                <a:spcPts val="0"/>
              </a:spcBef>
              <a:spcAft>
                <a:spcPts val="100"/>
              </a:spcAft>
            </a:pPr>
            <a:r>
              <a:rPr sz="1200" b="1" i="0">
                <a:solidFill>
                  <a:srgbClr val="003352"/>
                </a:solidFill>
                <a:latin typeface="Century Gothic"/>
              </a:rPr>
              <a:t>Sentry / crash and error logs</a:t>
            </a:r>
          </a:p>
          <a:p>
            <a:pPr algn="l">
              <a:spcBef>
                <a:spcPts val="0"/>
              </a:spcBef>
              <a:spcAft>
                <a:spcPts val="900"/>
              </a:spcAft>
            </a:pPr>
            <a:r>
              <a:rPr sz="1100" b="0" i="0">
                <a:solidFill>
                  <a:srgbClr val="536B7A"/>
                </a:solidFill>
                <a:latin typeface="Century Gothic"/>
              </a:rPr>
              <a:t>Which failure is silent, and how often it fires.</a:t>
            </a:r>
          </a:p>
          <a:p>
            <a:pPr algn="l">
              <a:spcBef>
                <a:spcPts val="0"/>
              </a:spcBef>
              <a:spcAft>
                <a:spcPts val="100"/>
              </a:spcAft>
            </a:pPr>
            <a:r>
              <a:rPr sz="1200" b="1" i="0">
                <a:solidFill>
                  <a:srgbClr val="003352"/>
                </a:solidFill>
                <a:latin typeface="Century Gothic"/>
              </a:rPr>
              <a:t>App store and Play store reviews</a:t>
            </a:r>
          </a:p>
          <a:p>
            <a:pPr algn="l">
              <a:spcBef>
                <a:spcPts val="0"/>
              </a:spcBef>
              <a:spcAft>
                <a:spcPts val="900"/>
              </a:spcAft>
            </a:pPr>
            <a:r>
              <a:rPr sz="1100" b="0" i="0">
                <a:solidFill>
                  <a:srgbClr val="536B7A"/>
                </a:solidFill>
                <a:latin typeface="Century Gothic"/>
              </a:rPr>
              <a:t>Unfiltered, unmoderated, and sorted by anger.</a:t>
            </a:r>
          </a:p>
          <a:p>
            <a:pPr algn="l">
              <a:spcBef>
                <a:spcPts val="0"/>
              </a:spcBef>
              <a:spcAft>
                <a:spcPts val="100"/>
              </a:spcAft>
            </a:pPr>
            <a:r>
              <a:rPr sz="1200" b="1" i="0">
                <a:solidFill>
                  <a:srgbClr val="003352"/>
                </a:solidFill>
                <a:latin typeface="Century Gothic"/>
              </a:rPr>
              <a:t>Funnel analytics</a:t>
            </a:r>
          </a:p>
          <a:p>
            <a:pPr algn="l">
              <a:spcBef>
                <a:spcPts val="0"/>
              </a:spcBef>
              <a:spcAft>
                <a:spcPts val="900"/>
              </a:spcAft>
            </a:pPr>
            <a:r>
              <a:rPr sz="1100" b="0" i="0">
                <a:solidFill>
                  <a:srgbClr val="536B7A"/>
                </a:solidFill>
                <a:latin typeface="Century Gothic"/>
              </a:rPr>
              <a:t>The exact screen where people give up.</a:t>
            </a:r>
          </a:p>
          <a:p>
            <a:pPr algn="l">
              <a:spcBef>
                <a:spcPts val="0"/>
              </a:spcBef>
              <a:spcAft>
                <a:spcPts val="100"/>
              </a:spcAft>
            </a:pPr>
            <a:r>
              <a:rPr sz="1200" b="1" i="0">
                <a:solidFill>
                  <a:srgbClr val="003352"/>
                </a:solidFill>
                <a:latin typeface="Century Gothic"/>
              </a:rPr>
              <a:t>Lost-deal notes from sales</a:t>
            </a:r>
          </a:p>
          <a:p>
            <a:pPr algn="l">
              <a:spcBef>
                <a:spcPts val="0"/>
              </a:spcBef>
              <a:spcAft>
                <a:spcPts val="0"/>
              </a:spcAft>
            </a:pPr>
            <a:r>
              <a:rPr sz="1100" b="0" i="0">
                <a:solidFill>
                  <a:srgbClr val="536B7A"/>
                </a:solidFill>
                <a:latin typeface="Century Gothic"/>
              </a:rPr>
              <a:t>The reason someone chose a competitor, in their words.</a:t>
            </a:r>
          </a:p>
        </p:txBody>
      </p:sp>
      <p:sp>
        <p:nvSpPr>
          <p:cNvPr id="8" name="Rounded Rectangle 7"/>
          <p:cNvSpPr/>
          <p:nvPr/>
        </p:nvSpPr>
        <p:spPr>
          <a:xfrm>
            <a:off x="6263640" y="1874519"/>
            <a:ext cx="5440680" cy="3246120"/>
          </a:xfrm>
          <a:prstGeom prst="roundRect">
            <a:avLst>
              <a:gd name="adj" fmla="val 6000"/>
            </a:avLst>
          </a:prstGeom>
          <a:solidFill>
            <a:srgbClr val="E4F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ounded Rectangle 8"/>
          <p:cNvSpPr/>
          <p:nvPr/>
        </p:nvSpPr>
        <p:spPr>
          <a:xfrm>
            <a:off x="6263640" y="1874519"/>
            <a:ext cx="5440680" cy="475488"/>
          </a:xfrm>
          <a:prstGeom prst="roundRect">
            <a:avLst>
              <a:gd name="adj" fmla="val 14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0" rIns="128016" bIns="0" rtlCol="0" anchor="ctr"/>
          <a:lstStyle/>
          <a:p>
            <a:r>
              <a:rPr sz="1400" b="1" i="0">
                <a:solidFill>
                  <a:srgbClr val="003352"/>
                </a:solidFill>
                <a:latin typeface="Century Gothic"/>
              </a:rPr>
              <a:t>Problem or solution? Four minutes, in pairs.</a:t>
            </a:r>
          </a:p>
        </p:txBody>
      </p:sp>
      <p:sp>
        <p:nvSpPr>
          <p:cNvPr id="10" name="TextBox 9"/>
          <p:cNvSpPr txBox="1"/>
          <p:nvPr/>
        </p:nvSpPr>
        <p:spPr>
          <a:xfrm>
            <a:off x="6446520" y="2496312"/>
            <a:ext cx="5074920" cy="2496312"/>
          </a:xfrm>
          <a:prstGeom prst="rect">
            <a:avLst/>
          </a:prstGeom>
          <a:noFill/>
        </p:spPr>
        <p:txBody>
          <a:bodyPr wrap="square" lIns="0" tIns="0" rIns="0" bIns="0" anchor="t">
            <a:spAutoFit/>
          </a:bodyPr>
          <a:lstStyle/>
          <a:p>
            <a:pPr algn="l">
              <a:spcBef>
                <a:spcPts val="0"/>
              </a:spcBef>
              <a:spcAft>
                <a:spcPts val="800"/>
              </a:spcAft>
            </a:pPr>
            <a:r>
              <a:rPr sz="1300" b="0" i="0">
                <a:solidFill>
                  <a:srgbClr val="003352"/>
                </a:solidFill>
                <a:latin typeface="Century Gothic"/>
              </a:rPr>
              <a:t>1.  “Please add a dark mode.”</a:t>
            </a:r>
          </a:p>
          <a:p>
            <a:pPr algn="l">
              <a:spcBef>
                <a:spcPts val="0"/>
              </a:spcBef>
              <a:spcAft>
                <a:spcPts val="800"/>
              </a:spcAft>
            </a:pPr>
            <a:r>
              <a:rPr sz="1300" b="0" i="0">
                <a:solidFill>
                  <a:srgbClr val="003352"/>
                </a:solidFill>
                <a:latin typeface="Century Gothic"/>
              </a:rPr>
              <a:t>2.  “I read this in bed at night and the screen blinds me.”</a:t>
            </a:r>
          </a:p>
          <a:p>
            <a:pPr algn="l">
              <a:spcBef>
                <a:spcPts val="0"/>
              </a:spcBef>
              <a:spcAft>
                <a:spcPts val="800"/>
              </a:spcAft>
            </a:pPr>
            <a:r>
              <a:rPr sz="1300" b="0" i="0">
                <a:solidFill>
                  <a:srgbClr val="003352"/>
                </a:solidFill>
                <a:latin typeface="Century Gothic"/>
              </a:rPr>
              <a:t>3.  “It logged me out again in the middle of checkout.”</a:t>
            </a:r>
          </a:p>
          <a:p>
            <a:pPr algn="l">
              <a:spcBef>
                <a:spcPts val="0"/>
              </a:spcBef>
              <a:spcAft>
                <a:spcPts val="800"/>
              </a:spcAft>
            </a:pPr>
            <a:r>
              <a:rPr sz="1300" b="0" i="0">
                <a:solidFill>
                  <a:srgbClr val="003352"/>
                </a:solidFill>
                <a:latin typeface="Century Gothic"/>
              </a:rPr>
              <a:t>4.  “Give us a bulk upload button.”</a:t>
            </a:r>
          </a:p>
          <a:p>
            <a:pPr algn="l">
              <a:spcBef>
                <a:spcPts val="0"/>
              </a:spcBef>
              <a:spcAft>
                <a:spcPts val="1200"/>
              </a:spcAft>
            </a:pPr>
            <a:r>
              <a:rPr sz="1300" b="0" i="0">
                <a:solidFill>
                  <a:srgbClr val="003352"/>
                </a:solidFill>
                <a:latin typeface="Century Gothic"/>
              </a:rPr>
              <a:t>5.  “It takes my team a full morning to enter 300 rows by hand.”</a:t>
            </a:r>
          </a:p>
          <a:p>
            <a:pPr algn="l">
              <a:spcBef>
                <a:spcPts val="0"/>
              </a:spcBef>
              <a:spcAft>
                <a:spcPts val="400"/>
              </a:spcAft>
            </a:pPr>
            <a:r>
              <a:rPr sz="1000" b="0" i="1">
                <a:solidFill>
                  <a:srgbClr val="536B7A"/>
                </a:solidFill>
                <a:latin typeface="Century Gothic"/>
              </a:rPr>
              <a:t>Illustrative reviews, written for this exercise.</a:t>
            </a:r>
          </a:p>
        </p:txBody>
      </p:sp>
      <p:sp>
        <p:nvSpPr>
          <p:cNvPr id="11" name="Rounded Rectangle 10"/>
          <p:cNvSpPr/>
          <p:nvPr/>
        </p:nvSpPr>
        <p:spPr>
          <a:xfrm>
            <a:off x="502920" y="5486400"/>
            <a:ext cx="11201400" cy="658368"/>
          </a:xfrm>
          <a:prstGeom prst="roundRect">
            <a:avLst>
              <a:gd name="adj" fmla="val 10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54864" rIns="201168" bIns="54864" rtlCol="0" anchor="ctr"/>
          <a:lstStyle/>
          <a:p>
            <a:r>
              <a:rPr sz="1300" b="1" i="0">
                <a:solidFill>
                  <a:srgbClr val="FFFFFF"/>
                </a:solidFill>
                <a:latin typeface="Century Gothic"/>
              </a:rPr>
              <a:t>Customers report solutions, because solutions are easier to describe than pain. Your job is to find the problem hiding underneath — and 2 and 5 are the only two here you can design freely against.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5C35350-43B1-D004-946F-19B12558D6B0}"/>
              </a:ext>
            </a:extLst>
          </p:cNvPr>
          <p:cNvSpPr>
            <a:spLocks noGrp="1"/>
          </p:cNvSpPr>
          <p:nvPr>
            <p:ph idx="1"/>
          </p:nvPr>
        </p:nvSpPr>
        <p:spPr/>
        <p:txBody>
          <a:bodyPr/>
          <a:lstStyle/>
          <a:p>
            <a:r>
              <a:rPr lang="en-US" dirty="0"/>
              <a:t>Brainstorm multiple solutions before choosing one.</a:t>
            </a:r>
          </a:p>
          <a:p>
            <a:endParaRPr lang="en-IN" dirty="0"/>
          </a:p>
          <a:p>
            <a:r>
              <a:rPr lang="en-US" b="1" dirty="0"/>
              <a:t>Possible Solutions</a:t>
            </a:r>
          </a:p>
          <a:p>
            <a:pPr>
              <a:buFont typeface="Arial" panose="020B0604020202020204" pitchFamily="34" charset="0"/>
              <a:buChar char="•"/>
            </a:pPr>
            <a:r>
              <a:rPr lang="en-US" dirty="0"/>
              <a:t>One-screen check-in </a:t>
            </a:r>
          </a:p>
          <a:p>
            <a:pPr>
              <a:buFont typeface="Arial" panose="020B0604020202020204" pitchFamily="34" charset="0"/>
              <a:buChar char="•"/>
            </a:pPr>
            <a:r>
              <a:rPr lang="en-US" dirty="0"/>
              <a:t>QR code check-in </a:t>
            </a:r>
          </a:p>
          <a:p>
            <a:pPr>
              <a:buFont typeface="Arial" panose="020B0604020202020204" pitchFamily="34" charset="0"/>
              <a:buChar char="•"/>
            </a:pPr>
            <a:r>
              <a:rPr lang="en-US" dirty="0"/>
              <a:t>Facial recognition </a:t>
            </a:r>
          </a:p>
          <a:p>
            <a:pPr>
              <a:buFont typeface="Arial" panose="020B0604020202020204" pitchFamily="34" charset="0"/>
              <a:buChar char="•"/>
            </a:pPr>
            <a:r>
              <a:rPr lang="en-US" dirty="0"/>
              <a:t>Mobile self-check-in </a:t>
            </a:r>
          </a:p>
          <a:p>
            <a:pPr>
              <a:buFont typeface="Arial" panose="020B0604020202020204" pitchFamily="34" charset="0"/>
              <a:buChar char="•"/>
            </a:pPr>
            <a:r>
              <a:rPr lang="en-US" dirty="0"/>
              <a:t>AI-assisted guest information entry </a:t>
            </a:r>
          </a:p>
          <a:p>
            <a:pPr>
              <a:buFont typeface="Arial" panose="020B0604020202020204" pitchFamily="34" charset="0"/>
              <a:buChar char="•"/>
            </a:pPr>
            <a:endParaRPr lang="en-US" dirty="0"/>
          </a:p>
          <a:p>
            <a:r>
              <a:rPr lang="en-US" dirty="0"/>
              <a:t>Remember: </a:t>
            </a:r>
            <a:r>
              <a:rPr lang="en-US" b="1" dirty="0"/>
              <a:t>There are many solutions to one problem.</a:t>
            </a:r>
            <a:endParaRPr lang="en-US" dirty="0"/>
          </a:p>
          <a:p>
            <a:endParaRPr lang="en-IN" dirty="0"/>
          </a:p>
        </p:txBody>
      </p:sp>
      <p:sp>
        <p:nvSpPr>
          <p:cNvPr id="3" name="Content Placeholder 2">
            <a:extLst>
              <a:ext uri="{FF2B5EF4-FFF2-40B4-BE49-F238E27FC236}">
                <a16:creationId xmlns:a16="http://schemas.microsoft.com/office/drawing/2014/main" id="{C9EABC75-B49F-0D14-834C-6B0FFAB80F0B}"/>
              </a:ext>
            </a:extLst>
          </p:cNvPr>
          <p:cNvSpPr>
            <a:spLocks noGrp="1"/>
          </p:cNvSpPr>
          <p:nvPr>
            <p:ph sz="quarter" idx="10"/>
          </p:nvPr>
        </p:nvSpPr>
        <p:spPr/>
        <p:txBody>
          <a:bodyPr/>
          <a:lstStyle/>
          <a:p>
            <a:r>
              <a:rPr lang="en-IN" b="1" dirty="0"/>
              <a:t>Step 3: Generate Ideas</a:t>
            </a:r>
          </a:p>
          <a:p>
            <a:endParaRPr lang="en-IN" dirty="0"/>
          </a:p>
        </p:txBody>
      </p:sp>
    </p:spTree>
    <p:extLst>
      <p:ext uri="{BB962C8B-B14F-4D97-AF65-F5344CB8AC3E}">
        <p14:creationId xmlns:p14="http://schemas.microsoft.com/office/powerpoint/2010/main" val="30286904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wrap="square"/>
          <a:lstStyle/>
          <a:p>
            <a:r>
              <a:rPr sz="2600" b="1">
                <a:solidFill>
                  <a:srgbClr val="003352"/>
                </a:solidFill>
                <a:latin typeface="Century Gothic"/>
              </a:rPr>
              <a:t>One problem, six solutions</a:t>
            </a:r>
          </a:p>
        </p:txBody>
      </p:sp>
      <p:sp>
        <p:nvSpPr>
          <p:cNvPr id="4" name="Rounded Rectangle 3"/>
          <p:cNvSpPr/>
          <p:nvPr/>
        </p:nvSpPr>
        <p:spPr>
          <a:xfrm>
            <a:off x="502920" y="1371600"/>
            <a:ext cx="3054096" cy="292608"/>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ctr"/>
            <a:r>
              <a:rPr sz="1000" b="1" i="0">
                <a:solidFill>
                  <a:srgbClr val="003352"/>
                </a:solidFill>
                <a:latin typeface="Century Gothic"/>
              </a:rPr>
              <a:t>EXERCISE  ·  3 MIN</a:t>
            </a:r>
          </a:p>
        </p:txBody>
      </p:sp>
      <p:sp>
        <p:nvSpPr>
          <p:cNvPr id="5" name="Rounded Rectangle 4"/>
          <p:cNvSpPr/>
          <p:nvPr/>
        </p:nvSpPr>
        <p:spPr>
          <a:xfrm>
            <a:off x="502920" y="1874519"/>
            <a:ext cx="11201400" cy="713232"/>
          </a:xfrm>
          <a:prstGeom prst="roundRect">
            <a:avLst>
              <a:gd name="adj" fmla="val 10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22376" y="1965960"/>
            <a:ext cx="10762488" cy="530352"/>
          </a:xfrm>
          <a:prstGeom prst="rect">
            <a:avLst/>
          </a:prstGeom>
          <a:noFill/>
        </p:spPr>
        <p:txBody>
          <a:bodyPr wrap="square" lIns="0" tIns="0" rIns="0" bIns="0" anchor="t">
            <a:spAutoFit/>
          </a:bodyPr>
          <a:lstStyle/>
          <a:p>
            <a:pPr algn="l">
              <a:spcBef>
                <a:spcPts val="0"/>
              </a:spcBef>
              <a:spcAft>
                <a:spcPts val="200"/>
              </a:spcAft>
            </a:pPr>
            <a:r>
              <a:rPr sz="1000" b="1" i="0">
                <a:solidFill>
                  <a:srgbClr val="63E7A4"/>
                </a:solidFill>
                <a:latin typeface="Century Gothic"/>
              </a:rPr>
              <a:t>PROBLEM</a:t>
            </a:r>
          </a:p>
          <a:p>
            <a:pPr algn="l">
              <a:spcBef>
                <a:spcPts val="0"/>
              </a:spcBef>
              <a:spcAft>
                <a:spcPts val="400"/>
              </a:spcAft>
            </a:pPr>
            <a:r>
              <a:rPr sz="1400" b="1" i="0">
                <a:solidFill>
                  <a:srgbClr val="FFFFFF"/>
                </a:solidFill>
                <a:latin typeface="Century Gothic"/>
              </a:rPr>
              <a:t>A UPI payment fails at checkout and the customer cannot tell whether the money left their account.</a:t>
            </a:r>
          </a:p>
        </p:txBody>
      </p:sp>
      <p:sp>
        <p:nvSpPr>
          <p:cNvPr id="7" name="Rounded Rectangle 6"/>
          <p:cNvSpPr/>
          <p:nvPr/>
        </p:nvSpPr>
        <p:spPr>
          <a:xfrm>
            <a:off x="502920" y="2807208"/>
            <a:ext cx="3611880" cy="786384"/>
          </a:xfrm>
          <a:prstGeom prst="roundRect">
            <a:avLst>
              <a:gd name="adj" fmla="val 10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wrap="square" lIns="146304" rIns="146304" rtlCol="0" anchor="ctr"/>
          <a:lstStyle/>
          <a:p>
            <a:r>
              <a:rPr sz="1200" b="0" i="0">
                <a:solidFill>
                  <a:srgbClr val="003352"/>
                </a:solidFill>
                <a:latin typeface="Century Gothic"/>
              </a:rPr>
              <a:t>Failure SMS within 10 seconds</a:t>
            </a:r>
          </a:p>
        </p:txBody>
      </p:sp>
      <p:sp>
        <p:nvSpPr>
          <p:cNvPr id="8" name="Rounded Rectangle 7"/>
          <p:cNvSpPr/>
          <p:nvPr/>
        </p:nvSpPr>
        <p:spPr>
          <a:xfrm>
            <a:off x="4297680" y="2807208"/>
            <a:ext cx="3611880" cy="786384"/>
          </a:xfrm>
          <a:prstGeom prst="roundRect">
            <a:avLst>
              <a:gd name="adj" fmla="val 10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wrap="square" lIns="146304" rIns="146304" rtlCol="0" anchor="ctr"/>
          <a:lstStyle/>
          <a:p>
            <a:r>
              <a:rPr sz="1200" b="0" i="0">
                <a:solidFill>
                  <a:srgbClr val="003352"/>
                </a:solidFill>
                <a:latin typeface="Century Gothic"/>
              </a:rPr>
              <a:t>In-app status timeline for the payment</a:t>
            </a:r>
          </a:p>
        </p:txBody>
      </p:sp>
      <p:sp>
        <p:nvSpPr>
          <p:cNvPr id="9" name="Rounded Rectangle 8"/>
          <p:cNvSpPr/>
          <p:nvPr/>
        </p:nvSpPr>
        <p:spPr>
          <a:xfrm>
            <a:off x="8092440" y="2807208"/>
            <a:ext cx="3611880" cy="786384"/>
          </a:xfrm>
          <a:prstGeom prst="roundRect">
            <a:avLst>
              <a:gd name="adj" fmla="val 10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wrap="square" lIns="146304" rIns="146304" rtlCol="0" anchor="ctr"/>
          <a:lstStyle/>
          <a:p>
            <a:r>
              <a:rPr sz="1200" b="0" i="0">
                <a:solidFill>
                  <a:srgbClr val="003352"/>
                </a:solidFill>
                <a:latin typeface="Century Gothic"/>
              </a:rPr>
              <a:t>Automatic refund inside 30 minutes</a:t>
            </a:r>
          </a:p>
        </p:txBody>
      </p:sp>
      <p:sp>
        <p:nvSpPr>
          <p:cNvPr id="10" name="Rounded Rectangle 9"/>
          <p:cNvSpPr/>
          <p:nvPr/>
        </p:nvSpPr>
        <p:spPr>
          <a:xfrm>
            <a:off x="502920" y="3758183"/>
            <a:ext cx="3611880" cy="786384"/>
          </a:xfrm>
          <a:prstGeom prst="roundRect">
            <a:avLst>
              <a:gd name="adj" fmla="val 10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wrap="square" lIns="146304" rIns="146304" rtlCol="0" anchor="ctr"/>
          <a:lstStyle/>
          <a:p>
            <a:r>
              <a:rPr sz="1200" b="0" i="0">
                <a:solidFill>
                  <a:srgbClr val="003352"/>
                </a:solidFill>
                <a:latin typeface="Century Gothic"/>
              </a:rPr>
              <a:t>One-tap retry on the same screen</a:t>
            </a:r>
          </a:p>
        </p:txBody>
      </p:sp>
      <p:sp>
        <p:nvSpPr>
          <p:cNvPr id="11" name="Rounded Rectangle 10"/>
          <p:cNvSpPr/>
          <p:nvPr/>
        </p:nvSpPr>
        <p:spPr>
          <a:xfrm>
            <a:off x="4297680" y="3758183"/>
            <a:ext cx="3611880" cy="786384"/>
          </a:xfrm>
          <a:prstGeom prst="roundRect">
            <a:avLst>
              <a:gd name="adj" fmla="val 10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wrap="square" lIns="146304" rIns="146304" rtlCol="0" anchor="ctr"/>
          <a:lstStyle/>
          <a:p>
            <a:r>
              <a:rPr sz="1200" b="0" i="0">
                <a:solidFill>
                  <a:srgbClr val="003352"/>
                </a:solidFill>
                <a:latin typeface="Century Gothic"/>
              </a:rPr>
              <a:t>Bank reference number shown in-app</a:t>
            </a:r>
          </a:p>
        </p:txBody>
      </p:sp>
      <p:sp>
        <p:nvSpPr>
          <p:cNvPr id="12" name="Rounded Rectangle 11"/>
          <p:cNvSpPr/>
          <p:nvPr/>
        </p:nvSpPr>
        <p:spPr>
          <a:xfrm>
            <a:off x="8092440" y="3758183"/>
            <a:ext cx="3611880" cy="786384"/>
          </a:xfrm>
          <a:prstGeom prst="roundRect">
            <a:avLst>
              <a:gd name="adj" fmla="val 10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wrap="square" lIns="146304" rIns="146304" rtlCol="0" anchor="ctr"/>
          <a:lstStyle/>
          <a:p>
            <a:r>
              <a:rPr sz="1200" b="0" i="0">
                <a:solidFill>
                  <a:srgbClr val="003352"/>
                </a:solidFill>
                <a:latin typeface="Century Gothic"/>
              </a:rPr>
              <a:t>Support chat pre-filled with the txn ID</a:t>
            </a:r>
          </a:p>
        </p:txBody>
      </p:sp>
      <p:sp>
        <p:nvSpPr>
          <p:cNvPr id="13" name="Rounded Rectangle 12"/>
          <p:cNvSpPr/>
          <p:nvPr/>
        </p:nvSpPr>
        <p:spPr>
          <a:xfrm>
            <a:off x="502920" y="5486400"/>
            <a:ext cx="11201400" cy="658368"/>
          </a:xfrm>
          <a:prstGeom prst="roundRect">
            <a:avLst>
              <a:gd name="adj" fmla="val 10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54864" rIns="201168" bIns="54864" rtlCol="0" anchor="ctr"/>
          <a:lstStyle/>
          <a:p>
            <a:r>
              <a:rPr sz="1300" b="1" i="0">
                <a:solidFill>
                  <a:srgbClr val="FFFFFF"/>
                </a:solidFill>
                <a:latin typeface="Century Gothic"/>
              </a:rPr>
              <a:t>Three minutes in pairs: add two more that are not on this slide. Then argue which one you would build first — and notice that two of these six need no new screen at all.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F57392-C426-7D1E-2605-B53F55FE727F}"/>
              </a:ext>
            </a:extLst>
          </p:cNvPr>
          <p:cNvSpPr>
            <a:spLocks noGrp="1"/>
          </p:cNvSpPr>
          <p:nvPr>
            <p:ph idx="1"/>
          </p:nvPr>
        </p:nvSpPr>
        <p:spPr/>
        <p:txBody>
          <a:bodyPr/>
          <a:lstStyle/>
          <a:p>
            <a:r>
              <a:rPr lang="en-US" dirty="0"/>
              <a:t>Not every idea should be built.</a:t>
            </a:r>
          </a:p>
          <a:p>
            <a:endParaRPr lang="en-IN" dirty="0"/>
          </a:p>
          <a:p>
            <a:r>
              <a:rPr lang="en-US" dirty="0"/>
              <a:t>Prioritize based on:</a:t>
            </a:r>
          </a:p>
          <a:p>
            <a:pPr>
              <a:buFont typeface="Arial" panose="020B0604020202020204" pitchFamily="34" charset="0"/>
              <a:buChar char="•"/>
            </a:pPr>
            <a:r>
              <a:rPr lang="en-US" dirty="0"/>
              <a:t>Customer value </a:t>
            </a:r>
          </a:p>
          <a:p>
            <a:pPr>
              <a:buFont typeface="Arial" panose="020B0604020202020204" pitchFamily="34" charset="0"/>
              <a:buChar char="•"/>
            </a:pPr>
            <a:r>
              <a:rPr lang="en-US" dirty="0"/>
              <a:t>Business impact </a:t>
            </a:r>
          </a:p>
          <a:p>
            <a:pPr>
              <a:buFont typeface="Arial" panose="020B0604020202020204" pitchFamily="34" charset="0"/>
              <a:buChar char="•"/>
            </a:pPr>
            <a:r>
              <a:rPr lang="en-US" dirty="0"/>
              <a:t>Technical effort </a:t>
            </a:r>
          </a:p>
          <a:p>
            <a:pPr>
              <a:buFont typeface="Arial" panose="020B0604020202020204" pitchFamily="34" charset="0"/>
              <a:buChar char="•"/>
            </a:pPr>
            <a:r>
              <a:rPr lang="en-US" dirty="0"/>
              <a:t>Cost </a:t>
            </a:r>
          </a:p>
          <a:p>
            <a:pPr>
              <a:buFont typeface="Arial" panose="020B0604020202020204" pitchFamily="34" charset="0"/>
              <a:buChar char="•"/>
            </a:pPr>
            <a:r>
              <a:rPr lang="en-US"/>
              <a:t>Timing</a:t>
            </a:r>
            <a:endParaRPr lang="en-US" dirty="0"/>
          </a:p>
          <a:p>
            <a:endParaRPr lang="en-IN" dirty="0"/>
          </a:p>
        </p:txBody>
      </p:sp>
      <p:sp>
        <p:nvSpPr>
          <p:cNvPr id="3" name="Content Placeholder 2">
            <a:extLst>
              <a:ext uri="{FF2B5EF4-FFF2-40B4-BE49-F238E27FC236}">
                <a16:creationId xmlns:a16="http://schemas.microsoft.com/office/drawing/2014/main" id="{72698985-EDAF-0427-4FE4-6F99647D53DC}"/>
              </a:ext>
            </a:extLst>
          </p:cNvPr>
          <p:cNvSpPr>
            <a:spLocks noGrp="1"/>
          </p:cNvSpPr>
          <p:nvPr>
            <p:ph sz="quarter" idx="10"/>
          </p:nvPr>
        </p:nvSpPr>
        <p:spPr/>
        <p:txBody>
          <a:bodyPr/>
          <a:lstStyle/>
          <a:p>
            <a:r>
              <a:rPr lang="en-IN" b="1" dirty="0"/>
              <a:t>Step 4: Prioritize Features</a:t>
            </a:r>
          </a:p>
          <a:p>
            <a:endParaRPr lang="en-IN" dirty="0"/>
          </a:p>
        </p:txBody>
      </p:sp>
    </p:spTree>
    <p:extLst>
      <p:ext uri="{BB962C8B-B14F-4D97-AF65-F5344CB8AC3E}">
        <p14:creationId xmlns:p14="http://schemas.microsoft.com/office/powerpoint/2010/main" val="38001644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5DABAEA-149B-B04D-5141-B40CB561A357}"/>
              </a:ext>
            </a:extLst>
          </p:cNvPr>
          <p:cNvSpPr>
            <a:spLocks noGrp="1"/>
          </p:cNvSpPr>
          <p:nvPr>
            <p:ph idx="1"/>
          </p:nvPr>
        </p:nvSpPr>
        <p:spPr/>
        <p:txBody>
          <a:bodyPr/>
          <a:lstStyle/>
          <a:p>
            <a:r>
              <a:rPr lang="en-US" dirty="0"/>
              <a:t>The design team creates the user experience.</a:t>
            </a:r>
          </a:p>
          <a:p>
            <a:endParaRPr lang="en-IN" dirty="0"/>
          </a:p>
          <a:p>
            <a:r>
              <a:rPr lang="en-US" b="1" dirty="0"/>
              <a:t>Deliverables</a:t>
            </a:r>
          </a:p>
          <a:p>
            <a:pPr>
              <a:buFont typeface="Arial" panose="020B0604020202020204" pitchFamily="34" charset="0"/>
              <a:buChar char="•"/>
            </a:pPr>
            <a:r>
              <a:rPr lang="en-US" dirty="0"/>
              <a:t>Wireframes </a:t>
            </a:r>
          </a:p>
          <a:p>
            <a:pPr>
              <a:buFont typeface="Arial" panose="020B0604020202020204" pitchFamily="34" charset="0"/>
              <a:buChar char="•"/>
            </a:pPr>
            <a:r>
              <a:rPr lang="en-US" dirty="0"/>
              <a:t>Mockups </a:t>
            </a:r>
          </a:p>
          <a:p>
            <a:pPr>
              <a:buFont typeface="Arial" panose="020B0604020202020204" pitchFamily="34" charset="0"/>
              <a:buChar char="•"/>
            </a:pPr>
            <a:r>
              <a:rPr lang="en-US" dirty="0"/>
              <a:t>User flows </a:t>
            </a:r>
          </a:p>
          <a:p>
            <a:pPr>
              <a:buFont typeface="Arial" panose="020B0604020202020204" pitchFamily="34" charset="0"/>
              <a:buChar char="•"/>
            </a:pPr>
            <a:r>
              <a:rPr lang="en-US" dirty="0"/>
              <a:t>Prototypes</a:t>
            </a:r>
          </a:p>
          <a:p>
            <a:endParaRPr lang="en-IN" dirty="0"/>
          </a:p>
        </p:txBody>
      </p:sp>
      <p:sp>
        <p:nvSpPr>
          <p:cNvPr id="3" name="Content Placeholder 2">
            <a:extLst>
              <a:ext uri="{FF2B5EF4-FFF2-40B4-BE49-F238E27FC236}">
                <a16:creationId xmlns:a16="http://schemas.microsoft.com/office/drawing/2014/main" id="{59FDF74B-45C7-AE49-DD68-3C437BDF42AE}"/>
              </a:ext>
            </a:extLst>
          </p:cNvPr>
          <p:cNvSpPr>
            <a:spLocks noGrp="1"/>
          </p:cNvSpPr>
          <p:nvPr>
            <p:ph sz="quarter" idx="10"/>
          </p:nvPr>
        </p:nvSpPr>
        <p:spPr/>
        <p:txBody>
          <a:bodyPr/>
          <a:lstStyle/>
          <a:p>
            <a:r>
              <a:rPr lang="en-US" b="1" dirty="0"/>
              <a:t>Step 5: Design the Solution</a:t>
            </a:r>
          </a:p>
          <a:p>
            <a:endParaRPr lang="en-IN" dirty="0"/>
          </a:p>
        </p:txBody>
      </p:sp>
    </p:spTree>
    <p:extLst>
      <p:ext uri="{BB962C8B-B14F-4D97-AF65-F5344CB8AC3E}">
        <p14:creationId xmlns:p14="http://schemas.microsoft.com/office/powerpoint/2010/main" val="21552216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FF87A87-4176-4E7B-1EF3-090832A08D4D}"/>
              </a:ext>
            </a:extLst>
          </p:cNvPr>
          <p:cNvSpPr>
            <a:spLocks noGrp="1"/>
          </p:cNvSpPr>
          <p:nvPr>
            <p:ph idx="1"/>
          </p:nvPr>
        </p:nvSpPr>
        <p:spPr/>
        <p:txBody>
          <a:bodyPr>
            <a:normAutofit lnSpcReduction="10000"/>
          </a:bodyPr>
          <a:lstStyle/>
          <a:p>
            <a:r>
              <a:rPr lang="en-US" dirty="0"/>
              <a:t>The engineering team builds the solution.</a:t>
            </a:r>
          </a:p>
          <a:p>
            <a:endParaRPr lang="en-IN" dirty="0"/>
          </a:p>
          <a:p>
            <a:r>
              <a:rPr lang="en-US" dirty="0"/>
              <a:t>Typical activities:</a:t>
            </a:r>
          </a:p>
          <a:p>
            <a:endParaRPr lang="en-US" dirty="0"/>
          </a:p>
          <a:p>
            <a:pPr>
              <a:buFont typeface="Arial" panose="020B0604020202020204" pitchFamily="34" charset="0"/>
              <a:buChar char="•"/>
            </a:pPr>
            <a:r>
              <a:rPr lang="en-US" dirty="0"/>
              <a:t>Sprint planning </a:t>
            </a:r>
          </a:p>
          <a:p>
            <a:pPr>
              <a:buFont typeface="Arial" panose="020B0604020202020204" pitchFamily="34" charset="0"/>
              <a:buChar char="•"/>
            </a:pPr>
            <a:r>
              <a:rPr lang="en-US" dirty="0"/>
              <a:t>Coding </a:t>
            </a:r>
          </a:p>
          <a:p>
            <a:pPr>
              <a:buFont typeface="Arial" panose="020B0604020202020204" pitchFamily="34" charset="0"/>
              <a:buChar char="•"/>
            </a:pPr>
            <a:r>
              <a:rPr lang="en-US" dirty="0"/>
              <a:t>Code reviews </a:t>
            </a:r>
          </a:p>
          <a:p>
            <a:pPr>
              <a:buFont typeface="Arial" panose="020B0604020202020204" pitchFamily="34" charset="0"/>
              <a:buChar char="•"/>
            </a:pPr>
            <a:r>
              <a:rPr lang="en-US" dirty="0"/>
              <a:t>API integration </a:t>
            </a:r>
          </a:p>
          <a:p>
            <a:pPr>
              <a:buFont typeface="Arial" panose="020B0604020202020204" pitchFamily="34" charset="0"/>
              <a:buChar char="•"/>
            </a:pPr>
            <a:r>
              <a:rPr lang="en-US" dirty="0"/>
              <a:t>Database changes </a:t>
            </a:r>
          </a:p>
          <a:p>
            <a:pPr>
              <a:buFont typeface="Arial" panose="020B0604020202020204" pitchFamily="34" charset="0"/>
              <a:buChar char="•"/>
            </a:pPr>
            <a:r>
              <a:rPr lang="en-US" dirty="0"/>
              <a:t>Security implementation </a:t>
            </a:r>
          </a:p>
          <a:p>
            <a:r>
              <a:rPr lang="en-US" dirty="0"/>
              <a:t>The Product Manager ensures the team understands </a:t>
            </a:r>
            <a:r>
              <a:rPr lang="en-US" b="1" dirty="0"/>
              <a:t>why</a:t>
            </a:r>
            <a:r>
              <a:rPr lang="en-US" dirty="0"/>
              <a:t> the feature matters.</a:t>
            </a:r>
          </a:p>
          <a:p>
            <a:endParaRPr lang="en-IN" dirty="0"/>
          </a:p>
        </p:txBody>
      </p:sp>
      <p:sp>
        <p:nvSpPr>
          <p:cNvPr id="3" name="Content Placeholder 2">
            <a:extLst>
              <a:ext uri="{FF2B5EF4-FFF2-40B4-BE49-F238E27FC236}">
                <a16:creationId xmlns:a16="http://schemas.microsoft.com/office/drawing/2014/main" id="{019B642E-246E-38E8-8EB0-5AD1D86B4E54}"/>
              </a:ext>
            </a:extLst>
          </p:cNvPr>
          <p:cNvSpPr>
            <a:spLocks noGrp="1"/>
          </p:cNvSpPr>
          <p:nvPr>
            <p:ph sz="quarter" idx="10"/>
          </p:nvPr>
        </p:nvSpPr>
        <p:spPr/>
        <p:txBody>
          <a:bodyPr/>
          <a:lstStyle/>
          <a:p>
            <a:r>
              <a:rPr lang="en-IN" b="1" dirty="0"/>
              <a:t>Step 6: Development</a:t>
            </a:r>
          </a:p>
          <a:p>
            <a:endParaRPr lang="en-IN" dirty="0"/>
          </a:p>
        </p:txBody>
      </p:sp>
    </p:spTree>
    <p:extLst>
      <p:ext uri="{BB962C8B-B14F-4D97-AF65-F5344CB8AC3E}">
        <p14:creationId xmlns:p14="http://schemas.microsoft.com/office/powerpoint/2010/main" val="3873648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077E43B-6502-A923-505C-57AE5567DE57}"/>
              </a:ext>
            </a:extLst>
          </p:cNvPr>
          <p:cNvSpPr>
            <a:spLocks noGrp="1"/>
          </p:cNvSpPr>
          <p:nvPr>
            <p:ph idx="1"/>
          </p:nvPr>
        </p:nvSpPr>
        <p:spPr/>
        <p:txBody>
          <a:bodyPr/>
          <a:lstStyle/>
          <a:p>
            <a:r>
              <a:rPr lang="en-US" dirty="0"/>
              <a:t>Verify that the product works as intended.</a:t>
            </a:r>
          </a:p>
          <a:p>
            <a:endParaRPr lang="en-IN" dirty="0"/>
          </a:p>
          <a:p>
            <a:r>
              <a:rPr lang="en-US" b="1" dirty="0"/>
              <a:t>Types of Testing</a:t>
            </a:r>
          </a:p>
          <a:p>
            <a:pPr>
              <a:buFont typeface="Arial" panose="020B0604020202020204" pitchFamily="34" charset="0"/>
              <a:buChar char="•"/>
            </a:pPr>
            <a:r>
              <a:rPr lang="en-US" dirty="0"/>
              <a:t>Functional testing </a:t>
            </a:r>
          </a:p>
          <a:p>
            <a:pPr>
              <a:buFont typeface="Arial" panose="020B0604020202020204" pitchFamily="34" charset="0"/>
              <a:buChar char="•"/>
            </a:pPr>
            <a:r>
              <a:rPr lang="en-US" dirty="0"/>
              <a:t>Integration testing </a:t>
            </a:r>
          </a:p>
          <a:p>
            <a:pPr>
              <a:buFont typeface="Arial" panose="020B0604020202020204" pitchFamily="34" charset="0"/>
              <a:buChar char="•"/>
            </a:pPr>
            <a:r>
              <a:rPr lang="en-US" dirty="0"/>
              <a:t>Performance testing </a:t>
            </a:r>
          </a:p>
          <a:p>
            <a:pPr>
              <a:buFont typeface="Arial" panose="020B0604020202020204" pitchFamily="34" charset="0"/>
              <a:buChar char="•"/>
            </a:pPr>
            <a:r>
              <a:rPr lang="en-US" dirty="0"/>
              <a:t>Security testing </a:t>
            </a:r>
          </a:p>
          <a:p>
            <a:pPr>
              <a:buFont typeface="Arial" panose="020B0604020202020204" pitchFamily="34" charset="0"/>
              <a:buChar char="•"/>
            </a:pPr>
            <a:r>
              <a:rPr lang="en-US" dirty="0"/>
              <a:t>User Acceptance Testing (UAT) </a:t>
            </a:r>
          </a:p>
          <a:p>
            <a:endParaRPr lang="en-IN" dirty="0"/>
          </a:p>
        </p:txBody>
      </p:sp>
      <p:sp>
        <p:nvSpPr>
          <p:cNvPr id="3" name="Content Placeholder 2">
            <a:extLst>
              <a:ext uri="{FF2B5EF4-FFF2-40B4-BE49-F238E27FC236}">
                <a16:creationId xmlns:a16="http://schemas.microsoft.com/office/drawing/2014/main" id="{9F88804B-1158-A5BC-5DCD-A0BE39C06277}"/>
              </a:ext>
            </a:extLst>
          </p:cNvPr>
          <p:cNvSpPr>
            <a:spLocks noGrp="1"/>
          </p:cNvSpPr>
          <p:nvPr>
            <p:ph sz="quarter" idx="10"/>
          </p:nvPr>
        </p:nvSpPr>
        <p:spPr/>
        <p:txBody>
          <a:bodyPr/>
          <a:lstStyle/>
          <a:p>
            <a:r>
              <a:rPr lang="en-IN" b="1" dirty="0"/>
              <a:t>Step 7: Testing</a:t>
            </a:r>
          </a:p>
          <a:p>
            <a:endParaRPr lang="en-IN" dirty="0"/>
          </a:p>
        </p:txBody>
      </p:sp>
    </p:spTree>
    <p:extLst>
      <p:ext uri="{BB962C8B-B14F-4D97-AF65-F5344CB8AC3E}">
        <p14:creationId xmlns:p14="http://schemas.microsoft.com/office/powerpoint/2010/main" val="26723032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0019DFA-1528-A20D-E36A-90557FE31F32}"/>
              </a:ext>
            </a:extLst>
          </p:cNvPr>
          <p:cNvSpPr>
            <a:spLocks noGrp="1"/>
          </p:cNvSpPr>
          <p:nvPr>
            <p:ph idx="1"/>
          </p:nvPr>
        </p:nvSpPr>
        <p:spPr/>
        <p:txBody>
          <a:bodyPr/>
          <a:lstStyle/>
          <a:p>
            <a:r>
              <a:rPr lang="en-US" dirty="0"/>
              <a:t>Deploy the feature to customers.</a:t>
            </a:r>
          </a:p>
          <a:p>
            <a:endParaRPr lang="en-US" dirty="0"/>
          </a:p>
          <a:p>
            <a:r>
              <a:rPr lang="en-US" dirty="0"/>
              <a:t>Activities include:</a:t>
            </a:r>
          </a:p>
          <a:p>
            <a:pPr>
              <a:buFont typeface="Arial" panose="020B0604020202020204" pitchFamily="34" charset="0"/>
              <a:buChar char="•"/>
            </a:pPr>
            <a:r>
              <a:rPr lang="en-US" dirty="0"/>
              <a:t>Production deployment </a:t>
            </a:r>
          </a:p>
          <a:p>
            <a:pPr>
              <a:buFont typeface="Arial" panose="020B0604020202020204" pitchFamily="34" charset="0"/>
              <a:buChar char="•"/>
            </a:pPr>
            <a:r>
              <a:rPr lang="en-US" dirty="0"/>
              <a:t>Release notes </a:t>
            </a:r>
          </a:p>
          <a:p>
            <a:pPr>
              <a:buFont typeface="Arial" panose="020B0604020202020204" pitchFamily="34" charset="0"/>
              <a:buChar char="•"/>
            </a:pPr>
            <a:r>
              <a:rPr lang="en-US" dirty="0"/>
              <a:t>User documentation </a:t>
            </a:r>
          </a:p>
          <a:p>
            <a:pPr>
              <a:buFont typeface="Arial" panose="020B0604020202020204" pitchFamily="34" charset="0"/>
              <a:buChar char="•"/>
            </a:pPr>
            <a:r>
              <a:rPr lang="en-US" dirty="0"/>
              <a:t>Customer communication </a:t>
            </a:r>
          </a:p>
          <a:p>
            <a:pPr>
              <a:buFont typeface="Arial" panose="020B0604020202020204" pitchFamily="34" charset="0"/>
              <a:buChar char="•"/>
            </a:pPr>
            <a:r>
              <a:rPr lang="en-US" dirty="0"/>
              <a:t>Team training</a:t>
            </a:r>
          </a:p>
          <a:p>
            <a:endParaRPr lang="en-IN" dirty="0"/>
          </a:p>
        </p:txBody>
      </p:sp>
      <p:sp>
        <p:nvSpPr>
          <p:cNvPr id="3" name="Content Placeholder 2">
            <a:extLst>
              <a:ext uri="{FF2B5EF4-FFF2-40B4-BE49-F238E27FC236}">
                <a16:creationId xmlns:a16="http://schemas.microsoft.com/office/drawing/2014/main" id="{4D64C20B-AD00-5A1F-13DC-4FD223B56A19}"/>
              </a:ext>
            </a:extLst>
          </p:cNvPr>
          <p:cNvSpPr>
            <a:spLocks noGrp="1"/>
          </p:cNvSpPr>
          <p:nvPr>
            <p:ph sz="quarter" idx="10"/>
          </p:nvPr>
        </p:nvSpPr>
        <p:spPr/>
        <p:txBody>
          <a:bodyPr/>
          <a:lstStyle/>
          <a:p>
            <a:r>
              <a:rPr lang="en-IN" b="1" dirty="0"/>
              <a:t>Step 8: Release</a:t>
            </a:r>
          </a:p>
          <a:p>
            <a:endParaRPr lang="en-IN" dirty="0"/>
          </a:p>
        </p:txBody>
      </p:sp>
    </p:spTree>
    <p:extLst>
      <p:ext uri="{BB962C8B-B14F-4D97-AF65-F5344CB8AC3E}">
        <p14:creationId xmlns:p14="http://schemas.microsoft.com/office/powerpoint/2010/main" val="9786421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E179B44-ACBE-93A8-D903-9047CF741CE4}"/>
              </a:ext>
            </a:extLst>
          </p:cNvPr>
          <p:cNvSpPr>
            <a:spLocks noGrp="1"/>
          </p:cNvSpPr>
          <p:nvPr>
            <p:ph idx="1"/>
          </p:nvPr>
        </p:nvSpPr>
        <p:spPr/>
        <p:txBody>
          <a:bodyPr/>
          <a:lstStyle/>
          <a:p>
            <a:r>
              <a:rPr lang="en-US" dirty="0"/>
              <a:t>The real learning starts after release.</a:t>
            </a:r>
          </a:p>
          <a:p>
            <a:endParaRPr lang="en-IN" dirty="0"/>
          </a:p>
          <a:p>
            <a:r>
              <a:rPr lang="en-US" dirty="0"/>
              <a:t>Gather feedback from:</a:t>
            </a:r>
          </a:p>
          <a:p>
            <a:pPr>
              <a:buFont typeface="Arial" panose="020B0604020202020204" pitchFamily="34" charset="0"/>
              <a:buChar char="•"/>
            </a:pPr>
            <a:r>
              <a:rPr lang="en-US" dirty="0"/>
              <a:t>Customer surveys </a:t>
            </a:r>
          </a:p>
          <a:p>
            <a:pPr>
              <a:buFont typeface="Arial" panose="020B0604020202020204" pitchFamily="34" charset="0"/>
              <a:buChar char="•"/>
            </a:pPr>
            <a:r>
              <a:rPr lang="en-US" dirty="0"/>
              <a:t>Support tickets </a:t>
            </a:r>
          </a:p>
          <a:p>
            <a:pPr>
              <a:buFont typeface="Arial" panose="020B0604020202020204" pitchFamily="34" charset="0"/>
              <a:buChar char="•"/>
            </a:pPr>
            <a:r>
              <a:rPr lang="en-US" dirty="0"/>
              <a:t>Product reviews </a:t>
            </a:r>
          </a:p>
          <a:p>
            <a:pPr>
              <a:buFont typeface="Arial" panose="020B0604020202020204" pitchFamily="34" charset="0"/>
              <a:buChar char="•"/>
            </a:pPr>
            <a:r>
              <a:rPr lang="en-US" dirty="0"/>
              <a:t>Sales teams </a:t>
            </a:r>
          </a:p>
          <a:p>
            <a:pPr>
              <a:buFont typeface="Arial" panose="020B0604020202020204" pitchFamily="34" charset="0"/>
              <a:buChar char="•"/>
            </a:pPr>
            <a:r>
              <a:rPr lang="en-US" dirty="0"/>
              <a:t>Usage analytics </a:t>
            </a:r>
          </a:p>
          <a:p>
            <a:r>
              <a:rPr lang="en-US" dirty="0"/>
              <a:t>Example:</a:t>
            </a:r>
            <a:br>
              <a:rPr lang="en-US" dirty="0"/>
            </a:br>
            <a:r>
              <a:rPr lang="en-US" dirty="0"/>
              <a:t>Customers appreciate the speed but request faster guest search.</a:t>
            </a:r>
          </a:p>
          <a:p>
            <a:endParaRPr lang="en-IN" dirty="0"/>
          </a:p>
        </p:txBody>
      </p:sp>
      <p:sp>
        <p:nvSpPr>
          <p:cNvPr id="3" name="Content Placeholder 2">
            <a:extLst>
              <a:ext uri="{FF2B5EF4-FFF2-40B4-BE49-F238E27FC236}">
                <a16:creationId xmlns:a16="http://schemas.microsoft.com/office/drawing/2014/main" id="{3BDBA528-4A39-2E8D-EE6A-FA6F63F0CEBC}"/>
              </a:ext>
            </a:extLst>
          </p:cNvPr>
          <p:cNvSpPr>
            <a:spLocks noGrp="1"/>
          </p:cNvSpPr>
          <p:nvPr>
            <p:ph sz="quarter" idx="10"/>
          </p:nvPr>
        </p:nvSpPr>
        <p:spPr/>
        <p:txBody>
          <a:bodyPr/>
          <a:lstStyle/>
          <a:p>
            <a:r>
              <a:rPr lang="en-US" b="1" dirty="0"/>
              <a:t>Step 9: Collect Customer Feedback</a:t>
            </a:r>
          </a:p>
          <a:p>
            <a:endParaRPr lang="en-IN" dirty="0"/>
          </a:p>
        </p:txBody>
      </p:sp>
    </p:spTree>
    <p:extLst>
      <p:ext uri="{BB962C8B-B14F-4D97-AF65-F5344CB8AC3E}">
        <p14:creationId xmlns:p14="http://schemas.microsoft.com/office/powerpoint/2010/main" val="42594511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15E3E13-FE74-955B-E099-9883859D51DD}"/>
              </a:ext>
            </a:extLst>
          </p:cNvPr>
          <p:cNvSpPr>
            <a:spLocks noGrp="1"/>
          </p:cNvSpPr>
          <p:nvPr>
            <p:ph idx="1"/>
          </p:nvPr>
        </p:nvSpPr>
        <p:spPr/>
        <p:txBody>
          <a:bodyPr/>
          <a:lstStyle/>
          <a:p>
            <a:r>
              <a:rPr lang="en-US" dirty="0"/>
              <a:t>Determine whether the product solved the original problem.</a:t>
            </a:r>
          </a:p>
          <a:p>
            <a:endParaRPr lang="en-IN" dirty="0"/>
          </a:p>
          <a:p>
            <a:r>
              <a:rPr lang="en-US" b="1" dirty="0"/>
              <a:t>Common Product Metrics</a:t>
            </a:r>
          </a:p>
          <a:p>
            <a:pPr>
              <a:buFont typeface="Arial" panose="020B0604020202020204" pitchFamily="34" charset="0"/>
              <a:buChar char="•"/>
            </a:pPr>
            <a:r>
              <a:rPr lang="en-US" dirty="0"/>
              <a:t>Customer Satisfaction (CSAT) </a:t>
            </a:r>
          </a:p>
          <a:p>
            <a:pPr>
              <a:buFont typeface="Arial" panose="020B0604020202020204" pitchFamily="34" charset="0"/>
              <a:buChar char="•"/>
            </a:pPr>
            <a:r>
              <a:rPr lang="en-US" dirty="0"/>
              <a:t>Net Promoter Score (NPS) </a:t>
            </a:r>
          </a:p>
          <a:p>
            <a:pPr>
              <a:buFont typeface="Arial" panose="020B0604020202020204" pitchFamily="34" charset="0"/>
              <a:buChar char="•"/>
            </a:pPr>
            <a:r>
              <a:rPr lang="en-US" dirty="0"/>
              <a:t>Monthly Active Users (MAU) </a:t>
            </a:r>
          </a:p>
          <a:p>
            <a:pPr>
              <a:buFont typeface="Arial" panose="020B0604020202020204" pitchFamily="34" charset="0"/>
              <a:buChar char="•"/>
            </a:pPr>
            <a:r>
              <a:rPr lang="en-US" dirty="0"/>
              <a:t>Feature adoption </a:t>
            </a:r>
          </a:p>
          <a:p>
            <a:pPr>
              <a:buFont typeface="Arial" panose="020B0604020202020204" pitchFamily="34" charset="0"/>
              <a:buChar char="•"/>
            </a:pPr>
            <a:r>
              <a:rPr lang="en-US" dirty="0"/>
              <a:t>Revenue growth </a:t>
            </a:r>
          </a:p>
          <a:p>
            <a:pPr>
              <a:buFont typeface="Arial" panose="020B0604020202020204" pitchFamily="34" charset="0"/>
              <a:buChar char="•"/>
            </a:pPr>
            <a:r>
              <a:rPr lang="en-US" dirty="0"/>
              <a:t>Churn rate </a:t>
            </a:r>
          </a:p>
          <a:p>
            <a:pPr>
              <a:buFont typeface="Arial" panose="020B0604020202020204" pitchFamily="34" charset="0"/>
              <a:buChar char="•"/>
            </a:pPr>
            <a:r>
              <a:rPr lang="en-US" dirty="0"/>
              <a:t>Time saved</a:t>
            </a:r>
          </a:p>
          <a:p>
            <a:endParaRPr lang="en-IN" dirty="0"/>
          </a:p>
        </p:txBody>
      </p:sp>
      <p:sp>
        <p:nvSpPr>
          <p:cNvPr id="3" name="Content Placeholder 2">
            <a:extLst>
              <a:ext uri="{FF2B5EF4-FFF2-40B4-BE49-F238E27FC236}">
                <a16:creationId xmlns:a16="http://schemas.microsoft.com/office/drawing/2014/main" id="{236C48D0-7161-D416-6047-1380B4B9FE98}"/>
              </a:ext>
            </a:extLst>
          </p:cNvPr>
          <p:cNvSpPr>
            <a:spLocks noGrp="1"/>
          </p:cNvSpPr>
          <p:nvPr>
            <p:ph sz="quarter" idx="10"/>
          </p:nvPr>
        </p:nvSpPr>
        <p:spPr/>
        <p:txBody>
          <a:bodyPr/>
          <a:lstStyle/>
          <a:p>
            <a:r>
              <a:rPr lang="en-IN" b="1" dirty="0"/>
              <a:t>Step 10: Measure Success</a:t>
            </a:r>
          </a:p>
          <a:p>
            <a:endParaRPr lang="en-IN" dirty="0"/>
          </a:p>
        </p:txBody>
      </p:sp>
    </p:spTree>
    <p:extLst>
      <p:ext uri="{BB962C8B-B14F-4D97-AF65-F5344CB8AC3E}">
        <p14:creationId xmlns:p14="http://schemas.microsoft.com/office/powerpoint/2010/main" val="29555392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wrap="square"/>
          <a:lstStyle/>
          <a:p>
            <a:r>
              <a:rPr sz="2600" b="1">
                <a:solidFill>
                  <a:srgbClr val="003352"/>
                </a:solidFill>
                <a:latin typeface="Century Gothic"/>
              </a:rPr>
              <a:t>The metric that lied</a:t>
            </a:r>
          </a:p>
        </p:txBody>
      </p:sp>
      <p:sp>
        <p:nvSpPr>
          <p:cNvPr id="4" name="Rounded Rectangle 3"/>
          <p:cNvSpPr/>
          <p:nvPr/>
        </p:nvSpPr>
        <p:spPr>
          <a:xfrm>
            <a:off x="502920" y="1371600"/>
            <a:ext cx="2761488" cy="292608"/>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ctr"/>
            <a:r>
              <a:rPr sz="1000" b="1" i="0">
                <a:solidFill>
                  <a:srgbClr val="003352"/>
                </a:solidFill>
                <a:latin typeface="Century Gothic"/>
              </a:rPr>
              <a:t>CASE  ·  METRICS</a:t>
            </a:r>
          </a:p>
        </p:txBody>
      </p:sp>
      <p:sp>
        <p:nvSpPr>
          <p:cNvPr id="5" name="Rounded Rectangle 4"/>
          <p:cNvSpPr/>
          <p:nvPr/>
        </p:nvSpPr>
        <p:spPr>
          <a:xfrm>
            <a:off x="502920" y="1874519"/>
            <a:ext cx="5463540" cy="2743200"/>
          </a:xfrm>
          <a:prstGeom prst="roundRect">
            <a:avLst>
              <a:gd name="adj" fmla="val 6000"/>
            </a:avLst>
          </a:prstGeom>
          <a:solidFill>
            <a:srgbClr val="E4F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ounded Rectangle 5"/>
          <p:cNvSpPr/>
          <p:nvPr/>
        </p:nvSpPr>
        <p:spPr>
          <a:xfrm>
            <a:off x="502920" y="1874519"/>
            <a:ext cx="5463540" cy="475488"/>
          </a:xfrm>
          <a:prstGeom prst="roundRect">
            <a:avLst>
              <a:gd name="adj" fmla="val 14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0" rIns="128016" bIns="0" rtlCol="0" anchor="ctr"/>
          <a:lstStyle/>
          <a:p>
            <a:r>
              <a:rPr sz="1400" b="1" i="0">
                <a:solidFill>
                  <a:srgbClr val="003352"/>
                </a:solidFill>
                <a:latin typeface="Century Gothic"/>
              </a:rPr>
              <a:t>What the launch dashboard showed</a:t>
            </a:r>
          </a:p>
        </p:txBody>
      </p:sp>
      <p:sp>
        <p:nvSpPr>
          <p:cNvPr id="7" name="TextBox 6"/>
          <p:cNvSpPr txBox="1"/>
          <p:nvPr/>
        </p:nvSpPr>
        <p:spPr>
          <a:xfrm>
            <a:off x="685800" y="2496312"/>
            <a:ext cx="5097779" cy="1993392"/>
          </a:xfrm>
          <a:prstGeom prst="rect">
            <a:avLst/>
          </a:prstGeom>
          <a:noFill/>
        </p:spPr>
        <p:txBody>
          <a:bodyPr wrap="square" lIns="0" tIns="0" rIns="0" bIns="0" anchor="t">
            <a:spAutoFit/>
          </a:bodyPr>
          <a:lstStyle/>
          <a:p>
            <a:pPr algn="l">
              <a:spcBef>
                <a:spcPts val="0"/>
              </a:spcBef>
              <a:spcAft>
                <a:spcPts val="700"/>
              </a:spcAft>
            </a:pPr>
            <a:r>
              <a:rPr sz="1300" b="0" i="0">
                <a:solidFill>
                  <a:srgbClr val="003352"/>
                </a:solidFill>
                <a:latin typeface="Century Gothic"/>
              </a:rPr>
              <a:t>Push notifications shipped on schedule</a:t>
            </a:r>
          </a:p>
          <a:p>
            <a:pPr algn="l">
              <a:spcBef>
                <a:spcPts val="0"/>
              </a:spcBef>
              <a:spcAft>
                <a:spcPts val="700"/>
              </a:spcAft>
            </a:pPr>
            <a:r>
              <a:rPr sz="1300" b="0" i="0">
                <a:solidFill>
                  <a:srgbClr val="003352"/>
                </a:solidFill>
                <a:latin typeface="Century Gothic"/>
              </a:rPr>
              <a:t>Daily active users  +12%</a:t>
            </a:r>
          </a:p>
          <a:p>
            <a:pPr algn="l">
              <a:spcBef>
                <a:spcPts val="0"/>
              </a:spcBef>
              <a:spcAft>
                <a:spcPts val="700"/>
              </a:spcAft>
            </a:pPr>
            <a:r>
              <a:rPr sz="1300" b="0" i="0">
                <a:solidFill>
                  <a:srgbClr val="003352"/>
                </a:solidFill>
                <a:latin typeface="Century Gothic"/>
              </a:rPr>
              <a:t>Sessions per user  +18%</a:t>
            </a:r>
          </a:p>
          <a:p>
            <a:pPr algn="l">
              <a:spcBef>
                <a:spcPts val="0"/>
              </a:spcBef>
              <a:spcAft>
                <a:spcPts val="400"/>
              </a:spcAft>
            </a:pPr>
            <a:r>
              <a:rPr sz="1200" b="0" i="1">
                <a:solidFill>
                  <a:srgbClr val="536B7A"/>
                </a:solidFill>
                <a:latin typeface="Century Gothic"/>
              </a:rPr>
              <a:t>Every tile green. Feature declared a success.</a:t>
            </a:r>
          </a:p>
        </p:txBody>
      </p:sp>
      <p:sp>
        <p:nvSpPr>
          <p:cNvPr id="8" name="Rounded Rectangle 7"/>
          <p:cNvSpPr/>
          <p:nvPr/>
        </p:nvSpPr>
        <p:spPr>
          <a:xfrm>
            <a:off x="6240779" y="1874519"/>
            <a:ext cx="5463540" cy="2743200"/>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ounded Rectangle 8"/>
          <p:cNvSpPr/>
          <p:nvPr/>
        </p:nvSpPr>
        <p:spPr>
          <a:xfrm>
            <a:off x="6240779" y="1874519"/>
            <a:ext cx="5463540" cy="475488"/>
          </a:xfrm>
          <a:prstGeom prst="roundRect">
            <a:avLst>
              <a:gd name="adj" fmla="val 14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0" rIns="128016" bIns="0" rtlCol="0" anchor="ctr"/>
          <a:lstStyle/>
          <a:p>
            <a:r>
              <a:rPr sz="1400" b="1" i="0">
                <a:solidFill>
                  <a:srgbClr val="FFFFFF"/>
                </a:solidFill>
                <a:latin typeface="Century Gothic"/>
              </a:rPr>
              <a:t>What nobody had put on the dashboard</a:t>
            </a:r>
          </a:p>
        </p:txBody>
      </p:sp>
      <p:sp>
        <p:nvSpPr>
          <p:cNvPr id="10" name="TextBox 9"/>
          <p:cNvSpPr txBox="1"/>
          <p:nvPr/>
        </p:nvSpPr>
        <p:spPr>
          <a:xfrm>
            <a:off x="6423659" y="2496312"/>
            <a:ext cx="5097779" cy="1993392"/>
          </a:xfrm>
          <a:prstGeom prst="rect">
            <a:avLst/>
          </a:prstGeom>
          <a:noFill/>
        </p:spPr>
        <p:txBody>
          <a:bodyPr wrap="square" lIns="0" tIns="0" rIns="0" bIns="0" anchor="t">
            <a:spAutoFit/>
          </a:bodyPr>
          <a:lstStyle/>
          <a:p>
            <a:pPr algn="l">
              <a:spcBef>
                <a:spcPts val="0"/>
              </a:spcBef>
              <a:spcAft>
                <a:spcPts val="700"/>
              </a:spcAft>
            </a:pPr>
            <a:r>
              <a:rPr sz="1300" b="0" i="0">
                <a:solidFill>
                  <a:srgbClr val="003352"/>
                </a:solidFill>
                <a:latin typeface="Century Gothic"/>
              </a:rPr>
              <a:t>Uninstalls  +9%</a:t>
            </a:r>
          </a:p>
          <a:p>
            <a:pPr algn="l">
              <a:spcBef>
                <a:spcPts val="0"/>
              </a:spcBef>
              <a:spcAft>
                <a:spcPts val="700"/>
              </a:spcAft>
            </a:pPr>
            <a:r>
              <a:rPr sz="1300" b="0" i="0">
                <a:solidFill>
                  <a:srgbClr val="003352"/>
                </a:solidFill>
                <a:latin typeface="Century Gothic"/>
              </a:rPr>
              <a:t>Store rating  4.4  →  3.9</a:t>
            </a:r>
          </a:p>
          <a:p>
            <a:pPr algn="l">
              <a:spcBef>
                <a:spcPts val="0"/>
              </a:spcBef>
              <a:spcAft>
                <a:spcPts val="700"/>
              </a:spcAft>
            </a:pPr>
            <a:r>
              <a:rPr sz="1300" b="0" i="0">
                <a:solidFill>
                  <a:srgbClr val="003352"/>
                </a:solidFill>
                <a:latin typeface="Century Gothic"/>
              </a:rPr>
              <a:t>“how do I turn this off” tickets tripled</a:t>
            </a:r>
          </a:p>
          <a:p>
            <a:pPr algn="l">
              <a:spcBef>
                <a:spcPts val="0"/>
              </a:spcBef>
              <a:spcAft>
                <a:spcPts val="400"/>
              </a:spcAft>
            </a:pPr>
            <a:r>
              <a:rPr sz="1200" b="0" i="1">
                <a:solidFill>
                  <a:srgbClr val="536B7A"/>
                </a:solidFill>
                <a:latin typeface="Century Gothic"/>
              </a:rPr>
              <a:t>Composite of a pattern that repeats across consumer apps.</a:t>
            </a:r>
          </a:p>
        </p:txBody>
      </p:sp>
      <p:sp>
        <p:nvSpPr>
          <p:cNvPr id="11" name="Rounded Rectangle 10"/>
          <p:cNvSpPr/>
          <p:nvPr/>
        </p:nvSpPr>
        <p:spPr>
          <a:xfrm>
            <a:off x="502920" y="5486400"/>
            <a:ext cx="11201400" cy="658368"/>
          </a:xfrm>
          <a:prstGeom prst="roundRect">
            <a:avLst>
              <a:gd name="adj" fmla="val 10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54864" rIns="201168" bIns="54864" rtlCol="0" anchor="ctr"/>
          <a:lstStyle/>
          <a:p>
            <a:r>
              <a:rPr sz="1300" b="1" i="0">
                <a:solidFill>
                  <a:srgbClr val="FFFFFF"/>
                </a:solidFill>
                <a:latin typeface="Century Gothic"/>
              </a:rPr>
              <a:t>A success metric with no guardrail beside it is a metric you can win while losing. Pair every one: adoption with uninstalls, engagement with complaints, speed with error rate.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wrap="square"/>
          <a:lstStyle/>
          <a:p>
            <a:r>
              <a:rPr sz="2600" b="1">
                <a:solidFill>
                  <a:srgbClr val="003352"/>
                </a:solidFill>
                <a:latin typeface="Century Gothic"/>
              </a:rPr>
              <a:t>Case quiz: read the funnel</a:t>
            </a:r>
          </a:p>
        </p:txBody>
      </p:sp>
      <p:sp>
        <p:nvSpPr>
          <p:cNvPr id="4" name="Rounded Rectangle 3"/>
          <p:cNvSpPr/>
          <p:nvPr/>
        </p:nvSpPr>
        <p:spPr>
          <a:xfrm>
            <a:off x="502920" y="1371600"/>
            <a:ext cx="2468880" cy="292608"/>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ctr"/>
            <a:r>
              <a:rPr sz="1000" b="1" i="0">
                <a:solidFill>
                  <a:srgbClr val="003352"/>
                </a:solidFill>
                <a:latin typeface="Century Gothic"/>
              </a:rPr>
              <a:t>QUIZ  ·  5 MIN</a:t>
            </a:r>
          </a:p>
        </p:txBody>
      </p:sp>
      <p:sp>
        <p:nvSpPr>
          <p:cNvPr id="5" name="Rounded Rectangle 4"/>
          <p:cNvSpPr/>
          <p:nvPr/>
        </p:nvSpPr>
        <p:spPr>
          <a:xfrm>
            <a:off x="502920" y="1874519"/>
            <a:ext cx="11201400" cy="1188720"/>
          </a:xfrm>
          <a:prstGeom prst="roundRect">
            <a:avLst>
              <a:gd name="adj" fmla="val 10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22376" y="1975103"/>
            <a:ext cx="10762488" cy="987552"/>
          </a:xfrm>
          <a:prstGeom prst="rect">
            <a:avLst/>
          </a:prstGeom>
          <a:noFill/>
        </p:spPr>
        <p:txBody>
          <a:bodyPr wrap="square" lIns="0" tIns="0" rIns="0" bIns="0" anchor="t">
            <a:spAutoFit/>
          </a:bodyPr>
          <a:lstStyle/>
          <a:p>
            <a:pPr algn="l">
              <a:spcBef>
                <a:spcPts val="0"/>
              </a:spcBef>
              <a:spcAft>
                <a:spcPts val="400"/>
              </a:spcAft>
            </a:pPr>
            <a:r>
              <a:rPr sz="1000" b="1" i="0">
                <a:solidFill>
                  <a:srgbClr val="63E7A4"/>
                </a:solidFill>
                <a:latin typeface="Century Gothic"/>
              </a:rPr>
              <a:t>THE DATA  ·  FOOD DELIVERY CHECKOUT, LAST 30 DAYS</a:t>
            </a:r>
          </a:p>
          <a:p>
            <a:pPr algn="l">
              <a:spcBef>
                <a:spcPts val="0"/>
              </a:spcBef>
              <a:spcAft>
                <a:spcPts val="300"/>
              </a:spcAft>
            </a:pPr>
            <a:r>
              <a:rPr sz="1300" b="1" i="0">
                <a:solidFill>
                  <a:srgbClr val="FFFFFF"/>
                </a:solidFill>
                <a:latin typeface="Century Gothic"/>
              </a:rPr>
              <a:t>100,000 carts opened   →   82,000 address confirmed   →   74,000 payment method chosen   →   71,000 payment attempted   →   44,000 orders placed</a:t>
            </a:r>
          </a:p>
          <a:p>
            <a:pPr algn="l">
              <a:spcBef>
                <a:spcPts val="0"/>
              </a:spcBef>
              <a:spcAft>
                <a:spcPts val="400"/>
              </a:spcAft>
            </a:pPr>
            <a:r>
              <a:rPr sz="1050" b="0" i="1">
                <a:solidFill>
                  <a:srgbClr val="63E7A4"/>
                </a:solidFill>
                <a:latin typeface="Century Gothic"/>
              </a:rPr>
              <a:t>Nothing else has changed this month. Vote A, B or C on each question.</a:t>
            </a:r>
          </a:p>
        </p:txBody>
      </p:sp>
      <p:sp>
        <p:nvSpPr>
          <p:cNvPr id="7" name="Rounded Rectangle 6"/>
          <p:cNvSpPr/>
          <p:nvPr/>
        </p:nvSpPr>
        <p:spPr>
          <a:xfrm>
            <a:off x="502920" y="3172968"/>
            <a:ext cx="3611880" cy="2980944"/>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685800" y="3328415"/>
            <a:ext cx="365760" cy="292608"/>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i="0">
                <a:solidFill>
                  <a:srgbClr val="63E7A4"/>
                </a:solidFill>
                <a:latin typeface="Century Gothic"/>
              </a:rPr>
              <a:t>1</a:t>
            </a:r>
          </a:p>
        </p:txBody>
      </p:sp>
      <p:sp>
        <p:nvSpPr>
          <p:cNvPr id="9" name="TextBox 8"/>
          <p:cNvSpPr txBox="1"/>
          <p:nvPr/>
        </p:nvSpPr>
        <p:spPr>
          <a:xfrm>
            <a:off x="1143000" y="3300984"/>
            <a:ext cx="2770632" cy="804672"/>
          </a:xfrm>
          <a:prstGeom prst="rect">
            <a:avLst/>
          </a:prstGeom>
          <a:noFill/>
        </p:spPr>
        <p:txBody>
          <a:bodyPr wrap="square" lIns="0" tIns="0" rIns="0" bIns="0" anchor="t">
            <a:spAutoFit/>
          </a:bodyPr>
          <a:lstStyle/>
          <a:p>
            <a:pPr algn="l">
              <a:spcBef>
                <a:spcPts val="0"/>
              </a:spcBef>
              <a:spcAft>
                <a:spcPts val="400"/>
              </a:spcAft>
            </a:pPr>
            <a:r>
              <a:rPr sz="1200" b="1" i="0">
                <a:solidFill>
                  <a:srgbClr val="003352"/>
                </a:solidFill>
                <a:latin typeface="Century Gothic"/>
              </a:rPr>
              <a:t>Where is the biggest problem?</a:t>
            </a:r>
          </a:p>
        </p:txBody>
      </p:sp>
      <p:sp>
        <p:nvSpPr>
          <p:cNvPr id="10" name="Rounded Rectangle 9"/>
          <p:cNvSpPr/>
          <p:nvPr/>
        </p:nvSpPr>
        <p:spPr>
          <a:xfrm>
            <a:off x="685800" y="4151375"/>
            <a:ext cx="310896" cy="274320"/>
          </a:xfrm>
          <a:prstGeom prst="roundRect">
            <a:avLst>
              <a:gd name="adj" fmla="val 16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50" b="1" i="0">
                <a:solidFill>
                  <a:srgbClr val="536B7A"/>
                </a:solidFill>
                <a:latin typeface="Century Gothic"/>
              </a:rPr>
              <a:t>A</a:t>
            </a:r>
          </a:p>
        </p:txBody>
      </p:sp>
      <p:sp>
        <p:nvSpPr>
          <p:cNvPr id="11" name="TextBox 10"/>
          <p:cNvSpPr txBox="1"/>
          <p:nvPr/>
        </p:nvSpPr>
        <p:spPr>
          <a:xfrm>
            <a:off x="1088136" y="4142231"/>
            <a:ext cx="2825496" cy="603504"/>
          </a:xfrm>
          <a:prstGeom prst="rect">
            <a:avLst/>
          </a:prstGeom>
          <a:noFill/>
        </p:spPr>
        <p:txBody>
          <a:bodyPr wrap="square" lIns="0" tIns="0" rIns="0" bIns="0" anchor="t">
            <a:spAutoFit/>
          </a:bodyPr>
          <a:lstStyle/>
          <a:p>
            <a:pPr algn="l">
              <a:spcBef>
                <a:spcPts val="0"/>
              </a:spcBef>
              <a:spcAft>
                <a:spcPts val="400"/>
              </a:spcAft>
            </a:pPr>
            <a:r>
              <a:rPr sz="1100" b="0" i="0">
                <a:solidFill>
                  <a:srgbClr val="003352"/>
                </a:solidFill>
                <a:latin typeface="Century Gothic"/>
              </a:rPr>
              <a:t>Cart opened → address confirmed</a:t>
            </a:r>
          </a:p>
        </p:txBody>
      </p:sp>
      <p:sp>
        <p:nvSpPr>
          <p:cNvPr id="12" name="Rounded Rectangle 11"/>
          <p:cNvSpPr/>
          <p:nvPr/>
        </p:nvSpPr>
        <p:spPr>
          <a:xfrm>
            <a:off x="685800" y="4809743"/>
            <a:ext cx="310896" cy="274320"/>
          </a:xfrm>
          <a:prstGeom prst="roundRect">
            <a:avLst>
              <a:gd name="adj" fmla="val 16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50" b="1" i="0">
                <a:solidFill>
                  <a:srgbClr val="536B7A"/>
                </a:solidFill>
                <a:latin typeface="Century Gothic"/>
              </a:rPr>
              <a:t>B</a:t>
            </a:r>
          </a:p>
        </p:txBody>
      </p:sp>
      <p:sp>
        <p:nvSpPr>
          <p:cNvPr id="13" name="TextBox 12"/>
          <p:cNvSpPr txBox="1"/>
          <p:nvPr/>
        </p:nvSpPr>
        <p:spPr>
          <a:xfrm>
            <a:off x="1088136" y="4800599"/>
            <a:ext cx="2825496" cy="603504"/>
          </a:xfrm>
          <a:prstGeom prst="rect">
            <a:avLst/>
          </a:prstGeom>
          <a:noFill/>
        </p:spPr>
        <p:txBody>
          <a:bodyPr wrap="square" lIns="0" tIns="0" rIns="0" bIns="0" anchor="t">
            <a:spAutoFit/>
          </a:bodyPr>
          <a:lstStyle/>
          <a:p>
            <a:pPr algn="l">
              <a:spcBef>
                <a:spcPts val="0"/>
              </a:spcBef>
              <a:spcAft>
                <a:spcPts val="400"/>
              </a:spcAft>
            </a:pPr>
            <a:r>
              <a:rPr sz="1100" b="0" i="0">
                <a:solidFill>
                  <a:srgbClr val="003352"/>
                </a:solidFill>
                <a:latin typeface="Century Gothic"/>
              </a:rPr>
              <a:t>Payment chosen → payment attempted</a:t>
            </a:r>
          </a:p>
        </p:txBody>
      </p:sp>
      <p:sp>
        <p:nvSpPr>
          <p:cNvPr id="14" name="Rounded Rectangle 13"/>
          <p:cNvSpPr/>
          <p:nvPr/>
        </p:nvSpPr>
        <p:spPr>
          <a:xfrm>
            <a:off x="685800" y="5468111"/>
            <a:ext cx="310896" cy="274320"/>
          </a:xfrm>
          <a:prstGeom prst="roundRect">
            <a:avLst>
              <a:gd name="adj" fmla="val 16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50" b="1" i="0">
                <a:solidFill>
                  <a:srgbClr val="536B7A"/>
                </a:solidFill>
                <a:latin typeface="Century Gothic"/>
              </a:rPr>
              <a:t>C</a:t>
            </a:r>
          </a:p>
        </p:txBody>
      </p:sp>
      <p:sp>
        <p:nvSpPr>
          <p:cNvPr id="15" name="TextBox 14"/>
          <p:cNvSpPr txBox="1"/>
          <p:nvPr/>
        </p:nvSpPr>
        <p:spPr>
          <a:xfrm>
            <a:off x="1088136" y="5458967"/>
            <a:ext cx="2825496" cy="603504"/>
          </a:xfrm>
          <a:prstGeom prst="rect">
            <a:avLst/>
          </a:prstGeom>
          <a:noFill/>
        </p:spPr>
        <p:txBody>
          <a:bodyPr wrap="square" lIns="0" tIns="0" rIns="0" bIns="0" anchor="t">
            <a:spAutoFit/>
          </a:bodyPr>
          <a:lstStyle/>
          <a:p>
            <a:pPr algn="l">
              <a:spcBef>
                <a:spcPts val="0"/>
              </a:spcBef>
              <a:spcAft>
                <a:spcPts val="400"/>
              </a:spcAft>
            </a:pPr>
            <a:r>
              <a:rPr sz="1100" b="0" i="0">
                <a:solidFill>
                  <a:srgbClr val="003352"/>
                </a:solidFill>
                <a:latin typeface="Century Gothic"/>
              </a:rPr>
              <a:t>Payment attempted → order placed</a:t>
            </a:r>
          </a:p>
        </p:txBody>
      </p:sp>
      <p:sp>
        <p:nvSpPr>
          <p:cNvPr id="16" name="Rounded Rectangle 15"/>
          <p:cNvSpPr/>
          <p:nvPr/>
        </p:nvSpPr>
        <p:spPr>
          <a:xfrm>
            <a:off x="4297680" y="3172968"/>
            <a:ext cx="3611880" cy="2980944"/>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4480560" y="3328415"/>
            <a:ext cx="365760" cy="292608"/>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i="0">
                <a:solidFill>
                  <a:srgbClr val="63E7A4"/>
                </a:solidFill>
                <a:latin typeface="Century Gothic"/>
              </a:rPr>
              <a:t>2</a:t>
            </a:r>
          </a:p>
        </p:txBody>
      </p:sp>
      <p:sp>
        <p:nvSpPr>
          <p:cNvPr id="18" name="TextBox 17"/>
          <p:cNvSpPr txBox="1"/>
          <p:nvPr/>
        </p:nvSpPr>
        <p:spPr>
          <a:xfrm>
            <a:off x="4937760" y="3300984"/>
            <a:ext cx="2770632" cy="804672"/>
          </a:xfrm>
          <a:prstGeom prst="rect">
            <a:avLst/>
          </a:prstGeom>
          <a:noFill/>
        </p:spPr>
        <p:txBody>
          <a:bodyPr wrap="square" lIns="0" tIns="0" rIns="0" bIns="0" anchor="t">
            <a:spAutoFit/>
          </a:bodyPr>
          <a:lstStyle/>
          <a:p>
            <a:pPr algn="l">
              <a:spcBef>
                <a:spcPts val="0"/>
              </a:spcBef>
              <a:spcAft>
                <a:spcPts val="400"/>
              </a:spcAft>
            </a:pPr>
            <a:r>
              <a:rPr sz="1200" b="1" i="0">
                <a:solidFill>
                  <a:srgbClr val="003352"/>
                </a:solidFill>
                <a:latin typeface="Century Gothic"/>
              </a:rPr>
              <a:t>What do you look at next?</a:t>
            </a:r>
          </a:p>
        </p:txBody>
      </p:sp>
      <p:sp>
        <p:nvSpPr>
          <p:cNvPr id="19" name="Rounded Rectangle 18"/>
          <p:cNvSpPr/>
          <p:nvPr/>
        </p:nvSpPr>
        <p:spPr>
          <a:xfrm>
            <a:off x="4480560" y="4151375"/>
            <a:ext cx="310896" cy="274320"/>
          </a:xfrm>
          <a:prstGeom prst="roundRect">
            <a:avLst>
              <a:gd name="adj" fmla="val 16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50" b="1" i="0">
                <a:solidFill>
                  <a:srgbClr val="536B7A"/>
                </a:solidFill>
                <a:latin typeface="Century Gothic"/>
              </a:rPr>
              <a:t>A</a:t>
            </a:r>
          </a:p>
        </p:txBody>
      </p:sp>
      <p:sp>
        <p:nvSpPr>
          <p:cNvPr id="20" name="TextBox 19"/>
          <p:cNvSpPr txBox="1"/>
          <p:nvPr/>
        </p:nvSpPr>
        <p:spPr>
          <a:xfrm>
            <a:off x="4882896" y="4142231"/>
            <a:ext cx="2825496" cy="603504"/>
          </a:xfrm>
          <a:prstGeom prst="rect">
            <a:avLst/>
          </a:prstGeom>
          <a:noFill/>
        </p:spPr>
        <p:txBody>
          <a:bodyPr wrap="square" lIns="0" tIns="0" rIns="0" bIns="0" anchor="t">
            <a:spAutoFit/>
          </a:bodyPr>
          <a:lstStyle/>
          <a:p>
            <a:pPr algn="l">
              <a:spcBef>
                <a:spcPts val="0"/>
              </a:spcBef>
              <a:spcAft>
                <a:spcPts val="400"/>
              </a:spcAft>
            </a:pPr>
            <a:r>
              <a:rPr sz="1100" b="0" i="0">
                <a:solidFill>
                  <a:srgbClr val="003352"/>
                </a:solidFill>
                <a:latin typeface="Century Gothic"/>
              </a:rPr>
              <a:t>Ask design to redo the cart page</a:t>
            </a:r>
          </a:p>
        </p:txBody>
      </p:sp>
      <p:sp>
        <p:nvSpPr>
          <p:cNvPr id="21" name="Rounded Rectangle 20"/>
          <p:cNvSpPr/>
          <p:nvPr/>
        </p:nvSpPr>
        <p:spPr>
          <a:xfrm>
            <a:off x="4480560" y="4809743"/>
            <a:ext cx="310896" cy="274320"/>
          </a:xfrm>
          <a:prstGeom prst="roundRect">
            <a:avLst>
              <a:gd name="adj" fmla="val 16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50" b="1" i="0">
                <a:solidFill>
                  <a:srgbClr val="536B7A"/>
                </a:solidFill>
                <a:latin typeface="Century Gothic"/>
              </a:rPr>
              <a:t>B</a:t>
            </a:r>
          </a:p>
        </p:txBody>
      </p:sp>
      <p:sp>
        <p:nvSpPr>
          <p:cNvPr id="22" name="TextBox 21"/>
          <p:cNvSpPr txBox="1"/>
          <p:nvPr/>
        </p:nvSpPr>
        <p:spPr>
          <a:xfrm>
            <a:off x="4882896" y="4800599"/>
            <a:ext cx="2825496" cy="603504"/>
          </a:xfrm>
          <a:prstGeom prst="rect">
            <a:avLst/>
          </a:prstGeom>
          <a:noFill/>
        </p:spPr>
        <p:txBody>
          <a:bodyPr wrap="square" lIns="0" tIns="0" rIns="0" bIns="0" anchor="t">
            <a:spAutoFit/>
          </a:bodyPr>
          <a:lstStyle/>
          <a:p>
            <a:pPr algn="l">
              <a:spcBef>
                <a:spcPts val="0"/>
              </a:spcBef>
              <a:spcAft>
                <a:spcPts val="400"/>
              </a:spcAft>
            </a:pPr>
            <a:r>
              <a:rPr sz="1100" b="0" i="0">
                <a:solidFill>
                  <a:srgbClr val="003352"/>
                </a:solidFill>
                <a:latin typeface="Century Gothic"/>
              </a:rPr>
              <a:t>Split the last step by payment method and error code</a:t>
            </a:r>
          </a:p>
        </p:txBody>
      </p:sp>
      <p:sp>
        <p:nvSpPr>
          <p:cNvPr id="23" name="Rounded Rectangle 22"/>
          <p:cNvSpPr/>
          <p:nvPr/>
        </p:nvSpPr>
        <p:spPr>
          <a:xfrm>
            <a:off x="4480560" y="5468111"/>
            <a:ext cx="310896" cy="274320"/>
          </a:xfrm>
          <a:prstGeom prst="roundRect">
            <a:avLst>
              <a:gd name="adj" fmla="val 16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50" b="1" i="0">
                <a:solidFill>
                  <a:srgbClr val="536B7A"/>
                </a:solidFill>
                <a:latin typeface="Century Gothic"/>
              </a:rPr>
              <a:t>C</a:t>
            </a:r>
          </a:p>
        </p:txBody>
      </p:sp>
      <p:sp>
        <p:nvSpPr>
          <p:cNvPr id="24" name="TextBox 23"/>
          <p:cNvSpPr txBox="1"/>
          <p:nvPr/>
        </p:nvSpPr>
        <p:spPr>
          <a:xfrm>
            <a:off x="4882896" y="5458967"/>
            <a:ext cx="2825496" cy="603504"/>
          </a:xfrm>
          <a:prstGeom prst="rect">
            <a:avLst/>
          </a:prstGeom>
          <a:noFill/>
        </p:spPr>
        <p:txBody>
          <a:bodyPr wrap="square" lIns="0" tIns="0" rIns="0" bIns="0" anchor="t">
            <a:spAutoFit/>
          </a:bodyPr>
          <a:lstStyle/>
          <a:p>
            <a:pPr algn="l">
              <a:spcBef>
                <a:spcPts val="0"/>
              </a:spcBef>
              <a:spcAft>
                <a:spcPts val="400"/>
              </a:spcAft>
            </a:pPr>
            <a:r>
              <a:rPr sz="1100" b="0" i="0">
                <a:solidFill>
                  <a:srgbClr val="003352"/>
                </a:solidFill>
                <a:latin typeface="Century Gothic"/>
              </a:rPr>
              <a:t>Run a survey on the homepage</a:t>
            </a:r>
          </a:p>
        </p:txBody>
      </p:sp>
      <p:sp>
        <p:nvSpPr>
          <p:cNvPr id="25" name="Rounded Rectangle 24"/>
          <p:cNvSpPr/>
          <p:nvPr/>
        </p:nvSpPr>
        <p:spPr>
          <a:xfrm>
            <a:off x="8092440" y="3172968"/>
            <a:ext cx="3611880" cy="2980944"/>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Oval 25"/>
          <p:cNvSpPr/>
          <p:nvPr/>
        </p:nvSpPr>
        <p:spPr>
          <a:xfrm>
            <a:off x="8275320" y="3328415"/>
            <a:ext cx="365760" cy="292608"/>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i="0">
                <a:solidFill>
                  <a:srgbClr val="63E7A4"/>
                </a:solidFill>
                <a:latin typeface="Century Gothic"/>
              </a:rPr>
              <a:t>3</a:t>
            </a:r>
          </a:p>
        </p:txBody>
      </p:sp>
      <p:sp>
        <p:nvSpPr>
          <p:cNvPr id="27" name="TextBox 26"/>
          <p:cNvSpPr txBox="1"/>
          <p:nvPr/>
        </p:nvSpPr>
        <p:spPr>
          <a:xfrm>
            <a:off x="8732520" y="3300984"/>
            <a:ext cx="2770632" cy="804672"/>
          </a:xfrm>
          <a:prstGeom prst="rect">
            <a:avLst/>
          </a:prstGeom>
          <a:noFill/>
        </p:spPr>
        <p:txBody>
          <a:bodyPr wrap="square" lIns="0" tIns="0" rIns="0" bIns="0" anchor="t">
            <a:spAutoFit/>
          </a:bodyPr>
          <a:lstStyle/>
          <a:p>
            <a:pPr algn="l">
              <a:spcBef>
                <a:spcPts val="0"/>
              </a:spcBef>
              <a:spcAft>
                <a:spcPts val="400"/>
              </a:spcAft>
            </a:pPr>
            <a:r>
              <a:rPr sz="1200" b="1" i="0">
                <a:solidFill>
                  <a:srgbClr val="003352"/>
                </a:solidFill>
                <a:latin typeface="Century Gothic"/>
              </a:rPr>
              <a:t>Which single number do you report upwards?</a:t>
            </a:r>
          </a:p>
        </p:txBody>
      </p:sp>
      <p:sp>
        <p:nvSpPr>
          <p:cNvPr id="28" name="Rounded Rectangle 27"/>
          <p:cNvSpPr/>
          <p:nvPr/>
        </p:nvSpPr>
        <p:spPr>
          <a:xfrm>
            <a:off x="8275320" y="4151375"/>
            <a:ext cx="310896" cy="274320"/>
          </a:xfrm>
          <a:prstGeom prst="roundRect">
            <a:avLst>
              <a:gd name="adj" fmla="val 16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50" b="1" i="0">
                <a:solidFill>
                  <a:srgbClr val="536B7A"/>
                </a:solidFill>
                <a:latin typeface="Century Gothic"/>
              </a:rPr>
              <a:t>A</a:t>
            </a:r>
          </a:p>
        </p:txBody>
      </p:sp>
      <p:sp>
        <p:nvSpPr>
          <p:cNvPr id="29" name="TextBox 28"/>
          <p:cNvSpPr txBox="1"/>
          <p:nvPr/>
        </p:nvSpPr>
        <p:spPr>
          <a:xfrm>
            <a:off x="8677656" y="4142231"/>
            <a:ext cx="2825496" cy="603504"/>
          </a:xfrm>
          <a:prstGeom prst="rect">
            <a:avLst/>
          </a:prstGeom>
          <a:noFill/>
        </p:spPr>
        <p:txBody>
          <a:bodyPr wrap="square" lIns="0" tIns="0" rIns="0" bIns="0" anchor="t">
            <a:spAutoFit/>
          </a:bodyPr>
          <a:lstStyle/>
          <a:p>
            <a:pPr algn="l">
              <a:spcBef>
                <a:spcPts val="0"/>
              </a:spcBef>
              <a:spcAft>
                <a:spcPts val="400"/>
              </a:spcAft>
            </a:pPr>
            <a:r>
              <a:rPr sz="1100" b="0" i="0">
                <a:solidFill>
                  <a:srgbClr val="003352"/>
                </a:solidFill>
                <a:latin typeface="Century Gothic"/>
              </a:rPr>
              <a:t>44,000 orders placed</a:t>
            </a:r>
          </a:p>
        </p:txBody>
      </p:sp>
      <p:sp>
        <p:nvSpPr>
          <p:cNvPr id="30" name="Rounded Rectangle 29"/>
          <p:cNvSpPr/>
          <p:nvPr/>
        </p:nvSpPr>
        <p:spPr>
          <a:xfrm>
            <a:off x="8275320" y="4809743"/>
            <a:ext cx="310896" cy="274320"/>
          </a:xfrm>
          <a:prstGeom prst="roundRect">
            <a:avLst>
              <a:gd name="adj" fmla="val 16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50" b="1" i="0">
                <a:solidFill>
                  <a:srgbClr val="536B7A"/>
                </a:solidFill>
                <a:latin typeface="Century Gothic"/>
              </a:rPr>
              <a:t>B</a:t>
            </a:r>
          </a:p>
        </p:txBody>
      </p:sp>
      <p:sp>
        <p:nvSpPr>
          <p:cNvPr id="31" name="TextBox 30"/>
          <p:cNvSpPr txBox="1"/>
          <p:nvPr/>
        </p:nvSpPr>
        <p:spPr>
          <a:xfrm>
            <a:off x="8677656" y="4800599"/>
            <a:ext cx="2825496" cy="603504"/>
          </a:xfrm>
          <a:prstGeom prst="rect">
            <a:avLst/>
          </a:prstGeom>
          <a:noFill/>
        </p:spPr>
        <p:txBody>
          <a:bodyPr wrap="square" lIns="0" tIns="0" rIns="0" bIns="0" anchor="t">
            <a:spAutoFit/>
          </a:bodyPr>
          <a:lstStyle/>
          <a:p>
            <a:pPr algn="l">
              <a:spcBef>
                <a:spcPts val="0"/>
              </a:spcBef>
              <a:spcAft>
                <a:spcPts val="400"/>
              </a:spcAft>
            </a:pPr>
            <a:r>
              <a:rPr sz="1100" b="0" i="0">
                <a:solidFill>
                  <a:srgbClr val="003352"/>
                </a:solidFill>
                <a:latin typeface="Century Gothic"/>
              </a:rPr>
              <a:t>100,000 carts opened</a:t>
            </a:r>
          </a:p>
        </p:txBody>
      </p:sp>
      <p:sp>
        <p:nvSpPr>
          <p:cNvPr id="32" name="Rounded Rectangle 31"/>
          <p:cNvSpPr/>
          <p:nvPr/>
        </p:nvSpPr>
        <p:spPr>
          <a:xfrm>
            <a:off x="8275320" y="5468111"/>
            <a:ext cx="310896" cy="274320"/>
          </a:xfrm>
          <a:prstGeom prst="roundRect">
            <a:avLst>
              <a:gd name="adj" fmla="val 16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50" b="1" i="0">
                <a:solidFill>
                  <a:srgbClr val="536B7A"/>
                </a:solidFill>
                <a:latin typeface="Century Gothic"/>
              </a:rPr>
              <a:t>C</a:t>
            </a:r>
          </a:p>
        </p:txBody>
      </p:sp>
      <p:sp>
        <p:nvSpPr>
          <p:cNvPr id="33" name="TextBox 32"/>
          <p:cNvSpPr txBox="1"/>
          <p:nvPr/>
        </p:nvSpPr>
        <p:spPr>
          <a:xfrm>
            <a:off x="8677656" y="5458967"/>
            <a:ext cx="2825496" cy="603504"/>
          </a:xfrm>
          <a:prstGeom prst="rect">
            <a:avLst/>
          </a:prstGeom>
          <a:noFill/>
        </p:spPr>
        <p:txBody>
          <a:bodyPr wrap="square" lIns="0" tIns="0" rIns="0" bIns="0" anchor="t">
            <a:spAutoFit/>
          </a:bodyPr>
          <a:lstStyle/>
          <a:p>
            <a:pPr algn="l">
              <a:spcBef>
                <a:spcPts val="0"/>
              </a:spcBef>
              <a:spcAft>
                <a:spcPts val="400"/>
              </a:spcAft>
            </a:pPr>
            <a:r>
              <a:rPr sz="1100" b="0" i="0">
                <a:solidFill>
                  <a:srgbClr val="003352"/>
                </a:solidFill>
                <a:latin typeface="Century Gothic"/>
              </a:rPr>
              <a:t>Checkout completion, 44%</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9C9803DD-4CFB-5066-AE4C-71A5FFA60AFD}"/>
              </a:ext>
            </a:extLst>
          </p:cNvPr>
          <p:cNvGraphicFramePr>
            <a:graphicFrameLocks noGrp="1"/>
          </p:cNvGraphicFramePr>
          <p:nvPr>
            <p:ph idx="1"/>
          </p:nvPr>
        </p:nvGraphicFramePr>
        <p:xfrm>
          <a:off x="635000" y="1562259"/>
          <a:ext cx="10515600" cy="4389120"/>
        </p:xfrm>
        <a:graphic>
          <a:graphicData uri="http://schemas.openxmlformats.org/drawingml/2006/table">
            <a:tbl>
              <a:tblPr/>
              <a:tblGrid>
                <a:gridCol w="5257800">
                  <a:extLst>
                    <a:ext uri="{9D8B030D-6E8A-4147-A177-3AD203B41FA5}">
                      <a16:colId xmlns:a16="http://schemas.microsoft.com/office/drawing/2014/main" val="1020890927"/>
                    </a:ext>
                  </a:extLst>
                </a:gridCol>
                <a:gridCol w="5257800">
                  <a:extLst>
                    <a:ext uri="{9D8B030D-6E8A-4147-A177-3AD203B41FA5}">
                      <a16:colId xmlns:a16="http://schemas.microsoft.com/office/drawing/2014/main" val="3117598456"/>
                    </a:ext>
                  </a:extLst>
                </a:gridCol>
              </a:tblGrid>
              <a:tr h="0">
                <a:tc>
                  <a:txBody>
                    <a:bodyPr/>
                    <a:lstStyle/>
                    <a:p>
                      <a:r>
                        <a:rPr lang="en-IN"/>
                        <a:t>Stage</a:t>
                      </a:r>
                    </a:p>
                  </a:txBody>
                  <a:tcPr anchor="ctr">
                    <a:lnL>
                      <a:noFill/>
                    </a:lnL>
                    <a:lnR>
                      <a:noFill/>
                    </a:lnR>
                    <a:lnT>
                      <a:noFill/>
                    </a:lnT>
                    <a:lnB>
                      <a:noFill/>
                    </a:lnB>
                    <a:noFill/>
                  </a:tcPr>
                </a:tc>
                <a:tc>
                  <a:txBody>
                    <a:bodyPr/>
                    <a:lstStyle/>
                    <a:p>
                      <a:r>
                        <a:rPr lang="en-IN"/>
                        <a:t>Example</a:t>
                      </a:r>
                    </a:p>
                  </a:txBody>
                  <a:tcPr anchor="ctr">
                    <a:lnL>
                      <a:noFill/>
                    </a:lnL>
                    <a:lnR>
                      <a:noFill/>
                    </a:lnR>
                    <a:lnT>
                      <a:noFill/>
                    </a:lnT>
                    <a:lnB>
                      <a:noFill/>
                    </a:lnB>
                    <a:noFill/>
                  </a:tcPr>
                </a:tc>
                <a:extLst>
                  <a:ext uri="{0D108BD9-81ED-4DB2-BD59-A6C34878D82A}">
                    <a16:rowId xmlns:a16="http://schemas.microsoft.com/office/drawing/2014/main" val="878011544"/>
                  </a:ext>
                </a:extLst>
              </a:tr>
              <a:tr h="0">
                <a:tc>
                  <a:txBody>
                    <a:bodyPr/>
                    <a:lstStyle/>
                    <a:p>
                      <a:r>
                        <a:rPr lang="en-IN"/>
                        <a:t>Problem</a:t>
                      </a:r>
                    </a:p>
                  </a:txBody>
                  <a:tcPr anchor="ctr">
                    <a:lnL>
                      <a:noFill/>
                    </a:lnL>
                    <a:lnR>
                      <a:noFill/>
                    </a:lnR>
                    <a:lnT>
                      <a:noFill/>
                    </a:lnT>
                    <a:lnB>
                      <a:noFill/>
                    </a:lnB>
                    <a:noFill/>
                  </a:tcPr>
                </a:tc>
                <a:tc>
                  <a:txBody>
                    <a:bodyPr/>
                    <a:lstStyle/>
                    <a:p>
                      <a:r>
                        <a:rPr lang="en-US"/>
                        <a:t>Deliveries are delayed during peak hours.</a:t>
                      </a:r>
                    </a:p>
                  </a:txBody>
                  <a:tcPr anchor="ctr">
                    <a:lnL>
                      <a:noFill/>
                    </a:lnL>
                    <a:lnR>
                      <a:noFill/>
                    </a:lnR>
                    <a:lnT>
                      <a:noFill/>
                    </a:lnT>
                    <a:lnB>
                      <a:noFill/>
                    </a:lnB>
                    <a:noFill/>
                  </a:tcPr>
                </a:tc>
                <a:extLst>
                  <a:ext uri="{0D108BD9-81ED-4DB2-BD59-A6C34878D82A}">
                    <a16:rowId xmlns:a16="http://schemas.microsoft.com/office/drawing/2014/main" val="3640445406"/>
                  </a:ext>
                </a:extLst>
              </a:tr>
              <a:tr h="0">
                <a:tc>
                  <a:txBody>
                    <a:bodyPr/>
                    <a:lstStyle/>
                    <a:p>
                      <a:r>
                        <a:rPr lang="en-IN"/>
                        <a:t>Research</a:t>
                      </a:r>
                    </a:p>
                  </a:txBody>
                  <a:tcPr anchor="ctr">
                    <a:lnL>
                      <a:noFill/>
                    </a:lnL>
                    <a:lnR>
                      <a:noFill/>
                    </a:lnR>
                    <a:lnT>
                      <a:noFill/>
                    </a:lnT>
                    <a:lnB>
                      <a:noFill/>
                    </a:lnB>
                    <a:noFill/>
                  </a:tcPr>
                </a:tc>
                <a:tc>
                  <a:txBody>
                    <a:bodyPr/>
                    <a:lstStyle/>
                    <a:p>
                      <a:r>
                        <a:rPr lang="en-US"/>
                        <a:t>Customers want accurate delivery times.</a:t>
                      </a:r>
                    </a:p>
                  </a:txBody>
                  <a:tcPr anchor="ctr">
                    <a:lnL>
                      <a:noFill/>
                    </a:lnL>
                    <a:lnR>
                      <a:noFill/>
                    </a:lnR>
                    <a:lnT>
                      <a:noFill/>
                    </a:lnT>
                    <a:lnB>
                      <a:noFill/>
                    </a:lnB>
                    <a:noFill/>
                  </a:tcPr>
                </a:tc>
                <a:extLst>
                  <a:ext uri="{0D108BD9-81ED-4DB2-BD59-A6C34878D82A}">
                    <a16:rowId xmlns:a16="http://schemas.microsoft.com/office/drawing/2014/main" val="4259553651"/>
                  </a:ext>
                </a:extLst>
              </a:tr>
              <a:tr h="0">
                <a:tc>
                  <a:txBody>
                    <a:bodyPr/>
                    <a:lstStyle/>
                    <a:p>
                      <a:r>
                        <a:rPr lang="en-IN"/>
                        <a:t>Idea</a:t>
                      </a:r>
                    </a:p>
                  </a:txBody>
                  <a:tcPr anchor="ctr">
                    <a:lnL>
                      <a:noFill/>
                    </a:lnL>
                    <a:lnR>
                      <a:noFill/>
                    </a:lnR>
                    <a:lnT>
                      <a:noFill/>
                    </a:lnT>
                    <a:lnB>
                      <a:noFill/>
                    </a:lnB>
                    <a:noFill/>
                  </a:tcPr>
                </a:tc>
                <a:tc>
                  <a:txBody>
                    <a:bodyPr/>
                    <a:lstStyle/>
                    <a:p>
                      <a:r>
                        <a:rPr lang="en-IN"/>
                        <a:t>AI-based delivery time prediction.</a:t>
                      </a:r>
                    </a:p>
                  </a:txBody>
                  <a:tcPr anchor="ctr">
                    <a:lnL>
                      <a:noFill/>
                    </a:lnL>
                    <a:lnR>
                      <a:noFill/>
                    </a:lnR>
                    <a:lnT>
                      <a:noFill/>
                    </a:lnT>
                    <a:lnB>
                      <a:noFill/>
                    </a:lnB>
                    <a:noFill/>
                  </a:tcPr>
                </a:tc>
                <a:extLst>
                  <a:ext uri="{0D108BD9-81ED-4DB2-BD59-A6C34878D82A}">
                    <a16:rowId xmlns:a16="http://schemas.microsoft.com/office/drawing/2014/main" val="2711105884"/>
                  </a:ext>
                </a:extLst>
              </a:tr>
              <a:tr h="0">
                <a:tc>
                  <a:txBody>
                    <a:bodyPr/>
                    <a:lstStyle/>
                    <a:p>
                      <a:r>
                        <a:rPr lang="en-IN"/>
                        <a:t>Prioritize</a:t>
                      </a:r>
                    </a:p>
                  </a:txBody>
                  <a:tcPr anchor="ctr">
                    <a:lnL>
                      <a:noFill/>
                    </a:lnL>
                    <a:lnR>
                      <a:noFill/>
                    </a:lnR>
                    <a:lnT>
                      <a:noFill/>
                    </a:lnT>
                    <a:lnB>
                      <a:noFill/>
                    </a:lnB>
                    <a:noFill/>
                  </a:tcPr>
                </a:tc>
                <a:tc>
                  <a:txBody>
                    <a:bodyPr/>
                    <a:lstStyle/>
                    <a:p>
                      <a:r>
                        <a:rPr lang="en-US"/>
                        <a:t>High business value and moderate effort.</a:t>
                      </a:r>
                    </a:p>
                  </a:txBody>
                  <a:tcPr anchor="ctr">
                    <a:lnL>
                      <a:noFill/>
                    </a:lnL>
                    <a:lnR>
                      <a:noFill/>
                    </a:lnR>
                    <a:lnT>
                      <a:noFill/>
                    </a:lnT>
                    <a:lnB>
                      <a:noFill/>
                    </a:lnB>
                    <a:noFill/>
                  </a:tcPr>
                </a:tc>
                <a:extLst>
                  <a:ext uri="{0D108BD9-81ED-4DB2-BD59-A6C34878D82A}">
                    <a16:rowId xmlns:a16="http://schemas.microsoft.com/office/drawing/2014/main" val="892108254"/>
                  </a:ext>
                </a:extLst>
              </a:tr>
              <a:tr h="0">
                <a:tc>
                  <a:txBody>
                    <a:bodyPr/>
                    <a:lstStyle/>
                    <a:p>
                      <a:r>
                        <a:rPr lang="en-IN"/>
                        <a:t>Design</a:t>
                      </a:r>
                    </a:p>
                  </a:txBody>
                  <a:tcPr anchor="ctr">
                    <a:lnL>
                      <a:noFill/>
                    </a:lnL>
                    <a:lnR>
                      <a:noFill/>
                    </a:lnR>
                    <a:lnT>
                      <a:noFill/>
                    </a:lnT>
                    <a:lnB>
                      <a:noFill/>
                    </a:lnB>
                    <a:noFill/>
                  </a:tcPr>
                </a:tc>
                <a:tc>
                  <a:txBody>
                    <a:bodyPr/>
                    <a:lstStyle/>
                    <a:p>
                      <a:r>
                        <a:rPr lang="en-IN"/>
                        <a:t>Real-time delivery tracker.</a:t>
                      </a:r>
                    </a:p>
                  </a:txBody>
                  <a:tcPr anchor="ctr">
                    <a:lnL>
                      <a:noFill/>
                    </a:lnL>
                    <a:lnR>
                      <a:noFill/>
                    </a:lnR>
                    <a:lnT>
                      <a:noFill/>
                    </a:lnT>
                    <a:lnB>
                      <a:noFill/>
                    </a:lnB>
                    <a:noFill/>
                  </a:tcPr>
                </a:tc>
                <a:extLst>
                  <a:ext uri="{0D108BD9-81ED-4DB2-BD59-A6C34878D82A}">
                    <a16:rowId xmlns:a16="http://schemas.microsoft.com/office/drawing/2014/main" val="2954649640"/>
                  </a:ext>
                </a:extLst>
              </a:tr>
              <a:tr h="0">
                <a:tc>
                  <a:txBody>
                    <a:bodyPr/>
                    <a:lstStyle/>
                    <a:p>
                      <a:r>
                        <a:rPr lang="en-IN"/>
                        <a:t>Development</a:t>
                      </a:r>
                    </a:p>
                  </a:txBody>
                  <a:tcPr anchor="ctr">
                    <a:lnL>
                      <a:noFill/>
                    </a:lnL>
                    <a:lnR>
                      <a:noFill/>
                    </a:lnR>
                    <a:lnT>
                      <a:noFill/>
                    </a:lnT>
                    <a:lnB>
                      <a:noFill/>
                    </a:lnB>
                    <a:noFill/>
                  </a:tcPr>
                </a:tc>
                <a:tc>
                  <a:txBody>
                    <a:bodyPr/>
                    <a:lstStyle/>
                    <a:p>
                      <a:r>
                        <a:rPr lang="en-US"/>
                        <a:t>Build prediction engine and tracking UI.</a:t>
                      </a:r>
                    </a:p>
                  </a:txBody>
                  <a:tcPr anchor="ctr">
                    <a:lnL>
                      <a:noFill/>
                    </a:lnL>
                    <a:lnR>
                      <a:noFill/>
                    </a:lnR>
                    <a:lnT>
                      <a:noFill/>
                    </a:lnT>
                    <a:lnB>
                      <a:noFill/>
                    </a:lnB>
                    <a:noFill/>
                  </a:tcPr>
                </a:tc>
                <a:extLst>
                  <a:ext uri="{0D108BD9-81ED-4DB2-BD59-A6C34878D82A}">
                    <a16:rowId xmlns:a16="http://schemas.microsoft.com/office/drawing/2014/main" val="2408754739"/>
                  </a:ext>
                </a:extLst>
              </a:tr>
              <a:tr h="0">
                <a:tc>
                  <a:txBody>
                    <a:bodyPr/>
                    <a:lstStyle/>
                    <a:p>
                      <a:r>
                        <a:rPr lang="en-IN"/>
                        <a:t>Testing</a:t>
                      </a:r>
                    </a:p>
                  </a:txBody>
                  <a:tcPr anchor="ctr">
                    <a:lnL>
                      <a:noFill/>
                    </a:lnL>
                    <a:lnR>
                      <a:noFill/>
                    </a:lnR>
                    <a:lnT>
                      <a:noFill/>
                    </a:lnT>
                    <a:lnB>
                      <a:noFill/>
                    </a:lnB>
                    <a:noFill/>
                  </a:tcPr>
                </a:tc>
                <a:tc>
                  <a:txBody>
                    <a:bodyPr/>
                    <a:lstStyle/>
                    <a:p>
                      <a:r>
                        <a:rPr lang="en-IN"/>
                        <a:t>Simulate peak-hour traffic.</a:t>
                      </a:r>
                    </a:p>
                  </a:txBody>
                  <a:tcPr anchor="ctr">
                    <a:lnL>
                      <a:noFill/>
                    </a:lnL>
                    <a:lnR>
                      <a:noFill/>
                    </a:lnR>
                    <a:lnT>
                      <a:noFill/>
                    </a:lnT>
                    <a:lnB>
                      <a:noFill/>
                    </a:lnB>
                    <a:noFill/>
                  </a:tcPr>
                </a:tc>
                <a:extLst>
                  <a:ext uri="{0D108BD9-81ED-4DB2-BD59-A6C34878D82A}">
                    <a16:rowId xmlns:a16="http://schemas.microsoft.com/office/drawing/2014/main" val="173328335"/>
                  </a:ext>
                </a:extLst>
              </a:tr>
              <a:tr h="0">
                <a:tc>
                  <a:txBody>
                    <a:bodyPr/>
                    <a:lstStyle/>
                    <a:p>
                      <a:r>
                        <a:rPr lang="en-IN"/>
                        <a:t>Release</a:t>
                      </a:r>
                    </a:p>
                  </a:txBody>
                  <a:tcPr anchor="ctr">
                    <a:lnL>
                      <a:noFill/>
                    </a:lnL>
                    <a:lnR>
                      <a:noFill/>
                    </a:lnR>
                    <a:lnT>
                      <a:noFill/>
                    </a:lnT>
                    <a:lnB>
                      <a:noFill/>
                    </a:lnB>
                    <a:noFill/>
                  </a:tcPr>
                </a:tc>
                <a:tc>
                  <a:txBody>
                    <a:bodyPr/>
                    <a:lstStyle/>
                    <a:p>
                      <a:r>
                        <a:rPr lang="en-IN"/>
                        <a:t>Launch to selected cities.</a:t>
                      </a:r>
                    </a:p>
                  </a:txBody>
                  <a:tcPr anchor="ctr">
                    <a:lnL>
                      <a:noFill/>
                    </a:lnL>
                    <a:lnR>
                      <a:noFill/>
                    </a:lnR>
                    <a:lnT>
                      <a:noFill/>
                    </a:lnT>
                    <a:lnB>
                      <a:noFill/>
                    </a:lnB>
                    <a:noFill/>
                  </a:tcPr>
                </a:tc>
                <a:extLst>
                  <a:ext uri="{0D108BD9-81ED-4DB2-BD59-A6C34878D82A}">
                    <a16:rowId xmlns:a16="http://schemas.microsoft.com/office/drawing/2014/main" val="2181666960"/>
                  </a:ext>
                </a:extLst>
              </a:tr>
              <a:tr h="0">
                <a:tc>
                  <a:txBody>
                    <a:bodyPr/>
                    <a:lstStyle/>
                    <a:p>
                      <a:r>
                        <a:rPr lang="en-IN"/>
                        <a:t>Feedback</a:t>
                      </a:r>
                    </a:p>
                  </a:txBody>
                  <a:tcPr anchor="ctr">
                    <a:lnL>
                      <a:noFill/>
                    </a:lnL>
                    <a:lnR>
                      <a:noFill/>
                    </a:lnR>
                    <a:lnT>
                      <a:noFill/>
                    </a:lnT>
                    <a:lnB>
                      <a:noFill/>
                    </a:lnB>
                    <a:noFill/>
                  </a:tcPr>
                </a:tc>
                <a:tc>
                  <a:txBody>
                    <a:bodyPr/>
                    <a:lstStyle/>
                    <a:p>
                      <a:r>
                        <a:rPr lang="en-IN"/>
                        <a:t>Customers report improved trust.</a:t>
                      </a:r>
                    </a:p>
                  </a:txBody>
                  <a:tcPr anchor="ctr">
                    <a:lnL>
                      <a:noFill/>
                    </a:lnL>
                    <a:lnR>
                      <a:noFill/>
                    </a:lnR>
                    <a:lnT>
                      <a:noFill/>
                    </a:lnT>
                    <a:lnB>
                      <a:noFill/>
                    </a:lnB>
                    <a:noFill/>
                  </a:tcPr>
                </a:tc>
                <a:extLst>
                  <a:ext uri="{0D108BD9-81ED-4DB2-BD59-A6C34878D82A}">
                    <a16:rowId xmlns:a16="http://schemas.microsoft.com/office/drawing/2014/main" val="419136479"/>
                  </a:ext>
                </a:extLst>
              </a:tr>
              <a:tr h="0">
                <a:tc>
                  <a:txBody>
                    <a:bodyPr/>
                    <a:lstStyle/>
                    <a:p>
                      <a:r>
                        <a:rPr lang="en-IN"/>
                        <a:t>Measure</a:t>
                      </a:r>
                    </a:p>
                  </a:txBody>
                  <a:tcPr anchor="ctr">
                    <a:lnL>
                      <a:noFill/>
                    </a:lnL>
                    <a:lnR>
                      <a:noFill/>
                    </a:lnR>
                    <a:lnT>
                      <a:noFill/>
                    </a:lnT>
                    <a:lnB>
                      <a:noFill/>
                    </a:lnB>
                    <a:noFill/>
                  </a:tcPr>
                </a:tc>
                <a:tc>
                  <a:txBody>
                    <a:bodyPr/>
                    <a:lstStyle/>
                    <a:p>
                      <a:r>
                        <a:rPr lang="en-US"/>
                        <a:t>Delivery complaints drop by 35%.</a:t>
                      </a:r>
                    </a:p>
                  </a:txBody>
                  <a:tcPr anchor="ctr">
                    <a:lnL>
                      <a:noFill/>
                    </a:lnL>
                    <a:lnR>
                      <a:noFill/>
                    </a:lnR>
                    <a:lnT>
                      <a:noFill/>
                    </a:lnT>
                    <a:lnB>
                      <a:noFill/>
                    </a:lnB>
                    <a:noFill/>
                  </a:tcPr>
                </a:tc>
                <a:extLst>
                  <a:ext uri="{0D108BD9-81ED-4DB2-BD59-A6C34878D82A}">
                    <a16:rowId xmlns:a16="http://schemas.microsoft.com/office/drawing/2014/main" val="3586477382"/>
                  </a:ext>
                </a:extLst>
              </a:tr>
              <a:tr h="0">
                <a:tc>
                  <a:txBody>
                    <a:bodyPr/>
                    <a:lstStyle/>
                    <a:p>
                      <a:r>
                        <a:rPr lang="en-IN"/>
                        <a:t>Improve</a:t>
                      </a:r>
                    </a:p>
                  </a:txBody>
                  <a:tcPr anchor="ctr">
                    <a:lnL>
                      <a:noFill/>
                    </a:lnL>
                    <a:lnR>
                      <a:noFill/>
                    </a:lnR>
                    <a:lnT>
                      <a:noFill/>
                    </a:lnT>
                    <a:lnB>
                      <a:noFill/>
                    </a:lnB>
                    <a:noFill/>
                  </a:tcPr>
                </a:tc>
                <a:tc>
                  <a:txBody>
                    <a:bodyPr/>
                    <a:lstStyle/>
                    <a:p>
                      <a:r>
                        <a:rPr lang="en-US" dirty="0"/>
                        <a:t>Add driver live location sharing.</a:t>
                      </a:r>
                    </a:p>
                  </a:txBody>
                  <a:tcPr anchor="ctr">
                    <a:lnL>
                      <a:noFill/>
                    </a:lnL>
                    <a:lnR>
                      <a:noFill/>
                    </a:lnR>
                    <a:lnT>
                      <a:noFill/>
                    </a:lnT>
                    <a:lnB>
                      <a:noFill/>
                    </a:lnB>
                    <a:noFill/>
                  </a:tcPr>
                </a:tc>
                <a:extLst>
                  <a:ext uri="{0D108BD9-81ED-4DB2-BD59-A6C34878D82A}">
                    <a16:rowId xmlns:a16="http://schemas.microsoft.com/office/drawing/2014/main" val="2017266511"/>
                  </a:ext>
                </a:extLst>
              </a:tr>
            </a:tbl>
          </a:graphicData>
        </a:graphic>
      </p:graphicFrame>
      <p:sp>
        <p:nvSpPr>
          <p:cNvPr id="3" name="Content Placeholder 2">
            <a:extLst>
              <a:ext uri="{FF2B5EF4-FFF2-40B4-BE49-F238E27FC236}">
                <a16:creationId xmlns:a16="http://schemas.microsoft.com/office/drawing/2014/main" id="{CB79496E-6910-AEBD-1E0A-096C16E4E205}"/>
              </a:ext>
            </a:extLst>
          </p:cNvPr>
          <p:cNvSpPr>
            <a:spLocks noGrp="1"/>
          </p:cNvSpPr>
          <p:nvPr>
            <p:ph sz="quarter" idx="10"/>
          </p:nvPr>
        </p:nvSpPr>
        <p:spPr/>
        <p:txBody>
          <a:bodyPr/>
          <a:lstStyle/>
          <a:p>
            <a:r>
              <a:rPr lang="en-US" b="1" dirty="0"/>
              <a:t>Real-World Example: Food Delivery App</a:t>
            </a:r>
          </a:p>
          <a:p>
            <a:endParaRPr lang="en-IN" dirty="0"/>
          </a:p>
        </p:txBody>
      </p:sp>
    </p:spTree>
    <p:extLst>
      <p:ext uri="{BB962C8B-B14F-4D97-AF65-F5344CB8AC3E}">
        <p14:creationId xmlns:p14="http://schemas.microsoft.com/office/powerpoint/2010/main" val="41773365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wrap="square"/>
          <a:lstStyle/>
          <a:p>
            <a:r>
              <a:rPr sz="2600" b="1">
                <a:solidFill>
                  <a:srgbClr val="003352"/>
                </a:solidFill>
                <a:latin typeface="Century Gothic"/>
              </a:rPr>
              <a:t>Case: Instagram was not an Instagram idea</a:t>
            </a:r>
          </a:p>
        </p:txBody>
      </p:sp>
      <p:sp>
        <p:nvSpPr>
          <p:cNvPr id="4" name="Rounded Rectangle 3"/>
          <p:cNvSpPr/>
          <p:nvPr/>
        </p:nvSpPr>
        <p:spPr>
          <a:xfrm>
            <a:off x="502920" y="1371600"/>
            <a:ext cx="3054096" cy="292608"/>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ctr"/>
            <a:r>
              <a:rPr sz="1000" b="1" i="0">
                <a:solidFill>
                  <a:srgbClr val="003352"/>
                </a:solidFill>
                <a:latin typeface="Century Gothic"/>
              </a:rPr>
              <a:t>CASE  ·  DISCOVERY</a:t>
            </a:r>
          </a:p>
        </p:txBody>
      </p:sp>
      <p:sp>
        <p:nvSpPr>
          <p:cNvPr id="5" name="Rounded Rectangle 4"/>
          <p:cNvSpPr/>
          <p:nvPr/>
        </p:nvSpPr>
        <p:spPr>
          <a:xfrm>
            <a:off x="502920" y="1874519"/>
            <a:ext cx="2697480" cy="2788920"/>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ounded Rectangle 5"/>
          <p:cNvSpPr/>
          <p:nvPr/>
        </p:nvSpPr>
        <p:spPr>
          <a:xfrm>
            <a:off x="685800" y="2057400"/>
            <a:ext cx="1051560" cy="310896"/>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lIns="73152" rIns="73152" rtlCol="0" anchor="ctr"/>
          <a:lstStyle/>
          <a:p>
            <a:pPr algn="ctr"/>
            <a:r>
              <a:rPr sz="1000" b="1" i="0">
                <a:solidFill>
                  <a:srgbClr val="003352"/>
                </a:solidFill>
                <a:latin typeface="Century Gothic"/>
              </a:rPr>
              <a:t>2010</a:t>
            </a:r>
          </a:p>
        </p:txBody>
      </p:sp>
      <p:sp>
        <p:nvSpPr>
          <p:cNvPr id="7" name="TextBox 6"/>
          <p:cNvSpPr txBox="1"/>
          <p:nvPr/>
        </p:nvSpPr>
        <p:spPr>
          <a:xfrm>
            <a:off x="685800" y="2496312"/>
            <a:ext cx="2331720" cy="2011680"/>
          </a:xfrm>
          <a:prstGeom prst="rect">
            <a:avLst/>
          </a:prstGeom>
          <a:noFill/>
        </p:spPr>
        <p:txBody>
          <a:bodyPr wrap="square" lIns="0" tIns="0" rIns="0" bIns="0" anchor="t">
            <a:spAutoFit/>
          </a:bodyPr>
          <a:lstStyle/>
          <a:p>
            <a:pPr algn="l">
              <a:spcBef>
                <a:spcPts val="0"/>
              </a:spcBef>
              <a:spcAft>
                <a:spcPts val="600"/>
              </a:spcAft>
            </a:pPr>
            <a:r>
              <a:rPr sz="1300" b="1" i="0">
                <a:solidFill>
                  <a:srgbClr val="003352"/>
                </a:solidFill>
                <a:latin typeface="Century Gothic"/>
              </a:rPr>
              <a:t>Burbn ships</a:t>
            </a:r>
          </a:p>
          <a:p>
            <a:pPr algn="l">
              <a:spcBef>
                <a:spcPts val="0"/>
              </a:spcBef>
              <a:spcAft>
                <a:spcPts val="400"/>
              </a:spcAft>
            </a:pPr>
            <a:r>
              <a:rPr sz="1150" b="0" i="0">
                <a:solidFill>
                  <a:srgbClr val="003352"/>
                </a:solidFill>
                <a:latin typeface="Century Gothic"/>
              </a:rPr>
              <a:t>A check-in app. Plans, points, and photos among a dozen other features. Fully built, well engineered, and confusing to explain.</a:t>
            </a:r>
          </a:p>
        </p:txBody>
      </p:sp>
      <p:sp>
        <p:nvSpPr>
          <p:cNvPr id="8" name="Rounded Rectangle 7"/>
          <p:cNvSpPr/>
          <p:nvPr/>
        </p:nvSpPr>
        <p:spPr>
          <a:xfrm>
            <a:off x="3364992" y="1874519"/>
            <a:ext cx="2697480" cy="2788920"/>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ounded Rectangle 8"/>
          <p:cNvSpPr/>
          <p:nvPr/>
        </p:nvSpPr>
        <p:spPr>
          <a:xfrm>
            <a:off x="3547872" y="2057400"/>
            <a:ext cx="1051560" cy="310896"/>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lIns="73152" rIns="73152" rtlCol="0" anchor="ctr"/>
          <a:lstStyle/>
          <a:p>
            <a:pPr algn="ctr"/>
            <a:r>
              <a:rPr sz="1000" b="1" i="0">
                <a:solidFill>
                  <a:srgbClr val="003352"/>
                </a:solidFill>
                <a:latin typeface="Century Gothic"/>
              </a:rPr>
              <a:t>The data</a:t>
            </a:r>
          </a:p>
        </p:txBody>
      </p:sp>
      <p:sp>
        <p:nvSpPr>
          <p:cNvPr id="10" name="TextBox 9"/>
          <p:cNvSpPr txBox="1"/>
          <p:nvPr/>
        </p:nvSpPr>
        <p:spPr>
          <a:xfrm>
            <a:off x="3547872" y="2496312"/>
            <a:ext cx="2331720" cy="2011680"/>
          </a:xfrm>
          <a:prstGeom prst="rect">
            <a:avLst/>
          </a:prstGeom>
          <a:noFill/>
        </p:spPr>
        <p:txBody>
          <a:bodyPr wrap="square" lIns="0" tIns="0" rIns="0" bIns="0" anchor="t">
            <a:spAutoFit/>
          </a:bodyPr>
          <a:lstStyle/>
          <a:p>
            <a:pPr algn="l">
              <a:spcBef>
                <a:spcPts val="0"/>
              </a:spcBef>
              <a:spcAft>
                <a:spcPts val="600"/>
              </a:spcAft>
            </a:pPr>
            <a:r>
              <a:rPr sz="1300" b="1" i="0">
                <a:solidFill>
                  <a:srgbClr val="003352"/>
                </a:solidFill>
                <a:latin typeface="Century Gothic"/>
              </a:rPr>
              <a:t>One feature carried the app</a:t>
            </a:r>
          </a:p>
          <a:p>
            <a:pPr algn="l">
              <a:spcBef>
                <a:spcPts val="0"/>
              </a:spcBef>
              <a:spcAft>
                <a:spcPts val="400"/>
              </a:spcAft>
            </a:pPr>
            <a:r>
              <a:rPr sz="1150" b="0" i="0">
                <a:solidFill>
                  <a:srgbClr val="003352"/>
                </a:solidFill>
                <a:latin typeface="Century Gothic"/>
              </a:rPr>
              <a:t>Almost nobody used check-ins. Users kept returning for one thing: posting photos, filtering them, and commenting.</a:t>
            </a:r>
          </a:p>
        </p:txBody>
      </p:sp>
      <p:sp>
        <p:nvSpPr>
          <p:cNvPr id="11" name="Rounded Rectangle 10"/>
          <p:cNvSpPr/>
          <p:nvPr/>
        </p:nvSpPr>
        <p:spPr>
          <a:xfrm>
            <a:off x="6227064" y="1874519"/>
            <a:ext cx="2697480" cy="2788920"/>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6409944" y="2057400"/>
            <a:ext cx="1051560" cy="310896"/>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lIns="73152" rIns="73152" rtlCol="0" anchor="ctr"/>
          <a:lstStyle/>
          <a:p>
            <a:pPr algn="ctr"/>
            <a:r>
              <a:rPr sz="1000" b="1" i="0">
                <a:solidFill>
                  <a:srgbClr val="003352"/>
                </a:solidFill>
                <a:latin typeface="Century Gothic"/>
              </a:rPr>
              <a:t>The cut</a:t>
            </a:r>
          </a:p>
        </p:txBody>
      </p:sp>
      <p:sp>
        <p:nvSpPr>
          <p:cNvPr id="13" name="TextBox 12"/>
          <p:cNvSpPr txBox="1"/>
          <p:nvPr/>
        </p:nvSpPr>
        <p:spPr>
          <a:xfrm>
            <a:off x="6409944" y="2496312"/>
            <a:ext cx="2331720" cy="2011680"/>
          </a:xfrm>
          <a:prstGeom prst="rect">
            <a:avLst/>
          </a:prstGeom>
          <a:noFill/>
        </p:spPr>
        <p:txBody>
          <a:bodyPr wrap="square" lIns="0" tIns="0" rIns="0" bIns="0" anchor="t">
            <a:spAutoFit/>
          </a:bodyPr>
          <a:lstStyle/>
          <a:p>
            <a:pPr algn="l">
              <a:spcBef>
                <a:spcPts val="0"/>
              </a:spcBef>
              <a:spcAft>
                <a:spcPts val="600"/>
              </a:spcAft>
            </a:pPr>
            <a:r>
              <a:rPr sz="1300" b="1" i="0">
                <a:solidFill>
                  <a:srgbClr val="003352"/>
                </a:solidFill>
                <a:latin typeface="Century Gothic"/>
              </a:rPr>
              <a:t>Nine features deleted</a:t>
            </a:r>
          </a:p>
          <a:p>
            <a:pPr algn="l">
              <a:spcBef>
                <a:spcPts val="0"/>
              </a:spcBef>
              <a:spcAft>
                <a:spcPts val="400"/>
              </a:spcAft>
            </a:pPr>
            <a:r>
              <a:rPr sz="1150" b="0" i="0">
                <a:solidFill>
                  <a:srgbClr val="003352"/>
                </a:solidFill>
                <a:latin typeface="Century Gothic"/>
              </a:rPr>
              <a:t>Burbn was stripped to photos, filters, likes and comments. Everything the team had built around it was thrown away.</a:t>
            </a:r>
          </a:p>
        </p:txBody>
      </p:sp>
      <p:sp>
        <p:nvSpPr>
          <p:cNvPr id="14" name="Rounded Rectangle 13"/>
          <p:cNvSpPr/>
          <p:nvPr/>
        </p:nvSpPr>
        <p:spPr>
          <a:xfrm>
            <a:off x="9089136" y="1874519"/>
            <a:ext cx="2697480" cy="2788920"/>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unded Rectangle 14"/>
          <p:cNvSpPr/>
          <p:nvPr/>
        </p:nvSpPr>
        <p:spPr>
          <a:xfrm>
            <a:off x="9272016" y="2057400"/>
            <a:ext cx="1051560" cy="310896"/>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lIns="73152" rIns="73152" rtlCol="0" anchor="ctr"/>
          <a:lstStyle/>
          <a:p>
            <a:pPr algn="ctr"/>
            <a:r>
              <a:rPr sz="1000" b="1" i="0">
                <a:solidFill>
                  <a:srgbClr val="003352"/>
                </a:solidFill>
                <a:latin typeface="Century Gothic"/>
              </a:rPr>
              <a:t>Oct 2010</a:t>
            </a:r>
          </a:p>
        </p:txBody>
      </p:sp>
      <p:sp>
        <p:nvSpPr>
          <p:cNvPr id="16" name="TextBox 15"/>
          <p:cNvSpPr txBox="1"/>
          <p:nvPr/>
        </p:nvSpPr>
        <p:spPr>
          <a:xfrm>
            <a:off x="9272016" y="2496312"/>
            <a:ext cx="2331720" cy="2011680"/>
          </a:xfrm>
          <a:prstGeom prst="rect">
            <a:avLst/>
          </a:prstGeom>
          <a:noFill/>
        </p:spPr>
        <p:txBody>
          <a:bodyPr wrap="square" lIns="0" tIns="0" rIns="0" bIns="0" anchor="t">
            <a:spAutoFit/>
          </a:bodyPr>
          <a:lstStyle/>
          <a:p>
            <a:pPr algn="l">
              <a:spcBef>
                <a:spcPts val="0"/>
              </a:spcBef>
              <a:spcAft>
                <a:spcPts val="600"/>
              </a:spcAft>
            </a:pPr>
            <a:r>
              <a:rPr sz="1300" b="1" i="0">
                <a:solidFill>
                  <a:srgbClr val="003352"/>
                </a:solidFill>
                <a:latin typeface="Century Gothic"/>
              </a:rPr>
              <a:t>Instagram launches</a:t>
            </a:r>
          </a:p>
          <a:p>
            <a:pPr algn="l">
              <a:spcBef>
                <a:spcPts val="0"/>
              </a:spcBef>
              <a:spcAft>
                <a:spcPts val="400"/>
              </a:spcAft>
            </a:pPr>
            <a:r>
              <a:rPr sz="1150" b="0" i="0">
                <a:solidFill>
                  <a:srgbClr val="003352"/>
                </a:solidFill>
                <a:latin typeface="Century Gothic"/>
              </a:rPr>
              <a:t>Roughly 25,000 users on day one. Bought by Facebook for about $1B less than two years later.</a:t>
            </a:r>
          </a:p>
        </p:txBody>
      </p:sp>
      <p:sp>
        <p:nvSpPr>
          <p:cNvPr id="17" name="Rounded Rectangle 16"/>
          <p:cNvSpPr/>
          <p:nvPr/>
        </p:nvSpPr>
        <p:spPr>
          <a:xfrm>
            <a:off x="502920" y="5486400"/>
            <a:ext cx="11201400" cy="658368"/>
          </a:xfrm>
          <a:prstGeom prst="roundRect">
            <a:avLst>
              <a:gd name="adj" fmla="val 10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54864" rIns="201168" bIns="54864" rtlCol="0" anchor="ctr"/>
          <a:lstStyle/>
          <a:p>
            <a:r>
              <a:rPr sz="1300" b="1" i="0">
                <a:solidFill>
                  <a:srgbClr val="FFFFFF"/>
                </a:solidFill>
                <a:latin typeface="Century Gothic"/>
              </a:rPr>
              <a:t>The winning feature was already inside the product. Discovery was not inventing photos — it was the decision to delete the other nine things the team had spent a year building.</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wrap="square"/>
          <a:lstStyle/>
          <a:p>
            <a:r>
              <a:rPr sz="2600" b="1">
                <a:solidFill>
                  <a:srgbClr val="003352"/>
                </a:solidFill>
                <a:latin typeface="Century Gothic"/>
              </a:rPr>
              <a:t>Case: Slack came out of a failed game</a:t>
            </a:r>
          </a:p>
        </p:txBody>
      </p:sp>
      <p:sp>
        <p:nvSpPr>
          <p:cNvPr id="4" name="Rounded Rectangle 3"/>
          <p:cNvSpPr/>
          <p:nvPr/>
        </p:nvSpPr>
        <p:spPr>
          <a:xfrm>
            <a:off x="502920" y="1371600"/>
            <a:ext cx="3054096" cy="292608"/>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ctr"/>
            <a:r>
              <a:rPr sz="1000" b="1" i="0">
                <a:solidFill>
                  <a:srgbClr val="003352"/>
                </a:solidFill>
                <a:latin typeface="Century Gothic"/>
              </a:rPr>
              <a:t>CASE  ·  DISCOVERY</a:t>
            </a:r>
          </a:p>
        </p:txBody>
      </p:sp>
      <p:sp>
        <p:nvSpPr>
          <p:cNvPr id="5" name="Rounded Rectangle 4"/>
          <p:cNvSpPr/>
          <p:nvPr/>
        </p:nvSpPr>
        <p:spPr>
          <a:xfrm>
            <a:off x="502920" y="1874519"/>
            <a:ext cx="5394960" cy="2788920"/>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ounded Rectangle 5"/>
          <p:cNvSpPr/>
          <p:nvPr/>
        </p:nvSpPr>
        <p:spPr>
          <a:xfrm>
            <a:off x="502920" y="1874519"/>
            <a:ext cx="5394960" cy="475488"/>
          </a:xfrm>
          <a:prstGeom prst="roundRect">
            <a:avLst>
              <a:gd name="adj" fmla="val 14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0" rIns="128016" bIns="0" rtlCol="0" anchor="ctr"/>
          <a:lstStyle/>
          <a:p>
            <a:r>
              <a:rPr sz="1400" b="1" i="0">
                <a:solidFill>
                  <a:srgbClr val="FFFFFF"/>
                </a:solidFill>
                <a:latin typeface="Century Gothic"/>
              </a:rPr>
              <a:t>What they set out to build</a:t>
            </a:r>
          </a:p>
        </p:txBody>
      </p:sp>
      <p:sp>
        <p:nvSpPr>
          <p:cNvPr id="7" name="TextBox 6"/>
          <p:cNvSpPr txBox="1"/>
          <p:nvPr/>
        </p:nvSpPr>
        <p:spPr>
          <a:xfrm>
            <a:off x="685800" y="2496312"/>
            <a:ext cx="5029200" cy="2039112"/>
          </a:xfrm>
          <a:prstGeom prst="rect">
            <a:avLst/>
          </a:prstGeom>
          <a:noFill/>
        </p:spPr>
        <p:txBody>
          <a:bodyPr wrap="square" lIns="0" tIns="0" rIns="0" bIns="0" anchor="t">
            <a:spAutoFit/>
          </a:bodyPr>
          <a:lstStyle/>
          <a:p>
            <a:pPr algn="l">
              <a:spcBef>
                <a:spcPts val="0"/>
              </a:spcBef>
              <a:spcAft>
                <a:spcPts val="1000"/>
              </a:spcAft>
            </a:pPr>
            <a:r>
              <a:rPr sz="1300" b="0" i="0">
                <a:solidFill>
                  <a:srgbClr val="003352"/>
                </a:solidFill>
                <a:latin typeface="Century Gothic"/>
              </a:rPr>
              <a:t>Glitch, an online multiplayer game. Years of work, real money raised, a real team.</a:t>
            </a:r>
          </a:p>
          <a:p>
            <a:pPr algn="l">
              <a:spcBef>
                <a:spcPts val="0"/>
              </a:spcBef>
              <a:spcAft>
                <a:spcPts val="1000"/>
              </a:spcAft>
            </a:pPr>
            <a:r>
              <a:rPr sz="1300" b="0" i="0">
                <a:solidFill>
                  <a:srgbClr val="003352"/>
                </a:solidFill>
                <a:latin typeface="Century Gothic"/>
              </a:rPr>
              <a:t>It shut down in 2012. The game did not find enough players.</a:t>
            </a:r>
          </a:p>
          <a:p>
            <a:pPr algn="l">
              <a:spcBef>
                <a:spcPts val="0"/>
              </a:spcBef>
              <a:spcAft>
                <a:spcPts val="400"/>
              </a:spcAft>
            </a:pPr>
            <a:r>
              <a:rPr sz="1300" b="0" i="0">
                <a:solidFill>
                  <a:srgbClr val="003352"/>
                </a:solidFill>
                <a:latin typeface="Century Gothic"/>
              </a:rPr>
              <a:t>To coordinate a distributed team, they had built themselves an internal chat tool: channels, searchable history, hooks into everything else they used.</a:t>
            </a:r>
          </a:p>
        </p:txBody>
      </p:sp>
      <p:sp>
        <p:nvSpPr>
          <p:cNvPr id="8" name="Rounded Rectangle 7"/>
          <p:cNvSpPr/>
          <p:nvPr/>
        </p:nvSpPr>
        <p:spPr>
          <a:xfrm>
            <a:off x="6126480" y="1874519"/>
            <a:ext cx="5577840" cy="2788920"/>
          </a:xfrm>
          <a:prstGeom prst="roundRect">
            <a:avLst>
              <a:gd name="adj" fmla="val 6000"/>
            </a:avLst>
          </a:prstGeom>
          <a:solidFill>
            <a:srgbClr val="E4F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ounded Rectangle 8"/>
          <p:cNvSpPr/>
          <p:nvPr/>
        </p:nvSpPr>
        <p:spPr>
          <a:xfrm>
            <a:off x="6126480" y="1874519"/>
            <a:ext cx="5577840" cy="475488"/>
          </a:xfrm>
          <a:prstGeom prst="roundRect">
            <a:avLst>
              <a:gd name="adj" fmla="val 14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0" rIns="128016" bIns="0" rtlCol="0" anchor="ctr"/>
          <a:lstStyle/>
          <a:p>
            <a:r>
              <a:rPr sz="1400" b="1" i="0">
                <a:solidFill>
                  <a:srgbClr val="003352"/>
                </a:solidFill>
                <a:latin typeface="Century Gothic"/>
              </a:rPr>
              <a:t>What they actually shipped</a:t>
            </a:r>
          </a:p>
        </p:txBody>
      </p:sp>
      <p:sp>
        <p:nvSpPr>
          <p:cNvPr id="10" name="TextBox 9"/>
          <p:cNvSpPr txBox="1"/>
          <p:nvPr/>
        </p:nvSpPr>
        <p:spPr>
          <a:xfrm>
            <a:off x="6309360" y="2496312"/>
            <a:ext cx="5212079" cy="2039112"/>
          </a:xfrm>
          <a:prstGeom prst="rect">
            <a:avLst/>
          </a:prstGeom>
          <a:noFill/>
        </p:spPr>
        <p:txBody>
          <a:bodyPr wrap="square" lIns="0" tIns="0" rIns="0" bIns="0" anchor="t">
            <a:spAutoFit/>
          </a:bodyPr>
          <a:lstStyle/>
          <a:p>
            <a:pPr algn="l">
              <a:spcBef>
                <a:spcPts val="0"/>
              </a:spcBef>
              <a:spcAft>
                <a:spcPts val="1000"/>
              </a:spcAft>
            </a:pPr>
            <a:r>
              <a:rPr sz="1300" b="0" i="0">
                <a:solidFill>
                  <a:srgbClr val="003352"/>
                </a:solidFill>
                <a:latin typeface="Century Gothic"/>
              </a:rPr>
              <a:t>The internal tool. Slack launched publicly in 2014 and became one of the fastest-adopted workplace products of the decade.</a:t>
            </a:r>
          </a:p>
          <a:p>
            <a:pPr algn="l">
              <a:spcBef>
                <a:spcPts val="0"/>
              </a:spcBef>
              <a:spcAft>
                <a:spcPts val="1000"/>
              </a:spcAft>
            </a:pPr>
            <a:r>
              <a:rPr sz="1300" b="0" i="0">
                <a:solidFill>
                  <a:srgbClr val="003352"/>
                </a:solidFill>
                <a:latin typeface="Century Gothic"/>
              </a:rPr>
              <a:t>They had already validated it, without calling it validation: their own team refused to work without it.</a:t>
            </a:r>
          </a:p>
          <a:p>
            <a:pPr algn="l">
              <a:spcBef>
                <a:spcPts val="0"/>
              </a:spcBef>
              <a:spcAft>
                <a:spcPts val="400"/>
              </a:spcAft>
            </a:pPr>
            <a:r>
              <a:rPr sz="1200" b="0" i="1">
                <a:solidFill>
                  <a:srgbClr val="536B7A"/>
                </a:solidFill>
                <a:latin typeface="Century Gothic"/>
              </a:rPr>
              <a:t>The same story runs through Twitter (a podcasting company) and YouTube (a video dating site).</a:t>
            </a:r>
          </a:p>
        </p:txBody>
      </p:sp>
      <p:sp>
        <p:nvSpPr>
          <p:cNvPr id="11" name="Rounded Rectangle 10"/>
          <p:cNvSpPr/>
          <p:nvPr/>
        </p:nvSpPr>
        <p:spPr>
          <a:xfrm>
            <a:off x="502920" y="5486400"/>
            <a:ext cx="11201400" cy="658368"/>
          </a:xfrm>
          <a:prstGeom prst="roundRect">
            <a:avLst>
              <a:gd name="adj" fmla="val 10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54864" rIns="201168" bIns="54864" rtlCol="0" anchor="ctr"/>
          <a:lstStyle/>
          <a:p>
            <a:r>
              <a:rPr sz="1300" b="1" i="0">
                <a:solidFill>
                  <a:srgbClr val="FFFFFF"/>
                </a:solidFill>
                <a:latin typeface="Century Gothic"/>
              </a:rPr>
              <a:t>Ask your own team: which internal script, dashboard or bot would cause a riot if it were switched off tomorrow? That is a validated product nobody has priced.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18535D-38DD-E75D-C03D-3A9016B7B795}"/>
              </a:ext>
            </a:extLst>
          </p:cNvPr>
          <p:cNvSpPr>
            <a:spLocks noGrp="1"/>
          </p:cNvSpPr>
          <p:nvPr>
            <p:ph sz="quarter" idx="10"/>
          </p:nvPr>
        </p:nvSpPr>
        <p:spPr>
          <a:xfrm>
            <a:off x="406400" y="152400"/>
            <a:ext cx="8432800" cy="1143000"/>
          </a:xfrm>
        </p:spPr>
        <p:txBody>
          <a:bodyPr anchor="ctr">
            <a:normAutofit/>
          </a:bodyPr>
          <a:lstStyle/>
          <a:p>
            <a:pPr>
              <a:spcAft>
                <a:spcPts val="600"/>
              </a:spcAft>
            </a:pPr>
            <a:r>
              <a:rPr lang="en-US" b="1" dirty="0"/>
              <a:t>Key Roles Across the Lifecycle</a:t>
            </a:r>
            <a:endParaRPr lang="en-US" b="1"/>
          </a:p>
          <a:p>
            <a:pPr>
              <a:spcAft>
                <a:spcPts val="600"/>
              </a:spcAft>
            </a:pPr>
            <a:endParaRPr lang="en-IN"/>
          </a:p>
        </p:txBody>
      </p:sp>
      <p:graphicFrame>
        <p:nvGraphicFramePr>
          <p:cNvPr id="4" name="Content Placeholder 3">
            <a:extLst>
              <a:ext uri="{FF2B5EF4-FFF2-40B4-BE49-F238E27FC236}">
                <a16:creationId xmlns:a16="http://schemas.microsoft.com/office/drawing/2014/main" id="{8F5067DF-49BE-1903-C378-410DCDBF1724}"/>
              </a:ext>
            </a:extLst>
          </p:cNvPr>
          <p:cNvGraphicFramePr>
            <a:graphicFrameLocks noGrp="1"/>
          </p:cNvGraphicFramePr>
          <p:nvPr>
            <p:ph idx="1"/>
            <p:extLst>
              <p:ext uri="{D42A27DB-BD31-4B8C-83A1-F6EECF244321}">
                <p14:modId xmlns:p14="http://schemas.microsoft.com/office/powerpoint/2010/main" val="2953649754"/>
              </p:ext>
            </p:extLst>
          </p:nvPr>
        </p:nvGraphicFramePr>
        <p:xfrm>
          <a:off x="625605" y="1493838"/>
          <a:ext cx="10534391" cy="4525968"/>
        </p:xfrm>
        <a:graphic>
          <a:graphicData uri="http://schemas.openxmlformats.org/drawingml/2006/table">
            <a:tbl>
              <a:tblPr/>
              <a:tblGrid>
                <a:gridCol w="4217816">
                  <a:extLst>
                    <a:ext uri="{9D8B030D-6E8A-4147-A177-3AD203B41FA5}">
                      <a16:colId xmlns:a16="http://schemas.microsoft.com/office/drawing/2014/main" val="1556254894"/>
                    </a:ext>
                  </a:extLst>
                </a:gridCol>
                <a:gridCol w="6316575">
                  <a:extLst>
                    <a:ext uri="{9D8B030D-6E8A-4147-A177-3AD203B41FA5}">
                      <a16:colId xmlns:a16="http://schemas.microsoft.com/office/drawing/2014/main" val="2983636177"/>
                    </a:ext>
                  </a:extLst>
                </a:gridCol>
              </a:tblGrid>
              <a:tr h="483356">
                <a:tc>
                  <a:txBody>
                    <a:bodyPr/>
                    <a:lstStyle/>
                    <a:p>
                      <a:r>
                        <a:rPr lang="en-IN" sz="2200" b="1" dirty="0"/>
                        <a:t>Role</a:t>
                      </a:r>
                    </a:p>
                  </a:txBody>
                  <a:tcPr marL="109853" marR="109853" marT="54927" marB="54927" anchor="ctr">
                    <a:lnL>
                      <a:noFill/>
                    </a:lnL>
                    <a:lnR>
                      <a:noFill/>
                    </a:lnR>
                    <a:lnT>
                      <a:noFill/>
                    </a:lnT>
                    <a:lnB>
                      <a:noFill/>
                    </a:lnB>
                    <a:noFill/>
                  </a:tcPr>
                </a:tc>
                <a:tc>
                  <a:txBody>
                    <a:bodyPr/>
                    <a:lstStyle/>
                    <a:p>
                      <a:r>
                        <a:rPr lang="en-IN" sz="2200" b="1" dirty="0"/>
                        <a:t>Primary Responsibility</a:t>
                      </a:r>
                    </a:p>
                  </a:txBody>
                  <a:tcPr marL="109853" marR="109853" marT="54927" marB="54927" anchor="ctr">
                    <a:lnL>
                      <a:noFill/>
                    </a:lnL>
                    <a:lnR>
                      <a:noFill/>
                    </a:lnR>
                    <a:lnT>
                      <a:noFill/>
                    </a:lnT>
                    <a:lnB>
                      <a:noFill/>
                    </a:lnB>
                    <a:noFill/>
                  </a:tcPr>
                </a:tc>
                <a:extLst>
                  <a:ext uri="{0D108BD9-81ED-4DB2-BD59-A6C34878D82A}">
                    <a16:rowId xmlns:a16="http://schemas.microsoft.com/office/drawing/2014/main" val="2655470044"/>
                  </a:ext>
                </a:extLst>
              </a:tr>
              <a:tr h="812916">
                <a:tc>
                  <a:txBody>
                    <a:bodyPr/>
                    <a:lstStyle/>
                    <a:p>
                      <a:r>
                        <a:rPr lang="en-IN" sz="2200"/>
                        <a:t>Product Manager</a:t>
                      </a:r>
                    </a:p>
                  </a:txBody>
                  <a:tcPr marL="109853" marR="109853" marT="54927" marB="54927" anchor="ctr">
                    <a:lnL>
                      <a:noFill/>
                    </a:lnL>
                    <a:lnR>
                      <a:noFill/>
                    </a:lnR>
                    <a:lnT>
                      <a:noFill/>
                    </a:lnT>
                    <a:lnB>
                      <a:noFill/>
                    </a:lnB>
                    <a:noFill/>
                  </a:tcPr>
                </a:tc>
                <a:tc>
                  <a:txBody>
                    <a:bodyPr/>
                    <a:lstStyle/>
                    <a:p>
                      <a:r>
                        <a:rPr lang="en-US" sz="2200"/>
                        <a:t>Defines the vision, prioritizes features, measures outcomes.</a:t>
                      </a:r>
                    </a:p>
                  </a:txBody>
                  <a:tcPr marL="109853" marR="109853" marT="54927" marB="54927" anchor="ctr">
                    <a:lnL>
                      <a:noFill/>
                    </a:lnL>
                    <a:lnR>
                      <a:noFill/>
                    </a:lnR>
                    <a:lnT>
                      <a:noFill/>
                    </a:lnT>
                    <a:lnB>
                      <a:noFill/>
                    </a:lnB>
                    <a:noFill/>
                  </a:tcPr>
                </a:tc>
                <a:extLst>
                  <a:ext uri="{0D108BD9-81ED-4DB2-BD59-A6C34878D82A}">
                    <a16:rowId xmlns:a16="http://schemas.microsoft.com/office/drawing/2014/main" val="3596395885"/>
                  </a:ext>
                </a:extLst>
              </a:tr>
              <a:tr h="483356">
                <a:tc>
                  <a:txBody>
                    <a:bodyPr/>
                    <a:lstStyle/>
                    <a:p>
                      <a:r>
                        <a:rPr lang="en-IN" sz="2200"/>
                        <a:t>UX/UI Designer</a:t>
                      </a:r>
                    </a:p>
                  </a:txBody>
                  <a:tcPr marL="109853" marR="109853" marT="54927" marB="54927" anchor="ctr">
                    <a:lnL>
                      <a:noFill/>
                    </a:lnL>
                    <a:lnR>
                      <a:noFill/>
                    </a:lnR>
                    <a:lnT>
                      <a:noFill/>
                    </a:lnT>
                    <a:lnB>
                      <a:noFill/>
                    </a:lnB>
                    <a:noFill/>
                  </a:tcPr>
                </a:tc>
                <a:tc>
                  <a:txBody>
                    <a:bodyPr/>
                    <a:lstStyle/>
                    <a:p>
                      <a:r>
                        <a:rPr lang="en-IN" sz="2200"/>
                        <a:t>Designs intuitive user experiences.</a:t>
                      </a:r>
                    </a:p>
                  </a:txBody>
                  <a:tcPr marL="109853" marR="109853" marT="54927" marB="54927" anchor="ctr">
                    <a:lnL>
                      <a:noFill/>
                    </a:lnL>
                    <a:lnR>
                      <a:noFill/>
                    </a:lnR>
                    <a:lnT>
                      <a:noFill/>
                    </a:lnT>
                    <a:lnB>
                      <a:noFill/>
                    </a:lnB>
                    <a:noFill/>
                  </a:tcPr>
                </a:tc>
                <a:extLst>
                  <a:ext uri="{0D108BD9-81ED-4DB2-BD59-A6C34878D82A}">
                    <a16:rowId xmlns:a16="http://schemas.microsoft.com/office/drawing/2014/main" val="2149315673"/>
                  </a:ext>
                </a:extLst>
              </a:tr>
              <a:tr h="483356">
                <a:tc>
                  <a:txBody>
                    <a:bodyPr/>
                    <a:lstStyle/>
                    <a:p>
                      <a:r>
                        <a:rPr lang="en-IN" sz="2200"/>
                        <a:t>Engineering Team</a:t>
                      </a:r>
                    </a:p>
                  </a:txBody>
                  <a:tcPr marL="109853" marR="109853" marT="54927" marB="54927" anchor="ctr">
                    <a:lnL>
                      <a:noFill/>
                    </a:lnL>
                    <a:lnR>
                      <a:noFill/>
                    </a:lnR>
                    <a:lnT>
                      <a:noFill/>
                    </a:lnT>
                    <a:lnB>
                      <a:noFill/>
                    </a:lnB>
                    <a:noFill/>
                  </a:tcPr>
                </a:tc>
                <a:tc>
                  <a:txBody>
                    <a:bodyPr/>
                    <a:lstStyle/>
                    <a:p>
                      <a:r>
                        <a:rPr lang="en-US" sz="2200"/>
                        <a:t>Builds and maintains the product.</a:t>
                      </a:r>
                    </a:p>
                  </a:txBody>
                  <a:tcPr marL="109853" marR="109853" marT="54927" marB="54927" anchor="ctr">
                    <a:lnL>
                      <a:noFill/>
                    </a:lnL>
                    <a:lnR>
                      <a:noFill/>
                    </a:lnR>
                    <a:lnT>
                      <a:noFill/>
                    </a:lnT>
                    <a:lnB>
                      <a:noFill/>
                    </a:lnB>
                    <a:noFill/>
                  </a:tcPr>
                </a:tc>
                <a:extLst>
                  <a:ext uri="{0D108BD9-81ED-4DB2-BD59-A6C34878D82A}">
                    <a16:rowId xmlns:a16="http://schemas.microsoft.com/office/drawing/2014/main" val="338111602"/>
                  </a:ext>
                </a:extLst>
              </a:tr>
              <a:tr h="483356">
                <a:tc>
                  <a:txBody>
                    <a:bodyPr/>
                    <a:lstStyle/>
                    <a:p>
                      <a:r>
                        <a:rPr lang="en-IN" sz="2200"/>
                        <a:t>QA Team</a:t>
                      </a:r>
                    </a:p>
                  </a:txBody>
                  <a:tcPr marL="109853" marR="109853" marT="54927" marB="54927" anchor="ctr">
                    <a:lnL>
                      <a:noFill/>
                    </a:lnL>
                    <a:lnR>
                      <a:noFill/>
                    </a:lnR>
                    <a:lnT>
                      <a:noFill/>
                    </a:lnT>
                    <a:lnB>
                      <a:noFill/>
                    </a:lnB>
                    <a:noFill/>
                  </a:tcPr>
                </a:tc>
                <a:tc>
                  <a:txBody>
                    <a:bodyPr/>
                    <a:lstStyle/>
                    <a:p>
                      <a:r>
                        <a:rPr lang="en-IN" sz="2200"/>
                        <a:t>Ensures quality and reliability.</a:t>
                      </a:r>
                    </a:p>
                  </a:txBody>
                  <a:tcPr marL="109853" marR="109853" marT="54927" marB="54927" anchor="ctr">
                    <a:lnL>
                      <a:noFill/>
                    </a:lnL>
                    <a:lnR>
                      <a:noFill/>
                    </a:lnR>
                    <a:lnT>
                      <a:noFill/>
                    </a:lnT>
                    <a:lnB>
                      <a:noFill/>
                    </a:lnB>
                    <a:noFill/>
                  </a:tcPr>
                </a:tc>
                <a:extLst>
                  <a:ext uri="{0D108BD9-81ED-4DB2-BD59-A6C34878D82A}">
                    <a16:rowId xmlns:a16="http://schemas.microsoft.com/office/drawing/2014/main" val="391747710"/>
                  </a:ext>
                </a:extLst>
              </a:tr>
              <a:tr h="483356">
                <a:tc>
                  <a:txBody>
                    <a:bodyPr/>
                    <a:lstStyle/>
                    <a:p>
                      <a:r>
                        <a:rPr lang="en-IN" sz="2200"/>
                        <a:t>DevOps</a:t>
                      </a:r>
                    </a:p>
                  </a:txBody>
                  <a:tcPr marL="109853" marR="109853" marT="54927" marB="54927" anchor="ctr">
                    <a:lnL>
                      <a:noFill/>
                    </a:lnL>
                    <a:lnR>
                      <a:noFill/>
                    </a:lnR>
                    <a:lnT>
                      <a:noFill/>
                    </a:lnT>
                    <a:lnB>
                      <a:noFill/>
                    </a:lnB>
                    <a:noFill/>
                  </a:tcPr>
                </a:tc>
                <a:tc>
                  <a:txBody>
                    <a:bodyPr/>
                    <a:lstStyle/>
                    <a:p>
                      <a:r>
                        <a:rPr lang="en-IN" sz="2200"/>
                        <a:t>Deploys and monitors releases.</a:t>
                      </a:r>
                    </a:p>
                  </a:txBody>
                  <a:tcPr marL="109853" marR="109853" marT="54927" marB="54927" anchor="ctr">
                    <a:lnL>
                      <a:noFill/>
                    </a:lnL>
                    <a:lnR>
                      <a:noFill/>
                    </a:lnR>
                    <a:lnT>
                      <a:noFill/>
                    </a:lnT>
                    <a:lnB>
                      <a:noFill/>
                    </a:lnB>
                    <a:noFill/>
                  </a:tcPr>
                </a:tc>
                <a:extLst>
                  <a:ext uri="{0D108BD9-81ED-4DB2-BD59-A6C34878D82A}">
                    <a16:rowId xmlns:a16="http://schemas.microsoft.com/office/drawing/2014/main" val="2671093288"/>
                  </a:ext>
                </a:extLst>
              </a:tr>
              <a:tr h="812916">
                <a:tc>
                  <a:txBody>
                    <a:bodyPr/>
                    <a:lstStyle/>
                    <a:p>
                      <a:r>
                        <a:rPr lang="en-IN" sz="2200"/>
                        <a:t>Customer Success</a:t>
                      </a:r>
                    </a:p>
                  </a:txBody>
                  <a:tcPr marL="109853" marR="109853" marT="54927" marB="54927" anchor="ctr">
                    <a:lnL>
                      <a:noFill/>
                    </a:lnL>
                    <a:lnR>
                      <a:noFill/>
                    </a:lnR>
                    <a:lnT>
                      <a:noFill/>
                    </a:lnT>
                    <a:lnB>
                      <a:noFill/>
                    </a:lnB>
                    <a:noFill/>
                  </a:tcPr>
                </a:tc>
                <a:tc>
                  <a:txBody>
                    <a:bodyPr/>
                    <a:lstStyle/>
                    <a:p>
                      <a:r>
                        <a:rPr lang="en-US" sz="2200"/>
                        <a:t>Collects customer feedback and supports adoption.</a:t>
                      </a:r>
                    </a:p>
                  </a:txBody>
                  <a:tcPr marL="109853" marR="109853" marT="54927" marB="54927" anchor="ctr">
                    <a:lnL>
                      <a:noFill/>
                    </a:lnL>
                    <a:lnR>
                      <a:noFill/>
                    </a:lnR>
                    <a:lnT>
                      <a:noFill/>
                    </a:lnT>
                    <a:lnB>
                      <a:noFill/>
                    </a:lnB>
                    <a:noFill/>
                  </a:tcPr>
                </a:tc>
                <a:extLst>
                  <a:ext uri="{0D108BD9-81ED-4DB2-BD59-A6C34878D82A}">
                    <a16:rowId xmlns:a16="http://schemas.microsoft.com/office/drawing/2014/main" val="3916184852"/>
                  </a:ext>
                </a:extLst>
              </a:tr>
              <a:tr h="483356">
                <a:tc>
                  <a:txBody>
                    <a:bodyPr/>
                    <a:lstStyle/>
                    <a:p>
                      <a:r>
                        <a:rPr lang="en-IN" sz="2200"/>
                        <a:t>Sales &amp; Marketing</a:t>
                      </a:r>
                    </a:p>
                  </a:txBody>
                  <a:tcPr marL="109853" marR="109853" marT="54927" marB="54927" anchor="ctr">
                    <a:lnL>
                      <a:noFill/>
                    </a:lnL>
                    <a:lnR>
                      <a:noFill/>
                    </a:lnR>
                    <a:lnT>
                      <a:noFill/>
                    </a:lnT>
                    <a:lnB>
                      <a:noFill/>
                    </a:lnB>
                    <a:noFill/>
                  </a:tcPr>
                </a:tc>
                <a:tc>
                  <a:txBody>
                    <a:bodyPr/>
                    <a:lstStyle/>
                    <a:p>
                      <a:r>
                        <a:rPr lang="en-US" sz="2200" dirty="0"/>
                        <a:t>Launches and positions the product.</a:t>
                      </a:r>
                    </a:p>
                  </a:txBody>
                  <a:tcPr marL="109853" marR="109853" marT="54927" marB="54927" anchor="ctr">
                    <a:lnL>
                      <a:noFill/>
                    </a:lnL>
                    <a:lnR>
                      <a:noFill/>
                    </a:lnR>
                    <a:lnT>
                      <a:noFill/>
                    </a:lnT>
                    <a:lnB>
                      <a:noFill/>
                    </a:lnB>
                    <a:noFill/>
                  </a:tcPr>
                </a:tc>
                <a:extLst>
                  <a:ext uri="{0D108BD9-81ED-4DB2-BD59-A6C34878D82A}">
                    <a16:rowId xmlns:a16="http://schemas.microsoft.com/office/drawing/2014/main" val="1551437069"/>
                  </a:ext>
                </a:extLst>
              </a:tr>
            </a:tbl>
          </a:graphicData>
        </a:graphic>
      </p:graphicFrame>
    </p:spTree>
    <p:extLst>
      <p:ext uri="{BB962C8B-B14F-4D97-AF65-F5344CB8AC3E}">
        <p14:creationId xmlns:p14="http://schemas.microsoft.com/office/powerpoint/2010/main" val="6745537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wrap="square"/>
          <a:lstStyle/>
          <a:p>
            <a:r>
              <a:rPr sz="2600" b="1">
                <a:solidFill>
                  <a:srgbClr val="003352"/>
                </a:solidFill>
                <a:latin typeface="Century Gothic"/>
              </a:rPr>
              <a:t>Quiz: diagnose the failure</a:t>
            </a:r>
          </a:p>
        </p:txBody>
      </p:sp>
      <p:sp>
        <p:nvSpPr>
          <p:cNvPr id="4" name="Rounded Rectangle 3"/>
          <p:cNvSpPr/>
          <p:nvPr/>
        </p:nvSpPr>
        <p:spPr>
          <a:xfrm>
            <a:off x="502920" y="1371600"/>
            <a:ext cx="4663440" cy="292608"/>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ctr"/>
            <a:r>
              <a:rPr sz="1000" b="1" i="0">
                <a:solidFill>
                  <a:srgbClr val="003352"/>
                </a:solidFill>
                <a:latin typeface="Century Gothic"/>
              </a:rPr>
              <a:t>QUIZ  ·  5 MIN  ·  CASE-BASED</a:t>
            </a:r>
          </a:p>
        </p:txBody>
      </p:sp>
      <p:sp>
        <p:nvSpPr>
          <p:cNvPr id="5" name="TextBox 4"/>
          <p:cNvSpPr txBox="1"/>
          <p:nvPr/>
        </p:nvSpPr>
        <p:spPr>
          <a:xfrm>
            <a:off x="502920" y="1874519"/>
            <a:ext cx="11201400" cy="310896"/>
          </a:xfrm>
          <a:prstGeom prst="rect">
            <a:avLst/>
          </a:prstGeom>
          <a:noFill/>
        </p:spPr>
        <p:txBody>
          <a:bodyPr wrap="square" lIns="0" tIns="0" rIns="0" bIns="0" anchor="t">
            <a:spAutoFit/>
          </a:bodyPr>
          <a:lstStyle/>
          <a:p>
            <a:pPr algn="l">
              <a:spcBef>
                <a:spcPts val="0"/>
              </a:spcBef>
              <a:spcAft>
                <a:spcPts val="400"/>
              </a:spcAft>
            </a:pPr>
            <a:r>
              <a:rPr sz="1250" b="0" i="0">
                <a:solidFill>
                  <a:srgbClr val="003352"/>
                </a:solidFill>
                <a:latin typeface="Century Gothic"/>
              </a:rPr>
              <a:t>Each of these really happened. Name the stage of the lifecycle that broke — and say what you would have done at that stage instead.</a:t>
            </a:r>
          </a:p>
        </p:txBody>
      </p:sp>
      <p:sp>
        <p:nvSpPr>
          <p:cNvPr id="6" name="Rounded Rectangle 5"/>
          <p:cNvSpPr/>
          <p:nvPr/>
        </p:nvSpPr>
        <p:spPr>
          <a:xfrm>
            <a:off x="502920" y="2276856"/>
            <a:ext cx="11201400" cy="530352"/>
          </a:xfrm>
          <a:prstGeom prst="roundRect">
            <a:avLst>
              <a:gd name="adj" fmla="val 10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649224" y="2377439"/>
            <a:ext cx="329184" cy="329184"/>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i="0">
                <a:solidFill>
                  <a:srgbClr val="63E7A4"/>
                </a:solidFill>
                <a:latin typeface="Century Gothic"/>
              </a:rPr>
              <a:t>1</a:t>
            </a:r>
          </a:p>
        </p:txBody>
      </p:sp>
      <p:sp>
        <p:nvSpPr>
          <p:cNvPr id="8" name="TextBox 7"/>
          <p:cNvSpPr txBox="1"/>
          <p:nvPr/>
        </p:nvSpPr>
        <p:spPr>
          <a:xfrm>
            <a:off x="1106424" y="2322575"/>
            <a:ext cx="8138160" cy="438912"/>
          </a:xfrm>
          <a:prstGeom prst="rect">
            <a:avLst/>
          </a:prstGeom>
          <a:noFill/>
        </p:spPr>
        <p:txBody>
          <a:bodyPr wrap="square" lIns="0" tIns="0" rIns="0" bIns="0" anchor="ctr">
            <a:spAutoFit/>
          </a:bodyPr>
          <a:lstStyle/>
          <a:p>
            <a:pPr algn="l">
              <a:spcBef>
                <a:spcPts val="0"/>
              </a:spcBef>
              <a:spcAft>
                <a:spcPts val="400"/>
              </a:spcAft>
            </a:pPr>
            <a:r>
              <a:rPr sz="1150" b="0" i="0">
                <a:solidFill>
                  <a:srgbClr val="003352"/>
                </a:solidFill>
                <a:latin typeface="Century Gothic"/>
              </a:rPr>
              <a:t>Amazon builds a technically impressive 3D phone. It works exactly as designed. Almost nobody buys it.</a:t>
            </a:r>
          </a:p>
        </p:txBody>
      </p:sp>
      <p:sp>
        <p:nvSpPr>
          <p:cNvPr id="9" name="Rounded Rectangle 8"/>
          <p:cNvSpPr/>
          <p:nvPr/>
        </p:nvSpPr>
        <p:spPr>
          <a:xfrm>
            <a:off x="9363456" y="2359151"/>
            <a:ext cx="2194560" cy="365760"/>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536B7A"/>
                </a:solidFill>
                <a:latin typeface="Century Gothic"/>
              </a:rPr>
              <a:t>which stage?</a:t>
            </a:r>
          </a:p>
        </p:txBody>
      </p:sp>
      <p:sp>
        <p:nvSpPr>
          <p:cNvPr id="10" name="Rounded Rectangle 9"/>
          <p:cNvSpPr/>
          <p:nvPr/>
        </p:nvSpPr>
        <p:spPr>
          <a:xfrm>
            <a:off x="502920" y="2880360"/>
            <a:ext cx="11201400" cy="530352"/>
          </a:xfrm>
          <a:prstGeom prst="roundRect">
            <a:avLst>
              <a:gd name="adj" fmla="val 10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649224" y="2980944"/>
            <a:ext cx="329184" cy="329184"/>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i="0">
                <a:solidFill>
                  <a:srgbClr val="63E7A4"/>
                </a:solidFill>
                <a:latin typeface="Century Gothic"/>
              </a:rPr>
              <a:t>2</a:t>
            </a:r>
          </a:p>
        </p:txBody>
      </p:sp>
      <p:sp>
        <p:nvSpPr>
          <p:cNvPr id="12" name="TextBox 11"/>
          <p:cNvSpPr txBox="1"/>
          <p:nvPr/>
        </p:nvSpPr>
        <p:spPr>
          <a:xfrm>
            <a:off x="1106424" y="2926079"/>
            <a:ext cx="8138160" cy="438912"/>
          </a:xfrm>
          <a:prstGeom prst="rect">
            <a:avLst/>
          </a:prstGeom>
          <a:noFill/>
        </p:spPr>
        <p:txBody>
          <a:bodyPr wrap="square" lIns="0" tIns="0" rIns="0" bIns="0" anchor="ctr">
            <a:spAutoFit/>
          </a:bodyPr>
          <a:lstStyle/>
          <a:p>
            <a:pPr algn="l">
              <a:spcBef>
                <a:spcPts val="0"/>
              </a:spcBef>
              <a:spcAft>
                <a:spcPts val="400"/>
              </a:spcAft>
            </a:pPr>
            <a:r>
              <a:rPr sz="1150" b="0" i="0">
                <a:solidFill>
                  <a:srgbClr val="003352"/>
                </a:solidFill>
                <a:latin typeface="Century Gothic"/>
              </a:rPr>
              <a:t>Flipkart's Big Billion Day takes the whole site down within hours of opening.</a:t>
            </a:r>
          </a:p>
        </p:txBody>
      </p:sp>
      <p:sp>
        <p:nvSpPr>
          <p:cNvPr id="13" name="Rounded Rectangle 12"/>
          <p:cNvSpPr/>
          <p:nvPr/>
        </p:nvSpPr>
        <p:spPr>
          <a:xfrm>
            <a:off x="9363456" y="2962656"/>
            <a:ext cx="2194560" cy="365760"/>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536B7A"/>
                </a:solidFill>
                <a:latin typeface="Century Gothic"/>
              </a:rPr>
              <a:t>which stage?</a:t>
            </a:r>
          </a:p>
        </p:txBody>
      </p:sp>
      <p:sp>
        <p:nvSpPr>
          <p:cNvPr id="14" name="Rounded Rectangle 13"/>
          <p:cNvSpPr/>
          <p:nvPr/>
        </p:nvSpPr>
        <p:spPr>
          <a:xfrm>
            <a:off x="502920" y="3483863"/>
            <a:ext cx="11201400" cy="530352"/>
          </a:xfrm>
          <a:prstGeom prst="roundRect">
            <a:avLst>
              <a:gd name="adj" fmla="val 10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649224" y="3584447"/>
            <a:ext cx="329184" cy="329184"/>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i="0">
                <a:solidFill>
                  <a:srgbClr val="63E7A4"/>
                </a:solidFill>
                <a:latin typeface="Century Gothic"/>
              </a:rPr>
              <a:t>3</a:t>
            </a:r>
          </a:p>
        </p:txBody>
      </p:sp>
      <p:sp>
        <p:nvSpPr>
          <p:cNvPr id="16" name="TextBox 15"/>
          <p:cNvSpPr txBox="1"/>
          <p:nvPr/>
        </p:nvSpPr>
        <p:spPr>
          <a:xfrm>
            <a:off x="1106424" y="3529583"/>
            <a:ext cx="8138160" cy="438912"/>
          </a:xfrm>
          <a:prstGeom prst="rect">
            <a:avLst/>
          </a:prstGeom>
          <a:noFill/>
        </p:spPr>
        <p:txBody>
          <a:bodyPr wrap="square" lIns="0" tIns="0" rIns="0" bIns="0" anchor="ctr">
            <a:spAutoFit/>
          </a:bodyPr>
          <a:lstStyle/>
          <a:p>
            <a:pPr algn="l">
              <a:spcBef>
                <a:spcPts val="0"/>
              </a:spcBef>
              <a:spcAft>
                <a:spcPts val="400"/>
              </a:spcAft>
            </a:pPr>
            <a:r>
              <a:rPr sz="1150" b="0" i="0">
                <a:solidFill>
                  <a:srgbClr val="003352"/>
                </a:solidFill>
                <a:latin typeface="Century Gothic"/>
              </a:rPr>
              <a:t>A team ships a feature and six months later still cannot say whether anyone uses it.</a:t>
            </a:r>
          </a:p>
        </p:txBody>
      </p:sp>
      <p:sp>
        <p:nvSpPr>
          <p:cNvPr id="17" name="Rounded Rectangle 16"/>
          <p:cNvSpPr/>
          <p:nvPr/>
        </p:nvSpPr>
        <p:spPr>
          <a:xfrm>
            <a:off x="9363456" y="3566159"/>
            <a:ext cx="2194560" cy="365760"/>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536B7A"/>
                </a:solidFill>
                <a:latin typeface="Century Gothic"/>
              </a:rPr>
              <a:t>which stage?</a:t>
            </a:r>
          </a:p>
        </p:txBody>
      </p:sp>
      <p:sp>
        <p:nvSpPr>
          <p:cNvPr id="18" name="Rounded Rectangle 17"/>
          <p:cNvSpPr/>
          <p:nvPr/>
        </p:nvSpPr>
        <p:spPr>
          <a:xfrm>
            <a:off x="502920" y="4087368"/>
            <a:ext cx="11201400" cy="530352"/>
          </a:xfrm>
          <a:prstGeom prst="roundRect">
            <a:avLst>
              <a:gd name="adj" fmla="val 10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649224" y="4187952"/>
            <a:ext cx="329184" cy="329184"/>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i="0">
                <a:solidFill>
                  <a:srgbClr val="63E7A4"/>
                </a:solidFill>
                <a:latin typeface="Century Gothic"/>
              </a:rPr>
              <a:t>4</a:t>
            </a:r>
          </a:p>
        </p:txBody>
      </p:sp>
      <p:sp>
        <p:nvSpPr>
          <p:cNvPr id="20" name="TextBox 19"/>
          <p:cNvSpPr txBox="1"/>
          <p:nvPr/>
        </p:nvSpPr>
        <p:spPr>
          <a:xfrm>
            <a:off x="1106424" y="4133087"/>
            <a:ext cx="8138160" cy="438912"/>
          </a:xfrm>
          <a:prstGeom prst="rect">
            <a:avLst/>
          </a:prstGeom>
          <a:noFill/>
        </p:spPr>
        <p:txBody>
          <a:bodyPr wrap="square" lIns="0" tIns="0" rIns="0" bIns="0" anchor="ctr">
            <a:spAutoFit/>
          </a:bodyPr>
          <a:lstStyle/>
          <a:p>
            <a:pPr algn="l">
              <a:spcBef>
                <a:spcPts val="0"/>
              </a:spcBef>
              <a:spcAft>
                <a:spcPts val="400"/>
              </a:spcAft>
            </a:pPr>
            <a:r>
              <a:rPr sz="1150" b="0" i="0">
                <a:solidFill>
                  <a:srgbClr val="003352"/>
                </a:solidFill>
                <a:latin typeface="Century Gothic"/>
              </a:rPr>
              <a:t>Engineering builds precisely what the ticket said. Support says it solved the wrong half of the problem.</a:t>
            </a:r>
          </a:p>
        </p:txBody>
      </p:sp>
      <p:sp>
        <p:nvSpPr>
          <p:cNvPr id="21" name="Rounded Rectangle 20"/>
          <p:cNvSpPr/>
          <p:nvPr/>
        </p:nvSpPr>
        <p:spPr>
          <a:xfrm>
            <a:off x="9363456" y="4169663"/>
            <a:ext cx="2194560" cy="365760"/>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536B7A"/>
                </a:solidFill>
                <a:latin typeface="Century Gothic"/>
              </a:rPr>
              <a:t>which stage?</a:t>
            </a:r>
          </a:p>
        </p:txBody>
      </p:sp>
      <p:sp>
        <p:nvSpPr>
          <p:cNvPr id="22" name="Rounded Rectangle 21"/>
          <p:cNvSpPr/>
          <p:nvPr/>
        </p:nvSpPr>
        <p:spPr>
          <a:xfrm>
            <a:off x="502920" y="4690872"/>
            <a:ext cx="11201400" cy="530352"/>
          </a:xfrm>
          <a:prstGeom prst="roundRect">
            <a:avLst>
              <a:gd name="adj" fmla="val 10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649224" y="4791456"/>
            <a:ext cx="329184" cy="329184"/>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i="0">
                <a:solidFill>
                  <a:srgbClr val="63E7A4"/>
                </a:solidFill>
                <a:latin typeface="Century Gothic"/>
              </a:rPr>
              <a:t>5</a:t>
            </a:r>
          </a:p>
        </p:txBody>
      </p:sp>
      <p:sp>
        <p:nvSpPr>
          <p:cNvPr id="24" name="TextBox 23"/>
          <p:cNvSpPr txBox="1"/>
          <p:nvPr/>
        </p:nvSpPr>
        <p:spPr>
          <a:xfrm>
            <a:off x="1106424" y="4736592"/>
            <a:ext cx="8138160" cy="438912"/>
          </a:xfrm>
          <a:prstGeom prst="rect">
            <a:avLst/>
          </a:prstGeom>
          <a:noFill/>
        </p:spPr>
        <p:txBody>
          <a:bodyPr wrap="square" lIns="0" tIns="0" rIns="0" bIns="0" anchor="ctr">
            <a:spAutoFit/>
          </a:bodyPr>
          <a:lstStyle/>
          <a:p>
            <a:pPr algn="l">
              <a:spcBef>
                <a:spcPts val="0"/>
              </a:spcBef>
              <a:spcAft>
                <a:spcPts val="400"/>
              </a:spcAft>
            </a:pPr>
            <a:r>
              <a:rPr sz="1150" b="0" i="0">
                <a:solidFill>
                  <a:srgbClr val="003352"/>
                </a:solidFill>
                <a:latin typeface="Century Gothic"/>
              </a:rPr>
              <a:t>A new hotel check-in screen is fast, but staff keep reverting to the old one because it cannot handle walk-ins.</a:t>
            </a:r>
          </a:p>
        </p:txBody>
      </p:sp>
      <p:sp>
        <p:nvSpPr>
          <p:cNvPr id="25" name="Rounded Rectangle 24"/>
          <p:cNvSpPr/>
          <p:nvPr/>
        </p:nvSpPr>
        <p:spPr>
          <a:xfrm>
            <a:off x="9363456" y="4773168"/>
            <a:ext cx="2194560" cy="365760"/>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536B7A"/>
                </a:solidFill>
                <a:latin typeface="Century Gothic"/>
              </a:rPr>
              <a:t>which stage?</a:t>
            </a:r>
          </a:p>
        </p:txBody>
      </p:sp>
      <p:sp>
        <p:nvSpPr>
          <p:cNvPr id="26" name="Rounded Rectangle 25"/>
          <p:cNvSpPr/>
          <p:nvPr/>
        </p:nvSpPr>
        <p:spPr>
          <a:xfrm>
            <a:off x="502920" y="5486400"/>
            <a:ext cx="11201400" cy="658368"/>
          </a:xfrm>
          <a:prstGeom prst="roundRect">
            <a:avLst>
              <a:gd name="adj" fmla="val 10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54864" rIns="201168" bIns="54864" rtlCol="0" anchor="ctr"/>
          <a:lstStyle/>
          <a:p>
            <a:r>
              <a:rPr sz="1300" b="1" i="0">
                <a:solidFill>
                  <a:srgbClr val="FFFFFF"/>
                </a:solidFill>
                <a:latin typeface="Century Gothic"/>
              </a:rPr>
              <a:t>Every one of these is cheaper to catch one stage earlier than where it was actually found. That gap is what the whole lifecycle exists to close.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63275B-E13E-D889-5428-BFFCD1F23E76}"/>
              </a:ext>
            </a:extLst>
          </p:cNvPr>
          <p:cNvSpPr>
            <a:spLocks noGrp="1"/>
          </p:cNvSpPr>
          <p:nvPr>
            <p:ph sz="quarter" idx="10"/>
          </p:nvPr>
        </p:nvSpPr>
        <p:spPr/>
        <p:txBody>
          <a:bodyPr/>
          <a:lstStyle/>
          <a:p>
            <a:r>
              <a:rPr lang="en-IN" b="1" dirty="0"/>
              <a:t>Key Takeaways</a:t>
            </a:r>
          </a:p>
          <a:p>
            <a:endParaRPr lang="en-IN" dirty="0"/>
          </a:p>
        </p:txBody>
      </p:sp>
      <p:sp>
        <p:nvSpPr>
          <p:cNvPr id="4" name="Rectangle 1">
            <a:extLst>
              <a:ext uri="{FF2B5EF4-FFF2-40B4-BE49-F238E27FC236}">
                <a16:creationId xmlns:a16="http://schemas.microsoft.com/office/drawing/2014/main" id="{7983E575-F5D1-1E48-0977-EDA7F10B7DE8}"/>
              </a:ext>
            </a:extLst>
          </p:cNvPr>
          <p:cNvSpPr>
            <a:spLocks noGrp="1" noChangeArrowheads="1"/>
          </p:cNvSpPr>
          <p:nvPr>
            <p:ph idx="1"/>
          </p:nvPr>
        </p:nvSpPr>
        <p:spPr bwMode="auto">
          <a:xfrm>
            <a:off x="406400" y="1603306"/>
            <a:ext cx="9549409"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Start with the customer problem, not the solution.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Validate ideas with research before investing in development.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Prioritize features that deliver the highest value.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Measure outcomes, not just outputs. Shipping a feature is not the finish line.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Product development is a continuous cycle of learning, building, measuring, and improving.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256970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61EAADE-BB22-E619-2966-FC9E006AFE18}"/>
              </a:ext>
            </a:extLst>
          </p:cNvPr>
          <p:cNvSpPr>
            <a:spLocks noGrp="1"/>
          </p:cNvSpPr>
          <p:nvPr>
            <p:ph idx="1"/>
          </p:nvPr>
        </p:nvSpPr>
        <p:spPr/>
        <p:txBody>
          <a:bodyPr/>
          <a:lstStyle/>
          <a:p>
            <a:r>
              <a:rPr lang="en-US" dirty="0"/>
              <a:t>One of the biggest responsibilities of a Product Manager is ensuring the team is </a:t>
            </a:r>
            <a:r>
              <a:rPr lang="en-US" b="1" dirty="0"/>
              <a:t>building the right product</a:t>
            </a:r>
            <a:r>
              <a:rPr lang="en-US" dirty="0"/>
              <a:t> and </a:t>
            </a:r>
            <a:r>
              <a:rPr lang="en-US" b="1" dirty="0"/>
              <a:t>building the product right</a:t>
            </a:r>
            <a:r>
              <a:rPr lang="en-US" dirty="0"/>
              <a:t>.</a:t>
            </a:r>
          </a:p>
          <a:p>
            <a:endParaRPr lang="en-IN" dirty="0"/>
          </a:p>
          <a:p>
            <a:endParaRPr lang="en-IN" dirty="0"/>
          </a:p>
        </p:txBody>
      </p:sp>
      <p:sp>
        <p:nvSpPr>
          <p:cNvPr id="3" name="Content Placeholder 2">
            <a:extLst>
              <a:ext uri="{FF2B5EF4-FFF2-40B4-BE49-F238E27FC236}">
                <a16:creationId xmlns:a16="http://schemas.microsoft.com/office/drawing/2014/main" id="{DDB4B9E7-042E-0639-9B93-2C5BB8852F8F}"/>
              </a:ext>
            </a:extLst>
          </p:cNvPr>
          <p:cNvSpPr>
            <a:spLocks noGrp="1"/>
          </p:cNvSpPr>
          <p:nvPr>
            <p:ph sz="quarter" idx="10"/>
          </p:nvPr>
        </p:nvSpPr>
        <p:spPr/>
        <p:txBody>
          <a:bodyPr/>
          <a:lstStyle/>
          <a:p>
            <a:r>
              <a:rPr lang="en-US" b="1" dirty="0"/>
              <a:t>Product Discovery vs Product Delivery</a:t>
            </a:r>
          </a:p>
          <a:p>
            <a:endParaRPr lang="en-IN" dirty="0"/>
          </a:p>
        </p:txBody>
      </p:sp>
      <p:graphicFrame>
        <p:nvGraphicFramePr>
          <p:cNvPr id="4" name="Table 3">
            <a:extLst>
              <a:ext uri="{FF2B5EF4-FFF2-40B4-BE49-F238E27FC236}">
                <a16:creationId xmlns:a16="http://schemas.microsoft.com/office/drawing/2014/main" id="{846E934E-E968-A0B0-5AF3-6B6FAA72B898}"/>
              </a:ext>
            </a:extLst>
          </p:cNvPr>
          <p:cNvGraphicFramePr>
            <a:graphicFrameLocks noGrp="1"/>
          </p:cNvGraphicFramePr>
          <p:nvPr>
            <p:extLst>
              <p:ext uri="{D42A27DB-BD31-4B8C-83A1-F6EECF244321}">
                <p14:modId xmlns:p14="http://schemas.microsoft.com/office/powerpoint/2010/main" val="3777514053"/>
              </p:ext>
            </p:extLst>
          </p:nvPr>
        </p:nvGraphicFramePr>
        <p:xfrm>
          <a:off x="406400" y="2764949"/>
          <a:ext cx="10515600" cy="1463040"/>
        </p:xfrm>
        <a:graphic>
          <a:graphicData uri="http://schemas.openxmlformats.org/drawingml/2006/table">
            <a:tbl>
              <a:tblPr/>
              <a:tblGrid>
                <a:gridCol w="5257800">
                  <a:extLst>
                    <a:ext uri="{9D8B030D-6E8A-4147-A177-3AD203B41FA5}">
                      <a16:colId xmlns:a16="http://schemas.microsoft.com/office/drawing/2014/main" val="2217213570"/>
                    </a:ext>
                  </a:extLst>
                </a:gridCol>
                <a:gridCol w="5257800">
                  <a:extLst>
                    <a:ext uri="{9D8B030D-6E8A-4147-A177-3AD203B41FA5}">
                      <a16:colId xmlns:a16="http://schemas.microsoft.com/office/drawing/2014/main" val="2605981495"/>
                    </a:ext>
                  </a:extLst>
                </a:gridCol>
              </a:tblGrid>
              <a:tr h="0">
                <a:tc>
                  <a:txBody>
                    <a:bodyPr/>
                    <a:lstStyle/>
                    <a:p>
                      <a:r>
                        <a:rPr lang="en-IN"/>
                        <a:t>Product Discovery</a:t>
                      </a:r>
                    </a:p>
                  </a:txBody>
                  <a:tcPr anchor="ctr">
                    <a:lnL>
                      <a:noFill/>
                    </a:lnL>
                    <a:lnR>
                      <a:noFill/>
                    </a:lnR>
                    <a:lnT>
                      <a:noFill/>
                    </a:lnT>
                    <a:lnB>
                      <a:noFill/>
                    </a:lnB>
                    <a:noFill/>
                  </a:tcPr>
                </a:tc>
                <a:tc>
                  <a:txBody>
                    <a:bodyPr/>
                    <a:lstStyle/>
                    <a:p>
                      <a:r>
                        <a:rPr lang="en-IN"/>
                        <a:t>Product Delivery</a:t>
                      </a:r>
                    </a:p>
                  </a:txBody>
                  <a:tcPr anchor="ctr">
                    <a:lnL>
                      <a:noFill/>
                    </a:lnL>
                    <a:lnR>
                      <a:noFill/>
                    </a:lnR>
                    <a:lnT>
                      <a:noFill/>
                    </a:lnT>
                    <a:lnB>
                      <a:noFill/>
                    </a:lnB>
                    <a:noFill/>
                  </a:tcPr>
                </a:tc>
                <a:extLst>
                  <a:ext uri="{0D108BD9-81ED-4DB2-BD59-A6C34878D82A}">
                    <a16:rowId xmlns:a16="http://schemas.microsoft.com/office/drawing/2014/main" val="3648579532"/>
                  </a:ext>
                </a:extLst>
              </a:tr>
              <a:tr h="0">
                <a:tc>
                  <a:txBody>
                    <a:bodyPr/>
                    <a:lstStyle/>
                    <a:p>
                      <a:r>
                        <a:rPr lang="en-US" b="1"/>
                        <a:t>Finding the right problem to solve.</a:t>
                      </a:r>
                      <a:endParaRPr lang="en-US"/>
                    </a:p>
                  </a:txBody>
                  <a:tcPr anchor="ctr">
                    <a:lnL>
                      <a:noFill/>
                    </a:lnL>
                    <a:lnR>
                      <a:noFill/>
                    </a:lnR>
                    <a:lnT>
                      <a:noFill/>
                    </a:lnT>
                    <a:lnB>
                      <a:noFill/>
                    </a:lnB>
                    <a:noFill/>
                  </a:tcPr>
                </a:tc>
                <a:tc>
                  <a:txBody>
                    <a:bodyPr/>
                    <a:lstStyle/>
                    <a:p>
                      <a:r>
                        <a:rPr lang="en-IN" b="1"/>
                        <a:t>Building the solution correctly.</a:t>
                      </a:r>
                      <a:endParaRPr lang="en-IN"/>
                    </a:p>
                  </a:txBody>
                  <a:tcPr anchor="ctr">
                    <a:lnL>
                      <a:noFill/>
                    </a:lnL>
                    <a:lnR>
                      <a:noFill/>
                    </a:lnR>
                    <a:lnT>
                      <a:noFill/>
                    </a:lnT>
                    <a:lnB>
                      <a:noFill/>
                    </a:lnB>
                    <a:noFill/>
                  </a:tcPr>
                </a:tc>
                <a:extLst>
                  <a:ext uri="{0D108BD9-81ED-4DB2-BD59-A6C34878D82A}">
                    <a16:rowId xmlns:a16="http://schemas.microsoft.com/office/drawing/2014/main" val="3152841765"/>
                  </a:ext>
                </a:extLst>
              </a:tr>
              <a:tr h="0">
                <a:tc>
                  <a:txBody>
                    <a:bodyPr/>
                    <a:lstStyle/>
                    <a:p>
                      <a:r>
                        <a:rPr lang="en-IN"/>
                        <a:t>Focuses on customer needs.</a:t>
                      </a:r>
                    </a:p>
                  </a:txBody>
                  <a:tcPr anchor="ctr">
                    <a:lnL>
                      <a:noFill/>
                    </a:lnL>
                    <a:lnR>
                      <a:noFill/>
                    </a:lnR>
                    <a:lnT>
                      <a:noFill/>
                    </a:lnT>
                    <a:lnB>
                      <a:noFill/>
                    </a:lnB>
                    <a:noFill/>
                  </a:tcPr>
                </a:tc>
                <a:tc>
                  <a:txBody>
                    <a:bodyPr/>
                    <a:lstStyle/>
                    <a:p>
                      <a:r>
                        <a:rPr lang="en-IN"/>
                        <a:t>Focuses on execution.</a:t>
                      </a:r>
                    </a:p>
                  </a:txBody>
                  <a:tcPr anchor="ctr">
                    <a:lnL>
                      <a:noFill/>
                    </a:lnL>
                    <a:lnR>
                      <a:noFill/>
                    </a:lnR>
                    <a:lnT>
                      <a:noFill/>
                    </a:lnT>
                    <a:lnB>
                      <a:noFill/>
                    </a:lnB>
                    <a:noFill/>
                  </a:tcPr>
                </a:tc>
                <a:extLst>
                  <a:ext uri="{0D108BD9-81ED-4DB2-BD59-A6C34878D82A}">
                    <a16:rowId xmlns:a16="http://schemas.microsoft.com/office/drawing/2014/main" val="173639116"/>
                  </a:ext>
                </a:extLst>
              </a:tr>
              <a:tr h="0">
                <a:tc>
                  <a:txBody>
                    <a:bodyPr/>
                    <a:lstStyle/>
                    <a:p>
                      <a:r>
                        <a:rPr lang="en-US"/>
                        <a:t>Answers </a:t>
                      </a:r>
                      <a:r>
                        <a:rPr lang="en-US" b="1"/>
                        <a:t>"What should we build?"</a:t>
                      </a:r>
                      <a:endParaRPr lang="en-US"/>
                    </a:p>
                  </a:txBody>
                  <a:tcPr anchor="ctr">
                    <a:lnL>
                      <a:noFill/>
                    </a:lnL>
                    <a:lnR>
                      <a:noFill/>
                    </a:lnR>
                    <a:lnT>
                      <a:noFill/>
                    </a:lnT>
                    <a:lnB>
                      <a:noFill/>
                    </a:lnB>
                    <a:noFill/>
                  </a:tcPr>
                </a:tc>
                <a:tc>
                  <a:txBody>
                    <a:bodyPr/>
                    <a:lstStyle/>
                    <a:p>
                      <a:r>
                        <a:rPr lang="en-US" dirty="0"/>
                        <a:t>Answers </a:t>
                      </a:r>
                      <a:r>
                        <a:rPr lang="en-US" b="1" dirty="0"/>
                        <a:t>"How do we build it?"</a:t>
                      </a:r>
                      <a:endParaRPr lang="en-US" dirty="0"/>
                    </a:p>
                  </a:txBody>
                  <a:tcPr anchor="ctr">
                    <a:lnL>
                      <a:noFill/>
                    </a:lnL>
                    <a:lnR>
                      <a:noFill/>
                    </a:lnR>
                    <a:lnT>
                      <a:noFill/>
                    </a:lnT>
                    <a:lnB>
                      <a:noFill/>
                    </a:lnB>
                    <a:noFill/>
                  </a:tcPr>
                </a:tc>
                <a:extLst>
                  <a:ext uri="{0D108BD9-81ED-4DB2-BD59-A6C34878D82A}">
                    <a16:rowId xmlns:a16="http://schemas.microsoft.com/office/drawing/2014/main" val="3142087418"/>
                  </a:ext>
                </a:extLst>
              </a:tr>
            </a:tbl>
          </a:graphicData>
        </a:graphic>
      </p:graphicFrame>
      <p:sp>
        <p:nvSpPr>
          <p:cNvPr id="6" name="TextBox 5">
            <a:extLst>
              <a:ext uri="{FF2B5EF4-FFF2-40B4-BE49-F238E27FC236}">
                <a16:creationId xmlns:a16="http://schemas.microsoft.com/office/drawing/2014/main" id="{88BD0668-FF00-91D7-95F5-0E3AA28C10F2}"/>
              </a:ext>
            </a:extLst>
          </p:cNvPr>
          <p:cNvSpPr txBox="1"/>
          <p:nvPr/>
        </p:nvSpPr>
        <p:spPr>
          <a:xfrm>
            <a:off x="406400" y="4620310"/>
            <a:ext cx="6096000" cy="646331"/>
          </a:xfrm>
          <a:prstGeom prst="rect">
            <a:avLst/>
          </a:prstGeom>
          <a:noFill/>
        </p:spPr>
        <p:txBody>
          <a:bodyPr wrap="square">
            <a:spAutoFit/>
          </a:bodyPr>
          <a:lstStyle/>
          <a:p>
            <a:r>
              <a:rPr lang="en-US" b="1" dirty="0"/>
              <a:t>Discovery = Build the Right Product</a:t>
            </a:r>
            <a:br>
              <a:rPr lang="en-US" dirty="0"/>
            </a:br>
            <a:r>
              <a:rPr lang="en-US" b="1" dirty="0"/>
              <a:t>Delivery = Build the Product Right</a:t>
            </a:r>
            <a:endParaRPr lang="en-IN" dirty="0"/>
          </a:p>
        </p:txBody>
      </p:sp>
    </p:spTree>
    <p:extLst>
      <p:ext uri="{BB962C8B-B14F-4D97-AF65-F5344CB8AC3E}">
        <p14:creationId xmlns:p14="http://schemas.microsoft.com/office/powerpoint/2010/main" val="707619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20E57B7-3745-1741-C057-418807ED1836}"/>
              </a:ext>
            </a:extLst>
          </p:cNvPr>
          <p:cNvSpPr>
            <a:spLocks noGrp="1"/>
          </p:cNvSpPr>
          <p:nvPr>
            <p:ph idx="1"/>
          </p:nvPr>
        </p:nvSpPr>
        <p:spPr/>
        <p:txBody>
          <a:bodyPr>
            <a:normAutofit lnSpcReduction="10000"/>
          </a:bodyPr>
          <a:lstStyle/>
          <a:p>
            <a:r>
              <a:rPr lang="en-US" b="1" dirty="0"/>
              <a:t>Product Discovery is the process of understanding customer problems, validating ideas, and deciding what product or feature should be built.</a:t>
            </a:r>
            <a:endParaRPr lang="en-US" dirty="0"/>
          </a:p>
          <a:p>
            <a:endParaRPr lang="en-IN" dirty="0"/>
          </a:p>
          <a:p>
            <a:r>
              <a:rPr lang="en-US" b="1" dirty="0"/>
              <a:t>Key Questions</a:t>
            </a:r>
          </a:p>
          <a:p>
            <a:pPr>
              <a:buFont typeface="Arial" panose="020B0604020202020204" pitchFamily="34" charset="0"/>
              <a:buChar char="•"/>
            </a:pPr>
            <a:r>
              <a:rPr lang="en-US" dirty="0"/>
              <a:t>Who is our customer? </a:t>
            </a:r>
          </a:p>
          <a:p>
            <a:pPr>
              <a:buFont typeface="Arial" panose="020B0604020202020204" pitchFamily="34" charset="0"/>
              <a:buChar char="•"/>
            </a:pPr>
            <a:r>
              <a:rPr lang="en-US" dirty="0"/>
              <a:t>What problem are they trying to solve? </a:t>
            </a:r>
          </a:p>
          <a:p>
            <a:pPr>
              <a:buFont typeface="Arial" panose="020B0604020202020204" pitchFamily="34" charset="0"/>
              <a:buChar char="•"/>
            </a:pPr>
            <a:r>
              <a:rPr lang="en-US" dirty="0"/>
              <a:t>Is this problem important? </a:t>
            </a:r>
          </a:p>
          <a:p>
            <a:pPr>
              <a:buFont typeface="Arial" panose="020B0604020202020204" pitchFamily="34" charset="0"/>
              <a:buChar char="•"/>
            </a:pPr>
            <a:r>
              <a:rPr lang="en-US" dirty="0"/>
              <a:t>How are they solving it today? </a:t>
            </a:r>
          </a:p>
          <a:p>
            <a:pPr>
              <a:buFont typeface="Arial" panose="020B0604020202020204" pitchFamily="34" charset="0"/>
              <a:buChar char="•"/>
            </a:pPr>
            <a:r>
              <a:rPr lang="en-US" dirty="0"/>
              <a:t>Is our proposed solution better? </a:t>
            </a:r>
          </a:p>
          <a:p>
            <a:pPr>
              <a:buFont typeface="Arial" panose="020B0604020202020204" pitchFamily="34" charset="0"/>
              <a:buChar char="•"/>
            </a:pPr>
            <a:r>
              <a:rPr lang="en-US" dirty="0"/>
              <a:t>Will customers actually use it? </a:t>
            </a:r>
          </a:p>
          <a:p>
            <a:pPr>
              <a:buFont typeface="Arial" panose="020B0604020202020204" pitchFamily="34" charset="0"/>
              <a:buChar char="•"/>
            </a:pPr>
            <a:r>
              <a:rPr lang="en-US" dirty="0"/>
              <a:t>Is it worth building? </a:t>
            </a:r>
          </a:p>
          <a:p>
            <a:endParaRPr lang="en-IN" dirty="0"/>
          </a:p>
        </p:txBody>
      </p:sp>
      <p:sp>
        <p:nvSpPr>
          <p:cNvPr id="3" name="Content Placeholder 2">
            <a:extLst>
              <a:ext uri="{FF2B5EF4-FFF2-40B4-BE49-F238E27FC236}">
                <a16:creationId xmlns:a16="http://schemas.microsoft.com/office/drawing/2014/main" id="{81367CD7-D0C4-4921-B804-F0DB2C9F982E}"/>
              </a:ext>
            </a:extLst>
          </p:cNvPr>
          <p:cNvSpPr>
            <a:spLocks noGrp="1"/>
          </p:cNvSpPr>
          <p:nvPr>
            <p:ph sz="quarter" idx="10"/>
          </p:nvPr>
        </p:nvSpPr>
        <p:spPr/>
        <p:txBody>
          <a:bodyPr/>
          <a:lstStyle/>
          <a:p>
            <a:r>
              <a:rPr lang="en-IN" b="1" dirty="0"/>
              <a:t>Product Discovery</a:t>
            </a:r>
          </a:p>
          <a:p>
            <a:endParaRPr lang="en-IN" dirty="0"/>
          </a:p>
        </p:txBody>
      </p:sp>
    </p:spTree>
    <p:extLst>
      <p:ext uri="{BB962C8B-B14F-4D97-AF65-F5344CB8AC3E}">
        <p14:creationId xmlns:p14="http://schemas.microsoft.com/office/powerpoint/2010/main" val="1885957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F018543-141C-267F-441E-ED30AAD7BEB5}"/>
              </a:ext>
            </a:extLst>
          </p:cNvPr>
          <p:cNvSpPr>
            <a:spLocks noGrp="1"/>
          </p:cNvSpPr>
          <p:nvPr>
            <p:ph idx="1"/>
          </p:nvPr>
        </p:nvSpPr>
        <p:spPr/>
        <p:txBody>
          <a:bodyPr/>
          <a:lstStyle/>
          <a:p>
            <a:pPr>
              <a:buFont typeface="Arial" panose="020B0604020202020204" pitchFamily="34" charset="0"/>
              <a:buChar char="•"/>
            </a:pPr>
            <a:r>
              <a:rPr lang="en-IN" dirty="0"/>
              <a:t>Customer interviews </a:t>
            </a:r>
          </a:p>
          <a:p>
            <a:pPr>
              <a:buFont typeface="Arial" panose="020B0604020202020204" pitchFamily="34" charset="0"/>
              <a:buChar char="•"/>
            </a:pPr>
            <a:r>
              <a:rPr lang="en-IN" dirty="0"/>
              <a:t>Market research </a:t>
            </a:r>
          </a:p>
          <a:p>
            <a:pPr>
              <a:buFont typeface="Arial" panose="020B0604020202020204" pitchFamily="34" charset="0"/>
              <a:buChar char="•"/>
            </a:pPr>
            <a:r>
              <a:rPr lang="en-IN" dirty="0"/>
              <a:t>Competitor analysis </a:t>
            </a:r>
          </a:p>
          <a:p>
            <a:pPr>
              <a:buFont typeface="Arial" panose="020B0604020202020204" pitchFamily="34" charset="0"/>
              <a:buChar char="•"/>
            </a:pPr>
            <a:r>
              <a:rPr lang="en-IN" dirty="0"/>
              <a:t>User surveys </a:t>
            </a:r>
          </a:p>
          <a:p>
            <a:pPr>
              <a:buFont typeface="Arial" panose="020B0604020202020204" pitchFamily="34" charset="0"/>
              <a:buChar char="•"/>
            </a:pPr>
            <a:r>
              <a:rPr lang="en-IN" dirty="0"/>
              <a:t>Data analysis </a:t>
            </a:r>
          </a:p>
          <a:p>
            <a:pPr>
              <a:buFont typeface="Arial" panose="020B0604020202020204" pitchFamily="34" charset="0"/>
              <a:buChar char="•"/>
            </a:pPr>
            <a:r>
              <a:rPr lang="en-IN" dirty="0"/>
              <a:t>Brainstorming </a:t>
            </a:r>
          </a:p>
          <a:p>
            <a:pPr>
              <a:buFont typeface="Arial" panose="020B0604020202020204" pitchFamily="34" charset="0"/>
              <a:buChar char="•"/>
            </a:pPr>
            <a:r>
              <a:rPr lang="en-IN" dirty="0"/>
              <a:t>Prototype creation </a:t>
            </a:r>
          </a:p>
          <a:p>
            <a:pPr>
              <a:buFont typeface="Arial" panose="020B0604020202020204" pitchFamily="34" charset="0"/>
              <a:buChar char="•"/>
            </a:pPr>
            <a:r>
              <a:rPr lang="en-IN" dirty="0"/>
              <a:t>Usability testing </a:t>
            </a:r>
          </a:p>
          <a:p>
            <a:pPr>
              <a:buFont typeface="Arial" panose="020B0604020202020204" pitchFamily="34" charset="0"/>
              <a:buChar char="•"/>
            </a:pPr>
            <a:r>
              <a:rPr lang="en-IN" dirty="0"/>
              <a:t>MVP validation </a:t>
            </a:r>
          </a:p>
          <a:p>
            <a:endParaRPr lang="en-IN" dirty="0"/>
          </a:p>
        </p:txBody>
      </p:sp>
      <p:sp>
        <p:nvSpPr>
          <p:cNvPr id="3" name="Content Placeholder 2">
            <a:extLst>
              <a:ext uri="{FF2B5EF4-FFF2-40B4-BE49-F238E27FC236}">
                <a16:creationId xmlns:a16="http://schemas.microsoft.com/office/drawing/2014/main" id="{117C32F8-5B95-4FCF-14F5-6509BA78224D}"/>
              </a:ext>
            </a:extLst>
          </p:cNvPr>
          <p:cNvSpPr>
            <a:spLocks noGrp="1"/>
          </p:cNvSpPr>
          <p:nvPr>
            <p:ph sz="quarter" idx="10"/>
          </p:nvPr>
        </p:nvSpPr>
        <p:spPr/>
        <p:txBody>
          <a:bodyPr/>
          <a:lstStyle/>
          <a:p>
            <a:r>
              <a:rPr lang="en-IN" b="1" dirty="0"/>
              <a:t>Activities in Discovery</a:t>
            </a:r>
          </a:p>
          <a:p>
            <a:endParaRPr lang="en-IN" dirty="0"/>
          </a:p>
        </p:txBody>
      </p:sp>
    </p:spTree>
    <p:extLst>
      <p:ext uri="{BB962C8B-B14F-4D97-AF65-F5344CB8AC3E}">
        <p14:creationId xmlns:p14="http://schemas.microsoft.com/office/powerpoint/2010/main" val="5136072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wrap="square"/>
          <a:lstStyle/>
          <a:p>
            <a:r>
              <a:rPr sz="2600" b="1">
                <a:solidFill>
                  <a:srgbClr val="003352"/>
                </a:solidFill>
                <a:latin typeface="Century Gothic"/>
              </a:rPr>
              <a:t>Three MVPs that cost almost nothing</a:t>
            </a:r>
          </a:p>
        </p:txBody>
      </p:sp>
      <p:sp>
        <p:nvSpPr>
          <p:cNvPr id="4" name="Rounded Rectangle 3"/>
          <p:cNvSpPr/>
          <p:nvPr/>
        </p:nvSpPr>
        <p:spPr>
          <a:xfrm>
            <a:off x="502920" y="1371600"/>
            <a:ext cx="3054096" cy="292608"/>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ctr"/>
            <a:r>
              <a:rPr sz="1000" b="1" i="0">
                <a:solidFill>
                  <a:srgbClr val="003352"/>
                </a:solidFill>
                <a:latin typeface="Century Gothic"/>
              </a:rPr>
              <a:t>CASE  ·  DISCOVERY</a:t>
            </a:r>
          </a:p>
        </p:txBody>
      </p:sp>
      <p:sp>
        <p:nvSpPr>
          <p:cNvPr id="5" name="Rounded Rectangle 4"/>
          <p:cNvSpPr/>
          <p:nvPr/>
        </p:nvSpPr>
        <p:spPr>
          <a:xfrm>
            <a:off x="502920" y="1874519"/>
            <a:ext cx="3611880" cy="2926080"/>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ounded Rectangle 5"/>
          <p:cNvSpPr/>
          <p:nvPr/>
        </p:nvSpPr>
        <p:spPr>
          <a:xfrm>
            <a:off x="685800" y="2057400"/>
            <a:ext cx="1691640" cy="310896"/>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lIns="73152" rIns="73152" rtlCol="0" anchor="ctr"/>
          <a:lstStyle/>
          <a:p>
            <a:pPr algn="ctr"/>
            <a:r>
              <a:rPr sz="1000" b="1" i="0">
                <a:solidFill>
                  <a:srgbClr val="003352"/>
                </a:solidFill>
                <a:latin typeface="Century Gothic"/>
              </a:rPr>
              <a:t>Dropbox, 2007</a:t>
            </a:r>
          </a:p>
        </p:txBody>
      </p:sp>
      <p:sp>
        <p:nvSpPr>
          <p:cNvPr id="7" name="TextBox 6"/>
          <p:cNvSpPr txBox="1"/>
          <p:nvPr/>
        </p:nvSpPr>
        <p:spPr>
          <a:xfrm>
            <a:off x="685800" y="2514600"/>
            <a:ext cx="3246120" cy="2148840"/>
          </a:xfrm>
          <a:prstGeom prst="rect">
            <a:avLst/>
          </a:prstGeom>
          <a:noFill/>
        </p:spPr>
        <p:txBody>
          <a:bodyPr wrap="square" lIns="0" tIns="0" rIns="0" bIns="0" anchor="t">
            <a:spAutoFit/>
          </a:bodyPr>
          <a:lstStyle/>
          <a:p>
            <a:pPr algn="l">
              <a:spcBef>
                <a:spcPts val="0"/>
              </a:spcBef>
              <a:spcAft>
                <a:spcPts val="700"/>
              </a:spcAft>
            </a:pPr>
            <a:r>
              <a:rPr sz="1400" b="1" i="0">
                <a:solidFill>
                  <a:srgbClr val="003352"/>
                </a:solidFill>
                <a:latin typeface="Century Gothic"/>
              </a:rPr>
              <a:t>A video instead of a product</a:t>
            </a:r>
          </a:p>
          <a:p>
            <a:pPr algn="l">
              <a:spcBef>
                <a:spcPts val="0"/>
              </a:spcBef>
              <a:spcAft>
                <a:spcPts val="400"/>
              </a:spcAft>
            </a:pPr>
            <a:r>
              <a:rPr sz="1150" b="0" i="0">
                <a:solidFill>
                  <a:srgbClr val="003352"/>
                </a:solidFill>
                <a:latin typeface="Century Gothic"/>
              </a:rPr>
              <a:t>A three-minute screen recording of a prototype that ran only on Windows, posted to Hacker News. The beta waitlist went from roughly 5,000 to 75,000 overnight. Only then did they build it out.</a:t>
            </a:r>
          </a:p>
        </p:txBody>
      </p:sp>
      <p:sp>
        <p:nvSpPr>
          <p:cNvPr id="8" name="Rounded Rectangle 7"/>
          <p:cNvSpPr/>
          <p:nvPr/>
        </p:nvSpPr>
        <p:spPr>
          <a:xfrm>
            <a:off x="4297680" y="1874519"/>
            <a:ext cx="3611880" cy="2926080"/>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ounded Rectangle 8"/>
          <p:cNvSpPr/>
          <p:nvPr/>
        </p:nvSpPr>
        <p:spPr>
          <a:xfrm>
            <a:off x="4480560" y="2057400"/>
            <a:ext cx="1691640" cy="310896"/>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lIns="73152" rIns="73152" rtlCol="0" anchor="ctr"/>
          <a:lstStyle/>
          <a:p>
            <a:pPr algn="ctr"/>
            <a:r>
              <a:rPr sz="1000" b="1" i="0">
                <a:solidFill>
                  <a:srgbClr val="003352"/>
                </a:solidFill>
                <a:latin typeface="Century Gothic"/>
              </a:rPr>
              <a:t>Zappos, 1999</a:t>
            </a:r>
          </a:p>
        </p:txBody>
      </p:sp>
      <p:sp>
        <p:nvSpPr>
          <p:cNvPr id="10" name="TextBox 9"/>
          <p:cNvSpPr txBox="1"/>
          <p:nvPr/>
        </p:nvSpPr>
        <p:spPr>
          <a:xfrm>
            <a:off x="4480560" y="2514600"/>
            <a:ext cx="3246120" cy="2148840"/>
          </a:xfrm>
          <a:prstGeom prst="rect">
            <a:avLst/>
          </a:prstGeom>
          <a:noFill/>
        </p:spPr>
        <p:txBody>
          <a:bodyPr wrap="square" lIns="0" tIns="0" rIns="0" bIns="0" anchor="t">
            <a:spAutoFit/>
          </a:bodyPr>
          <a:lstStyle/>
          <a:p>
            <a:pPr algn="l">
              <a:spcBef>
                <a:spcPts val="0"/>
              </a:spcBef>
              <a:spcAft>
                <a:spcPts val="700"/>
              </a:spcAft>
            </a:pPr>
            <a:r>
              <a:rPr sz="1400" b="1" i="0">
                <a:solidFill>
                  <a:srgbClr val="003352"/>
                </a:solidFill>
                <a:latin typeface="Century Gothic"/>
              </a:rPr>
              <a:t>A shop with no stock</a:t>
            </a:r>
          </a:p>
          <a:p>
            <a:pPr algn="l">
              <a:spcBef>
                <a:spcPts val="0"/>
              </a:spcBef>
              <a:spcAft>
                <a:spcPts val="400"/>
              </a:spcAft>
            </a:pPr>
            <a:r>
              <a:rPr sz="1150" b="0" i="0">
                <a:solidFill>
                  <a:srgbClr val="003352"/>
                </a:solidFill>
                <a:latin typeface="Century Gothic"/>
              </a:rPr>
              <a:t>The founder photographed shoes in local stores, listed them online, and when an order came in, went and bought that pair at retail. Deliberately loss-making. It answered one question: will anyone buy shoes without trying them on?</a:t>
            </a:r>
          </a:p>
        </p:txBody>
      </p:sp>
      <p:sp>
        <p:nvSpPr>
          <p:cNvPr id="11" name="Rounded Rectangle 10"/>
          <p:cNvSpPr/>
          <p:nvPr/>
        </p:nvSpPr>
        <p:spPr>
          <a:xfrm>
            <a:off x="8092440" y="1874519"/>
            <a:ext cx="3611880" cy="2926080"/>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8275320" y="2057400"/>
            <a:ext cx="1691640" cy="310896"/>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lIns="73152" rIns="73152" rtlCol="0" anchor="ctr"/>
          <a:lstStyle/>
          <a:p>
            <a:pPr algn="ctr"/>
            <a:r>
              <a:rPr sz="1000" b="1" i="0">
                <a:solidFill>
                  <a:srgbClr val="003352"/>
                </a:solidFill>
                <a:latin typeface="Century Gothic"/>
              </a:rPr>
              <a:t>Airbnb, 2009</a:t>
            </a:r>
          </a:p>
        </p:txBody>
      </p:sp>
      <p:sp>
        <p:nvSpPr>
          <p:cNvPr id="13" name="TextBox 12"/>
          <p:cNvSpPr txBox="1"/>
          <p:nvPr/>
        </p:nvSpPr>
        <p:spPr>
          <a:xfrm>
            <a:off x="8275320" y="2514600"/>
            <a:ext cx="3246120" cy="2148840"/>
          </a:xfrm>
          <a:prstGeom prst="rect">
            <a:avLst/>
          </a:prstGeom>
          <a:noFill/>
        </p:spPr>
        <p:txBody>
          <a:bodyPr wrap="square" lIns="0" tIns="0" rIns="0" bIns="0" anchor="t">
            <a:spAutoFit/>
          </a:bodyPr>
          <a:lstStyle/>
          <a:p>
            <a:pPr algn="l">
              <a:spcBef>
                <a:spcPts val="0"/>
              </a:spcBef>
              <a:spcAft>
                <a:spcPts val="700"/>
              </a:spcAft>
            </a:pPr>
            <a:r>
              <a:rPr sz="1400" b="1" i="0">
                <a:solidFill>
                  <a:srgbClr val="003352"/>
                </a:solidFill>
                <a:latin typeface="Century Gothic"/>
              </a:rPr>
              <a:t>Founders with a camera</a:t>
            </a:r>
          </a:p>
          <a:p>
            <a:pPr algn="l">
              <a:spcBef>
                <a:spcPts val="0"/>
              </a:spcBef>
              <a:spcAft>
                <a:spcPts val="400"/>
              </a:spcAft>
            </a:pPr>
            <a:r>
              <a:rPr sz="1150" b="0" i="0">
                <a:solidFill>
                  <a:srgbClr val="003352"/>
                </a:solidFill>
                <a:latin typeface="Century Gothic"/>
              </a:rPr>
              <a:t>Bookings were flat in New York, so the founders flew there and photographed hosts' apartments themselves. Not automated, not scalable, not a feature. Bookings went up.</a:t>
            </a:r>
          </a:p>
        </p:txBody>
      </p:sp>
      <p:sp>
        <p:nvSpPr>
          <p:cNvPr id="14" name="Rounded Rectangle 13"/>
          <p:cNvSpPr/>
          <p:nvPr/>
        </p:nvSpPr>
        <p:spPr>
          <a:xfrm>
            <a:off x="502920" y="5486400"/>
            <a:ext cx="11201400" cy="658368"/>
          </a:xfrm>
          <a:prstGeom prst="roundRect">
            <a:avLst>
              <a:gd name="adj" fmla="val 10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54864" rIns="201168" bIns="54864" rtlCol="0" anchor="ctr"/>
          <a:lstStyle/>
          <a:p>
            <a:r>
              <a:rPr sz="1300" b="1" i="0">
                <a:solidFill>
                  <a:srgbClr val="FFFFFF"/>
                </a:solidFill>
                <a:latin typeface="Century Gothic"/>
              </a:rPr>
              <a:t>Not one of these needed a sprint. Each answered “is this real?” before any engineering capacity was committed — which is the only question discovery has to answer.</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D5ED4D-136B-AEA7-895F-EDF06A8E7EBB}"/>
              </a:ext>
            </a:extLst>
          </p:cNvPr>
          <p:cNvSpPr>
            <a:spLocks noGrp="1"/>
          </p:cNvSpPr>
          <p:nvPr>
            <p:ph sz="quarter" idx="10"/>
          </p:nvPr>
        </p:nvSpPr>
        <p:spPr/>
        <p:txBody>
          <a:bodyPr/>
          <a:lstStyle/>
          <a:p>
            <a:r>
              <a:rPr lang="en-IN" b="1" dirty="0"/>
              <a:t>Outputs of Discovery</a:t>
            </a:r>
          </a:p>
          <a:p>
            <a:endParaRPr lang="en-IN" dirty="0"/>
          </a:p>
        </p:txBody>
      </p:sp>
      <p:sp>
        <p:nvSpPr>
          <p:cNvPr id="4" name="Rectangle 1">
            <a:extLst>
              <a:ext uri="{FF2B5EF4-FFF2-40B4-BE49-F238E27FC236}">
                <a16:creationId xmlns:a16="http://schemas.microsoft.com/office/drawing/2014/main" id="{7D000D1A-2483-24E5-EF97-699BA3F2EFE4}"/>
              </a:ext>
            </a:extLst>
          </p:cNvPr>
          <p:cNvSpPr>
            <a:spLocks noGrp="1" noChangeArrowheads="1"/>
          </p:cNvSpPr>
          <p:nvPr>
            <p:ph idx="1"/>
          </p:nvPr>
        </p:nvSpPr>
        <p:spPr bwMode="auto">
          <a:xfrm>
            <a:off x="587375" y="1550532"/>
            <a:ext cx="485140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Customer Personas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Problem Statements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Product Vision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Feature Ideas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User Stories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Prioritized Backlog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Product Roadmap </a:t>
            </a:r>
          </a:p>
        </p:txBody>
      </p:sp>
    </p:spTree>
    <p:extLst>
      <p:ext uri="{BB962C8B-B14F-4D97-AF65-F5344CB8AC3E}">
        <p14:creationId xmlns:p14="http://schemas.microsoft.com/office/powerpoint/2010/main" val="25553032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D1F15C2-6E6F-7D6E-8DBB-6ECB9F7E4AB7}"/>
              </a:ext>
            </a:extLst>
          </p:cNvPr>
          <p:cNvSpPr>
            <a:spLocks noGrp="1"/>
          </p:cNvSpPr>
          <p:nvPr>
            <p:ph idx="1"/>
          </p:nvPr>
        </p:nvSpPr>
        <p:spPr/>
        <p:txBody>
          <a:bodyPr/>
          <a:lstStyle/>
          <a:p>
            <a:r>
              <a:rPr lang="en-US" b="1" dirty="0"/>
              <a:t>Product Delivery is the process of designing, building, testing, releasing, and supporting a validated product or feature.</a:t>
            </a:r>
            <a:endParaRPr lang="en-US" dirty="0"/>
          </a:p>
          <a:p>
            <a:endParaRPr lang="en-IN" dirty="0"/>
          </a:p>
        </p:txBody>
      </p:sp>
      <p:sp>
        <p:nvSpPr>
          <p:cNvPr id="3" name="Content Placeholder 2">
            <a:extLst>
              <a:ext uri="{FF2B5EF4-FFF2-40B4-BE49-F238E27FC236}">
                <a16:creationId xmlns:a16="http://schemas.microsoft.com/office/drawing/2014/main" id="{CA02982D-112D-3839-87C5-26B1666A1925}"/>
              </a:ext>
            </a:extLst>
          </p:cNvPr>
          <p:cNvSpPr>
            <a:spLocks noGrp="1"/>
          </p:cNvSpPr>
          <p:nvPr>
            <p:ph sz="quarter" idx="10"/>
          </p:nvPr>
        </p:nvSpPr>
        <p:spPr/>
        <p:txBody>
          <a:bodyPr/>
          <a:lstStyle/>
          <a:p>
            <a:r>
              <a:rPr lang="en-IN" b="1" dirty="0"/>
              <a:t>Product Delivery</a:t>
            </a:r>
          </a:p>
          <a:p>
            <a:endParaRPr lang="en-IN" dirty="0"/>
          </a:p>
        </p:txBody>
      </p:sp>
    </p:spTree>
    <p:extLst>
      <p:ext uri="{BB962C8B-B14F-4D97-AF65-F5344CB8AC3E}">
        <p14:creationId xmlns:p14="http://schemas.microsoft.com/office/powerpoint/2010/main" val="42038347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0D8BDF-79D6-A2A9-9DEB-567F60761AD6}"/>
              </a:ext>
            </a:extLst>
          </p:cNvPr>
          <p:cNvSpPr>
            <a:spLocks noGrp="1"/>
          </p:cNvSpPr>
          <p:nvPr>
            <p:ph sz="quarter" idx="10"/>
          </p:nvPr>
        </p:nvSpPr>
        <p:spPr/>
        <p:txBody>
          <a:bodyPr/>
          <a:lstStyle/>
          <a:p>
            <a:r>
              <a:rPr lang="en-IN" b="1" dirty="0"/>
              <a:t>Questions During Delivery</a:t>
            </a:r>
          </a:p>
          <a:p>
            <a:endParaRPr lang="en-IN" dirty="0"/>
          </a:p>
        </p:txBody>
      </p:sp>
      <p:sp>
        <p:nvSpPr>
          <p:cNvPr id="4" name="Rectangle 1">
            <a:extLst>
              <a:ext uri="{FF2B5EF4-FFF2-40B4-BE49-F238E27FC236}">
                <a16:creationId xmlns:a16="http://schemas.microsoft.com/office/drawing/2014/main" id="{4346DC8F-67A7-07F7-AA1A-6844397733F3}"/>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Can we build this?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How long will it take?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What resources are needed?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Is the quality acceptable?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Is the release ready?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Are there security or performance concerns? </a:t>
            </a:r>
          </a:p>
        </p:txBody>
      </p:sp>
    </p:spTree>
    <p:extLst>
      <p:ext uri="{BB962C8B-B14F-4D97-AF65-F5344CB8AC3E}">
        <p14:creationId xmlns:p14="http://schemas.microsoft.com/office/powerpoint/2010/main" val="21448566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64F4AA-9D66-DF16-0738-64D7A50A93E4}"/>
              </a:ext>
            </a:extLst>
          </p:cNvPr>
          <p:cNvSpPr>
            <a:spLocks noGrp="1"/>
          </p:cNvSpPr>
          <p:nvPr>
            <p:ph sz="quarter" idx="10"/>
          </p:nvPr>
        </p:nvSpPr>
        <p:spPr/>
        <p:txBody>
          <a:bodyPr/>
          <a:lstStyle/>
          <a:p>
            <a:r>
              <a:rPr lang="en-IN" b="1" dirty="0"/>
              <a:t>Activities in Delivery</a:t>
            </a:r>
          </a:p>
          <a:p>
            <a:endParaRPr lang="en-IN" dirty="0"/>
          </a:p>
        </p:txBody>
      </p:sp>
      <p:sp>
        <p:nvSpPr>
          <p:cNvPr id="4" name="Rectangle 1">
            <a:extLst>
              <a:ext uri="{FF2B5EF4-FFF2-40B4-BE49-F238E27FC236}">
                <a16:creationId xmlns:a16="http://schemas.microsoft.com/office/drawing/2014/main" id="{320EBBBD-12B9-41A8-54AE-827E32EDFEEF}"/>
              </a:ext>
            </a:extLst>
          </p:cNvPr>
          <p:cNvSpPr>
            <a:spLocks noGrp="1" noChangeArrowheads="1"/>
          </p:cNvSpPr>
          <p:nvPr>
            <p:ph idx="1"/>
          </p:nvPr>
        </p:nvSpPr>
        <p:spPr bwMode="auto">
          <a:xfrm>
            <a:off x="473075" y="1825983"/>
            <a:ext cx="2675732"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Sprint Planning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UX/UI Design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Software Development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Code Review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Testing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DevOps &amp; Deployment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Documentation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Training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Production Monitoring </a:t>
            </a:r>
          </a:p>
        </p:txBody>
      </p:sp>
    </p:spTree>
    <p:extLst>
      <p:ext uri="{BB962C8B-B14F-4D97-AF65-F5344CB8AC3E}">
        <p14:creationId xmlns:p14="http://schemas.microsoft.com/office/powerpoint/2010/main" val="12846113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A385D42-2D26-4834-0898-DDD76B5EB4BA}"/>
              </a:ext>
            </a:extLst>
          </p:cNvPr>
          <p:cNvSpPr>
            <a:spLocks noGrp="1"/>
          </p:cNvSpPr>
          <p:nvPr>
            <p:ph idx="1"/>
          </p:nvPr>
        </p:nvSpPr>
        <p:spPr/>
        <p:txBody>
          <a:bodyPr/>
          <a:lstStyle/>
          <a:p>
            <a:pPr>
              <a:buFont typeface="Arial" panose="020B0604020202020204" pitchFamily="34" charset="0"/>
              <a:buChar char="•"/>
            </a:pPr>
            <a:r>
              <a:rPr lang="en-US" dirty="0"/>
              <a:t>Working software </a:t>
            </a:r>
          </a:p>
          <a:p>
            <a:pPr>
              <a:buFont typeface="Arial" panose="020B0604020202020204" pitchFamily="34" charset="0"/>
              <a:buChar char="•"/>
            </a:pPr>
            <a:r>
              <a:rPr lang="en-US" dirty="0"/>
              <a:t>Release Notes </a:t>
            </a:r>
          </a:p>
          <a:p>
            <a:pPr>
              <a:buFont typeface="Arial" panose="020B0604020202020204" pitchFamily="34" charset="0"/>
              <a:buChar char="•"/>
            </a:pPr>
            <a:r>
              <a:rPr lang="en-US" dirty="0"/>
              <a:t>User Documentation </a:t>
            </a:r>
          </a:p>
          <a:p>
            <a:pPr>
              <a:buFont typeface="Arial" panose="020B0604020202020204" pitchFamily="34" charset="0"/>
              <a:buChar char="•"/>
            </a:pPr>
            <a:r>
              <a:rPr lang="en-US" dirty="0"/>
              <a:t>Production Deployment </a:t>
            </a:r>
          </a:p>
          <a:p>
            <a:pPr>
              <a:buFont typeface="Arial" panose="020B0604020202020204" pitchFamily="34" charset="0"/>
              <a:buChar char="•"/>
            </a:pPr>
            <a:r>
              <a:rPr lang="en-US" dirty="0"/>
              <a:t>Customer Support </a:t>
            </a:r>
          </a:p>
          <a:p>
            <a:pPr>
              <a:buFont typeface="Arial" panose="020B0604020202020204" pitchFamily="34" charset="0"/>
              <a:buChar char="•"/>
            </a:pPr>
            <a:r>
              <a:rPr lang="en-US" dirty="0"/>
              <a:t>Performance Reports </a:t>
            </a:r>
          </a:p>
          <a:p>
            <a:endParaRPr lang="en-IN" dirty="0"/>
          </a:p>
        </p:txBody>
      </p:sp>
      <p:sp>
        <p:nvSpPr>
          <p:cNvPr id="3" name="Content Placeholder 2">
            <a:extLst>
              <a:ext uri="{FF2B5EF4-FFF2-40B4-BE49-F238E27FC236}">
                <a16:creationId xmlns:a16="http://schemas.microsoft.com/office/drawing/2014/main" id="{7A5BC91C-DB1A-42BE-A2DA-AD1F0471611A}"/>
              </a:ext>
            </a:extLst>
          </p:cNvPr>
          <p:cNvSpPr>
            <a:spLocks noGrp="1"/>
          </p:cNvSpPr>
          <p:nvPr>
            <p:ph sz="quarter" idx="10"/>
          </p:nvPr>
        </p:nvSpPr>
        <p:spPr/>
        <p:txBody>
          <a:bodyPr/>
          <a:lstStyle/>
          <a:p>
            <a:r>
              <a:rPr lang="en-IN" b="1" dirty="0"/>
              <a:t>Outputs of Delivery</a:t>
            </a:r>
          </a:p>
          <a:p>
            <a:endParaRPr lang="en-IN" dirty="0"/>
          </a:p>
        </p:txBody>
      </p:sp>
    </p:spTree>
    <p:extLst>
      <p:ext uri="{BB962C8B-B14F-4D97-AF65-F5344CB8AC3E}">
        <p14:creationId xmlns:p14="http://schemas.microsoft.com/office/powerpoint/2010/main" val="21879144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91D6D55-3266-263E-DB14-DCC5C8568D78}"/>
              </a:ext>
            </a:extLst>
          </p:cNvPr>
          <p:cNvGraphicFramePr>
            <a:graphicFrameLocks noGrp="1"/>
          </p:cNvGraphicFramePr>
          <p:nvPr>
            <p:ph idx="1"/>
          </p:nvPr>
        </p:nvGraphicFramePr>
        <p:xfrm>
          <a:off x="635000" y="2248059"/>
          <a:ext cx="10515600" cy="3017520"/>
        </p:xfrm>
        <a:graphic>
          <a:graphicData uri="http://schemas.openxmlformats.org/drawingml/2006/table">
            <a:tbl>
              <a:tblPr/>
              <a:tblGrid>
                <a:gridCol w="3505200">
                  <a:extLst>
                    <a:ext uri="{9D8B030D-6E8A-4147-A177-3AD203B41FA5}">
                      <a16:colId xmlns:a16="http://schemas.microsoft.com/office/drawing/2014/main" val="432430573"/>
                    </a:ext>
                  </a:extLst>
                </a:gridCol>
                <a:gridCol w="3505200">
                  <a:extLst>
                    <a:ext uri="{9D8B030D-6E8A-4147-A177-3AD203B41FA5}">
                      <a16:colId xmlns:a16="http://schemas.microsoft.com/office/drawing/2014/main" val="1109700398"/>
                    </a:ext>
                  </a:extLst>
                </a:gridCol>
                <a:gridCol w="3505200">
                  <a:extLst>
                    <a:ext uri="{9D8B030D-6E8A-4147-A177-3AD203B41FA5}">
                      <a16:colId xmlns:a16="http://schemas.microsoft.com/office/drawing/2014/main" val="3315027631"/>
                    </a:ext>
                  </a:extLst>
                </a:gridCol>
              </a:tblGrid>
              <a:tr h="0">
                <a:tc>
                  <a:txBody>
                    <a:bodyPr/>
                    <a:lstStyle/>
                    <a:p>
                      <a:r>
                        <a:rPr lang="en-IN"/>
                        <a:t>Aspect</a:t>
                      </a:r>
                    </a:p>
                  </a:txBody>
                  <a:tcPr anchor="ctr">
                    <a:lnL>
                      <a:noFill/>
                    </a:lnL>
                    <a:lnR>
                      <a:noFill/>
                    </a:lnR>
                    <a:lnT>
                      <a:noFill/>
                    </a:lnT>
                    <a:lnB>
                      <a:noFill/>
                    </a:lnB>
                    <a:noFill/>
                  </a:tcPr>
                </a:tc>
                <a:tc>
                  <a:txBody>
                    <a:bodyPr/>
                    <a:lstStyle/>
                    <a:p>
                      <a:r>
                        <a:rPr lang="en-IN"/>
                        <a:t>Product Discovery</a:t>
                      </a:r>
                    </a:p>
                  </a:txBody>
                  <a:tcPr anchor="ctr">
                    <a:lnL>
                      <a:noFill/>
                    </a:lnL>
                    <a:lnR>
                      <a:noFill/>
                    </a:lnR>
                    <a:lnT>
                      <a:noFill/>
                    </a:lnT>
                    <a:lnB>
                      <a:noFill/>
                    </a:lnB>
                    <a:noFill/>
                  </a:tcPr>
                </a:tc>
                <a:tc>
                  <a:txBody>
                    <a:bodyPr/>
                    <a:lstStyle/>
                    <a:p>
                      <a:r>
                        <a:rPr lang="en-IN"/>
                        <a:t>Product Delivery</a:t>
                      </a:r>
                    </a:p>
                  </a:txBody>
                  <a:tcPr anchor="ctr">
                    <a:lnL>
                      <a:noFill/>
                    </a:lnL>
                    <a:lnR>
                      <a:noFill/>
                    </a:lnR>
                    <a:lnT>
                      <a:noFill/>
                    </a:lnT>
                    <a:lnB>
                      <a:noFill/>
                    </a:lnB>
                    <a:noFill/>
                  </a:tcPr>
                </a:tc>
                <a:extLst>
                  <a:ext uri="{0D108BD9-81ED-4DB2-BD59-A6C34878D82A}">
                    <a16:rowId xmlns:a16="http://schemas.microsoft.com/office/drawing/2014/main" val="2212417535"/>
                  </a:ext>
                </a:extLst>
              </a:tr>
              <a:tr h="0">
                <a:tc>
                  <a:txBody>
                    <a:bodyPr/>
                    <a:lstStyle/>
                    <a:p>
                      <a:r>
                        <a:rPr lang="en-IN"/>
                        <a:t>Goal</a:t>
                      </a:r>
                    </a:p>
                  </a:txBody>
                  <a:tcPr anchor="ctr">
                    <a:lnL>
                      <a:noFill/>
                    </a:lnL>
                    <a:lnR>
                      <a:noFill/>
                    </a:lnR>
                    <a:lnT>
                      <a:noFill/>
                    </a:lnT>
                    <a:lnB>
                      <a:noFill/>
                    </a:lnB>
                    <a:noFill/>
                  </a:tcPr>
                </a:tc>
                <a:tc>
                  <a:txBody>
                    <a:bodyPr/>
                    <a:lstStyle/>
                    <a:p>
                      <a:r>
                        <a:rPr lang="en-IN"/>
                        <a:t>Decide what to build</a:t>
                      </a:r>
                    </a:p>
                  </a:txBody>
                  <a:tcPr anchor="ctr">
                    <a:lnL>
                      <a:noFill/>
                    </a:lnL>
                    <a:lnR>
                      <a:noFill/>
                    </a:lnR>
                    <a:lnT>
                      <a:noFill/>
                    </a:lnT>
                    <a:lnB>
                      <a:noFill/>
                    </a:lnB>
                    <a:noFill/>
                  </a:tcPr>
                </a:tc>
                <a:tc>
                  <a:txBody>
                    <a:bodyPr/>
                    <a:lstStyle/>
                    <a:p>
                      <a:r>
                        <a:rPr lang="en-IN"/>
                        <a:t>Build it correctly</a:t>
                      </a:r>
                    </a:p>
                  </a:txBody>
                  <a:tcPr anchor="ctr">
                    <a:lnL>
                      <a:noFill/>
                    </a:lnL>
                    <a:lnR>
                      <a:noFill/>
                    </a:lnR>
                    <a:lnT>
                      <a:noFill/>
                    </a:lnT>
                    <a:lnB>
                      <a:noFill/>
                    </a:lnB>
                    <a:noFill/>
                  </a:tcPr>
                </a:tc>
                <a:extLst>
                  <a:ext uri="{0D108BD9-81ED-4DB2-BD59-A6C34878D82A}">
                    <a16:rowId xmlns:a16="http://schemas.microsoft.com/office/drawing/2014/main" val="2314108646"/>
                  </a:ext>
                </a:extLst>
              </a:tr>
              <a:tr h="0">
                <a:tc>
                  <a:txBody>
                    <a:bodyPr/>
                    <a:lstStyle/>
                    <a:p>
                      <a:r>
                        <a:rPr lang="en-IN"/>
                        <a:t>Primary Question</a:t>
                      </a:r>
                    </a:p>
                  </a:txBody>
                  <a:tcPr anchor="ctr">
                    <a:lnL>
                      <a:noFill/>
                    </a:lnL>
                    <a:lnR>
                      <a:noFill/>
                    </a:lnR>
                    <a:lnT>
                      <a:noFill/>
                    </a:lnT>
                    <a:lnB>
                      <a:noFill/>
                    </a:lnB>
                    <a:noFill/>
                  </a:tcPr>
                </a:tc>
                <a:tc>
                  <a:txBody>
                    <a:bodyPr/>
                    <a:lstStyle/>
                    <a:p>
                      <a:r>
                        <a:rPr lang="en-US"/>
                        <a:t>Are we solving the right problem?</a:t>
                      </a:r>
                    </a:p>
                  </a:txBody>
                  <a:tcPr anchor="ctr">
                    <a:lnL>
                      <a:noFill/>
                    </a:lnL>
                    <a:lnR>
                      <a:noFill/>
                    </a:lnR>
                    <a:lnT>
                      <a:noFill/>
                    </a:lnT>
                    <a:lnB>
                      <a:noFill/>
                    </a:lnB>
                    <a:noFill/>
                  </a:tcPr>
                </a:tc>
                <a:tc>
                  <a:txBody>
                    <a:bodyPr/>
                    <a:lstStyle/>
                    <a:p>
                      <a:r>
                        <a:rPr lang="en-US"/>
                        <a:t>Are we delivering the solution well?</a:t>
                      </a:r>
                    </a:p>
                  </a:txBody>
                  <a:tcPr anchor="ctr">
                    <a:lnL>
                      <a:noFill/>
                    </a:lnL>
                    <a:lnR>
                      <a:noFill/>
                    </a:lnR>
                    <a:lnT>
                      <a:noFill/>
                    </a:lnT>
                    <a:lnB>
                      <a:noFill/>
                    </a:lnB>
                    <a:noFill/>
                  </a:tcPr>
                </a:tc>
                <a:extLst>
                  <a:ext uri="{0D108BD9-81ED-4DB2-BD59-A6C34878D82A}">
                    <a16:rowId xmlns:a16="http://schemas.microsoft.com/office/drawing/2014/main" val="3036808808"/>
                  </a:ext>
                </a:extLst>
              </a:tr>
              <a:tr h="0">
                <a:tc>
                  <a:txBody>
                    <a:bodyPr/>
                    <a:lstStyle/>
                    <a:p>
                      <a:r>
                        <a:rPr lang="en-IN"/>
                        <a:t>Focus</a:t>
                      </a:r>
                    </a:p>
                  </a:txBody>
                  <a:tcPr anchor="ctr">
                    <a:lnL>
                      <a:noFill/>
                    </a:lnL>
                    <a:lnR>
                      <a:noFill/>
                    </a:lnR>
                    <a:lnT>
                      <a:noFill/>
                    </a:lnT>
                    <a:lnB>
                      <a:noFill/>
                    </a:lnB>
                    <a:noFill/>
                  </a:tcPr>
                </a:tc>
                <a:tc>
                  <a:txBody>
                    <a:bodyPr/>
                    <a:lstStyle/>
                    <a:p>
                      <a:r>
                        <a:rPr lang="en-IN"/>
                        <a:t>Customer needs</a:t>
                      </a:r>
                    </a:p>
                  </a:txBody>
                  <a:tcPr anchor="ctr">
                    <a:lnL>
                      <a:noFill/>
                    </a:lnL>
                    <a:lnR>
                      <a:noFill/>
                    </a:lnR>
                    <a:lnT>
                      <a:noFill/>
                    </a:lnT>
                    <a:lnB>
                      <a:noFill/>
                    </a:lnB>
                    <a:noFill/>
                  </a:tcPr>
                </a:tc>
                <a:tc>
                  <a:txBody>
                    <a:bodyPr/>
                    <a:lstStyle/>
                    <a:p>
                      <a:r>
                        <a:rPr lang="en-IN"/>
                        <a:t>Engineering execution</a:t>
                      </a:r>
                    </a:p>
                  </a:txBody>
                  <a:tcPr anchor="ctr">
                    <a:lnL>
                      <a:noFill/>
                    </a:lnL>
                    <a:lnR>
                      <a:noFill/>
                    </a:lnR>
                    <a:lnT>
                      <a:noFill/>
                    </a:lnT>
                    <a:lnB>
                      <a:noFill/>
                    </a:lnB>
                    <a:noFill/>
                  </a:tcPr>
                </a:tc>
                <a:extLst>
                  <a:ext uri="{0D108BD9-81ED-4DB2-BD59-A6C34878D82A}">
                    <a16:rowId xmlns:a16="http://schemas.microsoft.com/office/drawing/2014/main" val="2391908177"/>
                  </a:ext>
                </a:extLst>
              </a:tr>
              <a:tr h="0">
                <a:tc>
                  <a:txBody>
                    <a:bodyPr/>
                    <a:lstStyle/>
                    <a:p>
                      <a:r>
                        <a:rPr lang="en-IN"/>
                        <a:t>Activities</a:t>
                      </a:r>
                    </a:p>
                  </a:txBody>
                  <a:tcPr anchor="ctr">
                    <a:lnL>
                      <a:noFill/>
                    </a:lnL>
                    <a:lnR>
                      <a:noFill/>
                    </a:lnR>
                    <a:lnT>
                      <a:noFill/>
                    </a:lnT>
                    <a:lnB>
                      <a:noFill/>
                    </a:lnB>
                    <a:noFill/>
                  </a:tcPr>
                </a:tc>
                <a:tc>
                  <a:txBody>
                    <a:bodyPr/>
                    <a:lstStyle/>
                    <a:p>
                      <a:r>
                        <a:rPr lang="en-IN"/>
                        <a:t>Research, validation, prioritization</a:t>
                      </a:r>
                    </a:p>
                  </a:txBody>
                  <a:tcPr anchor="ctr">
                    <a:lnL>
                      <a:noFill/>
                    </a:lnL>
                    <a:lnR>
                      <a:noFill/>
                    </a:lnR>
                    <a:lnT>
                      <a:noFill/>
                    </a:lnT>
                    <a:lnB>
                      <a:noFill/>
                    </a:lnB>
                    <a:noFill/>
                  </a:tcPr>
                </a:tc>
                <a:tc>
                  <a:txBody>
                    <a:bodyPr/>
                    <a:lstStyle/>
                    <a:p>
                      <a:r>
                        <a:rPr lang="en-IN"/>
                        <a:t>Design, coding, testing, deployment</a:t>
                      </a:r>
                    </a:p>
                  </a:txBody>
                  <a:tcPr anchor="ctr">
                    <a:lnL>
                      <a:noFill/>
                    </a:lnL>
                    <a:lnR>
                      <a:noFill/>
                    </a:lnR>
                    <a:lnT>
                      <a:noFill/>
                    </a:lnT>
                    <a:lnB>
                      <a:noFill/>
                    </a:lnB>
                    <a:noFill/>
                  </a:tcPr>
                </a:tc>
                <a:extLst>
                  <a:ext uri="{0D108BD9-81ED-4DB2-BD59-A6C34878D82A}">
                    <a16:rowId xmlns:a16="http://schemas.microsoft.com/office/drawing/2014/main" val="2095796231"/>
                  </a:ext>
                </a:extLst>
              </a:tr>
              <a:tr h="0">
                <a:tc>
                  <a:txBody>
                    <a:bodyPr/>
                    <a:lstStyle/>
                    <a:p>
                      <a:r>
                        <a:rPr lang="en-IN"/>
                        <a:t>Success Measure</a:t>
                      </a:r>
                    </a:p>
                  </a:txBody>
                  <a:tcPr anchor="ctr">
                    <a:lnL>
                      <a:noFill/>
                    </a:lnL>
                    <a:lnR>
                      <a:noFill/>
                    </a:lnR>
                    <a:lnT>
                      <a:noFill/>
                    </a:lnT>
                    <a:lnB>
                      <a:noFill/>
                    </a:lnB>
                    <a:noFill/>
                  </a:tcPr>
                </a:tc>
                <a:tc>
                  <a:txBody>
                    <a:bodyPr/>
                    <a:lstStyle/>
                    <a:p>
                      <a:r>
                        <a:rPr lang="en-IN"/>
                        <a:t>Customers want the solution</a:t>
                      </a:r>
                    </a:p>
                  </a:txBody>
                  <a:tcPr anchor="ctr">
                    <a:lnL>
                      <a:noFill/>
                    </a:lnL>
                    <a:lnR>
                      <a:noFill/>
                    </a:lnR>
                    <a:lnT>
                      <a:noFill/>
                    </a:lnT>
                    <a:lnB>
                      <a:noFill/>
                    </a:lnB>
                    <a:noFill/>
                  </a:tcPr>
                </a:tc>
                <a:tc>
                  <a:txBody>
                    <a:bodyPr/>
                    <a:lstStyle/>
                    <a:p>
                      <a:r>
                        <a:rPr lang="en-US" dirty="0"/>
                        <a:t>Customers receive a reliable solution</a:t>
                      </a:r>
                    </a:p>
                  </a:txBody>
                  <a:tcPr anchor="ctr">
                    <a:lnL>
                      <a:noFill/>
                    </a:lnL>
                    <a:lnR>
                      <a:noFill/>
                    </a:lnR>
                    <a:lnT>
                      <a:noFill/>
                    </a:lnT>
                    <a:lnB>
                      <a:noFill/>
                    </a:lnB>
                    <a:noFill/>
                  </a:tcPr>
                </a:tc>
                <a:extLst>
                  <a:ext uri="{0D108BD9-81ED-4DB2-BD59-A6C34878D82A}">
                    <a16:rowId xmlns:a16="http://schemas.microsoft.com/office/drawing/2014/main" val="61418201"/>
                  </a:ext>
                </a:extLst>
              </a:tr>
            </a:tbl>
          </a:graphicData>
        </a:graphic>
      </p:graphicFrame>
      <p:sp>
        <p:nvSpPr>
          <p:cNvPr id="3" name="Content Placeholder 2">
            <a:extLst>
              <a:ext uri="{FF2B5EF4-FFF2-40B4-BE49-F238E27FC236}">
                <a16:creationId xmlns:a16="http://schemas.microsoft.com/office/drawing/2014/main" id="{C3829015-4C8D-CF26-12C1-03209E4C9C1A}"/>
              </a:ext>
            </a:extLst>
          </p:cNvPr>
          <p:cNvSpPr>
            <a:spLocks noGrp="1"/>
          </p:cNvSpPr>
          <p:nvPr>
            <p:ph sz="quarter" idx="10"/>
          </p:nvPr>
        </p:nvSpPr>
        <p:spPr/>
        <p:txBody>
          <a:bodyPr/>
          <a:lstStyle/>
          <a:p>
            <a:r>
              <a:rPr lang="en-IN" dirty="0"/>
              <a:t>Discovery Vs Delivery</a:t>
            </a:r>
          </a:p>
        </p:txBody>
      </p:sp>
    </p:spTree>
    <p:extLst>
      <p:ext uri="{BB962C8B-B14F-4D97-AF65-F5344CB8AC3E}">
        <p14:creationId xmlns:p14="http://schemas.microsoft.com/office/powerpoint/2010/main" val="31479932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wrap="square"/>
          <a:lstStyle/>
          <a:p>
            <a:r>
              <a:rPr sz="2600" b="1">
                <a:solidFill>
                  <a:srgbClr val="003352"/>
                </a:solidFill>
                <a:latin typeface="Century Gothic"/>
              </a:rPr>
              <a:t>Quiz: discovery or delivery?</a:t>
            </a:r>
          </a:p>
        </p:txBody>
      </p:sp>
      <p:sp>
        <p:nvSpPr>
          <p:cNvPr id="4" name="Rounded Rectangle 3"/>
          <p:cNvSpPr/>
          <p:nvPr/>
        </p:nvSpPr>
        <p:spPr>
          <a:xfrm>
            <a:off x="502920" y="1371600"/>
            <a:ext cx="4663440" cy="292608"/>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ctr"/>
            <a:r>
              <a:rPr sz="1000" b="1" i="0">
                <a:solidFill>
                  <a:srgbClr val="003352"/>
                </a:solidFill>
                <a:latin typeface="Century Gothic"/>
              </a:rPr>
              <a:t>QUIZ  ·  3 MIN  ·  RAPID FIRE</a:t>
            </a:r>
          </a:p>
        </p:txBody>
      </p:sp>
      <p:sp>
        <p:nvSpPr>
          <p:cNvPr id="5" name="TextBox 4"/>
          <p:cNvSpPr txBox="1"/>
          <p:nvPr/>
        </p:nvSpPr>
        <p:spPr>
          <a:xfrm>
            <a:off x="502920" y="1874519"/>
            <a:ext cx="11201400" cy="292608"/>
          </a:xfrm>
          <a:prstGeom prst="rect">
            <a:avLst/>
          </a:prstGeom>
          <a:noFill/>
        </p:spPr>
        <p:txBody>
          <a:bodyPr wrap="square" lIns="0" tIns="0" rIns="0" bIns="0" anchor="t">
            <a:spAutoFit/>
          </a:bodyPr>
          <a:lstStyle/>
          <a:p>
            <a:pPr algn="l">
              <a:spcBef>
                <a:spcPts val="0"/>
              </a:spcBef>
              <a:spcAft>
                <a:spcPts val="400"/>
              </a:spcAft>
            </a:pPr>
            <a:r>
              <a:rPr sz="1250" b="0" i="0">
                <a:solidFill>
                  <a:srgbClr val="003352"/>
                </a:solidFill>
                <a:latin typeface="Century Gothic"/>
              </a:rPr>
              <a:t>Call each one out loud, fast. Two of these are genuinely both — say so, and defend it.</a:t>
            </a:r>
          </a:p>
        </p:txBody>
      </p:sp>
      <p:sp>
        <p:nvSpPr>
          <p:cNvPr id="6" name="Rounded Rectangle 5"/>
          <p:cNvSpPr/>
          <p:nvPr/>
        </p:nvSpPr>
        <p:spPr>
          <a:xfrm>
            <a:off x="502920" y="2276856"/>
            <a:ext cx="2697480" cy="1325880"/>
          </a:xfrm>
          <a:prstGeom prst="roundRect">
            <a:avLst>
              <a:gd name="adj" fmla="val 8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667512" y="2404872"/>
            <a:ext cx="292608" cy="292608"/>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i="0">
                <a:solidFill>
                  <a:srgbClr val="63E7A4"/>
                </a:solidFill>
                <a:latin typeface="Century Gothic"/>
              </a:rPr>
              <a:t>1</a:t>
            </a:r>
          </a:p>
        </p:txBody>
      </p:sp>
      <p:sp>
        <p:nvSpPr>
          <p:cNvPr id="8" name="TextBox 7"/>
          <p:cNvSpPr txBox="1"/>
          <p:nvPr/>
        </p:nvSpPr>
        <p:spPr>
          <a:xfrm>
            <a:off x="1051560" y="2386584"/>
            <a:ext cx="1965960" cy="758952"/>
          </a:xfrm>
          <a:prstGeom prst="rect">
            <a:avLst/>
          </a:prstGeom>
          <a:noFill/>
        </p:spPr>
        <p:txBody>
          <a:bodyPr wrap="square" lIns="0" tIns="0" rIns="0" bIns="0" anchor="t">
            <a:spAutoFit/>
          </a:bodyPr>
          <a:lstStyle/>
          <a:p>
            <a:pPr algn="l">
              <a:spcBef>
                <a:spcPts val="0"/>
              </a:spcBef>
              <a:spcAft>
                <a:spcPts val="400"/>
              </a:spcAft>
            </a:pPr>
            <a:r>
              <a:rPr sz="1150" b="0" i="0">
                <a:solidFill>
                  <a:srgbClr val="003352"/>
                </a:solidFill>
                <a:latin typeface="Century Gothic"/>
              </a:rPr>
              <a:t>Interviewing five hotel receptionists about how they check guests in</a:t>
            </a:r>
          </a:p>
        </p:txBody>
      </p:sp>
      <p:sp>
        <p:nvSpPr>
          <p:cNvPr id="9" name="Rounded Rectangle 8"/>
          <p:cNvSpPr/>
          <p:nvPr/>
        </p:nvSpPr>
        <p:spPr>
          <a:xfrm>
            <a:off x="667512" y="3163823"/>
            <a:ext cx="2368296" cy="329184"/>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536B7A"/>
                </a:solidFill>
                <a:latin typeface="Century Gothic"/>
              </a:rPr>
              <a:t>discovery / delivery / both</a:t>
            </a:r>
          </a:p>
        </p:txBody>
      </p:sp>
      <p:sp>
        <p:nvSpPr>
          <p:cNvPr id="10" name="Rounded Rectangle 9"/>
          <p:cNvSpPr/>
          <p:nvPr/>
        </p:nvSpPr>
        <p:spPr>
          <a:xfrm>
            <a:off x="3364992" y="2276856"/>
            <a:ext cx="2697480" cy="1325880"/>
          </a:xfrm>
          <a:prstGeom prst="roundRect">
            <a:avLst>
              <a:gd name="adj" fmla="val 8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3529584" y="2404872"/>
            <a:ext cx="292608" cy="292608"/>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i="0">
                <a:solidFill>
                  <a:srgbClr val="63E7A4"/>
                </a:solidFill>
                <a:latin typeface="Century Gothic"/>
              </a:rPr>
              <a:t>2</a:t>
            </a:r>
          </a:p>
        </p:txBody>
      </p:sp>
      <p:sp>
        <p:nvSpPr>
          <p:cNvPr id="12" name="TextBox 11"/>
          <p:cNvSpPr txBox="1"/>
          <p:nvPr/>
        </p:nvSpPr>
        <p:spPr>
          <a:xfrm>
            <a:off x="3913632" y="2386584"/>
            <a:ext cx="1965960" cy="758952"/>
          </a:xfrm>
          <a:prstGeom prst="rect">
            <a:avLst/>
          </a:prstGeom>
          <a:noFill/>
        </p:spPr>
        <p:txBody>
          <a:bodyPr wrap="square" lIns="0" tIns="0" rIns="0" bIns="0" anchor="t">
            <a:spAutoFit/>
          </a:bodyPr>
          <a:lstStyle/>
          <a:p>
            <a:pPr algn="l">
              <a:spcBef>
                <a:spcPts val="0"/>
              </a:spcBef>
              <a:spcAft>
                <a:spcPts val="400"/>
              </a:spcAft>
            </a:pPr>
            <a:r>
              <a:rPr sz="1150" b="0" i="0">
                <a:solidFill>
                  <a:srgbClr val="003352"/>
                </a:solidFill>
                <a:latin typeface="Century Gothic"/>
              </a:rPr>
              <a:t>Writing the migration script for the guest records table</a:t>
            </a:r>
          </a:p>
        </p:txBody>
      </p:sp>
      <p:sp>
        <p:nvSpPr>
          <p:cNvPr id="13" name="Rounded Rectangle 12"/>
          <p:cNvSpPr/>
          <p:nvPr/>
        </p:nvSpPr>
        <p:spPr>
          <a:xfrm>
            <a:off x="3529584" y="3163823"/>
            <a:ext cx="2368296" cy="329184"/>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536B7A"/>
                </a:solidFill>
                <a:latin typeface="Century Gothic"/>
              </a:rPr>
              <a:t>discovery / delivery / both</a:t>
            </a:r>
          </a:p>
        </p:txBody>
      </p:sp>
      <p:sp>
        <p:nvSpPr>
          <p:cNvPr id="14" name="Rounded Rectangle 13"/>
          <p:cNvSpPr/>
          <p:nvPr/>
        </p:nvSpPr>
        <p:spPr>
          <a:xfrm>
            <a:off x="6227064" y="2276856"/>
            <a:ext cx="2697480" cy="1325880"/>
          </a:xfrm>
          <a:prstGeom prst="roundRect">
            <a:avLst>
              <a:gd name="adj" fmla="val 8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6391656" y="2404872"/>
            <a:ext cx="292608" cy="292608"/>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i="0">
                <a:solidFill>
                  <a:srgbClr val="63E7A4"/>
                </a:solidFill>
                <a:latin typeface="Century Gothic"/>
              </a:rPr>
              <a:t>3</a:t>
            </a:r>
          </a:p>
        </p:txBody>
      </p:sp>
      <p:sp>
        <p:nvSpPr>
          <p:cNvPr id="16" name="TextBox 15"/>
          <p:cNvSpPr txBox="1"/>
          <p:nvPr/>
        </p:nvSpPr>
        <p:spPr>
          <a:xfrm>
            <a:off x="6775704" y="2386584"/>
            <a:ext cx="1965960" cy="758952"/>
          </a:xfrm>
          <a:prstGeom prst="rect">
            <a:avLst/>
          </a:prstGeom>
          <a:noFill/>
        </p:spPr>
        <p:txBody>
          <a:bodyPr wrap="square" lIns="0" tIns="0" rIns="0" bIns="0" anchor="t">
            <a:spAutoFit/>
          </a:bodyPr>
          <a:lstStyle/>
          <a:p>
            <a:pPr algn="l">
              <a:spcBef>
                <a:spcPts val="0"/>
              </a:spcBef>
              <a:spcAft>
                <a:spcPts val="400"/>
              </a:spcAft>
            </a:pPr>
            <a:r>
              <a:rPr sz="1150" b="0" i="0">
                <a:solidFill>
                  <a:srgbClr val="003352"/>
                </a:solidFill>
                <a:latin typeface="Century Gothic"/>
              </a:rPr>
              <a:t>Deciding what the default timezone should be for a new setting</a:t>
            </a:r>
          </a:p>
        </p:txBody>
      </p:sp>
      <p:sp>
        <p:nvSpPr>
          <p:cNvPr id="17" name="Rounded Rectangle 16"/>
          <p:cNvSpPr/>
          <p:nvPr/>
        </p:nvSpPr>
        <p:spPr>
          <a:xfrm>
            <a:off x="6391656" y="3163823"/>
            <a:ext cx="2368296" cy="329184"/>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536B7A"/>
                </a:solidFill>
                <a:latin typeface="Century Gothic"/>
              </a:rPr>
              <a:t>discovery / delivery / both</a:t>
            </a:r>
          </a:p>
        </p:txBody>
      </p:sp>
      <p:sp>
        <p:nvSpPr>
          <p:cNvPr id="18" name="Rounded Rectangle 17"/>
          <p:cNvSpPr/>
          <p:nvPr/>
        </p:nvSpPr>
        <p:spPr>
          <a:xfrm>
            <a:off x="9089136" y="2276856"/>
            <a:ext cx="2697480" cy="1325880"/>
          </a:xfrm>
          <a:prstGeom prst="roundRect">
            <a:avLst>
              <a:gd name="adj" fmla="val 8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9253728" y="2404872"/>
            <a:ext cx="292608" cy="292608"/>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i="0">
                <a:solidFill>
                  <a:srgbClr val="63E7A4"/>
                </a:solidFill>
                <a:latin typeface="Century Gothic"/>
              </a:rPr>
              <a:t>4</a:t>
            </a:r>
          </a:p>
        </p:txBody>
      </p:sp>
      <p:sp>
        <p:nvSpPr>
          <p:cNvPr id="20" name="TextBox 19"/>
          <p:cNvSpPr txBox="1"/>
          <p:nvPr/>
        </p:nvSpPr>
        <p:spPr>
          <a:xfrm>
            <a:off x="9637776" y="2386584"/>
            <a:ext cx="1965960" cy="758952"/>
          </a:xfrm>
          <a:prstGeom prst="rect">
            <a:avLst/>
          </a:prstGeom>
          <a:noFill/>
        </p:spPr>
        <p:txBody>
          <a:bodyPr wrap="square" lIns="0" tIns="0" rIns="0" bIns="0" anchor="t">
            <a:spAutoFit/>
          </a:bodyPr>
          <a:lstStyle/>
          <a:p>
            <a:pPr algn="l">
              <a:spcBef>
                <a:spcPts val="0"/>
              </a:spcBef>
              <a:spcAft>
                <a:spcPts val="400"/>
              </a:spcAft>
            </a:pPr>
            <a:r>
              <a:rPr sz="1150" b="0" i="0">
                <a:solidFill>
                  <a:srgbClr val="003352"/>
                </a:solidFill>
                <a:latin typeface="Century Gothic"/>
              </a:rPr>
              <a:t>Running a usability test on a clickable prototype</a:t>
            </a:r>
          </a:p>
        </p:txBody>
      </p:sp>
      <p:sp>
        <p:nvSpPr>
          <p:cNvPr id="21" name="Rounded Rectangle 20"/>
          <p:cNvSpPr/>
          <p:nvPr/>
        </p:nvSpPr>
        <p:spPr>
          <a:xfrm>
            <a:off x="9253728" y="3163823"/>
            <a:ext cx="2368296" cy="329184"/>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536B7A"/>
                </a:solidFill>
                <a:latin typeface="Century Gothic"/>
              </a:rPr>
              <a:t>discovery / delivery / both</a:t>
            </a:r>
          </a:p>
        </p:txBody>
      </p:sp>
      <p:sp>
        <p:nvSpPr>
          <p:cNvPr id="22" name="Rounded Rectangle 21"/>
          <p:cNvSpPr/>
          <p:nvPr/>
        </p:nvSpPr>
        <p:spPr>
          <a:xfrm>
            <a:off x="502920" y="3721608"/>
            <a:ext cx="2697480" cy="1325880"/>
          </a:xfrm>
          <a:prstGeom prst="roundRect">
            <a:avLst>
              <a:gd name="adj" fmla="val 8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667512" y="3849624"/>
            <a:ext cx="292608" cy="292608"/>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i="0">
                <a:solidFill>
                  <a:srgbClr val="63E7A4"/>
                </a:solidFill>
                <a:latin typeface="Century Gothic"/>
              </a:rPr>
              <a:t>5</a:t>
            </a:r>
          </a:p>
        </p:txBody>
      </p:sp>
      <p:sp>
        <p:nvSpPr>
          <p:cNvPr id="24" name="TextBox 23"/>
          <p:cNvSpPr txBox="1"/>
          <p:nvPr/>
        </p:nvSpPr>
        <p:spPr>
          <a:xfrm>
            <a:off x="1051560" y="3831336"/>
            <a:ext cx="1965960" cy="758952"/>
          </a:xfrm>
          <a:prstGeom prst="rect">
            <a:avLst/>
          </a:prstGeom>
          <a:noFill/>
        </p:spPr>
        <p:txBody>
          <a:bodyPr wrap="square" lIns="0" tIns="0" rIns="0" bIns="0" anchor="t">
            <a:spAutoFit/>
          </a:bodyPr>
          <a:lstStyle/>
          <a:p>
            <a:pPr algn="l">
              <a:spcBef>
                <a:spcPts val="0"/>
              </a:spcBef>
              <a:spcAft>
                <a:spcPts val="400"/>
              </a:spcAft>
            </a:pPr>
            <a:r>
              <a:rPr sz="1150" b="0" i="0">
                <a:solidFill>
                  <a:srgbClr val="003352"/>
                </a:solidFill>
                <a:latin typeface="Century Gothic"/>
              </a:rPr>
              <a:t>Load-testing the booking API before a sale weekend</a:t>
            </a:r>
          </a:p>
        </p:txBody>
      </p:sp>
      <p:sp>
        <p:nvSpPr>
          <p:cNvPr id="25" name="Rounded Rectangle 24"/>
          <p:cNvSpPr/>
          <p:nvPr/>
        </p:nvSpPr>
        <p:spPr>
          <a:xfrm>
            <a:off x="667512" y="4608576"/>
            <a:ext cx="2368296" cy="329184"/>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536B7A"/>
                </a:solidFill>
                <a:latin typeface="Century Gothic"/>
              </a:rPr>
              <a:t>discovery / delivery / both</a:t>
            </a:r>
          </a:p>
        </p:txBody>
      </p:sp>
      <p:sp>
        <p:nvSpPr>
          <p:cNvPr id="26" name="Rounded Rectangle 25"/>
          <p:cNvSpPr/>
          <p:nvPr/>
        </p:nvSpPr>
        <p:spPr>
          <a:xfrm>
            <a:off x="3364992" y="3721608"/>
            <a:ext cx="2697480" cy="1325880"/>
          </a:xfrm>
          <a:prstGeom prst="roundRect">
            <a:avLst>
              <a:gd name="adj" fmla="val 8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3529584" y="3849624"/>
            <a:ext cx="292608" cy="292608"/>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i="0">
                <a:solidFill>
                  <a:srgbClr val="63E7A4"/>
                </a:solidFill>
                <a:latin typeface="Century Gothic"/>
              </a:rPr>
              <a:t>6</a:t>
            </a:r>
          </a:p>
        </p:txBody>
      </p:sp>
      <p:sp>
        <p:nvSpPr>
          <p:cNvPr id="28" name="TextBox 27"/>
          <p:cNvSpPr txBox="1"/>
          <p:nvPr/>
        </p:nvSpPr>
        <p:spPr>
          <a:xfrm>
            <a:off x="3913632" y="3831336"/>
            <a:ext cx="1965960" cy="758952"/>
          </a:xfrm>
          <a:prstGeom prst="rect">
            <a:avLst/>
          </a:prstGeom>
          <a:noFill/>
        </p:spPr>
        <p:txBody>
          <a:bodyPr wrap="square" lIns="0" tIns="0" rIns="0" bIns="0" anchor="t">
            <a:spAutoFit/>
          </a:bodyPr>
          <a:lstStyle/>
          <a:p>
            <a:pPr algn="l">
              <a:spcBef>
                <a:spcPts val="0"/>
              </a:spcBef>
              <a:spcAft>
                <a:spcPts val="400"/>
              </a:spcAft>
            </a:pPr>
            <a:r>
              <a:rPr sz="1150" b="0" i="0">
                <a:solidFill>
                  <a:srgbClr val="003352"/>
                </a:solidFill>
                <a:latin typeface="Century Gothic"/>
              </a:rPr>
              <a:t>Choosing which three of eight requests make it into the quarter</a:t>
            </a:r>
          </a:p>
        </p:txBody>
      </p:sp>
      <p:sp>
        <p:nvSpPr>
          <p:cNvPr id="29" name="Rounded Rectangle 28"/>
          <p:cNvSpPr/>
          <p:nvPr/>
        </p:nvSpPr>
        <p:spPr>
          <a:xfrm>
            <a:off x="3529584" y="4608576"/>
            <a:ext cx="2368296" cy="329184"/>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536B7A"/>
                </a:solidFill>
                <a:latin typeface="Century Gothic"/>
              </a:rPr>
              <a:t>discovery / delivery / both</a:t>
            </a:r>
          </a:p>
        </p:txBody>
      </p:sp>
      <p:sp>
        <p:nvSpPr>
          <p:cNvPr id="30" name="Rounded Rectangle 29"/>
          <p:cNvSpPr/>
          <p:nvPr/>
        </p:nvSpPr>
        <p:spPr>
          <a:xfrm>
            <a:off x="6227064" y="3721608"/>
            <a:ext cx="2697480" cy="1325880"/>
          </a:xfrm>
          <a:prstGeom prst="roundRect">
            <a:avLst>
              <a:gd name="adj" fmla="val 8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Oval 30"/>
          <p:cNvSpPr/>
          <p:nvPr/>
        </p:nvSpPr>
        <p:spPr>
          <a:xfrm>
            <a:off x="6391656" y="3849624"/>
            <a:ext cx="292608" cy="292608"/>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i="0">
                <a:solidFill>
                  <a:srgbClr val="63E7A4"/>
                </a:solidFill>
                <a:latin typeface="Century Gothic"/>
              </a:rPr>
              <a:t>7</a:t>
            </a:r>
          </a:p>
        </p:txBody>
      </p:sp>
      <p:sp>
        <p:nvSpPr>
          <p:cNvPr id="32" name="TextBox 31"/>
          <p:cNvSpPr txBox="1"/>
          <p:nvPr/>
        </p:nvSpPr>
        <p:spPr>
          <a:xfrm>
            <a:off x="6775704" y="3831336"/>
            <a:ext cx="1965960" cy="758952"/>
          </a:xfrm>
          <a:prstGeom prst="rect">
            <a:avLst/>
          </a:prstGeom>
          <a:noFill/>
        </p:spPr>
        <p:txBody>
          <a:bodyPr wrap="square" lIns="0" tIns="0" rIns="0" bIns="0" anchor="t">
            <a:spAutoFit/>
          </a:bodyPr>
          <a:lstStyle/>
          <a:p>
            <a:pPr algn="l">
              <a:spcBef>
                <a:spcPts val="0"/>
              </a:spcBef>
              <a:spcAft>
                <a:spcPts val="400"/>
              </a:spcAft>
            </a:pPr>
            <a:r>
              <a:rPr sz="1150" b="0" i="0">
                <a:solidFill>
                  <a:srgbClr val="003352"/>
                </a:solidFill>
                <a:latin typeface="Century Gothic"/>
              </a:rPr>
              <a:t>Writing release notes and training the support team</a:t>
            </a:r>
          </a:p>
        </p:txBody>
      </p:sp>
      <p:sp>
        <p:nvSpPr>
          <p:cNvPr id="33" name="Rounded Rectangle 32"/>
          <p:cNvSpPr/>
          <p:nvPr/>
        </p:nvSpPr>
        <p:spPr>
          <a:xfrm>
            <a:off x="6391656" y="4608576"/>
            <a:ext cx="2368296" cy="329184"/>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536B7A"/>
                </a:solidFill>
                <a:latin typeface="Century Gothic"/>
              </a:rPr>
              <a:t>discovery / delivery / both</a:t>
            </a:r>
          </a:p>
        </p:txBody>
      </p:sp>
      <p:sp>
        <p:nvSpPr>
          <p:cNvPr id="34" name="Rounded Rectangle 33"/>
          <p:cNvSpPr/>
          <p:nvPr/>
        </p:nvSpPr>
        <p:spPr>
          <a:xfrm>
            <a:off x="9089136" y="3721608"/>
            <a:ext cx="2697480" cy="1325880"/>
          </a:xfrm>
          <a:prstGeom prst="roundRect">
            <a:avLst>
              <a:gd name="adj" fmla="val 8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9253728" y="3849624"/>
            <a:ext cx="292608" cy="292608"/>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i="0">
                <a:solidFill>
                  <a:srgbClr val="63E7A4"/>
                </a:solidFill>
                <a:latin typeface="Century Gothic"/>
              </a:rPr>
              <a:t>8</a:t>
            </a:r>
          </a:p>
        </p:txBody>
      </p:sp>
      <p:sp>
        <p:nvSpPr>
          <p:cNvPr id="36" name="TextBox 35"/>
          <p:cNvSpPr txBox="1"/>
          <p:nvPr/>
        </p:nvSpPr>
        <p:spPr>
          <a:xfrm>
            <a:off x="9637776" y="3831336"/>
            <a:ext cx="1965960" cy="758952"/>
          </a:xfrm>
          <a:prstGeom prst="rect">
            <a:avLst/>
          </a:prstGeom>
          <a:noFill/>
        </p:spPr>
        <p:txBody>
          <a:bodyPr wrap="square" lIns="0" tIns="0" rIns="0" bIns="0" anchor="t">
            <a:spAutoFit/>
          </a:bodyPr>
          <a:lstStyle/>
          <a:p>
            <a:pPr algn="l">
              <a:spcBef>
                <a:spcPts val="0"/>
              </a:spcBef>
              <a:spcAft>
                <a:spcPts val="400"/>
              </a:spcAft>
            </a:pPr>
            <a:r>
              <a:rPr sz="1150" b="0" i="0">
                <a:solidFill>
                  <a:srgbClr val="003352"/>
                </a:solidFill>
                <a:latin typeface="Century Gothic"/>
              </a:rPr>
              <a:t>Shipping a fake “Export to Excel” button that only logs the click</a:t>
            </a:r>
          </a:p>
        </p:txBody>
      </p:sp>
      <p:sp>
        <p:nvSpPr>
          <p:cNvPr id="37" name="Rounded Rectangle 36"/>
          <p:cNvSpPr/>
          <p:nvPr/>
        </p:nvSpPr>
        <p:spPr>
          <a:xfrm>
            <a:off x="9253728" y="4608576"/>
            <a:ext cx="2368296" cy="329184"/>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536B7A"/>
                </a:solidFill>
                <a:latin typeface="Century Gothic"/>
              </a:rPr>
              <a:t>discovery / delivery / both</a:t>
            </a:r>
          </a:p>
        </p:txBody>
      </p:sp>
      <p:sp>
        <p:nvSpPr>
          <p:cNvPr id="38" name="Rounded Rectangle 37"/>
          <p:cNvSpPr/>
          <p:nvPr/>
        </p:nvSpPr>
        <p:spPr>
          <a:xfrm>
            <a:off x="502920" y="5486400"/>
            <a:ext cx="11201400" cy="658368"/>
          </a:xfrm>
          <a:prstGeom prst="roundRect">
            <a:avLst>
              <a:gd name="adj" fmla="val 10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54864" rIns="201168" bIns="54864" rtlCol="0" anchor="ctr"/>
          <a:lstStyle/>
          <a:p>
            <a:r>
              <a:rPr sz="1300" b="1" i="0">
                <a:solidFill>
                  <a:srgbClr val="FFFFFF"/>
                </a:solidFill>
                <a:latin typeface="Century Gothic"/>
              </a:rPr>
              <a:t>The difference is never the tool or the technique — a discovery activity can look exactly like engineering work. It is whether you are learning or committing.</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C6E39A5-854A-4D8E-2FC7-D77802E398EC}"/>
              </a:ext>
            </a:extLst>
          </p:cNvPr>
          <p:cNvSpPr>
            <a:spLocks noGrp="1"/>
          </p:cNvSpPr>
          <p:nvPr>
            <p:ph idx="1"/>
          </p:nvPr>
        </p:nvSpPr>
        <p:spPr/>
        <p:txBody>
          <a:bodyPr/>
          <a:lstStyle/>
          <a:p>
            <a:r>
              <a:rPr lang="en-US" b="1" dirty="0"/>
              <a:t>Product Discovery</a:t>
            </a:r>
          </a:p>
          <a:p>
            <a:r>
              <a:rPr lang="en-US" dirty="0"/>
              <a:t>Customers complain that food arrives later than expected.</a:t>
            </a:r>
          </a:p>
          <a:p>
            <a:r>
              <a:rPr lang="en-US" dirty="0"/>
              <a:t>Research shows the biggest frustration is </a:t>
            </a:r>
            <a:r>
              <a:rPr lang="en-US" b="1" dirty="0"/>
              <a:t>not the delay itself</a:t>
            </a:r>
            <a:r>
              <a:rPr lang="en-US" dirty="0"/>
              <a:t>, but the lack of accurate delivery updates.</a:t>
            </a:r>
          </a:p>
          <a:p>
            <a:r>
              <a:rPr lang="en-US" dirty="0"/>
              <a:t>The team decides to build:</a:t>
            </a:r>
          </a:p>
          <a:p>
            <a:pPr>
              <a:buFont typeface="Arial" panose="020B0604020202020204" pitchFamily="34" charset="0"/>
              <a:buChar char="•"/>
            </a:pPr>
            <a:r>
              <a:rPr lang="en-US" dirty="0"/>
              <a:t>Live order tracking </a:t>
            </a:r>
          </a:p>
          <a:p>
            <a:pPr>
              <a:buFont typeface="Arial" panose="020B0604020202020204" pitchFamily="34" charset="0"/>
              <a:buChar char="•"/>
            </a:pPr>
            <a:r>
              <a:rPr lang="en-US" dirty="0"/>
              <a:t>Accurate ETA predictions </a:t>
            </a:r>
          </a:p>
          <a:p>
            <a:pPr>
              <a:buFont typeface="Arial" panose="020B0604020202020204" pitchFamily="34" charset="0"/>
              <a:buChar char="•"/>
            </a:pPr>
            <a:r>
              <a:rPr lang="en-US" dirty="0"/>
              <a:t>Delay notifications </a:t>
            </a:r>
          </a:p>
          <a:p>
            <a:endParaRPr lang="en-IN" dirty="0"/>
          </a:p>
        </p:txBody>
      </p:sp>
      <p:sp>
        <p:nvSpPr>
          <p:cNvPr id="3" name="Content Placeholder 2">
            <a:extLst>
              <a:ext uri="{FF2B5EF4-FFF2-40B4-BE49-F238E27FC236}">
                <a16:creationId xmlns:a16="http://schemas.microsoft.com/office/drawing/2014/main" id="{28C7101B-BBD8-8FF2-B89E-3EB502503DCB}"/>
              </a:ext>
            </a:extLst>
          </p:cNvPr>
          <p:cNvSpPr>
            <a:spLocks noGrp="1"/>
          </p:cNvSpPr>
          <p:nvPr>
            <p:ph sz="quarter" idx="10"/>
          </p:nvPr>
        </p:nvSpPr>
        <p:spPr/>
        <p:txBody>
          <a:bodyPr/>
          <a:lstStyle/>
          <a:p>
            <a:r>
              <a:rPr lang="en-US" b="1" dirty="0"/>
              <a:t>Real-Life Example: Food Delivery App</a:t>
            </a:r>
          </a:p>
          <a:p>
            <a:endParaRPr lang="en-IN" dirty="0"/>
          </a:p>
        </p:txBody>
      </p:sp>
    </p:spTree>
    <p:extLst>
      <p:ext uri="{BB962C8B-B14F-4D97-AF65-F5344CB8AC3E}">
        <p14:creationId xmlns:p14="http://schemas.microsoft.com/office/powerpoint/2010/main" val="24592898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660239-0F20-951A-5F1A-0361CBE46E95}"/>
              </a:ext>
            </a:extLst>
          </p:cNvPr>
          <p:cNvSpPr>
            <a:spLocks noGrp="1"/>
          </p:cNvSpPr>
          <p:nvPr>
            <p:ph idx="1"/>
          </p:nvPr>
        </p:nvSpPr>
        <p:spPr/>
        <p:txBody>
          <a:bodyPr/>
          <a:lstStyle/>
          <a:p>
            <a:r>
              <a:rPr lang="en-US" b="1" dirty="0"/>
              <a:t>Product Delivery</a:t>
            </a:r>
          </a:p>
          <a:p>
            <a:r>
              <a:rPr lang="en-US" dirty="0"/>
              <a:t>The engineering team:</a:t>
            </a:r>
          </a:p>
          <a:p>
            <a:pPr>
              <a:buFont typeface="Arial" panose="020B0604020202020204" pitchFamily="34" charset="0"/>
              <a:buChar char="•"/>
            </a:pPr>
            <a:r>
              <a:rPr lang="en-US" dirty="0"/>
              <a:t>Develops GPS tracking. </a:t>
            </a:r>
          </a:p>
          <a:p>
            <a:pPr>
              <a:buFont typeface="Arial" panose="020B0604020202020204" pitchFamily="34" charset="0"/>
              <a:buChar char="•"/>
            </a:pPr>
            <a:r>
              <a:rPr lang="en-US" dirty="0"/>
              <a:t>Integrates mapping services. </a:t>
            </a:r>
          </a:p>
          <a:p>
            <a:pPr>
              <a:buFont typeface="Arial" panose="020B0604020202020204" pitchFamily="34" charset="0"/>
              <a:buChar char="•"/>
            </a:pPr>
            <a:r>
              <a:rPr lang="en-US" dirty="0"/>
              <a:t>Tests ETA calculations. </a:t>
            </a:r>
          </a:p>
          <a:p>
            <a:pPr>
              <a:buFont typeface="Arial" panose="020B0604020202020204" pitchFamily="34" charset="0"/>
              <a:buChar char="•"/>
            </a:pPr>
            <a:r>
              <a:rPr lang="en-US" dirty="0"/>
              <a:t>Launches the feature. </a:t>
            </a:r>
          </a:p>
          <a:p>
            <a:pPr>
              <a:buFont typeface="Arial" panose="020B0604020202020204" pitchFamily="34" charset="0"/>
              <a:buChar char="•"/>
            </a:pPr>
            <a:r>
              <a:rPr lang="en-US" dirty="0"/>
              <a:t>Monitors system performance. </a:t>
            </a:r>
          </a:p>
          <a:p>
            <a:endParaRPr lang="en-IN" dirty="0"/>
          </a:p>
        </p:txBody>
      </p:sp>
      <p:sp>
        <p:nvSpPr>
          <p:cNvPr id="3" name="Content Placeholder 2">
            <a:extLst>
              <a:ext uri="{FF2B5EF4-FFF2-40B4-BE49-F238E27FC236}">
                <a16:creationId xmlns:a16="http://schemas.microsoft.com/office/drawing/2014/main" id="{63954129-371D-B9C2-4213-828748694B3A}"/>
              </a:ext>
            </a:extLst>
          </p:cNvPr>
          <p:cNvSpPr>
            <a:spLocks noGrp="1"/>
          </p:cNvSpPr>
          <p:nvPr>
            <p:ph sz="quarter" idx="10"/>
          </p:nvPr>
        </p:nvSpPr>
        <p:spPr/>
        <p:txBody>
          <a:bodyPr/>
          <a:lstStyle/>
          <a:p>
            <a:r>
              <a:rPr lang="en-US" b="1" dirty="0"/>
              <a:t>Real-Life Example: Food Delivery App</a:t>
            </a:r>
          </a:p>
          <a:p>
            <a:endParaRPr lang="en-IN" dirty="0"/>
          </a:p>
        </p:txBody>
      </p:sp>
    </p:spTree>
    <p:extLst>
      <p:ext uri="{BB962C8B-B14F-4D97-AF65-F5344CB8AC3E}">
        <p14:creationId xmlns:p14="http://schemas.microsoft.com/office/powerpoint/2010/main" val="4331000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wrap="square"/>
          <a:lstStyle/>
          <a:p>
            <a:r>
              <a:rPr sz="2600" b="1">
                <a:solidFill>
                  <a:srgbClr val="003352"/>
                </a:solidFill>
                <a:latin typeface="Century Gothic"/>
              </a:rPr>
              <a:t>Great delivery. Wrong discovery.</a:t>
            </a:r>
          </a:p>
        </p:txBody>
      </p:sp>
      <p:sp>
        <p:nvSpPr>
          <p:cNvPr id="4" name="Rounded Rectangle 3"/>
          <p:cNvSpPr/>
          <p:nvPr/>
        </p:nvSpPr>
        <p:spPr>
          <a:xfrm>
            <a:off x="502920" y="1371600"/>
            <a:ext cx="4078224" cy="292608"/>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ctr"/>
            <a:r>
              <a:rPr sz="1000" b="1" i="0">
                <a:solidFill>
                  <a:srgbClr val="003352"/>
                </a:solidFill>
                <a:latin typeface="Century Gothic"/>
              </a:rPr>
              <a:t>CASE  ·  4 MIN DISCUSSION</a:t>
            </a:r>
          </a:p>
        </p:txBody>
      </p:sp>
      <p:sp>
        <p:nvSpPr>
          <p:cNvPr id="5" name="Rounded Rectangle 4"/>
          <p:cNvSpPr/>
          <p:nvPr/>
        </p:nvSpPr>
        <p:spPr>
          <a:xfrm>
            <a:off x="502920" y="1874519"/>
            <a:ext cx="3611880" cy="2926080"/>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04088" y="2020824"/>
            <a:ext cx="3209544" cy="658368"/>
          </a:xfrm>
          <a:prstGeom prst="rect">
            <a:avLst/>
          </a:prstGeom>
          <a:noFill/>
        </p:spPr>
        <p:txBody>
          <a:bodyPr wrap="square" lIns="0" tIns="0" rIns="0" bIns="0" anchor="t">
            <a:spAutoFit/>
          </a:bodyPr>
          <a:lstStyle/>
          <a:p>
            <a:pPr algn="l">
              <a:spcBef>
                <a:spcPts val="0"/>
              </a:spcBef>
              <a:spcAft>
                <a:spcPts val="400"/>
              </a:spcAft>
            </a:pPr>
            <a:r>
              <a:rPr sz="3000" b="1" i="0">
                <a:solidFill>
                  <a:srgbClr val="003352"/>
                </a:solidFill>
                <a:latin typeface="Century Gothic"/>
              </a:rPr>
              <a:t>$170M</a:t>
            </a:r>
          </a:p>
        </p:txBody>
      </p:sp>
      <p:sp>
        <p:nvSpPr>
          <p:cNvPr id="7" name="TextBox 6"/>
          <p:cNvSpPr txBox="1"/>
          <p:nvPr/>
        </p:nvSpPr>
        <p:spPr>
          <a:xfrm>
            <a:off x="704088" y="2715768"/>
            <a:ext cx="3209544" cy="1965960"/>
          </a:xfrm>
          <a:prstGeom prst="rect">
            <a:avLst/>
          </a:prstGeom>
          <a:noFill/>
        </p:spPr>
        <p:txBody>
          <a:bodyPr wrap="square" lIns="0" tIns="0" rIns="0" bIns="0" anchor="t">
            <a:spAutoFit/>
          </a:bodyPr>
          <a:lstStyle/>
          <a:p>
            <a:pPr algn="l">
              <a:spcBef>
                <a:spcPts val="0"/>
              </a:spcBef>
              <a:spcAft>
                <a:spcPts val="700"/>
              </a:spcAft>
            </a:pPr>
            <a:r>
              <a:rPr sz="1350" b="1" i="0">
                <a:solidFill>
                  <a:srgbClr val="003352"/>
                </a:solidFill>
                <a:latin typeface="Century Gothic"/>
              </a:rPr>
              <a:t>Amazon Fire Phone, 2014</a:t>
            </a:r>
          </a:p>
          <a:p>
            <a:pPr algn="l">
              <a:spcBef>
                <a:spcPts val="0"/>
              </a:spcBef>
              <a:spcAft>
                <a:spcPts val="400"/>
              </a:spcAft>
            </a:pPr>
            <a:r>
              <a:rPr sz="1150" b="0" i="0">
                <a:solidFill>
                  <a:srgbClr val="003352"/>
                </a:solidFill>
                <a:latin typeface="Century Gothic"/>
              </a:rPr>
              <a:t>Four front-facing cameras for 3D “Dynamic Perspective.” Genuinely hard engineering, delivered. Within three months Amazon took a $170M write-down and still held $83M of unsold phones. The price fell to 99 cents on contract.</a:t>
            </a:r>
          </a:p>
        </p:txBody>
      </p:sp>
      <p:sp>
        <p:nvSpPr>
          <p:cNvPr id="8" name="Rounded Rectangle 7"/>
          <p:cNvSpPr/>
          <p:nvPr/>
        </p:nvSpPr>
        <p:spPr>
          <a:xfrm>
            <a:off x="4297680" y="1874519"/>
            <a:ext cx="3611880" cy="2926080"/>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498848" y="2020824"/>
            <a:ext cx="3209544" cy="658368"/>
          </a:xfrm>
          <a:prstGeom prst="rect">
            <a:avLst/>
          </a:prstGeom>
          <a:noFill/>
        </p:spPr>
        <p:txBody>
          <a:bodyPr wrap="square" lIns="0" tIns="0" rIns="0" bIns="0" anchor="t">
            <a:spAutoFit/>
          </a:bodyPr>
          <a:lstStyle/>
          <a:p>
            <a:pPr algn="l">
              <a:spcBef>
                <a:spcPts val="0"/>
              </a:spcBef>
              <a:spcAft>
                <a:spcPts val="400"/>
              </a:spcAft>
            </a:pPr>
            <a:r>
              <a:rPr sz="3000" b="1" i="0">
                <a:solidFill>
                  <a:srgbClr val="003352"/>
                </a:solidFill>
                <a:latin typeface="Century Gothic"/>
              </a:rPr>
              <a:t>2015</a:t>
            </a:r>
          </a:p>
        </p:txBody>
      </p:sp>
      <p:sp>
        <p:nvSpPr>
          <p:cNvPr id="10" name="TextBox 9"/>
          <p:cNvSpPr txBox="1"/>
          <p:nvPr/>
        </p:nvSpPr>
        <p:spPr>
          <a:xfrm>
            <a:off x="4498848" y="2715768"/>
            <a:ext cx="3209544" cy="1965960"/>
          </a:xfrm>
          <a:prstGeom prst="rect">
            <a:avLst/>
          </a:prstGeom>
          <a:noFill/>
        </p:spPr>
        <p:txBody>
          <a:bodyPr wrap="square" lIns="0" tIns="0" rIns="0" bIns="0" anchor="t">
            <a:spAutoFit/>
          </a:bodyPr>
          <a:lstStyle/>
          <a:p>
            <a:pPr algn="l">
              <a:spcBef>
                <a:spcPts val="0"/>
              </a:spcBef>
              <a:spcAft>
                <a:spcPts val="700"/>
              </a:spcAft>
            </a:pPr>
            <a:r>
              <a:rPr sz="1350" b="1" i="0">
                <a:solidFill>
                  <a:srgbClr val="003352"/>
                </a:solidFill>
                <a:latin typeface="Century Gothic"/>
              </a:rPr>
              <a:t>Google Glass</a:t>
            </a:r>
          </a:p>
          <a:p>
            <a:pPr algn="l">
              <a:spcBef>
                <a:spcPts val="0"/>
              </a:spcBef>
              <a:spcAft>
                <a:spcPts val="400"/>
              </a:spcAft>
            </a:pPr>
            <a:r>
              <a:rPr sz="1150" b="0" i="0">
                <a:solidFill>
                  <a:srgbClr val="003352"/>
                </a:solidFill>
                <a:latin typeface="Century Gothic"/>
              </a:rPr>
              <a:t>Real hardware, real optics, a $1,500 Explorer edition and enormous press. The consumer programme was pulled in 2015. Nobody had answered the plain question: who wears this, and into which room?</a:t>
            </a:r>
          </a:p>
        </p:txBody>
      </p:sp>
      <p:sp>
        <p:nvSpPr>
          <p:cNvPr id="11" name="Rounded Rectangle 10"/>
          <p:cNvSpPr/>
          <p:nvPr/>
        </p:nvSpPr>
        <p:spPr>
          <a:xfrm>
            <a:off x="8092440" y="1874519"/>
            <a:ext cx="3611880" cy="2926080"/>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293608" y="2020824"/>
            <a:ext cx="3209544" cy="658368"/>
          </a:xfrm>
          <a:prstGeom prst="rect">
            <a:avLst/>
          </a:prstGeom>
          <a:noFill/>
        </p:spPr>
        <p:txBody>
          <a:bodyPr wrap="square" lIns="0" tIns="0" rIns="0" bIns="0" anchor="t">
            <a:spAutoFit/>
          </a:bodyPr>
          <a:lstStyle/>
          <a:p>
            <a:pPr algn="l">
              <a:spcBef>
                <a:spcPts val="0"/>
              </a:spcBef>
              <a:spcAft>
                <a:spcPts val="400"/>
              </a:spcAft>
            </a:pPr>
            <a:r>
              <a:rPr sz="3000" b="1" i="0">
                <a:solidFill>
                  <a:srgbClr val="003352"/>
                </a:solidFill>
                <a:latin typeface="Century Gothic"/>
              </a:rPr>
              <a:t>6 months</a:t>
            </a:r>
          </a:p>
        </p:txBody>
      </p:sp>
      <p:sp>
        <p:nvSpPr>
          <p:cNvPr id="13" name="TextBox 12"/>
          <p:cNvSpPr txBox="1"/>
          <p:nvPr/>
        </p:nvSpPr>
        <p:spPr>
          <a:xfrm>
            <a:off x="8293608" y="2715768"/>
            <a:ext cx="3209544" cy="1965960"/>
          </a:xfrm>
          <a:prstGeom prst="rect">
            <a:avLst/>
          </a:prstGeom>
          <a:noFill/>
        </p:spPr>
        <p:txBody>
          <a:bodyPr wrap="square" lIns="0" tIns="0" rIns="0" bIns="0" anchor="t">
            <a:spAutoFit/>
          </a:bodyPr>
          <a:lstStyle/>
          <a:p>
            <a:pPr algn="l">
              <a:spcBef>
                <a:spcPts val="0"/>
              </a:spcBef>
              <a:spcAft>
                <a:spcPts val="700"/>
              </a:spcAft>
            </a:pPr>
            <a:r>
              <a:rPr sz="1350" b="1" i="0">
                <a:solidFill>
                  <a:srgbClr val="003352"/>
                </a:solidFill>
                <a:latin typeface="Century Gothic"/>
              </a:rPr>
              <a:t>Quibi, 2020</a:t>
            </a:r>
          </a:p>
          <a:p>
            <a:pPr algn="l">
              <a:spcBef>
                <a:spcPts val="0"/>
              </a:spcBef>
              <a:spcAft>
                <a:spcPts val="400"/>
              </a:spcAft>
            </a:pPr>
            <a:r>
              <a:rPr sz="1150" b="0" i="0">
                <a:solidFill>
                  <a:srgbClr val="003352"/>
                </a:solidFill>
                <a:latin typeface="Century Gothic"/>
              </a:rPr>
              <a:t>About $1.75B raised, name-brand content, a mobile-first format of “quick bites.” Shipped on time and shut down roughly six months after launch. The problem it solved was one the team had, not one the audience had.</a:t>
            </a:r>
          </a:p>
        </p:txBody>
      </p:sp>
      <p:sp>
        <p:nvSpPr>
          <p:cNvPr id="14" name="Rounded Rectangle 13"/>
          <p:cNvSpPr/>
          <p:nvPr/>
        </p:nvSpPr>
        <p:spPr>
          <a:xfrm>
            <a:off x="502920" y="5486400"/>
            <a:ext cx="11201400" cy="658368"/>
          </a:xfrm>
          <a:prstGeom prst="roundRect">
            <a:avLst>
              <a:gd name="adj" fmla="val 10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54864" rIns="201168" bIns="54864" rtlCol="0" anchor="ctr"/>
          <a:lstStyle/>
          <a:p>
            <a:r>
              <a:rPr sz="1300" b="1" i="0">
                <a:solidFill>
                  <a:srgbClr val="FFFFFF"/>
                </a:solidFill>
                <a:latin typeface="Century Gothic"/>
              </a:rPr>
              <a:t>Not one of these failed in delivery. Every one failed in discovery. Which of the three would a fortnight of customer interviews have caught before a single sprint was planned?</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8DCCAD78-A553-664E-CBB5-78C81C5826EA}"/>
              </a:ext>
            </a:extLst>
          </p:cNvPr>
          <p:cNvGraphicFramePr>
            <a:graphicFrameLocks noGrp="1"/>
          </p:cNvGraphicFramePr>
          <p:nvPr>
            <p:ph idx="1"/>
          </p:nvPr>
        </p:nvGraphicFramePr>
        <p:xfrm>
          <a:off x="635000" y="2293779"/>
          <a:ext cx="10515600" cy="2926080"/>
        </p:xfrm>
        <a:graphic>
          <a:graphicData uri="http://schemas.openxmlformats.org/drawingml/2006/table">
            <a:tbl>
              <a:tblPr/>
              <a:tblGrid>
                <a:gridCol w="3505200">
                  <a:extLst>
                    <a:ext uri="{9D8B030D-6E8A-4147-A177-3AD203B41FA5}">
                      <a16:colId xmlns:a16="http://schemas.microsoft.com/office/drawing/2014/main" val="2657026250"/>
                    </a:ext>
                  </a:extLst>
                </a:gridCol>
                <a:gridCol w="3505200">
                  <a:extLst>
                    <a:ext uri="{9D8B030D-6E8A-4147-A177-3AD203B41FA5}">
                      <a16:colId xmlns:a16="http://schemas.microsoft.com/office/drawing/2014/main" val="1977842679"/>
                    </a:ext>
                  </a:extLst>
                </a:gridCol>
                <a:gridCol w="3505200">
                  <a:extLst>
                    <a:ext uri="{9D8B030D-6E8A-4147-A177-3AD203B41FA5}">
                      <a16:colId xmlns:a16="http://schemas.microsoft.com/office/drawing/2014/main" val="2926222739"/>
                    </a:ext>
                  </a:extLst>
                </a:gridCol>
              </a:tblGrid>
              <a:tr h="0">
                <a:tc>
                  <a:txBody>
                    <a:bodyPr/>
                    <a:lstStyle/>
                    <a:p>
                      <a:r>
                        <a:rPr lang="en-IN"/>
                        <a:t>Role</a:t>
                      </a:r>
                    </a:p>
                  </a:txBody>
                  <a:tcPr anchor="ctr">
                    <a:lnL>
                      <a:noFill/>
                    </a:lnL>
                    <a:lnR>
                      <a:noFill/>
                    </a:lnR>
                    <a:lnT>
                      <a:noFill/>
                    </a:lnT>
                    <a:lnB>
                      <a:noFill/>
                    </a:lnB>
                    <a:noFill/>
                  </a:tcPr>
                </a:tc>
                <a:tc>
                  <a:txBody>
                    <a:bodyPr/>
                    <a:lstStyle/>
                    <a:p>
                      <a:r>
                        <a:rPr lang="en-IN"/>
                        <a:t>Discovery</a:t>
                      </a:r>
                    </a:p>
                  </a:txBody>
                  <a:tcPr anchor="ctr">
                    <a:lnL>
                      <a:noFill/>
                    </a:lnL>
                    <a:lnR>
                      <a:noFill/>
                    </a:lnR>
                    <a:lnT>
                      <a:noFill/>
                    </a:lnT>
                    <a:lnB>
                      <a:noFill/>
                    </a:lnB>
                    <a:noFill/>
                  </a:tcPr>
                </a:tc>
                <a:tc>
                  <a:txBody>
                    <a:bodyPr/>
                    <a:lstStyle/>
                    <a:p>
                      <a:r>
                        <a:rPr lang="en-IN"/>
                        <a:t>Delivery</a:t>
                      </a:r>
                    </a:p>
                  </a:txBody>
                  <a:tcPr anchor="ctr">
                    <a:lnL>
                      <a:noFill/>
                    </a:lnL>
                    <a:lnR>
                      <a:noFill/>
                    </a:lnR>
                    <a:lnT>
                      <a:noFill/>
                    </a:lnT>
                    <a:lnB>
                      <a:noFill/>
                    </a:lnB>
                    <a:noFill/>
                  </a:tcPr>
                </a:tc>
                <a:extLst>
                  <a:ext uri="{0D108BD9-81ED-4DB2-BD59-A6C34878D82A}">
                    <a16:rowId xmlns:a16="http://schemas.microsoft.com/office/drawing/2014/main" val="1139929760"/>
                  </a:ext>
                </a:extLst>
              </a:tr>
              <a:tr h="0">
                <a:tc>
                  <a:txBody>
                    <a:bodyPr/>
                    <a:lstStyle/>
                    <a:p>
                      <a:r>
                        <a:rPr lang="en-IN"/>
                        <a:t>Product Manager</a:t>
                      </a:r>
                    </a:p>
                  </a:txBody>
                  <a:tcPr anchor="ctr">
                    <a:lnL>
                      <a:noFill/>
                    </a:lnL>
                    <a:lnR>
                      <a:noFill/>
                    </a:lnR>
                    <a:lnT>
                      <a:noFill/>
                    </a:lnT>
                    <a:lnB>
                      <a:noFill/>
                    </a:lnB>
                    <a:noFill/>
                  </a:tcPr>
                </a:tc>
                <a:tc>
                  <a:txBody>
                    <a:bodyPr/>
                    <a:lstStyle/>
                    <a:p>
                      <a:r>
                        <a:rPr lang="en-IN"/>
                        <a:t>★★★★★</a:t>
                      </a:r>
                    </a:p>
                  </a:txBody>
                  <a:tcPr anchor="ctr">
                    <a:lnL>
                      <a:noFill/>
                    </a:lnL>
                    <a:lnR>
                      <a:noFill/>
                    </a:lnR>
                    <a:lnT>
                      <a:noFill/>
                    </a:lnT>
                    <a:lnB>
                      <a:noFill/>
                    </a:lnB>
                    <a:noFill/>
                  </a:tcPr>
                </a:tc>
                <a:tc>
                  <a:txBody>
                    <a:bodyPr/>
                    <a:lstStyle/>
                    <a:p>
                      <a:r>
                        <a:rPr lang="en-IN"/>
                        <a:t>★★★★☆</a:t>
                      </a:r>
                    </a:p>
                  </a:txBody>
                  <a:tcPr anchor="ctr">
                    <a:lnL>
                      <a:noFill/>
                    </a:lnL>
                    <a:lnR>
                      <a:noFill/>
                    </a:lnR>
                    <a:lnT>
                      <a:noFill/>
                    </a:lnT>
                    <a:lnB>
                      <a:noFill/>
                    </a:lnB>
                    <a:noFill/>
                  </a:tcPr>
                </a:tc>
                <a:extLst>
                  <a:ext uri="{0D108BD9-81ED-4DB2-BD59-A6C34878D82A}">
                    <a16:rowId xmlns:a16="http://schemas.microsoft.com/office/drawing/2014/main" val="2164174526"/>
                  </a:ext>
                </a:extLst>
              </a:tr>
              <a:tr h="0">
                <a:tc>
                  <a:txBody>
                    <a:bodyPr/>
                    <a:lstStyle/>
                    <a:p>
                      <a:r>
                        <a:rPr lang="en-IN"/>
                        <a:t>Customers</a:t>
                      </a:r>
                    </a:p>
                  </a:txBody>
                  <a:tcPr anchor="ctr">
                    <a:lnL>
                      <a:noFill/>
                    </a:lnL>
                    <a:lnR>
                      <a:noFill/>
                    </a:lnR>
                    <a:lnT>
                      <a:noFill/>
                    </a:lnT>
                    <a:lnB>
                      <a:noFill/>
                    </a:lnB>
                    <a:noFill/>
                  </a:tcPr>
                </a:tc>
                <a:tc>
                  <a:txBody>
                    <a:bodyPr/>
                    <a:lstStyle/>
                    <a:p>
                      <a:r>
                        <a:rPr lang="en-IN"/>
                        <a:t>★★★★★</a:t>
                      </a:r>
                    </a:p>
                  </a:txBody>
                  <a:tcPr anchor="ctr">
                    <a:lnL>
                      <a:noFill/>
                    </a:lnL>
                    <a:lnR>
                      <a:noFill/>
                    </a:lnR>
                    <a:lnT>
                      <a:noFill/>
                    </a:lnT>
                    <a:lnB>
                      <a:noFill/>
                    </a:lnB>
                    <a:noFill/>
                  </a:tcPr>
                </a:tc>
                <a:tc>
                  <a:txBody>
                    <a:bodyPr/>
                    <a:lstStyle/>
                    <a:p>
                      <a:r>
                        <a:rPr lang="en-IN"/>
                        <a:t>★☆☆☆☆</a:t>
                      </a:r>
                    </a:p>
                  </a:txBody>
                  <a:tcPr anchor="ctr">
                    <a:lnL>
                      <a:noFill/>
                    </a:lnL>
                    <a:lnR>
                      <a:noFill/>
                    </a:lnR>
                    <a:lnT>
                      <a:noFill/>
                    </a:lnT>
                    <a:lnB>
                      <a:noFill/>
                    </a:lnB>
                    <a:noFill/>
                  </a:tcPr>
                </a:tc>
                <a:extLst>
                  <a:ext uri="{0D108BD9-81ED-4DB2-BD59-A6C34878D82A}">
                    <a16:rowId xmlns:a16="http://schemas.microsoft.com/office/drawing/2014/main" val="3419433793"/>
                  </a:ext>
                </a:extLst>
              </a:tr>
              <a:tr h="0">
                <a:tc>
                  <a:txBody>
                    <a:bodyPr/>
                    <a:lstStyle/>
                    <a:p>
                      <a:r>
                        <a:rPr lang="en-IN"/>
                        <a:t>UX Designer</a:t>
                      </a:r>
                    </a:p>
                  </a:txBody>
                  <a:tcPr anchor="ctr">
                    <a:lnL>
                      <a:noFill/>
                    </a:lnL>
                    <a:lnR>
                      <a:noFill/>
                    </a:lnR>
                    <a:lnT>
                      <a:noFill/>
                    </a:lnT>
                    <a:lnB>
                      <a:noFill/>
                    </a:lnB>
                    <a:noFill/>
                  </a:tcPr>
                </a:tc>
                <a:tc>
                  <a:txBody>
                    <a:bodyPr/>
                    <a:lstStyle/>
                    <a:p>
                      <a:r>
                        <a:rPr lang="en-IN"/>
                        <a:t>★★★★☆</a:t>
                      </a:r>
                    </a:p>
                  </a:txBody>
                  <a:tcPr anchor="ctr">
                    <a:lnL>
                      <a:noFill/>
                    </a:lnL>
                    <a:lnR>
                      <a:noFill/>
                    </a:lnR>
                    <a:lnT>
                      <a:noFill/>
                    </a:lnT>
                    <a:lnB>
                      <a:noFill/>
                    </a:lnB>
                    <a:noFill/>
                  </a:tcPr>
                </a:tc>
                <a:tc>
                  <a:txBody>
                    <a:bodyPr/>
                    <a:lstStyle/>
                    <a:p>
                      <a:r>
                        <a:rPr lang="en-IN"/>
                        <a:t>★★★★☆</a:t>
                      </a:r>
                    </a:p>
                  </a:txBody>
                  <a:tcPr anchor="ctr">
                    <a:lnL>
                      <a:noFill/>
                    </a:lnL>
                    <a:lnR>
                      <a:noFill/>
                    </a:lnR>
                    <a:lnT>
                      <a:noFill/>
                    </a:lnT>
                    <a:lnB>
                      <a:noFill/>
                    </a:lnB>
                    <a:noFill/>
                  </a:tcPr>
                </a:tc>
                <a:extLst>
                  <a:ext uri="{0D108BD9-81ED-4DB2-BD59-A6C34878D82A}">
                    <a16:rowId xmlns:a16="http://schemas.microsoft.com/office/drawing/2014/main" val="3221796623"/>
                  </a:ext>
                </a:extLst>
              </a:tr>
              <a:tr h="0">
                <a:tc>
                  <a:txBody>
                    <a:bodyPr/>
                    <a:lstStyle/>
                    <a:p>
                      <a:r>
                        <a:rPr lang="en-IN"/>
                        <a:t>Engineering Team</a:t>
                      </a:r>
                    </a:p>
                  </a:txBody>
                  <a:tcPr anchor="ctr">
                    <a:lnL>
                      <a:noFill/>
                    </a:lnL>
                    <a:lnR>
                      <a:noFill/>
                    </a:lnR>
                    <a:lnT>
                      <a:noFill/>
                    </a:lnT>
                    <a:lnB>
                      <a:noFill/>
                    </a:lnB>
                    <a:noFill/>
                  </a:tcPr>
                </a:tc>
                <a:tc>
                  <a:txBody>
                    <a:bodyPr/>
                    <a:lstStyle/>
                    <a:p>
                      <a:r>
                        <a:rPr lang="en-IN"/>
                        <a:t>★★☆☆☆</a:t>
                      </a:r>
                    </a:p>
                  </a:txBody>
                  <a:tcPr anchor="ctr">
                    <a:lnL>
                      <a:noFill/>
                    </a:lnL>
                    <a:lnR>
                      <a:noFill/>
                    </a:lnR>
                    <a:lnT>
                      <a:noFill/>
                    </a:lnT>
                    <a:lnB>
                      <a:noFill/>
                    </a:lnB>
                    <a:noFill/>
                  </a:tcPr>
                </a:tc>
                <a:tc>
                  <a:txBody>
                    <a:bodyPr/>
                    <a:lstStyle/>
                    <a:p>
                      <a:r>
                        <a:rPr lang="en-IN"/>
                        <a:t>★★★★★</a:t>
                      </a:r>
                    </a:p>
                  </a:txBody>
                  <a:tcPr anchor="ctr">
                    <a:lnL>
                      <a:noFill/>
                    </a:lnL>
                    <a:lnR>
                      <a:noFill/>
                    </a:lnR>
                    <a:lnT>
                      <a:noFill/>
                    </a:lnT>
                    <a:lnB>
                      <a:noFill/>
                    </a:lnB>
                    <a:noFill/>
                  </a:tcPr>
                </a:tc>
                <a:extLst>
                  <a:ext uri="{0D108BD9-81ED-4DB2-BD59-A6C34878D82A}">
                    <a16:rowId xmlns:a16="http://schemas.microsoft.com/office/drawing/2014/main" val="2799667462"/>
                  </a:ext>
                </a:extLst>
              </a:tr>
              <a:tr h="0">
                <a:tc>
                  <a:txBody>
                    <a:bodyPr/>
                    <a:lstStyle/>
                    <a:p>
                      <a:r>
                        <a:rPr lang="en-IN"/>
                        <a:t>QA Team</a:t>
                      </a:r>
                    </a:p>
                  </a:txBody>
                  <a:tcPr anchor="ctr">
                    <a:lnL>
                      <a:noFill/>
                    </a:lnL>
                    <a:lnR>
                      <a:noFill/>
                    </a:lnR>
                    <a:lnT>
                      <a:noFill/>
                    </a:lnT>
                    <a:lnB>
                      <a:noFill/>
                    </a:lnB>
                    <a:noFill/>
                  </a:tcPr>
                </a:tc>
                <a:tc>
                  <a:txBody>
                    <a:bodyPr/>
                    <a:lstStyle/>
                    <a:p>
                      <a:r>
                        <a:rPr lang="en-IN"/>
                        <a:t>★☆☆☆☆</a:t>
                      </a:r>
                    </a:p>
                  </a:txBody>
                  <a:tcPr anchor="ctr">
                    <a:lnL>
                      <a:noFill/>
                    </a:lnL>
                    <a:lnR>
                      <a:noFill/>
                    </a:lnR>
                    <a:lnT>
                      <a:noFill/>
                    </a:lnT>
                    <a:lnB>
                      <a:noFill/>
                    </a:lnB>
                    <a:noFill/>
                  </a:tcPr>
                </a:tc>
                <a:tc>
                  <a:txBody>
                    <a:bodyPr/>
                    <a:lstStyle/>
                    <a:p>
                      <a:r>
                        <a:rPr lang="en-IN"/>
                        <a:t>★★★★★</a:t>
                      </a:r>
                    </a:p>
                  </a:txBody>
                  <a:tcPr anchor="ctr">
                    <a:lnL>
                      <a:noFill/>
                    </a:lnL>
                    <a:lnR>
                      <a:noFill/>
                    </a:lnR>
                    <a:lnT>
                      <a:noFill/>
                    </a:lnT>
                    <a:lnB>
                      <a:noFill/>
                    </a:lnB>
                    <a:noFill/>
                  </a:tcPr>
                </a:tc>
                <a:extLst>
                  <a:ext uri="{0D108BD9-81ED-4DB2-BD59-A6C34878D82A}">
                    <a16:rowId xmlns:a16="http://schemas.microsoft.com/office/drawing/2014/main" val="1209853940"/>
                  </a:ext>
                </a:extLst>
              </a:tr>
              <a:tr h="0">
                <a:tc>
                  <a:txBody>
                    <a:bodyPr/>
                    <a:lstStyle/>
                    <a:p>
                      <a:r>
                        <a:rPr lang="en-IN"/>
                        <a:t>DevOps</a:t>
                      </a:r>
                    </a:p>
                  </a:txBody>
                  <a:tcPr anchor="ctr">
                    <a:lnL>
                      <a:noFill/>
                    </a:lnL>
                    <a:lnR>
                      <a:noFill/>
                    </a:lnR>
                    <a:lnT>
                      <a:noFill/>
                    </a:lnT>
                    <a:lnB>
                      <a:noFill/>
                    </a:lnB>
                    <a:noFill/>
                  </a:tcPr>
                </a:tc>
                <a:tc>
                  <a:txBody>
                    <a:bodyPr/>
                    <a:lstStyle/>
                    <a:p>
                      <a:r>
                        <a:rPr lang="en-IN"/>
                        <a:t>★☆☆☆☆</a:t>
                      </a:r>
                    </a:p>
                  </a:txBody>
                  <a:tcPr anchor="ctr">
                    <a:lnL>
                      <a:noFill/>
                    </a:lnL>
                    <a:lnR>
                      <a:noFill/>
                    </a:lnR>
                    <a:lnT>
                      <a:noFill/>
                    </a:lnT>
                    <a:lnB>
                      <a:noFill/>
                    </a:lnB>
                    <a:noFill/>
                  </a:tcPr>
                </a:tc>
                <a:tc>
                  <a:txBody>
                    <a:bodyPr/>
                    <a:lstStyle/>
                    <a:p>
                      <a:r>
                        <a:rPr lang="en-IN"/>
                        <a:t>★★★★★</a:t>
                      </a:r>
                    </a:p>
                  </a:txBody>
                  <a:tcPr anchor="ctr">
                    <a:lnL>
                      <a:noFill/>
                    </a:lnL>
                    <a:lnR>
                      <a:noFill/>
                    </a:lnR>
                    <a:lnT>
                      <a:noFill/>
                    </a:lnT>
                    <a:lnB>
                      <a:noFill/>
                    </a:lnB>
                    <a:noFill/>
                  </a:tcPr>
                </a:tc>
                <a:extLst>
                  <a:ext uri="{0D108BD9-81ED-4DB2-BD59-A6C34878D82A}">
                    <a16:rowId xmlns:a16="http://schemas.microsoft.com/office/drawing/2014/main" val="2698194645"/>
                  </a:ext>
                </a:extLst>
              </a:tr>
              <a:tr h="0">
                <a:tc>
                  <a:txBody>
                    <a:bodyPr/>
                    <a:lstStyle/>
                    <a:p>
                      <a:r>
                        <a:rPr lang="en-IN"/>
                        <a:t>Sales &amp; Customer Success</a:t>
                      </a:r>
                    </a:p>
                  </a:txBody>
                  <a:tcPr anchor="ctr">
                    <a:lnL>
                      <a:noFill/>
                    </a:lnL>
                    <a:lnR>
                      <a:noFill/>
                    </a:lnR>
                    <a:lnT>
                      <a:noFill/>
                    </a:lnT>
                    <a:lnB>
                      <a:noFill/>
                    </a:lnB>
                    <a:noFill/>
                  </a:tcPr>
                </a:tc>
                <a:tc>
                  <a:txBody>
                    <a:bodyPr/>
                    <a:lstStyle/>
                    <a:p>
                      <a:r>
                        <a:rPr lang="en-IN"/>
                        <a:t>★★★★☆</a:t>
                      </a:r>
                    </a:p>
                  </a:txBody>
                  <a:tcPr anchor="ctr">
                    <a:lnL>
                      <a:noFill/>
                    </a:lnL>
                    <a:lnR>
                      <a:noFill/>
                    </a:lnR>
                    <a:lnT>
                      <a:noFill/>
                    </a:lnT>
                    <a:lnB>
                      <a:noFill/>
                    </a:lnB>
                    <a:noFill/>
                  </a:tcPr>
                </a:tc>
                <a:tc>
                  <a:txBody>
                    <a:bodyPr/>
                    <a:lstStyle/>
                    <a:p>
                      <a:r>
                        <a:rPr lang="en-IN" dirty="0"/>
                        <a:t>★★☆☆☆</a:t>
                      </a:r>
                    </a:p>
                  </a:txBody>
                  <a:tcPr anchor="ctr">
                    <a:lnL>
                      <a:noFill/>
                    </a:lnL>
                    <a:lnR>
                      <a:noFill/>
                    </a:lnR>
                    <a:lnT>
                      <a:noFill/>
                    </a:lnT>
                    <a:lnB>
                      <a:noFill/>
                    </a:lnB>
                    <a:noFill/>
                  </a:tcPr>
                </a:tc>
                <a:extLst>
                  <a:ext uri="{0D108BD9-81ED-4DB2-BD59-A6C34878D82A}">
                    <a16:rowId xmlns:a16="http://schemas.microsoft.com/office/drawing/2014/main" val="283774524"/>
                  </a:ext>
                </a:extLst>
              </a:tr>
            </a:tbl>
          </a:graphicData>
        </a:graphic>
      </p:graphicFrame>
      <p:sp>
        <p:nvSpPr>
          <p:cNvPr id="3" name="Content Placeholder 2">
            <a:extLst>
              <a:ext uri="{FF2B5EF4-FFF2-40B4-BE49-F238E27FC236}">
                <a16:creationId xmlns:a16="http://schemas.microsoft.com/office/drawing/2014/main" id="{A59E085E-C62F-B2C4-689E-88D4BAB92B5A}"/>
              </a:ext>
            </a:extLst>
          </p:cNvPr>
          <p:cNvSpPr>
            <a:spLocks noGrp="1"/>
          </p:cNvSpPr>
          <p:nvPr>
            <p:ph sz="quarter" idx="10"/>
          </p:nvPr>
        </p:nvSpPr>
        <p:spPr/>
        <p:txBody>
          <a:bodyPr/>
          <a:lstStyle/>
          <a:p>
            <a:r>
              <a:rPr lang="en-US" b="1" dirty="0"/>
              <a:t>Roles in Discovery and Delivery</a:t>
            </a:r>
          </a:p>
          <a:p>
            <a:endParaRPr lang="en-IN" dirty="0"/>
          </a:p>
        </p:txBody>
      </p:sp>
    </p:spTree>
    <p:extLst>
      <p:ext uri="{BB962C8B-B14F-4D97-AF65-F5344CB8AC3E}">
        <p14:creationId xmlns:p14="http://schemas.microsoft.com/office/powerpoint/2010/main" val="9838018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7B5083-A5F2-4C43-77FB-DFEC06A4CF64}"/>
              </a:ext>
            </a:extLst>
          </p:cNvPr>
          <p:cNvSpPr>
            <a:spLocks noGrp="1"/>
          </p:cNvSpPr>
          <p:nvPr>
            <p:ph sz="quarter" idx="10"/>
          </p:nvPr>
        </p:nvSpPr>
        <p:spPr/>
        <p:txBody>
          <a:bodyPr/>
          <a:lstStyle/>
          <a:p>
            <a:r>
              <a:rPr lang="en-IN" b="1" dirty="0"/>
              <a:t>Key Takeaways</a:t>
            </a:r>
          </a:p>
          <a:p>
            <a:endParaRPr lang="en-IN" dirty="0"/>
          </a:p>
        </p:txBody>
      </p:sp>
      <p:sp>
        <p:nvSpPr>
          <p:cNvPr id="4" name="Rectangle 1">
            <a:extLst>
              <a:ext uri="{FF2B5EF4-FFF2-40B4-BE49-F238E27FC236}">
                <a16:creationId xmlns:a16="http://schemas.microsoft.com/office/drawing/2014/main" id="{B906E521-6D9E-1A0D-403F-23B7ED061D17}"/>
              </a:ext>
            </a:extLst>
          </p:cNvPr>
          <p:cNvSpPr>
            <a:spLocks noGrp="1" noChangeArrowheads="1"/>
          </p:cNvSpPr>
          <p:nvPr>
            <p:ph idx="1"/>
          </p:nvPr>
        </p:nvSpPr>
        <p:spPr bwMode="auto">
          <a:xfrm>
            <a:off x="406400" y="1708855"/>
            <a:ext cx="783099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Discovery ensures you solve the right customer problem.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Delivery ensures you build and release a high-quality solution.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Great products require both customer insight and engineering excellence.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Never confuse "building features" with "creating value. </a:t>
            </a:r>
          </a:p>
        </p:txBody>
      </p:sp>
    </p:spTree>
    <p:extLst>
      <p:ext uri="{BB962C8B-B14F-4D97-AF65-F5344CB8AC3E}">
        <p14:creationId xmlns:p14="http://schemas.microsoft.com/office/powerpoint/2010/main" val="29902703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wrap="square"/>
          <a:lstStyle/>
          <a:p>
            <a:r>
              <a:rPr sz="2600" b="1">
                <a:solidFill>
                  <a:srgbClr val="003352"/>
                </a:solidFill>
                <a:latin typeface="Century Gothic"/>
              </a:rPr>
              <a:t>Case quiz: Netflix and Qwikster, 2011</a:t>
            </a:r>
          </a:p>
        </p:txBody>
      </p:sp>
      <p:sp>
        <p:nvSpPr>
          <p:cNvPr id="4" name="Rounded Rectangle 3"/>
          <p:cNvSpPr/>
          <p:nvPr/>
        </p:nvSpPr>
        <p:spPr>
          <a:xfrm>
            <a:off x="502920" y="1371600"/>
            <a:ext cx="2468880" cy="292608"/>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ctr"/>
            <a:r>
              <a:rPr sz="1000" b="1" i="0">
                <a:solidFill>
                  <a:srgbClr val="003352"/>
                </a:solidFill>
                <a:latin typeface="Century Gothic"/>
              </a:rPr>
              <a:t>QUIZ  ·  5 MIN</a:t>
            </a:r>
          </a:p>
        </p:txBody>
      </p:sp>
      <p:sp>
        <p:nvSpPr>
          <p:cNvPr id="5" name="Rounded Rectangle 4"/>
          <p:cNvSpPr/>
          <p:nvPr/>
        </p:nvSpPr>
        <p:spPr>
          <a:xfrm>
            <a:off x="502920" y="1874519"/>
            <a:ext cx="11201400" cy="1188720"/>
          </a:xfrm>
          <a:prstGeom prst="roundRect">
            <a:avLst>
              <a:gd name="adj" fmla="val 10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22376" y="1975103"/>
            <a:ext cx="10762488" cy="987552"/>
          </a:xfrm>
          <a:prstGeom prst="rect">
            <a:avLst/>
          </a:prstGeom>
          <a:noFill/>
        </p:spPr>
        <p:txBody>
          <a:bodyPr wrap="square" lIns="0" tIns="0" rIns="0" bIns="0" anchor="t">
            <a:spAutoFit/>
          </a:bodyPr>
          <a:lstStyle/>
          <a:p>
            <a:pPr algn="l">
              <a:spcBef>
                <a:spcPts val="0"/>
              </a:spcBef>
              <a:spcAft>
                <a:spcPts val="300"/>
              </a:spcAft>
            </a:pPr>
            <a:r>
              <a:rPr sz="1000" b="1" i="0">
                <a:solidFill>
                  <a:srgbClr val="63E7A4"/>
                </a:solidFill>
                <a:latin typeface="Century Gothic"/>
              </a:rPr>
              <a:t>THE CASE</a:t>
            </a:r>
          </a:p>
          <a:p>
            <a:pPr algn="l">
              <a:spcBef>
                <a:spcPts val="0"/>
              </a:spcBef>
              <a:spcAft>
                <a:spcPts val="300"/>
              </a:spcAft>
            </a:pPr>
            <a:r>
              <a:rPr sz="1250" b="0" i="0">
                <a:solidFill>
                  <a:srgbClr val="FFFFFF"/>
                </a:solidFill>
                <a:latin typeface="Century Gothic"/>
              </a:rPr>
              <a:t>In July 2011 Netflix split DVD-by-post from streaming and raised the combined price by roughly 60%. In September it announced the DVD service would move to a separate brand, Qwikster, with its own site, its own queue and its own bill. Netflix lost around 800,000 subscribers that quarter and the share price collapsed. In October the company cancelled Qwikster before it ever launched.</a:t>
            </a:r>
          </a:p>
          <a:p>
            <a:pPr algn="l">
              <a:spcBef>
                <a:spcPts val="0"/>
              </a:spcBef>
              <a:spcAft>
                <a:spcPts val="400"/>
              </a:spcAft>
            </a:pPr>
            <a:r>
              <a:rPr sz="1050" b="0" i="1">
                <a:solidFill>
                  <a:srgbClr val="63E7A4"/>
                </a:solidFill>
                <a:latin typeface="Century Gothic"/>
              </a:rPr>
              <a:t>Vote A, B or C on each. Answers are in the speaker notes.</a:t>
            </a:r>
          </a:p>
        </p:txBody>
      </p:sp>
      <p:sp>
        <p:nvSpPr>
          <p:cNvPr id="7" name="Rounded Rectangle 6"/>
          <p:cNvSpPr/>
          <p:nvPr/>
        </p:nvSpPr>
        <p:spPr>
          <a:xfrm>
            <a:off x="502920" y="3172968"/>
            <a:ext cx="3611880" cy="2980944"/>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685800" y="3328415"/>
            <a:ext cx="365760" cy="292608"/>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i="0">
                <a:solidFill>
                  <a:srgbClr val="63E7A4"/>
                </a:solidFill>
                <a:latin typeface="Century Gothic"/>
              </a:rPr>
              <a:t>1</a:t>
            </a:r>
          </a:p>
        </p:txBody>
      </p:sp>
      <p:sp>
        <p:nvSpPr>
          <p:cNvPr id="9" name="TextBox 8"/>
          <p:cNvSpPr txBox="1"/>
          <p:nvPr/>
        </p:nvSpPr>
        <p:spPr>
          <a:xfrm>
            <a:off x="1143000" y="3300984"/>
            <a:ext cx="2770632" cy="804672"/>
          </a:xfrm>
          <a:prstGeom prst="rect">
            <a:avLst/>
          </a:prstGeom>
          <a:noFill/>
        </p:spPr>
        <p:txBody>
          <a:bodyPr wrap="square" lIns="0" tIns="0" rIns="0" bIns="0" anchor="t">
            <a:spAutoFit/>
          </a:bodyPr>
          <a:lstStyle/>
          <a:p>
            <a:pPr algn="l">
              <a:spcBef>
                <a:spcPts val="0"/>
              </a:spcBef>
              <a:spcAft>
                <a:spcPts val="400"/>
              </a:spcAft>
            </a:pPr>
            <a:r>
              <a:rPr sz="1200" b="1" i="0">
                <a:solidFill>
                  <a:srgbClr val="003352"/>
                </a:solidFill>
                <a:latin typeface="Century Gothic"/>
              </a:rPr>
              <a:t>Which part of the work failed?</a:t>
            </a:r>
          </a:p>
        </p:txBody>
      </p:sp>
      <p:sp>
        <p:nvSpPr>
          <p:cNvPr id="10" name="Rounded Rectangle 9"/>
          <p:cNvSpPr/>
          <p:nvPr/>
        </p:nvSpPr>
        <p:spPr>
          <a:xfrm>
            <a:off x="685800" y="4151375"/>
            <a:ext cx="310896" cy="274320"/>
          </a:xfrm>
          <a:prstGeom prst="roundRect">
            <a:avLst>
              <a:gd name="adj" fmla="val 16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50" b="1" i="0">
                <a:solidFill>
                  <a:srgbClr val="536B7A"/>
                </a:solidFill>
                <a:latin typeface="Century Gothic"/>
              </a:rPr>
              <a:t>A</a:t>
            </a:r>
          </a:p>
        </p:txBody>
      </p:sp>
      <p:sp>
        <p:nvSpPr>
          <p:cNvPr id="11" name="TextBox 10"/>
          <p:cNvSpPr txBox="1"/>
          <p:nvPr/>
        </p:nvSpPr>
        <p:spPr>
          <a:xfrm>
            <a:off x="1088136" y="4142231"/>
            <a:ext cx="2825496" cy="603504"/>
          </a:xfrm>
          <a:prstGeom prst="rect">
            <a:avLst/>
          </a:prstGeom>
          <a:noFill/>
        </p:spPr>
        <p:txBody>
          <a:bodyPr wrap="square" lIns="0" tIns="0" rIns="0" bIns="0" anchor="t">
            <a:spAutoFit/>
          </a:bodyPr>
          <a:lstStyle/>
          <a:p>
            <a:pPr algn="l">
              <a:spcBef>
                <a:spcPts val="0"/>
              </a:spcBef>
              <a:spcAft>
                <a:spcPts val="400"/>
              </a:spcAft>
            </a:pPr>
            <a:r>
              <a:rPr sz="1100" b="0" i="0">
                <a:solidFill>
                  <a:srgbClr val="003352"/>
                </a:solidFill>
                <a:latin typeface="Century Gothic"/>
              </a:rPr>
              <a:t>Delivery — the engineering was not ready in time</a:t>
            </a:r>
          </a:p>
        </p:txBody>
      </p:sp>
      <p:sp>
        <p:nvSpPr>
          <p:cNvPr id="12" name="Rounded Rectangle 11"/>
          <p:cNvSpPr/>
          <p:nvPr/>
        </p:nvSpPr>
        <p:spPr>
          <a:xfrm>
            <a:off x="685800" y="4809743"/>
            <a:ext cx="310896" cy="274320"/>
          </a:xfrm>
          <a:prstGeom prst="roundRect">
            <a:avLst>
              <a:gd name="adj" fmla="val 16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50" b="1" i="0">
                <a:solidFill>
                  <a:srgbClr val="536B7A"/>
                </a:solidFill>
                <a:latin typeface="Century Gothic"/>
              </a:rPr>
              <a:t>B</a:t>
            </a:r>
          </a:p>
        </p:txBody>
      </p:sp>
      <p:sp>
        <p:nvSpPr>
          <p:cNvPr id="13" name="TextBox 12"/>
          <p:cNvSpPr txBox="1"/>
          <p:nvPr/>
        </p:nvSpPr>
        <p:spPr>
          <a:xfrm>
            <a:off x="1088136" y="4800599"/>
            <a:ext cx="2825496" cy="603504"/>
          </a:xfrm>
          <a:prstGeom prst="rect">
            <a:avLst/>
          </a:prstGeom>
          <a:noFill/>
        </p:spPr>
        <p:txBody>
          <a:bodyPr wrap="square" lIns="0" tIns="0" rIns="0" bIns="0" anchor="t">
            <a:spAutoFit/>
          </a:bodyPr>
          <a:lstStyle/>
          <a:p>
            <a:pPr algn="l">
              <a:spcBef>
                <a:spcPts val="0"/>
              </a:spcBef>
              <a:spcAft>
                <a:spcPts val="400"/>
              </a:spcAft>
            </a:pPr>
            <a:r>
              <a:rPr sz="1100" b="0" i="0">
                <a:solidFill>
                  <a:srgbClr val="003352"/>
                </a:solidFill>
                <a:latin typeface="Century Gothic"/>
              </a:rPr>
              <a:t>Discovery — nobody validated that customers wanted two accounts</a:t>
            </a:r>
          </a:p>
        </p:txBody>
      </p:sp>
      <p:sp>
        <p:nvSpPr>
          <p:cNvPr id="14" name="Rounded Rectangle 13"/>
          <p:cNvSpPr/>
          <p:nvPr/>
        </p:nvSpPr>
        <p:spPr>
          <a:xfrm>
            <a:off x="685800" y="5468111"/>
            <a:ext cx="310896" cy="274320"/>
          </a:xfrm>
          <a:prstGeom prst="roundRect">
            <a:avLst>
              <a:gd name="adj" fmla="val 16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50" b="1" i="0">
                <a:solidFill>
                  <a:srgbClr val="536B7A"/>
                </a:solidFill>
                <a:latin typeface="Century Gothic"/>
              </a:rPr>
              <a:t>C</a:t>
            </a:r>
          </a:p>
        </p:txBody>
      </p:sp>
      <p:sp>
        <p:nvSpPr>
          <p:cNvPr id="15" name="TextBox 14"/>
          <p:cNvSpPr txBox="1"/>
          <p:nvPr/>
        </p:nvSpPr>
        <p:spPr>
          <a:xfrm>
            <a:off x="1088136" y="5458967"/>
            <a:ext cx="2825496" cy="603504"/>
          </a:xfrm>
          <a:prstGeom prst="rect">
            <a:avLst/>
          </a:prstGeom>
          <a:noFill/>
        </p:spPr>
        <p:txBody>
          <a:bodyPr wrap="square" lIns="0" tIns="0" rIns="0" bIns="0" anchor="t">
            <a:spAutoFit/>
          </a:bodyPr>
          <a:lstStyle/>
          <a:p>
            <a:pPr algn="l">
              <a:spcBef>
                <a:spcPts val="0"/>
              </a:spcBef>
              <a:spcAft>
                <a:spcPts val="400"/>
              </a:spcAft>
            </a:pPr>
            <a:r>
              <a:rPr sz="1100" b="0" i="0">
                <a:solidFill>
                  <a:srgbClr val="003352"/>
                </a:solidFill>
                <a:latin typeface="Century Gothic"/>
              </a:rPr>
              <a:t>Testing — the new site had too many defects</a:t>
            </a:r>
          </a:p>
        </p:txBody>
      </p:sp>
      <p:sp>
        <p:nvSpPr>
          <p:cNvPr id="16" name="Rounded Rectangle 15"/>
          <p:cNvSpPr/>
          <p:nvPr/>
        </p:nvSpPr>
        <p:spPr>
          <a:xfrm>
            <a:off x="4297680" y="3172968"/>
            <a:ext cx="3611880" cy="2980944"/>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4480560" y="3328415"/>
            <a:ext cx="365760" cy="292608"/>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i="0">
                <a:solidFill>
                  <a:srgbClr val="63E7A4"/>
                </a:solidFill>
                <a:latin typeface="Century Gothic"/>
              </a:rPr>
              <a:t>2</a:t>
            </a:r>
          </a:p>
        </p:txBody>
      </p:sp>
      <p:sp>
        <p:nvSpPr>
          <p:cNvPr id="18" name="TextBox 17"/>
          <p:cNvSpPr txBox="1"/>
          <p:nvPr/>
        </p:nvSpPr>
        <p:spPr>
          <a:xfrm>
            <a:off x="4937760" y="3300984"/>
            <a:ext cx="2770632" cy="804672"/>
          </a:xfrm>
          <a:prstGeom prst="rect">
            <a:avLst/>
          </a:prstGeom>
          <a:noFill/>
        </p:spPr>
        <p:txBody>
          <a:bodyPr wrap="square" lIns="0" tIns="0" rIns="0" bIns="0" anchor="t">
            <a:spAutoFit/>
          </a:bodyPr>
          <a:lstStyle/>
          <a:p>
            <a:pPr algn="l">
              <a:spcBef>
                <a:spcPts val="0"/>
              </a:spcBef>
              <a:spcAft>
                <a:spcPts val="400"/>
              </a:spcAft>
            </a:pPr>
            <a:r>
              <a:rPr sz="1200" b="1" i="0">
                <a:solidFill>
                  <a:srgbClr val="003352"/>
                </a:solidFill>
                <a:latin typeface="Century Gothic"/>
              </a:rPr>
              <a:t>What would a fortnight of customer research most likely have surfaced?</a:t>
            </a:r>
          </a:p>
        </p:txBody>
      </p:sp>
      <p:sp>
        <p:nvSpPr>
          <p:cNvPr id="19" name="Rounded Rectangle 18"/>
          <p:cNvSpPr/>
          <p:nvPr/>
        </p:nvSpPr>
        <p:spPr>
          <a:xfrm>
            <a:off x="4480560" y="4151375"/>
            <a:ext cx="310896" cy="274320"/>
          </a:xfrm>
          <a:prstGeom prst="roundRect">
            <a:avLst>
              <a:gd name="adj" fmla="val 16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50" b="1" i="0">
                <a:solidFill>
                  <a:srgbClr val="536B7A"/>
                </a:solidFill>
                <a:latin typeface="Century Gothic"/>
              </a:rPr>
              <a:t>A</a:t>
            </a:r>
          </a:p>
        </p:txBody>
      </p:sp>
      <p:sp>
        <p:nvSpPr>
          <p:cNvPr id="20" name="TextBox 19"/>
          <p:cNvSpPr txBox="1"/>
          <p:nvPr/>
        </p:nvSpPr>
        <p:spPr>
          <a:xfrm>
            <a:off x="4882896" y="4142231"/>
            <a:ext cx="2825496" cy="603504"/>
          </a:xfrm>
          <a:prstGeom prst="rect">
            <a:avLst/>
          </a:prstGeom>
          <a:noFill/>
        </p:spPr>
        <p:txBody>
          <a:bodyPr wrap="square" lIns="0" tIns="0" rIns="0" bIns="0" anchor="t">
            <a:spAutoFit/>
          </a:bodyPr>
          <a:lstStyle/>
          <a:p>
            <a:pPr algn="l">
              <a:spcBef>
                <a:spcPts val="0"/>
              </a:spcBef>
              <a:spcAft>
                <a:spcPts val="400"/>
              </a:spcAft>
            </a:pPr>
            <a:r>
              <a:rPr sz="1100" b="0" i="0">
                <a:solidFill>
                  <a:srgbClr val="003352"/>
                </a:solidFill>
                <a:latin typeface="Century Gothic"/>
              </a:rPr>
              <a:t>That customers priced the two services separately in their heads</a:t>
            </a:r>
          </a:p>
        </p:txBody>
      </p:sp>
      <p:sp>
        <p:nvSpPr>
          <p:cNvPr id="21" name="Rounded Rectangle 20"/>
          <p:cNvSpPr/>
          <p:nvPr/>
        </p:nvSpPr>
        <p:spPr>
          <a:xfrm>
            <a:off x="4480560" y="4809743"/>
            <a:ext cx="310896" cy="274320"/>
          </a:xfrm>
          <a:prstGeom prst="roundRect">
            <a:avLst>
              <a:gd name="adj" fmla="val 16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50" b="1" i="0">
                <a:solidFill>
                  <a:srgbClr val="536B7A"/>
                </a:solidFill>
                <a:latin typeface="Century Gothic"/>
              </a:rPr>
              <a:t>B</a:t>
            </a:r>
          </a:p>
        </p:txBody>
      </p:sp>
      <p:sp>
        <p:nvSpPr>
          <p:cNvPr id="22" name="TextBox 21"/>
          <p:cNvSpPr txBox="1"/>
          <p:nvPr/>
        </p:nvSpPr>
        <p:spPr>
          <a:xfrm>
            <a:off x="4882896" y="4800599"/>
            <a:ext cx="2825496" cy="603504"/>
          </a:xfrm>
          <a:prstGeom prst="rect">
            <a:avLst/>
          </a:prstGeom>
          <a:noFill/>
        </p:spPr>
        <p:txBody>
          <a:bodyPr wrap="square" lIns="0" tIns="0" rIns="0" bIns="0" anchor="t">
            <a:spAutoFit/>
          </a:bodyPr>
          <a:lstStyle/>
          <a:p>
            <a:pPr algn="l">
              <a:spcBef>
                <a:spcPts val="0"/>
              </a:spcBef>
              <a:spcAft>
                <a:spcPts val="400"/>
              </a:spcAft>
            </a:pPr>
            <a:r>
              <a:rPr sz="1100" b="0" i="0">
                <a:solidFill>
                  <a:srgbClr val="003352"/>
                </a:solidFill>
                <a:latin typeface="Century Gothic"/>
              </a:rPr>
              <a:t>That customers experienced one subscription and one queue as a single product</a:t>
            </a:r>
          </a:p>
        </p:txBody>
      </p:sp>
      <p:sp>
        <p:nvSpPr>
          <p:cNvPr id="23" name="Rounded Rectangle 22"/>
          <p:cNvSpPr/>
          <p:nvPr/>
        </p:nvSpPr>
        <p:spPr>
          <a:xfrm>
            <a:off x="4480560" y="5468111"/>
            <a:ext cx="310896" cy="274320"/>
          </a:xfrm>
          <a:prstGeom prst="roundRect">
            <a:avLst>
              <a:gd name="adj" fmla="val 16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50" b="1" i="0">
                <a:solidFill>
                  <a:srgbClr val="536B7A"/>
                </a:solidFill>
                <a:latin typeface="Century Gothic"/>
              </a:rPr>
              <a:t>C</a:t>
            </a:r>
          </a:p>
        </p:txBody>
      </p:sp>
      <p:sp>
        <p:nvSpPr>
          <p:cNvPr id="24" name="TextBox 23"/>
          <p:cNvSpPr txBox="1"/>
          <p:nvPr/>
        </p:nvSpPr>
        <p:spPr>
          <a:xfrm>
            <a:off x="4882896" y="5458967"/>
            <a:ext cx="2825496" cy="603504"/>
          </a:xfrm>
          <a:prstGeom prst="rect">
            <a:avLst/>
          </a:prstGeom>
          <a:noFill/>
        </p:spPr>
        <p:txBody>
          <a:bodyPr wrap="square" lIns="0" tIns="0" rIns="0" bIns="0" anchor="t">
            <a:spAutoFit/>
          </a:bodyPr>
          <a:lstStyle/>
          <a:p>
            <a:pPr algn="l">
              <a:spcBef>
                <a:spcPts val="0"/>
              </a:spcBef>
              <a:spcAft>
                <a:spcPts val="400"/>
              </a:spcAft>
            </a:pPr>
            <a:r>
              <a:rPr sz="1100" b="0" i="0">
                <a:solidFill>
                  <a:srgbClr val="003352"/>
                </a:solidFill>
                <a:latin typeface="Century Gothic"/>
              </a:rPr>
              <a:t>That customers wanted DVDs discontinued sooner than planned</a:t>
            </a:r>
          </a:p>
        </p:txBody>
      </p:sp>
      <p:sp>
        <p:nvSpPr>
          <p:cNvPr id="25" name="Rounded Rectangle 24"/>
          <p:cNvSpPr/>
          <p:nvPr/>
        </p:nvSpPr>
        <p:spPr>
          <a:xfrm>
            <a:off x="8092440" y="3172968"/>
            <a:ext cx="3611880" cy="2980944"/>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Oval 25"/>
          <p:cNvSpPr/>
          <p:nvPr/>
        </p:nvSpPr>
        <p:spPr>
          <a:xfrm>
            <a:off x="8275320" y="3328415"/>
            <a:ext cx="365760" cy="292608"/>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i="0">
                <a:solidFill>
                  <a:srgbClr val="63E7A4"/>
                </a:solidFill>
                <a:latin typeface="Century Gothic"/>
              </a:rPr>
              <a:t>3</a:t>
            </a:r>
          </a:p>
        </p:txBody>
      </p:sp>
      <p:sp>
        <p:nvSpPr>
          <p:cNvPr id="27" name="TextBox 26"/>
          <p:cNvSpPr txBox="1"/>
          <p:nvPr/>
        </p:nvSpPr>
        <p:spPr>
          <a:xfrm>
            <a:off x="8732520" y="3300984"/>
            <a:ext cx="2770632" cy="804672"/>
          </a:xfrm>
          <a:prstGeom prst="rect">
            <a:avLst/>
          </a:prstGeom>
          <a:noFill/>
        </p:spPr>
        <p:txBody>
          <a:bodyPr wrap="square" lIns="0" tIns="0" rIns="0" bIns="0" anchor="t">
            <a:spAutoFit/>
          </a:bodyPr>
          <a:lstStyle/>
          <a:p>
            <a:pPr algn="l">
              <a:spcBef>
                <a:spcPts val="0"/>
              </a:spcBef>
              <a:spcAft>
                <a:spcPts val="400"/>
              </a:spcAft>
            </a:pPr>
            <a:r>
              <a:rPr sz="1200" b="1" i="0">
                <a:solidFill>
                  <a:srgbClr val="003352"/>
                </a:solidFill>
                <a:latin typeface="Century Gothic"/>
              </a:rPr>
              <a:t>Which measurement would have shown the damage first?</a:t>
            </a:r>
          </a:p>
        </p:txBody>
      </p:sp>
      <p:sp>
        <p:nvSpPr>
          <p:cNvPr id="28" name="Rounded Rectangle 27"/>
          <p:cNvSpPr/>
          <p:nvPr/>
        </p:nvSpPr>
        <p:spPr>
          <a:xfrm>
            <a:off x="8275320" y="4151375"/>
            <a:ext cx="310896" cy="274320"/>
          </a:xfrm>
          <a:prstGeom prst="roundRect">
            <a:avLst>
              <a:gd name="adj" fmla="val 16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50" b="1" i="0">
                <a:solidFill>
                  <a:srgbClr val="536B7A"/>
                </a:solidFill>
                <a:latin typeface="Century Gothic"/>
              </a:rPr>
              <a:t>A</a:t>
            </a:r>
          </a:p>
        </p:txBody>
      </p:sp>
      <p:sp>
        <p:nvSpPr>
          <p:cNvPr id="29" name="TextBox 28"/>
          <p:cNvSpPr txBox="1"/>
          <p:nvPr/>
        </p:nvSpPr>
        <p:spPr>
          <a:xfrm>
            <a:off x="8677656" y="4142231"/>
            <a:ext cx="2825496" cy="603504"/>
          </a:xfrm>
          <a:prstGeom prst="rect">
            <a:avLst/>
          </a:prstGeom>
          <a:noFill/>
        </p:spPr>
        <p:txBody>
          <a:bodyPr wrap="square" lIns="0" tIns="0" rIns="0" bIns="0" anchor="t">
            <a:spAutoFit/>
          </a:bodyPr>
          <a:lstStyle/>
          <a:p>
            <a:pPr algn="l">
              <a:spcBef>
                <a:spcPts val="0"/>
              </a:spcBef>
              <a:spcAft>
                <a:spcPts val="400"/>
              </a:spcAft>
            </a:pPr>
            <a:r>
              <a:rPr sz="1100" b="0" i="0">
                <a:solidFill>
                  <a:srgbClr val="003352"/>
                </a:solidFill>
                <a:latin typeface="Century Gothic"/>
              </a:rPr>
              <a:t>Monthly active users</a:t>
            </a:r>
          </a:p>
        </p:txBody>
      </p:sp>
      <p:sp>
        <p:nvSpPr>
          <p:cNvPr id="30" name="Rounded Rectangle 29"/>
          <p:cNvSpPr/>
          <p:nvPr/>
        </p:nvSpPr>
        <p:spPr>
          <a:xfrm>
            <a:off x="8275320" y="4809743"/>
            <a:ext cx="310896" cy="274320"/>
          </a:xfrm>
          <a:prstGeom prst="roundRect">
            <a:avLst>
              <a:gd name="adj" fmla="val 16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50" b="1" i="0">
                <a:solidFill>
                  <a:srgbClr val="536B7A"/>
                </a:solidFill>
                <a:latin typeface="Century Gothic"/>
              </a:rPr>
              <a:t>B</a:t>
            </a:r>
          </a:p>
        </p:txBody>
      </p:sp>
      <p:sp>
        <p:nvSpPr>
          <p:cNvPr id="31" name="TextBox 30"/>
          <p:cNvSpPr txBox="1"/>
          <p:nvPr/>
        </p:nvSpPr>
        <p:spPr>
          <a:xfrm>
            <a:off x="8677656" y="4800599"/>
            <a:ext cx="2825496" cy="603504"/>
          </a:xfrm>
          <a:prstGeom prst="rect">
            <a:avLst/>
          </a:prstGeom>
          <a:noFill/>
        </p:spPr>
        <p:txBody>
          <a:bodyPr wrap="square" lIns="0" tIns="0" rIns="0" bIns="0" anchor="t">
            <a:spAutoFit/>
          </a:bodyPr>
          <a:lstStyle/>
          <a:p>
            <a:pPr algn="l">
              <a:spcBef>
                <a:spcPts val="0"/>
              </a:spcBef>
              <a:spcAft>
                <a:spcPts val="400"/>
              </a:spcAft>
            </a:pPr>
            <a:r>
              <a:rPr sz="1100" b="0" i="0">
                <a:solidFill>
                  <a:srgbClr val="003352"/>
                </a:solidFill>
                <a:latin typeface="Century Gothic"/>
              </a:rPr>
              <a:t>Average session length</a:t>
            </a:r>
          </a:p>
        </p:txBody>
      </p:sp>
      <p:sp>
        <p:nvSpPr>
          <p:cNvPr id="32" name="Rounded Rectangle 31"/>
          <p:cNvSpPr/>
          <p:nvPr/>
        </p:nvSpPr>
        <p:spPr>
          <a:xfrm>
            <a:off x="8275320" y="5468111"/>
            <a:ext cx="310896" cy="274320"/>
          </a:xfrm>
          <a:prstGeom prst="roundRect">
            <a:avLst>
              <a:gd name="adj" fmla="val 16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50" b="1" i="0">
                <a:solidFill>
                  <a:srgbClr val="536B7A"/>
                </a:solidFill>
                <a:latin typeface="Century Gothic"/>
              </a:rPr>
              <a:t>C</a:t>
            </a:r>
          </a:p>
        </p:txBody>
      </p:sp>
      <p:sp>
        <p:nvSpPr>
          <p:cNvPr id="33" name="TextBox 32"/>
          <p:cNvSpPr txBox="1"/>
          <p:nvPr/>
        </p:nvSpPr>
        <p:spPr>
          <a:xfrm>
            <a:off x="8677656" y="5458967"/>
            <a:ext cx="2825496" cy="603504"/>
          </a:xfrm>
          <a:prstGeom prst="rect">
            <a:avLst/>
          </a:prstGeom>
          <a:noFill/>
        </p:spPr>
        <p:txBody>
          <a:bodyPr wrap="square" lIns="0" tIns="0" rIns="0" bIns="0" anchor="t">
            <a:spAutoFit/>
          </a:bodyPr>
          <a:lstStyle/>
          <a:p>
            <a:pPr algn="l">
              <a:spcBef>
                <a:spcPts val="0"/>
              </a:spcBef>
              <a:spcAft>
                <a:spcPts val="400"/>
              </a:spcAft>
            </a:pPr>
            <a:r>
              <a:rPr sz="1100" b="0" i="0">
                <a:solidFill>
                  <a:srgbClr val="003352"/>
                </a:solidFill>
                <a:latin typeface="Century Gothic"/>
              </a:rPr>
              <a:t>Cancellations and downgrades in the first week</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8CB596B-B232-DF58-B055-18A34023CE58}"/>
              </a:ext>
            </a:extLst>
          </p:cNvPr>
          <p:cNvSpPr>
            <a:spLocks noGrp="1"/>
          </p:cNvSpPr>
          <p:nvPr>
            <p:ph idx="1"/>
          </p:nvPr>
        </p:nvSpPr>
        <p:spPr/>
        <p:txBody>
          <a:bodyPr/>
          <a:lstStyle/>
          <a:p>
            <a:r>
              <a:rPr lang="en-US" b="1" dirty="0"/>
              <a:t>What is a User Story?</a:t>
            </a:r>
          </a:p>
          <a:p>
            <a:r>
              <a:rPr lang="en-US" dirty="0"/>
              <a:t>A </a:t>
            </a:r>
            <a:r>
              <a:rPr lang="en-US" b="1" dirty="0"/>
              <a:t>User Story</a:t>
            </a:r>
            <a:r>
              <a:rPr lang="en-US" dirty="0"/>
              <a:t> is a simple, concise description of a product feature written from the perspective of the person who will use it.</a:t>
            </a:r>
          </a:p>
          <a:p>
            <a:r>
              <a:rPr lang="en-US" dirty="0"/>
              <a:t>It helps the development team understand:</a:t>
            </a:r>
          </a:p>
          <a:p>
            <a:pPr>
              <a:buFont typeface="Arial" panose="020B0604020202020204" pitchFamily="34" charset="0"/>
              <a:buChar char="•"/>
            </a:pPr>
            <a:r>
              <a:rPr lang="en-US" b="1" dirty="0"/>
              <a:t>Who</a:t>
            </a:r>
            <a:r>
              <a:rPr lang="en-US" dirty="0"/>
              <a:t> the user is. </a:t>
            </a:r>
          </a:p>
          <a:p>
            <a:pPr>
              <a:buFont typeface="Arial" panose="020B0604020202020204" pitchFamily="34" charset="0"/>
              <a:buChar char="•"/>
            </a:pPr>
            <a:r>
              <a:rPr lang="en-US" b="1" dirty="0"/>
              <a:t>What</a:t>
            </a:r>
            <a:r>
              <a:rPr lang="en-US" dirty="0"/>
              <a:t> they want to do. </a:t>
            </a:r>
          </a:p>
          <a:p>
            <a:pPr>
              <a:buFont typeface="Arial" panose="020B0604020202020204" pitchFamily="34" charset="0"/>
              <a:buChar char="•"/>
            </a:pPr>
            <a:r>
              <a:rPr lang="en-US" b="1" dirty="0"/>
              <a:t>Why</a:t>
            </a:r>
            <a:r>
              <a:rPr lang="en-US" dirty="0"/>
              <a:t> they want to do it. </a:t>
            </a:r>
          </a:p>
          <a:p>
            <a:r>
              <a:rPr lang="en-US" dirty="0"/>
              <a:t>A user story focuses on the </a:t>
            </a:r>
            <a:r>
              <a:rPr lang="en-US" b="1" dirty="0"/>
              <a:t>user's need</a:t>
            </a:r>
            <a:r>
              <a:rPr lang="en-US" dirty="0"/>
              <a:t>, not the technical implementation.</a:t>
            </a:r>
          </a:p>
          <a:p>
            <a:endParaRPr lang="en-IN" dirty="0"/>
          </a:p>
        </p:txBody>
      </p:sp>
      <p:sp>
        <p:nvSpPr>
          <p:cNvPr id="3" name="Content Placeholder 2">
            <a:extLst>
              <a:ext uri="{FF2B5EF4-FFF2-40B4-BE49-F238E27FC236}">
                <a16:creationId xmlns:a16="http://schemas.microsoft.com/office/drawing/2014/main" id="{21C66746-5292-26EC-D381-935BA081FE2A}"/>
              </a:ext>
            </a:extLst>
          </p:cNvPr>
          <p:cNvSpPr>
            <a:spLocks noGrp="1"/>
          </p:cNvSpPr>
          <p:nvPr>
            <p:ph sz="quarter" idx="10"/>
          </p:nvPr>
        </p:nvSpPr>
        <p:spPr/>
        <p:txBody>
          <a:bodyPr/>
          <a:lstStyle/>
          <a:p>
            <a:r>
              <a:rPr lang="en-IN" b="1" dirty="0"/>
              <a:t>Writing User Stories</a:t>
            </a:r>
          </a:p>
          <a:p>
            <a:endParaRPr lang="en-IN" dirty="0"/>
          </a:p>
        </p:txBody>
      </p:sp>
    </p:spTree>
    <p:extLst>
      <p:ext uri="{BB962C8B-B14F-4D97-AF65-F5344CB8AC3E}">
        <p14:creationId xmlns:p14="http://schemas.microsoft.com/office/powerpoint/2010/main" val="1351237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643D6A-128F-3EBE-5CDE-AB51E1AB4574}"/>
              </a:ext>
            </a:extLst>
          </p:cNvPr>
          <p:cNvSpPr>
            <a:spLocks noGrp="1"/>
          </p:cNvSpPr>
          <p:nvPr>
            <p:ph idx="1"/>
          </p:nvPr>
        </p:nvSpPr>
        <p:spPr/>
        <p:txBody>
          <a:bodyPr/>
          <a:lstStyle/>
          <a:p>
            <a:r>
              <a:rPr lang="en-US" dirty="0"/>
              <a:t>As a &lt;type of user&gt;,</a:t>
            </a:r>
          </a:p>
          <a:p>
            <a:r>
              <a:rPr lang="en-US" dirty="0"/>
              <a:t>I want &lt;goal&gt;,</a:t>
            </a:r>
          </a:p>
          <a:p>
            <a:r>
              <a:rPr lang="en-US" dirty="0"/>
              <a:t>So that &lt;benefit&gt;.</a:t>
            </a:r>
          </a:p>
          <a:p>
            <a:endParaRPr lang="en-US" dirty="0"/>
          </a:p>
          <a:p>
            <a:r>
              <a:rPr lang="en-US" dirty="0"/>
              <a:t>Example</a:t>
            </a:r>
          </a:p>
          <a:p>
            <a:r>
              <a:rPr lang="en-US" dirty="0"/>
              <a:t>As a Front Desk Receptionist,</a:t>
            </a:r>
          </a:p>
          <a:p>
            <a:r>
              <a:rPr lang="en-US" dirty="0"/>
              <a:t>I want to search for guests using their phone number,</a:t>
            </a:r>
          </a:p>
          <a:p>
            <a:r>
              <a:rPr lang="en-US" dirty="0"/>
              <a:t>So that I can check them in quickly.</a:t>
            </a:r>
            <a:endParaRPr lang="en-IN" dirty="0"/>
          </a:p>
        </p:txBody>
      </p:sp>
      <p:sp>
        <p:nvSpPr>
          <p:cNvPr id="3" name="Content Placeholder 2">
            <a:extLst>
              <a:ext uri="{FF2B5EF4-FFF2-40B4-BE49-F238E27FC236}">
                <a16:creationId xmlns:a16="http://schemas.microsoft.com/office/drawing/2014/main" id="{6CEB529D-B866-11D6-F461-A8A314F5269E}"/>
              </a:ext>
            </a:extLst>
          </p:cNvPr>
          <p:cNvSpPr>
            <a:spLocks noGrp="1"/>
          </p:cNvSpPr>
          <p:nvPr>
            <p:ph sz="quarter" idx="10"/>
          </p:nvPr>
        </p:nvSpPr>
        <p:spPr/>
        <p:txBody>
          <a:bodyPr/>
          <a:lstStyle/>
          <a:p>
            <a:r>
              <a:rPr lang="en-IN" dirty="0"/>
              <a:t>User Story Format</a:t>
            </a:r>
          </a:p>
        </p:txBody>
      </p:sp>
    </p:spTree>
    <p:extLst>
      <p:ext uri="{BB962C8B-B14F-4D97-AF65-F5344CB8AC3E}">
        <p14:creationId xmlns:p14="http://schemas.microsoft.com/office/powerpoint/2010/main" val="1624069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wrap="square"/>
          <a:lstStyle/>
          <a:p>
            <a:r>
              <a:rPr sz="2600" b="1">
                <a:solidFill>
                  <a:srgbClr val="003352"/>
                </a:solidFill>
                <a:latin typeface="Century Gothic"/>
              </a:rPr>
              <a:t>Rewrite the ticket</a:t>
            </a:r>
          </a:p>
        </p:txBody>
      </p:sp>
      <p:sp>
        <p:nvSpPr>
          <p:cNvPr id="4" name="Rounded Rectangle 3"/>
          <p:cNvSpPr/>
          <p:nvPr/>
        </p:nvSpPr>
        <p:spPr>
          <a:xfrm>
            <a:off x="502920" y="1371600"/>
            <a:ext cx="3054096" cy="292608"/>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ctr"/>
            <a:r>
              <a:rPr sz="1000" b="1" i="0">
                <a:solidFill>
                  <a:srgbClr val="003352"/>
                </a:solidFill>
                <a:latin typeface="Century Gothic"/>
              </a:rPr>
              <a:t>EXERCISE  ·  4 MIN</a:t>
            </a:r>
          </a:p>
        </p:txBody>
      </p:sp>
      <p:sp>
        <p:nvSpPr>
          <p:cNvPr id="5" name="Rounded Rectangle 4"/>
          <p:cNvSpPr/>
          <p:nvPr/>
        </p:nvSpPr>
        <p:spPr>
          <a:xfrm>
            <a:off x="502920" y="1874519"/>
            <a:ext cx="5463540" cy="2788920"/>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ounded Rectangle 5"/>
          <p:cNvSpPr/>
          <p:nvPr/>
        </p:nvSpPr>
        <p:spPr>
          <a:xfrm>
            <a:off x="502920" y="1874519"/>
            <a:ext cx="5463540" cy="475488"/>
          </a:xfrm>
          <a:prstGeom prst="roundRect">
            <a:avLst>
              <a:gd name="adj" fmla="val 14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0" rIns="128016" bIns="0" rtlCol="0" anchor="ctr"/>
          <a:lstStyle/>
          <a:p>
            <a:r>
              <a:rPr sz="1400" b="1" i="0">
                <a:solidFill>
                  <a:srgbClr val="FFFFFF"/>
                </a:solidFill>
                <a:latin typeface="Century Gothic"/>
              </a:rPr>
              <a:t>The ticket you would normally get</a:t>
            </a:r>
          </a:p>
        </p:txBody>
      </p:sp>
      <p:sp>
        <p:nvSpPr>
          <p:cNvPr id="7" name="TextBox 6"/>
          <p:cNvSpPr txBox="1"/>
          <p:nvPr/>
        </p:nvSpPr>
        <p:spPr>
          <a:xfrm>
            <a:off x="685800" y="2496312"/>
            <a:ext cx="5097779" cy="2039112"/>
          </a:xfrm>
          <a:prstGeom prst="rect">
            <a:avLst/>
          </a:prstGeom>
          <a:noFill/>
        </p:spPr>
        <p:txBody>
          <a:bodyPr wrap="square" lIns="0" tIns="0" rIns="0" bIns="0" anchor="t">
            <a:spAutoFit/>
          </a:bodyPr>
          <a:lstStyle/>
          <a:p>
            <a:pPr algn="l">
              <a:spcBef>
                <a:spcPts val="0"/>
              </a:spcBef>
              <a:spcAft>
                <a:spcPts val="800"/>
              </a:spcAft>
            </a:pPr>
            <a:r>
              <a:rPr sz="1300" b="1" i="0">
                <a:solidFill>
                  <a:srgbClr val="003352"/>
                </a:solidFill>
                <a:latin typeface="Century Gothic"/>
              </a:rPr>
              <a:t>JIRA-4127  —  Add timezone dropdown</a:t>
            </a:r>
          </a:p>
          <a:p>
            <a:pPr algn="l">
              <a:spcBef>
                <a:spcPts val="0"/>
              </a:spcBef>
              <a:spcAft>
                <a:spcPts val="1200"/>
              </a:spcAft>
            </a:pPr>
            <a:r>
              <a:rPr sz="1200" b="0" i="0">
                <a:solidFill>
                  <a:srgbClr val="003352"/>
                </a:solidFill>
                <a:latin typeface="Century Gothic"/>
              </a:rPr>
              <a:t>Add a dropdown to the settings page. Backend returns the list of timezones. Store the value on the user table. Default to UTC.</a:t>
            </a:r>
          </a:p>
          <a:p>
            <a:pPr algn="l">
              <a:spcBef>
                <a:spcPts val="0"/>
              </a:spcBef>
              <a:spcAft>
                <a:spcPts val="400"/>
              </a:spcAft>
            </a:pPr>
            <a:r>
              <a:rPr sz="1150" b="0" i="1">
                <a:solidFill>
                  <a:srgbClr val="536B7A"/>
                </a:solidFill>
                <a:latin typeface="Century Gothic"/>
              </a:rPr>
              <a:t>Tells you exactly what to type. Tells you nothing about who is hurting, what the right default is, or how you would know afterwards that it worked.</a:t>
            </a:r>
          </a:p>
        </p:txBody>
      </p:sp>
      <p:sp>
        <p:nvSpPr>
          <p:cNvPr id="8" name="Rounded Rectangle 7"/>
          <p:cNvSpPr/>
          <p:nvPr/>
        </p:nvSpPr>
        <p:spPr>
          <a:xfrm>
            <a:off x="6240779" y="1874519"/>
            <a:ext cx="5463540" cy="2788920"/>
          </a:xfrm>
          <a:prstGeom prst="roundRect">
            <a:avLst>
              <a:gd name="adj" fmla="val 6000"/>
            </a:avLst>
          </a:prstGeom>
          <a:solidFill>
            <a:srgbClr val="E4F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ounded Rectangle 8"/>
          <p:cNvSpPr/>
          <p:nvPr/>
        </p:nvSpPr>
        <p:spPr>
          <a:xfrm>
            <a:off x="6240779" y="1874519"/>
            <a:ext cx="5463540" cy="475488"/>
          </a:xfrm>
          <a:prstGeom prst="roundRect">
            <a:avLst>
              <a:gd name="adj" fmla="val 14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0" rIns="128016" bIns="0" rtlCol="0" anchor="ctr"/>
          <a:lstStyle/>
          <a:p>
            <a:r>
              <a:rPr sz="1400" b="1" i="0">
                <a:solidFill>
                  <a:srgbClr val="003352"/>
                </a:solidFill>
                <a:latin typeface="Century Gothic"/>
              </a:rPr>
              <a:t>The story you want instead</a:t>
            </a:r>
          </a:p>
        </p:txBody>
      </p:sp>
      <p:sp>
        <p:nvSpPr>
          <p:cNvPr id="10" name="TextBox 9"/>
          <p:cNvSpPr txBox="1"/>
          <p:nvPr/>
        </p:nvSpPr>
        <p:spPr>
          <a:xfrm>
            <a:off x="6423659" y="2496312"/>
            <a:ext cx="5097779" cy="2039112"/>
          </a:xfrm>
          <a:prstGeom prst="rect">
            <a:avLst/>
          </a:prstGeom>
          <a:noFill/>
        </p:spPr>
        <p:txBody>
          <a:bodyPr wrap="square" lIns="0" tIns="0" rIns="0" bIns="0" anchor="t">
            <a:spAutoFit/>
          </a:bodyPr>
          <a:lstStyle/>
          <a:p>
            <a:pPr algn="l">
              <a:spcBef>
                <a:spcPts val="0"/>
              </a:spcBef>
              <a:spcAft>
                <a:spcPts val="200"/>
              </a:spcAft>
            </a:pPr>
            <a:r>
              <a:rPr sz="1300" b="1" i="0">
                <a:solidFill>
                  <a:srgbClr val="003352"/>
                </a:solidFill>
                <a:latin typeface="Century Gothic"/>
              </a:rPr>
              <a:t>As a support agent working the APAC shift,</a:t>
            </a:r>
          </a:p>
          <a:p>
            <a:pPr algn="l">
              <a:spcBef>
                <a:spcPts val="0"/>
              </a:spcBef>
              <a:spcAft>
                <a:spcPts val="200"/>
              </a:spcAft>
            </a:pPr>
            <a:r>
              <a:rPr sz="1300" b="1" i="0">
                <a:solidFill>
                  <a:srgbClr val="003352"/>
                </a:solidFill>
                <a:latin typeface="Century Gothic"/>
              </a:rPr>
              <a:t>I want ticket times shown in my own timezone,</a:t>
            </a:r>
          </a:p>
          <a:p>
            <a:pPr algn="l">
              <a:spcBef>
                <a:spcPts val="0"/>
              </a:spcBef>
              <a:spcAft>
                <a:spcPts val="1200"/>
              </a:spcAft>
            </a:pPr>
            <a:r>
              <a:rPr sz="1300" b="1" i="0">
                <a:solidFill>
                  <a:srgbClr val="003352"/>
                </a:solidFill>
                <a:latin typeface="Century Gothic"/>
              </a:rPr>
              <a:t>so that I stop replying to customers at 3am their time.</a:t>
            </a:r>
          </a:p>
          <a:p>
            <a:pPr algn="l">
              <a:spcBef>
                <a:spcPts val="0"/>
              </a:spcBef>
              <a:spcAft>
                <a:spcPts val="400"/>
              </a:spcAft>
            </a:pPr>
            <a:r>
              <a:rPr sz="1150" b="0" i="1">
                <a:solidFill>
                  <a:srgbClr val="536B7A"/>
                </a:solidFill>
                <a:latin typeface="Century Gothic"/>
              </a:rPr>
              <a:t>Same code. But now you can argue about the default, spot the daylight-saving edge case, and name the metric — out-of-hours replies — that tells you it worked.</a:t>
            </a:r>
          </a:p>
        </p:txBody>
      </p:sp>
      <p:sp>
        <p:nvSpPr>
          <p:cNvPr id="11" name="Rounded Rectangle 10"/>
          <p:cNvSpPr/>
          <p:nvPr/>
        </p:nvSpPr>
        <p:spPr>
          <a:xfrm>
            <a:off x="502920" y="5486400"/>
            <a:ext cx="11201400" cy="658368"/>
          </a:xfrm>
          <a:prstGeom prst="roundRect">
            <a:avLst>
              <a:gd name="adj" fmla="val 10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54864" rIns="201168" bIns="54864" rtlCol="0" anchor="ctr"/>
          <a:lstStyle/>
          <a:p>
            <a:r>
              <a:rPr sz="1300" b="1" i="0">
                <a:solidFill>
                  <a:srgbClr val="FFFFFF"/>
                </a:solidFill>
                <a:latin typeface="Century Gothic"/>
              </a:rPr>
              <a:t>Open your own board. Take the oldest ticket on it and rewrite it as As a… / I want… / so that…  Four minutes. If you cannot fill in “so that”, that is the finding.</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EA687B-530C-C358-7998-E44B810B4C8C}"/>
              </a:ext>
            </a:extLst>
          </p:cNvPr>
          <p:cNvSpPr>
            <a:spLocks noGrp="1"/>
          </p:cNvSpPr>
          <p:nvPr>
            <p:ph idx="1"/>
          </p:nvPr>
        </p:nvSpPr>
        <p:spPr/>
        <p:txBody>
          <a:bodyPr/>
          <a:lstStyle/>
          <a:p>
            <a:r>
              <a:rPr lang="en-US" dirty="0"/>
              <a:t>A good user story should be:</a:t>
            </a:r>
          </a:p>
          <a:p>
            <a:pPr>
              <a:buFont typeface="Arial" panose="020B0604020202020204" pitchFamily="34" charset="0"/>
              <a:buChar char="•"/>
            </a:pPr>
            <a:r>
              <a:rPr lang="en-US" dirty="0"/>
              <a:t>Clear and easy to understand </a:t>
            </a:r>
          </a:p>
          <a:p>
            <a:pPr>
              <a:buFont typeface="Arial" panose="020B0604020202020204" pitchFamily="34" charset="0"/>
              <a:buChar char="•"/>
            </a:pPr>
            <a:r>
              <a:rPr lang="en-US" dirty="0"/>
              <a:t>Focused on one user need </a:t>
            </a:r>
          </a:p>
          <a:p>
            <a:pPr>
              <a:buFont typeface="Arial" panose="020B0604020202020204" pitchFamily="34" charset="0"/>
              <a:buChar char="•"/>
            </a:pPr>
            <a:r>
              <a:rPr lang="en-US" dirty="0"/>
              <a:t>Valuable to the customer </a:t>
            </a:r>
          </a:p>
          <a:p>
            <a:pPr>
              <a:buFont typeface="Arial" panose="020B0604020202020204" pitchFamily="34" charset="0"/>
              <a:buChar char="•"/>
            </a:pPr>
            <a:r>
              <a:rPr lang="en-US" dirty="0"/>
              <a:t>Small enough to complete in one sprint </a:t>
            </a:r>
          </a:p>
          <a:p>
            <a:pPr>
              <a:buFont typeface="Arial" panose="020B0604020202020204" pitchFamily="34" charset="0"/>
              <a:buChar char="•"/>
            </a:pPr>
            <a:r>
              <a:rPr lang="en-US" dirty="0"/>
              <a:t>Testable</a:t>
            </a:r>
          </a:p>
          <a:p>
            <a:endParaRPr lang="en-IN" dirty="0"/>
          </a:p>
        </p:txBody>
      </p:sp>
      <p:sp>
        <p:nvSpPr>
          <p:cNvPr id="3" name="Content Placeholder 2">
            <a:extLst>
              <a:ext uri="{FF2B5EF4-FFF2-40B4-BE49-F238E27FC236}">
                <a16:creationId xmlns:a16="http://schemas.microsoft.com/office/drawing/2014/main" id="{E1C66526-321F-F803-9AB2-72DEFDE4F4F3}"/>
              </a:ext>
            </a:extLst>
          </p:cNvPr>
          <p:cNvSpPr>
            <a:spLocks noGrp="1"/>
          </p:cNvSpPr>
          <p:nvPr>
            <p:ph sz="quarter" idx="10"/>
          </p:nvPr>
        </p:nvSpPr>
        <p:spPr/>
        <p:txBody>
          <a:bodyPr/>
          <a:lstStyle/>
          <a:p>
            <a:r>
              <a:rPr lang="en-US" b="1" dirty="0"/>
              <a:t>What Makes a Good User Story?</a:t>
            </a:r>
          </a:p>
          <a:p>
            <a:endParaRPr lang="en-IN" dirty="0"/>
          </a:p>
        </p:txBody>
      </p:sp>
    </p:spTree>
    <p:extLst>
      <p:ext uri="{BB962C8B-B14F-4D97-AF65-F5344CB8AC3E}">
        <p14:creationId xmlns:p14="http://schemas.microsoft.com/office/powerpoint/2010/main" val="39274348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wrap="square"/>
          <a:lstStyle/>
          <a:p>
            <a:r>
              <a:rPr sz="2600" b="1">
                <a:solidFill>
                  <a:srgbClr val="003352"/>
                </a:solidFill>
                <a:latin typeface="Century Gothic"/>
              </a:rPr>
              <a:t>Quiz: spot the broken user story</a:t>
            </a:r>
          </a:p>
        </p:txBody>
      </p:sp>
      <p:sp>
        <p:nvSpPr>
          <p:cNvPr id="4" name="Rounded Rectangle 3"/>
          <p:cNvSpPr/>
          <p:nvPr/>
        </p:nvSpPr>
        <p:spPr>
          <a:xfrm>
            <a:off x="502920" y="1371600"/>
            <a:ext cx="2468880" cy="292608"/>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ctr"/>
            <a:r>
              <a:rPr sz="1000" b="1" i="0">
                <a:solidFill>
                  <a:srgbClr val="003352"/>
                </a:solidFill>
                <a:latin typeface="Century Gothic"/>
              </a:rPr>
              <a:t>QUIZ  ·  4 MIN</a:t>
            </a:r>
          </a:p>
        </p:txBody>
      </p:sp>
      <p:sp>
        <p:nvSpPr>
          <p:cNvPr id="5" name="TextBox 4"/>
          <p:cNvSpPr txBox="1"/>
          <p:nvPr/>
        </p:nvSpPr>
        <p:spPr>
          <a:xfrm>
            <a:off x="502920" y="1874519"/>
            <a:ext cx="11201400" cy="292608"/>
          </a:xfrm>
          <a:prstGeom prst="rect">
            <a:avLst/>
          </a:prstGeom>
          <a:noFill/>
        </p:spPr>
        <p:txBody>
          <a:bodyPr wrap="square" lIns="0" tIns="0" rIns="0" bIns="0" anchor="t">
            <a:spAutoFit/>
          </a:bodyPr>
          <a:lstStyle/>
          <a:p>
            <a:pPr algn="l">
              <a:spcBef>
                <a:spcPts val="0"/>
              </a:spcBef>
              <a:spcAft>
                <a:spcPts val="400"/>
              </a:spcAft>
            </a:pPr>
            <a:r>
              <a:rPr sz="1250" b="0" i="0">
                <a:solidFill>
                  <a:srgbClr val="003352"/>
                </a:solidFill>
                <a:latin typeface="Century Gothic"/>
              </a:rPr>
              <a:t>Three of these four are broken. Name what is wrong with each — and which one you would accept into a sprint as it stands.</a:t>
            </a:r>
          </a:p>
        </p:txBody>
      </p:sp>
      <p:sp>
        <p:nvSpPr>
          <p:cNvPr id="6" name="Rounded Rectangle 5"/>
          <p:cNvSpPr/>
          <p:nvPr/>
        </p:nvSpPr>
        <p:spPr>
          <a:xfrm>
            <a:off x="502920" y="2295144"/>
            <a:ext cx="2697480" cy="2651760"/>
          </a:xfrm>
          <a:prstGeom prst="roundRect">
            <a:avLst>
              <a:gd name="adj" fmla="val 8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667512" y="2441448"/>
            <a:ext cx="310896" cy="310896"/>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50" b="1" i="0">
                <a:solidFill>
                  <a:srgbClr val="63E7A4"/>
                </a:solidFill>
                <a:latin typeface="Century Gothic"/>
              </a:rPr>
              <a:t>1</a:t>
            </a:r>
          </a:p>
        </p:txBody>
      </p:sp>
      <p:sp>
        <p:nvSpPr>
          <p:cNvPr id="8" name="TextBox 7"/>
          <p:cNvSpPr txBox="1"/>
          <p:nvPr/>
        </p:nvSpPr>
        <p:spPr>
          <a:xfrm>
            <a:off x="667512" y="2843784"/>
            <a:ext cx="2368296" cy="1600200"/>
          </a:xfrm>
          <a:prstGeom prst="rect">
            <a:avLst/>
          </a:prstGeom>
          <a:noFill/>
        </p:spPr>
        <p:txBody>
          <a:bodyPr wrap="square" lIns="0" tIns="0" rIns="0" bIns="0" anchor="t">
            <a:spAutoFit/>
          </a:bodyPr>
          <a:lstStyle/>
          <a:p>
            <a:pPr algn="l">
              <a:spcBef>
                <a:spcPts val="0"/>
              </a:spcBef>
              <a:spcAft>
                <a:spcPts val="200"/>
              </a:spcAft>
            </a:pPr>
            <a:r>
              <a:rPr sz="1100" b="0" i="0">
                <a:solidFill>
                  <a:srgbClr val="003352"/>
                </a:solidFill>
                <a:latin typeface="Century Gothic"/>
              </a:rPr>
              <a:t>As a user,</a:t>
            </a:r>
          </a:p>
          <a:p>
            <a:pPr algn="l">
              <a:spcBef>
                <a:spcPts val="0"/>
              </a:spcBef>
              <a:spcAft>
                <a:spcPts val="200"/>
              </a:spcAft>
            </a:pPr>
            <a:r>
              <a:rPr sz="1100" b="0" i="0">
                <a:solidFill>
                  <a:srgbClr val="003352"/>
                </a:solidFill>
                <a:latin typeface="Century Gothic"/>
              </a:rPr>
              <a:t>I want a better dashboard,</a:t>
            </a:r>
          </a:p>
          <a:p>
            <a:pPr algn="l">
              <a:spcBef>
                <a:spcPts val="0"/>
              </a:spcBef>
              <a:spcAft>
                <a:spcPts val="200"/>
              </a:spcAft>
            </a:pPr>
            <a:r>
              <a:rPr sz="1100" b="0" i="0">
                <a:solidFill>
                  <a:srgbClr val="003352"/>
                </a:solidFill>
                <a:latin typeface="Century Gothic"/>
              </a:rPr>
              <a:t>so that I can see my data.</a:t>
            </a:r>
          </a:p>
        </p:txBody>
      </p:sp>
      <p:sp>
        <p:nvSpPr>
          <p:cNvPr id="9" name="Rounded Rectangle 8"/>
          <p:cNvSpPr/>
          <p:nvPr/>
        </p:nvSpPr>
        <p:spPr>
          <a:xfrm>
            <a:off x="667512" y="4544568"/>
            <a:ext cx="2368296" cy="329184"/>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536B7A"/>
                </a:solidFill>
                <a:latin typeface="Century Gothic"/>
              </a:rPr>
              <a:t>what is wrong?</a:t>
            </a:r>
          </a:p>
        </p:txBody>
      </p:sp>
      <p:sp>
        <p:nvSpPr>
          <p:cNvPr id="10" name="Rounded Rectangle 9"/>
          <p:cNvSpPr/>
          <p:nvPr/>
        </p:nvSpPr>
        <p:spPr>
          <a:xfrm>
            <a:off x="3364992" y="2295144"/>
            <a:ext cx="2697480" cy="2651760"/>
          </a:xfrm>
          <a:prstGeom prst="roundRect">
            <a:avLst>
              <a:gd name="adj" fmla="val 8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3529584" y="2441448"/>
            <a:ext cx="310896" cy="310896"/>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50" b="1" i="0">
                <a:solidFill>
                  <a:srgbClr val="63E7A4"/>
                </a:solidFill>
                <a:latin typeface="Century Gothic"/>
              </a:rPr>
              <a:t>2</a:t>
            </a:r>
          </a:p>
        </p:txBody>
      </p:sp>
      <p:sp>
        <p:nvSpPr>
          <p:cNvPr id="12" name="TextBox 11"/>
          <p:cNvSpPr txBox="1"/>
          <p:nvPr/>
        </p:nvSpPr>
        <p:spPr>
          <a:xfrm>
            <a:off x="3529584" y="2843784"/>
            <a:ext cx="2368296" cy="1600200"/>
          </a:xfrm>
          <a:prstGeom prst="rect">
            <a:avLst/>
          </a:prstGeom>
          <a:noFill/>
        </p:spPr>
        <p:txBody>
          <a:bodyPr wrap="square" lIns="0" tIns="0" rIns="0" bIns="0" anchor="t">
            <a:spAutoFit/>
          </a:bodyPr>
          <a:lstStyle/>
          <a:p>
            <a:pPr algn="l">
              <a:spcBef>
                <a:spcPts val="0"/>
              </a:spcBef>
              <a:spcAft>
                <a:spcPts val="200"/>
              </a:spcAft>
            </a:pPr>
            <a:r>
              <a:rPr sz="1100" b="0" i="0">
                <a:solidFill>
                  <a:srgbClr val="003352"/>
                </a:solidFill>
                <a:latin typeface="Century Gothic"/>
              </a:rPr>
              <a:t>As a product manager,</a:t>
            </a:r>
          </a:p>
          <a:p>
            <a:pPr algn="l">
              <a:spcBef>
                <a:spcPts val="0"/>
              </a:spcBef>
              <a:spcAft>
                <a:spcPts val="200"/>
              </a:spcAft>
            </a:pPr>
            <a:r>
              <a:rPr sz="1100" b="0" i="0">
                <a:solidFill>
                  <a:srgbClr val="003352"/>
                </a:solidFill>
                <a:latin typeface="Century Gothic"/>
              </a:rPr>
              <a:t>I want the team to move to PostgreSQL,</a:t>
            </a:r>
          </a:p>
          <a:p>
            <a:pPr algn="l">
              <a:spcBef>
                <a:spcPts val="0"/>
              </a:spcBef>
              <a:spcAft>
                <a:spcPts val="200"/>
              </a:spcAft>
            </a:pPr>
            <a:r>
              <a:rPr sz="1100" b="0" i="0">
                <a:solidFill>
                  <a:srgbClr val="003352"/>
                </a:solidFill>
                <a:latin typeface="Century Gothic"/>
              </a:rPr>
              <a:t>so that queries run faster.</a:t>
            </a:r>
          </a:p>
        </p:txBody>
      </p:sp>
      <p:sp>
        <p:nvSpPr>
          <p:cNvPr id="13" name="Rounded Rectangle 12"/>
          <p:cNvSpPr/>
          <p:nvPr/>
        </p:nvSpPr>
        <p:spPr>
          <a:xfrm>
            <a:off x="3529584" y="4544568"/>
            <a:ext cx="2368296" cy="329184"/>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536B7A"/>
                </a:solidFill>
                <a:latin typeface="Century Gothic"/>
              </a:rPr>
              <a:t>what is wrong?</a:t>
            </a:r>
          </a:p>
        </p:txBody>
      </p:sp>
      <p:sp>
        <p:nvSpPr>
          <p:cNvPr id="14" name="Rounded Rectangle 13"/>
          <p:cNvSpPr/>
          <p:nvPr/>
        </p:nvSpPr>
        <p:spPr>
          <a:xfrm>
            <a:off x="6227064" y="2295144"/>
            <a:ext cx="2697480" cy="2651760"/>
          </a:xfrm>
          <a:prstGeom prst="roundRect">
            <a:avLst>
              <a:gd name="adj" fmla="val 8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6391656" y="2441448"/>
            <a:ext cx="310896" cy="310896"/>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50" b="1" i="0">
                <a:solidFill>
                  <a:srgbClr val="63E7A4"/>
                </a:solidFill>
                <a:latin typeface="Century Gothic"/>
              </a:rPr>
              <a:t>3</a:t>
            </a:r>
          </a:p>
        </p:txBody>
      </p:sp>
      <p:sp>
        <p:nvSpPr>
          <p:cNvPr id="16" name="TextBox 15"/>
          <p:cNvSpPr txBox="1"/>
          <p:nvPr/>
        </p:nvSpPr>
        <p:spPr>
          <a:xfrm>
            <a:off x="6391656" y="2843784"/>
            <a:ext cx="2368296" cy="1600200"/>
          </a:xfrm>
          <a:prstGeom prst="rect">
            <a:avLst/>
          </a:prstGeom>
          <a:noFill/>
        </p:spPr>
        <p:txBody>
          <a:bodyPr wrap="square" lIns="0" tIns="0" rIns="0" bIns="0" anchor="t">
            <a:spAutoFit/>
          </a:bodyPr>
          <a:lstStyle/>
          <a:p>
            <a:pPr algn="l">
              <a:spcBef>
                <a:spcPts val="0"/>
              </a:spcBef>
              <a:spcAft>
                <a:spcPts val="200"/>
              </a:spcAft>
            </a:pPr>
            <a:r>
              <a:rPr sz="1100" b="0" i="0">
                <a:solidFill>
                  <a:srgbClr val="003352"/>
                </a:solidFill>
                <a:latin typeface="Century Gothic"/>
              </a:rPr>
              <a:t>As a receptionist, I want to check in a guest, take payment, print the key card, email the folio and update housekeeping,</a:t>
            </a:r>
          </a:p>
          <a:p>
            <a:pPr algn="l">
              <a:spcBef>
                <a:spcPts val="0"/>
              </a:spcBef>
              <a:spcAft>
                <a:spcPts val="200"/>
              </a:spcAft>
            </a:pPr>
            <a:r>
              <a:rPr sz="1100" b="0" i="0">
                <a:solidFill>
                  <a:srgbClr val="003352"/>
                </a:solidFill>
                <a:latin typeface="Century Gothic"/>
              </a:rPr>
              <a:t>so that the guest can go to their room.</a:t>
            </a:r>
          </a:p>
        </p:txBody>
      </p:sp>
      <p:sp>
        <p:nvSpPr>
          <p:cNvPr id="17" name="Rounded Rectangle 16"/>
          <p:cNvSpPr/>
          <p:nvPr/>
        </p:nvSpPr>
        <p:spPr>
          <a:xfrm>
            <a:off x="6391656" y="4544568"/>
            <a:ext cx="2368296" cy="329184"/>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536B7A"/>
                </a:solidFill>
                <a:latin typeface="Century Gothic"/>
              </a:rPr>
              <a:t>what is wrong?</a:t>
            </a:r>
          </a:p>
        </p:txBody>
      </p:sp>
      <p:sp>
        <p:nvSpPr>
          <p:cNvPr id="18" name="Rounded Rectangle 17"/>
          <p:cNvSpPr/>
          <p:nvPr/>
        </p:nvSpPr>
        <p:spPr>
          <a:xfrm>
            <a:off x="9089136" y="2295144"/>
            <a:ext cx="2697480" cy="2651760"/>
          </a:xfrm>
          <a:prstGeom prst="roundRect">
            <a:avLst>
              <a:gd name="adj" fmla="val 8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9253728" y="2441448"/>
            <a:ext cx="310896" cy="310896"/>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50" b="1" i="0">
                <a:solidFill>
                  <a:srgbClr val="63E7A4"/>
                </a:solidFill>
                <a:latin typeface="Century Gothic"/>
              </a:rPr>
              <a:t>4</a:t>
            </a:r>
          </a:p>
        </p:txBody>
      </p:sp>
      <p:sp>
        <p:nvSpPr>
          <p:cNvPr id="20" name="TextBox 19"/>
          <p:cNvSpPr txBox="1"/>
          <p:nvPr/>
        </p:nvSpPr>
        <p:spPr>
          <a:xfrm>
            <a:off x="9253728" y="2843784"/>
            <a:ext cx="2368296" cy="1600200"/>
          </a:xfrm>
          <a:prstGeom prst="rect">
            <a:avLst/>
          </a:prstGeom>
          <a:noFill/>
        </p:spPr>
        <p:txBody>
          <a:bodyPr wrap="square" lIns="0" tIns="0" rIns="0" bIns="0" anchor="t">
            <a:spAutoFit/>
          </a:bodyPr>
          <a:lstStyle/>
          <a:p>
            <a:pPr algn="l">
              <a:spcBef>
                <a:spcPts val="0"/>
              </a:spcBef>
              <a:spcAft>
                <a:spcPts val="200"/>
              </a:spcAft>
            </a:pPr>
            <a:r>
              <a:rPr sz="1100" b="0" i="0">
                <a:solidFill>
                  <a:srgbClr val="003352"/>
                </a:solidFill>
                <a:latin typeface="Century Gothic"/>
              </a:rPr>
              <a:t>As a night auditor,</a:t>
            </a:r>
          </a:p>
          <a:p>
            <a:pPr algn="l">
              <a:spcBef>
                <a:spcPts val="0"/>
              </a:spcBef>
              <a:spcAft>
                <a:spcPts val="200"/>
              </a:spcAft>
            </a:pPr>
            <a:r>
              <a:rPr sz="1100" b="0" i="0">
                <a:solidFill>
                  <a:srgbClr val="003352"/>
                </a:solidFill>
                <a:latin typeface="Century Gothic"/>
              </a:rPr>
              <a:t>I want the daily revenue report to run at 02:00,</a:t>
            </a:r>
          </a:p>
          <a:p>
            <a:pPr algn="l">
              <a:spcBef>
                <a:spcPts val="0"/>
              </a:spcBef>
              <a:spcAft>
                <a:spcPts val="200"/>
              </a:spcAft>
            </a:pPr>
            <a:r>
              <a:rPr sz="1100" b="0" i="0">
                <a:solidFill>
                  <a:srgbClr val="003352"/>
                </a:solidFill>
                <a:latin typeface="Century Gothic"/>
              </a:rPr>
              <a:t>so that I can close the books before my shift ends.</a:t>
            </a:r>
          </a:p>
        </p:txBody>
      </p:sp>
      <p:sp>
        <p:nvSpPr>
          <p:cNvPr id="21" name="Rounded Rectangle 20"/>
          <p:cNvSpPr/>
          <p:nvPr/>
        </p:nvSpPr>
        <p:spPr>
          <a:xfrm>
            <a:off x="9253728" y="4544568"/>
            <a:ext cx="2368296" cy="329184"/>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536B7A"/>
                </a:solidFill>
                <a:latin typeface="Century Gothic"/>
              </a:rPr>
              <a:t>what is wrong?</a:t>
            </a:r>
          </a:p>
        </p:txBody>
      </p:sp>
      <p:sp>
        <p:nvSpPr>
          <p:cNvPr id="22" name="Rounded Rectangle 21"/>
          <p:cNvSpPr/>
          <p:nvPr/>
        </p:nvSpPr>
        <p:spPr>
          <a:xfrm>
            <a:off x="502920" y="5486400"/>
            <a:ext cx="11201400" cy="658368"/>
          </a:xfrm>
          <a:prstGeom prst="roundRect">
            <a:avLst>
              <a:gd name="adj" fmla="val 10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54864" rIns="201168" bIns="54864" rtlCol="0" anchor="ctr"/>
          <a:lstStyle/>
          <a:p>
            <a:r>
              <a:rPr sz="1300" b="1" i="0">
                <a:solidFill>
                  <a:srgbClr val="FFFFFF"/>
                </a:solidFill>
                <a:latin typeface="Century Gothic"/>
              </a:rPr>
              <a:t>Exactly one of the four would survive sprint planning. Notice that you could not judge any of them until you had asked who the user really was.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955EA7D-3AF3-1621-DFCD-FE1D0DBBC43B}"/>
              </a:ext>
            </a:extLst>
          </p:cNvPr>
          <p:cNvSpPr>
            <a:spLocks noGrp="1"/>
          </p:cNvSpPr>
          <p:nvPr>
            <p:ph idx="1"/>
          </p:nvPr>
        </p:nvSpPr>
        <p:spPr/>
        <p:txBody>
          <a:bodyPr>
            <a:normAutofit fontScale="85000" lnSpcReduction="20000"/>
          </a:bodyPr>
          <a:lstStyle/>
          <a:p>
            <a:r>
              <a:rPr lang="en-US" dirty="0"/>
              <a:t>A user story tells </a:t>
            </a:r>
            <a:r>
              <a:rPr lang="en-US" b="1" dirty="0"/>
              <a:t>what</a:t>
            </a:r>
            <a:r>
              <a:rPr lang="en-US" dirty="0"/>
              <a:t> the user wants.</a:t>
            </a:r>
          </a:p>
          <a:p>
            <a:r>
              <a:rPr lang="en-US" b="1" dirty="0"/>
              <a:t>Acceptance Criteria</a:t>
            </a:r>
            <a:r>
              <a:rPr lang="en-US" dirty="0"/>
              <a:t> define </a:t>
            </a:r>
            <a:r>
              <a:rPr lang="en-US" b="1" dirty="0"/>
              <a:t>how we know the story is complete</a:t>
            </a:r>
            <a:r>
              <a:rPr lang="en-US" dirty="0"/>
              <a:t>.</a:t>
            </a:r>
          </a:p>
          <a:p>
            <a:endParaRPr lang="en-US" dirty="0"/>
          </a:p>
          <a:p>
            <a:r>
              <a:rPr lang="en-US" dirty="0"/>
              <a:t>Example</a:t>
            </a:r>
          </a:p>
          <a:p>
            <a:r>
              <a:rPr lang="en-US" dirty="0"/>
              <a:t>As a receptionist,</a:t>
            </a:r>
          </a:p>
          <a:p>
            <a:r>
              <a:rPr lang="en-US" dirty="0"/>
              <a:t>I want to search guests by phone number,</a:t>
            </a:r>
          </a:p>
          <a:p>
            <a:r>
              <a:rPr lang="en-US" dirty="0"/>
              <a:t>So that I can check them in quickly.</a:t>
            </a:r>
          </a:p>
          <a:p>
            <a:endParaRPr lang="en-IN" dirty="0"/>
          </a:p>
          <a:p>
            <a:r>
              <a:rPr lang="en-US" b="1" dirty="0"/>
              <a:t>Acceptance Criteria</a:t>
            </a:r>
            <a:endParaRPr lang="en-US" dirty="0"/>
          </a:p>
          <a:p>
            <a:pPr>
              <a:buFont typeface="Arial" panose="020B0604020202020204" pitchFamily="34" charset="0"/>
              <a:buChar char="•"/>
            </a:pPr>
            <a:r>
              <a:rPr lang="en-US" dirty="0"/>
              <a:t>Search supports full and partial phone numbers. </a:t>
            </a:r>
          </a:p>
          <a:p>
            <a:pPr>
              <a:buFont typeface="Arial" panose="020B0604020202020204" pitchFamily="34" charset="0"/>
              <a:buChar char="•"/>
            </a:pPr>
            <a:r>
              <a:rPr lang="en-US" dirty="0"/>
              <a:t>Results appear within 2 seconds. </a:t>
            </a:r>
          </a:p>
          <a:p>
            <a:pPr>
              <a:buFont typeface="Arial" panose="020B0604020202020204" pitchFamily="34" charset="0"/>
              <a:buChar char="•"/>
            </a:pPr>
            <a:r>
              <a:rPr lang="en-US" dirty="0"/>
              <a:t>Matching guest records are displayed. </a:t>
            </a:r>
          </a:p>
          <a:p>
            <a:pPr>
              <a:buFont typeface="Arial" panose="020B0604020202020204" pitchFamily="34" charset="0"/>
              <a:buChar char="•"/>
            </a:pPr>
            <a:r>
              <a:rPr lang="en-US" dirty="0"/>
              <a:t>If no record exists, display "No guest found." </a:t>
            </a:r>
          </a:p>
          <a:p>
            <a:pPr>
              <a:buFont typeface="Arial" panose="020B0604020202020204" pitchFamily="34" charset="0"/>
              <a:buChar char="•"/>
            </a:pPr>
            <a:r>
              <a:rPr lang="en-US" dirty="0"/>
              <a:t>Search works on desktop and tablet. </a:t>
            </a:r>
          </a:p>
          <a:p>
            <a:endParaRPr lang="en-IN" dirty="0"/>
          </a:p>
        </p:txBody>
      </p:sp>
      <p:sp>
        <p:nvSpPr>
          <p:cNvPr id="3" name="Content Placeholder 2">
            <a:extLst>
              <a:ext uri="{FF2B5EF4-FFF2-40B4-BE49-F238E27FC236}">
                <a16:creationId xmlns:a16="http://schemas.microsoft.com/office/drawing/2014/main" id="{D9DEC902-F1D3-83D5-6DD6-06A3F36E538C}"/>
              </a:ext>
            </a:extLst>
          </p:cNvPr>
          <p:cNvSpPr>
            <a:spLocks noGrp="1"/>
          </p:cNvSpPr>
          <p:nvPr>
            <p:ph sz="quarter" idx="10"/>
          </p:nvPr>
        </p:nvSpPr>
        <p:spPr/>
        <p:txBody>
          <a:bodyPr/>
          <a:lstStyle/>
          <a:p>
            <a:r>
              <a:rPr lang="en-IN" b="1" dirty="0"/>
              <a:t>Acceptance Criteria</a:t>
            </a:r>
          </a:p>
          <a:p>
            <a:endParaRPr lang="en-IN" dirty="0"/>
          </a:p>
        </p:txBody>
      </p:sp>
    </p:spTree>
    <p:extLst>
      <p:ext uri="{BB962C8B-B14F-4D97-AF65-F5344CB8AC3E}">
        <p14:creationId xmlns:p14="http://schemas.microsoft.com/office/powerpoint/2010/main" val="131176123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wrap="square"/>
          <a:lstStyle/>
          <a:p>
            <a:r>
              <a:rPr sz="2600" b="1">
                <a:solidFill>
                  <a:srgbClr val="003352"/>
                </a:solidFill>
                <a:latin typeface="Century Gothic"/>
              </a:rPr>
              <a:t>Acceptance criteria prevent the bugs</a:t>
            </a:r>
          </a:p>
        </p:txBody>
      </p:sp>
      <p:sp>
        <p:nvSpPr>
          <p:cNvPr id="4" name="Rounded Rectangle 3"/>
          <p:cNvSpPr/>
          <p:nvPr/>
        </p:nvSpPr>
        <p:spPr>
          <a:xfrm>
            <a:off x="502920" y="1371600"/>
            <a:ext cx="3346704" cy="292608"/>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ctr"/>
            <a:r>
              <a:rPr sz="1000" b="1" i="0">
                <a:solidFill>
                  <a:srgbClr val="003352"/>
                </a:solidFill>
                <a:latin typeface="Century Gothic"/>
              </a:rPr>
              <a:t>EXAMPLE  ·  EXERCISE</a:t>
            </a:r>
          </a:p>
        </p:txBody>
      </p:sp>
      <p:sp>
        <p:nvSpPr>
          <p:cNvPr id="5" name="Rounded Rectangle 4"/>
          <p:cNvSpPr/>
          <p:nvPr/>
        </p:nvSpPr>
        <p:spPr>
          <a:xfrm>
            <a:off x="502920" y="1874519"/>
            <a:ext cx="5463540" cy="2606040"/>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ounded Rectangle 5"/>
          <p:cNvSpPr/>
          <p:nvPr/>
        </p:nvSpPr>
        <p:spPr>
          <a:xfrm>
            <a:off x="502920" y="1874519"/>
            <a:ext cx="5463540" cy="475488"/>
          </a:xfrm>
          <a:prstGeom prst="roundRect">
            <a:avLst>
              <a:gd name="adj" fmla="val 14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0" rIns="128016" bIns="0" rtlCol="0" anchor="ctr"/>
          <a:lstStyle/>
          <a:p>
            <a:r>
              <a:rPr sz="1400" b="1" i="0">
                <a:solidFill>
                  <a:srgbClr val="FFFFFF"/>
                </a:solidFill>
                <a:latin typeface="Century Gothic"/>
              </a:rPr>
              <a:t>Given / When / Then, on the same story</a:t>
            </a:r>
          </a:p>
        </p:txBody>
      </p:sp>
      <p:sp>
        <p:nvSpPr>
          <p:cNvPr id="7" name="TextBox 6"/>
          <p:cNvSpPr txBox="1"/>
          <p:nvPr/>
        </p:nvSpPr>
        <p:spPr>
          <a:xfrm>
            <a:off x="685800" y="2496312"/>
            <a:ext cx="5097779" cy="1856232"/>
          </a:xfrm>
          <a:prstGeom prst="rect">
            <a:avLst/>
          </a:prstGeom>
          <a:noFill/>
        </p:spPr>
        <p:txBody>
          <a:bodyPr wrap="square" lIns="0" tIns="0" rIns="0" bIns="0" anchor="t">
            <a:spAutoFit/>
          </a:bodyPr>
          <a:lstStyle/>
          <a:p>
            <a:pPr algn="l">
              <a:spcBef>
                <a:spcPts val="0"/>
              </a:spcBef>
              <a:spcAft>
                <a:spcPts val="100"/>
              </a:spcAft>
            </a:pPr>
            <a:r>
              <a:rPr sz="1000" b="1" i="0">
                <a:solidFill>
                  <a:srgbClr val="536B7A"/>
                </a:solidFill>
                <a:latin typeface="Century Gothic"/>
              </a:rPr>
              <a:t>GIVEN</a:t>
            </a:r>
          </a:p>
          <a:p>
            <a:pPr algn="l">
              <a:spcBef>
                <a:spcPts val="0"/>
              </a:spcBef>
              <a:spcAft>
                <a:spcPts val="900"/>
              </a:spcAft>
            </a:pPr>
            <a:r>
              <a:rPr sz="1250" b="0" i="0">
                <a:solidFill>
                  <a:srgbClr val="003352"/>
                </a:solidFill>
                <a:latin typeface="Century Gothic"/>
              </a:rPr>
              <a:t>I am a support agent with my timezone set to IST</a:t>
            </a:r>
          </a:p>
          <a:p>
            <a:pPr algn="l">
              <a:spcBef>
                <a:spcPts val="0"/>
              </a:spcBef>
              <a:spcAft>
                <a:spcPts val="100"/>
              </a:spcAft>
            </a:pPr>
            <a:r>
              <a:rPr sz="1000" b="1" i="0">
                <a:solidFill>
                  <a:srgbClr val="536B7A"/>
                </a:solidFill>
                <a:latin typeface="Century Gothic"/>
              </a:rPr>
              <a:t>WHEN</a:t>
            </a:r>
          </a:p>
          <a:p>
            <a:pPr algn="l">
              <a:spcBef>
                <a:spcPts val="0"/>
              </a:spcBef>
              <a:spcAft>
                <a:spcPts val="900"/>
              </a:spcAft>
            </a:pPr>
            <a:r>
              <a:rPr sz="1250" b="0" i="0">
                <a:solidFill>
                  <a:srgbClr val="003352"/>
                </a:solidFill>
                <a:latin typeface="Century Gothic"/>
              </a:rPr>
              <a:t>I open a ticket created at 09:00 UTC</a:t>
            </a:r>
          </a:p>
          <a:p>
            <a:pPr algn="l">
              <a:spcBef>
                <a:spcPts val="0"/>
              </a:spcBef>
              <a:spcAft>
                <a:spcPts val="100"/>
              </a:spcAft>
            </a:pPr>
            <a:r>
              <a:rPr sz="1000" b="1" i="0">
                <a:solidFill>
                  <a:srgbClr val="536B7A"/>
                </a:solidFill>
                <a:latin typeface="Century Gothic"/>
              </a:rPr>
              <a:t>THEN</a:t>
            </a:r>
          </a:p>
          <a:p>
            <a:pPr algn="l">
              <a:spcBef>
                <a:spcPts val="0"/>
              </a:spcBef>
              <a:spcAft>
                <a:spcPts val="400"/>
              </a:spcAft>
            </a:pPr>
            <a:r>
              <a:rPr sz="1250" b="0" i="0">
                <a:solidFill>
                  <a:srgbClr val="003352"/>
                </a:solidFill>
                <a:latin typeface="Century Gothic"/>
              </a:rPr>
              <a:t>the timestamp reads 14:30 IST, with the timezone label visible next to it</a:t>
            </a:r>
          </a:p>
        </p:txBody>
      </p:sp>
      <p:sp>
        <p:nvSpPr>
          <p:cNvPr id="8" name="Rounded Rectangle 7"/>
          <p:cNvSpPr/>
          <p:nvPr/>
        </p:nvSpPr>
        <p:spPr>
          <a:xfrm>
            <a:off x="6240779" y="1874519"/>
            <a:ext cx="5463540" cy="2606040"/>
          </a:xfrm>
          <a:prstGeom prst="roundRect">
            <a:avLst>
              <a:gd name="adj" fmla="val 6000"/>
            </a:avLst>
          </a:prstGeom>
          <a:solidFill>
            <a:srgbClr val="E4F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ounded Rectangle 8"/>
          <p:cNvSpPr/>
          <p:nvPr/>
        </p:nvSpPr>
        <p:spPr>
          <a:xfrm>
            <a:off x="6240779" y="1874519"/>
            <a:ext cx="5463540" cy="475488"/>
          </a:xfrm>
          <a:prstGeom prst="roundRect">
            <a:avLst>
              <a:gd name="adj" fmla="val 14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0" rIns="128016" bIns="0" rtlCol="0" anchor="ctr"/>
          <a:lstStyle/>
          <a:p>
            <a:r>
              <a:rPr sz="1400" b="1" i="0">
                <a:solidFill>
                  <a:srgbClr val="003352"/>
                </a:solidFill>
                <a:latin typeface="Century Gothic"/>
              </a:rPr>
              <a:t>The criteria everyone forgets to write</a:t>
            </a:r>
          </a:p>
        </p:txBody>
      </p:sp>
      <p:sp>
        <p:nvSpPr>
          <p:cNvPr id="10" name="TextBox 9"/>
          <p:cNvSpPr txBox="1"/>
          <p:nvPr/>
        </p:nvSpPr>
        <p:spPr>
          <a:xfrm>
            <a:off x="6423659" y="2496312"/>
            <a:ext cx="5097779" cy="1856232"/>
          </a:xfrm>
          <a:prstGeom prst="rect">
            <a:avLst/>
          </a:prstGeom>
          <a:noFill/>
        </p:spPr>
        <p:txBody>
          <a:bodyPr wrap="square" lIns="0" tIns="0" rIns="0" bIns="0" anchor="t">
            <a:spAutoFit/>
          </a:bodyPr>
          <a:lstStyle/>
          <a:p>
            <a:pPr algn="l">
              <a:spcBef>
                <a:spcPts val="0"/>
              </a:spcBef>
              <a:spcAft>
                <a:spcPts val="600"/>
              </a:spcAft>
            </a:pPr>
            <a:r>
              <a:rPr sz="1200" b="0" i="0">
                <a:solidFill>
                  <a:srgbClr val="003352"/>
                </a:solidFill>
                <a:latin typeface="Century Gothic"/>
              </a:rPr>
              <a:t>What shows when there is no data at all?</a:t>
            </a:r>
          </a:p>
          <a:p>
            <a:pPr algn="l">
              <a:spcBef>
                <a:spcPts val="0"/>
              </a:spcBef>
              <a:spcAft>
                <a:spcPts val="600"/>
              </a:spcAft>
            </a:pPr>
            <a:r>
              <a:rPr sz="1200" b="0" i="0">
                <a:solidFill>
                  <a:srgbClr val="003352"/>
                </a:solidFill>
                <a:latin typeface="Century Gothic"/>
              </a:rPr>
              <a:t>What happens offline, or when the call times out?</a:t>
            </a:r>
          </a:p>
          <a:p>
            <a:pPr algn="l">
              <a:spcBef>
                <a:spcPts val="0"/>
              </a:spcBef>
              <a:spcAft>
                <a:spcPts val="600"/>
              </a:spcAft>
            </a:pPr>
            <a:r>
              <a:rPr sz="1200" b="0" i="0">
                <a:solidFill>
                  <a:srgbClr val="003352"/>
                </a:solidFill>
                <a:latin typeface="Century Gothic"/>
              </a:rPr>
              <a:t>What does the error message actually say to the user?</a:t>
            </a:r>
          </a:p>
          <a:p>
            <a:pPr algn="l">
              <a:spcBef>
                <a:spcPts val="0"/>
              </a:spcBef>
              <a:spcAft>
                <a:spcPts val="600"/>
              </a:spcAft>
            </a:pPr>
            <a:r>
              <a:rPr sz="1200" b="0" i="0">
                <a:solidFill>
                  <a:srgbClr val="003352"/>
                </a:solidFill>
                <a:latin typeface="Century Gothic"/>
              </a:rPr>
              <a:t>Who is not allowed to see this?</a:t>
            </a:r>
          </a:p>
          <a:p>
            <a:pPr algn="l">
              <a:spcBef>
                <a:spcPts val="0"/>
              </a:spcBef>
              <a:spcAft>
                <a:spcPts val="600"/>
              </a:spcAft>
            </a:pPr>
            <a:r>
              <a:rPr sz="1200" b="0" i="0">
                <a:solidFill>
                  <a:srgbClr val="003352"/>
                </a:solidFill>
                <a:latin typeface="Century Gothic"/>
              </a:rPr>
              <a:t>What happens to records created before this shipped?</a:t>
            </a:r>
          </a:p>
          <a:p>
            <a:pPr algn="l">
              <a:spcBef>
                <a:spcPts val="0"/>
              </a:spcBef>
              <a:spcAft>
                <a:spcPts val="400"/>
              </a:spcAft>
            </a:pPr>
            <a:r>
              <a:rPr sz="1200" b="1" i="0">
                <a:solidFill>
                  <a:srgbClr val="003352"/>
                </a:solidFill>
                <a:latin typeface="Century Gothic"/>
              </a:rPr>
              <a:t>Can the user switch it off?</a:t>
            </a:r>
          </a:p>
        </p:txBody>
      </p:sp>
      <p:sp>
        <p:nvSpPr>
          <p:cNvPr id="11" name="Rounded Rectangle 10"/>
          <p:cNvSpPr/>
          <p:nvPr/>
        </p:nvSpPr>
        <p:spPr>
          <a:xfrm>
            <a:off x="502920" y="5486400"/>
            <a:ext cx="11201400" cy="658368"/>
          </a:xfrm>
          <a:prstGeom prst="roundRect">
            <a:avLst>
              <a:gd name="adj" fmla="val 10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54864" rIns="201168" bIns="54864" rtlCol="0" anchor="ctr"/>
          <a:lstStyle/>
          <a:p>
            <a:r>
              <a:rPr sz="1300" b="1" i="0">
                <a:solidFill>
                  <a:srgbClr val="FFFFFF"/>
                </a:solidFill>
                <a:latin typeface="Century Gothic"/>
              </a:rPr>
              <a:t>WhatsApp shipped blue read receipts in 2014, met a wall of backlash, and added a setting to turn them off. “The user can switch it off” is an acceptance criterion somebody did not write.</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wrap="square"/>
          <a:lstStyle/>
          <a:p>
            <a:r>
              <a:rPr sz="2600" b="1">
                <a:solidFill>
                  <a:srgbClr val="003352"/>
                </a:solidFill>
                <a:latin typeface="Century Gothic"/>
              </a:rPr>
              <a:t>Quiz: which of these are acceptance criteria?</a:t>
            </a:r>
          </a:p>
        </p:txBody>
      </p:sp>
      <p:sp>
        <p:nvSpPr>
          <p:cNvPr id="4" name="Rounded Rectangle 3"/>
          <p:cNvSpPr/>
          <p:nvPr/>
        </p:nvSpPr>
        <p:spPr>
          <a:xfrm>
            <a:off x="502920" y="1371600"/>
            <a:ext cx="2468880" cy="292608"/>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ctr"/>
            <a:r>
              <a:rPr sz="1000" b="1" i="0">
                <a:solidFill>
                  <a:srgbClr val="003352"/>
                </a:solidFill>
                <a:latin typeface="Century Gothic"/>
              </a:rPr>
              <a:t>QUIZ  ·  4 MIN</a:t>
            </a:r>
          </a:p>
        </p:txBody>
      </p:sp>
      <p:sp>
        <p:nvSpPr>
          <p:cNvPr id="5" name="Rounded Rectangle 4"/>
          <p:cNvSpPr/>
          <p:nvPr/>
        </p:nvSpPr>
        <p:spPr>
          <a:xfrm>
            <a:off x="502920" y="1874519"/>
            <a:ext cx="11201400" cy="731520"/>
          </a:xfrm>
          <a:prstGeom prst="roundRect">
            <a:avLst>
              <a:gd name="adj" fmla="val 1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22376" y="1965960"/>
            <a:ext cx="10762488" cy="548640"/>
          </a:xfrm>
          <a:prstGeom prst="rect">
            <a:avLst/>
          </a:prstGeom>
          <a:noFill/>
        </p:spPr>
        <p:txBody>
          <a:bodyPr wrap="square" lIns="0" tIns="0" rIns="0" bIns="0" anchor="t">
            <a:spAutoFit/>
          </a:bodyPr>
          <a:lstStyle/>
          <a:p>
            <a:pPr algn="l">
              <a:spcBef>
                <a:spcPts val="0"/>
              </a:spcBef>
              <a:spcAft>
                <a:spcPts val="200"/>
              </a:spcAft>
            </a:pPr>
            <a:r>
              <a:rPr sz="1000" b="1" i="0">
                <a:solidFill>
                  <a:srgbClr val="003352"/>
                </a:solidFill>
                <a:latin typeface="Century Gothic"/>
              </a:rPr>
              <a:t>THE STORY</a:t>
            </a:r>
          </a:p>
          <a:p>
            <a:pPr algn="l">
              <a:spcBef>
                <a:spcPts val="0"/>
              </a:spcBef>
              <a:spcAft>
                <a:spcPts val="400"/>
              </a:spcAft>
            </a:pPr>
            <a:r>
              <a:rPr sz="1250" b="1" i="0">
                <a:solidFill>
                  <a:srgbClr val="003352"/>
                </a:solidFill>
                <a:latin typeface="Century Gothic"/>
              </a:rPr>
              <a:t>As a customer paying by UPI, I want to know immediately whether my payment succeeded, so that I do not end up paying twice.</a:t>
            </a:r>
          </a:p>
        </p:txBody>
      </p:sp>
      <p:sp>
        <p:nvSpPr>
          <p:cNvPr id="7" name="Rounded Rectangle 6"/>
          <p:cNvSpPr/>
          <p:nvPr/>
        </p:nvSpPr>
        <p:spPr>
          <a:xfrm>
            <a:off x="502920" y="2770632"/>
            <a:ext cx="5472684" cy="640080"/>
          </a:xfrm>
          <a:prstGeom prst="roundRect">
            <a:avLst>
              <a:gd name="adj" fmla="val 10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649224" y="2926079"/>
            <a:ext cx="329184" cy="329184"/>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i="0">
                <a:solidFill>
                  <a:srgbClr val="63E7A4"/>
                </a:solidFill>
                <a:latin typeface="Century Gothic"/>
              </a:rPr>
              <a:t>1</a:t>
            </a:r>
          </a:p>
        </p:txBody>
      </p:sp>
      <p:sp>
        <p:nvSpPr>
          <p:cNvPr id="9" name="TextBox 8"/>
          <p:cNvSpPr txBox="1"/>
          <p:nvPr/>
        </p:nvSpPr>
        <p:spPr>
          <a:xfrm>
            <a:off x="1106424" y="2816351"/>
            <a:ext cx="3735324" cy="548640"/>
          </a:xfrm>
          <a:prstGeom prst="rect">
            <a:avLst/>
          </a:prstGeom>
          <a:noFill/>
        </p:spPr>
        <p:txBody>
          <a:bodyPr wrap="square" lIns="0" tIns="0" rIns="0" bIns="0" anchor="ctr">
            <a:spAutoFit/>
          </a:bodyPr>
          <a:lstStyle/>
          <a:p>
            <a:pPr algn="l">
              <a:spcBef>
                <a:spcPts val="0"/>
              </a:spcBef>
              <a:spcAft>
                <a:spcPts val="400"/>
              </a:spcAft>
            </a:pPr>
            <a:r>
              <a:rPr sz="1150" b="0" i="0">
                <a:solidFill>
                  <a:srgbClr val="003352"/>
                </a:solidFill>
                <a:latin typeface="Century Gothic"/>
              </a:rPr>
              <a:t>The payment status appears within 5 seconds of the customer confirming.</a:t>
            </a:r>
          </a:p>
        </p:txBody>
      </p:sp>
      <p:sp>
        <p:nvSpPr>
          <p:cNvPr id="10" name="Rounded Rectangle 9"/>
          <p:cNvSpPr/>
          <p:nvPr/>
        </p:nvSpPr>
        <p:spPr>
          <a:xfrm>
            <a:off x="4960620" y="2907791"/>
            <a:ext cx="868680" cy="365760"/>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536B7A"/>
                </a:solidFill>
                <a:latin typeface="Century Gothic"/>
              </a:rPr>
              <a:t>✓ / ✗</a:t>
            </a:r>
          </a:p>
        </p:txBody>
      </p:sp>
      <p:sp>
        <p:nvSpPr>
          <p:cNvPr id="11" name="Rounded Rectangle 10"/>
          <p:cNvSpPr/>
          <p:nvPr/>
        </p:nvSpPr>
        <p:spPr>
          <a:xfrm>
            <a:off x="502920" y="3502152"/>
            <a:ext cx="5472684" cy="640080"/>
          </a:xfrm>
          <a:prstGeom prst="roundRect">
            <a:avLst>
              <a:gd name="adj" fmla="val 10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649224" y="3657600"/>
            <a:ext cx="329184" cy="329184"/>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i="0">
                <a:solidFill>
                  <a:srgbClr val="63E7A4"/>
                </a:solidFill>
                <a:latin typeface="Century Gothic"/>
              </a:rPr>
              <a:t>2</a:t>
            </a:r>
          </a:p>
        </p:txBody>
      </p:sp>
      <p:sp>
        <p:nvSpPr>
          <p:cNvPr id="13" name="TextBox 12"/>
          <p:cNvSpPr txBox="1"/>
          <p:nvPr/>
        </p:nvSpPr>
        <p:spPr>
          <a:xfrm>
            <a:off x="1106424" y="3547872"/>
            <a:ext cx="3735324" cy="548640"/>
          </a:xfrm>
          <a:prstGeom prst="rect">
            <a:avLst/>
          </a:prstGeom>
          <a:noFill/>
        </p:spPr>
        <p:txBody>
          <a:bodyPr wrap="square" lIns="0" tIns="0" rIns="0" bIns="0" anchor="ctr">
            <a:spAutoFit/>
          </a:bodyPr>
          <a:lstStyle/>
          <a:p>
            <a:pPr algn="l">
              <a:spcBef>
                <a:spcPts val="0"/>
              </a:spcBef>
              <a:spcAft>
                <a:spcPts val="400"/>
              </a:spcAft>
            </a:pPr>
            <a:r>
              <a:rPr sz="1150" b="0" i="0">
                <a:solidFill>
                  <a:srgbClr val="003352"/>
                </a:solidFill>
                <a:latin typeface="Century Gothic"/>
              </a:rPr>
              <a:t>Use Redis to cache the payment status lookup.</a:t>
            </a:r>
          </a:p>
        </p:txBody>
      </p:sp>
      <p:sp>
        <p:nvSpPr>
          <p:cNvPr id="14" name="Rounded Rectangle 13"/>
          <p:cNvSpPr/>
          <p:nvPr/>
        </p:nvSpPr>
        <p:spPr>
          <a:xfrm>
            <a:off x="4960620" y="3639312"/>
            <a:ext cx="868680" cy="365760"/>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536B7A"/>
                </a:solidFill>
                <a:latin typeface="Century Gothic"/>
              </a:rPr>
              <a:t>✓ / ✗</a:t>
            </a:r>
          </a:p>
        </p:txBody>
      </p:sp>
      <p:sp>
        <p:nvSpPr>
          <p:cNvPr id="15" name="Rounded Rectangle 14"/>
          <p:cNvSpPr/>
          <p:nvPr/>
        </p:nvSpPr>
        <p:spPr>
          <a:xfrm>
            <a:off x="502920" y="4233672"/>
            <a:ext cx="5472684" cy="640080"/>
          </a:xfrm>
          <a:prstGeom prst="roundRect">
            <a:avLst>
              <a:gd name="adj" fmla="val 10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649224" y="4389120"/>
            <a:ext cx="329184" cy="329184"/>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i="0">
                <a:solidFill>
                  <a:srgbClr val="63E7A4"/>
                </a:solidFill>
                <a:latin typeface="Century Gothic"/>
              </a:rPr>
              <a:t>3</a:t>
            </a:r>
          </a:p>
        </p:txBody>
      </p:sp>
      <p:sp>
        <p:nvSpPr>
          <p:cNvPr id="17" name="TextBox 16"/>
          <p:cNvSpPr txBox="1"/>
          <p:nvPr/>
        </p:nvSpPr>
        <p:spPr>
          <a:xfrm>
            <a:off x="1106424" y="4279392"/>
            <a:ext cx="3735324" cy="548640"/>
          </a:xfrm>
          <a:prstGeom prst="rect">
            <a:avLst/>
          </a:prstGeom>
          <a:noFill/>
        </p:spPr>
        <p:txBody>
          <a:bodyPr wrap="square" lIns="0" tIns="0" rIns="0" bIns="0" anchor="ctr">
            <a:spAutoFit/>
          </a:bodyPr>
          <a:lstStyle/>
          <a:p>
            <a:pPr algn="l">
              <a:spcBef>
                <a:spcPts val="0"/>
              </a:spcBef>
              <a:spcAft>
                <a:spcPts val="400"/>
              </a:spcAft>
            </a:pPr>
            <a:r>
              <a:rPr sz="1150" b="0" i="0">
                <a:solidFill>
                  <a:srgbClr val="003352"/>
                </a:solidFill>
                <a:latin typeface="Century Gothic"/>
              </a:rPr>
              <a:t>If the gateway has not answered in 30 seconds, the customer sees “still checking”, never “failed”.</a:t>
            </a:r>
          </a:p>
        </p:txBody>
      </p:sp>
      <p:sp>
        <p:nvSpPr>
          <p:cNvPr id="18" name="Rounded Rectangle 17"/>
          <p:cNvSpPr/>
          <p:nvPr/>
        </p:nvSpPr>
        <p:spPr>
          <a:xfrm>
            <a:off x="4960620" y="4370832"/>
            <a:ext cx="868680" cy="365760"/>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536B7A"/>
                </a:solidFill>
                <a:latin typeface="Century Gothic"/>
              </a:rPr>
              <a:t>✓ / ✗</a:t>
            </a:r>
          </a:p>
        </p:txBody>
      </p:sp>
      <p:sp>
        <p:nvSpPr>
          <p:cNvPr id="19" name="Rounded Rectangle 18"/>
          <p:cNvSpPr/>
          <p:nvPr/>
        </p:nvSpPr>
        <p:spPr>
          <a:xfrm>
            <a:off x="6231636" y="2770632"/>
            <a:ext cx="5472684" cy="640080"/>
          </a:xfrm>
          <a:prstGeom prst="roundRect">
            <a:avLst>
              <a:gd name="adj" fmla="val 10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6377940" y="2926079"/>
            <a:ext cx="329184" cy="329184"/>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i="0">
                <a:solidFill>
                  <a:srgbClr val="63E7A4"/>
                </a:solidFill>
                <a:latin typeface="Century Gothic"/>
              </a:rPr>
              <a:t>4</a:t>
            </a:r>
          </a:p>
        </p:txBody>
      </p:sp>
      <p:sp>
        <p:nvSpPr>
          <p:cNvPr id="21" name="TextBox 20"/>
          <p:cNvSpPr txBox="1"/>
          <p:nvPr/>
        </p:nvSpPr>
        <p:spPr>
          <a:xfrm>
            <a:off x="6835140" y="2816351"/>
            <a:ext cx="3735324" cy="548640"/>
          </a:xfrm>
          <a:prstGeom prst="rect">
            <a:avLst/>
          </a:prstGeom>
          <a:noFill/>
        </p:spPr>
        <p:txBody>
          <a:bodyPr wrap="square" lIns="0" tIns="0" rIns="0" bIns="0" anchor="ctr">
            <a:spAutoFit/>
          </a:bodyPr>
          <a:lstStyle/>
          <a:p>
            <a:pPr algn="l">
              <a:spcBef>
                <a:spcPts val="0"/>
              </a:spcBef>
              <a:spcAft>
                <a:spcPts val="400"/>
              </a:spcAft>
            </a:pPr>
            <a:r>
              <a:rPr sz="1150" b="0" i="0">
                <a:solidFill>
                  <a:srgbClr val="003352"/>
                </a:solidFill>
                <a:latin typeface="Century Gothic"/>
              </a:rPr>
              <a:t>The feature should be user-friendly and intuitive.</a:t>
            </a:r>
          </a:p>
        </p:txBody>
      </p:sp>
      <p:sp>
        <p:nvSpPr>
          <p:cNvPr id="22" name="Rounded Rectangle 21"/>
          <p:cNvSpPr/>
          <p:nvPr/>
        </p:nvSpPr>
        <p:spPr>
          <a:xfrm>
            <a:off x="10689336" y="2907791"/>
            <a:ext cx="868680" cy="365760"/>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536B7A"/>
                </a:solidFill>
                <a:latin typeface="Century Gothic"/>
              </a:rPr>
              <a:t>✓ / ✗</a:t>
            </a:r>
          </a:p>
        </p:txBody>
      </p:sp>
      <p:sp>
        <p:nvSpPr>
          <p:cNvPr id="23" name="Rounded Rectangle 22"/>
          <p:cNvSpPr/>
          <p:nvPr/>
        </p:nvSpPr>
        <p:spPr>
          <a:xfrm>
            <a:off x="6231636" y="3502152"/>
            <a:ext cx="5472684" cy="640080"/>
          </a:xfrm>
          <a:prstGeom prst="roundRect">
            <a:avLst>
              <a:gd name="adj" fmla="val 10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6377940" y="3657600"/>
            <a:ext cx="329184" cy="329184"/>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i="0">
                <a:solidFill>
                  <a:srgbClr val="63E7A4"/>
                </a:solidFill>
                <a:latin typeface="Century Gothic"/>
              </a:rPr>
              <a:t>5</a:t>
            </a:r>
          </a:p>
        </p:txBody>
      </p:sp>
      <p:sp>
        <p:nvSpPr>
          <p:cNvPr id="25" name="TextBox 24"/>
          <p:cNvSpPr txBox="1"/>
          <p:nvPr/>
        </p:nvSpPr>
        <p:spPr>
          <a:xfrm>
            <a:off x="6835140" y="3547872"/>
            <a:ext cx="3735324" cy="548640"/>
          </a:xfrm>
          <a:prstGeom prst="rect">
            <a:avLst/>
          </a:prstGeom>
          <a:noFill/>
        </p:spPr>
        <p:txBody>
          <a:bodyPr wrap="square" lIns="0" tIns="0" rIns="0" bIns="0" anchor="ctr">
            <a:spAutoFit/>
          </a:bodyPr>
          <a:lstStyle/>
          <a:p>
            <a:pPr algn="l">
              <a:spcBef>
                <a:spcPts val="0"/>
              </a:spcBef>
              <a:spcAft>
                <a:spcPts val="400"/>
              </a:spcAft>
            </a:pPr>
            <a:r>
              <a:rPr sz="1150" b="0" i="0">
                <a:solidFill>
                  <a:srgbClr val="003352"/>
                </a:solidFill>
                <a:latin typeface="Century Gothic"/>
              </a:rPr>
              <a:t>A failed payment shows the bank reference number and a retry button.</a:t>
            </a:r>
          </a:p>
        </p:txBody>
      </p:sp>
      <p:sp>
        <p:nvSpPr>
          <p:cNvPr id="26" name="Rounded Rectangle 25"/>
          <p:cNvSpPr/>
          <p:nvPr/>
        </p:nvSpPr>
        <p:spPr>
          <a:xfrm>
            <a:off x="10689336" y="3639312"/>
            <a:ext cx="868680" cy="365760"/>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536B7A"/>
                </a:solidFill>
                <a:latin typeface="Century Gothic"/>
              </a:rPr>
              <a:t>✓ / ✗</a:t>
            </a:r>
          </a:p>
        </p:txBody>
      </p:sp>
      <p:sp>
        <p:nvSpPr>
          <p:cNvPr id="27" name="Rounded Rectangle 26"/>
          <p:cNvSpPr/>
          <p:nvPr/>
        </p:nvSpPr>
        <p:spPr>
          <a:xfrm>
            <a:off x="6231636" y="4233672"/>
            <a:ext cx="5472684" cy="640080"/>
          </a:xfrm>
          <a:prstGeom prst="roundRect">
            <a:avLst>
              <a:gd name="adj" fmla="val 10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6377940" y="4389120"/>
            <a:ext cx="329184" cy="329184"/>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i="0">
                <a:solidFill>
                  <a:srgbClr val="63E7A4"/>
                </a:solidFill>
                <a:latin typeface="Century Gothic"/>
              </a:rPr>
              <a:t>6</a:t>
            </a:r>
          </a:p>
        </p:txBody>
      </p:sp>
      <p:sp>
        <p:nvSpPr>
          <p:cNvPr id="29" name="TextBox 28"/>
          <p:cNvSpPr txBox="1"/>
          <p:nvPr/>
        </p:nvSpPr>
        <p:spPr>
          <a:xfrm>
            <a:off x="6835140" y="4279392"/>
            <a:ext cx="3735324" cy="548640"/>
          </a:xfrm>
          <a:prstGeom prst="rect">
            <a:avLst/>
          </a:prstGeom>
          <a:noFill/>
        </p:spPr>
        <p:txBody>
          <a:bodyPr wrap="square" lIns="0" tIns="0" rIns="0" bIns="0" anchor="ctr">
            <a:spAutoFit/>
          </a:bodyPr>
          <a:lstStyle/>
          <a:p>
            <a:pPr algn="l">
              <a:spcBef>
                <a:spcPts val="0"/>
              </a:spcBef>
              <a:spcAft>
                <a:spcPts val="400"/>
              </a:spcAft>
            </a:pPr>
            <a:r>
              <a:rPr sz="1150" b="0" i="0">
                <a:solidFill>
                  <a:srgbClr val="003352"/>
                </a:solidFill>
                <a:latin typeface="Century Gothic"/>
              </a:rPr>
              <a:t>Handle all the edge cases properly.</a:t>
            </a:r>
          </a:p>
        </p:txBody>
      </p:sp>
      <p:sp>
        <p:nvSpPr>
          <p:cNvPr id="30" name="Rounded Rectangle 29"/>
          <p:cNvSpPr/>
          <p:nvPr/>
        </p:nvSpPr>
        <p:spPr>
          <a:xfrm>
            <a:off x="10689336" y="4370832"/>
            <a:ext cx="868680" cy="365760"/>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536B7A"/>
                </a:solidFill>
                <a:latin typeface="Century Gothic"/>
              </a:rPr>
              <a:t>✓ / ✗</a:t>
            </a:r>
          </a:p>
        </p:txBody>
      </p:sp>
      <p:sp>
        <p:nvSpPr>
          <p:cNvPr id="31" name="Rounded Rectangle 30"/>
          <p:cNvSpPr/>
          <p:nvPr/>
        </p:nvSpPr>
        <p:spPr>
          <a:xfrm>
            <a:off x="502920" y="5486400"/>
            <a:ext cx="11201400" cy="658368"/>
          </a:xfrm>
          <a:prstGeom prst="roundRect">
            <a:avLst>
              <a:gd name="adj" fmla="val 10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54864" rIns="201168" bIns="54864" rtlCol="0" anchor="ctr"/>
          <a:lstStyle/>
          <a:p>
            <a:r>
              <a:rPr sz="1300" b="1" i="0">
                <a:solidFill>
                  <a:srgbClr val="FFFFFF"/>
                </a:solidFill>
                <a:latin typeface="Century Gothic"/>
              </a:rPr>
              <a:t>A criterion you cannot write a test for is not a criterion. One of these tells engineering how to build it, and two of them say nothing at all.</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D8BE7D0-BA71-270D-4402-7A0184D0C51F}"/>
              </a:ext>
            </a:extLst>
          </p:cNvPr>
          <p:cNvSpPr>
            <a:spLocks noGrp="1"/>
          </p:cNvSpPr>
          <p:nvPr>
            <p:ph idx="1"/>
          </p:nvPr>
        </p:nvSpPr>
        <p:spPr/>
        <p:txBody>
          <a:bodyPr>
            <a:normAutofit lnSpcReduction="10000"/>
          </a:bodyPr>
          <a:lstStyle/>
          <a:p>
            <a:r>
              <a:rPr lang="en-IN" b="1" dirty="0"/>
              <a:t>What is Prioritization?</a:t>
            </a:r>
          </a:p>
          <a:p>
            <a:endParaRPr lang="en-IN" dirty="0"/>
          </a:p>
          <a:p>
            <a:r>
              <a:rPr lang="en-US" b="1" dirty="0"/>
              <a:t>Prioritization</a:t>
            </a:r>
            <a:r>
              <a:rPr lang="en-US" dirty="0"/>
              <a:t> is the process of deciding </a:t>
            </a:r>
            <a:r>
              <a:rPr lang="en-US" b="1" dirty="0"/>
              <a:t>what should be built first, what can wait, and what should not be built at all.</a:t>
            </a:r>
          </a:p>
          <a:p>
            <a:endParaRPr lang="en-US" dirty="0"/>
          </a:p>
          <a:p>
            <a:r>
              <a:rPr lang="en-US" dirty="0"/>
              <a:t>Every product team has:</a:t>
            </a:r>
          </a:p>
          <a:p>
            <a:pPr>
              <a:buFont typeface="Arial" panose="020B0604020202020204" pitchFamily="34" charset="0"/>
              <a:buChar char="•"/>
            </a:pPr>
            <a:r>
              <a:rPr lang="en-US" dirty="0"/>
              <a:t>More ideas than time </a:t>
            </a:r>
          </a:p>
          <a:p>
            <a:pPr>
              <a:buFont typeface="Arial" panose="020B0604020202020204" pitchFamily="34" charset="0"/>
              <a:buChar char="•"/>
            </a:pPr>
            <a:r>
              <a:rPr lang="en-US" dirty="0"/>
              <a:t>More customer requests than engineering capacity </a:t>
            </a:r>
          </a:p>
          <a:p>
            <a:pPr>
              <a:buFont typeface="Arial" panose="020B0604020202020204" pitchFamily="34" charset="0"/>
              <a:buChar char="•"/>
            </a:pPr>
            <a:r>
              <a:rPr lang="en-US" dirty="0"/>
              <a:t>Limited budget and resources </a:t>
            </a:r>
          </a:p>
          <a:p>
            <a:r>
              <a:rPr lang="en-US" dirty="0"/>
              <a:t>A Product Manager's job is </a:t>
            </a:r>
            <a:r>
              <a:rPr lang="en-US" b="1" dirty="0"/>
              <a:t>not to say "yes" to every request, but to decide which work delivers the greatest value.</a:t>
            </a:r>
            <a:endParaRPr lang="en-US" dirty="0"/>
          </a:p>
          <a:p>
            <a:endParaRPr lang="en-IN" dirty="0"/>
          </a:p>
        </p:txBody>
      </p:sp>
      <p:sp>
        <p:nvSpPr>
          <p:cNvPr id="3" name="Content Placeholder 2">
            <a:extLst>
              <a:ext uri="{FF2B5EF4-FFF2-40B4-BE49-F238E27FC236}">
                <a16:creationId xmlns:a16="http://schemas.microsoft.com/office/drawing/2014/main" id="{7BB992BF-F529-8EDC-A47A-17C77BD4FEC6}"/>
              </a:ext>
            </a:extLst>
          </p:cNvPr>
          <p:cNvSpPr>
            <a:spLocks noGrp="1"/>
          </p:cNvSpPr>
          <p:nvPr>
            <p:ph sz="quarter" idx="10"/>
          </p:nvPr>
        </p:nvSpPr>
        <p:spPr/>
        <p:txBody>
          <a:bodyPr/>
          <a:lstStyle/>
          <a:p>
            <a:r>
              <a:rPr lang="en-IN" b="1" dirty="0"/>
              <a:t>Prioritization Techniques</a:t>
            </a:r>
          </a:p>
          <a:p>
            <a:endParaRPr lang="en-IN" dirty="0"/>
          </a:p>
        </p:txBody>
      </p:sp>
    </p:spTree>
    <p:extLst>
      <p:ext uri="{BB962C8B-B14F-4D97-AF65-F5344CB8AC3E}">
        <p14:creationId xmlns:p14="http://schemas.microsoft.com/office/powerpoint/2010/main" val="19619605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088263F-39CD-A822-00CE-628C999189F3}"/>
              </a:ext>
            </a:extLst>
          </p:cNvPr>
          <p:cNvSpPr>
            <a:spLocks noGrp="1"/>
          </p:cNvSpPr>
          <p:nvPr>
            <p:ph idx="1"/>
          </p:nvPr>
        </p:nvSpPr>
        <p:spPr/>
        <p:txBody>
          <a:bodyPr/>
          <a:lstStyle/>
          <a:p>
            <a:r>
              <a:rPr lang="en-US" dirty="0"/>
              <a:t>Imagine your engineering team can complete </a:t>
            </a:r>
            <a:r>
              <a:rPr lang="en-US" b="1" dirty="0"/>
              <a:t>10 features</a:t>
            </a:r>
            <a:r>
              <a:rPr lang="en-US" dirty="0"/>
              <a:t> in the next quarter, but customers request </a:t>
            </a:r>
            <a:r>
              <a:rPr lang="en-US" b="1" dirty="0"/>
              <a:t>50 features</a:t>
            </a:r>
            <a:r>
              <a:rPr lang="en-US" dirty="0"/>
              <a:t>.</a:t>
            </a:r>
          </a:p>
          <a:p>
            <a:r>
              <a:rPr lang="en-US" dirty="0"/>
              <a:t>Without prioritization:</a:t>
            </a:r>
          </a:p>
          <a:p>
            <a:pPr>
              <a:buFont typeface="Arial" panose="020B0604020202020204" pitchFamily="34" charset="0"/>
              <a:buChar char="•"/>
            </a:pPr>
            <a:r>
              <a:rPr lang="en-US" dirty="0"/>
              <a:t>Engineers work on low-value features. </a:t>
            </a:r>
          </a:p>
          <a:p>
            <a:pPr>
              <a:buFont typeface="Arial" panose="020B0604020202020204" pitchFamily="34" charset="0"/>
              <a:buChar char="•"/>
            </a:pPr>
            <a:r>
              <a:rPr lang="en-US" dirty="0"/>
              <a:t>Important customer problems remain unsolved. </a:t>
            </a:r>
          </a:p>
          <a:p>
            <a:pPr>
              <a:buFont typeface="Arial" panose="020B0604020202020204" pitchFamily="34" charset="0"/>
              <a:buChar char="•"/>
            </a:pPr>
            <a:r>
              <a:rPr lang="en-US" dirty="0"/>
              <a:t>Releases become delayed. </a:t>
            </a:r>
          </a:p>
          <a:p>
            <a:pPr>
              <a:buFont typeface="Arial" panose="020B0604020202020204" pitchFamily="34" charset="0"/>
              <a:buChar char="•"/>
            </a:pPr>
            <a:r>
              <a:rPr lang="en-US" dirty="0"/>
              <a:t>Resources are wasted. </a:t>
            </a:r>
          </a:p>
          <a:p>
            <a:r>
              <a:rPr lang="en-US" dirty="0"/>
              <a:t>With prioritization:</a:t>
            </a:r>
          </a:p>
          <a:p>
            <a:pPr>
              <a:buFont typeface="Arial" panose="020B0604020202020204" pitchFamily="34" charset="0"/>
              <a:buChar char="•"/>
            </a:pPr>
            <a:r>
              <a:rPr lang="en-US" dirty="0"/>
              <a:t>The team focuses on the features that create the biggest impact. </a:t>
            </a:r>
          </a:p>
          <a:p>
            <a:endParaRPr lang="en-IN" dirty="0"/>
          </a:p>
        </p:txBody>
      </p:sp>
      <p:sp>
        <p:nvSpPr>
          <p:cNvPr id="3" name="Content Placeholder 2">
            <a:extLst>
              <a:ext uri="{FF2B5EF4-FFF2-40B4-BE49-F238E27FC236}">
                <a16:creationId xmlns:a16="http://schemas.microsoft.com/office/drawing/2014/main" id="{8CB99362-BAD3-F5AA-BA28-F01379EE6193}"/>
              </a:ext>
            </a:extLst>
          </p:cNvPr>
          <p:cNvSpPr>
            <a:spLocks noGrp="1"/>
          </p:cNvSpPr>
          <p:nvPr>
            <p:ph sz="quarter" idx="10"/>
          </p:nvPr>
        </p:nvSpPr>
        <p:spPr/>
        <p:txBody>
          <a:bodyPr/>
          <a:lstStyle/>
          <a:p>
            <a:r>
              <a:rPr lang="en-IN" b="1" dirty="0"/>
              <a:t>Why is Prioritization Important?</a:t>
            </a:r>
          </a:p>
          <a:p>
            <a:endParaRPr lang="en-IN" dirty="0"/>
          </a:p>
        </p:txBody>
      </p:sp>
    </p:spTree>
    <p:extLst>
      <p:ext uri="{BB962C8B-B14F-4D97-AF65-F5344CB8AC3E}">
        <p14:creationId xmlns:p14="http://schemas.microsoft.com/office/powerpoint/2010/main" val="102692671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wrap="square"/>
          <a:lstStyle/>
          <a:p>
            <a:r>
              <a:rPr sz="2600" b="1">
                <a:solidFill>
                  <a:srgbClr val="003352"/>
                </a:solidFill>
                <a:latin typeface="Century Gothic"/>
              </a:rPr>
              <a:t>Your quarter: eight asks, ten dev-weeks</a:t>
            </a:r>
          </a:p>
        </p:txBody>
      </p:sp>
      <p:sp>
        <p:nvSpPr>
          <p:cNvPr id="4" name="Rounded Rectangle 3"/>
          <p:cNvSpPr/>
          <p:nvPr/>
        </p:nvSpPr>
        <p:spPr>
          <a:xfrm>
            <a:off x="502920" y="1371600"/>
            <a:ext cx="5394960" cy="292608"/>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ctr"/>
            <a:r>
              <a:rPr sz="1000" b="1" i="0">
                <a:solidFill>
                  <a:srgbClr val="003352"/>
                </a:solidFill>
                <a:latin typeface="Century Gothic"/>
              </a:rPr>
              <a:t>EXERCISE  ·  8 MIN  ·  GROUPS OF 4</a:t>
            </a:r>
          </a:p>
        </p:txBody>
      </p:sp>
      <p:graphicFrame>
        <p:nvGraphicFramePr>
          <p:cNvPr id="5" name="Table 4"/>
          <p:cNvGraphicFramePr>
            <a:graphicFrameLocks noGrp="1"/>
          </p:cNvGraphicFramePr>
          <p:nvPr/>
        </p:nvGraphicFramePr>
        <p:xfrm>
          <a:off x="502920" y="1874519"/>
          <a:ext cx="11201400" cy="2798064"/>
        </p:xfrm>
        <a:graphic>
          <a:graphicData uri="http://schemas.openxmlformats.org/drawingml/2006/table">
            <a:tbl>
              <a:tblPr>
                <a:tableStyleId>{5C22544A-7EE6-4342-B048-85BDC9FD1C3A}</a:tableStyleId>
              </a:tblPr>
              <a:tblGrid>
                <a:gridCol w="466344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5212080">
                  <a:extLst>
                    <a:ext uri="{9D8B030D-6E8A-4147-A177-3AD203B41FA5}">
                      <a16:colId xmlns:a16="http://schemas.microsoft.com/office/drawing/2014/main" val="20002"/>
                    </a:ext>
                  </a:extLst>
                </a:gridCol>
              </a:tblGrid>
              <a:tr h="310896">
                <a:tc>
                  <a:txBody>
                    <a:bodyPr/>
                    <a:lstStyle/>
                    <a:p>
                      <a:pPr>
                        <a:spcAft>
                          <a:spcPts val="0"/>
                        </a:spcAft>
                      </a:pPr>
                      <a:r>
                        <a:rPr sz="1100" b="1" i="0">
                          <a:solidFill>
                            <a:srgbClr val="FFFFFF"/>
                          </a:solidFill>
                          <a:latin typeface="Century Gothic"/>
                        </a:rPr>
                        <a:t>Request</a:t>
                      </a:r>
                    </a:p>
                  </a:txBody>
                  <a:tcPr marL="109728" marT="36576" marB="36576" anchor="ctr">
                    <a:solidFill>
                      <a:srgbClr val="003352"/>
                    </a:solidFill>
                  </a:tcPr>
                </a:tc>
                <a:tc>
                  <a:txBody>
                    <a:bodyPr/>
                    <a:lstStyle/>
                    <a:p>
                      <a:pPr>
                        <a:spcAft>
                          <a:spcPts val="0"/>
                        </a:spcAft>
                      </a:pPr>
                      <a:r>
                        <a:rPr sz="1100" b="1" i="0">
                          <a:solidFill>
                            <a:srgbClr val="FFFFFF"/>
                          </a:solidFill>
                          <a:latin typeface="Century Gothic"/>
                        </a:rPr>
                        <a:t>Effort</a:t>
                      </a:r>
                    </a:p>
                  </a:txBody>
                  <a:tcPr marL="109728" marT="36576" marB="36576" anchor="ctr">
                    <a:solidFill>
                      <a:srgbClr val="003352"/>
                    </a:solidFill>
                  </a:tcPr>
                </a:tc>
                <a:tc>
                  <a:txBody>
                    <a:bodyPr/>
                    <a:lstStyle/>
                    <a:p>
                      <a:pPr>
                        <a:spcAft>
                          <a:spcPts val="0"/>
                        </a:spcAft>
                      </a:pPr>
                      <a:r>
                        <a:rPr sz="1100" b="1" i="0">
                          <a:solidFill>
                            <a:srgbClr val="FFFFFF"/>
                          </a:solidFill>
                          <a:latin typeface="Century Gothic"/>
                        </a:rPr>
                        <a:t>Who is asking, and why</a:t>
                      </a:r>
                    </a:p>
                  </a:txBody>
                  <a:tcPr marL="109728" marT="36576" marB="36576" anchor="ctr">
                    <a:solidFill>
                      <a:srgbClr val="003352"/>
                    </a:solidFill>
                  </a:tcPr>
                </a:tc>
                <a:extLst>
                  <a:ext uri="{0D108BD9-81ED-4DB2-BD59-A6C34878D82A}">
                    <a16:rowId xmlns:a16="http://schemas.microsoft.com/office/drawing/2014/main" val="10000"/>
                  </a:ext>
                </a:extLst>
              </a:tr>
              <a:tr h="310896">
                <a:tc>
                  <a:txBody>
                    <a:bodyPr/>
                    <a:lstStyle/>
                    <a:p>
                      <a:pPr>
                        <a:spcAft>
                          <a:spcPts val="0"/>
                        </a:spcAft>
                      </a:pPr>
                      <a:r>
                        <a:rPr sz="1100" b="0" i="0">
                          <a:solidFill>
                            <a:srgbClr val="003352"/>
                          </a:solidFill>
                          <a:latin typeface="Century Gothic"/>
                        </a:rPr>
                        <a:t>Checkout crashes on Android 12</a:t>
                      </a:r>
                    </a:p>
                  </a:txBody>
                  <a:tcPr marL="109728" marT="36576" marB="36576" anchor="ctr">
                    <a:solidFill>
                      <a:srgbClr val="FFFFFF"/>
                    </a:solidFill>
                  </a:tcPr>
                </a:tc>
                <a:tc>
                  <a:txBody>
                    <a:bodyPr/>
                    <a:lstStyle/>
                    <a:p>
                      <a:pPr>
                        <a:spcAft>
                          <a:spcPts val="0"/>
                        </a:spcAft>
                      </a:pPr>
                      <a:r>
                        <a:rPr sz="1100" b="0" i="0">
                          <a:solidFill>
                            <a:srgbClr val="003352"/>
                          </a:solidFill>
                          <a:latin typeface="Century Gothic"/>
                        </a:rPr>
                        <a:t>1 wk</a:t>
                      </a:r>
                    </a:p>
                  </a:txBody>
                  <a:tcPr marL="109728" marT="36576" marB="36576" anchor="ctr">
                    <a:solidFill>
                      <a:srgbClr val="FFFFFF"/>
                    </a:solidFill>
                  </a:tcPr>
                </a:tc>
                <a:tc>
                  <a:txBody>
                    <a:bodyPr/>
                    <a:lstStyle/>
                    <a:p>
                      <a:pPr>
                        <a:spcAft>
                          <a:spcPts val="0"/>
                        </a:spcAft>
                      </a:pPr>
                      <a:r>
                        <a:rPr sz="1100" b="0" i="0">
                          <a:solidFill>
                            <a:srgbClr val="003352"/>
                          </a:solidFill>
                          <a:latin typeface="Century Gothic"/>
                        </a:rPr>
                        <a:t>4% of all orders are failing</a:t>
                      </a:r>
                    </a:p>
                  </a:txBody>
                  <a:tcPr marL="109728" marT="36576" marB="36576" anchor="ctr">
                    <a:solidFill>
                      <a:srgbClr val="FFFFFF"/>
                    </a:solidFill>
                  </a:tcPr>
                </a:tc>
                <a:extLst>
                  <a:ext uri="{0D108BD9-81ED-4DB2-BD59-A6C34878D82A}">
                    <a16:rowId xmlns:a16="http://schemas.microsoft.com/office/drawing/2014/main" val="10001"/>
                  </a:ext>
                </a:extLst>
              </a:tr>
              <a:tr h="310896">
                <a:tc>
                  <a:txBody>
                    <a:bodyPr/>
                    <a:lstStyle/>
                    <a:p>
                      <a:pPr>
                        <a:spcAft>
                          <a:spcPts val="0"/>
                        </a:spcAft>
                      </a:pPr>
                      <a:r>
                        <a:rPr sz="1100" b="0" i="0">
                          <a:solidFill>
                            <a:srgbClr val="003352"/>
                          </a:solidFill>
                          <a:latin typeface="Century Gothic"/>
                        </a:rPr>
                        <a:t>Bulk CSV upload</a:t>
                      </a:r>
                    </a:p>
                  </a:txBody>
                  <a:tcPr marL="109728" marT="36576" marB="36576" anchor="ctr">
                    <a:solidFill>
                      <a:srgbClr val="E9F0F4"/>
                    </a:solidFill>
                  </a:tcPr>
                </a:tc>
                <a:tc>
                  <a:txBody>
                    <a:bodyPr/>
                    <a:lstStyle/>
                    <a:p>
                      <a:pPr>
                        <a:spcAft>
                          <a:spcPts val="0"/>
                        </a:spcAft>
                      </a:pPr>
                      <a:r>
                        <a:rPr sz="1100" b="0" i="0">
                          <a:solidFill>
                            <a:srgbClr val="003352"/>
                          </a:solidFill>
                          <a:latin typeface="Century Gothic"/>
                        </a:rPr>
                        <a:t>3 wk</a:t>
                      </a:r>
                    </a:p>
                  </a:txBody>
                  <a:tcPr marL="109728" marT="36576" marB="36576" anchor="ctr">
                    <a:solidFill>
                      <a:srgbClr val="E9F0F4"/>
                    </a:solidFill>
                  </a:tcPr>
                </a:tc>
                <a:tc>
                  <a:txBody>
                    <a:bodyPr/>
                    <a:lstStyle/>
                    <a:p>
                      <a:pPr>
                        <a:spcAft>
                          <a:spcPts val="0"/>
                        </a:spcAft>
                      </a:pPr>
                      <a:r>
                        <a:rPr sz="1100" b="0" i="0">
                          <a:solidFill>
                            <a:srgbClr val="003352"/>
                          </a:solidFill>
                          <a:latin typeface="Century Gothic"/>
                        </a:rPr>
                        <a:t>Largest customer, renewal this quarter</a:t>
                      </a:r>
                    </a:p>
                  </a:txBody>
                  <a:tcPr marL="109728" marT="36576" marB="36576" anchor="ctr">
                    <a:solidFill>
                      <a:srgbClr val="E9F0F4"/>
                    </a:solidFill>
                  </a:tcPr>
                </a:tc>
                <a:extLst>
                  <a:ext uri="{0D108BD9-81ED-4DB2-BD59-A6C34878D82A}">
                    <a16:rowId xmlns:a16="http://schemas.microsoft.com/office/drawing/2014/main" val="10002"/>
                  </a:ext>
                </a:extLst>
              </a:tr>
              <a:tr h="310896">
                <a:tc>
                  <a:txBody>
                    <a:bodyPr/>
                    <a:lstStyle/>
                    <a:p>
                      <a:pPr>
                        <a:spcAft>
                          <a:spcPts val="0"/>
                        </a:spcAft>
                      </a:pPr>
                      <a:r>
                        <a:rPr sz="1100" b="0" i="0">
                          <a:solidFill>
                            <a:srgbClr val="003352"/>
                          </a:solidFill>
                          <a:latin typeface="Century Gothic"/>
                        </a:rPr>
                        <a:t>Dark mode</a:t>
                      </a:r>
                    </a:p>
                  </a:txBody>
                  <a:tcPr marL="109728" marT="36576" marB="36576" anchor="ctr">
                    <a:solidFill>
                      <a:srgbClr val="FFFFFF"/>
                    </a:solidFill>
                  </a:tcPr>
                </a:tc>
                <a:tc>
                  <a:txBody>
                    <a:bodyPr/>
                    <a:lstStyle/>
                    <a:p>
                      <a:pPr>
                        <a:spcAft>
                          <a:spcPts val="0"/>
                        </a:spcAft>
                      </a:pPr>
                      <a:r>
                        <a:rPr sz="1100" b="0" i="0">
                          <a:solidFill>
                            <a:srgbClr val="003352"/>
                          </a:solidFill>
                          <a:latin typeface="Century Gothic"/>
                        </a:rPr>
                        <a:t>2 wk</a:t>
                      </a:r>
                    </a:p>
                  </a:txBody>
                  <a:tcPr marL="109728" marT="36576" marB="36576" anchor="ctr">
                    <a:solidFill>
                      <a:srgbClr val="FFFFFF"/>
                    </a:solidFill>
                  </a:tcPr>
                </a:tc>
                <a:tc>
                  <a:txBody>
                    <a:bodyPr/>
                    <a:lstStyle/>
                    <a:p>
                      <a:pPr>
                        <a:spcAft>
                          <a:spcPts val="0"/>
                        </a:spcAft>
                      </a:pPr>
                      <a:r>
                        <a:rPr sz="1100" b="0" i="0">
                          <a:solidFill>
                            <a:srgbClr val="003352"/>
                          </a:solidFill>
                          <a:latin typeface="Century Gothic"/>
                        </a:rPr>
                        <a:t>200+ app store reviews ask for it</a:t>
                      </a:r>
                    </a:p>
                  </a:txBody>
                  <a:tcPr marL="109728" marT="36576" marB="36576" anchor="ctr">
                    <a:solidFill>
                      <a:srgbClr val="FFFFFF"/>
                    </a:solidFill>
                  </a:tcPr>
                </a:tc>
                <a:extLst>
                  <a:ext uri="{0D108BD9-81ED-4DB2-BD59-A6C34878D82A}">
                    <a16:rowId xmlns:a16="http://schemas.microsoft.com/office/drawing/2014/main" val="10003"/>
                  </a:ext>
                </a:extLst>
              </a:tr>
              <a:tr h="310896">
                <a:tc>
                  <a:txBody>
                    <a:bodyPr/>
                    <a:lstStyle/>
                    <a:p>
                      <a:pPr>
                        <a:spcAft>
                          <a:spcPts val="0"/>
                        </a:spcAft>
                      </a:pPr>
                      <a:r>
                        <a:rPr sz="1100" b="0" i="0">
                          <a:solidFill>
                            <a:srgbClr val="003352"/>
                          </a:solidFill>
                          <a:latin typeface="Century Gothic"/>
                        </a:rPr>
                        <a:t>Two-factor authentication</a:t>
                      </a:r>
                    </a:p>
                  </a:txBody>
                  <a:tcPr marL="109728" marT="36576" marB="36576" anchor="ctr">
                    <a:solidFill>
                      <a:srgbClr val="E9F0F4"/>
                    </a:solidFill>
                  </a:tcPr>
                </a:tc>
                <a:tc>
                  <a:txBody>
                    <a:bodyPr/>
                    <a:lstStyle/>
                    <a:p>
                      <a:pPr>
                        <a:spcAft>
                          <a:spcPts val="0"/>
                        </a:spcAft>
                      </a:pPr>
                      <a:r>
                        <a:rPr sz="1100" b="0" i="0">
                          <a:solidFill>
                            <a:srgbClr val="003352"/>
                          </a:solidFill>
                          <a:latin typeface="Century Gothic"/>
                        </a:rPr>
                        <a:t>2 wk</a:t>
                      </a:r>
                    </a:p>
                  </a:txBody>
                  <a:tcPr marL="109728" marT="36576" marB="36576" anchor="ctr">
                    <a:solidFill>
                      <a:srgbClr val="E9F0F4"/>
                    </a:solidFill>
                  </a:tcPr>
                </a:tc>
                <a:tc>
                  <a:txBody>
                    <a:bodyPr/>
                    <a:lstStyle/>
                    <a:p>
                      <a:pPr>
                        <a:spcAft>
                          <a:spcPts val="0"/>
                        </a:spcAft>
                      </a:pPr>
                      <a:r>
                        <a:rPr sz="1100" b="0" i="0">
                          <a:solidFill>
                            <a:srgbClr val="003352"/>
                          </a:solidFill>
                          <a:latin typeface="Century Gothic"/>
                        </a:rPr>
                        <a:t>Security team, audit deadline in 10 weeks</a:t>
                      </a:r>
                    </a:p>
                  </a:txBody>
                  <a:tcPr marL="109728" marT="36576" marB="36576" anchor="ctr">
                    <a:solidFill>
                      <a:srgbClr val="E9F0F4"/>
                    </a:solidFill>
                  </a:tcPr>
                </a:tc>
                <a:extLst>
                  <a:ext uri="{0D108BD9-81ED-4DB2-BD59-A6C34878D82A}">
                    <a16:rowId xmlns:a16="http://schemas.microsoft.com/office/drawing/2014/main" val="10004"/>
                  </a:ext>
                </a:extLst>
              </a:tr>
              <a:tr h="310896">
                <a:tc>
                  <a:txBody>
                    <a:bodyPr/>
                    <a:lstStyle/>
                    <a:p>
                      <a:pPr>
                        <a:spcAft>
                          <a:spcPts val="0"/>
                        </a:spcAft>
                      </a:pPr>
                      <a:r>
                        <a:rPr sz="1100" b="0" i="0">
                          <a:solidFill>
                            <a:srgbClr val="003352"/>
                          </a:solidFill>
                          <a:latin typeface="Century Gothic"/>
                        </a:rPr>
                        <a:t>Redesign the settings page</a:t>
                      </a:r>
                    </a:p>
                  </a:txBody>
                  <a:tcPr marL="109728" marT="36576" marB="36576" anchor="ctr">
                    <a:solidFill>
                      <a:srgbClr val="FFFFFF"/>
                    </a:solidFill>
                  </a:tcPr>
                </a:tc>
                <a:tc>
                  <a:txBody>
                    <a:bodyPr/>
                    <a:lstStyle/>
                    <a:p>
                      <a:pPr>
                        <a:spcAft>
                          <a:spcPts val="0"/>
                        </a:spcAft>
                      </a:pPr>
                      <a:r>
                        <a:rPr sz="1100" b="0" i="0">
                          <a:solidFill>
                            <a:srgbClr val="003352"/>
                          </a:solidFill>
                          <a:latin typeface="Century Gothic"/>
                        </a:rPr>
                        <a:t>4 wk</a:t>
                      </a:r>
                    </a:p>
                  </a:txBody>
                  <a:tcPr marL="109728" marT="36576" marB="36576" anchor="ctr">
                    <a:solidFill>
                      <a:srgbClr val="FFFFFF"/>
                    </a:solidFill>
                  </a:tcPr>
                </a:tc>
                <a:tc>
                  <a:txBody>
                    <a:bodyPr/>
                    <a:lstStyle/>
                    <a:p>
                      <a:pPr>
                        <a:spcAft>
                          <a:spcPts val="0"/>
                        </a:spcAft>
                      </a:pPr>
                      <a:r>
                        <a:rPr sz="1100" b="0" i="0">
                          <a:solidFill>
                            <a:srgbClr val="003352"/>
                          </a:solidFill>
                          <a:latin typeface="Century Gothic"/>
                        </a:rPr>
                        <a:t>Design team, long-standing wish</a:t>
                      </a:r>
                    </a:p>
                  </a:txBody>
                  <a:tcPr marL="109728" marT="36576" marB="36576" anchor="ctr">
                    <a:solidFill>
                      <a:srgbClr val="FFFFFF"/>
                    </a:solidFill>
                  </a:tcPr>
                </a:tc>
                <a:extLst>
                  <a:ext uri="{0D108BD9-81ED-4DB2-BD59-A6C34878D82A}">
                    <a16:rowId xmlns:a16="http://schemas.microsoft.com/office/drawing/2014/main" val="10005"/>
                  </a:ext>
                </a:extLst>
              </a:tr>
              <a:tr h="310896">
                <a:tc>
                  <a:txBody>
                    <a:bodyPr/>
                    <a:lstStyle/>
                    <a:p>
                      <a:pPr>
                        <a:spcAft>
                          <a:spcPts val="0"/>
                        </a:spcAft>
                      </a:pPr>
                      <a:r>
                        <a:rPr sz="1100" b="0" i="0">
                          <a:solidFill>
                            <a:srgbClr val="003352"/>
                          </a:solidFill>
                          <a:latin typeface="Century Gothic"/>
                        </a:rPr>
                        <a:t>Hindi and Tamil across the app</a:t>
                      </a:r>
                    </a:p>
                  </a:txBody>
                  <a:tcPr marL="109728" marT="36576" marB="36576" anchor="ctr">
                    <a:solidFill>
                      <a:srgbClr val="E9F0F4"/>
                    </a:solidFill>
                  </a:tcPr>
                </a:tc>
                <a:tc>
                  <a:txBody>
                    <a:bodyPr/>
                    <a:lstStyle/>
                    <a:p>
                      <a:pPr>
                        <a:spcAft>
                          <a:spcPts val="0"/>
                        </a:spcAft>
                      </a:pPr>
                      <a:r>
                        <a:rPr sz="1100" b="0" i="0">
                          <a:solidFill>
                            <a:srgbClr val="003352"/>
                          </a:solidFill>
                          <a:latin typeface="Century Gothic"/>
                        </a:rPr>
                        <a:t>3 wk</a:t>
                      </a:r>
                    </a:p>
                  </a:txBody>
                  <a:tcPr marL="109728" marT="36576" marB="36576" anchor="ctr">
                    <a:solidFill>
                      <a:srgbClr val="E9F0F4"/>
                    </a:solidFill>
                  </a:tcPr>
                </a:tc>
                <a:tc>
                  <a:txBody>
                    <a:bodyPr/>
                    <a:lstStyle/>
                    <a:p>
                      <a:pPr>
                        <a:spcAft>
                          <a:spcPts val="0"/>
                        </a:spcAft>
                      </a:pPr>
                      <a:r>
                        <a:rPr sz="1100" b="0" i="0">
                          <a:solidFill>
                            <a:srgbClr val="003352"/>
                          </a:solidFill>
                          <a:latin typeface="Century Gothic"/>
                        </a:rPr>
                        <a:t>Growth team, new market launch</a:t>
                      </a:r>
                    </a:p>
                  </a:txBody>
                  <a:tcPr marL="109728" marT="36576" marB="36576" anchor="ctr">
                    <a:solidFill>
                      <a:srgbClr val="E9F0F4"/>
                    </a:solidFill>
                  </a:tcPr>
                </a:tc>
                <a:extLst>
                  <a:ext uri="{0D108BD9-81ED-4DB2-BD59-A6C34878D82A}">
                    <a16:rowId xmlns:a16="http://schemas.microsoft.com/office/drawing/2014/main" val="10006"/>
                  </a:ext>
                </a:extLst>
              </a:tr>
              <a:tr h="310896">
                <a:tc>
                  <a:txBody>
                    <a:bodyPr/>
                    <a:lstStyle/>
                    <a:p>
                      <a:pPr>
                        <a:spcAft>
                          <a:spcPts val="0"/>
                        </a:spcAft>
                      </a:pPr>
                      <a:r>
                        <a:rPr sz="1100" b="0" i="0">
                          <a:solidFill>
                            <a:srgbClr val="003352"/>
                          </a:solidFill>
                          <a:latin typeface="Century Gothic"/>
                        </a:rPr>
                        <a:t>Search: 4s → under 1s</a:t>
                      </a:r>
                    </a:p>
                  </a:txBody>
                  <a:tcPr marL="109728" marT="36576" marB="36576" anchor="ctr">
                    <a:solidFill>
                      <a:srgbClr val="FFFFFF"/>
                    </a:solidFill>
                  </a:tcPr>
                </a:tc>
                <a:tc>
                  <a:txBody>
                    <a:bodyPr/>
                    <a:lstStyle/>
                    <a:p>
                      <a:pPr>
                        <a:spcAft>
                          <a:spcPts val="0"/>
                        </a:spcAft>
                      </a:pPr>
                      <a:r>
                        <a:rPr sz="1100" b="0" i="0">
                          <a:solidFill>
                            <a:srgbClr val="003352"/>
                          </a:solidFill>
                          <a:latin typeface="Century Gothic"/>
                        </a:rPr>
                        <a:t>2 wk</a:t>
                      </a:r>
                    </a:p>
                  </a:txBody>
                  <a:tcPr marL="109728" marT="36576" marB="36576" anchor="ctr">
                    <a:solidFill>
                      <a:srgbClr val="FFFFFF"/>
                    </a:solidFill>
                  </a:tcPr>
                </a:tc>
                <a:tc>
                  <a:txBody>
                    <a:bodyPr/>
                    <a:lstStyle/>
                    <a:p>
                      <a:pPr>
                        <a:spcAft>
                          <a:spcPts val="0"/>
                        </a:spcAft>
                      </a:pPr>
                      <a:r>
                        <a:rPr sz="1100" b="0" i="0">
                          <a:solidFill>
                            <a:srgbClr val="003352"/>
                          </a:solidFill>
                          <a:latin typeface="Century Gothic"/>
                        </a:rPr>
                        <a:t>Everyone complains, nobody files a ticket</a:t>
                      </a:r>
                    </a:p>
                  </a:txBody>
                  <a:tcPr marL="109728" marT="36576" marB="36576" anchor="ctr">
                    <a:solidFill>
                      <a:srgbClr val="FFFFFF"/>
                    </a:solidFill>
                  </a:tcPr>
                </a:tc>
                <a:extLst>
                  <a:ext uri="{0D108BD9-81ED-4DB2-BD59-A6C34878D82A}">
                    <a16:rowId xmlns:a16="http://schemas.microsoft.com/office/drawing/2014/main" val="10007"/>
                  </a:ext>
                </a:extLst>
              </a:tr>
              <a:tr h="310896">
                <a:tc>
                  <a:txBody>
                    <a:bodyPr/>
                    <a:lstStyle/>
                    <a:p>
                      <a:pPr>
                        <a:spcAft>
                          <a:spcPts val="0"/>
                        </a:spcAft>
                      </a:pPr>
                      <a:r>
                        <a:rPr sz="1100" b="0" i="0">
                          <a:solidFill>
                            <a:srgbClr val="003352"/>
                          </a:solidFill>
                          <a:latin typeface="Century Gothic"/>
                        </a:rPr>
                        <a:t>AI chat assistant</a:t>
                      </a:r>
                    </a:p>
                  </a:txBody>
                  <a:tcPr marL="109728" marT="36576" marB="36576" anchor="ctr">
                    <a:solidFill>
                      <a:srgbClr val="E9F0F4"/>
                    </a:solidFill>
                  </a:tcPr>
                </a:tc>
                <a:tc>
                  <a:txBody>
                    <a:bodyPr/>
                    <a:lstStyle/>
                    <a:p>
                      <a:pPr>
                        <a:spcAft>
                          <a:spcPts val="0"/>
                        </a:spcAft>
                      </a:pPr>
                      <a:r>
                        <a:rPr sz="1100" b="0" i="0">
                          <a:solidFill>
                            <a:srgbClr val="003352"/>
                          </a:solidFill>
                          <a:latin typeface="Century Gothic"/>
                        </a:rPr>
                        <a:t>5 wk</a:t>
                      </a:r>
                    </a:p>
                  </a:txBody>
                  <a:tcPr marL="109728" marT="36576" marB="36576" anchor="ctr">
                    <a:solidFill>
                      <a:srgbClr val="E9F0F4"/>
                    </a:solidFill>
                  </a:tcPr>
                </a:tc>
                <a:tc>
                  <a:txBody>
                    <a:bodyPr/>
                    <a:lstStyle/>
                    <a:p>
                      <a:pPr>
                        <a:spcAft>
                          <a:spcPts val="0"/>
                        </a:spcAft>
                      </a:pPr>
                      <a:r>
                        <a:rPr sz="1100" b="0" i="0">
                          <a:solidFill>
                            <a:srgbClr val="003352"/>
                          </a:solidFill>
                          <a:latin typeface="Century Gothic"/>
                        </a:rPr>
                        <a:t>CEO saw a competitor demo last week</a:t>
                      </a:r>
                    </a:p>
                  </a:txBody>
                  <a:tcPr marL="109728" marT="36576" marB="36576" anchor="ctr">
                    <a:solidFill>
                      <a:srgbClr val="E9F0F4"/>
                    </a:solidFill>
                  </a:tcPr>
                </a:tc>
                <a:extLst>
                  <a:ext uri="{0D108BD9-81ED-4DB2-BD59-A6C34878D82A}">
                    <a16:rowId xmlns:a16="http://schemas.microsoft.com/office/drawing/2014/main" val="10008"/>
                  </a:ext>
                </a:extLst>
              </a:tr>
            </a:tbl>
          </a:graphicData>
        </a:graphic>
      </p:graphicFrame>
      <p:sp>
        <p:nvSpPr>
          <p:cNvPr id="6" name="Rounded Rectangle 5"/>
          <p:cNvSpPr/>
          <p:nvPr/>
        </p:nvSpPr>
        <p:spPr>
          <a:xfrm>
            <a:off x="502920" y="5486400"/>
            <a:ext cx="11201400" cy="658368"/>
          </a:xfrm>
          <a:prstGeom prst="roundRect">
            <a:avLst>
              <a:gd name="adj" fmla="val 10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54864" rIns="201168" bIns="54864" rtlCol="0" anchor="ctr"/>
          <a:lstStyle/>
          <a:p>
            <a:r>
              <a:rPr sz="1300" b="1" i="0">
                <a:solidFill>
                  <a:srgbClr val="FFFFFF"/>
                </a:solidFill>
                <a:latin typeface="Century Gothic"/>
              </a:rPr>
              <a:t>Pick three. Ten dev-weeks, no overtime, no borrowing people. You must be able to tell the CEO no with a reason rather than a feeling — and to say what you would need to see to change your mind.</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F81D2F-FB06-1DE0-2E1F-88175D743E8C}"/>
              </a:ext>
            </a:extLst>
          </p:cNvPr>
          <p:cNvSpPr>
            <a:spLocks noGrp="1"/>
          </p:cNvSpPr>
          <p:nvPr>
            <p:ph idx="1"/>
          </p:nvPr>
        </p:nvSpPr>
        <p:spPr/>
        <p:txBody>
          <a:bodyPr>
            <a:normAutofit fontScale="70000" lnSpcReduction="20000"/>
          </a:bodyPr>
          <a:lstStyle/>
          <a:p>
            <a:r>
              <a:rPr lang="en-US" dirty="0"/>
              <a:t>Before prioritizing any feature, ask these questions:</a:t>
            </a:r>
          </a:p>
          <a:p>
            <a:endParaRPr lang="en-US" dirty="0"/>
          </a:p>
          <a:p>
            <a:r>
              <a:rPr lang="en-US" b="1" dirty="0"/>
              <a:t>Customer Value</a:t>
            </a:r>
          </a:p>
          <a:p>
            <a:pPr>
              <a:buFont typeface="Arial" panose="020B0604020202020204" pitchFamily="34" charset="0"/>
              <a:buChar char="•"/>
            </a:pPr>
            <a:r>
              <a:rPr lang="en-US" dirty="0"/>
              <a:t>Does it solve a major customer problem? </a:t>
            </a:r>
          </a:p>
          <a:p>
            <a:pPr>
              <a:buFont typeface="Arial" panose="020B0604020202020204" pitchFamily="34" charset="0"/>
              <a:buChar char="•"/>
            </a:pPr>
            <a:r>
              <a:rPr lang="en-US" dirty="0"/>
              <a:t>How many customers will benefit? </a:t>
            </a:r>
          </a:p>
          <a:p>
            <a:r>
              <a:rPr lang="en-US" b="1" dirty="0"/>
              <a:t>Business Value</a:t>
            </a:r>
          </a:p>
          <a:p>
            <a:pPr>
              <a:buFont typeface="Arial" panose="020B0604020202020204" pitchFamily="34" charset="0"/>
              <a:buChar char="•"/>
            </a:pPr>
            <a:r>
              <a:rPr lang="en-US" dirty="0"/>
              <a:t>Will it increase revenue? </a:t>
            </a:r>
          </a:p>
          <a:p>
            <a:pPr>
              <a:buFont typeface="Arial" panose="020B0604020202020204" pitchFamily="34" charset="0"/>
              <a:buChar char="•"/>
            </a:pPr>
            <a:r>
              <a:rPr lang="en-US" dirty="0"/>
              <a:t>Will it reduce customer churn? </a:t>
            </a:r>
          </a:p>
          <a:p>
            <a:pPr>
              <a:buFont typeface="Arial" panose="020B0604020202020204" pitchFamily="34" charset="0"/>
              <a:buChar char="•"/>
            </a:pPr>
            <a:r>
              <a:rPr lang="en-US" dirty="0"/>
              <a:t>Will it improve customer satisfaction? </a:t>
            </a:r>
          </a:p>
          <a:p>
            <a:r>
              <a:rPr lang="en-US" b="1" dirty="0"/>
              <a:t>Technical Feasibility</a:t>
            </a:r>
          </a:p>
          <a:p>
            <a:pPr>
              <a:buFont typeface="Arial" panose="020B0604020202020204" pitchFamily="34" charset="0"/>
              <a:buChar char="•"/>
            </a:pPr>
            <a:r>
              <a:rPr lang="en-US" dirty="0"/>
              <a:t>Can we build it with current technology? </a:t>
            </a:r>
          </a:p>
          <a:p>
            <a:pPr>
              <a:buFont typeface="Arial" panose="020B0604020202020204" pitchFamily="34" charset="0"/>
              <a:buChar char="•"/>
            </a:pPr>
            <a:r>
              <a:rPr lang="en-US" dirty="0"/>
              <a:t>Are there significant technical risks? </a:t>
            </a:r>
          </a:p>
          <a:p>
            <a:r>
              <a:rPr lang="en-US" b="1" dirty="0"/>
              <a:t>Cost and Effort</a:t>
            </a:r>
          </a:p>
          <a:p>
            <a:pPr>
              <a:buFont typeface="Arial" panose="020B0604020202020204" pitchFamily="34" charset="0"/>
              <a:buChar char="•"/>
            </a:pPr>
            <a:r>
              <a:rPr lang="en-US" dirty="0"/>
              <a:t>How much development time is required? </a:t>
            </a:r>
          </a:p>
          <a:p>
            <a:pPr>
              <a:buFont typeface="Arial" panose="020B0604020202020204" pitchFamily="34" charset="0"/>
              <a:buChar char="•"/>
            </a:pPr>
            <a:r>
              <a:rPr lang="en-US" dirty="0"/>
              <a:t>Are additional resources needed? </a:t>
            </a:r>
          </a:p>
          <a:p>
            <a:r>
              <a:rPr lang="en-US" b="1" dirty="0"/>
              <a:t>Strategic Alignment</a:t>
            </a:r>
          </a:p>
          <a:p>
            <a:pPr>
              <a:buFont typeface="Arial" panose="020B0604020202020204" pitchFamily="34" charset="0"/>
              <a:buChar char="•"/>
            </a:pPr>
            <a:r>
              <a:rPr lang="en-US" dirty="0"/>
              <a:t>Does it support the company's product vision and goals?</a:t>
            </a:r>
          </a:p>
          <a:p>
            <a:endParaRPr lang="en-IN" dirty="0"/>
          </a:p>
        </p:txBody>
      </p:sp>
      <p:sp>
        <p:nvSpPr>
          <p:cNvPr id="3" name="Content Placeholder 2">
            <a:extLst>
              <a:ext uri="{FF2B5EF4-FFF2-40B4-BE49-F238E27FC236}">
                <a16:creationId xmlns:a16="http://schemas.microsoft.com/office/drawing/2014/main" id="{740E6E3A-D9CC-B860-BDB7-CE5ADF746A70}"/>
              </a:ext>
            </a:extLst>
          </p:cNvPr>
          <p:cNvSpPr>
            <a:spLocks noGrp="1"/>
          </p:cNvSpPr>
          <p:nvPr>
            <p:ph sz="quarter" idx="10"/>
          </p:nvPr>
        </p:nvSpPr>
        <p:spPr/>
        <p:txBody>
          <a:bodyPr/>
          <a:lstStyle/>
          <a:p>
            <a:r>
              <a:rPr lang="en-IN" b="1" dirty="0"/>
              <a:t>Factors to Consider</a:t>
            </a:r>
          </a:p>
          <a:p>
            <a:endParaRPr lang="en-IN" dirty="0"/>
          </a:p>
        </p:txBody>
      </p:sp>
    </p:spTree>
    <p:extLst>
      <p:ext uri="{BB962C8B-B14F-4D97-AF65-F5344CB8AC3E}">
        <p14:creationId xmlns:p14="http://schemas.microsoft.com/office/powerpoint/2010/main" val="186778289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C6D6BE-DD39-F915-B322-74137AD939E1}"/>
              </a:ext>
            </a:extLst>
          </p:cNvPr>
          <p:cNvSpPr>
            <a:spLocks noGrp="1"/>
          </p:cNvSpPr>
          <p:nvPr>
            <p:ph idx="1"/>
          </p:nvPr>
        </p:nvSpPr>
        <p:spPr/>
        <p:txBody>
          <a:bodyPr/>
          <a:lstStyle/>
          <a:p>
            <a:pPr>
              <a:buFont typeface="+mj-lt"/>
              <a:buAutoNum type="arabicPeriod"/>
            </a:pPr>
            <a:r>
              <a:rPr lang="en-US" dirty="0" err="1"/>
              <a:t>MoSCoW</a:t>
            </a:r>
            <a:r>
              <a:rPr lang="en-US" dirty="0"/>
              <a:t> Method </a:t>
            </a:r>
          </a:p>
          <a:p>
            <a:pPr>
              <a:buFont typeface="+mj-lt"/>
              <a:buAutoNum type="arabicPeriod"/>
            </a:pPr>
            <a:r>
              <a:rPr lang="en-US" dirty="0"/>
              <a:t>RICE Scoring </a:t>
            </a:r>
          </a:p>
          <a:p>
            <a:pPr>
              <a:buFont typeface="+mj-lt"/>
              <a:buAutoNum type="arabicPeriod"/>
            </a:pPr>
            <a:r>
              <a:rPr lang="en-US" dirty="0"/>
              <a:t>Kano Model </a:t>
            </a:r>
          </a:p>
          <a:p>
            <a:pPr>
              <a:buFont typeface="+mj-lt"/>
              <a:buAutoNum type="arabicPeriod"/>
            </a:pPr>
            <a:r>
              <a:rPr lang="en-US" dirty="0"/>
              <a:t>Value vs Effort Matrix </a:t>
            </a:r>
          </a:p>
          <a:p>
            <a:pPr>
              <a:buFont typeface="+mj-lt"/>
              <a:buAutoNum type="arabicPeriod"/>
            </a:pPr>
            <a:r>
              <a:rPr lang="en-US" dirty="0"/>
              <a:t>Weighted Scoring Model </a:t>
            </a:r>
          </a:p>
          <a:p>
            <a:endParaRPr lang="en-IN" dirty="0"/>
          </a:p>
        </p:txBody>
      </p:sp>
      <p:sp>
        <p:nvSpPr>
          <p:cNvPr id="3" name="Content Placeholder 2">
            <a:extLst>
              <a:ext uri="{FF2B5EF4-FFF2-40B4-BE49-F238E27FC236}">
                <a16:creationId xmlns:a16="http://schemas.microsoft.com/office/drawing/2014/main" id="{E8D390A8-F5CF-F625-71CE-43D35F58C1B9}"/>
              </a:ext>
            </a:extLst>
          </p:cNvPr>
          <p:cNvSpPr>
            <a:spLocks noGrp="1"/>
          </p:cNvSpPr>
          <p:nvPr>
            <p:ph sz="quarter" idx="10"/>
          </p:nvPr>
        </p:nvSpPr>
        <p:spPr/>
        <p:txBody>
          <a:bodyPr/>
          <a:lstStyle/>
          <a:p>
            <a:r>
              <a:rPr lang="en-IN" b="1" dirty="0"/>
              <a:t>Popular Prioritization Frameworks</a:t>
            </a:r>
          </a:p>
          <a:p>
            <a:endParaRPr lang="en-IN" dirty="0"/>
          </a:p>
        </p:txBody>
      </p:sp>
    </p:spTree>
    <p:extLst>
      <p:ext uri="{BB962C8B-B14F-4D97-AF65-F5344CB8AC3E}">
        <p14:creationId xmlns:p14="http://schemas.microsoft.com/office/powerpoint/2010/main" val="396182399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A1A66E7-80B2-1C33-F426-3D5F9A00002D}"/>
              </a:ext>
            </a:extLst>
          </p:cNvPr>
          <p:cNvSpPr>
            <a:spLocks noGrp="1"/>
          </p:cNvSpPr>
          <p:nvPr>
            <p:ph idx="1"/>
          </p:nvPr>
        </p:nvSpPr>
        <p:spPr/>
        <p:txBody>
          <a:bodyPr/>
          <a:lstStyle/>
          <a:p>
            <a:r>
              <a:rPr lang="en-US" dirty="0"/>
              <a:t>One of the simplest and most widely used frameworks.</a:t>
            </a:r>
          </a:p>
          <a:p>
            <a:endParaRPr lang="en-IN" dirty="0"/>
          </a:p>
          <a:p>
            <a:endParaRPr lang="en-IN" dirty="0"/>
          </a:p>
        </p:txBody>
      </p:sp>
      <p:sp>
        <p:nvSpPr>
          <p:cNvPr id="3" name="Content Placeholder 2">
            <a:extLst>
              <a:ext uri="{FF2B5EF4-FFF2-40B4-BE49-F238E27FC236}">
                <a16:creationId xmlns:a16="http://schemas.microsoft.com/office/drawing/2014/main" id="{534FB291-91FD-15AE-5995-87E6789BE1D1}"/>
              </a:ext>
            </a:extLst>
          </p:cNvPr>
          <p:cNvSpPr>
            <a:spLocks noGrp="1"/>
          </p:cNvSpPr>
          <p:nvPr>
            <p:ph sz="quarter" idx="10"/>
          </p:nvPr>
        </p:nvSpPr>
        <p:spPr/>
        <p:txBody>
          <a:bodyPr/>
          <a:lstStyle/>
          <a:p>
            <a:r>
              <a:rPr lang="en-IN" dirty="0" err="1"/>
              <a:t>MoSCoW</a:t>
            </a:r>
            <a:r>
              <a:rPr lang="en-IN" dirty="0"/>
              <a:t> Method</a:t>
            </a:r>
          </a:p>
        </p:txBody>
      </p:sp>
      <p:graphicFrame>
        <p:nvGraphicFramePr>
          <p:cNvPr id="4" name="Table 3">
            <a:extLst>
              <a:ext uri="{FF2B5EF4-FFF2-40B4-BE49-F238E27FC236}">
                <a16:creationId xmlns:a16="http://schemas.microsoft.com/office/drawing/2014/main" id="{580A929F-A8B0-B48C-5772-5EF715C1019E}"/>
              </a:ext>
            </a:extLst>
          </p:cNvPr>
          <p:cNvGraphicFramePr>
            <a:graphicFrameLocks noGrp="1"/>
          </p:cNvGraphicFramePr>
          <p:nvPr>
            <p:extLst>
              <p:ext uri="{D42A27DB-BD31-4B8C-83A1-F6EECF244321}">
                <p14:modId xmlns:p14="http://schemas.microsoft.com/office/powerpoint/2010/main" val="1899008082"/>
              </p:ext>
            </p:extLst>
          </p:nvPr>
        </p:nvGraphicFramePr>
        <p:xfrm>
          <a:off x="406400" y="2191544"/>
          <a:ext cx="10515600" cy="1828800"/>
        </p:xfrm>
        <a:graphic>
          <a:graphicData uri="http://schemas.openxmlformats.org/drawingml/2006/table">
            <a:tbl>
              <a:tblPr/>
              <a:tblGrid>
                <a:gridCol w="5257800">
                  <a:extLst>
                    <a:ext uri="{9D8B030D-6E8A-4147-A177-3AD203B41FA5}">
                      <a16:colId xmlns:a16="http://schemas.microsoft.com/office/drawing/2014/main" val="4108098727"/>
                    </a:ext>
                  </a:extLst>
                </a:gridCol>
                <a:gridCol w="5257800">
                  <a:extLst>
                    <a:ext uri="{9D8B030D-6E8A-4147-A177-3AD203B41FA5}">
                      <a16:colId xmlns:a16="http://schemas.microsoft.com/office/drawing/2014/main" val="16372641"/>
                    </a:ext>
                  </a:extLst>
                </a:gridCol>
              </a:tblGrid>
              <a:tr h="0">
                <a:tc>
                  <a:txBody>
                    <a:bodyPr/>
                    <a:lstStyle/>
                    <a:p>
                      <a:r>
                        <a:rPr lang="en-IN"/>
                        <a:t>Category</a:t>
                      </a:r>
                    </a:p>
                  </a:txBody>
                  <a:tcPr anchor="ctr">
                    <a:lnL>
                      <a:noFill/>
                    </a:lnL>
                    <a:lnR>
                      <a:noFill/>
                    </a:lnR>
                    <a:lnT>
                      <a:noFill/>
                    </a:lnT>
                    <a:lnB>
                      <a:noFill/>
                    </a:lnB>
                    <a:noFill/>
                  </a:tcPr>
                </a:tc>
                <a:tc>
                  <a:txBody>
                    <a:bodyPr/>
                    <a:lstStyle/>
                    <a:p>
                      <a:r>
                        <a:rPr lang="en-IN"/>
                        <a:t>Meaning</a:t>
                      </a:r>
                    </a:p>
                  </a:txBody>
                  <a:tcPr anchor="ctr">
                    <a:lnL>
                      <a:noFill/>
                    </a:lnL>
                    <a:lnR>
                      <a:noFill/>
                    </a:lnR>
                    <a:lnT>
                      <a:noFill/>
                    </a:lnT>
                    <a:lnB>
                      <a:noFill/>
                    </a:lnB>
                    <a:noFill/>
                  </a:tcPr>
                </a:tc>
                <a:extLst>
                  <a:ext uri="{0D108BD9-81ED-4DB2-BD59-A6C34878D82A}">
                    <a16:rowId xmlns:a16="http://schemas.microsoft.com/office/drawing/2014/main" val="478937915"/>
                  </a:ext>
                </a:extLst>
              </a:tr>
              <a:tr h="0">
                <a:tc>
                  <a:txBody>
                    <a:bodyPr/>
                    <a:lstStyle/>
                    <a:p>
                      <a:r>
                        <a:rPr lang="en-IN" b="1"/>
                        <a:t>Must Have</a:t>
                      </a:r>
                      <a:endParaRPr lang="en-IN"/>
                    </a:p>
                  </a:txBody>
                  <a:tcPr anchor="ctr">
                    <a:lnL>
                      <a:noFill/>
                    </a:lnL>
                    <a:lnR>
                      <a:noFill/>
                    </a:lnR>
                    <a:lnT>
                      <a:noFill/>
                    </a:lnT>
                    <a:lnB>
                      <a:noFill/>
                    </a:lnB>
                    <a:noFill/>
                  </a:tcPr>
                </a:tc>
                <a:tc>
                  <a:txBody>
                    <a:bodyPr/>
                    <a:lstStyle/>
                    <a:p>
                      <a:r>
                        <a:rPr lang="en-US"/>
                        <a:t>Essential. Product cannot succeed without it.</a:t>
                      </a:r>
                    </a:p>
                  </a:txBody>
                  <a:tcPr anchor="ctr">
                    <a:lnL>
                      <a:noFill/>
                    </a:lnL>
                    <a:lnR>
                      <a:noFill/>
                    </a:lnR>
                    <a:lnT>
                      <a:noFill/>
                    </a:lnT>
                    <a:lnB>
                      <a:noFill/>
                    </a:lnB>
                    <a:noFill/>
                  </a:tcPr>
                </a:tc>
                <a:extLst>
                  <a:ext uri="{0D108BD9-81ED-4DB2-BD59-A6C34878D82A}">
                    <a16:rowId xmlns:a16="http://schemas.microsoft.com/office/drawing/2014/main" val="2445120265"/>
                  </a:ext>
                </a:extLst>
              </a:tr>
              <a:tr h="0">
                <a:tc>
                  <a:txBody>
                    <a:bodyPr/>
                    <a:lstStyle/>
                    <a:p>
                      <a:r>
                        <a:rPr lang="en-IN" b="1"/>
                        <a:t>Should Have</a:t>
                      </a:r>
                      <a:endParaRPr lang="en-IN"/>
                    </a:p>
                  </a:txBody>
                  <a:tcPr anchor="ctr">
                    <a:lnL>
                      <a:noFill/>
                    </a:lnL>
                    <a:lnR>
                      <a:noFill/>
                    </a:lnR>
                    <a:lnT>
                      <a:noFill/>
                    </a:lnT>
                    <a:lnB>
                      <a:noFill/>
                    </a:lnB>
                    <a:noFill/>
                  </a:tcPr>
                </a:tc>
                <a:tc>
                  <a:txBody>
                    <a:bodyPr/>
                    <a:lstStyle/>
                    <a:p>
                      <a:r>
                        <a:rPr lang="en-US"/>
                        <a:t>Important but not critical for this release.</a:t>
                      </a:r>
                    </a:p>
                  </a:txBody>
                  <a:tcPr anchor="ctr">
                    <a:lnL>
                      <a:noFill/>
                    </a:lnL>
                    <a:lnR>
                      <a:noFill/>
                    </a:lnR>
                    <a:lnT>
                      <a:noFill/>
                    </a:lnT>
                    <a:lnB>
                      <a:noFill/>
                    </a:lnB>
                    <a:noFill/>
                  </a:tcPr>
                </a:tc>
                <a:extLst>
                  <a:ext uri="{0D108BD9-81ED-4DB2-BD59-A6C34878D82A}">
                    <a16:rowId xmlns:a16="http://schemas.microsoft.com/office/drawing/2014/main" val="2546271735"/>
                  </a:ext>
                </a:extLst>
              </a:tr>
              <a:tr h="0">
                <a:tc>
                  <a:txBody>
                    <a:bodyPr/>
                    <a:lstStyle/>
                    <a:p>
                      <a:r>
                        <a:rPr lang="en-IN" b="1"/>
                        <a:t>Could Have</a:t>
                      </a:r>
                      <a:endParaRPr lang="en-IN"/>
                    </a:p>
                  </a:txBody>
                  <a:tcPr anchor="ctr">
                    <a:lnL>
                      <a:noFill/>
                    </a:lnL>
                    <a:lnR>
                      <a:noFill/>
                    </a:lnR>
                    <a:lnT>
                      <a:noFill/>
                    </a:lnT>
                    <a:lnB>
                      <a:noFill/>
                    </a:lnB>
                    <a:noFill/>
                  </a:tcPr>
                </a:tc>
                <a:tc>
                  <a:txBody>
                    <a:bodyPr/>
                    <a:lstStyle/>
                    <a:p>
                      <a:r>
                        <a:rPr lang="en-US"/>
                        <a:t>Nice to have if time permits.</a:t>
                      </a:r>
                    </a:p>
                  </a:txBody>
                  <a:tcPr anchor="ctr">
                    <a:lnL>
                      <a:noFill/>
                    </a:lnL>
                    <a:lnR>
                      <a:noFill/>
                    </a:lnR>
                    <a:lnT>
                      <a:noFill/>
                    </a:lnT>
                    <a:lnB>
                      <a:noFill/>
                    </a:lnB>
                    <a:noFill/>
                  </a:tcPr>
                </a:tc>
                <a:extLst>
                  <a:ext uri="{0D108BD9-81ED-4DB2-BD59-A6C34878D82A}">
                    <a16:rowId xmlns:a16="http://schemas.microsoft.com/office/drawing/2014/main" val="4288633422"/>
                  </a:ext>
                </a:extLst>
              </a:tr>
              <a:tr h="0">
                <a:tc>
                  <a:txBody>
                    <a:bodyPr/>
                    <a:lstStyle/>
                    <a:p>
                      <a:r>
                        <a:rPr lang="en-IN" b="1"/>
                        <a:t>Won't Have (Now)</a:t>
                      </a:r>
                      <a:endParaRPr lang="en-IN"/>
                    </a:p>
                  </a:txBody>
                  <a:tcPr anchor="ctr">
                    <a:lnL>
                      <a:noFill/>
                    </a:lnL>
                    <a:lnR>
                      <a:noFill/>
                    </a:lnR>
                    <a:lnT>
                      <a:noFill/>
                    </a:lnT>
                    <a:lnB>
                      <a:noFill/>
                    </a:lnB>
                    <a:noFill/>
                  </a:tcPr>
                </a:tc>
                <a:tc>
                  <a:txBody>
                    <a:bodyPr/>
                    <a:lstStyle/>
                    <a:p>
                      <a:r>
                        <a:rPr lang="en-US" dirty="0"/>
                        <a:t>Not included in this release.</a:t>
                      </a:r>
                    </a:p>
                  </a:txBody>
                  <a:tcPr anchor="ctr">
                    <a:lnL>
                      <a:noFill/>
                    </a:lnL>
                    <a:lnR>
                      <a:noFill/>
                    </a:lnR>
                    <a:lnT>
                      <a:noFill/>
                    </a:lnT>
                    <a:lnB>
                      <a:noFill/>
                    </a:lnB>
                    <a:noFill/>
                  </a:tcPr>
                </a:tc>
                <a:extLst>
                  <a:ext uri="{0D108BD9-81ED-4DB2-BD59-A6C34878D82A}">
                    <a16:rowId xmlns:a16="http://schemas.microsoft.com/office/drawing/2014/main" val="3428281472"/>
                  </a:ext>
                </a:extLst>
              </a:tr>
            </a:tbl>
          </a:graphicData>
        </a:graphic>
      </p:graphicFrame>
    </p:spTree>
    <p:extLst>
      <p:ext uri="{BB962C8B-B14F-4D97-AF65-F5344CB8AC3E}">
        <p14:creationId xmlns:p14="http://schemas.microsoft.com/office/powerpoint/2010/main" val="384369254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wrap="square"/>
          <a:lstStyle/>
          <a:p>
            <a:r>
              <a:rPr sz="2600" b="1">
                <a:solidFill>
                  <a:srgbClr val="003352"/>
                </a:solidFill>
                <a:latin typeface="Century Gothic"/>
              </a:rPr>
              <a:t>Case quiz: MoSCoW against a fixed date</a:t>
            </a:r>
          </a:p>
        </p:txBody>
      </p:sp>
      <p:sp>
        <p:nvSpPr>
          <p:cNvPr id="4" name="Rounded Rectangle 3"/>
          <p:cNvSpPr/>
          <p:nvPr/>
        </p:nvSpPr>
        <p:spPr>
          <a:xfrm>
            <a:off x="502920" y="1371600"/>
            <a:ext cx="4809744" cy="292608"/>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ctr"/>
            <a:r>
              <a:rPr sz="1000" b="1" i="0">
                <a:solidFill>
                  <a:srgbClr val="003352"/>
                </a:solidFill>
                <a:latin typeface="Century Gothic"/>
              </a:rPr>
              <a:t>QUIZ  ·  8 MIN  ·  GROUPS OF 4</a:t>
            </a:r>
          </a:p>
        </p:txBody>
      </p:sp>
      <p:sp>
        <p:nvSpPr>
          <p:cNvPr id="5" name="Rounded Rectangle 4"/>
          <p:cNvSpPr/>
          <p:nvPr/>
        </p:nvSpPr>
        <p:spPr>
          <a:xfrm>
            <a:off x="502920" y="1874519"/>
            <a:ext cx="11201400" cy="960120"/>
          </a:xfrm>
          <a:prstGeom prst="roundRect">
            <a:avLst>
              <a:gd name="adj" fmla="val 10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22376" y="1975103"/>
            <a:ext cx="10762488" cy="768096"/>
          </a:xfrm>
          <a:prstGeom prst="rect">
            <a:avLst/>
          </a:prstGeom>
          <a:noFill/>
        </p:spPr>
        <p:txBody>
          <a:bodyPr wrap="square" lIns="0" tIns="0" rIns="0" bIns="0" anchor="t">
            <a:spAutoFit/>
          </a:bodyPr>
          <a:lstStyle/>
          <a:p>
            <a:pPr algn="l">
              <a:spcBef>
                <a:spcPts val="0"/>
              </a:spcBef>
              <a:spcAft>
                <a:spcPts val="300"/>
              </a:spcAft>
            </a:pPr>
            <a:r>
              <a:rPr sz="1000" b="1" i="0">
                <a:solidFill>
                  <a:srgbClr val="63E7A4"/>
                </a:solidFill>
                <a:latin typeface="Century Gothic"/>
              </a:rPr>
              <a:t>THE CASE</a:t>
            </a:r>
          </a:p>
          <a:p>
            <a:pPr algn="l">
              <a:spcBef>
                <a:spcPts val="0"/>
              </a:spcBef>
              <a:spcAft>
                <a:spcPts val="400"/>
              </a:spcAft>
            </a:pPr>
            <a:r>
              <a:rPr sz="1250" b="0" i="0">
                <a:solidFill>
                  <a:srgbClr val="FFFFFF"/>
                </a:solidFill>
                <a:latin typeface="Century Gothic"/>
              </a:rPr>
              <a:t>A hotel group goes live on your system on 1 March. The date cannot move — their contract with the old vendor ends that day. Eight items are in scope. Your team can finish about five.</a:t>
            </a:r>
          </a:p>
        </p:txBody>
      </p:sp>
      <p:sp>
        <p:nvSpPr>
          <p:cNvPr id="7" name="Rounded Rectangle 6"/>
          <p:cNvSpPr/>
          <p:nvPr/>
        </p:nvSpPr>
        <p:spPr>
          <a:xfrm>
            <a:off x="502920" y="2953511"/>
            <a:ext cx="2697480" cy="1097280"/>
          </a:xfrm>
          <a:prstGeom prst="roundRect">
            <a:avLst>
              <a:gd name="adj" fmla="val 8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667512" y="3081527"/>
            <a:ext cx="292608" cy="292608"/>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i="0">
                <a:solidFill>
                  <a:srgbClr val="63E7A4"/>
                </a:solidFill>
                <a:latin typeface="Century Gothic"/>
              </a:rPr>
              <a:t>1</a:t>
            </a:r>
          </a:p>
        </p:txBody>
      </p:sp>
      <p:sp>
        <p:nvSpPr>
          <p:cNvPr id="9" name="TextBox 8"/>
          <p:cNvSpPr txBox="1"/>
          <p:nvPr/>
        </p:nvSpPr>
        <p:spPr>
          <a:xfrm>
            <a:off x="1051560" y="3063239"/>
            <a:ext cx="1965960" cy="530352"/>
          </a:xfrm>
          <a:prstGeom prst="rect">
            <a:avLst/>
          </a:prstGeom>
          <a:noFill/>
        </p:spPr>
        <p:txBody>
          <a:bodyPr wrap="square" lIns="0" tIns="0" rIns="0" bIns="0" anchor="t">
            <a:spAutoFit/>
          </a:bodyPr>
          <a:lstStyle/>
          <a:p>
            <a:pPr algn="l">
              <a:spcBef>
                <a:spcPts val="0"/>
              </a:spcBef>
              <a:spcAft>
                <a:spcPts val="400"/>
              </a:spcAft>
            </a:pPr>
            <a:r>
              <a:rPr sz="1200" b="0" i="0">
                <a:solidFill>
                  <a:srgbClr val="003352"/>
                </a:solidFill>
                <a:latin typeface="Century Gothic"/>
              </a:rPr>
              <a:t>Check-in and check-out</a:t>
            </a:r>
          </a:p>
        </p:txBody>
      </p:sp>
      <p:sp>
        <p:nvSpPr>
          <p:cNvPr id="10" name="Rounded Rectangle 9"/>
          <p:cNvSpPr/>
          <p:nvPr/>
        </p:nvSpPr>
        <p:spPr>
          <a:xfrm>
            <a:off x="667512" y="3611879"/>
            <a:ext cx="2368296" cy="329184"/>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536B7A"/>
                </a:solidFill>
                <a:latin typeface="Century Gothic"/>
              </a:rPr>
              <a:t>M / S / C / W</a:t>
            </a:r>
          </a:p>
        </p:txBody>
      </p:sp>
      <p:sp>
        <p:nvSpPr>
          <p:cNvPr id="11" name="Rounded Rectangle 10"/>
          <p:cNvSpPr/>
          <p:nvPr/>
        </p:nvSpPr>
        <p:spPr>
          <a:xfrm>
            <a:off x="3364992" y="2953511"/>
            <a:ext cx="2697480" cy="1097280"/>
          </a:xfrm>
          <a:prstGeom prst="roundRect">
            <a:avLst>
              <a:gd name="adj" fmla="val 8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3529584" y="3081527"/>
            <a:ext cx="292608" cy="292608"/>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i="0">
                <a:solidFill>
                  <a:srgbClr val="63E7A4"/>
                </a:solidFill>
                <a:latin typeface="Century Gothic"/>
              </a:rPr>
              <a:t>2</a:t>
            </a:r>
          </a:p>
        </p:txBody>
      </p:sp>
      <p:sp>
        <p:nvSpPr>
          <p:cNvPr id="13" name="TextBox 12"/>
          <p:cNvSpPr txBox="1"/>
          <p:nvPr/>
        </p:nvSpPr>
        <p:spPr>
          <a:xfrm>
            <a:off x="3913632" y="3063239"/>
            <a:ext cx="1965960" cy="530352"/>
          </a:xfrm>
          <a:prstGeom prst="rect">
            <a:avLst/>
          </a:prstGeom>
          <a:noFill/>
        </p:spPr>
        <p:txBody>
          <a:bodyPr wrap="square" lIns="0" tIns="0" rIns="0" bIns="0" anchor="t">
            <a:spAutoFit/>
          </a:bodyPr>
          <a:lstStyle/>
          <a:p>
            <a:pPr algn="l">
              <a:spcBef>
                <a:spcPts val="0"/>
              </a:spcBef>
              <a:spcAft>
                <a:spcPts val="400"/>
              </a:spcAft>
            </a:pPr>
            <a:r>
              <a:rPr sz="1200" b="0" i="0">
                <a:solidFill>
                  <a:srgbClr val="003352"/>
                </a:solidFill>
                <a:latin typeface="Century Gothic"/>
              </a:rPr>
              <a:t>Card payments at the desk</a:t>
            </a:r>
          </a:p>
        </p:txBody>
      </p:sp>
      <p:sp>
        <p:nvSpPr>
          <p:cNvPr id="14" name="Rounded Rectangle 13"/>
          <p:cNvSpPr/>
          <p:nvPr/>
        </p:nvSpPr>
        <p:spPr>
          <a:xfrm>
            <a:off x="3529584" y="3611879"/>
            <a:ext cx="2368296" cy="329184"/>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536B7A"/>
                </a:solidFill>
                <a:latin typeface="Century Gothic"/>
              </a:rPr>
              <a:t>M / S / C / W</a:t>
            </a:r>
          </a:p>
        </p:txBody>
      </p:sp>
      <p:sp>
        <p:nvSpPr>
          <p:cNvPr id="15" name="Rounded Rectangle 14"/>
          <p:cNvSpPr/>
          <p:nvPr/>
        </p:nvSpPr>
        <p:spPr>
          <a:xfrm>
            <a:off x="6227064" y="2953511"/>
            <a:ext cx="2697480" cy="1097280"/>
          </a:xfrm>
          <a:prstGeom prst="roundRect">
            <a:avLst>
              <a:gd name="adj" fmla="val 8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6391656" y="3081527"/>
            <a:ext cx="292608" cy="292608"/>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i="0">
                <a:solidFill>
                  <a:srgbClr val="63E7A4"/>
                </a:solidFill>
                <a:latin typeface="Century Gothic"/>
              </a:rPr>
              <a:t>3</a:t>
            </a:r>
          </a:p>
        </p:txBody>
      </p:sp>
      <p:sp>
        <p:nvSpPr>
          <p:cNvPr id="17" name="TextBox 16"/>
          <p:cNvSpPr txBox="1"/>
          <p:nvPr/>
        </p:nvSpPr>
        <p:spPr>
          <a:xfrm>
            <a:off x="6775704" y="3063239"/>
            <a:ext cx="1965960" cy="530352"/>
          </a:xfrm>
          <a:prstGeom prst="rect">
            <a:avLst/>
          </a:prstGeom>
          <a:noFill/>
        </p:spPr>
        <p:txBody>
          <a:bodyPr wrap="square" lIns="0" tIns="0" rIns="0" bIns="0" anchor="t">
            <a:spAutoFit/>
          </a:bodyPr>
          <a:lstStyle/>
          <a:p>
            <a:pPr algn="l">
              <a:spcBef>
                <a:spcPts val="0"/>
              </a:spcBef>
              <a:spcAft>
                <a:spcPts val="400"/>
              </a:spcAft>
            </a:pPr>
            <a:r>
              <a:rPr sz="1200" b="0" i="0">
                <a:solidFill>
                  <a:srgbClr val="003352"/>
                </a:solidFill>
                <a:latin typeface="Century Gothic"/>
              </a:rPr>
              <a:t>Room and rate configuration</a:t>
            </a:r>
          </a:p>
        </p:txBody>
      </p:sp>
      <p:sp>
        <p:nvSpPr>
          <p:cNvPr id="18" name="Rounded Rectangle 17"/>
          <p:cNvSpPr/>
          <p:nvPr/>
        </p:nvSpPr>
        <p:spPr>
          <a:xfrm>
            <a:off x="6391656" y="3611879"/>
            <a:ext cx="2368296" cy="329184"/>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536B7A"/>
                </a:solidFill>
                <a:latin typeface="Century Gothic"/>
              </a:rPr>
              <a:t>M / S / C / W</a:t>
            </a:r>
          </a:p>
        </p:txBody>
      </p:sp>
      <p:sp>
        <p:nvSpPr>
          <p:cNvPr id="19" name="Rounded Rectangle 18"/>
          <p:cNvSpPr/>
          <p:nvPr/>
        </p:nvSpPr>
        <p:spPr>
          <a:xfrm>
            <a:off x="9089136" y="2953511"/>
            <a:ext cx="2697480" cy="1097280"/>
          </a:xfrm>
          <a:prstGeom prst="roundRect">
            <a:avLst>
              <a:gd name="adj" fmla="val 8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9253728" y="3081527"/>
            <a:ext cx="292608" cy="292608"/>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i="0">
                <a:solidFill>
                  <a:srgbClr val="63E7A4"/>
                </a:solidFill>
                <a:latin typeface="Century Gothic"/>
              </a:rPr>
              <a:t>4</a:t>
            </a:r>
          </a:p>
        </p:txBody>
      </p:sp>
      <p:sp>
        <p:nvSpPr>
          <p:cNvPr id="21" name="TextBox 20"/>
          <p:cNvSpPr txBox="1"/>
          <p:nvPr/>
        </p:nvSpPr>
        <p:spPr>
          <a:xfrm>
            <a:off x="9637776" y="3063239"/>
            <a:ext cx="1965960" cy="530352"/>
          </a:xfrm>
          <a:prstGeom prst="rect">
            <a:avLst/>
          </a:prstGeom>
          <a:noFill/>
        </p:spPr>
        <p:txBody>
          <a:bodyPr wrap="square" lIns="0" tIns="0" rIns="0" bIns="0" anchor="t">
            <a:spAutoFit/>
          </a:bodyPr>
          <a:lstStyle/>
          <a:p>
            <a:pPr algn="l">
              <a:spcBef>
                <a:spcPts val="0"/>
              </a:spcBef>
              <a:spcAft>
                <a:spcPts val="400"/>
              </a:spcAft>
            </a:pPr>
            <a:r>
              <a:rPr sz="1200" b="0" i="0">
                <a:solidFill>
                  <a:srgbClr val="003352"/>
                </a:solidFill>
                <a:latin typeface="Century Gothic"/>
              </a:rPr>
              <a:t>Loyalty points accrual</a:t>
            </a:r>
          </a:p>
        </p:txBody>
      </p:sp>
      <p:sp>
        <p:nvSpPr>
          <p:cNvPr id="22" name="Rounded Rectangle 21"/>
          <p:cNvSpPr/>
          <p:nvPr/>
        </p:nvSpPr>
        <p:spPr>
          <a:xfrm>
            <a:off x="9253728" y="3611879"/>
            <a:ext cx="2368296" cy="329184"/>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536B7A"/>
                </a:solidFill>
                <a:latin typeface="Century Gothic"/>
              </a:rPr>
              <a:t>M / S / C / W</a:t>
            </a:r>
          </a:p>
        </p:txBody>
      </p:sp>
      <p:sp>
        <p:nvSpPr>
          <p:cNvPr id="23" name="Rounded Rectangle 22"/>
          <p:cNvSpPr/>
          <p:nvPr/>
        </p:nvSpPr>
        <p:spPr>
          <a:xfrm>
            <a:off x="502920" y="4169663"/>
            <a:ext cx="2697480" cy="1097280"/>
          </a:xfrm>
          <a:prstGeom prst="roundRect">
            <a:avLst>
              <a:gd name="adj" fmla="val 8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667512" y="4297679"/>
            <a:ext cx="292608" cy="292608"/>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i="0">
                <a:solidFill>
                  <a:srgbClr val="63E7A4"/>
                </a:solidFill>
                <a:latin typeface="Century Gothic"/>
              </a:rPr>
              <a:t>5</a:t>
            </a:r>
          </a:p>
        </p:txBody>
      </p:sp>
      <p:sp>
        <p:nvSpPr>
          <p:cNvPr id="25" name="TextBox 24"/>
          <p:cNvSpPr txBox="1"/>
          <p:nvPr/>
        </p:nvSpPr>
        <p:spPr>
          <a:xfrm>
            <a:off x="1051560" y="4279392"/>
            <a:ext cx="1965960" cy="530352"/>
          </a:xfrm>
          <a:prstGeom prst="rect">
            <a:avLst/>
          </a:prstGeom>
          <a:noFill/>
        </p:spPr>
        <p:txBody>
          <a:bodyPr wrap="square" lIns="0" tIns="0" rIns="0" bIns="0" anchor="t">
            <a:spAutoFit/>
          </a:bodyPr>
          <a:lstStyle/>
          <a:p>
            <a:pPr algn="l">
              <a:spcBef>
                <a:spcPts val="0"/>
              </a:spcBef>
              <a:spcAft>
                <a:spcPts val="400"/>
              </a:spcAft>
            </a:pPr>
            <a:r>
              <a:rPr sz="1200" b="0" i="0">
                <a:solidFill>
                  <a:srgbClr val="003352"/>
                </a:solidFill>
                <a:latin typeface="Century Gothic"/>
              </a:rPr>
              <a:t>Housekeeping status board</a:t>
            </a:r>
          </a:p>
        </p:txBody>
      </p:sp>
      <p:sp>
        <p:nvSpPr>
          <p:cNvPr id="26" name="Rounded Rectangle 25"/>
          <p:cNvSpPr/>
          <p:nvPr/>
        </p:nvSpPr>
        <p:spPr>
          <a:xfrm>
            <a:off x="667512" y="4828031"/>
            <a:ext cx="2368296" cy="329184"/>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536B7A"/>
                </a:solidFill>
                <a:latin typeface="Century Gothic"/>
              </a:rPr>
              <a:t>M / S / C / W</a:t>
            </a:r>
          </a:p>
        </p:txBody>
      </p:sp>
      <p:sp>
        <p:nvSpPr>
          <p:cNvPr id="27" name="Rounded Rectangle 26"/>
          <p:cNvSpPr/>
          <p:nvPr/>
        </p:nvSpPr>
        <p:spPr>
          <a:xfrm>
            <a:off x="3364992" y="4169663"/>
            <a:ext cx="2697480" cy="1097280"/>
          </a:xfrm>
          <a:prstGeom prst="roundRect">
            <a:avLst>
              <a:gd name="adj" fmla="val 8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3529584" y="4297679"/>
            <a:ext cx="292608" cy="292608"/>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i="0">
                <a:solidFill>
                  <a:srgbClr val="63E7A4"/>
                </a:solidFill>
                <a:latin typeface="Century Gothic"/>
              </a:rPr>
              <a:t>6</a:t>
            </a:r>
          </a:p>
        </p:txBody>
      </p:sp>
      <p:sp>
        <p:nvSpPr>
          <p:cNvPr id="29" name="TextBox 28"/>
          <p:cNvSpPr txBox="1"/>
          <p:nvPr/>
        </p:nvSpPr>
        <p:spPr>
          <a:xfrm>
            <a:off x="3913632" y="4279392"/>
            <a:ext cx="1965960" cy="530352"/>
          </a:xfrm>
          <a:prstGeom prst="rect">
            <a:avLst/>
          </a:prstGeom>
          <a:noFill/>
        </p:spPr>
        <p:txBody>
          <a:bodyPr wrap="square" lIns="0" tIns="0" rIns="0" bIns="0" anchor="t">
            <a:spAutoFit/>
          </a:bodyPr>
          <a:lstStyle/>
          <a:p>
            <a:pPr algn="l">
              <a:spcBef>
                <a:spcPts val="0"/>
              </a:spcBef>
              <a:spcAft>
                <a:spcPts val="400"/>
              </a:spcAft>
            </a:pPr>
            <a:r>
              <a:rPr sz="1200" b="0" i="0">
                <a:solidFill>
                  <a:srgbClr val="003352"/>
                </a:solidFill>
                <a:latin typeface="Century Gothic"/>
              </a:rPr>
              <a:t>Reporting dashboard, 12 charts</a:t>
            </a:r>
          </a:p>
        </p:txBody>
      </p:sp>
      <p:sp>
        <p:nvSpPr>
          <p:cNvPr id="30" name="Rounded Rectangle 29"/>
          <p:cNvSpPr/>
          <p:nvPr/>
        </p:nvSpPr>
        <p:spPr>
          <a:xfrm>
            <a:off x="3529584" y="4828031"/>
            <a:ext cx="2368296" cy="329184"/>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536B7A"/>
                </a:solidFill>
                <a:latin typeface="Century Gothic"/>
              </a:rPr>
              <a:t>M / S / C / W</a:t>
            </a:r>
          </a:p>
        </p:txBody>
      </p:sp>
      <p:sp>
        <p:nvSpPr>
          <p:cNvPr id="31" name="Rounded Rectangle 30"/>
          <p:cNvSpPr/>
          <p:nvPr/>
        </p:nvSpPr>
        <p:spPr>
          <a:xfrm>
            <a:off x="6227064" y="4169663"/>
            <a:ext cx="2697480" cy="1097280"/>
          </a:xfrm>
          <a:prstGeom prst="roundRect">
            <a:avLst>
              <a:gd name="adj" fmla="val 8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Oval 31"/>
          <p:cNvSpPr/>
          <p:nvPr/>
        </p:nvSpPr>
        <p:spPr>
          <a:xfrm>
            <a:off x="6391656" y="4297679"/>
            <a:ext cx="292608" cy="292608"/>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i="0">
                <a:solidFill>
                  <a:srgbClr val="63E7A4"/>
                </a:solidFill>
                <a:latin typeface="Century Gothic"/>
              </a:rPr>
              <a:t>7</a:t>
            </a:r>
          </a:p>
        </p:txBody>
      </p:sp>
      <p:sp>
        <p:nvSpPr>
          <p:cNvPr id="33" name="TextBox 32"/>
          <p:cNvSpPr txBox="1"/>
          <p:nvPr/>
        </p:nvSpPr>
        <p:spPr>
          <a:xfrm>
            <a:off x="6775704" y="4279392"/>
            <a:ext cx="1965960" cy="530352"/>
          </a:xfrm>
          <a:prstGeom prst="rect">
            <a:avLst/>
          </a:prstGeom>
          <a:noFill/>
        </p:spPr>
        <p:txBody>
          <a:bodyPr wrap="square" lIns="0" tIns="0" rIns="0" bIns="0" anchor="t">
            <a:spAutoFit/>
          </a:bodyPr>
          <a:lstStyle/>
          <a:p>
            <a:pPr algn="l">
              <a:spcBef>
                <a:spcPts val="0"/>
              </a:spcBef>
              <a:spcAft>
                <a:spcPts val="400"/>
              </a:spcAft>
            </a:pPr>
            <a:r>
              <a:rPr sz="1200" b="0" i="0">
                <a:solidFill>
                  <a:srgbClr val="003352"/>
                </a:solidFill>
                <a:latin typeface="Century Gothic"/>
              </a:rPr>
              <a:t>Migration of data from the old system</a:t>
            </a:r>
          </a:p>
        </p:txBody>
      </p:sp>
      <p:sp>
        <p:nvSpPr>
          <p:cNvPr id="34" name="Rounded Rectangle 33"/>
          <p:cNvSpPr/>
          <p:nvPr/>
        </p:nvSpPr>
        <p:spPr>
          <a:xfrm>
            <a:off x="6391656" y="4828031"/>
            <a:ext cx="2368296" cy="329184"/>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536B7A"/>
                </a:solidFill>
                <a:latin typeface="Century Gothic"/>
              </a:rPr>
              <a:t>M / S / C / W</a:t>
            </a:r>
          </a:p>
        </p:txBody>
      </p:sp>
      <p:sp>
        <p:nvSpPr>
          <p:cNvPr id="35" name="Rounded Rectangle 34"/>
          <p:cNvSpPr/>
          <p:nvPr/>
        </p:nvSpPr>
        <p:spPr>
          <a:xfrm>
            <a:off x="9089136" y="4169663"/>
            <a:ext cx="2697480" cy="1097280"/>
          </a:xfrm>
          <a:prstGeom prst="roundRect">
            <a:avLst>
              <a:gd name="adj" fmla="val 8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Oval 35"/>
          <p:cNvSpPr/>
          <p:nvPr/>
        </p:nvSpPr>
        <p:spPr>
          <a:xfrm>
            <a:off x="9253728" y="4297679"/>
            <a:ext cx="292608" cy="292608"/>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i="0">
                <a:solidFill>
                  <a:srgbClr val="63E7A4"/>
                </a:solidFill>
                <a:latin typeface="Century Gothic"/>
              </a:rPr>
              <a:t>8</a:t>
            </a:r>
          </a:p>
        </p:txBody>
      </p:sp>
      <p:sp>
        <p:nvSpPr>
          <p:cNvPr id="37" name="TextBox 36"/>
          <p:cNvSpPr txBox="1"/>
          <p:nvPr/>
        </p:nvSpPr>
        <p:spPr>
          <a:xfrm>
            <a:off x="9637776" y="4279392"/>
            <a:ext cx="1965960" cy="530352"/>
          </a:xfrm>
          <a:prstGeom prst="rect">
            <a:avLst/>
          </a:prstGeom>
          <a:noFill/>
        </p:spPr>
        <p:txBody>
          <a:bodyPr wrap="square" lIns="0" tIns="0" rIns="0" bIns="0" anchor="t">
            <a:spAutoFit/>
          </a:bodyPr>
          <a:lstStyle/>
          <a:p>
            <a:pPr algn="l">
              <a:spcBef>
                <a:spcPts val="0"/>
              </a:spcBef>
              <a:spcAft>
                <a:spcPts val="400"/>
              </a:spcAft>
            </a:pPr>
            <a:r>
              <a:rPr sz="1200" b="0" i="0">
                <a:solidFill>
                  <a:srgbClr val="003352"/>
                </a:solidFill>
                <a:latin typeface="Century Gothic"/>
              </a:rPr>
              <a:t>Dark mode for the front desk app</a:t>
            </a:r>
          </a:p>
        </p:txBody>
      </p:sp>
      <p:sp>
        <p:nvSpPr>
          <p:cNvPr id="38" name="Rounded Rectangle 37"/>
          <p:cNvSpPr/>
          <p:nvPr/>
        </p:nvSpPr>
        <p:spPr>
          <a:xfrm>
            <a:off x="9253728" y="4828031"/>
            <a:ext cx="2368296" cy="329184"/>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536B7A"/>
                </a:solidFill>
                <a:latin typeface="Century Gothic"/>
              </a:rPr>
              <a:t>M / S / C / W</a:t>
            </a:r>
          </a:p>
        </p:txBody>
      </p:sp>
      <p:sp>
        <p:nvSpPr>
          <p:cNvPr id="39" name="Rounded Rectangle 38"/>
          <p:cNvSpPr/>
          <p:nvPr/>
        </p:nvSpPr>
        <p:spPr>
          <a:xfrm>
            <a:off x="502920" y="5486400"/>
            <a:ext cx="11201400" cy="658368"/>
          </a:xfrm>
          <a:prstGeom prst="roundRect">
            <a:avLst>
              <a:gd name="adj" fmla="val 10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54864" rIns="201168" bIns="54864" rtlCol="0" anchor="ctr"/>
          <a:lstStyle/>
          <a:p>
            <a:r>
              <a:rPr sz="1300" b="1" i="0">
                <a:solidFill>
                  <a:srgbClr val="FFFFFF"/>
                </a:solidFill>
                <a:latin typeface="Century Gothic"/>
              </a:rPr>
              <a:t>Then the honest part: read your “Won't have” list out loud to the room, as if the client were sitting in it.</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0C74E-FE14-F9B0-01F3-74573C0823EC}"/>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6C02603-AE61-DB45-2C5C-0BE95836E946}"/>
              </a:ext>
            </a:extLst>
          </p:cNvPr>
          <p:cNvPicPr>
            <a:picLocks noGrp="1" noChangeAspect="1"/>
          </p:cNvPicPr>
          <p:nvPr>
            <p:ph idx="1"/>
          </p:nvPr>
        </p:nvPicPr>
        <p:blipFill>
          <a:blip r:embed="rId2"/>
          <a:stretch>
            <a:fillRect/>
          </a:stretch>
        </p:blipFill>
        <p:spPr>
          <a:xfrm>
            <a:off x="2625269" y="1580052"/>
            <a:ext cx="6535062" cy="4353533"/>
          </a:xfrm>
        </p:spPr>
      </p:pic>
      <p:sp>
        <p:nvSpPr>
          <p:cNvPr id="3" name="Content Placeholder 2">
            <a:extLst>
              <a:ext uri="{FF2B5EF4-FFF2-40B4-BE49-F238E27FC236}">
                <a16:creationId xmlns:a16="http://schemas.microsoft.com/office/drawing/2014/main" id="{7E63DA1A-3205-5330-3C75-AED14E79D3F9}"/>
              </a:ext>
            </a:extLst>
          </p:cNvPr>
          <p:cNvSpPr>
            <a:spLocks noGrp="1"/>
          </p:cNvSpPr>
          <p:nvPr>
            <p:ph sz="quarter" idx="10"/>
          </p:nvPr>
        </p:nvSpPr>
        <p:spPr/>
        <p:txBody>
          <a:bodyPr/>
          <a:lstStyle/>
          <a:p>
            <a:r>
              <a:rPr lang="en-US" b="0" dirty="0">
                <a:solidFill>
                  <a:srgbClr val="1F1F1F"/>
                </a:solidFill>
                <a:latin typeface="Google Sans Flex"/>
              </a:rPr>
              <a:t>O</a:t>
            </a:r>
            <a:r>
              <a:rPr lang="en-US" b="0" i="0" dirty="0">
                <a:solidFill>
                  <a:srgbClr val="1F1F1F"/>
                </a:solidFill>
                <a:effectLst/>
                <a:latin typeface="Google Sans Flex"/>
              </a:rPr>
              <a:t>rganizing party for your friends. what are your prioritize? – </a:t>
            </a:r>
            <a:r>
              <a:rPr lang="en-US" b="0" i="0" dirty="0" err="1">
                <a:solidFill>
                  <a:srgbClr val="1F1F1F"/>
                </a:solidFill>
                <a:effectLst/>
                <a:latin typeface="Google Sans Flex"/>
              </a:rPr>
              <a:t>MoSCoW</a:t>
            </a:r>
            <a:r>
              <a:rPr lang="en-US" b="0" i="0" dirty="0">
                <a:solidFill>
                  <a:srgbClr val="1F1F1F"/>
                </a:solidFill>
                <a:effectLst/>
                <a:latin typeface="Google Sans Flex"/>
              </a:rPr>
              <a:t> framework</a:t>
            </a:r>
            <a:endParaRPr lang="en-IN" dirty="0"/>
          </a:p>
        </p:txBody>
      </p:sp>
    </p:spTree>
    <p:extLst>
      <p:ext uri="{BB962C8B-B14F-4D97-AF65-F5344CB8AC3E}">
        <p14:creationId xmlns:p14="http://schemas.microsoft.com/office/powerpoint/2010/main" val="31753162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wrap="square"/>
          <a:lstStyle/>
          <a:p>
            <a:r>
              <a:rPr sz="2600" b="1">
                <a:solidFill>
                  <a:srgbClr val="003352"/>
                </a:solidFill>
                <a:latin typeface="Century Gothic"/>
              </a:rPr>
              <a:t>RICE: putting a number on the argument</a:t>
            </a:r>
          </a:p>
        </p:txBody>
      </p:sp>
      <p:sp>
        <p:nvSpPr>
          <p:cNvPr id="4" name="Rounded Rectangle 3"/>
          <p:cNvSpPr/>
          <p:nvPr/>
        </p:nvSpPr>
        <p:spPr>
          <a:xfrm>
            <a:off x="502920" y="1371600"/>
            <a:ext cx="4517136" cy="292608"/>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ctr"/>
            <a:r>
              <a:rPr sz="1000" b="1" i="0">
                <a:solidFill>
                  <a:srgbClr val="003352"/>
                </a:solidFill>
                <a:latin typeface="Century Gothic"/>
              </a:rPr>
              <a:t>FRAMEWORK  ·  WORKED EXAMPLE</a:t>
            </a:r>
          </a:p>
        </p:txBody>
      </p:sp>
      <p:sp>
        <p:nvSpPr>
          <p:cNvPr id="5" name="Rounded Rectangle 4"/>
          <p:cNvSpPr/>
          <p:nvPr/>
        </p:nvSpPr>
        <p:spPr>
          <a:xfrm>
            <a:off x="502920" y="1874519"/>
            <a:ext cx="11201400" cy="603504"/>
          </a:xfrm>
          <a:prstGeom prst="roundRect">
            <a:avLst>
              <a:gd name="adj" fmla="val 10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219456" rIns="219456" rtlCol="0" anchor="ctr"/>
          <a:lstStyle/>
          <a:p>
            <a:r>
              <a:rPr sz="1600" b="1" i="0">
                <a:solidFill>
                  <a:srgbClr val="63E7A4"/>
                </a:solidFill>
                <a:latin typeface="Century Gothic"/>
              </a:rPr>
              <a:t>SCORE  =  ( Reach  ×  Impact  ×  Confidence )  ÷  Effort</a:t>
            </a:r>
          </a:p>
        </p:txBody>
      </p:sp>
      <p:sp>
        <p:nvSpPr>
          <p:cNvPr id="6" name="Rounded Rectangle 5"/>
          <p:cNvSpPr/>
          <p:nvPr/>
        </p:nvSpPr>
        <p:spPr>
          <a:xfrm>
            <a:off x="502920" y="2660903"/>
            <a:ext cx="2697480" cy="868680"/>
          </a:xfrm>
          <a:prstGeom prst="roundRect">
            <a:avLst>
              <a:gd name="adj" fmla="val 10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67512" y="2770632"/>
            <a:ext cx="2368296" cy="685800"/>
          </a:xfrm>
          <a:prstGeom prst="rect">
            <a:avLst/>
          </a:prstGeom>
          <a:noFill/>
        </p:spPr>
        <p:txBody>
          <a:bodyPr wrap="square" lIns="0" tIns="0" rIns="0" bIns="0" anchor="t">
            <a:spAutoFit/>
          </a:bodyPr>
          <a:lstStyle/>
          <a:p>
            <a:pPr algn="l">
              <a:spcBef>
                <a:spcPts val="0"/>
              </a:spcBef>
              <a:spcAft>
                <a:spcPts val="300"/>
              </a:spcAft>
            </a:pPr>
            <a:r>
              <a:rPr sz="1250" b="1" i="0">
                <a:solidFill>
                  <a:srgbClr val="003352"/>
                </a:solidFill>
                <a:latin typeface="Century Gothic"/>
              </a:rPr>
              <a:t>Reach</a:t>
            </a:r>
          </a:p>
          <a:p>
            <a:pPr algn="l">
              <a:spcBef>
                <a:spcPts val="0"/>
              </a:spcBef>
              <a:spcAft>
                <a:spcPts val="400"/>
              </a:spcAft>
            </a:pPr>
            <a:r>
              <a:rPr sz="1050" b="0" i="0">
                <a:solidFill>
                  <a:srgbClr val="536B7A"/>
                </a:solidFill>
                <a:latin typeface="Century Gothic"/>
              </a:rPr>
              <a:t>Users affected per quarter. Count them, do not feel them.</a:t>
            </a:r>
          </a:p>
        </p:txBody>
      </p:sp>
      <p:sp>
        <p:nvSpPr>
          <p:cNvPr id="8" name="Rounded Rectangle 7"/>
          <p:cNvSpPr/>
          <p:nvPr/>
        </p:nvSpPr>
        <p:spPr>
          <a:xfrm>
            <a:off x="3364992" y="2660903"/>
            <a:ext cx="2697480" cy="868680"/>
          </a:xfrm>
          <a:prstGeom prst="roundRect">
            <a:avLst>
              <a:gd name="adj" fmla="val 10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3529584" y="2770632"/>
            <a:ext cx="2368296" cy="685800"/>
          </a:xfrm>
          <a:prstGeom prst="rect">
            <a:avLst/>
          </a:prstGeom>
          <a:noFill/>
        </p:spPr>
        <p:txBody>
          <a:bodyPr wrap="square" lIns="0" tIns="0" rIns="0" bIns="0" anchor="t">
            <a:spAutoFit/>
          </a:bodyPr>
          <a:lstStyle/>
          <a:p>
            <a:pPr algn="l">
              <a:spcBef>
                <a:spcPts val="0"/>
              </a:spcBef>
              <a:spcAft>
                <a:spcPts val="300"/>
              </a:spcAft>
            </a:pPr>
            <a:r>
              <a:rPr sz="1250" b="1" i="0">
                <a:solidFill>
                  <a:srgbClr val="003352"/>
                </a:solidFill>
                <a:latin typeface="Century Gothic"/>
              </a:rPr>
              <a:t>Impact</a:t>
            </a:r>
          </a:p>
          <a:p>
            <a:pPr algn="l">
              <a:spcBef>
                <a:spcPts val="0"/>
              </a:spcBef>
              <a:spcAft>
                <a:spcPts val="400"/>
              </a:spcAft>
            </a:pPr>
            <a:r>
              <a:rPr sz="1050" b="0" i="0">
                <a:solidFill>
                  <a:srgbClr val="536B7A"/>
                </a:solidFill>
                <a:latin typeface="Century Gothic"/>
              </a:rPr>
              <a:t>3 massive · 2 high · 1 medium · 0.5 low · 0.25 minimal</a:t>
            </a:r>
          </a:p>
        </p:txBody>
      </p:sp>
      <p:sp>
        <p:nvSpPr>
          <p:cNvPr id="10" name="Rounded Rectangle 9"/>
          <p:cNvSpPr/>
          <p:nvPr/>
        </p:nvSpPr>
        <p:spPr>
          <a:xfrm>
            <a:off x="6227064" y="2660903"/>
            <a:ext cx="2697480" cy="868680"/>
          </a:xfrm>
          <a:prstGeom prst="roundRect">
            <a:avLst>
              <a:gd name="adj" fmla="val 10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391656" y="2770632"/>
            <a:ext cx="2368296" cy="685800"/>
          </a:xfrm>
          <a:prstGeom prst="rect">
            <a:avLst/>
          </a:prstGeom>
          <a:noFill/>
        </p:spPr>
        <p:txBody>
          <a:bodyPr wrap="square" lIns="0" tIns="0" rIns="0" bIns="0" anchor="t">
            <a:spAutoFit/>
          </a:bodyPr>
          <a:lstStyle/>
          <a:p>
            <a:pPr algn="l">
              <a:spcBef>
                <a:spcPts val="0"/>
              </a:spcBef>
              <a:spcAft>
                <a:spcPts val="300"/>
              </a:spcAft>
            </a:pPr>
            <a:r>
              <a:rPr sz="1250" b="1" i="0">
                <a:solidFill>
                  <a:srgbClr val="003352"/>
                </a:solidFill>
                <a:latin typeface="Century Gothic"/>
              </a:rPr>
              <a:t>Confidence</a:t>
            </a:r>
          </a:p>
          <a:p>
            <a:pPr algn="l">
              <a:spcBef>
                <a:spcPts val="0"/>
              </a:spcBef>
              <a:spcAft>
                <a:spcPts val="400"/>
              </a:spcAft>
            </a:pPr>
            <a:r>
              <a:rPr sz="1050" b="0" i="0">
                <a:solidFill>
                  <a:srgbClr val="536B7A"/>
                </a:solidFill>
                <a:latin typeface="Century Gothic"/>
              </a:rPr>
              <a:t>100% you have data · 80% some evidence · 50% a hunch</a:t>
            </a:r>
          </a:p>
        </p:txBody>
      </p:sp>
      <p:sp>
        <p:nvSpPr>
          <p:cNvPr id="12" name="Rounded Rectangle 11"/>
          <p:cNvSpPr/>
          <p:nvPr/>
        </p:nvSpPr>
        <p:spPr>
          <a:xfrm>
            <a:off x="9089136" y="2660903"/>
            <a:ext cx="2697480" cy="868680"/>
          </a:xfrm>
          <a:prstGeom prst="roundRect">
            <a:avLst>
              <a:gd name="adj" fmla="val 10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9253728" y="2770632"/>
            <a:ext cx="2368296" cy="685800"/>
          </a:xfrm>
          <a:prstGeom prst="rect">
            <a:avLst/>
          </a:prstGeom>
          <a:noFill/>
        </p:spPr>
        <p:txBody>
          <a:bodyPr wrap="square" lIns="0" tIns="0" rIns="0" bIns="0" anchor="t">
            <a:spAutoFit/>
          </a:bodyPr>
          <a:lstStyle/>
          <a:p>
            <a:pPr algn="l">
              <a:spcBef>
                <a:spcPts val="0"/>
              </a:spcBef>
              <a:spcAft>
                <a:spcPts val="300"/>
              </a:spcAft>
            </a:pPr>
            <a:r>
              <a:rPr sz="1250" b="1" i="0">
                <a:solidFill>
                  <a:srgbClr val="003352"/>
                </a:solidFill>
                <a:latin typeface="Century Gothic"/>
              </a:rPr>
              <a:t>Effort</a:t>
            </a:r>
          </a:p>
          <a:p>
            <a:pPr algn="l">
              <a:spcBef>
                <a:spcPts val="0"/>
              </a:spcBef>
              <a:spcAft>
                <a:spcPts val="400"/>
              </a:spcAft>
            </a:pPr>
            <a:r>
              <a:rPr sz="1050" b="0" i="0">
                <a:solidFill>
                  <a:srgbClr val="536B7A"/>
                </a:solidFill>
                <a:latin typeface="Century Gothic"/>
              </a:rPr>
              <a:t>Person-weeks, from the people who will do the work</a:t>
            </a:r>
          </a:p>
        </p:txBody>
      </p:sp>
      <p:graphicFrame>
        <p:nvGraphicFramePr>
          <p:cNvPr id="14" name="Table 13"/>
          <p:cNvGraphicFramePr>
            <a:graphicFrameLocks noGrp="1"/>
          </p:cNvGraphicFramePr>
          <p:nvPr/>
        </p:nvGraphicFramePr>
        <p:xfrm>
          <a:off x="502920" y="3666744"/>
          <a:ext cx="11201400" cy="1316736"/>
        </p:xfrm>
        <a:graphic>
          <a:graphicData uri="http://schemas.openxmlformats.org/drawingml/2006/table">
            <a:tbl>
              <a:tblPr>
                <a:tableStyleId>{5C22544A-7EE6-4342-B048-85BDC9FD1C3A}</a:tableStyleId>
              </a:tblPr>
              <a:tblGrid>
                <a:gridCol w="4480560">
                  <a:extLst>
                    <a:ext uri="{9D8B030D-6E8A-4147-A177-3AD203B41FA5}">
                      <a16:colId xmlns:a16="http://schemas.microsoft.com/office/drawing/2014/main" val="20000"/>
                    </a:ext>
                  </a:extLst>
                </a:gridCol>
                <a:gridCol w="1344168">
                  <a:extLst>
                    <a:ext uri="{9D8B030D-6E8A-4147-A177-3AD203B41FA5}">
                      <a16:colId xmlns:a16="http://schemas.microsoft.com/office/drawing/2014/main" val="20001"/>
                    </a:ext>
                  </a:extLst>
                </a:gridCol>
                <a:gridCol w="1344168">
                  <a:extLst>
                    <a:ext uri="{9D8B030D-6E8A-4147-A177-3AD203B41FA5}">
                      <a16:colId xmlns:a16="http://schemas.microsoft.com/office/drawing/2014/main" val="20002"/>
                    </a:ext>
                  </a:extLst>
                </a:gridCol>
                <a:gridCol w="1344168">
                  <a:extLst>
                    <a:ext uri="{9D8B030D-6E8A-4147-A177-3AD203B41FA5}">
                      <a16:colId xmlns:a16="http://schemas.microsoft.com/office/drawing/2014/main" val="20003"/>
                    </a:ext>
                  </a:extLst>
                </a:gridCol>
                <a:gridCol w="1344168">
                  <a:extLst>
                    <a:ext uri="{9D8B030D-6E8A-4147-A177-3AD203B41FA5}">
                      <a16:colId xmlns:a16="http://schemas.microsoft.com/office/drawing/2014/main" val="20004"/>
                    </a:ext>
                  </a:extLst>
                </a:gridCol>
                <a:gridCol w="1344168">
                  <a:extLst>
                    <a:ext uri="{9D8B030D-6E8A-4147-A177-3AD203B41FA5}">
                      <a16:colId xmlns:a16="http://schemas.microsoft.com/office/drawing/2014/main" val="20005"/>
                    </a:ext>
                  </a:extLst>
                </a:gridCol>
              </a:tblGrid>
              <a:tr h="329184">
                <a:tc>
                  <a:txBody>
                    <a:bodyPr/>
                    <a:lstStyle/>
                    <a:p>
                      <a:pPr>
                        <a:spcAft>
                          <a:spcPts val="0"/>
                        </a:spcAft>
                      </a:pPr>
                      <a:r>
                        <a:rPr sz="1100" b="1" i="0">
                          <a:solidFill>
                            <a:srgbClr val="FFFFFF"/>
                          </a:solidFill>
                          <a:latin typeface="Century Gothic"/>
                        </a:rPr>
                        <a:t>From the backlog you just scored</a:t>
                      </a:r>
                    </a:p>
                  </a:txBody>
                  <a:tcPr marL="109728" marT="36576" marB="36576" anchor="ctr">
                    <a:solidFill>
                      <a:srgbClr val="003352"/>
                    </a:solidFill>
                  </a:tcPr>
                </a:tc>
                <a:tc>
                  <a:txBody>
                    <a:bodyPr/>
                    <a:lstStyle/>
                    <a:p>
                      <a:pPr>
                        <a:spcAft>
                          <a:spcPts val="0"/>
                        </a:spcAft>
                      </a:pPr>
                      <a:r>
                        <a:rPr sz="1100" b="1" i="0">
                          <a:solidFill>
                            <a:srgbClr val="FFFFFF"/>
                          </a:solidFill>
                          <a:latin typeface="Century Gothic"/>
                        </a:rPr>
                        <a:t>Reach</a:t>
                      </a:r>
                    </a:p>
                  </a:txBody>
                  <a:tcPr marL="109728" marT="36576" marB="36576" anchor="ctr">
                    <a:solidFill>
                      <a:srgbClr val="003352"/>
                    </a:solidFill>
                  </a:tcPr>
                </a:tc>
                <a:tc>
                  <a:txBody>
                    <a:bodyPr/>
                    <a:lstStyle/>
                    <a:p>
                      <a:pPr>
                        <a:spcAft>
                          <a:spcPts val="0"/>
                        </a:spcAft>
                      </a:pPr>
                      <a:r>
                        <a:rPr sz="1100" b="1" i="0">
                          <a:solidFill>
                            <a:srgbClr val="FFFFFF"/>
                          </a:solidFill>
                          <a:latin typeface="Century Gothic"/>
                        </a:rPr>
                        <a:t>Impact</a:t>
                      </a:r>
                    </a:p>
                  </a:txBody>
                  <a:tcPr marL="109728" marT="36576" marB="36576" anchor="ctr">
                    <a:solidFill>
                      <a:srgbClr val="003352"/>
                    </a:solidFill>
                  </a:tcPr>
                </a:tc>
                <a:tc>
                  <a:txBody>
                    <a:bodyPr/>
                    <a:lstStyle/>
                    <a:p>
                      <a:pPr>
                        <a:spcAft>
                          <a:spcPts val="0"/>
                        </a:spcAft>
                      </a:pPr>
                      <a:r>
                        <a:rPr sz="1100" b="1" i="0">
                          <a:solidFill>
                            <a:srgbClr val="FFFFFF"/>
                          </a:solidFill>
                          <a:latin typeface="Century Gothic"/>
                        </a:rPr>
                        <a:t>Confidence</a:t>
                      </a:r>
                    </a:p>
                  </a:txBody>
                  <a:tcPr marL="109728" marT="36576" marB="36576" anchor="ctr">
                    <a:solidFill>
                      <a:srgbClr val="003352"/>
                    </a:solidFill>
                  </a:tcPr>
                </a:tc>
                <a:tc>
                  <a:txBody>
                    <a:bodyPr/>
                    <a:lstStyle/>
                    <a:p>
                      <a:pPr>
                        <a:spcAft>
                          <a:spcPts val="0"/>
                        </a:spcAft>
                      </a:pPr>
                      <a:r>
                        <a:rPr sz="1100" b="1" i="0">
                          <a:solidFill>
                            <a:srgbClr val="FFFFFF"/>
                          </a:solidFill>
                          <a:latin typeface="Century Gothic"/>
                        </a:rPr>
                        <a:t>Effort</a:t>
                      </a:r>
                    </a:p>
                  </a:txBody>
                  <a:tcPr marL="109728" marT="36576" marB="36576" anchor="ctr">
                    <a:solidFill>
                      <a:srgbClr val="003352"/>
                    </a:solidFill>
                  </a:tcPr>
                </a:tc>
                <a:tc>
                  <a:txBody>
                    <a:bodyPr/>
                    <a:lstStyle/>
                    <a:p>
                      <a:pPr>
                        <a:spcAft>
                          <a:spcPts val="0"/>
                        </a:spcAft>
                      </a:pPr>
                      <a:r>
                        <a:rPr sz="1100" b="1" i="0">
                          <a:solidFill>
                            <a:srgbClr val="FFFFFF"/>
                          </a:solidFill>
                          <a:latin typeface="Century Gothic"/>
                        </a:rPr>
                        <a:t>RICE</a:t>
                      </a:r>
                    </a:p>
                  </a:txBody>
                  <a:tcPr marL="109728" marT="36576" marB="36576" anchor="ctr">
                    <a:solidFill>
                      <a:srgbClr val="003352"/>
                    </a:solidFill>
                  </a:tcPr>
                </a:tc>
                <a:extLst>
                  <a:ext uri="{0D108BD9-81ED-4DB2-BD59-A6C34878D82A}">
                    <a16:rowId xmlns:a16="http://schemas.microsoft.com/office/drawing/2014/main" val="10000"/>
                  </a:ext>
                </a:extLst>
              </a:tr>
              <a:tr h="329184">
                <a:tc>
                  <a:txBody>
                    <a:bodyPr/>
                    <a:lstStyle/>
                    <a:p>
                      <a:pPr>
                        <a:spcAft>
                          <a:spcPts val="0"/>
                        </a:spcAft>
                      </a:pPr>
                      <a:r>
                        <a:rPr sz="1150" b="0" i="0">
                          <a:solidFill>
                            <a:srgbClr val="003352"/>
                          </a:solidFill>
                          <a:latin typeface="Century Gothic"/>
                        </a:rPr>
                        <a:t>Checkout crash fix</a:t>
                      </a:r>
                    </a:p>
                  </a:txBody>
                  <a:tcPr marL="109728" marT="36576" marB="36576" anchor="ctr">
                    <a:solidFill>
                      <a:srgbClr val="FFFFFF"/>
                    </a:solidFill>
                  </a:tcPr>
                </a:tc>
                <a:tc>
                  <a:txBody>
                    <a:bodyPr/>
                    <a:lstStyle/>
                    <a:p>
                      <a:pPr>
                        <a:spcAft>
                          <a:spcPts val="0"/>
                        </a:spcAft>
                      </a:pPr>
                      <a:r>
                        <a:rPr sz="1150" b="0" i="0">
                          <a:solidFill>
                            <a:srgbClr val="003352"/>
                          </a:solidFill>
                          <a:latin typeface="Century Gothic"/>
                        </a:rPr>
                        <a:t>40,000</a:t>
                      </a:r>
                    </a:p>
                  </a:txBody>
                  <a:tcPr marL="109728" marT="36576" marB="36576" anchor="ctr">
                    <a:solidFill>
                      <a:srgbClr val="FFFFFF"/>
                    </a:solidFill>
                  </a:tcPr>
                </a:tc>
                <a:tc>
                  <a:txBody>
                    <a:bodyPr/>
                    <a:lstStyle/>
                    <a:p>
                      <a:pPr>
                        <a:spcAft>
                          <a:spcPts val="0"/>
                        </a:spcAft>
                      </a:pPr>
                      <a:r>
                        <a:rPr sz="1150" b="0" i="0">
                          <a:solidFill>
                            <a:srgbClr val="003352"/>
                          </a:solidFill>
                          <a:latin typeface="Century Gothic"/>
                        </a:rPr>
                        <a:t>3</a:t>
                      </a:r>
                    </a:p>
                  </a:txBody>
                  <a:tcPr marL="109728" marT="36576" marB="36576" anchor="ctr">
                    <a:solidFill>
                      <a:srgbClr val="FFFFFF"/>
                    </a:solidFill>
                  </a:tcPr>
                </a:tc>
                <a:tc>
                  <a:txBody>
                    <a:bodyPr/>
                    <a:lstStyle/>
                    <a:p>
                      <a:pPr>
                        <a:spcAft>
                          <a:spcPts val="0"/>
                        </a:spcAft>
                      </a:pPr>
                      <a:r>
                        <a:rPr sz="1150" b="0" i="0">
                          <a:solidFill>
                            <a:srgbClr val="003352"/>
                          </a:solidFill>
                          <a:latin typeface="Century Gothic"/>
                        </a:rPr>
                        <a:t>100%</a:t>
                      </a:r>
                    </a:p>
                  </a:txBody>
                  <a:tcPr marL="109728" marT="36576" marB="36576" anchor="ctr">
                    <a:solidFill>
                      <a:srgbClr val="FFFFFF"/>
                    </a:solidFill>
                  </a:tcPr>
                </a:tc>
                <a:tc>
                  <a:txBody>
                    <a:bodyPr/>
                    <a:lstStyle/>
                    <a:p>
                      <a:pPr>
                        <a:spcAft>
                          <a:spcPts val="0"/>
                        </a:spcAft>
                      </a:pPr>
                      <a:r>
                        <a:rPr sz="1150" b="0" i="0">
                          <a:solidFill>
                            <a:srgbClr val="003352"/>
                          </a:solidFill>
                          <a:latin typeface="Century Gothic"/>
                        </a:rPr>
                        <a:t>1</a:t>
                      </a:r>
                    </a:p>
                  </a:txBody>
                  <a:tcPr marL="109728" marT="36576" marB="36576" anchor="ctr">
                    <a:solidFill>
                      <a:srgbClr val="FFFFFF"/>
                    </a:solidFill>
                  </a:tcPr>
                </a:tc>
                <a:tc>
                  <a:txBody>
                    <a:bodyPr/>
                    <a:lstStyle/>
                    <a:p>
                      <a:pPr>
                        <a:spcAft>
                          <a:spcPts val="0"/>
                        </a:spcAft>
                      </a:pPr>
                      <a:r>
                        <a:rPr sz="1150" b="0" i="0">
                          <a:solidFill>
                            <a:srgbClr val="003352"/>
                          </a:solidFill>
                          <a:latin typeface="Century Gothic"/>
                        </a:rPr>
                        <a:t>120,000</a:t>
                      </a:r>
                    </a:p>
                  </a:txBody>
                  <a:tcPr marL="109728" marT="36576" marB="36576" anchor="ctr">
                    <a:solidFill>
                      <a:srgbClr val="FFFFFF"/>
                    </a:solidFill>
                  </a:tcPr>
                </a:tc>
                <a:extLst>
                  <a:ext uri="{0D108BD9-81ED-4DB2-BD59-A6C34878D82A}">
                    <a16:rowId xmlns:a16="http://schemas.microsoft.com/office/drawing/2014/main" val="10001"/>
                  </a:ext>
                </a:extLst>
              </a:tr>
              <a:tr h="329184">
                <a:tc>
                  <a:txBody>
                    <a:bodyPr/>
                    <a:lstStyle/>
                    <a:p>
                      <a:pPr>
                        <a:spcAft>
                          <a:spcPts val="0"/>
                        </a:spcAft>
                      </a:pPr>
                      <a:r>
                        <a:rPr sz="1150" b="0" i="0">
                          <a:solidFill>
                            <a:srgbClr val="003352"/>
                          </a:solidFill>
                          <a:latin typeface="Century Gothic"/>
                        </a:rPr>
                        <a:t>Search under 1 second</a:t>
                      </a:r>
                    </a:p>
                  </a:txBody>
                  <a:tcPr marL="109728" marT="36576" marB="36576" anchor="ctr">
                    <a:solidFill>
                      <a:srgbClr val="E9F0F4"/>
                    </a:solidFill>
                  </a:tcPr>
                </a:tc>
                <a:tc>
                  <a:txBody>
                    <a:bodyPr/>
                    <a:lstStyle/>
                    <a:p>
                      <a:pPr>
                        <a:spcAft>
                          <a:spcPts val="0"/>
                        </a:spcAft>
                      </a:pPr>
                      <a:r>
                        <a:rPr sz="1150" b="0" i="0">
                          <a:solidFill>
                            <a:srgbClr val="003352"/>
                          </a:solidFill>
                          <a:latin typeface="Century Gothic"/>
                        </a:rPr>
                        <a:t>90,000</a:t>
                      </a:r>
                    </a:p>
                  </a:txBody>
                  <a:tcPr marL="109728" marT="36576" marB="36576" anchor="ctr">
                    <a:solidFill>
                      <a:srgbClr val="E9F0F4"/>
                    </a:solidFill>
                  </a:tcPr>
                </a:tc>
                <a:tc>
                  <a:txBody>
                    <a:bodyPr/>
                    <a:lstStyle/>
                    <a:p>
                      <a:pPr>
                        <a:spcAft>
                          <a:spcPts val="0"/>
                        </a:spcAft>
                      </a:pPr>
                      <a:r>
                        <a:rPr sz="1150" b="0" i="0">
                          <a:solidFill>
                            <a:srgbClr val="003352"/>
                          </a:solidFill>
                          <a:latin typeface="Century Gothic"/>
                        </a:rPr>
                        <a:t>1</a:t>
                      </a:r>
                    </a:p>
                  </a:txBody>
                  <a:tcPr marL="109728" marT="36576" marB="36576" anchor="ctr">
                    <a:solidFill>
                      <a:srgbClr val="E9F0F4"/>
                    </a:solidFill>
                  </a:tcPr>
                </a:tc>
                <a:tc>
                  <a:txBody>
                    <a:bodyPr/>
                    <a:lstStyle/>
                    <a:p>
                      <a:pPr>
                        <a:spcAft>
                          <a:spcPts val="0"/>
                        </a:spcAft>
                      </a:pPr>
                      <a:r>
                        <a:rPr sz="1150" b="0" i="0">
                          <a:solidFill>
                            <a:srgbClr val="003352"/>
                          </a:solidFill>
                          <a:latin typeface="Century Gothic"/>
                        </a:rPr>
                        <a:t>80%</a:t>
                      </a:r>
                    </a:p>
                  </a:txBody>
                  <a:tcPr marL="109728" marT="36576" marB="36576" anchor="ctr">
                    <a:solidFill>
                      <a:srgbClr val="E9F0F4"/>
                    </a:solidFill>
                  </a:tcPr>
                </a:tc>
                <a:tc>
                  <a:txBody>
                    <a:bodyPr/>
                    <a:lstStyle/>
                    <a:p>
                      <a:pPr>
                        <a:spcAft>
                          <a:spcPts val="0"/>
                        </a:spcAft>
                      </a:pPr>
                      <a:r>
                        <a:rPr sz="1150" b="0" i="0">
                          <a:solidFill>
                            <a:srgbClr val="003352"/>
                          </a:solidFill>
                          <a:latin typeface="Century Gothic"/>
                        </a:rPr>
                        <a:t>2</a:t>
                      </a:r>
                    </a:p>
                  </a:txBody>
                  <a:tcPr marL="109728" marT="36576" marB="36576" anchor="ctr">
                    <a:solidFill>
                      <a:srgbClr val="E9F0F4"/>
                    </a:solidFill>
                  </a:tcPr>
                </a:tc>
                <a:tc>
                  <a:txBody>
                    <a:bodyPr/>
                    <a:lstStyle/>
                    <a:p>
                      <a:pPr>
                        <a:spcAft>
                          <a:spcPts val="0"/>
                        </a:spcAft>
                      </a:pPr>
                      <a:r>
                        <a:rPr sz="1150" b="0" i="0">
                          <a:solidFill>
                            <a:srgbClr val="003352"/>
                          </a:solidFill>
                          <a:latin typeface="Century Gothic"/>
                        </a:rPr>
                        <a:t>36,000</a:t>
                      </a:r>
                    </a:p>
                  </a:txBody>
                  <a:tcPr marL="109728" marT="36576" marB="36576" anchor="ctr">
                    <a:solidFill>
                      <a:srgbClr val="E9F0F4"/>
                    </a:solidFill>
                  </a:tcPr>
                </a:tc>
                <a:extLst>
                  <a:ext uri="{0D108BD9-81ED-4DB2-BD59-A6C34878D82A}">
                    <a16:rowId xmlns:a16="http://schemas.microsoft.com/office/drawing/2014/main" val="10002"/>
                  </a:ext>
                </a:extLst>
              </a:tr>
              <a:tr h="329184">
                <a:tc>
                  <a:txBody>
                    <a:bodyPr/>
                    <a:lstStyle/>
                    <a:p>
                      <a:pPr>
                        <a:spcAft>
                          <a:spcPts val="0"/>
                        </a:spcAft>
                      </a:pPr>
                      <a:r>
                        <a:rPr sz="1150" b="0" i="0">
                          <a:solidFill>
                            <a:srgbClr val="003352"/>
                          </a:solidFill>
                          <a:latin typeface="Century Gothic"/>
                        </a:rPr>
                        <a:t>AI chat assistant</a:t>
                      </a:r>
                    </a:p>
                  </a:txBody>
                  <a:tcPr marL="109728" marT="36576" marB="36576" anchor="ctr">
                    <a:solidFill>
                      <a:srgbClr val="FFFFFF"/>
                    </a:solidFill>
                  </a:tcPr>
                </a:tc>
                <a:tc>
                  <a:txBody>
                    <a:bodyPr/>
                    <a:lstStyle/>
                    <a:p>
                      <a:pPr>
                        <a:spcAft>
                          <a:spcPts val="0"/>
                        </a:spcAft>
                      </a:pPr>
                      <a:r>
                        <a:rPr sz="1150" b="0" i="0">
                          <a:solidFill>
                            <a:srgbClr val="003352"/>
                          </a:solidFill>
                          <a:latin typeface="Century Gothic"/>
                        </a:rPr>
                        <a:t>20,000</a:t>
                      </a:r>
                    </a:p>
                  </a:txBody>
                  <a:tcPr marL="109728" marT="36576" marB="36576" anchor="ctr">
                    <a:solidFill>
                      <a:srgbClr val="FFFFFF"/>
                    </a:solidFill>
                  </a:tcPr>
                </a:tc>
                <a:tc>
                  <a:txBody>
                    <a:bodyPr/>
                    <a:lstStyle/>
                    <a:p>
                      <a:pPr>
                        <a:spcAft>
                          <a:spcPts val="0"/>
                        </a:spcAft>
                      </a:pPr>
                      <a:r>
                        <a:rPr sz="1150" b="0" i="0">
                          <a:solidFill>
                            <a:srgbClr val="003352"/>
                          </a:solidFill>
                          <a:latin typeface="Century Gothic"/>
                        </a:rPr>
                        <a:t>2</a:t>
                      </a:r>
                    </a:p>
                  </a:txBody>
                  <a:tcPr marL="109728" marT="36576" marB="36576" anchor="ctr">
                    <a:solidFill>
                      <a:srgbClr val="FFFFFF"/>
                    </a:solidFill>
                  </a:tcPr>
                </a:tc>
                <a:tc>
                  <a:txBody>
                    <a:bodyPr/>
                    <a:lstStyle/>
                    <a:p>
                      <a:pPr>
                        <a:spcAft>
                          <a:spcPts val="0"/>
                        </a:spcAft>
                      </a:pPr>
                      <a:r>
                        <a:rPr sz="1150" b="0" i="0">
                          <a:solidFill>
                            <a:srgbClr val="003352"/>
                          </a:solidFill>
                          <a:latin typeface="Century Gothic"/>
                        </a:rPr>
                        <a:t>50%</a:t>
                      </a:r>
                    </a:p>
                  </a:txBody>
                  <a:tcPr marL="109728" marT="36576" marB="36576" anchor="ctr">
                    <a:solidFill>
                      <a:srgbClr val="FFFFFF"/>
                    </a:solidFill>
                  </a:tcPr>
                </a:tc>
                <a:tc>
                  <a:txBody>
                    <a:bodyPr/>
                    <a:lstStyle/>
                    <a:p>
                      <a:pPr>
                        <a:spcAft>
                          <a:spcPts val="0"/>
                        </a:spcAft>
                      </a:pPr>
                      <a:r>
                        <a:rPr sz="1150" b="0" i="0">
                          <a:solidFill>
                            <a:srgbClr val="003352"/>
                          </a:solidFill>
                          <a:latin typeface="Century Gothic"/>
                        </a:rPr>
                        <a:t>5</a:t>
                      </a:r>
                    </a:p>
                  </a:txBody>
                  <a:tcPr marL="109728" marT="36576" marB="36576" anchor="ctr">
                    <a:solidFill>
                      <a:srgbClr val="FFFFFF"/>
                    </a:solidFill>
                  </a:tcPr>
                </a:tc>
                <a:tc>
                  <a:txBody>
                    <a:bodyPr/>
                    <a:lstStyle/>
                    <a:p>
                      <a:pPr>
                        <a:spcAft>
                          <a:spcPts val="0"/>
                        </a:spcAft>
                      </a:pPr>
                      <a:r>
                        <a:rPr sz="1150" b="0" i="0">
                          <a:solidFill>
                            <a:srgbClr val="003352"/>
                          </a:solidFill>
                          <a:latin typeface="Century Gothic"/>
                        </a:rPr>
                        <a:t>4,000</a:t>
                      </a:r>
                    </a:p>
                  </a:txBody>
                  <a:tcPr marL="109728" marT="36576" marB="36576" anchor="ctr">
                    <a:solidFill>
                      <a:srgbClr val="FFFFFF"/>
                    </a:solidFill>
                  </a:tcPr>
                </a:tc>
                <a:extLst>
                  <a:ext uri="{0D108BD9-81ED-4DB2-BD59-A6C34878D82A}">
                    <a16:rowId xmlns:a16="http://schemas.microsoft.com/office/drawing/2014/main" val="10003"/>
                  </a:ext>
                </a:extLst>
              </a:tr>
            </a:tbl>
          </a:graphicData>
        </a:graphic>
      </p:graphicFrame>
      <p:sp>
        <p:nvSpPr>
          <p:cNvPr id="15" name="Rounded Rectangle 14"/>
          <p:cNvSpPr/>
          <p:nvPr/>
        </p:nvSpPr>
        <p:spPr>
          <a:xfrm>
            <a:off x="502920" y="5486400"/>
            <a:ext cx="11201400" cy="658368"/>
          </a:xfrm>
          <a:prstGeom prst="roundRect">
            <a:avLst>
              <a:gd name="adj" fmla="val 10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54864" rIns="201168" bIns="54864" rtlCol="0" anchor="ctr"/>
          <a:lstStyle/>
          <a:p>
            <a:r>
              <a:rPr sz="1300" b="1" i="0">
                <a:solidFill>
                  <a:srgbClr val="FFFFFF"/>
                </a:solidFill>
                <a:latin typeface="Century Gothic"/>
              </a:rPr>
              <a:t>RICE does not make the decision. It forces you to say your Reach assumption out loud, in a room where someone can disagree with it — which is where the real argument was hiding all along.</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wrap="square"/>
          <a:lstStyle/>
          <a:p>
            <a:r>
              <a:rPr sz="2600" b="1">
                <a:solidFill>
                  <a:srgbClr val="003352"/>
                </a:solidFill>
                <a:latin typeface="Century Gothic"/>
              </a:rPr>
              <a:t>Value vs Effort — and what Kano adds</a:t>
            </a:r>
          </a:p>
        </p:txBody>
      </p:sp>
      <p:sp>
        <p:nvSpPr>
          <p:cNvPr id="4" name="Rounded Rectangle 3"/>
          <p:cNvSpPr/>
          <p:nvPr/>
        </p:nvSpPr>
        <p:spPr>
          <a:xfrm>
            <a:off x="502920" y="1371600"/>
            <a:ext cx="1737360" cy="292608"/>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ctr"/>
            <a:r>
              <a:rPr sz="1000" b="1" i="0">
                <a:solidFill>
                  <a:srgbClr val="003352"/>
                </a:solidFill>
                <a:latin typeface="Century Gothic"/>
              </a:rPr>
              <a:t>FRAMEWORK</a:t>
            </a:r>
          </a:p>
        </p:txBody>
      </p:sp>
      <p:sp>
        <p:nvSpPr>
          <p:cNvPr id="5" name="Rounded Rectangle 4"/>
          <p:cNvSpPr/>
          <p:nvPr/>
        </p:nvSpPr>
        <p:spPr>
          <a:xfrm>
            <a:off x="886968" y="2148839"/>
            <a:ext cx="2606040" cy="1298448"/>
          </a:xfrm>
          <a:prstGeom prst="roundRect">
            <a:avLst>
              <a:gd name="adj" fmla="val 8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033271" y="2276856"/>
            <a:ext cx="2313432" cy="1042415"/>
          </a:xfrm>
          <a:prstGeom prst="rect">
            <a:avLst/>
          </a:prstGeom>
          <a:noFill/>
        </p:spPr>
        <p:txBody>
          <a:bodyPr wrap="square" lIns="0" tIns="0" rIns="0" bIns="0" anchor="t">
            <a:spAutoFit/>
          </a:bodyPr>
          <a:lstStyle/>
          <a:p>
            <a:pPr algn="l">
              <a:spcBef>
                <a:spcPts val="0"/>
              </a:spcBef>
              <a:spcAft>
                <a:spcPts val="500"/>
              </a:spcAft>
            </a:pPr>
            <a:r>
              <a:rPr sz="1300" b="1" i="0">
                <a:solidFill>
                  <a:srgbClr val="003352"/>
                </a:solidFill>
                <a:latin typeface="Century Gothic"/>
              </a:rPr>
              <a:t>Do now</a:t>
            </a:r>
          </a:p>
          <a:p>
            <a:pPr algn="l">
              <a:spcBef>
                <a:spcPts val="0"/>
              </a:spcBef>
              <a:spcAft>
                <a:spcPts val="400"/>
              </a:spcAft>
            </a:pPr>
            <a:r>
              <a:rPr sz="1050" b="0" i="0">
                <a:solidFill>
                  <a:srgbClr val="003352"/>
                </a:solidFill>
                <a:latin typeface="Century Gothic"/>
              </a:rPr>
              <a:t>Checkout crash fix
Search speed</a:t>
            </a:r>
          </a:p>
        </p:txBody>
      </p:sp>
      <p:sp>
        <p:nvSpPr>
          <p:cNvPr id="7" name="Rounded Rectangle 6"/>
          <p:cNvSpPr/>
          <p:nvPr/>
        </p:nvSpPr>
        <p:spPr>
          <a:xfrm>
            <a:off x="3621024" y="2148839"/>
            <a:ext cx="2606040" cy="1298448"/>
          </a:xfrm>
          <a:prstGeom prst="roundRect">
            <a:avLst>
              <a:gd name="adj" fmla="val 8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3767328" y="2276856"/>
            <a:ext cx="2313432" cy="1042415"/>
          </a:xfrm>
          <a:prstGeom prst="rect">
            <a:avLst/>
          </a:prstGeom>
          <a:noFill/>
        </p:spPr>
        <p:txBody>
          <a:bodyPr wrap="square" lIns="0" tIns="0" rIns="0" bIns="0" anchor="t">
            <a:spAutoFit/>
          </a:bodyPr>
          <a:lstStyle/>
          <a:p>
            <a:pPr algn="l">
              <a:spcBef>
                <a:spcPts val="0"/>
              </a:spcBef>
              <a:spcAft>
                <a:spcPts val="500"/>
              </a:spcAft>
            </a:pPr>
            <a:r>
              <a:rPr sz="1300" b="1" i="0">
                <a:solidFill>
                  <a:srgbClr val="FFFFFF"/>
                </a:solidFill>
                <a:latin typeface="Century Gothic"/>
              </a:rPr>
              <a:t>Plan properly</a:t>
            </a:r>
          </a:p>
          <a:p>
            <a:pPr algn="l">
              <a:spcBef>
                <a:spcPts val="0"/>
              </a:spcBef>
              <a:spcAft>
                <a:spcPts val="400"/>
              </a:spcAft>
            </a:pPr>
            <a:r>
              <a:rPr sz="1050" b="0" i="0">
                <a:solidFill>
                  <a:srgbClr val="FFFFFF"/>
                </a:solidFill>
                <a:latin typeface="Century Gothic"/>
              </a:rPr>
              <a:t>Two-factor auth
Language support</a:t>
            </a:r>
          </a:p>
        </p:txBody>
      </p:sp>
      <p:sp>
        <p:nvSpPr>
          <p:cNvPr id="9" name="Rounded Rectangle 8"/>
          <p:cNvSpPr/>
          <p:nvPr/>
        </p:nvSpPr>
        <p:spPr>
          <a:xfrm>
            <a:off x="886968" y="3575303"/>
            <a:ext cx="2606040" cy="1298448"/>
          </a:xfrm>
          <a:prstGeom prst="roundRect">
            <a:avLst>
              <a:gd name="adj" fmla="val 8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033271" y="3703320"/>
            <a:ext cx="2313432" cy="1042415"/>
          </a:xfrm>
          <a:prstGeom prst="rect">
            <a:avLst/>
          </a:prstGeom>
          <a:noFill/>
        </p:spPr>
        <p:txBody>
          <a:bodyPr wrap="square" lIns="0" tIns="0" rIns="0" bIns="0" anchor="t">
            <a:spAutoFit/>
          </a:bodyPr>
          <a:lstStyle/>
          <a:p>
            <a:pPr algn="l">
              <a:spcBef>
                <a:spcPts val="0"/>
              </a:spcBef>
              <a:spcAft>
                <a:spcPts val="500"/>
              </a:spcAft>
            </a:pPr>
            <a:r>
              <a:rPr sz="1300" b="1" i="0">
                <a:solidFill>
                  <a:srgbClr val="003352"/>
                </a:solidFill>
                <a:latin typeface="Century Gothic"/>
              </a:rPr>
              <a:t>Fill the gaps</a:t>
            </a:r>
          </a:p>
          <a:p>
            <a:pPr algn="l">
              <a:spcBef>
                <a:spcPts val="0"/>
              </a:spcBef>
              <a:spcAft>
                <a:spcPts val="400"/>
              </a:spcAft>
            </a:pPr>
            <a:r>
              <a:rPr sz="1050" b="0" i="0">
                <a:solidFill>
                  <a:srgbClr val="003352"/>
                </a:solidFill>
                <a:latin typeface="Century Gothic"/>
              </a:rPr>
              <a:t>Dark mode</a:t>
            </a:r>
          </a:p>
        </p:txBody>
      </p:sp>
      <p:sp>
        <p:nvSpPr>
          <p:cNvPr id="11" name="Rounded Rectangle 10"/>
          <p:cNvSpPr/>
          <p:nvPr/>
        </p:nvSpPr>
        <p:spPr>
          <a:xfrm>
            <a:off x="3621024" y="3575303"/>
            <a:ext cx="2606040" cy="1298448"/>
          </a:xfrm>
          <a:prstGeom prst="roundRect">
            <a:avLst>
              <a:gd name="adj" fmla="val 8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3767328" y="3703320"/>
            <a:ext cx="2313432" cy="1042415"/>
          </a:xfrm>
          <a:prstGeom prst="rect">
            <a:avLst/>
          </a:prstGeom>
          <a:noFill/>
        </p:spPr>
        <p:txBody>
          <a:bodyPr wrap="square" lIns="0" tIns="0" rIns="0" bIns="0" anchor="t">
            <a:spAutoFit/>
          </a:bodyPr>
          <a:lstStyle/>
          <a:p>
            <a:pPr algn="l">
              <a:spcBef>
                <a:spcPts val="0"/>
              </a:spcBef>
              <a:spcAft>
                <a:spcPts val="500"/>
              </a:spcAft>
            </a:pPr>
            <a:r>
              <a:rPr sz="1300" b="1" i="0">
                <a:solidFill>
                  <a:srgbClr val="003352"/>
                </a:solidFill>
                <a:latin typeface="Century Gothic"/>
              </a:rPr>
              <a:t>Say no, for now</a:t>
            </a:r>
          </a:p>
          <a:p>
            <a:pPr algn="l">
              <a:spcBef>
                <a:spcPts val="0"/>
              </a:spcBef>
              <a:spcAft>
                <a:spcPts val="400"/>
              </a:spcAft>
            </a:pPr>
            <a:r>
              <a:rPr sz="1050" b="0" i="0">
                <a:solidFill>
                  <a:srgbClr val="003352"/>
                </a:solidFill>
                <a:latin typeface="Century Gothic"/>
              </a:rPr>
              <a:t>Settings redesign
AI assistant</a:t>
            </a:r>
          </a:p>
        </p:txBody>
      </p:sp>
      <p:sp>
        <p:nvSpPr>
          <p:cNvPr id="13" name="TextBox 12"/>
          <p:cNvSpPr txBox="1"/>
          <p:nvPr/>
        </p:nvSpPr>
        <p:spPr>
          <a:xfrm>
            <a:off x="393192" y="2148839"/>
            <a:ext cx="457200" cy="2724912"/>
          </a:xfrm>
          <a:prstGeom prst="rect">
            <a:avLst/>
          </a:prstGeom>
          <a:noFill/>
        </p:spPr>
        <p:txBody>
          <a:bodyPr vert="vert270" wrap="square" lIns="0" tIns="0" rIns="0" bIns="0" anchor="ctr">
            <a:spAutoFit/>
          </a:bodyPr>
          <a:lstStyle/>
          <a:p>
            <a:pPr algn="ctr">
              <a:spcBef>
                <a:spcPts val="0"/>
              </a:spcBef>
              <a:spcAft>
                <a:spcPts val="400"/>
              </a:spcAft>
            </a:pPr>
            <a:r>
              <a:rPr sz="900" b="1" i="0">
                <a:solidFill>
                  <a:srgbClr val="536B7A"/>
                </a:solidFill>
                <a:latin typeface="Century Gothic"/>
              </a:rPr>
              <a:t>V A L U E</a:t>
            </a:r>
          </a:p>
        </p:txBody>
      </p:sp>
      <p:sp>
        <p:nvSpPr>
          <p:cNvPr id="14" name="TextBox 13"/>
          <p:cNvSpPr txBox="1"/>
          <p:nvPr/>
        </p:nvSpPr>
        <p:spPr>
          <a:xfrm>
            <a:off x="886968" y="4946903"/>
            <a:ext cx="5340096" cy="274320"/>
          </a:xfrm>
          <a:prstGeom prst="rect">
            <a:avLst/>
          </a:prstGeom>
          <a:noFill/>
        </p:spPr>
        <p:txBody>
          <a:bodyPr wrap="square" lIns="0" tIns="0" rIns="0" bIns="0" anchor="t">
            <a:spAutoFit/>
          </a:bodyPr>
          <a:lstStyle/>
          <a:p>
            <a:pPr algn="ctr">
              <a:spcBef>
                <a:spcPts val="0"/>
              </a:spcBef>
              <a:spcAft>
                <a:spcPts val="400"/>
              </a:spcAft>
            </a:pPr>
            <a:r>
              <a:rPr sz="900" b="1" i="0">
                <a:solidFill>
                  <a:srgbClr val="536B7A"/>
                </a:solidFill>
                <a:latin typeface="Century Gothic"/>
              </a:rPr>
              <a:t>E F F O R T</a:t>
            </a:r>
          </a:p>
        </p:txBody>
      </p:sp>
      <p:sp>
        <p:nvSpPr>
          <p:cNvPr id="15" name="Rounded Rectangle 14"/>
          <p:cNvSpPr/>
          <p:nvPr/>
        </p:nvSpPr>
        <p:spPr>
          <a:xfrm>
            <a:off x="6601968" y="1874519"/>
            <a:ext cx="5102352" cy="3017520"/>
          </a:xfrm>
          <a:prstGeom prst="roundRect">
            <a:avLst>
              <a:gd name="adj" fmla="val 6000"/>
            </a:avLst>
          </a:prstGeom>
          <a:solidFill>
            <a:srgbClr val="E4F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p:cNvSpPr/>
          <p:nvPr/>
        </p:nvSpPr>
        <p:spPr>
          <a:xfrm>
            <a:off x="6601968" y="1874519"/>
            <a:ext cx="5102352" cy="475488"/>
          </a:xfrm>
          <a:prstGeom prst="roundRect">
            <a:avLst>
              <a:gd name="adj" fmla="val 14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0" rIns="128016" bIns="0" rtlCol="0" anchor="ctr"/>
          <a:lstStyle/>
          <a:p>
            <a:r>
              <a:rPr sz="1400" b="1" i="0">
                <a:solidFill>
                  <a:srgbClr val="003352"/>
                </a:solidFill>
                <a:latin typeface="Century Gothic"/>
              </a:rPr>
              <a:t>Kano: three kinds of feature</a:t>
            </a:r>
          </a:p>
        </p:txBody>
      </p:sp>
      <p:sp>
        <p:nvSpPr>
          <p:cNvPr id="17" name="TextBox 16"/>
          <p:cNvSpPr txBox="1"/>
          <p:nvPr/>
        </p:nvSpPr>
        <p:spPr>
          <a:xfrm>
            <a:off x="6784848" y="2496312"/>
            <a:ext cx="4736592" cy="2267712"/>
          </a:xfrm>
          <a:prstGeom prst="rect">
            <a:avLst/>
          </a:prstGeom>
          <a:noFill/>
        </p:spPr>
        <p:txBody>
          <a:bodyPr wrap="square" lIns="0" tIns="0" rIns="0" bIns="0" anchor="t">
            <a:spAutoFit/>
          </a:bodyPr>
          <a:lstStyle/>
          <a:p>
            <a:pPr algn="l">
              <a:spcBef>
                <a:spcPts val="0"/>
              </a:spcBef>
              <a:spcAft>
                <a:spcPts val="200"/>
              </a:spcAft>
            </a:pPr>
            <a:r>
              <a:rPr sz="1250" b="1" i="0">
                <a:solidFill>
                  <a:srgbClr val="003352"/>
                </a:solidFill>
                <a:latin typeface="Century Gothic"/>
              </a:rPr>
              <a:t>Basic</a:t>
            </a:r>
          </a:p>
          <a:p>
            <a:pPr algn="l">
              <a:spcBef>
                <a:spcPts val="0"/>
              </a:spcBef>
              <a:spcAft>
                <a:spcPts val="1000"/>
              </a:spcAft>
            </a:pPr>
            <a:r>
              <a:rPr sz="1150" b="0" i="0">
                <a:solidFill>
                  <a:srgbClr val="003352"/>
                </a:solidFill>
                <a:latin typeface="Century Gothic"/>
              </a:rPr>
              <a:t>Nobody praises it. Everybody leaves without it. Login works. Payment succeeds. Investment here buys no love, only survival.</a:t>
            </a:r>
          </a:p>
          <a:p>
            <a:pPr algn="l">
              <a:spcBef>
                <a:spcPts val="0"/>
              </a:spcBef>
              <a:spcAft>
                <a:spcPts val="200"/>
              </a:spcAft>
            </a:pPr>
            <a:r>
              <a:rPr sz="1250" b="1" i="0">
                <a:solidFill>
                  <a:srgbClr val="003352"/>
                </a:solidFill>
                <a:latin typeface="Century Gothic"/>
              </a:rPr>
              <a:t>Performance</a:t>
            </a:r>
          </a:p>
          <a:p>
            <a:pPr algn="l">
              <a:spcBef>
                <a:spcPts val="0"/>
              </a:spcBef>
              <a:spcAft>
                <a:spcPts val="1000"/>
              </a:spcAft>
            </a:pPr>
            <a:r>
              <a:rPr sz="1150" b="0" i="0">
                <a:solidFill>
                  <a:srgbClr val="003352"/>
                </a:solidFill>
                <a:latin typeface="Century Gothic"/>
              </a:rPr>
              <a:t>More is straightforwardly better. Search speed. Delivery time. Battery life. Worth measuring continuously.</a:t>
            </a:r>
          </a:p>
          <a:p>
            <a:pPr algn="l">
              <a:spcBef>
                <a:spcPts val="0"/>
              </a:spcBef>
              <a:spcAft>
                <a:spcPts val="200"/>
              </a:spcAft>
            </a:pPr>
            <a:r>
              <a:rPr sz="1250" b="1" i="0">
                <a:solidFill>
                  <a:srgbClr val="003352"/>
                </a:solidFill>
                <a:latin typeface="Century Gothic"/>
              </a:rPr>
              <a:t>Delight</a:t>
            </a:r>
          </a:p>
          <a:p>
            <a:pPr algn="l">
              <a:spcBef>
                <a:spcPts val="0"/>
              </a:spcBef>
              <a:spcAft>
                <a:spcPts val="400"/>
              </a:spcAft>
            </a:pPr>
            <a:r>
              <a:rPr sz="1150" b="0" i="0">
                <a:solidFill>
                  <a:srgbClr val="003352"/>
                </a:solidFill>
                <a:latin typeface="Century Gothic"/>
              </a:rPr>
              <a:t>Nobody asked for it and everybody notices. Live order tracking, when it first appeared. Undo send. Offline maps.</a:t>
            </a:r>
          </a:p>
        </p:txBody>
      </p:sp>
      <p:sp>
        <p:nvSpPr>
          <p:cNvPr id="18" name="Rounded Rectangle 17"/>
          <p:cNvSpPr/>
          <p:nvPr/>
        </p:nvSpPr>
        <p:spPr>
          <a:xfrm>
            <a:off x="502920" y="5486400"/>
            <a:ext cx="11201400" cy="658368"/>
          </a:xfrm>
          <a:prstGeom prst="roundRect">
            <a:avLst>
              <a:gd name="adj" fmla="val 10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54864" rIns="201168" bIns="54864" rtlCol="0" anchor="ctr"/>
          <a:lstStyle/>
          <a:p>
            <a:r>
              <a:rPr sz="1300" b="1" i="0">
                <a:solidFill>
                  <a:srgbClr val="FFFFFF"/>
                </a:solidFill>
                <a:latin typeface="Century Gothic"/>
              </a:rPr>
              <a:t>Today's delighter is next year's basic. Live tracking was magic in 2015; now its absence is a support ticket. Nothing stays in the delight column.</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wrap="square"/>
          <a:lstStyle/>
          <a:p>
            <a:r>
              <a:rPr sz="2600" b="1">
                <a:solidFill>
                  <a:srgbClr val="003352"/>
                </a:solidFill>
                <a:latin typeface="Century Gothic"/>
              </a:rPr>
              <a:t>Quiz: score it with RICE</a:t>
            </a:r>
          </a:p>
        </p:txBody>
      </p:sp>
      <p:sp>
        <p:nvSpPr>
          <p:cNvPr id="4" name="Rounded Rectangle 3"/>
          <p:cNvSpPr/>
          <p:nvPr/>
        </p:nvSpPr>
        <p:spPr>
          <a:xfrm>
            <a:off x="502920" y="1371600"/>
            <a:ext cx="4809744" cy="292608"/>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ctr"/>
            <a:r>
              <a:rPr sz="1000" b="1" i="0">
                <a:solidFill>
                  <a:srgbClr val="003352"/>
                </a:solidFill>
                <a:latin typeface="Century Gothic"/>
              </a:rPr>
              <a:t>QUIZ  ·  6 MIN  ·  GROUPS OF 4</a:t>
            </a:r>
          </a:p>
        </p:txBody>
      </p:sp>
      <p:sp>
        <p:nvSpPr>
          <p:cNvPr id="5" name="TextBox 4"/>
          <p:cNvSpPr txBox="1"/>
          <p:nvPr/>
        </p:nvSpPr>
        <p:spPr>
          <a:xfrm>
            <a:off x="502920" y="1874519"/>
            <a:ext cx="11201400" cy="310896"/>
          </a:xfrm>
          <a:prstGeom prst="rect">
            <a:avLst/>
          </a:prstGeom>
          <a:noFill/>
        </p:spPr>
        <p:txBody>
          <a:bodyPr wrap="square" lIns="0" tIns="0" rIns="0" bIns="0" anchor="t">
            <a:spAutoFit/>
          </a:bodyPr>
          <a:lstStyle/>
          <a:p>
            <a:pPr algn="l">
              <a:spcBef>
                <a:spcPts val="0"/>
              </a:spcBef>
              <a:spcAft>
                <a:spcPts val="400"/>
              </a:spcAft>
            </a:pPr>
            <a:r>
              <a:rPr sz="1250" b="0" i="0">
                <a:solidFill>
                  <a:srgbClr val="003352"/>
                </a:solidFill>
                <a:latin typeface="Century Gothic"/>
              </a:rPr>
              <a:t>One quarter, one team. Compute the score for each, then rank them. Reach is users per quarter; Effort is person-weeks.</a:t>
            </a:r>
          </a:p>
        </p:txBody>
      </p:sp>
      <p:graphicFrame>
        <p:nvGraphicFramePr>
          <p:cNvPr id="6" name="Table 5"/>
          <p:cNvGraphicFramePr>
            <a:graphicFrameLocks noGrp="1"/>
          </p:cNvGraphicFramePr>
          <p:nvPr/>
        </p:nvGraphicFramePr>
        <p:xfrm>
          <a:off x="502920" y="2331720"/>
          <a:ext cx="11201400" cy="1463040"/>
        </p:xfrm>
        <a:graphic>
          <a:graphicData uri="http://schemas.openxmlformats.org/drawingml/2006/table">
            <a:tbl>
              <a:tblPr>
                <a:tableStyleId>{5C22544A-7EE6-4342-B048-85BDC9FD1C3A}</a:tableStyleId>
              </a:tblPr>
              <a:tblGrid>
                <a:gridCol w="50292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325880">
                  <a:extLst>
                    <a:ext uri="{9D8B030D-6E8A-4147-A177-3AD203B41FA5}">
                      <a16:colId xmlns:a16="http://schemas.microsoft.com/office/drawing/2014/main" val="20006"/>
                    </a:ext>
                  </a:extLst>
                </a:gridCol>
              </a:tblGrid>
              <a:tr h="365760">
                <a:tc>
                  <a:txBody>
                    <a:bodyPr/>
                    <a:lstStyle/>
                    <a:p>
                      <a:pPr>
                        <a:spcAft>
                          <a:spcPts val="0"/>
                        </a:spcAft>
                      </a:pPr>
                      <a:endParaRPr/>
                    </a:p>
                  </a:txBody>
                  <a:tcPr marL="109728" marT="36576" marB="36576" anchor="ctr">
                    <a:solidFill>
                      <a:srgbClr val="003352"/>
                    </a:solidFill>
                  </a:tcPr>
                </a:tc>
                <a:tc>
                  <a:txBody>
                    <a:bodyPr/>
                    <a:lstStyle/>
                    <a:p>
                      <a:pPr>
                        <a:spcAft>
                          <a:spcPts val="0"/>
                        </a:spcAft>
                      </a:pPr>
                      <a:r>
                        <a:rPr sz="1100" b="1" i="0">
                          <a:solidFill>
                            <a:srgbClr val="FFFFFF"/>
                          </a:solidFill>
                          <a:latin typeface="Century Gothic"/>
                        </a:rPr>
                        <a:t>Feature</a:t>
                      </a:r>
                    </a:p>
                  </a:txBody>
                  <a:tcPr marL="109728" marT="36576" marB="36576" anchor="ctr">
                    <a:solidFill>
                      <a:srgbClr val="003352"/>
                    </a:solidFill>
                  </a:tcPr>
                </a:tc>
                <a:tc>
                  <a:txBody>
                    <a:bodyPr/>
                    <a:lstStyle/>
                    <a:p>
                      <a:pPr>
                        <a:spcAft>
                          <a:spcPts val="0"/>
                        </a:spcAft>
                      </a:pPr>
                      <a:r>
                        <a:rPr sz="1100" b="1" i="0">
                          <a:solidFill>
                            <a:srgbClr val="FFFFFF"/>
                          </a:solidFill>
                          <a:latin typeface="Century Gothic"/>
                        </a:rPr>
                        <a:t>Reach</a:t>
                      </a:r>
                    </a:p>
                  </a:txBody>
                  <a:tcPr marL="109728" marT="36576" marB="36576" anchor="ctr">
                    <a:solidFill>
                      <a:srgbClr val="003352"/>
                    </a:solidFill>
                  </a:tcPr>
                </a:tc>
                <a:tc>
                  <a:txBody>
                    <a:bodyPr/>
                    <a:lstStyle/>
                    <a:p>
                      <a:pPr>
                        <a:spcAft>
                          <a:spcPts val="0"/>
                        </a:spcAft>
                      </a:pPr>
                      <a:r>
                        <a:rPr sz="1100" b="1" i="0">
                          <a:solidFill>
                            <a:srgbClr val="FFFFFF"/>
                          </a:solidFill>
                          <a:latin typeface="Century Gothic"/>
                        </a:rPr>
                        <a:t>Impact</a:t>
                      </a:r>
                    </a:p>
                  </a:txBody>
                  <a:tcPr marL="109728" marT="36576" marB="36576" anchor="ctr">
                    <a:solidFill>
                      <a:srgbClr val="003352"/>
                    </a:solidFill>
                  </a:tcPr>
                </a:tc>
                <a:tc>
                  <a:txBody>
                    <a:bodyPr/>
                    <a:lstStyle/>
                    <a:p>
                      <a:pPr>
                        <a:spcAft>
                          <a:spcPts val="0"/>
                        </a:spcAft>
                      </a:pPr>
                      <a:r>
                        <a:rPr sz="1100" b="1" i="0">
                          <a:solidFill>
                            <a:srgbClr val="FFFFFF"/>
                          </a:solidFill>
                          <a:latin typeface="Century Gothic"/>
                        </a:rPr>
                        <a:t>Confidence</a:t>
                      </a:r>
                    </a:p>
                  </a:txBody>
                  <a:tcPr marL="109728" marT="36576" marB="36576" anchor="ctr">
                    <a:solidFill>
                      <a:srgbClr val="003352"/>
                    </a:solidFill>
                  </a:tcPr>
                </a:tc>
                <a:tc>
                  <a:txBody>
                    <a:bodyPr/>
                    <a:lstStyle/>
                    <a:p>
                      <a:pPr>
                        <a:spcAft>
                          <a:spcPts val="0"/>
                        </a:spcAft>
                      </a:pPr>
                      <a:r>
                        <a:rPr sz="1100" b="1" i="0">
                          <a:solidFill>
                            <a:srgbClr val="FFFFFF"/>
                          </a:solidFill>
                          <a:latin typeface="Century Gothic"/>
                        </a:rPr>
                        <a:t>Effort</a:t>
                      </a:r>
                    </a:p>
                  </a:txBody>
                  <a:tcPr marL="109728" marT="36576" marB="36576" anchor="ctr">
                    <a:solidFill>
                      <a:srgbClr val="003352"/>
                    </a:solidFill>
                  </a:tcPr>
                </a:tc>
                <a:tc>
                  <a:txBody>
                    <a:bodyPr/>
                    <a:lstStyle/>
                    <a:p>
                      <a:pPr>
                        <a:spcAft>
                          <a:spcPts val="0"/>
                        </a:spcAft>
                      </a:pPr>
                      <a:r>
                        <a:rPr sz="1100" b="1" i="0">
                          <a:solidFill>
                            <a:srgbClr val="FFFFFF"/>
                          </a:solidFill>
                          <a:latin typeface="Century Gothic"/>
                        </a:rPr>
                        <a:t>RICE score</a:t>
                      </a:r>
                    </a:p>
                  </a:txBody>
                  <a:tcPr marL="109728" marT="36576" marB="36576" anchor="ctr">
                    <a:solidFill>
                      <a:srgbClr val="003352"/>
                    </a:solidFill>
                  </a:tcPr>
                </a:tc>
                <a:extLst>
                  <a:ext uri="{0D108BD9-81ED-4DB2-BD59-A6C34878D82A}">
                    <a16:rowId xmlns:a16="http://schemas.microsoft.com/office/drawing/2014/main" val="10000"/>
                  </a:ext>
                </a:extLst>
              </a:tr>
              <a:tr h="365760">
                <a:tc>
                  <a:txBody>
                    <a:bodyPr/>
                    <a:lstStyle/>
                    <a:p>
                      <a:pPr>
                        <a:spcAft>
                          <a:spcPts val="0"/>
                        </a:spcAft>
                      </a:pPr>
                      <a:r>
                        <a:rPr sz="1150" b="0" i="0">
                          <a:solidFill>
                            <a:srgbClr val="003352"/>
                          </a:solidFill>
                          <a:latin typeface="Century Gothic"/>
                        </a:rPr>
                        <a:t>A</a:t>
                      </a:r>
                    </a:p>
                  </a:txBody>
                  <a:tcPr marL="109728" marT="36576" marB="36576" anchor="ctr">
                    <a:solidFill>
                      <a:srgbClr val="FFFFFF"/>
                    </a:solidFill>
                  </a:tcPr>
                </a:tc>
                <a:tc>
                  <a:txBody>
                    <a:bodyPr/>
                    <a:lstStyle/>
                    <a:p>
                      <a:pPr>
                        <a:spcAft>
                          <a:spcPts val="0"/>
                        </a:spcAft>
                      </a:pPr>
                      <a:r>
                        <a:rPr sz="1150" b="0" i="0">
                          <a:solidFill>
                            <a:srgbClr val="003352"/>
                          </a:solidFill>
                          <a:latin typeface="Century Gothic"/>
                        </a:rPr>
                        <a:t>Guest checkout, no account needed</a:t>
                      </a:r>
                    </a:p>
                  </a:txBody>
                  <a:tcPr marL="109728" marT="36576" marB="36576" anchor="ctr">
                    <a:solidFill>
                      <a:srgbClr val="FFFFFF"/>
                    </a:solidFill>
                  </a:tcPr>
                </a:tc>
                <a:tc>
                  <a:txBody>
                    <a:bodyPr/>
                    <a:lstStyle/>
                    <a:p>
                      <a:pPr>
                        <a:spcAft>
                          <a:spcPts val="0"/>
                        </a:spcAft>
                      </a:pPr>
                      <a:r>
                        <a:rPr sz="1150" b="0" i="0">
                          <a:solidFill>
                            <a:srgbClr val="003352"/>
                          </a:solidFill>
                          <a:latin typeface="Century Gothic"/>
                        </a:rPr>
                        <a:t>120,000</a:t>
                      </a:r>
                    </a:p>
                  </a:txBody>
                  <a:tcPr marL="109728" marT="36576" marB="36576" anchor="ctr">
                    <a:solidFill>
                      <a:srgbClr val="FFFFFF"/>
                    </a:solidFill>
                  </a:tcPr>
                </a:tc>
                <a:tc>
                  <a:txBody>
                    <a:bodyPr/>
                    <a:lstStyle/>
                    <a:p>
                      <a:pPr>
                        <a:spcAft>
                          <a:spcPts val="0"/>
                        </a:spcAft>
                      </a:pPr>
                      <a:r>
                        <a:rPr sz="1150" b="0" i="0">
                          <a:solidFill>
                            <a:srgbClr val="003352"/>
                          </a:solidFill>
                          <a:latin typeface="Century Gothic"/>
                        </a:rPr>
                        <a:t>2</a:t>
                      </a:r>
                    </a:p>
                  </a:txBody>
                  <a:tcPr marL="109728" marT="36576" marB="36576" anchor="ctr">
                    <a:solidFill>
                      <a:srgbClr val="FFFFFF"/>
                    </a:solidFill>
                  </a:tcPr>
                </a:tc>
                <a:tc>
                  <a:txBody>
                    <a:bodyPr/>
                    <a:lstStyle/>
                    <a:p>
                      <a:pPr>
                        <a:spcAft>
                          <a:spcPts val="0"/>
                        </a:spcAft>
                      </a:pPr>
                      <a:r>
                        <a:rPr sz="1150" b="0" i="0">
                          <a:solidFill>
                            <a:srgbClr val="003352"/>
                          </a:solidFill>
                          <a:latin typeface="Century Gothic"/>
                        </a:rPr>
                        <a:t>80%</a:t>
                      </a:r>
                    </a:p>
                  </a:txBody>
                  <a:tcPr marL="109728" marT="36576" marB="36576" anchor="ctr">
                    <a:solidFill>
                      <a:srgbClr val="FFFFFF"/>
                    </a:solidFill>
                  </a:tcPr>
                </a:tc>
                <a:tc>
                  <a:txBody>
                    <a:bodyPr/>
                    <a:lstStyle/>
                    <a:p>
                      <a:pPr>
                        <a:spcAft>
                          <a:spcPts val="0"/>
                        </a:spcAft>
                      </a:pPr>
                      <a:r>
                        <a:rPr sz="1150" b="0" i="0">
                          <a:solidFill>
                            <a:srgbClr val="003352"/>
                          </a:solidFill>
                          <a:latin typeface="Century Gothic"/>
                        </a:rPr>
                        <a:t>4</a:t>
                      </a:r>
                    </a:p>
                  </a:txBody>
                  <a:tcPr marL="109728" marT="36576" marB="36576" anchor="ctr">
                    <a:solidFill>
                      <a:srgbClr val="FFFFFF"/>
                    </a:solidFill>
                  </a:tcPr>
                </a:tc>
                <a:tc>
                  <a:txBody>
                    <a:bodyPr/>
                    <a:lstStyle/>
                    <a:p>
                      <a:pPr>
                        <a:spcAft>
                          <a:spcPts val="0"/>
                        </a:spcAft>
                      </a:pPr>
                      <a:endParaRPr/>
                    </a:p>
                  </a:txBody>
                  <a:tcPr marL="109728" marT="36576" marB="36576" anchor="ctr">
                    <a:solidFill>
                      <a:srgbClr val="FFFFFF"/>
                    </a:solidFill>
                  </a:tcPr>
                </a:tc>
                <a:extLst>
                  <a:ext uri="{0D108BD9-81ED-4DB2-BD59-A6C34878D82A}">
                    <a16:rowId xmlns:a16="http://schemas.microsoft.com/office/drawing/2014/main" val="10001"/>
                  </a:ext>
                </a:extLst>
              </a:tr>
              <a:tr h="365760">
                <a:tc>
                  <a:txBody>
                    <a:bodyPr/>
                    <a:lstStyle/>
                    <a:p>
                      <a:pPr>
                        <a:spcAft>
                          <a:spcPts val="0"/>
                        </a:spcAft>
                      </a:pPr>
                      <a:r>
                        <a:rPr sz="1150" b="0" i="0">
                          <a:solidFill>
                            <a:srgbClr val="003352"/>
                          </a:solidFill>
                          <a:latin typeface="Century Gothic"/>
                        </a:rPr>
                        <a:t>B</a:t>
                      </a:r>
                    </a:p>
                  </a:txBody>
                  <a:tcPr marL="109728" marT="36576" marB="36576" anchor="ctr">
                    <a:solidFill>
                      <a:srgbClr val="E9F0F4"/>
                    </a:solidFill>
                  </a:tcPr>
                </a:tc>
                <a:tc>
                  <a:txBody>
                    <a:bodyPr/>
                    <a:lstStyle/>
                    <a:p>
                      <a:pPr>
                        <a:spcAft>
                          <a:spcPts val="0"/>
                        </a:spcAft>
                      </a:pPr>
                      <a:r>
                        <a:rPr sz="1150" b="0" i="0">
                          <a:solidFill>
                            <a:srgbClr val="003352"/>
                          </a:solidFill>
                          <a:latin typeface="Century Gothic"/>
                        </a:rPr>
                        <a:t>Saved payment cards</a:t>
                      </a:r>
                    </a:p>
                  </a:txBody>
                  <a:tcPr marL="109728" marT="36576" marB="36576" anchor="ctr">
                    <a:solidFill>
                      <a:srgbClr val="E9F0F4"/>
                    </a:solidFill>
                  </a:tcPr>
                </a:tc>
                <a:tc>
                  <a:txBody>
                    <a:bodyPr/>
                    <a:lstStyle/>
                    <a:p>
                      <a:pPr>
                        <a:spcAft>
                          <a:spcPts val="0"/>
                        </a:spcAft>
                      </a:pPr>
                      <a:r>
                        <a:rPr sz="1150" b="0" i="0">
                          <a:solidFill>
                            <a:srgbClr val="003352"/>
                          </a:solidFill>
                          <a:latin typeface="Century Gothic"/>
                        </a:rPr>
                        <a:t>60,000</a:t>
                      </a:r>
                    </a:p>
                  </a:txBody>
                  <a:tcPr marL="109728" marT="36576" marB="36576" anchor="ctr">
                    <a:solidFill>
                      <a:srgbClr val="E9F0F4"/>
                    </a:solidFill>
                  </a:tcPr>
                </a:tc>
                <a:tc>
                  <a:txBody>
                    <a:bodyPr/>
                    <a:lstStyle/>
                    <a:p>
                      <a:pPr>
                        <a:spcAft>
                          <a:spcPts val="0"/>
                        </a:spcAft>
                      </a:pPr>
                      <a:r>
                        <a:rPr sz="1150" b="0" i="0">
                          <a:solidFill>
                            <a:srgbClr val="003352"/>
                          </a:solidFill>
                          <a:latin typeface="Century Gothic"/>
                        </a:rPr>
                        <a:t>3</a:t>
                      </a:r>
                    </a:p>
                  </a:txBody>
                  <a:tcPr marL="109728" marT="36576" marB="36576" anchor="ctr">
                    <a:solidFill>
                      <a:srgbClr val="E9F0F4"/>
                    </a:solidFill>
                  </a:tcPr>
                </a:tc>
                <a:tc>
                  <a:txBody>
                    <a:bodyPr/>
                    <a:lstStyle/>
                    <a:p>
                      <a:pPr>
                        <a:spcAft>
                          <a:spcPts val="0"/>
                        </a:spcAft>
                      </a:pPr>
                      <a:r>
                        <a:rPr sz="1150" b="0" i="0">
                          <a:solidFill>
                            <a:srgbClr val="003352"/>
                          </a:solidFill>
                          <a:latin typeface="Century Gothic"/>
                        </a:rPr>
                        <a:t>100%</a:t>
                      </a:r>
                    </a:p>
                  </a:txBody>
                  <a:tcPr marL="109728" marT="36576" marB="36576" anchor="ctr">
                    <a:solidFill>
                      <a:srgbClr val="E9F0F4"/>
                    </a:solidFill>
                  </a:tcPr>
                </a:tc>
                <a:tc>
                  <a:txBody>
                    <a:bodyPr/>
                    <a:lstStyle/>
                    <a:p>
                      <a:pPr>
                        <a:spcAft>
                          <a:spcPts val="0"/>
                        </a:spcAft>
                      </a:pPr>
                      <a:r>
                        <a:rPr sz="1150" b="0" i="0">
                          <a:solidFill>
                            <a:srgbClr val="003352"/>
                          </a:solidFill>
                          <a:latin typeface="Century Gothic"/>
                        </a:rPr>
                        <a:t>3</a:t>
                      </a:r>
                    </a:p>
                  </a:txBody>
                  <a:tcPr marL="109728" marT="36576" marB="36576" anchor="ctr">
                    <a:solidFill>
                      <a:srgbClr val="E9F0F4"/>
                    </a:solidFill>
                  </a:tcPr>
                </a:tc>
                <a:tc>
                  <a:txBody>
                    <a:bodyPr/>
                    <a:lstStyle/>
                    <a:p>
                      <a:pPr>
                        <a:spcAft>
                          <a:spcPts val="0"/>
                        </a:spcAft>
                      </a:pPr>
                      <a:endParaRPr/>
                    </a:p>
                  </a:txBody>
                  <a:tcPr marL="109728" marT="36576" marB="36576" anchor="ctr">
                    <a:solidFill>
                      <a:srgbClr val="E9F0F4"/>
                    </a:solidFill>
                  </a:tcPr>
                </a:tc>
                <a:extLst>
                  <a:ext uri="{0D108BD9-81ED-4DB2-BD59-A6C34878D82A}">
                    <a16:rowId xmlns:a16="http://schemas.microsoft.com/office/drawing/2014/main" val="10002"/>
                  </a:ext>
                </a:extLst>
              </a:tr>
              <a:tr h="365760">
                <a:tc>
                  <a:txBody>
                    <a:bodyPr/>
                    <a:lstStyle/>
                    <a:p>
                      <a:pPr>
                        <a:spcAft>
                          <a:spcPts val="0"/>
                        </a:spcAft>
                      </a:pPr>
                      <a:r>
                        <a:rPr sz="1150" b="0" i="0">
                          <a:solidFill>
                            <a:srgbClr val="003352"/>
                          </a:solidFill>
                          <a:latin typeface="Century Gothic"/>
                        </a:rPr>
                        <a:t>C</a:t>
                      </a:r>
                    </a:p>
                  </a:txBody>
                  <a:tcPr marL="109728" marT="36576" marB="36576" anchor="ctr">
                    <a:solidFill>
                      <a:srgbClr val="FFFFFF"/>
                    </a:solidFill>
                  </a:tcPr>
                </a:tc>
                <a:tc>
                  <a:txBody>
                    <a:bodyPr/>
                    <a:lstStyle/>
                    <a:p>
                      <a:pPr>
                        <a:spcAft>
                          <a:spcPts val="0"/>
                        </a:spcAft>
                      </a:pPr>
                      <a:r>
                        <a:rPr sz="1150" b="0" i="0">
                          <a:solidFill>
                            <a:srgbClr val="003352"/>
                          </a:solidFill>
                          <a:latin typeface="Century Gothic"/>
                        </a:rPr>
                        <a:t>One-tap reorder of a past order</a:t>
                      </a:r>
                    </a:p>
                  </a:txBody>
                  <a:tcPr marL="109728" marT="36576" marB="36576" anchor="ctr">
                    <a:solidFill>
                      <a:srgbClr val="FFFFFF"/>
                    </a:solidFill>
                  </a:tcPr>
                </a:tc>
                <a:tc>
                  <a:txBody>
                    <a:bodyPr/>
                    <a:lstStyle/>
                    <a:p>
                      <a:pPr>
                        <a:spcAft>
                          <a:spcPts val="0"/>
                        </a:spcAft>
                      </a:pPr>
                      <a:r>
                        <a:rPr sz="1150" b="0" i="0">
                          <a:solidFill>
                            <a:srgbClr val="003352"/>
                          </a:solidFill>
                          <a:latin typeface="Century Gothic"/>
                        </a:rPr>
                        <a:t>25,000</a:t>
                      </a:r>
                    </a:p>
                  </a:txBody>
                  <a:tcPr marL="109728" marT="36576" marB="36576" anchor="ctr">
                    <a:solidFill>
                      <a:srgbClr val="FFFFFF"/>
                    </a:solidFill>
                  </a:tcPr>
                </a:tc>
                <a:tc>
                  <a:txBody>
                    <a:bodyPr/>
                    <a:lstStyle/>
                    <a:p>
                      <a:pPr>
                        <a:spcAft>
                          <a:spcPts val="0"/>
                        </a:spcAft>
                      </a:pPr>
                      <a:r>
                        <a:rPr sz="1150" b="0" i="0">
                          <a:solidFill>
                            <a:srgbClr val="003352"/>
                          </a:solidFill>
                          <a:latin typeface="Century Gothic"/>
                        </a:rPr>
                        <a:t>3</a:t>
                      </a:r>
                    </a:p>
                  </a:txBody>
                  <a:tcPr marL="109728" marT="36576" marB="36576" anchor="ctr">
                    <a:solidFill>
                      <a:srgbClr val="FFFFFF"/>
                    </a:solidFill>
                  </a:tcPr>
                </a:tc>
                <a:tc>
                  <a:txBody>
                    <a:bodyPr/>
                    <a:lstStyle/>
                    <a:p>
                      <a:pPr>
                        <a:spcAft>
                          <a:spcPts val="0"/>
                        </a:spcAft>
                      </a:pPr>
                      <a:r>
                        <a:rPr sz="1150" b="0" i="0">
                          <a:solidFill>
                            <a:srgbClr val="003352"/>
                          </a:solidFill>
                          <a:latin typeface="Century Gothic"/>
                        </a:rPr>
                        <a:t>80%</a:t>
                      </a:r>
                    </a:p>
                  </a:txBody>
                  <a:tcPr marL="109728" marT="36576" marB="36576" anchor="ctr">
                    <a:solidFill>
                      <a:srgbClr val="FFFFFF"/>
                    </a:solidFill>
                  </a:tcPr>
                </a:tc>
                <a:tc>
                  <a:txBody>
                    <a:bodyPr/>
                    <a:lstStyle/>
                    <a:p>
                      <a:pPr>
                        <a:spcAft>
                          <a:spcPts val="0"/>
                        </a:spcAft>
                      </a:pPr>
                      <a:r>
                        <a:rPr sz="1150" b="0" i="0">
                          <a:solidFill>
                            <a:srgbClr val="003352"/>
                          </a:solidFill>
                          <a:latin typeface="Century Gothic"/>
                        </a:rPr>
                        <a:t>2</a:t>
                      </a:r>
                    </a:p>
                  </a:txBody>
                  <a:tcPr marL="109728" marT="36576" marB="36576" anchor="ctr">
                    <a:solidFill>
                      <a:srgbClr val="FFFFFF"/>
                    </a:solidFill>
                  </a:tcPr>
                </a:tc>
                <a:tc>
                  <a:txBody>
                    <a:bodyPr/>
                    <a:lstStyle/>
                    <a:p>
                      <a:pPr>
                        <a:spcAft>
                          <a:spcPts val="0"/>
                        </a:spcAft>
                      </a:pPr>
                      <a:endParaRPr/>
                    </a:p>
                  </a:txBody>
                  <a:tcPr marL="109728" marT="36576" marB="36576" anchor="ctr">
                    <a:solidFill>
                      <a:srgbClr val="FFFFFF"/>
                    </a:solidFill>
                  </a:tcPr>
                </a:tc>
                <a:extLst>
                  <a:ext uri="{0D108BD9-81ED-4DB2-BD59-A6C34878D82A}">
                    <a16:rowId xmlns:a16="http://schemas.microsoft.com/office/drawing/2014/main" val="10003"/>
                  </a:ext>
                </a:extLst>
              </a:tr>
            </a:tbl>
          </a:graphicData>
        </a:graphic>
      </p:graphicFrame>
      <p:sp>
        <p:nvSpPr>
          <p:cNvPr id="7" name="Rounded Rectangle 6"/>
          <p:cNvSpPr/>
          <p:nvPr/>
        </p:nvSpPr>
        <p:spPr>
          <a:xfrm>
            <a:off x="502920" y="3959352"/>
            <a:ext cx="11201400" cy="1188720"/>
          </a:xfrm>
          <a:prstGeom prst="roundRect">
            <a:avLst>
              <a:gd name="adj" fmla="val 6000"/>
            </a:avLst>
          </a:prstGeom>
          <a:solidFill>
            <a:srgbClr val="E4F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ounded Rectangle 7"/>
          <p:cNvSpPr/>
          <p:nvPr/>
        </p:nvSpPr>
        <p:spPr>
          <a:xfrm>
            <a:off x="502920" y="3959352"/>
            <a:ext cx="11201400" cy="420624"/>
          </a:xfrm>
          <a:prstGeom prst="roundRect">
            <a:avLst>
              <a:gd name="adj" fmla="val 14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0" rIns="128016" bIns="0" rtlCol="0" anchor="ctr"/>
          <a:lstStyle/>
          <a:p>
            <a:r>
              <a:rPr sz="1400" b="1" i="0">
                <a:solidFill>
                  <a:srgbClr val="003352"/>
                </a:solidFill>
                <a:latin typeface="Century Gothic"/>
              </a:rPr>
              <a:t>Then the twist — re-score before you commit</a:t>
            </a:r>
          </a:p>
        </p:txBody>
      </p:sp>
      <p:sp>
        <p:nvSpPr>
          <p:cNvPr id="9" name="TextBox 8"/>
          <p:cNvSpPr txBox="1"/>
          <p:nvPr/>
        </p:nvSpPr>
        <p:spPr>
          <a:xfrm>
            <a:off x="685800" y="4526280"/>
            <a:ext cx="10835640" cy="493776"/>
          </a:xfrm>
          <a:prstGeom prst="rect">
            <a:avLst/>
          </a:prstGeom>
          <a:noFill/>
        </p:spPr>
        <p:txBody>
          <a:bodyPr wrap="square" lIns="0" tIns="0" rIns="0" bIns="0" anchor="t">
            <a:spAutoFit/>
          </a:bodyPr>
          <a:lstStyle/>
          <a:p>
            <a:pPr algn="l">
              <a:spcBef>
                <a:spcPts val="0"/>
              </a:spcBef>
              <a:spcAft>
                <a:spcPts val="400"/>
              </a:spcAft>
            </a:pPr>
            <a:r>
              <a:rPr sz="1250" b="0" i="0">
                <a:solidFill>
                  <a:srgbClr val="003352"/>
                </a:solidFill>
                <a:latin typeface="Century Gothic"/>
              </a:rPr>
              <a:t>The payments team tells you saved cards needs a PCI review that adds three weeks to the effort. Nothing else changes. Re-score B, and say whether your ranking still holds.</a:t>
            </a:r>
          </a:p>
        </p:txBody>
      </p:sp>
      <p:sp>
        <p:nvSpPr>
          <p:cNvPr id="10" name="Rounded Rectangle 9"/>
          <p:cNvSpPr/>
          <p:nvPr/>
        </p:nvSpPr>
        <p:spPr>
          <a:xfrm>
            <a:off x="502920" y="5486400"/>
            <a:ext cx="11201400" cy="658368"/>
          </a:xfrm>
          <a:prstGeom prst="roundRect">
            <a:avLst>
              <a:gd name="adj" fmla="val 10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54864" rIns="201168" bIns="54864" rtlCol="0" anchor="ctr"/>
          <a:lstStyle/>
          <a:p>
            <a:r>
              <a:rPr sz="1300" b="1" i="0">
                <a:solidFill>
                  <a:srgbClr val="FFFFFF"/>
                </a:solidFill>
                <a:latin typeface="Century Gothic"/>
              </a:rPr>
              <a:t>Then the question that actually matters: which single input would you challenge first, and who in the company owns the answer to it?</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CA3EDE4-B337-4A7E-B83E-F19927E59450}"/>
              </a:ext>
            </a:extLst>
          </p:cNvPr>
          <p:cNvSpPr>
            <a:spLocks noGrp="1"/>
          </p:cNvSpPr>
          <p:nvPr>
            <p:ph idx="1"/>
          </p:nvPr>
        </p:nvSpPr>
        <p:spPr/>
        <p:txBody>
          <a:bodyPr/>
          <a:lstStyle/>
          <a:p>
            <a:r>
              <a:rPr lang="en-US" dirty="0"/>
              <a:t>By the end of this topic, you will understand:</a:t>
            </a:r>
          </a:p>
          <a:p>
            <a:pPr>
              <a:buFont typeface="Arial" panose="020B0604020202020204" pitchFamily="34" charset="0"/>
              <a:buChar char="•"/>
            </a:pPr>
            <a:r>
              <a:rPr lang="en-US" dirty="0"/>
              <a:t>What a Product Roadmap is. </a:t>
            </a:r>
          </a:p>
          <a:p>
            <a:pPr>
              <a:buFont typeface="Arial" panose="020B0604020202020204" pitchFamily="34" charset="0"/>
              <a:buChar char="•"/>
            </a:pPr>
            <a:r>
              <a:rPr lang="en-US" dirty="0"/>
              <a:t>Why roadmaps are important. </a:t>
            </a:r>
          </a:p>
          <a:p>
            <a:pPr>
              <a:buFont typeface="Arial" panose="020B0604020202020204" pitchFamily="34" charset="0"/>
              <a:buChar char="•"/>
            </a:pPr>
            <a:r>
              <a:rPr lang="en-US" dirty="0"/>
              <a:t>The difference between Vision, Strategy, Roadmap, Release, and Sprint. </a:t>
            </a:r>
          </a:p>
          <a:p>
            <a:pPr>
              <a:buFont typeface="Arial" panose="020B0604020202020204" pitchFamily="34" charset="0"/>
              <a:buChar char="•"/>
            </a:pPr>
            <a:r>
              <a:rPr lang="en-US" dirty="0"/>
              <a:t>How to create a simple product roadmap. </a:t>
            </a:r>
          </a:p>
          <a:p>
            <a:pPr>
              <a:buFont typeface="Arial" panose="020B0604020202020204" pitchFamily="34" charset="0"/>
              <a:buChar char="•"/>
            </a:pPr>
            <a:r>
              <a:rPr lang="en-US" dirty="0"/>
              <a:t>What happens during a product release. </a:t>
            </a:r>
          </a:p>
          <a:p>
            <a:pPr>
              <a:buFont typeface="Arial" panose="020B0604020202020204" pitchFamily="34" charset="0"/>
              <a:buChar char="•"/>
            </a:pPr>
            <a:r>
              <a:rPr lang="en-US" dirty="0"/>
              <a:t>Best practices for planning successful releases. </a:t>
            </a:r>
          </a:p>
          <a:p>
            <a:endParaRPr lang="en-IN" dirty="0"/>
          </a:p>
        </p:txBody>
      </p:sp>
      <p:sp>
        <p:nvSpPr>
          <p:cNvPr id="3" name="Content Placeholder 2">
            <a:extLst>
              <a:ext uri="{FF2B5EF4-FFF2-40B4-BE49-F238E27FC236}">
                <a16:creationId xmlns:a16="http://schemas.microsoft.com/office/drawing/2014/main" id="{9CAF640F-CEC7-83DE-0062-FE440FB4F7EA}"/>
              </a:ext>
            </a:extLst>
          </p:cNvPr>
          <p:cNvSpPr>
            <a:spLocks noGrp="1"/>
          </p:cNvSpPr>
          <p:nvPr>
            <p:ph sz="quarter" idx="10"/>
          </p:nvPr>
        </p:nvSpPr>
        <p:spPr/>
        <p:txBody>
          <a:bodyPr/>
          <a:lstStyle/>
          <a:p>
            <a:r>
              <a:rPr lang="en-IN" b="1" dirty="0"/>
              <a:t>Product Roadmaps &amp; Releases</a:t>
            </a:r>
          </a:p>
          <a:p>
            <a:endParaRPr lang="en-IN" dirty="0"/>
          </a:p>
        </p:txBody>
      </p:sp>
    </p:spTree>
    <p:extLst>
      <p:ext uri="{BB962C8B-B14F-4D97-AF65-F5344CB8AC3E}">
        <p14:creationId xmlns:p14="http://schemas.microsoft.com/office/powerpoint/2010/main" val="169666163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B3EC84E-CB29-DD92-72A8-84E66DE187E0}"/>
              </a:ext>
            </a:extLst>
          </p:cNvPr>
          <p:cNvSpPr>
            <a:spLocks noGrp="1"/>
          </p:cNvSpPr>
          <p:nvPr>
            <p:ph idx="1"/>
          </p:nvPr>
        </p:nvSpPr>
        <p:spPr/>
        <p:txBody>
          <a:bodyPr/>
          <a:lstStyle/>
          <a:p>
            <a:r>
              <a:rPr lang="en-US" dirty="0"/>
              <a:t>A </a:t>
            </a:r>
            <a:r>
              <a:rPr lang="en-US" b="1" dirty="0"/>
              <a:t>Product Roadmap</a:t>
            </a:r>
            <a:r>
              <a:rPr lang="en-US" dirty="0"/>
              <a:t> is a high-level plan that communicates the product's vision, direction, priorities, and major initiatives over time.</a:t>
            </a:r>
          </a:p>
          <a:p>
            <a:r>
              <a:rPr lang="en-US" dirty="0"/>
              <a:t>It answers:</a:t>
            </a:r>
          </a:p>
          <a:p>
            <a:pPr>
              <a:buFont typeface="Arial" panose="020B0604020202020204" pitchFamily="34" charset="0"/>
              <a:buChar char="•"/>
            </a:pPr>
            <a:r>
              <a:rPr lang="en-US" dirty="0"/>
              <a:t>Where is the product going? </a:t>
            </a:r>
          </a:p>
          <a:p>
            <a:pPr>
              <a:buFont typeface="Arial" panose="020B0604020202020204" pitchFamily="34" charset="0"/>
              <a:buChar char="•"/>
            </a:pPr>
            <a:r>
              <a:rPr lang="en-US" dirty="0"/>
              <a:t>What major features will be delivered? </a:t>
            </a:r>
          </a:p>
          <a:p>
            <a:pPr>
              <a:buFont typeface="Arial" panose="020B0604020202020204" pitchFamily="34" charset="0"/>
              <a:buChar char="•"/>
            </a:pPr>
            <a:r>
              <a:rPr lang="en-US" dirty="0"/>
              <a:t>Why are they important? </a:t>
            </a:r>
          </a:p>
          <a:p>
            <a:pPr>
              <a:buFont typeface="Arial" panose="020B0604020202020204" pitchFamily="34" charset="0"/>
              <a:buChar char="•"/>
            </a:pPr>
            <a:r>
              <a:rPr lang="en-US" dirty="0"/>
              <a:t>When are they expected? </a:t>
            </a:r>
          </a:p>
          <a:p>
            <a:r>
              <a:rPr lang="en-US" dirty="0"/>
              <a:t>A roadmap aligns stakeholders such as management, engineering, sales, marketing, customer success, and customers.</a:t>
            </a:r>
          </a:p>
          <a:p>
            <a:endParaRPr lang="en-IN" dirty="0"/>
          </a:p>
        </p:txBody>
      </p:sp>
      <p:sp>
        <p:nvSpPr>
          <p:cNvPr id="3" name="Content Placeholder 2">
            <a:extLst>
              <a:ext uri="{FF2B5EF4-FFF2-40B4-BE49-F238E27FC236}">
                <a16:creationId xmlns:a16="http://schemas.microsoft.com/office/drawing/2014/main" id="{DD405F14-0AE7-12AC-ABE1-D0925FAEDCF8}"/>
              </a:ext>
            </a:extLst>
          </p:cNvPr>
          <p:cNvSpPr>
            <a:spLocks noGrp="1"/>
          </p:cNvSpPr>
          <p:nvPr>
            <p:ph sz="quarter" idx="10"/>
          </p:nvPr>
        </p:nvSpPr>
        <p:spPr/>
        <p:txBody>
          <a:bodyPr/>
          <a:lstStyle/>
          <a:p>
            <a:r>
              <a:rPr lang="en-US" b="1" dirty="0"/>
              <a:t>What is a Product Roadmap?</a:t>
            </a:r>
          </a:p>
          <a:p>
            <a:endParaRPr lang="en-IN" dirty="0"/>
          </a:p>
        </p:txBody>
      </p:sp>
    </p:spTree>
    <p:extLst>
      <p:ext uri="{BB962C8B-B14F-4D97-AF65-F5344CB8AC3E}">
        <p14:creationId xmlns:p14="http://schemas.microsoft.com/office/powerpoint/2010/main" val="398639661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3EEBF8-02E8-FD2F-E373-AD94496100BE}"/>
              </a:ext>
            </a:extLst>
          </p:cNvPr>
          <p:cNvSpPr>
            <a:spLocks noGrp="1"/>
          </p:cNvSpPr>
          <p:nvPr>
            <p:ph idx="1"/>
          </p:nvPr>
        </p:nvSpPr>
        <p:spPr/>
        <p:txBody>
          <a:bodyPr/>
          <a:lstStyle/>
          <a:p>
            <a:r>
              <a:rPr lang="en-US" dirty="0"/>
              <a:t>Think of building your dream home.</a:t>
            </a:r>
          </a:p>
          <a:p>
            <a:pPr>
              <a:buFont typeface="Arial" panose="020B0604020202020204" pitchFamily="34" charset="0"/>
              <a:buChar char="•"/>
            </a:pPr>
            <a:r>
              <a:rPr lang="en-US" b="1" dirty="0"/>
              <a:t>Vision:</a:t>
            </a:r>
            <a:r>
              <a:rPr lang="en-US" dirty="0"/>
              <a:t> Build a modern family home. </a:t>
            </a:r>
          </a:p>
          <a:p>
            <a:pPr>
              <a:buFont typeface="Arial" panose="020B0604020202020204" pitchFamily="34" charset="0"/>
              <a:buChar char="•"/>
            </a:pPr>
            <a:r>
              <a:rPr lang="en-US" b="1" dirty="0"/>
              <a:t>Roadmap:</a:t>
            </a:r>
            <a:r>
              <a:rPr lang="en-US" dirty="0"/>
              <a:t> Foundation → Structure → Interiors → Landscaping. </a:t>
            </a:r>
          </a:p>
          <a:p>
            <a:pPr>
              <a:buFont typeface="Arial" panose="020B0604020202020204" pitchFamily="34" charset="0"/>
              <a:buChar char="•"/>
            </a:pPr>
            <a:r>
              <a:rPr lang="en-US" b="1" dirty="0"/>
              <a:t>Project Plan:</a:t>
            </a:r>
            <a:r>
              <a:rPr lang="en-US" dirty="0"/>
              <a:t> Daily construction schedule. </a:t>
            </a:r>
          </a:p>
          <a:p>
            <a:pPr>
              <a:buFont typeface="Arial" panose="020B0604020202020204" pitchFamily="34" charset="0"/>
              <a:buChar char="•"/>
            </a:pPr>
            <a:r>
              <a:rPr lang="en-US" b="1" dirty="0"/>
              <a:t>Release:</a:t>
            </a:r>
            <a:r>
              <a:rPr lang="en-US" dirty="0"/>
              <a:t> Family moves into the completed home. </a:t>
            </a:r>
          </a:p>
          <a:p>
            <a:r>
              <a:rPr lang="en-US" dirty="0"/>
              <a:t>Similarly, software products move from vision to roadmap to releases.</a:t>
            </a:r>
          </a:p>
          <a:p>
            <a:endParaRPr lang="en-IN" dirty="0"/>
          </a:p>
        </p:txBody>
      </p:sp>
      <p:sp>
        <p:nvSpPr>
          <p:cNvPr id="3" name="Content Placeholder 2">
            <a:extLst>
              <a:ext uri="{FF2B5EF4-FFF2-40B4-BE49-F238E27FC236}">
                <a16:creationId xmlns:a16="http://schemas.microsoft.com/office/drawing/2014/main" id="{CC42EB88-2C68-4D4F-0AC1-E3460FA2DF0F}"/>
              </a:ext>
            </a:extLst>
          </p:cNvPr>
          <p:cNvSpPr>
            <a:spLocks noGrp="1"/>
          </p:cNvSpPr>
          <p:nvPr>
            <p:ph sz="quarter" idx="10"/>
          </p:nvPr>
        </p:nvSpPr>
        <p:spPr/>
        <p:txBody>
          <a:bodyPr/>
          <a:lstStyle/>
          <a:p>
            <a:r>
              <a:rPr lang="en-IN" b="1" dirty="0"/>
              <a:t>Imagine Building a House</a:t>
            </a:r>
          </a:p>
          <a:p>
            <a:endParaRPr lang="en-IN" dirty="0"/>
          </a:p>
        </p:txBody>
      </p:sp>
    </p:spTree>
    <p:extLst>
      <p:ext uri="{BB962C8B-B14F-4D97-AF65-F5344CB8AC3E}">
        <p14:creationId xmlns:p14="http://schemas.microsoft.com/office/powerpoint/2010/main" val="34778759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wrap="square"/>
          <a:lstStyle/>
          <a:p>
            <a:r>
              <a:rPr sz="2600" b="1">
                <a:solidFill>
                  <a:srgbClr val="003352"/>
                </a:solidFill>
                <a:latin typeface="Century Gothic"/>
              </a:rPr>
              <a:t>A roadmap engineers can actually use</a:t>
            </a:r>
          </a:p>
        </p:txBody>
      </p:sp>
      <p:sp>
        <p:nvSpPr>
          <p:cNvPr id="4" name="Rounded Rectangle 3"/>
          <p:cNvSpPr/>
          <p:nvPr/>
        </p:nvSpPr>
        <p:spPr>
          <a:xfrm>
            <a:off x="502920" y="1371600"/>
            <a:ext cx="1444752" cy="292608"/>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ctr"/>
            <a:r>
              <a:rPr sz="1000" b="1" i="0">
                <a:solidFill>
                  <a:srgbClr val="003352"/>
                </a:solidFill>
                <a:latin typeface="Century Gothic"/>
              </a:rPr>
              <a:t>EXAMPLE</a:t>
            </a:r>
          </a:p>
        </p:txBody>
      </p:sp>
      <p:sp>
        <p:nvSpPr>
          <p:cNvPr id="5" name="Rounded Rectangle 4"/>
          <p:cNvSpPr/>
          <p:nvPr/>
        </p:nvSpPr>
        <p:spPr>
          <a:xfrm>
            <a:off x="502920" y="1874519"/>
            <a:ext cx="3611880" cy="2834640"/>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ounded Rectangle 5"/>
          <p:cNvSpPr/>
          <p:nvPr/>
        </p:nvSpPr>
        <p:spPr>
          <a:xfrm>
            <a:off x="502920" y="1874519"/>
            <a:ext cx="3611880" cy="713232"/>
          </a:xfrm>
          <a:prstGeom prst="roundRect">
            <a:avLst>
              <a:gd name="adj" fmla="val 10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0" rIns="164592" bIns="0" rtlCol="0" anchor="ctr"/>
          <a:lstStyle/>
          <a:p>
            <a:pPr>
              <a:spcAft>
                <a:spcPts val="100"/>
              </a:spcAft>
            </a:pPr>
            <a:r>
              <a:rPr sz="1500" b="1" i="0">
                <a:solidFill>
                  <a:srgbClr val="FFFFFF"/>
                </a:solidFill>
                <a:latin typeface="Century Gothic"/>
              </a:rPr>
              <a:t>NOW</a:t>
            </a:r>
          </a:p>
          <a:p>
            <a:r>
              <a:rPr sz="1000" b="0" i="0">
                <a:solidFill>
                  <a:srgbClr val="FFFFFF"/>
                </a:solidFill>
                <a:latin typeface="Century Gothic"/>
              </a:rPr>
              <a:t>This quarter, committed</a:t>
            </a:r>
          </a:p>
        </p:txBody>
      </p:sp>
      <p:sp>
        <p:nvSpPr>
          <p:cNvPr id="7" name="TextBox 6"/>
          <p:cNvSpPr txBox="1"/>
          <p:nvPr/>
        </p:nvSpPr>
        <p:spPr>
          <a:xfrm>
            <a:off x="704088" y="2770632"/>
            <a:ext cx="3209544" cy="1828800"/>
          </a:xfrm>
          <a:prstGeom prst="rect">
            <a:avLst/>
          </a:prstGeom>
          <a:noFill/>
        </p:spPr>
        <p:txBody>
          <a:bodyPr wrap="square" lIns="0" tIns="0" rIns="0" bIns="0" anchor="t">
            <a:spAutoFit/>
          </a:bodyPr>
          <a:lstStyle/>
          <a:p>
            <a:pPr algn="l">
              <a:spcBef>
                <a:spcPts val="0"/>
              </a:spcBef>
              <a:spcAft>
                <a:spcPts val="1200"/>
              </a:spcAft>
            </a:pPr>
            <a:r>
              <a:rPr sz="1200" b="0" i="0">
                <a:solidFill>
                  <a:srgbClr val="003352"/>
                </a:solidFill>
                <a:latin typeface="Century Gothic"/>
              </a:rPr>
              <a:t>Cut checkout failures below 1%</a:t>
            </a:r>
          </a:p>
          <a:p>
            <a:pPr algn="l">
              <a:spcBef>
                <a:spcPts val="0"/>
              </a:spcBef>
              <a:spcAft>
                <a:spcPts val="1200"/>
              </a:spcAft>
            </a:pPr>
            <a:r>
              <a:rPr sz="1200" b="0" i="0">
                <a:solidFill>
                  <a:srgbClr val="003352"/>
                </a:solidFill>
                <a:latin typeface="Century Gothic"/>
              </a:rPr>
              <a:t>Ship 2FA before the July audit</a:t>
            </a:r>
          </a:p>
          <a:p>
            <a:pPr algn="l">
              <a:spcBef>
                <a:spcPts val="0"/>
              </a:spcBef>
              <a:spcAft>
                <a:spcPts val="1200"/>
              </a:spcAft>
            </a:pPr>
            <a:r>
              <a:rPr sz="1200" b="0" i="0">
                <a:solidFill>
                  <a:srgbClr val="003352"/>
                </a:solidFill>
                <a:latin typeface="Century Gothic"/>
              </a:rPr>
              <a:t>Search under 1 second at p95</a:t>
            </a:r>
          </a:p>
        </p:txBody>
      </p:sp>
      <p:sp>
        <p:nvSpPr>
          <p:cNvPr id="8" name="Rounded Rectangle 7"/>
          <p:cNvSpPr/>
          <p:nvPr/>
        </p:nvSpPr>
        <p:spPr>
          <a:xfrm>
            <a:off x="4297680" y="1874519"/>
            <a:ext cx="3611880" cy="2834640"/>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ounded Rectangle 8"/>
          <p:cNvSpPr/>
          <p:nvPr/>
        </p:nvSpPr>
        <p:spPr>
          <a:xfrm>
            <a:off x="4297680" y="1874519"/>
            <a:ext cx="3611880" cy="713232"/>
          </a:xfrm>
          <a:prstGeom prst="roundRect">
            <a:avLst>
              <a:gd name="adj" fmla="val 1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0" rIns="164592" bIns="0" rtlCol="0" anchor="ctr"/>
          <a:lstStyle/>
          <a:p>
            <a:pPr>
              <a:spcAft>
                <a:spcPts val="100"/>
              </a:spcAft>
            </a:pPr>
            <a:r>
              <a:rPr sz="1500" b="1" i="0">
                <a:solidFill>
                  <a:srgbClr val="003352"/>
                </a:solidFill>
                <a:latin typeface="Century Gothic"/>
              </a:rPr>
              <a:t>NEXT</a:t>
            </a:r>
          </a:p>
          <a:p>
            <a:r>
              <a:rPr sz="1000" b="0" i="0">
                <a:solidFill>
                  <a:srgbClr val="003352"/>
                </a:solidFill>
                <a:latin typeface="Century Gothic"/>
              </a:rPr>
              <a:t>Next quarter, likely</a:t>
            </a:r>
          </a:p>
        </p:txBody>
      </p:sp>
      <p:sp>
        <p:nvSpPr>
          <p:cNvPr id="10" name="TextBox 9"/>
          <p:cNvSpPr txBox="1"/>
          <p:nvPr/>
        </p:nvSpPr>
        <p:spPr>
          <a:xfrm>
            <a:off x="4498848" y="2770632"/>
            <a:ext cx="3209544" cy="1828800"/>
          </a:xfrm>
          <a:prstGeom prst="rect">
            <a:avLst/>
          </a:prstGeom>
          <a:noFill/>
        </p:spPr>
        <p:txBody>
          <a:bodyPr wrap="square" lIns="0" tIns="0" rIns="0" bIns="0" anchor="t">
            <a:spAutoFit/>
          </a:bodyPr>
          <a:lstStyle/>
          <a:p>
            <a:pPr algn="l">
              <a:spcBef>
                <a:spcPts val="0"/>
              </a:spcBef>
              <a:spcAft>
                <a:spcPts val="1200"/>
              </a:spcAft>
            </a:pPr>
            <a:r>
              <a:rPr sz="1200" b="0" i="0">
                <a:solidFill>
                  <a:srgbClr val="003352"/>
                </a:solidFill>
                <a:latin typeface="Century Gothic"/>
              </a:rPr>
              <a:t>Hindi and Tamil across the app</a:t>
            </a:r>
          </a:p>
          <a:p>
            <a:pPr algn="l">
              <a:spcBef>
                <a:spcPts val="0"/>
              </a:spcBef>
              <a:spcAft>
                <a:spcPts val="1200"/>
              </a:spcAft>
            </a:pPr>
            <a:r>
              <a:rPr sz="1200" b="0" i="0">
                <a:solidFill>
                  <a:srgbClr val="003352"/>
                </a:solidFill>
                <a:latin typeface="Century Gothic"/>
              </a:rPr>
              <a:t>Bulk import for enterprise accounts</a:t>
            </a:r>
          </a:p>
          <a:p>
            <a:pPr algn="l">
              <a:spcBef>
                <a:spcPts val="0"/>
              </a:spcBef>
              <a:spcAft>
                <a:spcPts val="1200"/>
              </a:spcAft>
            </a:pPr>
            <a:r>
              <a:rPr sz="1200" b="0" i="0">
                <a:solidFill>
                  <a:srgbClr val="003352"/>
                </a:solidFill>
                <a:latin typeface="Century Gothic"/>
              </a:rPr>
              <a:t>Offline mode for the delivery app</a:t>
            </a:r>
          </a:p>
        </p:txBody>
      </p:sp>
      <p:sp>
        <p:nvSpPr>
          <p:cNvPr id="11" name="Rounded Rectangle 10"/>
          <p:cNvSpPr/>
          <p:nvPr/>
        </p:nvSpPr>
        <p:spPr>
          <a:xfrm>
            <a:off x="8092440" y="1874519"/>
            <a:ext cx="3611880" cy="2834640"/>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8092440" y="1874519"/>
            <a:ext cx="3611880" cy="71323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0" rIns="164592" bIns="0" rtlCol="0" anchor="ctr"/>
          <a:lstStyle/>
          <a:p>
            <a:pPr>
              <a:spcAft>
                <a:spcPts val="100"/>
              </a:spcAft>
            </a:pPr>
            <a:r>
              <a:rPr sz="1500" b="1" i="0">
                <a:solidFill>
                  <a:srgbClr val="003352"/>
                </a:solidFill>
                <a:latin typeface="Century Gothic"/>
              </a:rPr>
              <a:t>LATER</a:t>
            </a:r>
          </a:p>
          <a:p>
            <a:r>
              <a:rPr sz="1000" b="0" i="0">
                <a:solidFill>
                  <a:srgbClr val="003352"/>
                </a:solidFill>
                <a:latin typeface="Century Gothic"/>
              </a:rPr>
              <a:t>A direction, not a promise</a:t>
            </a:r>
          </a:p>
        </p:txBody>
      </p:sp>
      <p:sp>
        <p:nvSpPr>
          <p:cNvPr id="13" name="TextBox 12"/>
          <p:cNvSpPr txBox="1"/>
          <p:nvPr/>
        </p:nvSpPr>
        <p:spPr>
          <a:xfrm>
            <a:off x="8293608" y="2770632"/>
            <a:ext cx="3209544" cy="1828800"/>
          </a:xfrm>
          <a:prstGeom prst="rect">
            <a:avLst/>
          </a:prstGeom>
          <a:noFill/>
        </p:spPr>
        <p:txBody>
          <a:bodyPr wrap="square" lIns="0" tIns="0" rIns="0" bIns="0" anchor="t">
            <a:spAutoFit/>
          </a:bodyPr>
          <a:lstStyle/>
          <a:p>
            <a:pPr algn="l">
              <a:spcBef>
                <a:spcPts val="0"/>
              </a:spcBef>
              <a:spcAft>
                <a:spcPts val="1200"/>
              </a:spcAft>
            </a:pPr>
            <a:r>
              <a:rPr sz="1200" b="0" i="0">
                <a:solidFill>
                  <a:srgbClr val="003352"/>
                </a:solidFill>
                <a:latin typeface="Century Gothic"/>
              </a:rPr>
              <a:t>Assistant-led ordering</a:t>
            </a:r>
          </a:p>
          <a:p>
            <a:pPr algn="l">
              <a:spcBef>
                <a:spcPts val="0"/>
              </a:spcBef>
              <a:spcAft>
                <a:spcPts val="1200"/>
              </a:spcAft>
            </a:pPr>
            <a:r>
              <a:rPr sz="1200" b="0" i="0">
                <a:solidFill>
                  <a:srgbClr val="003352"/>
                </a:solidFill>
                <a:latin typeface="Century Gothic"/>
              </a:rPr>
              <a:t>Merchant self-serve analytics</a:t>
            </a:r>
          </a:p>
          <a:p>
            <a:pPr algn="l">
              <a:spcBef>
                <a:spcPts val="0"/>
              </a:spcBef>
              <a:spcAft>
                <a:spcPts val="1200"/>
              </a:spcAft>
            </a:pPr>
            <a:r>
              <a:rPr sz="1200" b="0" i="0">
                <a:solidFill>
                  <a:srgbClr val="003352"/>
                </a:solidFill>
                <a:latin typeface="Century Gothic"/>
              </a:rPr>
              <a:t>Open API for partners</a:t>
            </a:r>
          </a:p>
        </p:txBody>
      </p:sp>
      <p:sp>
        <p:nvSpPr>
          <p:cNvPr id="14" name="Rounded Rectangle 13"/>
          <p:cNvSpPr/>
          <p:nvPr/>
        </p:nvSpPr>
        <p:spPr>
          <a:xfrm>
            <a:off x="502920" y="5486400"/>
            <a:ext cx="11201400" cy="658368"/>
          </a:xfrm>
          <a:prstGeom prst="roundRect">
            <a:avLst>
              <a:gd name="adj" fmla="val 10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54864" rIns="201168" bIns="54864" rtlCol="0" anchor="ctr"/>
          <a:lstStyle/>
          <a:p>
            <a:r>
              <a:rPr sz="1300" b="1" i="0">
                <a:solidFill>
                  <a:srgbClr val="FFFFFF"/>
                </a:solidFill>
                <a:latin typeface="Century Gothic"/>
              </a:rPr>
              <a:t>Notice what is missing from the third column: dates. A roadmap with a date against every item is a project plan wearing a costume — and it is the reason nobody trusts roadmaps.</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B97273-29E5-7F3F-E6B8-326AA7ED47FD}"/>
              </a:ext>
            </a:extLst>
          </p:cNvPr>
          <p:cNvSpPr>
            <a:spLocks noGrp="1"/>
          </p:cNvSpPr>
          <p:nvPr>
            <p:ph sz="quarter" idx="10"/>
          </p:nvPr>
        </p:nvSpPr>
        <p:spPr/>
        <p:txBody>
          <a:bodyPr/>
          <a:lstStyle/>
          <a:p>
            <a:r>
              <a:rPr lang="en-IN" b="1" dirty="0"/>
              <a:t>Product Vision</a:t>
            </a:r>
          </a:p>
          <a:p>
            <a:endParaRPr lang="en-IN" dirty="0"/>
          </a:p>
        </p:txBody>
      </p:sp>
      <p:sp>
        <p:nvSpPr>
          <p:cNvPr id="12" name="Content Placeholder 11">
            <a:extLst>
              <a:ext uri="{FF2B5EF4-FFF2-40B4-BE49-F238E27FC236}">
                <a16:creationId xmlns:a16="http://schemas.microsoft.com/office/drawing/2014/main" id="{303FEA09-CFB9-8EDB-4C45-778D4D96083F}"/>
              </a:ext>
            </a:extLst>
          </p:cNvPr>
          <p:cNvSpPr>
            <a:spLocks noGrp="1"/>
          </p:cNvSpPr>
          <p:nvPr>
            <p:ph idx="1"/>
          </p:nvPr>
        </p:nvSpPr>
        <p:spPr/>
        <p:txBody>
          <a:bodyPr/>
          <a:lstStyle/>
          <a:p>
            <a:r>
              <a:rPr lang="en-IN" dirty="0"/>
              <a:t>The long-term aspiration.</a:t>
            </a:r>
          </a:p>
          <a:p>
            <a:endParaRPr lang="en-IN" dirty="0"/>
          </a:p>
          <a:p>
            <a:r>
              <a:rPr lang="en-IN" dirty="0"/>
              <a:t>Example:</a:t>
            </a:r>
          </a:p>
          <a:p>
            <a:r>
              <a:rPr lang="en-IN" dirty="0"/>
              <a:t>Become the most trusted PMS in Asia</a:t>
            </a:r>
          </a:p>
          <a:p>
            <a:endParaRPr lang="en-IN" dirty="0"/>
          </a:p>
          <a:p>
            <a:endParaRPr lang="en-IN" dirty="0"/>
          </a:p>
        </p:txBody>
      </p:sp>
    </p:spTree>
    <p:extLst>
      <p:ext uri="{BB962C8B-B14F-4D97-AF65-F5344CB8AC3E}">
        <p14:creationId xmlns:p14="http://schemas.microsoft.com/office/powerpoint/2010/main" val="328057493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56D6835-A7A1-7C64-658E-F1ED1B37230C}"/>
              </a:ext>
            </a:extLst>
          </p:cNvPr>
          <p:cNvSpPr>
            <a:spLocks noGrp="1"/>
          </p:cNvSpPr>
          <p:nvPr>
            <p:ph idx="1"/>
          </p:nvPr>
        </p:nvSpPr>
        <p:spPr/>
        <p:txBody>
          <a:bodyPr/>
          <a:lstStyle/>
          <a:p>
            <a:r>
              <a:rPr lang="en-US" dirty="0"/>
              <a:t>How you will achieve the vision.</a:t>
            </a:r>
          </a:p>
          <a:p>
            <a:endParaRPr lang="en-IN" dirty="0"/>
          </a:p>
          <a:p>
            <a:r>
              <a:rPr lang="en-US" dirty="0"/>
              <a:t>Example Strategy:</a:t>
            </a:r>
          </a:p>
          <a:p>
            <a:pPr>
              <a:buFont typeface="Arial" panose="020B0604020202020204" pitchFamily="34" charset="0"/>
              <a:buChar char="•"/>
            </a:pPr>
            <a:r>
              <a:rPr lang="en-US" dirty="0"/>
              <a:t>Expand into Southeast Asia. </a:t>
            </a:r>
          </a:p>
          <a:p>
            <a:pPr>
              <a:buFont typeface="Arial" panose="020B0604020202020204" pitchFamily="34" charset="0"/>
              <a:buChar char="•"/>
            </a:pPr>
            <a:r>
              <a:rPr lang="en-US" dirty="0"/>
              <a:t>Simplify hotel operations. </a:t>
            </a:r>
          </a:p>
          <a:p>
            <a:pPr>
              <a:buFont typeface="Arial" panose="020B0604020202020204" pitchFamily="34" charset="0"/>
              <a:buChar char="•"/>
            </a:pPr>
            <a:r>
              <a:rPr lang="en-US" dirty="0"/>
              <a:t>Introduce AI-powered automation. </a:t>
            </a:r>
          </a:p>
          <a:p>
            <a:pPr>
              <a:buFont typeface="Arial" panose="020B0604020202020204" pitchFamily="34" charset="0"/>
              <a:buChar char="•"/>
            </a:pPr>
            <a:r>
              <a:rPr lang="en-US" dirty="0"/>
              <a:t>Improve mobile experience. </a:t>
            </a:r>
          </a:p>
          <a:p>
            <a:pPr>
              <a:buFont typeface="Arial" panose="020B0604020202020204" pitchFamily="34" charset="0"/>
              <a:buChar char="•"/>
            </a:pPr>
            <a:endParaRPr lang="en-US" dirty="0"/>
          </a:p>
          <a:p>
            <a:r>
              <a:rPr lang="en-US" dirty="0"/>
              <a:t>Strategy guides roadmap decisions.</a:t>
            </a:r>
          </a:p>
          <a:p>
            <a:endParaRPr lang="en-IN" dirty="0"/>
          </a:p>
        </p:txBody>
      </p:sp>
      <p:sp>
        <p:nvSpPr>
          <p:cNvPr id="3" name="Content Placeholder 2">
            <a:extLst>
              <a:ext uri="{FF2B5EF4-FFF2-40B4-BE49-F238E27FC236}">
                <a16:creationId xmlns:a16="http://schemas.microsoft.com/office/drawing/2014/main" id="{0D40A2DF-6672-17B7-756D-3A50AADFCE97}"/>
              </a:ext>
            </a:extLst>
          </p:cNvPr>
          <p:cNvSpPr>
            <a:spLocks noGrp="1"/>
          </p:cNvSpPr>
          <p:nvPr>
            <p:ph sz="quarter" idx="10"/>
          </p:nvPr>
        </p:nvSpPr>
        <p:spPr/>
        <p:txBody>
          <a:bodyPr/>
          <a:lstStyle/>
          <a:p>
            <a:r>
              <a:rPr lang="en-IN" b="1" dirty="0"/>
              <a:t>Product Roadmap</a:t>
            </a:r>
          </a:p>
          <a:p>
            <a:endParaRPr lang="en-IN" dirty="0"/>
          </a:p>
        </p:txBody>
      </p:sp>
    </p:spTree>
    <p:extLst>
      <p:ext uri="{BB962C8B-B14F-4D97-AF65-F5344CB8AC3E}">
        <p14:creationId xmlns:p14="http://schemas.microsoft.com/office/powerpoint/2010/main" val="182333824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0EDB0B-1F22-FA24-FF49-6DD52DA333AE}"/>
              </a:ext>
            </a:extLst>
          </p:cNvPr>
          <p:cNvSpPr>
            <a:spLocks noGrp="1"/>
          </p:cNvSpPr>
          <p:nvPr>
            <p:ph idx="1"/>
          </p:nvPr>
        </p:nvSpPr>
        <p:spPr/>
        <p:txBody>
          <a:bodyPr/>
          <a:lstStyle/>
          <a:p>
            <a:r>
              <a:rPr lang="en-US" b="1" dirty="0"/>
              <a:t>Definition</a:t>
            </a:r>
          </a:p>
          <a:p>
            <a:r>
              <a:rPr lang="en-US" dirty="0"/>
              <a:t>A </a:t>
            </a:r>
            <a:r>
              <a:rPr lang="en-US" b="1" dirty="0"/>
              <a:t>Release</a:t>
            </a:r>
            <a:r>
              <a:rPr lang="en-US" dirty="0"/>
              <a:t> is a version of the product that delivers one or more completed features to customers.</a:t>
            </a:r>
          </a:p>
          <a:p>
            <a:r>
              <a:rPr lang="en-US" dirty="0"/>
              <a:t>Examples:</a:t>
            </a:r>
          </a:p>
          <a:p>
            <a:pPr>
              <a:buFont typeface="Arial" panose="020B0604020202020204" pitchFamily="34" charset="0"/>
              <a:buChar char="•"/>
            </a:pPr>
            <a:r>
              <a:rPr lang="en-US" dirty="0"/>
              <a:t>Version 3.0 </a:t>
            </a:r>
          </a:p>
          <a:p>
            <a:pPr>
              <a:buFont typeface="Arial" panose="020B0604020202020204" pitchFamily="34" charset="0"/>
              <a:buChar char="•"/>
            </a:pPr>
            <a:r>
              <a:rPr lang="en-US" dirty="0"/>
              <a:t>Monthly Release </a:t>
            </a:r>
          </a:p>
          <a:p>
            <a:pPr>
              <a:buFont typeface="Arial" panose="020B0604020202020204" pitchFamily="34" charset="0"/>
              <a:buChar char="•"/>
            </a:pPr>
            <a:r>
              <a:rPr lang="en-US" dirty="0"/>
              <a:t>Quarterly Release </a:t>
            </a:r>
          </a:p>
          <a:p>
            <a:pPr>
              <a:buFont typeface="Arial" panose="020B0604020202020204" pitchFamily="34" charset="0"/>
              <a:buChar char="•"/>
            </a:pPr>
            <a:r>
              <a:rPr lang="en-US" dirty="0"/>
              <a:t>Hotfix Release </a:t>
            </a:r>
          </a:p>
          <a:p>
            <a:pPr>
              <a:buFont typeface="Arial" panose="020B0604020202020204" pitchFamily="34" charset="0"/>
              <a:buChar char="•"/>
            </a:pPr>
            <a:r>
              <a:rPr lang="en-US" dirty="0"/>
              <a:t>Security Patch </a:t>
            </a:r>
          </a:p>
          <a:p>
            <a:endParaRPr lang="en-IN" dirty="0"/>
          </a:p>
        </p:txBody>
      </p:sp>
      <p:sp>
        <p:nvSpPr>
          <p:cNvPr id="3" name="Content Placeholder 2">
            <a:extLst>
              <a:ext uri="{FF2B5EF4-FFF2-40B4-BE49-F238E27FC236}">
                <a16:creationId xmlns:a16="http://schemas.microsoft.com/office/drawing/2014/main" id="{BDE77FBB-016F-7638-F351-3491DEBF6446}"/>
              </a:ext>
            </a:extLst>
          </p:cNvPr>
          <p:cNvSpPr>
            <a:spLocks noGrp="1"/>
          </p:cNvSpPr>
          <p:nvPr>
            <p:ph sz="quarter" idx="10"/>
          </p:nvPr>
        </p:nvSpPr>
        <p:spPr/>
        <p:txBody>
          <a:bodyPr/>
          <a:lstStyle/>
          <a:p>
            <a:r>
              <a:rPr lang="en-IN" b="1" dirty="0"/>
              <a:t>What is a Release?</a:t>
            </a:r>
          </a:p>
          <a:p>
            <a:endParaRPr lang="en-IN" dirty="0"/>
          </a:p>
        </p:txBody>
      </p:sp>
    </p:spTree>
    <p:extLst>
      <p:ext uri="{BB962C8B-B14F-4D97-AF65-F5344CB8AC3E}">
        <p14:creationId xmlns:p14="http://schemas.microsoft.com/office/powerpoint/2010/main" val="270273160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E6737A-48A2-8D01-AE71-EB089F34E010}"/>
              </a:ext>
            </a:extLst>
          </p:cNvPr>
          <p:cNvSpPr>
            <a:spLocks noGrp="1"/>
          </p:cNvSpPr>
          <p:nvPr>
            <p:ph type="title"/>
          </p:nvPr>
        </p:nvSpPr>
        <p:spPr>
          <a:xfrm>
            <a:off x="838200" y="365125"/>
            <a:ext cx="10515600" cy="1325563"/>
          </a:xfrm>
        </p:spPr>
        <p:txBody>
          <a:bodyPr anchor="ctr">
            <a:normAutofit/>
          </a:bodyPr>
          <a:lstStyle/>
          <a:p>
            <a:r>
              <a:rPr lang="en-IN" b="1" dirty="0"/>
              <a:t>Types of Releases</a:t>
            </a:r>
          </a:p>
          <a:p>
            <a:endParaRPr lang="en-IN" dirty="0"/>
          </a:p>
        </p:txBody>
      </p:sp>
      <p:graphicFrame>
        <p:nvGraphicFramePr>
          <p:cNvPr id="4" name="Content Placeholder 3">
            <a:extLst>
              <a:ext uri="{FF2B5EF4-FFF2-40B4-BE49-F238E27FC236}">
                <a16:creationId xmlns:a16="http://schemas.microsoft.com/office/drawing/2014/main" id="{6BEEC10B-DB69-A2CA-D797-85AFE14CE111}"/>
              </a:ext>
            </a:extLst>
          </p:cNvPr>
          <p:cNvGraphicFramePr>
            <a:graphicFrameLocks noGrp="1"/>
          </p:cNvGraphicFramePr>
          <p:nvPr>
            <p:ph idx="1"/>
            <p:extLst>
              <p:ext uri="{D42A27DB-BD31-4B8C-83A1-F6EECF244321}">
                <p14:modId xmlns:p14="http://schemas.microsoft.com/office/powerpoint/2010/main" val="2065226740"/>
              </p:ext>
            </p:extLst>
          </p:nvPr>
        </p:nvGraphicFramePr>
        <p:xfrm>
          <a:off x="1179161" y="1825625"/>
          <a:ext cx="9833679" cy="4351340"/>
        </p:xfrm>
        <a:graphic>
          <a:graphicData uri="http://schemas.openxmlformats.org/drawingml/2006/table">
            <a:tbl>
              <a:tblPr>
                <a:tableStyleId>{5C22544A-7EE6-4342-B048-85BDC9FD1C3A}</a:tableStyleId>
              </a:tblPr>
              <a:tblGrid>
                <a:gridCol w="3060614">
                  <a:extLst>
                    <a:ext uri="{9D8B030D-6E8A-4147-A177-3AD203B41FA5}">
                      <a16:colId xmlns:a16="http://schemas.microsoft.com/office/drawing/2014/main" val="170221544"/>
                    </a:ext>
                  </a:extLst>
                </a:gridCol>
                <a:gridCol w="6773065">
                  <a:extLst>
                    <a:ext uri="{9D8B030D-6E8A-4147-A177-3AD203B41FA5}">
                      <a16:colId xmlns:a16="http://schemas.microsoft.com/office/drawing/2014/main" val="1359280185"/>
                    </a:ext>
                  </a:extLst>
                </a:gridCol>
              </a:tblGrid>
              <a:tr h="683782">
                <a:tc>
                  <a:txBody>
                    <a:bodyPr/>
                    <a:lstStyle/>
                    <a:p>
                      <a:r>
                        <a:rPr lang="en-IN" sz="3100"/>
                        <a:t>Release Type</a:t>
                      </a:r>
                    </a:p>
                  </a:txBody>
                  <a:tcPr marL="155405" marR="155405" marT="77702" marB="77702" anchor="ctr"/>
                </a:tc>
                <a:tc>
                  <a:txBody>
                    <a:bodyPr/>
                    <a:lstStyle/>
                    <a:p>
                      <a:r>
                        <a:rPr lang="en-IN" sz="3100"/>
                        <a:t>Purpose</a:t>
                      </a:r>
                    </a:p>
                  </a:txBody>
                  <a:tcPr marL="155405" marR="155405" marT="77702" marB="77702" anchor="ctr"/>
                </a:tc>
                <a:extLst>
                  <a:ext uri="{0D108BD9-81ED-4DB2-BD59-A6C34878D82A}">
                    <a16:rowId xmlns:a16="http://schemas.microsoft.com/office/drawing/2014/main" val="3052455805"/>
                  </a:ext>
                </a:extLst>
              </a:tr>
              <a:tr h="1149997">
                <a:tc>
                  <a:txBody>
                    <a:bodyPr/>
                    <a:lstStyle/>
                    <a:p>
                      <a:r>
                        <a:rPr lang="en-IN" sz="3100"/>
                        <a:t>Major Release</a:t>
                      </a:r>
                    </a:p>
                  </a:txBody>
                  <a:tcPr marL="155405" marR="155405" marT="77702" marB="77702" anchor="ctr"/>
                </a:tc>
                <a:tc>
                  <a:txBody>
                    <a:bodyPr/>
                    <a:lstStyle/>
                    <a:p>
                      <a:r>
                        <a:rPr lang="en-US" sz="3100"/>
                        <a:t>Large features and significant improvements</a:t>
                      </a:r>
                    </a:p>
                  </a:txBody>
                  <a:tcPr marL="155405" marR="155405" marT="77702" marB="77702" anchor="ctr"/>
                </a:tc>
                <a:extLst>
                  <a:ext uri="{0D108BD9-81ED-4DB2-BD59-A6C34878D82A}">
                    <a16:rowId xmlns:a16="http://schemas.microsoft.com/office/drawing/2014/main" val="2582736241"/>
                  </a:ext>
                </a:extLst>
              </a:tr>
              <a:tr h="1149997">
                <a:tc>
                  <a:txBody>
                    <a:bodyPr/>
                    <a:lstStyle/>
                    <a:p>
                      <a:r>
                        <a:rPr lang="en-IN" sz="3100"/>
                        <a:t>Minor Release</a:t>
                      </a:r>
                    </a:p>
                  </a:txBody>
                  <a:tcPr marL="155405" marR="155405" marT="77702" marB="77702" anchor="ctr"/>
                </a:tc>
                <a:tc>
                  <a:txBody>
                    <a:bodyPr/>
                    <a:lstStyle/>
                    <a:p>
                      <a:r>
                        <a:rPr lang="en-US" sz="3100"/>
                        <a:t>Smaller enhancements and usability improvements</a:t>
                      </a:r>
                    </a:p>
                  </a:txBody>
                  <a:tcPr marL="155405" marR="155405" marT="77702" marB="77702" anchor="ctr"/>
                </a:tc>
                <a:extLst>
                  <a:ext uri="{0D108BD9-81ED-4DB2-BD59-A6C34878D82A}">
                    <a16:rowId xmlns:a16="http://schemas.microsoft.com/office/drawing/2014/main" val="3102624499"/>
                  </a:ext>
                </a:extLst>
              </a:tr>
              <a:tr h="683782">
                <a:tc>
                  <a:txBody>
                    <a:bodyPr/>
                    <a:lstStyle/>
                    <a:p>
                      <a:r>
                        <a:rPr lang="en-IN" sz="3100"/>
                        <a:t>Patch Release</a:t>
                      </a:r>
                    </a:p>
                  </a:txBody>
                  <a:tcPr marL="155405" marR="155405" marT="77702" marB="77702" anchor="ctr"/>
                </a:tc>
                <a:tc>
                  <a:txBody>
                    <a:bodyPr/>
                    <a:lstStyle/>
                    <a:p>
                      <a:r>
                        <a:rPr lang="en-US" sz="3100"/>
                        <a:t>Bug fixes and security updates</a:t>
                      </a:r>
                    </a:p>
                  </a:txBody>
                  <a:tcPr marL="155405" marR="155405" marT="77702" marB="77702" anchor="ctr"/>
                </a:tc>
                <a:extLst>
                  <a:ext uri="{0D108BD9-81ED-4DB2-BD59-A6C34878D82A}">
                    <a16:rowId xmlns:a16="http://schemas.microsoft.com/office/drawing/2014/main" val="1585885531"/>
                  </a:ext>
                </a:extLst>
              </a:tr>
              <a:tr h="683782">
                <a:tc>
                  <a:txBody>
                    <a:bodyPr/>
                    <a:lstStyle/>
                    <a:p>
                      <a:r>
                        <a:rPr lang="en-IN" sz="3100" dirty="0"/>
                        <a:t>Hotfix</a:t>
                      </a:r>
                    </a:p>
                  </a:txBody>
                  <a:tcPr marL="155405" marR="155405" marT="77702" marB="77702" anchor="ctr"/>
                </a:tc>
                <a:tc>
                  <a:txBody>
                    <a:bodyPr/>
                    <a:lstStyle/>
                    <a:p>
                      <a:r>
                        <a:rPr lang="en-IN" sz="3100"/>
                        <a:t>Urgent production issue fixes</a:t>
                      </a:r>
                    </a:p>
                  </a:txBody>
                  <a:tcPr marL="155405" marR="155405" marT="77702" marB="77702" anchor="ctr"/>
                </a:tc>
                <a:extLst>
                  <a:ext uri="{0D108BD9-81ED-4DB2-BD59-A6C34878D82A}">
                    <a16:rowId xmlns:a16="http://schemas.microsoft.com/office/drawing/2014/main" val="4019315804"/>
                  </a:ext>
                </a:extLst>
              </a:tr>
            </a:tbl>
          </a:graphicData>
        </a:graphic>
      </p:graphicFrame>
    </p:spTree>
    <p:extLst>
      <p:ext uri="{BB962C8B-B14F-4D97-AF65-F5344CB8AC3E}">
        <p14:creationId xmlns:p14="http://schemas.microsoft.com/office/powerpoint/2010/main" val="284233115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6B2828-2F29-1AF1-C67E-A43D62B4E6FA}"/>
              </a:ext>
            </a:extLst>
          </p:cNvPr>
          <p:cNvSpPr>
            <a:spLocks noGrp="1"/>
          </p:cNvSpPr>
          <p:nvPr>
            <p:ph sz="quarter" idx="10"/>
          </p:nvPr>
        </p:nvSpPr>
        <p:spPr>
          <a:xfrm>
            <a:off x="406400" y="152400"/>
            <a:ext cx="8432800" cy="1143000"/>
          </a:xfrm>
        </p:spPr>
        <p:txBody>
          <a:bodyPr anchor="ctr">
            <a:normAutofit/>
          </a:bodyPr>
          <a:lstStyle/>
          <a:p>
            <a:pPr>
              <a:spcAft>
                <a:spcPts val="600"/>
              </a:spcAft>
            </a:pPr>
            <a:r>
              <a:rPr lang="en-US" b="1" dirty="0"/>
              <a:t>Roadmap vs Release vs Sprint</a:t>
            </a:r>
            <a:endParaRPr lang="en-US" b="1"/>
          </a:p>
          <a:p>
            <a:pPr>
              <a:spcAft>
                <a:spcPts val="600"/>
              </a:spcAft>
            </a:pPr>
            <a:endParaRPr lang="en-IN"/>
          </a:p>
        </p:txBody>
      </p:sp>
      <p:graphicFrame>
        <p:nvGraphicFramePr>
          <p:cNvPr id="4" name="Content Placeholder 3">
            <a:extLst>
              <a:ext uri="{FF2B5EF4-FFF2-40B4-BE49-F238E27FC236}">
                <a16:creationId xmlns:a16="http://schemas.microsoft.com/office/drawing/2014/main" id="{75F5FE3D-CB89-9118-59BB-E14F6DB18B07}"/>
              </a:ext>
            </a:extLst>
          </p:cNvPr>
          <p:cNvGraphicFramePr>
            <a:graphicFrameLocks noGrp="1"/>
          </p:cNvGraphicFramePr>
          <p:nvPr>
            <p:ph idx="1"/>
            <p:extLst>
              <p:ext uri="{D42A27DB-BD31-4B8C-83A1-F6EECF244321}">
                <p14:modId xmlns:p14="http://schemas.microsoft.com/office/powerpoint/2010/main" val="3113302301"/>
              </p:ext>
            </p:extLst>
          </p:nvPr>
        </p:nvGraphicFramePr>
        <p:xfrm>
          <a:off x="843565" y="1493838"/>
          <a:ext cx="10813093" cy="4525965"/>
        </p:xfrm>
        <a:graphic>
          <a:graphicData uri="http://schemas.openxmlformats.org/drawingml/2006/table">
            <a:tbl>
              <a:tblPr/>
              <a:tblGrid>
                <a:gridCol w="4126084">
                  <a:extLst>
                    <a:ext uri="{9D8B030D-6E8A-4147-A177-3AD203B41FA5}">
                      <a16:colId xmlns:a16="http://schemas.microsoft.com/office/drawing/2014/main" val="613113676"/>
                    </a:ext>
                  </a:extLst>
                </a:gridCol>
                <a:gridCol w="3615334">
                  <a:extLst>
                    <a:ext uri="{9D8B030D-6E8A-4147-A177-3AD203B41FA5}">
                      <a16:colId xmlns:a16="http://schemas.microsoft.com/office/drawing/2014/main" val="4219175047"/>
                    </a:ext>
                  </a:extLst>
                </a:gridCol>
                <a:gridCol w="3071675">
                  <a:extLst>
                    <a:ext uri="{9D8B030D-6E8A-4147-A177-3AD203B41FA5}">
                      <a16:colId xmlns:a16="http://schemas.microsoft.com/office/drawing/2014/main" val="3174223934"/>
                    </a:ext>
                  </a:extLst>
                </a:gridCol>
              </a:tblGrid>
              <a:tr h="538223">
                <a:tc>
                  <a:txBody>
                    <a:bodyPr/>
                    <a:lstStyle/>
                    <a:p>
                      <a:pPr algn="l" fontAlgn="ctr">
                        <a:buNone/>
                      </a:pPr>
                      <a:r>
                        <a:rPr lang="en-IN" sz="2400" b="1" i="0" u="none" strike="noStrike" dirty="0">
                          <a:effectLst/>
                          <a:latin typeface="Arial" panose="020B0604020202020204" pitchFamily="34" charset="0"/>
                        </a:rPr>
                        <a:t>Roadmap</a:t>
                      </a:r>
                    </a:p>
                  </a:txBody>
                  <a:tcPr marL="122323" marR="122323" marT="61162" marB="61162" anchor="ctr">
                    <a:lnL>
                      <a:noFill/>
                    </a:lnL>
                    <a:lnR>
                      <a:noFill/>
                    </a:lnR>
                    <a:lnT>
                      <a:noFill/>
                    </a:lnT>
                    <a:lnB>
                      <a:noFill/>
                    </a:lnB>
                    <a:noFill/>
                  </a:tcPr>
                </a:tc>
                <a:tc>
                  <a:txBody>
                    <a:bodyPr/>
                    <a:lstStyle/>
                    <a:p>
                      <a:pPr algn="l" fontAlgn="ctr">
                        <a:buNone/>
                      </a:pPr>
                      <a:r>
                        <a:rPr lang="en-IN" sz="2400" b="1" i="0" u="none" strike="noStrike" dirty="0">
                          <a:effectLst/>
                          <a:latin typeface="Arial" panose="020B0604020202020204" pitchFamily="34" charset="0"/>
                        </a:rPr>
                        <a:t>Release</a:t>
                      </a:r>
                    </a:p>
                  </a:txBody>
                  <a:tcPr marL="122323" marR="122323" marT="61162" marB="61162" anchor="ctr">
                    <a:lnL>
                      <a:noFill/>
                    </a:lnL>
                    <a:lnR>
                      <a:noFill/>
                    </a:lnR>
                    <a:lnT>
                      <a:noFill/>
                    </a:lnT>
                    <a:lnB>
                      <a:noFill/>
                    </a:lnB>
                    <a:noFill/>
                  </a:tcPr>
                </a:tc>
                <a:tc>
                  <a:txBody>
                    <a:bodyPr/>
                    <a:lstStyle/>
                    <a:p>
                      <a:pPr algn="l" fontAlgn="ctr">
                        <a:buNone/>
                      </a:pPr>
                      <a:r>
                        <a:rPr lang="en-IN" sz="2400" b="1" i="0" u="none" strike="noStrike" dirty="0">
                          <a:effectLst/>
                          <a:latin typeface="Arial" panose="020B0604020202020204" pitchFamily="34" charset="0"/>
                        </a:rPr>
                        <a:t>Sprint</a:t>
                      </a:r>
                    </a:p>
                  </a:txBody>
                  <a:tcPr marL="122323" marR="122323" marT="61162" marB="61162" anchor="ctr">
                    <a:lnL>
                      <a:noFill/>
                    </a:lnL>
                    <a:lnR>
                      <a:noFill/>
                    </a:lnR>
                    <a:lnT>
                      <a:noFill/>
                    </a:lnT>
                    <a:lnB>
                      <a:noFill/>
                    </a:lnB>
                    <a:noFill/>
                  </a:tcPr>
                </a:tc>
                <a:extLst>
                  <a:ext uri="{0D108BD9-81ED-4DB2-BD59-A6C34878D82A}">
                    <a16:rowId xmlns:a16="http://schemas.microsoft.com/office/drawing/2014/main" val="2092181911"/>
                  </a:ext>
                </a:extLst>
              </a:tr>
              <a:tr h="905193">
                <a:tc>
                  <a:txBody>
                    <a:bodyPr/>
                    <a:lstStyle/>
                    <a:p>
                      <a:pPr algn="l" fontAlgn="ctr">
                        <a:buNone/>
                      </a:pPr>
                      <a:r>
                        <a:rPr lang="en-IN" sz="2400" b="0" i="0" u="none" strike="noStrike">
                          <a:effectLst/>
                          <a:latin typeface="Arial" panose="020B0604020202020204" pitchFamily="34" charset="0"/>
                        </a:rPr>
                        <a:t>Strategic direction</a:t>
                      </a:r>
                    </a:p>
                  </a:txBody>
                  <a:tcPr marL="122323" marR="122323" marT="61162" marB="61162" anchor="ctr">
                    <a:lnL>
                      <a:noFill/>
                    </a:lnL>
                    <a:lnR>
                      <a:noFill/>
                    </a:lnR>
                    <a:lnT>
                      <a:noFill/>
                    </a:lnT>
                    <a:lnB>
                      <a:noFill/>
                    </a:lnB>
                    <a:noFill/>
                  </a:tcPr>
                </a:tc>
                <a:tc>
                  <a:txBody>
                    <a:bodyPr/>
                    <a:lstStyle/>
                    <a:p>
                      <a:pPr algn="l" fontAlgn="ctr">
                        <a:buNone/>
                      </a:pPr>
                      <a:r>
                        <a:rPr lang="en-IN" sz="2400" b="0" i="0" u="none" strike="noStrike">
                          <a:effectLst/>
                          <a:latin typeface="Arial" panose="020B0604020202020204" pitchFamily="34" charset="0"/>
                        </a:rPr>
                        <a:t>Product version delivered</a:t>
                      </a:r>
                    </a:p>
                  </a:txBody>
                  <a:tcPr marL="122323" marR="122323" marT="61162" marB="61162" anchor="ctr">
                    <a:lnL>
                      <a:noFill/>
                    </a:lnL>
                    <a:lnR>
                      <a:noFill/>
                    </a:lnR>
                    <a:lnT>
                      <a:noFill/>
                    </a:lnT>
                    <a:lnB>
                      <a:noFill/>
                    </a:lnB>
                    <a:noFill/>
                  </a:tcPr>
                </a:tc>
                <a:tc>
                  <a:txBody>
                    <a:bodyPr/>
                    <a:lstStyle/>
                    <a:p>
                      <a:pPr algn="l" fontAlgn="ctr">
                        <a:buNone/>
                      </a:pPr>
                      <a:r>
                        <a:rPr lang="en-IN" sz="2400" b="0" i="0" u="none" strike="noStrike">
                          <a:effectLst/>
                          <a:latin typeface="Arial" panose="020B0604020202020204" pitchFamily="34" charset="0"/>
                        </a:rPr>
                        <a:t>Short development cycle</a:t>
                      </a:r>
                    </a:p>
                  </a:txBody>
                  <a:tcPr marL="122323" marR="122323" marT="61162" marB="61162" anchor="ctr">
                    <a:lnL>
                      <a:noFill/>
                    </a:lnL>
                    <a:lnR>
                      <a:noFill/>
                    </a:lnR>
                    <a:lnT>
                      <a:noFill/>
                    </a:lnT>
                    <a:lnB>
                      <a:noFill/>
                    </a:lnB>
                    <a:noFill/>
                  </a:tcPr>
                </a:tc>
                <a:extLst>
                  <a:ext uri="{0D108BD9-81ED-4DB2-BD59-A6C34878D82A}">
                    <a16:rowId xmlns:a16="http://schemas.microsoft.com/office/drawing/2014/main" val="1500194085"/>
                  </a:ext>
                </a:extLst>
              </a:tr>
              <a:tr h="905193">
                <a:tc>
                  <a:txBody>
                    <a:bodyPr/>
                    <a:lstStyle/>
                    <a:p>
                      <a:pPr algn="l" fontAlgn="ctr">
                        <a:buNone/>
                      </a:pPr>
                      <a:r>
                        <a:rPr lang="en-IN" sz="2400" b="0" i="0" u="none" strike="noStrike">
                          <a:effectLst/>
                          <a:latin typeface="Arial" panose="020B0604020202020204" pitchFamily="34" charset="0"/>
                        </a:rPr>
                        <a:t>Covers months or years</a:t>
                      </a:r>
                    </a:p>
                  </a:txBody>
                  <a:tcPr marL="122323" marR="122323" marT="61162" marB="61162" anchor="ctr">
                    <a:lnL>
                      <a:noFill/>
                    </a:lnL>
                    <a:lnR>
                      <a:noFill/>
                    </a:lnR>
                    <a:lnT>
                      <a:noFill/>
                    </a:lnT>
                    <a:lnB>
                      <a:noFill/>
                    </a:lnB>
                    <a:noFill/>
                  </a:tcPr>
                </a:tc>
                <a:tc>
                  <a:txBody>
                    <a:bodyPr/>
                    <a:lstStyle/>
                    <a:p>
                      <a:pPr algn="l" fontAlgn="ctr">
                        <a:buNone/>
                      </a:pPr>
                      <a:r>
                        <a:rPr lang="en-IN" sz="2400" b="0" i="0" u="none" strike="noStrike">
                          <a:effectLst/>
                          <a:latin typeface="Arial" panose="020B0604020202020204" pitchFamily="34" charset="0"/>
                        </a:rPr>
                        <a:t>Covers weeks or months</a:t>
                      </a:r>
                    </a:p>
                  </a:txBody>
                  <a:tcPr marL="122323" marR="122323" marT="61162" marB="61162" anchor="ctr">
                    <a:lnL>
                      <a:noFill/>
                    </a:lnL>
                    <a:lnR>
                      <a:noFill/>
                    </a:lnR>
                    <a:lnT>
                      <a:noFill/>
                    </a:lnT>
                    <a:lnB>
                      <a:noFill/>
                    </a:lnB>
                    <a:noFill/>
                  </a:tcPr>
                </a:tc>
                <a:tc>
                  <a:txBody>
                    <a:bodyPr/>
                    <a:lstStyle/>
                    <a:p>
                      <a:pPr algn="l" fontAlgn="ctr">
                        <a:buNone/>
                      </a:pPr>
                      <a:r>
                        <a:rPr lang="en-IN" sz="2400" b="0" i="0" u="none" strike="noStrike">
                          <a:effectLst/>
                          <a:latin typeface="Arial" panose="020B0604020202020204" pitchFamily="34" charset="0"/>
                        </a:rPr>
                        <a:t>Usually 1–4 weeks</a:t>
                      </a:r>
                    </a:p>
                  </a:txBody>
                  <a:tcPr marL="122323" marR="122323" marT="61162" marB="61162" anchor="ctr">
                    <a:lnL>
                      <a:noFill/>
                    </a:lnL>
                    <a:lnR>
                      <a:noFill/>
                    </a:lnR>
                    <a:lnT>
                      <a:noFill/>
                    </a:lnT>
                    <a:lnB>
                      <a:noFill/>
                    </a:lnB>
                    <a:noFill/>
                  </a:tcPr>
                </a:tc>
                <a:extLst>
                  <a:ext uri="{0D108BD9-81ED-4DB2-BD59-A6C34878D82A}">
                    <a16:rowId xmlns:a16="http://schemas.microsoft.com/office/drawing/2014/main" val="2404379733"/>
                  </a:ext>
                </a:extLst>
              </a:tr>
              <a:tr h="905193">
                <a:tc>
                  <a:txBody>
                    <a:bodyPr/>
                    <a:lstStyle/>
                    <a:p>
                      <a:pPr algn="l" fontAlgn="ctr">
                        <a:buNone/>
                      </a:pPr>
                      <a:r>
                        <a:rPr lang="en-IN" sz="2400" b="0" i="0" u="none" strike="noStrike">
                          <a:effectLst/>
                          <a:latin typeface="Arial" panose="020B0604020202020204" pitchFamily="34" charset="0"/>
                        </a:rPr>
                        <a:t>Focuses on outcomes</a:t>
                      </a:r>
                    </a:p>
                  </a:txBody>
                  <a:tcPr marL="122323" marR="122323" marT="61162" marB="61162" anchor="ctr">
                    <a:lnL>
                      <a:noFill/>
                    </a:lnL>
                    <a:lnR>
                      <a:noFill/>
                    </a:lnR>
                    <a:lnT>
                      <a:noFill/>
                    </a:lnT>
                    <a:lnB>
                      <a:noFill/>
                    </a:lnB>
                    <a:noFill/>
                  </a:tcPr>
                </a:tc>
                <a:tc>
                  <a:txBody>
                    <a:bodyPr/>
                    <a:lstStyle/>
                    <a:p>
                      <a:pPr algn="l" fontAlgn="ctr">
                        <a:buNone/>
                      </a:pPr>
                      <a:r>
                        <a:rPr lang="en-IN" sz="2400" b="0" i="0" u="none" strike="noStrike">
                          <a:effectLst/>
                          <a:latin typeface="Arial" panose="020B0604020202020204" pitchFamily="34" charset="0"/>
                        </a:rPr>
                        <a:t>Focuses on deliverables</a:t>
                      </a:r>
                    </a:p>
                  </a:txBody>
                  <a:tcPr marL="122323" marR="122323" marT="61162" marB="61162" anchor="ctr">
                    <a:lnL>
                      <a:noFill/>
                    </a:lnL>
                    <a:lnR>
                      <a:noFill/>
                    </a:lnR>
                    <a:lnT>
                      <a:noFill/>
                    </a:lnT>
                    <a:lnB>
                      <a:noFill/>
                    </a:lnB>
                    <a:noFill/>
                  </a:tcPr>
                </a:tc>
                <a:tc>
                  <a:txBody>
                    <a:bodyPr/>
                    <a:lstStyle/>
                    <a:p>
                      <a:pPr algn="l" fontAlgn="ctr">
                        <a:buNone/>
                      </a:pPr>
                      <a:r>
                        <a:rPr lang="en-IN" sz="2400" b="0" i="0" u="none" strike="noStrike">
                          <a:effectLst/>
                          <a:latin typeface="Arial" panose="020B0604020202020204" pitchFamily="34" charset="0"/>
                        </a:rPr>
                        <a:t>Focuses on implementation</a:t>
                      </a:r>
                    </a:p>
                  </a:txBody>
                  <a:tcPr marL="122323" marR="122323" marT="61162" marB="61162" anchor="ctr">
                    <a:lnL>
                      <a:noFill/>
                    </a:lnL>
                    <a:lnR>
                      <a:noFill/>
                    </a:lnR>
                    <a:lnT>
                      <a:noFill/>
                    </a:lnT>
                    <a:lnB>
                      <a:noFill/>
                    </a:lnB>
                    <a:noFill/>
                  </a:tcPr>
                </a:tc>
                <a:extLst>
                  <a:ext uri="{0D108BD9-81ED-4DB2-BD59-A6C34878D82A}">
                    <a16:rowId xmlns:a16="http://schemas.microsoft.com/office/drawing/2014/main" val="84338318"/>
                  </a:ext>
                </a:extLst>
              </a:tr>
              <a:tr h="1272163">
                <a:tc>
                  <a:txBody>
                    <a:bodyPr/>
                    <a:lstStyle/>
                    <a:p>
                      <a:pPr algn="l" fontAlgn="ctr">
                        <a:buNone/>
                      </a:pPr>
                      <a:r>
                        <a:rPr lang="en-IN" sz="2400" b="0" i="0" u="none" strike="noStrike">
                          <a:effectLst/>
                          <a:latin typeface="Arial" panose="020B0604020202020204" pitchFamily="34" charset="0"/>
                        </a:rPr>
                        <a:t>Owned by Product Manager</a:t>
                      </a:r>
                    </a:p>
                  </a:txBody>
                  <a:tcPr marL="122323" marR="122323" marT="61162" marB="61162" anchor="ctr">
                    <a:lnL>
                      <a:noFill/>
                    </a:lnL>
                    <a:lnR>
                      <a:noFill/>
                    </a:lnR>
                    <a:lnT>
                      <a:noFill/>
                    </a:lnT>
                    <a:lnB>
                      <a:noFill/>
                    </a:lnB>
                    <a:noFill/>
                  </a:tcPr>
                </a:tc>
                <a:tc>
                  <a:txBody>
                    <a:bodyPr/>
                    <a:lstStyle/>
                    <a:p>
                      <a:pPr algn="l" fontAlgn="ctr">
                        <a:buNone/>
                      </a:pPr>
                      <a:r>
                        <a:rPr lang="en-US" sz="2400" b="0" i="0" u="none" strike="noStrike">
                          <a:effectLst/>
                          <a:latin typeface="Arial" panose="020B0604020202020204" pitchFamily="34" charset="0"/>
                        </a:rPr>
                        <a:t>Shared across Product, Engineering, QA, DevOps</a:t>
                      </a:r>
                      <a:endParaRPr lang="en-IN" sz="2400" b="0" i="0" u="none" strike="noStrike">
                        <a:effectLst/>
                        <a:latin typeface="Arial" panose="020B0604020202020204" pitchFamily="34" charset="0"/>
                      </a:endParaRPr>
                    </a:p>
                  </a:txBody>
                  <a:tcPr marL="122323" marR="122323" marT="61162" marB="61162" anchor="ctr">
                    <a:lnL>
                      <a:noFill/>
                    </a:lnL>
                    <a:lnR>
                      <a:noFill/>
                    </a:lnR>
                    <a:lnT>
                      <a:noFill/>
                    </a:lnT>
                    <a:lnB>
                      <a:noFill/>
                    </a:lnB>
                    <a:noFill/>
                  </a:tcPr>
                </a:tc>
                <a:tc>
                  <a:txBody>
                    <a:bodyPr/>
                    <a:lstStyle/>
                    <a:p>
                      <a:pPr algn="l" fontAlgn="ctr">
                        <a:buNone/>
                      </a:pPr>
                      <a:r>
                        <a:rPr lang="en-IN" sz="2400" b="0" i="0" u="none" strike="noStrike" dirty="0">
                          <a:effectLst/>
                          <a:latin typeface="Arial" panose="020B0604020202020204" pitchFamily="34" charset="0"/>
                        </a:rPr>
                        <a:t>Managed by Scrum Team</a:t>
                      </a:r>
                    </a:p>
                  </a:txBody>
                  <a:tcPr marL="122323" marR="122323" marT="61162" marB="61162" anchor="ctr">
                    <a:lnL>
                      <a:noFill/>
                    </a:lnL>
                    <a:lnR>
                      <a:noFill/>
                    </a:lnR>
                    <a:lnT>
                      <a:noFill/>
                    </a:lnT>
                    <a:lnB>
                      <a:noFill/>
                    </a:lnB>
                    <a:noFill/>
                  </a:tcPr>
                </a:tc>
                <a:extLst>
                  <a:ext uri="{0D108BD9-81ED-4DB2-BD59-A6C34878D82A}">
                    <a16:rowId xmlns:a16="http://schemas.microsoft.com/office/drawing/2014/main" val="3660848068"/>
                  </a:ext>
                </a:extLst>
              </a:tr>
            </a:tbl>
          </a:graphicData>
        </a:graphic>
      </p:graphicFrame>
    </p:spTree>
    <p:extLst>
      <p:ext uri="{BB962C8B-B14F-4D97-AF65-F5344CB8AC3E}">
        <p14:creationId xmlns:p14="http://schemas.microsoft.com/office/powerpoint/2010/main" val="7372248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wrap="square"/>
          <a:lstStyle/>
          <a:p>
            <a:r>
              <a:rPr sz="2600" b="1">
                <a:solidFill>
                  <a:srgbClr val="003352"/>
                </a:solidFill>
                <a:latin typeface="Century Gothic"/>
              </a:rPr>
              <a:t>Release day, from the engineer's seat</a:t>
            </a:r>
          </a:p>
        </p:txBody>
      </p:sp>
      <p:sp>
        <p:nvSpPr>
          <p:cNvPr id="4" name="Rounded Rectangle 3"/>
          <p:cNvSpPr/>
          <p:nvPr/>
        </p:nvSpPr>
        <p:spPr>
          <a:xfrm>
            <a:off x="502920" y="1371600"/>
            <a:ext cx="1444752" cy="292608"/>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ctr"/>
            <a:r>
              <a:rPr sz="1000" b="1" i="0">
                <a:solidFill>
                  <a:srgbClr val="003352"/>
                </a:solidFill>
                <a:latin typeface="Century Gothic"/>
              </a:rPr>
              <a:t>EXAMPLE</a:t>
            </a:r>
          </a:p>
        </p:txBody>
      </p:sp>
      <p:sp>
        <p:nvSpPr>
          <p:cNvPr id="5" name="Rounded Rectangle 4"/>
          <p:cNvSpPr/>
          <p:nvPr/>
        </p:nvSpPr>
        <p:spPr>
          <a:xfrm>
            <a:off x="502920" y="1874519"/>
            <a:ext cx="5394960" cy="2834640"/>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ounded Rectangle 5"/>
          <p:cNvSpPr/>
          <p:nvPr/>
        </p:nvSpPr>
        <p:spPr>
          <a:xfrm>
            <a:off x="502920" y="1874519"/>
            <a:ext cx="5394960" cy="475488"/>
          </a:xfrm>
          <a:prstGeom prst="roundRect">
            <a:avLst>
              <a:gd name="adj" fmla="val 14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0" rIns="128016" bIns="0" rtlCol="0" anchor="ctr"/>
          <a:lstStyle/>
          <a:p>
            <a:r>
              <a:rPr sz="1400" b="1" i="0">
                <a:solidFill>
                  <a:srgbClr val="FFFFFF"/>
                </a:solidFill>
                <a:latin typeface="Century Gothic"/>
              </a:rPr>
              <a:t>The mechanics that make a release survivable</a:t>
            </a:r>
          </a:p>
        </p:txBody>
      </p:sp>
      <p:sp>
        <p:nvSpPr>
          <p:cNvPr id="7" name="TextBox 6"/>
          <p:cNvSpPr txBox="1"/>
          <p:nvPr/>
        </p:nvSpPr>
        <p:spPr>
          <a:xfrm>
            <a:off x="685800" y="2496312"/>
            <a:ext cx="5029200" cy="2084832"/>
          </a:xfrm>
          <a:prstGeom prst="rect">
            <a:avLst/>
          </a:prstGeom>
          <a:noFill/>
        </p:spPr>
        <p:txBody>
          <a:bodyPr wrap="square" lIns="0" tIns="0" rIns="0" bIns="0" anchor="t">
            <a:spAutoFit/>
          </a:bodyPr>
          <a:lstStyle/>
          <a:p>
            <a:pPr algn="l">
              <a:spcBef>
                <a:spcPts val="0"/>
              </a:spcBef>
              <a:spcAft>
                <a:spcPts val="800"/>
              </a:spcAft>
            </a:pPr>
            <a:r>
              <a:rPr sz="1200" b="0" i="0">
                <a:solidFill>
                  <a:srgbClr val="003352"/>
                </a:solidFill>
                <a:latin typeface="Century Gothic"/>
              </a:rPr>
              <a:t>Feature flag — ship the code dark, switch it on separately</a:t>
            </a:r>
          </a:p>
          <a:p>
            <a:pPr algn="l">
              <a:spcBef>
                <a:spcPts val="0"/>
              </a:spcBef>
              <a:spcAft>
                <a:spcPts val="800"/>
              </a:spcAft>
            </a:pPr>
            <a:r>
              <a:rPr sz="1200" b="0" i="0">
                <a:solidFill>
                  <a:srgbClr val="003352"/>
                </a:solidFill>
                <a:latin typeface="Century Gothic"/>
              </a:rPr>
              <a:t>Canary or 1% rollout before everyone gets it</a:t>
            </a:r>
          </a:p>
          <a:p>
            <a:pPr algn="l">
              <a:spcBef>
                <a:spcPts val="0"/>
              </a:spcBef>
              <a:spcAft>
                <a:spcPts val="800"/>
              </a:spcAft>
            </a:pPr>
            <a:r>
              <a:rPr sz="1200" b="0" i="0">
                <a:solidFill>
                  <a:srgbClr val="003352"/>
                </a:solidFill>
                <a:latin typeface="Century Gothic"/>
              </a:rPr>
              <a:t>Backwards-compatible migration first, backfill second</a:t>
            </a:r>
          </a:p>
          <a:p>
            <a:pPr algn="l">
              <a:spcBef>
                <a:spcPts val="0"/>
              </a:spcBef>
              <a:spcAft>
                <a:spcPts val="800"/>
              </a:spcAft>
            </a:pPr>
            <a:r>
              <a:rPr sz="1200" b="0" i="0">
                <a:solidFill>
                  <a:srgbClr val="003352"/>
                </a:solidFill>
                <a:latin typeface="Century Gothic"/>
              </a:rPr>
              <a:t>Dashboards and alerts in place before the flag flips</a:t>
            </a:r>
          </a:p>
          <a:p>
            <a:pPr algn="l">
              <a:spcBef>
                <a:spcPts val="0"/>
              </a:spcBef>
              <a:spcAft>
                <a:spcPts val="800"/>
              </a:spcAft>
            </a:pPr>
            <a:r>
              <a:rPr sz="1200" b="0" i="0">
                <a:solidFill>
                  <a:srgbClr val="003352"/>
                </a:solidFill>
                <a:latin typeface="Century Gothic"/>
              </a:rPr>
              <a:t>A written rollback step that somebody has actually run</a:t>
            </a:r>
          </a:p>
          <a:p>
            <a:pPr algn="l">
              <a:spcBef>
                <a:spcPts val="0"/>
              </a:spcBef>
              <a:spcAft>
                <a:spcPts val="400"/>
              </a:spcAft>
            </a:pPr>
            <a:r>
              <a:rPr sz="1200" b="0" i="0">
                <a:solidFill>
                  <a:srgbClr val="003352"/>
                </a:solidFill>
                <a:latin typeface="Century Gothic"/>
              </a:rPr>
              <a:t>Support and sales told what changed, before the customer asks them</a:t>
            </a:r>
          </a:p>
        </p:txBody>
      </p:sp>
      <p:sp>
        <p:nvSpPr>
          <p:cNvPr id="8" name="Rounded Rectangle 7"/>
          <p:cNvSpPr/>
          <p:nvPr/>
        </p:nvSpPr>
        <p:spPr>
          <a:xfrm>
            <a:off x="6126480" y="1874519"/>
            <a:ext cx="5577840" cy="2834640"/>
          </a:xfrm>
          <a:prstGeom prst="roundRect">
            <a:avLst>
              <a:gd name="adj" fmla="val 6000"/>
            </a:avLst>
          </a:prstGeom>
          <a:solidFill>
            <a:srgbClr val="E4FA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ounded Rectangle 8"/>
          <p:cNvSpPr/>
          <p:nvPr/>
        </p:nvSpPr>
        <p:spPr>
          <a:xfrm>
            <a:off x="6126480" y="1874519"/>
            <a:ext cx="5577840" cy="475488"/>
          </a:xfrm>
          <a:prstGeom prst="roundRect">
            <a:avLst>
              <a:gd name="adj" fmla="val 14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0" rIns="128016" bIns="0" rtlCol="0" anchor="ctr"/>
          <a:lstStyle/>
          <a:p>
            <a:r>
              <a:rPr sz="1400" b="1" i="0">
                <a:solidFill>
                  <a:srgbClr val="003352"/>
                </a:solidFill>
                <a:latin typeface="Century Gothic"/>
              </a:rPr>
              <a:t>Two launch days that went wrong in public</a:t>
            </a:r>
          </a:p>
        </p:txBody>
      </p:sp>
      <p:sp>
        <p:nvSpPr>
          <p:cNvPr id="10" name="TextBox 9"/>
          <p:cNvSpPr txBox="1"/>
          <p:nvPr/>
        </p:nvSpPr>
        <p:spPr>
          <a:xfrm>
            <a:off x="6309360" y="2496312"/>
            <a:ext cx="5212079" cy="2084832"/>
          </a:xfrm>
          <a:prstGeom prst="rect">
            <a:avLst/>
          </a:prstGeom>
          <a:noFill/>
        </p:spPr>
        <p:txBody>
          <a:bodyPr wrap="square" lIns="0" tIns="0" rIns="0" bIns="0" anchor="t">
            <a:spAutoFit/>
          </a:bodyPr>
          <a:lstStyle/>
          <a:p>
            <a:pPr algn="l">
              <a:spcBef>
                <a:spcPts val="0"/>
              </a:spcBef>
              <a:spcAft>
                <a:spcPts val="200"/>
              </a:spcAft>
            </a:pPr>
            <a:r>
              <a:rPr sz="1250" b="1" i="0">
                <a:solidFill>
                  <a:srgbClr val="003352"/>
                </a:solidFill>
                <a:latin typeface="Century Gothic"/>
              </a:rPr>
              <a:t>Flipkart, Big Billion Day 2014</a:t>
            </a:r>
          </a:p>
          <a:p>
            <a:pPr algn="l">
              <a:spcBef>
                <a:spcPts val="0"/>
              </a:spcBef>
              <a:spcAft>
                <a:spcPts val="1200"/>
              </a:spcAft>
            </a:pPr>
            <a:r>
              <a:rPr sz="1150" b="0" i="0">
                <a:solidFill>
                  <a:srgbClr val="003352"/>
                </a:solidFill>
                <a:latin typeface="Century Gothic"/>
              </a:rPr>
              <a:t>Traffic took the site down within hours; pricing and stock went wrong. The founders published an apology the next day. The following year's event was rebuilt around load testing and an app-first plan.</a:t>
            </a:r>
          </a:p>
          <a:p>
            <a:pPr algn="l">
              <a:spcBef>
                <a:spcPts val="0"/>
              </a:spcBef>
              <a:spcAft>
                <a:spcPts val="200"/>
              </a:spcAft>
            </a:pPr>
            <a:r>
              <a:rPr sz="1250" b="1" i="0">
                <a:solidFill>
                  <a:srgbClr val="003352"/>
                </a:solidFill>
                <a:latin typeface="Century Gothic"/>
              </a:rPr>
              <a:t>Apple Maps, 2012</a:t>
            </a:r>
          </a:p>
          <a:p>
            <a:pPr algn="l">
              <a:spcBef>
                <a:spcPts val="0"/>
              </a:spcBef>
              <a:spcAft>
                <a:spcPts val="400"/>
              </a:spcAft>
            </a:pPr>
            <a:r>
              <a:rPr sz="1150" b="0" i="0">
                <a:solidFill>
                  <a:srgbClr val="003352"/>
                </a:solidFill>
                <a:latin typeface="Century Gothic"/>
              </a:rPr>
              <a:t>Shipped as the iOS 6 default, replacing a product that worked. Data quality failures were immediate and very public; Tim Cook issued a written apology and pointed users at competitors while it was fixed.</a:t>
            </a:r>
          </a:p>
        </p:txBody>
      </p:sp>
      <p:sp>
        <p:nvSpPr>
          <p:cNvPr id="11" name="Rounded Rectangle 10"/>
          <p:cNvSpPr/>
          <p:nvPr/>
        </p:nvSpPr>
        <p:spPr>
          <a:xfrm>
            <a:off x="502920" y="5486400"/>
            <a:ext cx="11201400" cy="658368"/>
          </a:xfrm>
          <a:prstGeom prst="roundRect">
            <a:avLst>
              <a:gd name="adj" fmla="val 10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54864" rIns="201168" bIns="54864" rtlCol="0" anchor="ctr"/>
          <a:lstStyle/>
          <a:p>
            <a:r>
              <a:rPr sz="1300" b="1" i="0">
                <a:solidFill>
                  <a:srgbClr val="FFFFFF"/>
                </a:solidFill>
                <a:latin typeface="Century Gothic"/>
              </a:rPr>
              <a:t>Both shipped on schedule and both were engineering-led failures of release planning. For each: which flag, which canary, which rollback step would have changed the day?</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wrap="square"/>
          <a:lstStyle/>
          <a:p>
            <a:r>
              <a:rPr sz="2600" b="1">
                <a:solidFill>
                  <a:srgbClr val="003352"/>
                </a:solidFill>
                <a:latin typeface="Century Gothic"/>
              </a:rPr>
              <a:t>Quiz: what kind of release is this?</a:t>
            </a:r>
          </a:p>
        </p:txBody>
      </p:sp>
      <p:sp>
        <p:nvSpPr>
          <p:cNvPr id="4" name="Rounded Rectangle 3"/>
          <p:cNvSpPr/>
          <p:nvPr/>
        </p:nvSpPr>
        <p:spPr>
          <a:xfrm>
            <a:off x="502920" y="1371600"/>
            <a:ext cx="2468880" cy="292608"/>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ctr"/>
            <a:r>
              <a:rPr sz="1000" b="1" i="0">
                <a:solidFill>
                  <a:srgbClr val="003352"/>
                </a:solidFill>
                <a:latin typeface="Century Gothic"/>
              </a:rPr>
              <a:t>QUIZ  ·  3 MIN</a:t>
            </a:r>
          </a:p>
        </p:txBody>
      </p:sp>
      <p:sp>
        <p:nvSpPr>
          <p:cNvPr id="5" name="TextBox 4"/>
          <p:cNvSpPr txBox="1"/>
          <p:nvPr/>
        </p:nvSpPr>
        <p:spPr>
          <a:xfrm>
            <a:off x="502920" y="1874519"/>
            <a:ext cx="11201400" cy="310896"/>
          </a:xfrm>
          <a:prstGeom prst="rect">
            <a:avLst/>
          </a:prstGeom>
          <a:noFill/>
        </p:spPr>
        <p:txBody>
          <a:bodyPr wrap="square" lIns="0" tIns="0" rIns="0" bIns="0" anchor="t">
            <a:spAutoFit/>
          </a:bodyPr>
          <a:lstStyle/>
          <a:p>
            <a:pPr algn="l">
              <a:spcBef>
                <a:spcPts val="0"/>
              </a:spcBef>
              <a:spcAft>
                <a:spcPts val="400"/>
              </a:spcAft>
            </a:pPr>
            <a:r>
              <a:rPr sz="1250" b="0" i="0">
                <a:solidFill>
                  <a:srgbClr val="003352"/>
                </a:solidFill>
                <a:latin typeface="Century Gothic"/>
              </a:rPr>
              <a:t>Major, minor, patch or hotfix? Call each one, then say who has to be told before it ships.</a:t>
            </a:r>
          </a:p>
        </p:txBody>
      </p:sp>
      <p:sp>
        <p:nvSpPr>
          <p:cNvPr id="6" name="Rounded Rectangle 5"/>
          <p:cNvSpPr/>
          <p:nvPr/>
        </p:nvSpPr>
        <p:spPr>
          <a:xfrm>
            <a:off x="502920" y="2331720"/>
            <a:ext cx="2697480" cy="2514600"/>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685800" y="2496312"/>
            <a:ext cx="329184" cy="329184"/>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i="0">
                <a:solidFill>
                  <a:srgbClr val="63E7A4"/>
                </a:solidFill>
                <a:latin typeface="Century Gothic"/>
              </a:rPr>
              <a:t>1</a:t>
            </a:r>
          </a:p>
        </p:txBody>
      </p:sp>
      <p:sp>
        <p:nvSpPr>
          <p:cNvPr id="8" name="TextBox 7"/>
          <p:cNvSpPr txBox="1"/>
          <p:nvPr/>
        </p:nvSpPr>
        <p:spPr>
          <a:xfrm>
            <a:off x="685800" y="2935224"/>
            <a:ext cx="2331720" cy="1234440"/>
          </a:xfrm>
          <a:prstGeom prst="rect">
            <a:avLst/>
          </a:prstGeom>
          <a:noFill/>
        </p:spPr>
        <p:txBody>
          <a:bodyPr wrap="square" lIns="0" tIns="0" rIns="0" bIns="0" anchor="t">
            <a:spAutoFit/>
          </a:bodyPr>
          <a:lstStyle/>
          <a:p>
            <a:pPr algn="l">
              <a:spcBef>
                <a:spcPts val="0"/>
              </a:spcBef>
              <a:spcAft>
                <a:spcPts val="400"/>
              </a:spcAft>
            </a:pPr>
            <a:r>
              <a:rPr sz="1150" b="0" i="0">
                <a:solidFill>
                  <a:srgbClr val="003352"/>
                </a:solidFill>
                <a:latin typeface="Century Gothic"/>
              </a:rPr>
              <a:t>Payments are failing in production right now for 8% of customers. A one-line fix is written and reviewed.</a:t>
            </a:r>
          </a:p>
        </p:txBody>
      </p:sp>
      <p:sp>
        <p:nvSpPr>
          <p:cNvPr id="9" name="Rounded Rectangle 8"/>
          <p:cNvSpPr/>
          <p:nvPr/>
        </p:nvSpPr>
        <p:spPr>
          <a:xfrm>
            <a:off x="685800" y="4270248"/>
            <a:ext cx="2331720" cy="384048"/>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536B7A"/>
                </a:solidFill>
                <a:latin typeface="Century Gothic"/>
              </a:rPr>
              <a:t>?</a:t>
            </a:r>
          </a:p>
        </p:txBody>
      </p:sp>
      <p:sp>
        <p:nvSpPr>
          <p:cNvPr id="10" name="Rounded Rectangle 9"/>
          <p:cNvSpPr/>
          <p:nvPr/>
        </p:nvSpPr>
        <p:spPr>
          <a:xfrm>
            <a:off x="3364992" y="2331720"/>
            <a:ext cx="2697480" cy="2514600"/>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3547872" y="2496312"/>
            <a:ext cx="329184" cy="329184"/>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i="0">
                <a:solidFill>
                  <a:srgbClr val="63E7A4"/>
                </a:solidFill>
                <a:latin typeface="Century Gothic"/>
              </a:rPr>
              <a:t>2</a:t>
            </a:r>
          </a:p>
        </p:txBody>
      </p:sp>
      <p:sp>
        <p:nvSpPr>
          <p:cNvPr id="12" name="TextBox 11"/>
          <p:cNvSpPr txBox="1"/>
          <p:nvPr/>
        </p:nvSpPr>
        <p:spPr>
          <a:xfrm>
            <a:off x="3547872" y="2935224"/>
            <a:ext cx="2331720" cy="1234440"/>
          </a:xfrm>
          <a:prstGeom prst="rect">
            <a:avLst/>
          </a:prstGeom>
          <a:noFill/>
        </p:spPr>
        <p:txBody>
          <a:bodyPr wrap="square" lIns="0" tIns="0" rIns="0" bIns="0" anchor="t">
            <a:spAutoFit/>
          </a:bodyPr>
          <a:lstStyle/>
          <a:p>
            <a:pPr algn="l">
              <a:spcBef>
                <a:spcPts val="0"/>
              </a:spcBef>
              <a:spcAft>
                <a:spcPts val="400"/>
              </a:spcAft>
            </a:pPr>
            <a:r>
              <a:rPr sz="1150" b="0" i="0">
                <a:solidFill>
                  <a:srgbClr val="003352"/>
                </a:solidFill>
                <a:latin typeface="Century Gothic"/>
              </a:rPr>
              <a:t>A complete merchant dashboard: new navigation, new permissions model, and a new pricing tier alongside it.</a:t>
            </a:r>
          </a:p>
        </p:txBody>
      </p:sp>
      <p:sp>
        <p:nvSpPr>
          <p:cNvPr id="13" name="Rounded Rectangle 12"/>
          <p:cNvSpPr/>
          <p:nvPr/>
        </p:nvSpPr>
        <p:spPr>
          <a:xfrm>
            <a:off x="3547872" y="4270248"/>
            <a:ext cx="2331720" cy="384048"/>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536B7A"/>
                </a:solidFill>
                <a:latin typeface="Century Gothic"/>
              </a:rPr>
              <a:t>?</a:t>
            </a:r>
          </a:p>
        </p:txBody>
      </p:sp>
      <p:sp>
        <p:nvSpPr>
          <p:cNvPr id="14" name="Rounded Rectangle 13"/>
          <p:cNvSpPr/>
          <p:nvPr/>
        </p:nvSpPr>
        <p:spPr>
          <a:xfrm>
            <a:off x="6227064" y="2331720"/>
            <a:ext cx="2697480" cy="2514600"/>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6409944" y="2496312"/>
            <a:ext cx="329184" cy="329184"/>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i="0">
                <a:solidFill>
                  <a:srgbClr val="63E7A4"/>
                </a:solidFill>
                <a:latin typeface="Century Gothic"/>
              </a:rPr>
              <a:t>3</a:t>
            </a:r>
          </a:p>
        </p:txBody>
      </p:sp>
      <p:sp>
        <p:nvSpPr>
          <p:cNvPr id="16" name="TextBox 15"/>
          <p:cNvSpPr txBox="1"/>
          <p:nvPr/>
        </p:nvSpPr>
        <p:spPr>
          <a:xfrm>
            <a:off x="6409944" y="2935224"/>
            <a:ext cx="2331720" cy="1234440"/>
          </a:xfrm>
          <a:prstGeom prst="rect">
            <a:avLst/>
          </a:prstGeom>
          <a:noFill/>
        </p:spPr>
        <p:txBody>
          <a:bodyPr wrap="square" lIns="0" tIns="0" rIns="0" bIns="0" anchor="t">
            <a:spAutoFit/>
          </a:bodyPr>
          <a:lstStyle/>
          <a:p>
            <a:pPr algn="l">
              <a:spcBef>
                <a:spcPts val="0"/>
              </a:spcBef>
              <a:spcAft>
                <a:spcPts val="400"/>
              </a:spcAft>
            </a:pPr>
            <a:r>
              <a:rPr sz="1150" b="0" i="0">
                <a:solidFill>
                  <a:srgbClr val="003352"/>
                </a:solidFill>
                <a:latin typeface="Century Gothic"/>
              </a:rPr>
              <a:t>Search gains three new filters and the empty-results message is reworded.</a:t>
            </a:r>
          </a:p>
        </p:txBody>
      </p:sp>
      <p:sp>
        <p:nvSpPr>
          <p:cNvPr id="17" name="Rounded Rectangle 16"/>
          <p:cNvSpPr/>
          <p:nvPr/>
        </p:nvSpPr>
        <p:spPr>
          <a:xfrm>
            <a:off x="6409944" y="4270248"/>
            <a:ext cx="2331720" cy="384048"/>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536B7A"/>
                </a:solidFill>
                <a:latin typeface="Century Gothic"/>
              </a:rPr>
              <a:t>?</a:t>
            </a:r>
          </a:p>
        </p:txBody>
      </p:sp>
      <p:sp>
        <p:nvSpPr>
          <p:cNvPr id="18" name="Rounded Rectangle 17"/>
          <p:cNvSpPr/>
          <p:nvPr/>
        </p:nvSpPr>
        <p:spPr>
          <a:xfrm>
            <a:off x="9089136" y="2331720"/>
            <a:ext cx="2697480" cy="2514600"/>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9272016" y="2496312"/>
            <a:ext cx="329184" cy="329184"/>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i="0">
                <a:solidFill>
                  <a:srgbClr val="63E7A4"/>
                </a:solidFill>
                <a:latin typeface="Century Gothic"/>
              </a:rPr>
              <a:t>4</a:t>
            </a:r>
          </a:p>
        </p:txBody>
      </p:sp>
      <p:sp>
        <p:nvSpPr>
          <p:cNvPr id="20" name="TextBox 19"/>
          <p:cNvSpPr txBox="1"/>
          <p:nvPr/>
        </p:nvSpPr>
        <p:spPr>
          <a:xfrm>
            <a:off x="9272016" y="2935224"/>
            <a:ext cx="2331720" cy="1234440"/>
          </a:xfrm>
          <a:prstGeom prst="rect">
            <a:avLst/>
          </a:prstGeom>
          <a:noFill/>
        </p:spPr>
        <p:txBody>
          <a:bodyPr wrap="square" lIns="0" tIns="0" rIns="0" bIns="0" anchor="t">
            <a:spAutoFit/>
          </a:bodyPr>
          <a:lstStyle/>
          <a:p>
            <a:pPr algn="l">
              <a:spcBef>
                <a:spcPts val="0"/>
              </a:spcBef>
              <a:spcAft>
                <a:spcPts val="400"/>
              </a:spcAft>
            </a:pPr>
            <a:r>
              <a:rPr sz="1150" b="0" i="0">
                <a:solidFill>
                  <a:srgbClr val="003352"/>
                </a:solidFill>
                <a:latin typeface="Century Gothic"/>
              </a:rPr>
              <a:t>A library you depend on has a published CVE. Nothing user-visible changes.</a:t>
            </a:r>
          </a:p>
        </p:txBody>
      </p:sp>
      <p:sp>
        <p:nvSpPr>
          <p:cNvPr id="21" name="Rounded Rectangle 20"/>
          <p:cNvSpPr/>
          <p:nvPr/>
        </p:nvSpPr>
        <p:spPr>
          <a:xfrm>
            <a:off x="9272016" y="4270248"/>
            <a:ext cx="2331720" cy="384048"/>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536B7A"/>
                </a:solidFill>
                <a:latin typeface="Century Gothic"/>
              </a:rPr>
              <a:t>?</a:t>
            </a:r>
          </a:p>
        </p:txBody>
      </p:sp>
      <p:sp>
        <p:nvSpPr>
          <p:cNvPr id="22" name="Rounded Rectangle 21"/>
          <p:cNvSpPr/>
          <p:nvPr/>
        </p:nvSpPr>
        <p:spPr>
          <a:xfrm>
            <a:off x="502920" y="5486400"/>
            <a:ext cx="11201400" cy="658368"/>
          </a:xfrm>
          <a:prstGeom prst="roundRect">
            <a:avLst>
              <a:gd name="adj" fmla="val 10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54864" rIns="201168" bIns="54864" rtlCol="0" anchor="ctr"/>
          <a:lstStyle/>
          <a:p>
            <a:r>
              <a:rPr sz="1300" b="1" i="0">
                <a:solidFill>
                  <a:srgbClr val="FFFFFF"/>
                </a:solidFill>
                <a:latin typeface="Century Gothic"/>
              </a:rPr>
              <a:t>Then the follow-up: which of these four would you ship behind a feature flag, and which one cannot afford to wait for one?</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BDB077-2914-C8F8-9076-CCF7256BFA35}"/>
              </a:ext>
            </a:extLst>
          </p:cNvPr>
          <p:cNvSpPr>
            <a:spLocks noGrp="1"/>
          </p:cNvSpPr>
          <p:nvPr>
            <p:ph sz="quarter" idx="10"/>
          </p:nvPr>
        </p:nvSpPr>
        <p:spPr/>
        <p:txBody>
          <a:bodyPr/>
          <a:lstStyle/>
          <a:p>
            <a:r>
              <a:rPr lang="en-IN" b="1" dirty="0"/>
              <a:t>Key Takeaways</a:t>
            </a:r>
          </a:p>
          <a:p>
            <a:endParaRPr lang="en-IN" dirty="0"/>
          </a:p>
        </p:txBody>
      </p:sp>
      <p:sp>
        <p:nvSpPr>
          <p:cNvPr id="4" name="Rectangle 1">
            <a:extLst>
              <a:ext uri="{FF2B5EF4-FFF2-40B4-BE49-F238E27FC236}">
                <a16:creationId xmlns:a16="http://schemas.microsoft.com/office/drawing/2014/main" id="{3764047A-5AF1-2702-F3B0-665D1AD56D3D}"/>
              </a:ext>
            </a:extLst>
          </p:cNvPr>
          <p:cNvSpPr>
            <a:spLocks noGrp="1" noChangeArrowheads="1"/>
          </p:cNvSpPr>
          <p:nvPr>
            <p:ph idx="1"/>
          </p:nvPr>
        </p:nvSpPr>
        <p:spPr bwMode="auto">
          <a:xfrm>
            <a:off x="406400" y="1674674"/>
            <a:ext cx="1222963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 </a:t>
            </a:r>
            <a:r>
              <a:rPr kumimoji="0" lang="en-US" altLang="en-US" sz="1800" b="1" i="0" u="none" strike="noStrike" cap="none" normalizeH="0" baseline="0" dirty="0">
                <a:ln>
                  <a:noFill/>
                </a:ln>
                <a:solidFill>
                  <a:schemeClr val="tx1"/>
                </a:solidFill>
                <a:effectLst/>
                <a:latin typeface="Arial" panose="020B0604020202020204" pitchFamily="34" charset="0"/>
              </a:rPr>
              <a:t>Product Roadmap</a:t>
            </a:r>
            <a:r>
              <a:rPr kumimoji="0" lang="en-US" altLang="en-US" sz="1800" b="0" i="0" u="none" strike="noStrike" cap="none" normalizeH="0" baseline="0" dirty="0">
                <a:ln>
                  <a:noFill/>
                </a:ln>
                <a:solidFill>
                  <a:schemeClr val="tx1"/>
                </a:solidFill>
                <a:effectLst/>
                <a:latin typeface="Arial" panose="020B0604020202020204" pitchFamily="34" charset="0"/>
              </a:rPr>
              <a:t> communicates </a:t>
            </a:r>
            <a:r>
              <a:rPr kumimoji="0" lang="en-US" altLang="en-US" sz="1800" b="1" i="0" u="none" strike="noStrike" cap="none" normalizeH="0" baseline="0" dirty="0">
                <a:ln>
                  <a:noFill/>
                </a:ln>
                <a:solidFill>
                  <a:schemeClr val="tx1"/>
                </a:solidFill>
                <a:effectLst/>
                <a:latin typeface="Arial" panose="020B0604020202020204" pitchFamily="34" charset="0"/>
              </a:rPr>
              <a:t>where the product is going and why</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 </a:t>
            </a:r>
            <a:r>
              <a:rPr kumimoji="0" lang="en-US" altLang="en-US" sz="1800" b="1" i="0" u="none" strike="noStrike" cap="none" normalizeH="0" baseline="0" dirty="0">
                <a:ln>
                  <a:noFill/>
                </a:ln>
                <a:solidFill>
                  <a:schemeClr val="tx1"/>
                </a:solidFill>
                <a:effectLst/>
                <a:latin typeface="Arial" panose="020B0604020202020204" pitchFamily="34" charset="0"/>
              </a:rPr>
              <a:t>Release</a:t>
            </a:r>
            <a:r>
              <a:rPr kumimoji="0" lang="en-US" altLang="en-US" sz="1800" b="0" i="0" u="none" strike="noStrike" cap="none" normalizeH="0" baseline="0" dirty="0">
                <a:ln>
                  <a:noFill/>
                </a:ln>
                <a:solidFill>
                  <a:schemeClr val="tx1"/>
                </a:solidFill>
                <a:effectLst/>
                <a:latin typeface="Arial" panose="020B0604020202020204" pitchFamily="34" charset="0"/>
              </a:rPr>
              <a:t> delivers completed features to customers.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 </a:t>
            </a:r>
            <a:r>
              <a:rPr kumimoji="0" lang="en-US" altLang="en-US" sz="1800" b="1" i="0" u="none" strike="noStrike" cap="none" normalizeH="0" baseline="0" dirty="0">
                <a:ln>
                  <a:noFill/>
                </a:ln>
                <a:solidFill>
                  <a:schemeClr val="tx1"/>
                </a:solidFill>
                <a:effectLst/>
                <a:latin typeface="Arial" panose="020B0604020202020204" pitchFamily="34" charset="0"/>
              </a:rPr>
              <a:t>Sprint</a:t>
            </a:r>
            <a:r>
              <a:rPr kumimoji="0" lang="en-US" altLang="en-US" sz="1800" b="0" i="0" u="none" strike="noStrike" cap="none" normalizeH="0" baseline="0" dirty="0">
                <a:ln>
                  <a:noFill/>
                </a:ln>
                <a:solidFill>
                  <a:schemeClr val="tx1"/>
                </a:solidFill>
                <a:effectLst/>
                <a:latin typeface="Arial" panose="020B0604020202020204" pitchFamily="34" charset="0"/>
              </a:rPr>
              <a:t> is a short development cycle used to build those features.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Roadmaps should focus on </a:t>
            </a:r>
            <a:r>
              <a:rPr kumimoji="0" lang="en-US" altLang="en-US" sz="1800" b="1" i="0" u="none" strike="noStrike" cap="none" normalizeH="0" baseline="0" dirty="0">
                <a:ln>
                  <a:noFill/>
                </a:ln>
                <a:solidFill>
                  <a:schemeClr val="tx1"/>
                </a:solidFill>
                <a:effectLst/>
                <a:latin typeface="Arial" panose="020B0604020202020204" pitchFamily="34" charset="0"/>
              </a:rPr>
              <a:t>customer outcomes and business goals</a:t>
            </a:r>
            <a:r>
              <a:rPr kumimoji="0" lang="en-US" altLang="en-US" sz="1800" b="0" i="0" u="none" strike="noStrike" cap="none" normalizeH="0" baseline="0" dirty="0">
                <a:ln>
                  <a:noFill/>
                </a:ln>
                <a:solidFill>
                  <a:schemeClr val="tx1"/>
                </a:solidFill>
                <a:effectLst/>
                <a:latin typeface="Arial" panose="020B0604020202020204" pitchFamily="34" charset="0"/>
              </a:rPr>
              <a:t>, not just feature lists.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Successful releases require coordination across Product, Engineering, QA, DevOps, Sales, and Customer Success. `</a:t>
            </a:r>
          </a:p>
        </p:txBody>
      </p:sp>
    </p:spTree>
    <p:extLst>
      <p:ext uri="{BB962C8B-B14F-4D97-AF65-F5344CB8AC3E}">
        <p14:creationId xmlns:p14="http://schemas.microsoft.com/office/powerpoint/2010/main" val="379589305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5647FF-04B2-18D0-4BD4-54F58574C6E1}"/>
              </a:ext>
            </a:extLst>
          </p:cNvPr>
          <p:cNvSpPr>
            <a:spLocks noGrp="1"/>
          </p:cNvSpPr>
          <p:nvPr>
            <p:ph idx="1"/>
          </p:nvPr>
        </p:nvSpPr>
        <p:spPr/>
        <p:txBody>
          <a:bodyPr/>
          <a:lstStyle/>
          <a:p>
            <a:r>
              <a:rPr lang="en-US" dirty="0"/>
              <a:t>By the end of this topic, you will understand:</a:t>
            </a:r>
          </a:p>
          <a:p>
            <a:pPr>
              <a:buFont typeface="Arial" panose="020B0604020202020204" pitchFamily="34" charset="0"/>
              <a:buChar char="•"/>
            </a:pPr>
            <a:r>
              <a:rPr lang="en-US" dirty="0"/>
              <a:t>Why measuring product success is important. </a:t>
            </a:r>
          </a:p>
          <a:p>
            <a:pPr>
              <a:buFont typeface="Arial" panose="020B0604020202020204" pitchFamily="34" charset="0"/>
              <a:buChar char="•"/>
            </a:pPr>
            <a:r>
              <a:rPr lang="en-US" dirty="0"/>
              <a:t>The difference between </a:t>
            </a:r>
            <a:r>
              <a:rPr lang="en-US" b="1" dirty="0"/>
              <a:t>outputs</a:t>
            </a:r>
            <a:r>
              <a:rPr lang="en-US" dirty="0"/>
              <a:t> and </a:t>
            </a:r>
            <a:r>
              <a:rPr lang="en-US" b="1" dirty="0"/>
              <a:t>outcomes</a:t>
            </a:r>
            <a:r>
              <a:rPr lang="en-US" dirty="0"/>
              <a:t>. </a:t>
            </a:r>
          </a:p>
          <a:p>
            <a:pPr>
              <a:buFont typeface="Arial" panose="020B0604020202020204" pitchFamily="34" charset="0"/>
              <a:buChar char="•"/>
            </a:pPr>
            <a:r>
              <a:rPr lang="en-US" dirty="0"/>
              <a:t>The key metrics every Product Manager should track. </a:t>
            </a:r>
          </a:p>
          <a:p>
            <a:pPr>
              <a:buFont typeface="Arial" panose="020B0604020202020204" pitchFamily="34" charset="0"/>
              <a:buChar char="•"/>
            </a:pPr>
            <a:r>
              <a:rPr lang="en-US" dirty="0"/>
              <a:t>How to use data to improve products. </a:t>
            </a:r>
          </a:p>
          <a:p>
            <a:pPr>
              <a:buFont typeface="Arial" panose="020B0604020202020204" pitchFamily="34" charset="0"/>
              <a:buChar char="•"/>
            </a:pPr>
            <a:r>
              <a:rPr lang="en-US" dirty="0"/>
              <a:t>How to determine whether a feature is successful.</a:t>
            </a:r>
          </a:p>
          <a:p>
            <a:endParaRPr lang="en-IN" dirty="0"/>
          </a:p>
        </p:txBody>
      </p:sp>
      <p:sp>
        <p:nvSpPr>
          <p:cNvPr id="3" name="Content Placeholder 2">
            <a:extLst>
              <a:ext uri="{FF2B5EF4-FFF2-40B4-BE49-F238E27FC236}">
                <a16:creationId xmlns:a16="http://schemas.microsoft.com/office/drawing/2014/main" id="{E365BC7C-3280-8EB3-0B81-7EDAE8A4256E}"/>
              </a:ext>
            </a:extLst>
          </p:cNvPr>
          <p:cNvSpPr>
            <a:spLocks noGrp="1"/>
          </p:cNvSpPr>
          <p:nvPr>
            <p:ph sz="quarter" idx="10"/>
          </p:nvPr>
        </p:nvSpPr>
        <p:spPr/>
        <p:txBody>
          <a:bodyPr/>
          <a:lstStyle/>
          <a:p>
            <a:r>
              <a:rPr lang="en-IN" b="1" dirty="0"/>
              <a:t>Measuring Product Success</a:t>
            </a:r>
          </a:p>
          <a:p>
            <a:endParaRPr lang="en-IN" dirty="0"/>
          </a:p>
        </p:txBody>
      </p:sp>
    </p:spTree>
    <p:extLst>
      <p:ext uri="{BB962C8B-B14F-4D97-AF65-F5344CB8AC3E}">
        <p14:creationId xmlns:p14="http://schemas.microsoft.com/office/powerpoint/2010/main" val="113180534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0CDD118-2070-5A18-76C4-C69BEB179354}"/>
              </a:ext>
            </a:extLst>
          </p:cNvPr>
          <p:cNvSpPr>
            <a:spLocks noGrp="1"/>
          </p:cNvSpPr>
          <p:nvPr>
            <p:ph idx="1"/>
          </p:nvPr>
        </p:nvSpPr>
        <p:spPr/>
        <p:txBody>
          <a:bodyPr/>
          <a:lstStyle/>
          <a:p>
            <a:r>
              <a:rPr lang="en-US" b="1" dirty="0"/>
              <a:t>Definition</a:t>
            </a:r>
          </a:p>
          <a:p>
            <a:r>
              <a:rPr lang="en-US" b="1" dirty="0"/>
              <a:t>Product Success</a:t>
            </a:r>
            <a:r>
              <a:rPr lang="en-US" dirty="0"/>
              <a:t> is the extent to which a product or feature achieves its intended customer and business objectives.</a:t>
            </a:r>
          </a:p>
          <a:p>
            <a:r>
              <a:rPr lang="en-US" dirty="0"/>
              <a:t>A feature is successful </a:t>
            </a:r>
            <a:r>
              <a:rPr lang="en-US" b="1" dirty="0"/>
              <a:t>not because it was released</a:t>
            </a:r>
            <a:r>
              <a:rPr lang="en-US" dirty="0"/>
              <a:t>, but because it </a:t>
            </a:r>
            <a:r>
              <a:rPr lang="en-US" b="1" dirty="0"/>
              <a:t>created measurable value</a:t>
            </a:r>
            <a:r>
              <a:rPr lang="en-US" dirty="0"/>
              <a:t>.</a:t>
            </a:r>
          </a:p>
          <a:p>
            <a:endParaRPr lang="en-IN" dirty="0"/>
          </a:p>
        </p:txBody>
      </p:sp>
      <p:sp>
        <p:nvSpPr>
          <p:cNvPr id="3" name="Content Placeholder 2">
            <a:extLst>
              <a:ext uri="{FF2B5EF4-FFF2-40B4-BE49-F238E27FC236}">
                <a16:creationId xmlns:a16="http://schemas.microsoft.com/office/drawing/2014/main" id="{658C582F-A1EA-6D09-4133-D8B0600D217D}"/>
              </a:ext>
            </a:extLst>
          </p:cNvPr>
          <p:cNvSpPr>
            <a:spLocks noGrp="1"/>
          </p:cNvSpPr>
          <p:nvPr>
            <p:ph sz="quarter" idx="10"/>
          </p:nvPr>
        </p:nvSpPr>
        <p:spPr/>
        <p:txBody>
          <a:bodyPr/>
          <a:lstStyle/>
          <a:p>
            <a:r>
              <a:rPr lang="en-IN" b="1" dirty="0"/>
              <a:t>What is Product Success?</a:t>
            </a:r>
          </a:p>
          <a:p>
            <a:endParaRPr lang="en-IN" dirty="0"/>
          </a:p>
        </p:txBody>
      </p:sp>
    </p:spTree>
    <p:extLst>
      <p:ext uri="{BB962C8B-B14F-4D97-AF65-F5344CB8AC3E}">
        <p14:creationId xmlns:p14="http://schemas.microsoft.com/office/powerpoint/2010/main" val="155890319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BC3567E-525F-34FE-46D0-EB9485F2A82F}"/>
              </a:ext>
            </a:extLst>
          </p:cNvPr>
          <p:cNvSpPr>
            <a:spLocks noGrp="1"/>
          </p:cNvSpPr>
          <p:nvPr>
            <p:ph idx="1"/>
          </p:nvPr>
        </p:nvSpPr>
        <p:spPr/>
        <p:txBody>
          <a:bodyPr>
            <a:normAutofit fontScale="77500" lnSpcReduction="20000"/>
          </a:bodyPr>
          <a:lstStyle/>
          <a:p>
            <a:r>
              <a:rPr lang="en-US" dirty="0"/>
              <a:t>Idea</a:t>
            </a:r>
          </a:p>
          <a:p>
            <a:r>
              <a:rPr lang="en-US" dirty="0"/>
              <a:t>   ↓</a:t>
            </a:r>
          </a:p>
          <a:p>
            <a:r>
              <a:rPr lang="en-US" dirty="0"/>
              <a:t>Design</a:t>
            </a:r>
          </a:p>
          <a:p>
            <a:r>
              <a:rPr lang="en-US" dirty="0"/>
              <a:t>   ↓</a:t>
            </a:r>
          </a:p>
          <a:p>
            <a:r>
              <a:rPr lang="en-US" dirty="0"/>
              <a:t>Development</a:t>
            </a:r>
          </a:p>
          <a:p>
            <a:r>
              <a:rPr lang="en-US" dirty="0"/>
              <a:t>   ↓</a:t>
            </a:r>
          </a:p>
          <a:p>
            <a:r>
              <a:rPr lang="en-US" dirty="0"/>
              <a:t>Testing</a:t>
            </a:r>
          </a:p>
          <a:p>
            <a:r>
              <a:rPr lang="en-US" dirty="0"/>
              <a:t>   ↓</a:t>
            </a:r>
          </a:p>
          <a:p>
            <a:r>
              <a:rPr lang="en-US" dirty="0"/>
              <a:t>Release ✅</a:t>
            </a:r>
          </a:p>
          <a:p>
            <a:r>
              <a:rPr lang="en-US" dirty="0"/>
              <a:t>   ↓</a:t>
            </a:r>
          </a:p>
          <a:p>
            <a:r>
              <a:rPr lang="en-US" dirty="0"/>
              <a:t>Customer Adoption</a:t>
            </a:r>
          </a:p>
          <a:p>
            <a:r>
              <a:rPr lang="en-US" dirty="0"/>
              <a:t>   ↓</a:t>
            </a:r>
          </a:p>
          <a:p>
            <a:r>
              <a:rPr lang="en-US" dirty="0"/>
              <a:t>Business Impact</a:t>
            </a:r>
          </a:p>
          <a:p>
            <a:r>
              <a:rPr lang="en-US" dirty="0"/>
              <a:t>   ↓</a:t>
            </a:r>
          </a:p>
          <a:p>
            <a:r>
              <a:rPr lang="en-US" dirty="0"/>
              <a:t>Product Success</a:t>
            </a:r>
            <a:endParaRPr lang="en-IN" dirty="0"/>
          </a:p>
        </p:txBody>
      </p:sp>
      <p:sp>
        <p:nvSpPr>
          <p:cNvPr id="3" name="Content Placeholder 2">
            <a:extLst>
              <a:ext uri="{FF2B5EF4-FFF2-40B4-BE49-F238E27FC236}">
                <a16:creationId xmlns:a16="http://schemas.microsoft.com/office/drawing/2014/main" id="{CF70BE83-B16A-71F4-167F-12F2A72C6399}"/>
              </a:ext>
            </a:extLst>
          </p:cNvPr>
          <p:cNvSpPr>
            <a:spLocks noGrp="1"/>
          </p:cNvSpPr>
          <p:nvPr>
            <p:ph sz="quarter" idx="10"/>
          </p:nvPr>
        </p:nvSpPr>
        <p:spPr/>
        <p:txBody>
          <a:bodyPr/>
          <a:lstStyle/>
          <a:p>
            <a:r>
              <a:rPr lang="en-IN" b="1" dirty="0"/>
              <a:t>Building vs Delivering Value</a:t>
            </a:r>
          </a:p>
          <a:p>
            <a:endParaRPr lang="en-IN" dirty="0"/>
          </a:p>
        </p:txBody>
      </p:sp>
    </p:spTree>
    <p:extLst>
      <p:ext uri="{BB962C8B-B14F-4D97-AF65-F5344CB8AC3E}">
        <p14:creationId xmlns:p14="http://schemas.microsoft.com/office/powerpoint/2010/main" val="292605178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A660E8-57C0-A3F7-40A3-9C6E01D116B7}"/>
              </a:ext>
            </a:extLst>
          </p:cNvPr>
          <p:cNvSpPr>
            <a:spLocks noGrp="1"/>
          </p:cNvSpPr>
          <p:nvPr>
            <p:ph sz="quarter" idx="10"/>
          </p:nvPr>
        </p:nvSpPr>
        <p:spPr>
          <a:xfrm>
            <a:off x="406400" y="152400"/>
            <a:ext cx="8432800" cy="1143000"/>
          </a:xfrm>
        </p:spPr>
        <p:txBody>
          <a:bodyPr anchor="ctr">
            <a:normAutofit/>
          </a:bodyPr>
          <a:lstStyle/>
          <a:p>
            <a:pPr>
              <a:spcAft>
                <a:spcPts val="600"/>
              </a:spcAft>
            </a:pPr>
            <a:r>
              <a:rPr lang="en-IN" b="1" dirty="0"/>
              <a:t>Outputs vs Outcomes</a:t>
            </a:r>
            <a:endParaRPr lang="en-IN" b="1"/>
          </a:p>
          <a:p>
            <a:pPr>
              <a:spcAft>
                <a:spcPts val="600"/>
              </a:spcAft>
            </a:pPr>
            <a:endParaRPr lang="en-IN"/>
          </a:p>
        </p:txBody>
      </p:sp>
      <p:graphicFrame>
        <p:nvGraphicFramePr>
          <p:cNvPr id="4" name="Content Placeholder 3">
            <a:extLst>
              <a:ext uri="{FF2B5EF4-FFF2-40B4-BE49-F238E27FC236}">
                <a16:creationId xmlns:a16="http://schemas.microsoft.com/office/drawing/2014/main" id="{B879D0A0-42C6-4D4E-0CFD-DAD88300F930}"/>
              </a:ext>
            </a:extLst>
          </p:cNvPr>
          <p:cNvGraphicFramePr>
            <a:graphicFrameLocks noGrp="1"/>
          </p:cNvGraphicFramePr>
          <p:nvPr>
            <p:ph idx="1"/>
            <p:extLst>
              <p:ext uri="{D42A27DB-BD31-4B8C-83A1-F6EECF244321}">
                <p14:modId xmlns:p14="http://schemas.microsoft.com/office/powerpoint/2010/main" val="2832175555"/>
              </p:ext>
            </p:extLst>
          </p:nvPr>
        </p:nvGraphicFramePr>
        <p:xfrm>
          <a:off x="406400" y="1925707"/>
          <a:ext cx="10972801" cy="3662225"/>
        </p:xfrm>
        <a:graphic>
          <a:graphicData uri="http://schemas.openxmlformats.org/drawingml/2006/table">
            <a:tbl>
              <a:tblPr/>
              <a:tblGrid>
                <a:gridCol w="4411316">
                  <a:extLst>
                    <a:ext uri="{9D8B030D-6E8A-4147-A177-3AD203B41FA5}">
                      <a16:colId xmlns:a16="http://schemas.microsoft.com/office/drawing/2014/main" val="61614013"/>
                    </a:ext>
                  </a:extLst>
                </a:gridCol>
                <a:gridCol w="6561485">
                  <a:extLst>
                    <a:ext uri="{9D8B030D-6E8A-4147-A177-3AD203B41FA5}">
                      <a16:colId xmlns:a16="http://schemas.microsoft.com/office/drawing/2014/main" val="3653773087"/>
                    </a:ext>
                  </a:extLst>
                </a:gridCol>
              </a:tblGrid>
              <a:tr h="732445">
                <a:tc>
                  <a:txBody>
                    <a:bodyPr/>
                    <a:lstStyle/>
                    <a:p>
                      <a:r>
                        <a:rPr lang="en-IN" sz="3300" b="1" dirty="0"/>
                        <a:t>Output</a:t>
                      </a:r>
                    </a:p>
                  </a:txBody>
                  <a:tcPr marL="166465" marR="166465" marT="83232" marB="83232" anchor="ctr">
                    <a:lnL>
                      <a:noFill/>
                    </a:lnL>
                    <a:lnR>
                      <a:noFill/>
                    </a:lnR>
                    <a:lnT>
                      <a:noFill/>
                    </a:lnT>
                    <a:lnB>
                      <a:noFill/>
                    </a:lnB>
                    <a:noFill/>
                  </a:tcPr>
                </a:tc>
                <a:tc>
                  <a:txBody>
                    <a:bodyPr/>
                    <a:lstStyle/>
                    <a:p>
                      <a:r>
                        <a:rPr lang="en-IN" sz="3300" b="1" dirty="0"/>
                        <a:t>Outcome</a:t>
                      </a:r>
                    </a:p>
                  </a:txBody>
                  <a:tcPr marL="166465" marR="166465" marT="83232" marB="83232" anchor="ctr">
                    <a:lnL>
                      <a:noFill/>
                    </a:lnL>
                    <a:lnR>
                      <a:noFill/>
                    </a:lnR>
                    <a:lnT>
                      <a:noFill/>
                    </a:lnT>
                    <a:lnB>
                      <a:noFill/>
                    </a:lnB>
                    <a:noFill/>
                  </a:tcPr>
                </a:tc>
                <a:extLst>
                  <a:ext uri="{0D108BD9-81ED-4DB2-BD59-A6C34878D82A}">
                    <a16:rowId xmlns:a16="http://schemas.microsoft.com/office/drawing/2014/main" val="1058299115"/>
                  </a:ext>
                </a:extLst>
              </a:tr>
              <a:tr h="732445">
                <a:tc>
                  <a:txBody>
                    <a:bodyPr/>
                    <a:lstStyle/>
                    <a:p>
                      <a:r>
                        <a:rPr lang="en-IN" sz="3300"/>
                        <a:t>Feature released</a:t>
                      </a:r>
                    </a:p>
                  </a:txBody>
                  <a:tcPr marL="166465" marR="166465" marT="83232" marB="83232" anchor="ctr">
                    <a:lnL>
                      <a:noFill/>
                    </a:lnL>
                    <a:lnR>
                      <a:noFill/>
                    </a:lnR>
                    <a:lnT>
                      <a:noFill/>
                    </a:lnT>
                    <a:lnB>
                      <a:noFill/>
                    </a:lnB>
                    <a:noFill/>
                  </a:tcPr>
                </a:tc>
                <a:tc>
                  <a:txBody>
                    <a:bodyPr/>
                    <a:lstStyle/>
                    <a:p>
                      <a:r>
                        <a:rPr lang="en-IN" sz="3300"/>
                        <a:t>Customers actively use it</a:t>
                      </a:r>
                    </a:p>
                  </a:txBody>
                  <a:tcPr marL="166465" marR="166465" marT="83232" marB="83232" anchor="ctr">
                    <a:lnL>
                      <a:noFill/>
                    </a:lnL>
                    <a:lnR>
                      <a:noFill/>
                    </a:lnR>
                    <a:lnT>
                      <a:noFill/>
                    </a:lnT>
                    <a:lnB>
                      <a:noFill/>
                    </a:lnB>
                    <a:noFill/>
                  </a:tcPr>
                </a:tc>
                <a:extLst>
                  <a:ext uri="{0D108BD9-81ED-4DB2-BD59-A6C34878D82A}">
                    <a16:rowId xmlns:a16="http://schemas.microsoft.com/office/drawing/2014/main" val="4102767474"/>
                  </a:ext>
                </a:extLst>
              </a:tr>
              <a:tr h="732445">
                <a:tc>
                  <a:txBody>
                    <a:bodyPr/>
                    <a:lstStyle/>
                    <a:p>
                      <a:r>
                        <a:rPr lang="en-IN" sz="3300"/>
                        <a:t>Mobile app launched</a:t>
                      </a:r>
                    </a:p>
                  </a:txBody>
                  <a:tcPr marL="166465" marR="166465" marT="83232" marB="83232" anchor="ctr">
                    <a:lnL>
                      <a:noFill/>
                    </a:lnL>
                    <a:lnR>
                      <a:noFill/>
                    </a:lnR>
                    <a:lnT>
                      <a:noFill/>
                    </a:lnT>
                    <a:lnB>
                      <a:noFill/>
                    </a:lnB>
                    <a:noFill/>
                  </a:tcPr>
                </a:tc>
                <a:tc>
                  <a:txBody>
                    <a:bodyPr/>
                    <a:lstStyle/>
                    <a:p>
                      <a:r>
                        <a:rPr lang="en-IN" sz="3300"/>
                        <a:t>More bookings through mobile</a:t>
                      </a:r>
                    </a:p>
                  </a:txBody>
                  <a:tcPr marL="166465" marR="166465" marT="83232" marB="83232" anchor="ctr">
                    <a:lnL>
                      <a:noFill/>
                    </a:lnL>
                    <a:lnR>
                      <a:noFill/>
                    </a:lnR>
                    <a:lnT>
                      <a:noFill/>
                    </a:lnT>
                    <a:lnB>
                      <a:noFill/>
                    </a:lnB>
                    <a:noFill/>
                  </a:tcPr>
                </a:tc>
                <a:extLst>
                  <a:ext uri="{0D108BD9-81ED-4DB2-BD59-A6C34878D82A}">
                    <a16:rowId xmlns:a16="http://schemas.microsoft.com/office/drawing/2014/main" val="2722710162"/>
                  </a:ext>
                </a:extLst>
              </a:tr>
              <a:tr h="732445">
                <a:tc>
                  <a:txBody>
                    <a:bodyPr/>
                    <a:lstStyle/>
                    <a:p>
                      <a:r>
                        <a:rPr lang="en-IN" sz="3300"/>
                        <a:t>Dashboard created</a:t>
                      </a:r>
                    </a:p>
                  </a:txBody>
                  <a:tcPr marL="166465" marR="166465" marT="83232" marB="83232" anchor="ctr">
                    <a:lnL>
                      <a:noFill/>
                    </a:lnL>
                    <a:lnR>
                      <a:noFill/>
                    </a:lnR>
                    <a:lnT>
                      <a:noFill/>
                    </a:lnT>
                    <a:lnB>
                      <a:noFill/>
                    </a:lnB>
                    <a:noFill/>
                  </a:tcPr>
                </a:tc>
                <a:tc>
                  <a:txBody>
                    <a:bodyPr/>
                    <a:lstStyle/>
                    <a:p>
                      <a:r>
                        <a:rPr lang="en-IN" sz="3300"/>
                        <a:t>Managers make faster decisions</a:t>
                      </a:r>
                    </a:p>
                  </a:txBody>
                  <a:tcPr marL="166465" marR="166465" marT="83232" marB="83232" anchor="ctr">
                    <a:lnL>
                      <a:noFill/>
                    </a:lnL>
                    <a:lnR>
                      <a:noFill/>
                    </a:lnR>
                    <a:lnT>
                      <a:noFill/>
                    </a:lnT>
                    <a:lnB>
                      <a:noFill/>
                    </a:lnB>
                    <a:noFill/>
                  </a:tcPr>
                </a:tc>
                <a:extLst>
                  <a:ext uri="{0D108BD9-81ED-4DB2-BD59-A6C34878D82A}">
                    <a16:rowId xmlns:a16="http://schemas.microsoft.com/office/drawing/2014/main" val="3217347569"/>
                  </a:ext>
                </a:extLst>
              </a:tr>
              <a:tr h="732445">
                <a:tc>
                  <a:txBody>
                    <a:bodyPr/>
                    <a:lstStyle/>
                    <a:p>
                      <a:r>
                        <a:rPr lang="en-IN" sz="3300"/>
                        <a:t>AI chatbot deployed</a:t>
                      </a:r>
                    </a:p>
                  </a:txBody>
                  <a:tcPr marL="166465" marR="166465" marT="83232" marB="83232" anchor="ctr">
                    <a:lnL>
                      <a:noFill/>
                    </a:lnL>
                    <a:lnR>
                      <a:noFill/>
                    </a:lnR>
                    <a:lnT>
                      <a:noFill/>
                    </a:lnT>
                    <a:lnB>
                      <a:noFill/>
                    </a:lnB>
                    <a:noFill/>
                  </a:tcPr>
                </a:tc>
                <a:tc>
                  <a:txBody>
                    <a:bodyPr/>
                    <a:lstStyle/>
                    <a:p>
                      <a:r>
                        <a:rPr lang="en-US" sz="3300" dirty="0"/>
                        <a:t>Support tickets reduced by 40%</a:t>
                      </a:r>
                    </a:p>
                  </a:txBody>
                  <a:tcPr marL="166465" marR="166465" marT="83232" marB="83232" anchor="ctr">
                    <a:lnL>
                      <a:noFill/>
                    </a:lnL>
                    <a:lnR>
                      <a:noFill/>
                    </a:lnR>
                    <a:lnT>
                      <a:noFill/>
                    </a:lnT>
                    <a:lnB>
                      <a:noFill/>
                    </a:lnB>
                    <a:noFill/>
                  </a:tcPr>
                </a:tc>
                <a:extLst>
                  <a:ext uri="{0D108BD9-81ED-4DB2-BD59-A6C34878D82A}">
                    <a16:rowId xmlns:a16="http://schemas.microsoft.com/office/drawing/2014/main" val="2158507096"/>
                  </a:ext>
                </a:extLst>
              </a:tr>
            </a:tbl>
          </a:graphicData>
        </a:graphic>
      </p:graphicFrame>
    </p:spTree>
    <p:extLst>
      <p:ext uri="{BB962C8B-B14F-4D97-AF65-F5344CB8AC3E}">
        <p14:creationId xmlns:p14="http://schemas.microsoft.com/office/powerpoint/2010/main" val="136173744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wrap="square"/>
          <a:lstStyle/>
          <a:p>
            <a:r>
              <a:rPr sz="2600" b="1">
                <a:solidFill>
                  <a:srgbClr val="003352"/>
                </a:solidFill>
                <a:latin typeface="Century Gothic"/>
              </a:rPr>
              <a:t>Output or outcome? Call it out.</a:t>
            </a:r>
          </a:p>
        </p:txBody>
      </p:sp>
      <p:sp>
        <p:nvSpPr>
          <p:cNvPr id="4" name="Rounded Rectangle 3"/>
          <p:cNvSpPr/>
          <p:nvPr/>
        </p:nvSpPr>
        <p:spPr>
          <a:xfrm>
            <a:off x="502920" y="1371600"/>
            <a:ext cx="2468880" cy="292608"/>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ctr"/>
            <a:r>
              <a:rPr sz="1000" b="1" i="0">
                <a:solidFill>
                  <a:srgbClr val="003352"/>
                </a:solidFill>
                <a:latin typeface="Century Gothic"/>
              </a:rPr>
              <a:t>QUIZ  ·  3 MIN</a:t>
            </a:r>
          </a:p>
        </p:txBody>
      </p:sp>
      <p:sp>
        <p:nvSpPr>
          <p:cNvPr id="5" name="Rounded Rectangle 4"/>
          <p:cNvSpPr/>
          <p:nvPr/>
        </p:nvSpPr>
        <p:spPr>
          <a:xfrm>
            <a:off x="502920" y="1874519"/>
            <a:ext cx="5472684" cy="658368"/>
          </a:xfrm>
          <a:prstGeom prst="roundRect">
            <a:avLst>
              <a:gd name="adj" fmla="val 10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04088" y="1929384"/>
            <a:ext cx="4055364" cy="548640"/>
          </a:xfrm>
          <a:prstGeom prst="rect">
            <a:avLst/>
          </a:prstGeom>
          <a:noFill/>
        </p:spPr>
        <p:txBody>
          <a:bodyPr wrap="square" lIns="0" tIns="0" rIns="0" bIns="0" anchor="ctr">
            <a:spAutoFit/>
          </a:bodyPr>
          <a:lstStyle/>
          <a:p>
            <a:pPr algn="l">
              <a:spcBef>
                <a:spcPts val="0"/>
              </a:spcBef>
              <a:spcAft>
                <a:spcPts val="400"/>
              </a:spcAft>
            </a:pPr>
            <a:r>
              <a:rPr sz="1250" b="0" i="0">
                <a:solidFill>
                  <a:srgbClr val="003352"/>
                </a:solidFill>
                <a:latin typeface="Century Gothic"/>
              </a:rPr>
              <a:t>We shipped the new onboarding flow.</a:t>
            </a:r>
          </a:p>
        </p:txBody>
      </p:sp>
      <p:sp>
        <p:nvSpPr>
          <p:cNvPr id="7" name="Rounded Rectangle 6"/>
          <p:cNvSpPr/>
          <p:nvPr/>
        </p:nvSpPr>
        <p:spPr>
          <a:xfrm>
            <a:off x="4860036" y="2020824"/>
            <a:ext cx="932688" cy="365760"/>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i="0">
                <a:solidFill>
                  <a:srgbClr val="536B7A"/>
                </a:solidFill>
                <a:latin typeface="Century Gothic"/>
              </a:rPr>
              <a:t>?</a:t>
            </a:r>
          </a:p>
        </p:txBody>
      </p:sp>
      <p:sp>
        <p:nvSpPr>
          <p:cNvPr id="8" name="Rounded Rectangle 7"/>
          <p:cNvSpPr/>
          <p:nvPr/>
        </p:nvSpPr>
        <p:spPr>
          <a:xfrm>
            <a:off x="6231636" y="1874519"/>
            <a:ext cx="5472684" cy="658368"/>
          </a:xfrm>
          <a:prstGeom prst="roundRect">
            <a:avLst>
              <a:gd name="adj" fmla="val 10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432804" y="1929384"/>
            <a:ext cx="4055364" cy="548640"/>
          </a:xfrm>
          <a:prstGeom prst="rect">
            <a:avLst/>
          </a:prstGeom>
          <a:noFill/>
        </p:spPr>
        <p:txBody>
          <a:bodyPr wrap="square" lIns="0" tIns="0" rIns="0" bIns="0" anchor="ctr">
            <a:spAutoFit/>
          </a:bodyPr>
          <a:lstStyle/>
          <a:p>
            <a:pPr algn="l">
              <a:spcBef>
                <a:spcPts val="0"/>
              </a:spcBef>
              <a:spcAft>
                <a:spcPts val="400"/>
              </a:spcAft>
            </a:pPr>
            <a:r>
              <a:rPr sz="1250" b="0" i="0">
                <a:solidFill>
                  <a:srgbClr val="003352"/>
                </a:solidFill>
                <a:latin typeface="Century Gothic"/>
              </a:rPr>
              <a:t>Signup completion went from 46% to 71%.</a:t>
            </a:r>
          </a:p>
        </p:txBody>
      </p:sp>
      <p:sp>
        <p:nvSpPr>
          <p:cNvPr id="10" name="Rounded Rectangle 9"/>
          <p:cNvSpPr/>
          <p:nvPr/>
        </p:nvSpPr>
        <p:spPr>
          <a:xfrm>
            <a:off x="10588752" y="2020824"/>
            <a:ext cx="932688" cy="365760"/>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i="0">
                <a:solidFill>
                  <a:srgbClr val="536B7A"/>
                </a:solidFill>
                <a:latin typeface="Century Gothic"/>
              </a:rPr>
              <a:t>?</a:t>
            </a:r>
          </a:p>
        </p:txBody>
      </p:sp>
      <p:sp>
        <p:nvSpPr>
          <p:cNvPr id="11" name="Rounded Rectangle 10"/>
          <p:cNvSpPr/>
          <p:nvPr/>
        </p:nvSpPr>
        <p:spPr>
          <a:xfrm>
            <a:off x="502920" y="2660903"/>
            <a:ext cx="5472684" cy="658368"/>
          </a:xfrm>
          <a:prstGeom prst="roundRect">
            <a:avLst>
              <a:gd name="adj" fmla="val 10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04088" y="2715768"/>
            <a:ext cx="4055364" cy="548640"/>
          </a:xfrm>
          <a:prstGeom prst="rect">
            <a:avLst/>
          </a:prstGeom>
          <a:noFill/>
        </p:spPr>
        <p:txBody>
          <a:bodyPr wrap="square" lIns="0" tIns="0" rIns="0" bIns="0" anchor="ctr">
            <a:spAutoFit/>
          </a:bodyPr>
          <a:lstStyle/>
          <a:p>
            <a:pPr algn="l">
              <a:spcBef>
                <a:spcPts val="0"/>
              </a:spcBef>
              <a:spcAft>
                <a:spcPts val="400"/>
              </a:spcAft>
            </a:pPr>
            <a:r>
              <a:rPr sz="1250" b="0" i="0">
                <a:solidFill>
                  <a:srgbClr val="003352"/>
                </a:solidFill>
                <a:latin typeface="Century Gothic"/>
              </a:rPr>
              <a:t>We closed 42 bugs this sprint.</a:t>
            </a:r>
          </a:p>
        </p:txBody>
      </p:sp>
      <p:sp>
        <p:nvSpPr>
          <p:cNvPr id="13" name="Rounded Rectangle 12"/>
          <p:cNvSpPr/>
          <p:nvPr/>
        </p:nvSpPr>
        <p:spPr>
          <a:xfrm>
            <a:off x="4860036" y="2807208"/>
            <a:ext cx="932688" cy="365760"/>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i="0">
                <a:solidFill>
                  <a:srgbClr val="536B7A"/>
                </a:solidFill>
                <a:latin typeface="Century Gothic"/>
              </a:rPr>
              <a:t>?</a:t>
            </a:r>
          </a:p>
        </p:txBody>
      </p:sp>
      <p:sp>
        <p:nvSpPr>
          <p:cNvPr id="14" name="Rounded Rectangle 13"/>
          <p:cNvSpPr/>
          <p:nvPr/>
        </p:nvSpPr>
        <p:spPr>
          <a:xfrm>
            <a:off x="6231636" y="2660903"/>
            <a:ext cx="5472684" cy="658368"/>
          </a:xfrm>
          <a:prstGeom prst="roundRect">
            <a:avLst>
              <a:gd name="adj" fmla="val 10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432804" y="2715768"/>
            <a:ext cx="4055364" cy="548640"/>
          </a:xfrm>
          <a:prstGeom prst="rect">
            <a:avLst/>
          </a:prstGeom>
          <a:noFill/>
        </p:spPr>
        <p:txBody>
          <a:bodyPr wrap="square" lIns="0" tIns="0" rIns="0" bIns="0" anchor="ctr">
            <a:spAutoFit/>
          </a:bodyPr>
          <a:lstStyle/>
          <a:p>
            <a:pPr algn="l">
              <a:spcBef>
                <a:spcPts val="0"/>
              </a:spcBef>
              <a:spcAft>
                <a:spcPts val="400"/>
              </a:spcAft>
            </a:pPr>
            <a:r>
              <a:rPr sz="1250" b="0" i="0">
                <a:solidFill>
                  <a:srgbClr val="003352"/>
                </a:solidFill>
                <a:latin typeface="Century Gothic"/>
              </a:rPr>
              <a:t>Login-related support tickets fell by a third.</a:t>
            </a:r>
          </a:p>
        </p:txBody>
      </p:sp>
      <p:sp>
        <p:nvSpPr>
          <p:cNvPr id="16" name="Rounded Rectangle 15"/>
          <p:cNvSpPr/>
          <p:nvPr/>
        </p:nvSpPr>
        <p:spPr>
          <a:xfrm>
            <a:off x="10588752" y="2807208"/>
            <a:ext cx="932688" cy="365760"/>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i="0">
                <a:solidFill>
                  <a:srgbClr val="536B7A"/>
                </a:solidFill>
                <a:latin typeface="Century Gothic"/>
              </a:rPr>
              <a:t>?</a:t>
            </a:r>
          </a:p>
        </p:txBody>
      </p:sp>
      <p:sp>
        <p:nvSpPr>
          <p:cNvPr id="17" name="Rounded Rectangle 16"/>
          <p:cNvSpPr/>
          <p:nvPr/>
        </p:nvSpPr>
        <p:spPr>
          <a:xfrm>
            <a:off x="502920" y="3447287"/>
            <a:ext cx="5472684" cy="658368"/>
          </a:xfrm>
          <a:prstGeom prst="roundRect">
            <a:avLst>
              <a:gd name="adj" fmla="val 10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04088" y="3502151"/>
            <a:ext cx="4055364" cy="548640"/>
          </a:xfrm>
          <a:prstGeom prst="rect">
            <a:avLst/>
          </a:prstGeom>
          <a:noFill/>
        </p:spPr>
        <p:txBody>
          <a:bodyPr wrap="square" lIns="0" tIns="0" rIns="0" bIns="0" anchor="ctr">
            <a:spAutoFit/>
          </a:bodyPr>
          <a:lstStyle/>
          <a:p>
            <a:pPr algn="l">
              <a:spcBef>
                <a:spcPts val="0"/>
              </a:spcBef>
              <a:spcAft>
                <a:spcPts val="400"/>
              </a:spcAft>
            </a:pPr>
            <a:r>
              <a:rPr sz="1250" b="0" i="0">
                <a:solidFill>
                  <a:srgbClr val="003352"/>
                </a:solidFill>
                <a:latin typeface="Century Gothic"/>
              </a:rPr>
              <a:t>The mobile app is now live on both stores.</a:t>
            </a:r>
          </a:p>
        </p:txBody>
      </p:sp>
      <p:sp>
        <p:nvSpPr>
          <p:cNvPr id="19" name="Rounded Rectangle 18"/>
          <p:cNvSpPr/>
          <p:nvPr/>
        </p:nvSpPr>
        <p:spPr>
          <a:xfrm>
            <a:off x="4860036" y="3593591"/>
            <a:ext cx="932688" cy="365760"/>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i="0">
                <a:solidFill>
                  <a:srgbClr val="536B7A"/>
                </a:solidFill>
                <a:latin typeface="Century Gothic"/>
              </a:rPr>
              <a:t>?</a:t>
            </a:r>
          </a:p>
        </p:txBody>
      </p:sp>
      <p:sp>
        <p:nvSpPr>
          <p:cNvPr id="20" name="Rounded Rectangle 19"/>
          <p:cNvSpPr/>
          <p:nvPr/>
        </p:nvSpPr>
        <p:spPr>
          <a:xfrm>
            <a:off x="6231636" y="3447287"/>
            <a:ext cx="5472684" cy="658368"/>
          </a:xfrm>
          <a:prstGeom prst="roundRect">
            <a:avLst>
              <a:gd name="adj" fmla="val 10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432804" y="3502151"/>
            <a:ext cx="4055364" cy="548640"/>
          </a:xfrm>
          <a:prstGeom prst="rect">
            <a:avLst/>
          </a:prstGeom>
          <a:noFill/>
        </p:spPr>
        <p:txBody>
          <a:bodyPr wrap="square" lIns="0" tIns="0" rIns="0" bIns="0" anchor="ctr">
            <a:spAutoFit/>
          </a:bodyPr>
          <a:lstStyle/>
          <a:p>
            <a:pPr algn="l">
              <a:spcBef>
                <a:spcPts val="0"/>
              </a:spcBef>
              <a:spcAft>
                <a:spcPts val="400"/>
              </a:spcAft>
            </a:pPr>
            <a:r>
              <a:rPr sz="1250" b="0" i="0">
                <a:solidFill>
                  <a:srgbClr val="003352"/>
                </a:solidFill>
                <a:latin typeface="Century Gothic"/>
              </a:rPr>
              <a:t>Repeat orders rose 8% among users who opened tracking.</a:t>
            </a:r>
          </a:p>
        </p:txBody>
      </p:sp>
      <p:sp>
        <p:nvSpPr>
          <p:cNvPr id="22" name="Rounded Rectangle 21"/>
          <p:cNvSpPr/>
          <p:nvPr/>
        </p:nvSpPr>
        <p:spPr>
          <a:xfrm>
            <a:off x="10588752" y="3593591"/>
            <a:ext cx="932688" cy="365760"/>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i="0">
                <a:solidFill>
                  <a:srgbClr val="536B7A"/>
                </a:solidFill>
                <a:latin typeface="Century Gothic"/>
              </a:rPr>
              <a:t>?</a:t>
            </a:r>
          </a:p>
        </p:txBody>
      </p:sp>
      <p:sp>
        <p:nvSpPr>
          <p:cNvPr id="23" name="Rounded Rectangle 22"/>
          <p:cNvSpPr/>
          <p:nvPr/>
        </p:nvSpPr>
        <p:spPr>
          <a:xfrm>
            <a:off x="502920" y="4416552"/>
            <a:ext cx="11201400" cy="658368"/>
          </a:xfrm>
          <a:prstGeom prst="roundRect">
            <a:avLst>
              <a:gd name="adj" fmla="val 10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54864" rIns="201168" bIns="54864" rtlCol="0" anchor="ctr"/>
          <a:lstStyle/>
          <a:p>
            <a:r>
              <a:rPr sz="1300" b="1" i="0">
                <a:solidFill>
                  <a:srgbClr val="FFFFFF"/>
                </a:solidFill>
                <a:latin typeface="Century Gothic"/>
              </a:rPr>
              <a:t>Then the harder question, one at a time: for each outcome, what would you have had to instrument before release in order to know?</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FEC675-DD9E-2F53-26BC-FF8D6828E1BF}"/>
              </a:ext>
            </a:extLst>
          </p:cNvPr>
          <p:cNvSpPr>
            <a:spLocks noGrp="1"/>
          </p:cNvSpPr>
          <p:nvPr>
            <p:ph idx="1"/>
          </p:nvPr>
        </p:nvSpPr>
        <p:spPr/>
        <p:txBody>
          <a:bodyPr>
            <a:normAutofit fontScale="92500" lnSpcReduction="10000"/>
          </a:bodyPr>
          <a:lstStyle/>
          <a:p>
            <a:r>
              <a:rPr lang="en-US" b="1" dirty="0"/>
              <a:t>Customer Satisfaction (CSAT)</a:t>
            </a:r>
          </a:p>
          <a:p>
            <a:r>
              <a:rPr lang="en-US" dirty="0"/>
              <a:t>Measures how satisfied customers are.</a:t>
            </a:r>
          </a:p>
          <a:p>
            <a:endParaRPr lang="en-IN" dirty="0"/>
          </a:p>
          <a:p>
            <a:r>
              <a:rPr lang="en-IN" dirty="0"/>
              <a:t>Rating:</a:t>
            </a:r>
          </a:p>
          <a:p>
            <a:r>
              <a:rPr lang="en-IN" dirty="0"/>
              <a:t>⭐ 1 to ⭐⭐⭐⭐⭐</a:t>
            </a:r>
          </a:p>
          <a:p>
            <a:endParaRPr lang="en-IN" dirty="0"/>
          </a:p>
          <a:p>
            <a:r>
              <a:rPr lang="en-US" dirty="0"/>
              <a:t>Example:</a:t>
            </a:r>
          </a:p>
          <a:p>
            <a:r>
              <a:rPr lang="en-US" dirty="0"/>
              <a:t>Before Release</a:t>
            </a:r>
          </a:p>
          <a:p>
            <a:r>
              <a:rPr lang="en-US" dirty="0"/>
              <a:t>CSAT = 3.8/5</a:t>
            </a:r>
          </a:p>
          <a:p>
            <a:r>
              <a:rPr lang="en-US" dirty="0"/>
              <a:t>After Release</a:t>
            </a:r>
          </a:p>
          <a:p>
            <a:r>
              <a:rPr lang="en-US" dirty="0"/>
              <a:t>CSAT = 4.7/5</a:t>
            </a:r>
          </a:p>
          <a:p>
            <a:r>
              <a:rPr lang="en-US" dirty="0"/>
              <a:t>Success.</a:t>
            </a:r>
          </a:p>
          <a:p>
            <a:endParaRPr lang="en-IN" dirty="0"/>
          </a:p>
        </p:txBody>
      </p:sp>
      <p:sp>
        <p:nvSpPr>
          <p:cNvPr id="3" name="Content Placeholder 2">
            <a:extLst>
              <a:ext uri="{FF2B5EF4-FFF2-40B4-BE49-F238E27FC236}">
                <a16:creationId xmlns:a16="http://schemas.microsoft.com/office/drawing/2014/main" id="{C63234EC-D0DF-F0F7-7AA6-AF0CF5AA4D37}"/>
              </a:ext>
            </a:extLst>
          </p:cNvPr>
          <p:cNvSpPr>
            <a:spLocks noGrp="1"/>
          </p:cNvSpPr>
          <p:nvPr>
            <p:ph sz="quarter" idx="10"/>
          </p:nvPr>
        </p:nvSpPr>
        <p:spPr/>
        <p:txBody>
          <a:bodyPr/>
          <a:lstStyle/>
          <a:p>
            <a:r>
              <a:rPr lang="en-IN" b="1" dirty="0"/>
              <a:t>Key Product Metrics</a:t>
            </a:r>
          </a:p>
          <a:p>
            <a:endParaRPr lang="en-IN" dirty="0"/>
          </a:p>
        </p:txBody>
      </p:sp>
    </p:spTree>
    <p:extLst>
      <p:ext uri="{BB962C8B-B14F-4D97-AF65-F5344CB8AC3E}">
        <p14:creationId xmlns:p14="http://schemas.microsoft.com/office/powerpoint/2010/main" val="200452967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53B94FB-7E46-72A8-3A45-D19DAFE09231}"/>
              </a:ext>
            </a:extLst>
          </p:cNvPr>
          <p:cNvSpPr>
            <a:spLocks noGrp="1"/>
          </p:cNvSpPr>
          <p:nvPr>
            <p:ph idx="1"/>
          </p:nvPr>
        </p:nvSpPr>
        <p:spPr/>
        <p:txBody>
          <a:bodyPr/>
          <a:lstStyle/>
          <a:p>
            <a:r>
              <a:rPr lang="en-IN" dirty="0"/>
              <a:t>Measures customer loyalty.</a:t>
            </a:r>
          </a:p>
          <a:p>
            <a:endParaRPr lang="en-IN" dirty="0"/>
          </a:p>
          <a:p>
            <a:r>
              <a:rPr lang="en-IN" dirty="0"/>
              <a:t>Question:</a:t>
            </a:r>
          </a:p>
          <a:p>
            <a:r>
              <a:rPr lang="en-IN" dirty="0"/>
              <a:t>How likely are you to recommend our product to another customer?</a:t>
            </a:r>
          </a:p>
          <a:p>
            <a:endParaRPr lang="en-IN" dirty="0"/>
          </a:p>
          <a:p>
            <a:r>
              <a:rPr lang="en-IN" dirty="0"/>
              <a:t>Scale – 1-10</a:t>
            </a:r>
          </a:p>
          <a:p>
            <a:r>
              <a:rPr lang="en-IN" dirty="0"/>
              <a:t>Customers are grouped into:</a:t>
            </a:r>
          </a:p>
          <a:p>
            <a:pPr>
              <a:buFont typeface="Arial" panose="020B0604020202020204" pitchFamily="34" charset="0"/>
              <a:buChar char="•"/>
            </a:pPr>
            <a:r>
              <a:rPr lang="en-IN" dirty="0"/>
              <a:t>Promoters (9–10) </a:t>
            </a:r>
          </a:p>
          <a:p>
            <a:pPr>
              <a:buFont typeface="Arial" panose="020B0604020202020204" pitchFamily="34" charset="0"/>
              <a:buChar char="•"/>
            </a:pPr>
            <a:r>
              <a:rPr lang="en-IN" dirty="0"/>
              <a:t>Passives (7–8) </a:t>
            </a:r>
          </a:p>
          <a:p>
            <a:pPr>
              <a:buFont typeface="Arial" panose="020B0604020202020204" pitchFamily="34" charset="0"/>
              <a:buChar char="•"/>
            </a:pPr>
            <a:r>
              <a:rPr lang="en-IN" dirty="0"/>
              <a:t>Detractors (0–6) </a:t>
            </a:r>
          </a:p>
          <a:p>
            <a:endParaRPr lang="en-IN" dirty="0"/>
          </a:p>
        </p:txBody>
      </p:sp>
      <p:sp>
        <p:nvSpPr>
          <p:cNvPr id="3" name="Content Placeholder 2">
            <a:extLst>
              <a:ext uri="{FF2B5EF4-FFF2-40B4-BE49-F238E27FC236}">
                <a16:creationId xmlns:a16="http://schemas.microsoft.com/office/drawing/2014/main" id="{3A00FB69-DFAD-343E-8AA0-A4DC0682D790}"/>
              </a:ext>
            </a:extLst>
          </p:cNvPr>
          <p:cNvSpPr>
            <a:spLocks noGrp="1"/>
          </p:cNvSpPr>
          <p:nvPr>
            <p:ph sz="quarter" idx="10"/>
          </p:nvPr>
        </p:nvSpPr>
        <p:spPr/>
        <p:txBody>
          <a:bodyPr/>
          <a:lstStyle/>
          <a:p>
            <a:r>
              <a:rPr lang="en-IN" dirty="0"/>
              <a:t>Net Promoter Score (NPS)</a:t>
            </a:r>
          </a:p>
        </p:txBody>
      </p:sp>
    </p:spTree>
    <p:extLst>
      <p:ext uri="{BB962C8B-B14F-4D97-AF65-F5344CB8AC3E}">
        <p14:creationId xmlns:p14="http://schemas.microsoft.com/office/powerpoint/2010/main" val="180997444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5929DCA-4DA4-3353-ABA3-CD3927917A81}"/>
              </a:ext>
            </a:extLst>
          </p:cNvPr>
          <p:cNvSpPr>
            <a:spLocks noGrp="1"/>
          </p:cNvSpPr>
          <p:nvPr>
            <p:ph idx="1"/>
          </p:nvPr>
        </p:nvSpPr>
        <p:spPr/>
        <p:txBody>
          <a:bodyPr/>
          <a:lstStyle/>
          <a:p>
            <a:pPr>
              <a:buFont typeface="Arial" panose="020B0604020202020204" pitchFamily="34" charset="0"/>
              <a:buChar char="•"/>
            </a:pPr>
            <a:r>
              <a:rPr lang="en-IN" dirty="0"/>
              <a:t>Feature adoption</a:t>
            </a:r>
          </a:p>
          <a:p>
            <a:pPr>
              <a:buFont typeface="Arial" panose="020B0604020202020204" pitchFamily="34" charset="0"/>
              <a:buChar char="•"/>
            </a:pPr>
            <a:r>
              <a:rPr lang="en-IN" dirty="0"/>
              <a:t>Active users</a:t>
            </a:r>
          </a:p>
          <a:p>
            <a:pPr>
              <a:buFont typeface="Arial" panose="020B0604020202020204" pitchFamily="34" charset="0"/>
              <a:buChar char="•"/>
            </a:pPr>
            <a:r>
              <a:rPr lang="en-IN" dirty="0"/>
              <a:t>Customer retention</a:t>
            </a:r>
          </a:p>
          <a:p>
            <a:pPr>
              <a:buFont typeface="Arial" panose="020B0604020202020204" pitchFamily="34" charset="0"/>
              <a:buChar char="•"/>
            </a:pPr>
            <a:r>
              <a:rPr lang="en-IN" dirty="0"/>
              <a:t>Customer churn</a:t>
            </a:r>
          </a:p>
          <a:p>
            <a:pPr>
              <a:buFont typeface="Arial" panose="020B0604020202020204" pitchFamily="34" charset="0"/>
              <a:buChar char="•"/>
            </a:pPr>
            <a:r>
              <a:rPr lang="en-IN" dirty="0"/>
              <a:t>Revenue growth</a:t>
            </a:r>
          </a:p>
          <a:p>
            <a:pPr>
              <a:buFont typeface="Arial" panose="020B0604020202020204" pitchFamily="34" charset="0"/>
              <a:buChar char="•"/>
            </a:pPr>
            <a:r>
              <a:rPr lang="en-IN" dirty="0"/>
              <a:t>Time saved</a:t>
            </a:r>
          </a:p>
          <a:p>
            <a:pPr>
              <a:buFont typeface="Arial" panose="020B0604020202020204" pitchFamily="34" charset="0"/>
              <a:buChar char="•"/>
            </a:pPr>
            <a:r>
              <a:rPr lang="en-IN" dirty="0"/>
              <a:t>Support tickets</a:t>
            </a:r>
          </a:p>
          <a:p>
            <a:pPr>
              <a:buFont typeface="Arial" panose="020B0604020202020204" pitchFamily="34" charset="0"/>
              <a:buChar char="•"/>
            </a:pPr>
            <a:r>
              <a:rPr lang="en-IN" dirty="0"/>
              <a:t>Performance metrics</a:t>
            </a:r>
          </a:p>
        </p:txBody>
      </p:sp>
      <p:sp>
        <p:nvSpPr>
          <p:cNvPr id="3" name="Content Placeholder 2">
            <a:extLst>
              <a:ext uri="{FF2B5EF4-FFF2-40B4-BE49-F238E27FC236}">
                <a16:creationId xmlns:a16="http://schemas.microsoft.com/office/drawing/2014/main" id="{FB9BA9B6-C84E-128E-1465-1BD134549B49}"/>
              </a:ext>
            </a:extLst>
          </p:cNvPr>
          <p:cNvSpPr>
            <a:spLocks noGrp="1"/>
          </p:cNvSpPr>
          <p:nvPr>
            <p:ph sz="quarter" idx="10"/>
          </p:nvPr>
        </p:nvSpPr>
        <p:spPr/>
        <p:txBody>
          <a:bodyPr/>
          <a:lstStyle/>
          <a:p>
            <a:r>
              <a:rPr lang="en-IN" dirty="0"/>
              <a:t>Other Measuring techniques</a:t>
            </a:r>
          </a:p>
        </p:txBody>
      </p:sp>
    </p:spTree>
    <p:extLst>
      <p:ext uri="{BB962C8B-B14F-4D97-AF65-F5344CB8AC3E}">
        <p14:creationId xmlns:p14="http://schemas.microsoft.com/office/powerpoint/2010/main" val="188240695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A02E28-89AE-A99D-A15A-C5516B18249E}"/>
              </a:ext>
            </a:extLst>
          </p:cNvPr>
          <p:cNvSpPr>
            <a:spLocks noGrp="1"/>
          </p:cNvSpPr>
          <p:nvPr>
            <p:ph sz="quarter" idx="10"/>
          </p:nvPr>
        </p:nvSpPr>
        <p:spPr>
          <a:xfrm>
            <a:off x="406400" y="152400"/>
            <a:ext cx="8432800" cy="1143000"/>
          </a:xfrm>
        </p:spPr>
        <p:txBody>
          <a:bodyPr anchor="ctr">
            <a:normAutofit/>
          </a:bodyPr>
          <a:lstStyle/>
          <a:p>
            <a:pPr>
              <a:spcAft>
                <a:spcPts val="600"/>
              </a:spcAft>
            </a:pPr>
            <a:r>
              <a:rPr lang="en-IN" b="1"/>
              <a:t>Product Success Dashboard</a:t>
            </a:r>
          </a:p>
          <a:p>
            <a:pPr>
              <a:spcAft>
                <a:spcPts val="600"/>
              </a:spcAft>
            </a:pPr>
            <a:endParaRPr lang="en-IN"/>
          </a:p>
        </p:txBody>
      </p:sp>
      <p:graphicFrame>
        <p:nvGraphicFramePr>
          <p:cNvPr id="4" name="Content Placeholder 3">
            <a:extLst>
              <a:ext uri="{FF2B5EF4-FFF2-40B4-BE49-F238E27FC236}">
                <a16:creationId xmlns:a16="http://schemas.microsoft.com/office/drawing/2014/main" id="{9858C221-5632-861D-D4F3-648D9A5C7C91}"/>
              </a:ext>
            </a:extLst>
          </p:cNvPr>
          <p:cNvGraphicFramePr>
            <a:graphicFrameLocks noGrp="1"/>
          </p:cNvGraphicFramePr>
          <p:nvPr>
            <p:ph idx="1"/>
            <p:extLst>
              <p:ext uri="{D42A27DB-BD31-4B8C-83A1-F6EECF244321}">
                <p14:modId xmlns:p14="http://schemas.microsoft.com/office/powerpoint/2010/main" val="252922560"/>
              </p:ext>
            </p:extLst>
          </p:nvPr>
        </p:nvGraphicFramePr>
        <p:xfrm>
          <a:off x="896019" y="1493838"/>
          <a:ext cx="9993563" cy="4525965"/>
        </p:xfrm>
        <a:graphic>
          <a:graphicData uri="http://schemas.openxmlformats.org/drawingml/2006/table">
            <a:tbl>
              <a:tblPr/>
              <a:tblGrid>
                <a:gridCol w="3282409">
                  <a:extLst>
                    <a:ext uri="{9D8B030D-6E8A-4147-A177-3AD203B41FA5}">
                      <a16:colId xmlns:a16="http://schemas.microsoft.com/office/drawing/2014/main" val="3419191771"/>
                    </a:ext>
                  </a:extLst>
                </a:gridCol>
                <a:gridCol w="4571680">
                  <a:extLst>
                    <a:ext uri="{9D8B030D-6E8A-4147-A177-3AD203B41FA5}">
                      <a16:colId xmlns:a16="http://schemas.microsoft.com/office/drawing/2014/main" val="2008287249"/>
                    </a:ext>
                  </a:extLst>
                </a:gridCol>
                <a:gridCol w="2139474">
                  <a:extLst>
                    <a:ext uri="{9D8B030D-6E8A-4147-A177-3AD203B41FA5}">
                      <a16:colId xmlns:a16="http://schemas.microsoft.com/office/drawing/2014/main" val="3449050632"/>
                    </a:ext>
                  </a:extLst>
                </a:gridCol>
              </a:tblGrid>
              <a:tr h="502885">
                <a:tc>
                  <a:txBody>
                    <a:bodyPr/>
                    <a:lstStyle/>
                    <a:p>
                      <a:pPr algn="l" fontAlgn="ctr">
                        <a:buNone/>
                      </a:pPr>
                      <a:r>
                        <a:rPr lang="en-IN" sz="2200" b="1" i="0" u="none" strike="noStrike" dirty="0">
                          <a:effectLst/>
                          <a:latin typeface="Arial" panose="020B0604020202020204" pitchFamily="34" charset="0"/>
                        </a:rPr>
                        <a:t>Category</a:t>
                      </a:r>
                    </a:p>
                  </a:txBody>
                  <a:tcPr marL="114292" marR="114292" marT="57146" marB="57146" anchor="ctr">
                    <a:lnL>
                      <a:noFill/>
                    </a:lnL>
                    <a:lnR>
                      <a:noFill/>
                    </a:lnR>
                    <a:lnT>
                      <a:noFill/>
                    </a:lnT>
                    <a:lnB>
                      <a:noFill/>
                    </a:lnB>
                    <a:noFill/>
                  </a:tcPr>
                </a:tc>
                <a:tc>
                  <a:txBody>
                    <a:bodyPr/>
                    <a:lstStyle/>
                    <a:p>
                      <a:pPr algn="l" fontAlgn="ctr">
                        <a:buNone/>
                      </a:pPr>
                      <a:r>
                        <a:rPr lang="en-IN" sz="2200" b="1" i="0" u="none" strike="noStrike" dirty="0">
                          <a:effectLst/>
                          <a:latin typeface="Arial" panose="020B0604020202020204" pitchFamily="34" charset="0"/>
                        </a:rPr>
                        <a:t>KPI</a:t>
                      </a:r>
                    </a:p>
                  </a:txBody>
                  <a:tcPr marL="114292" marR="114292" marT="57146" marB="57146" anchor="ctr">
                    <a:lnL>
                      <a:noFill/>
                    </a:lnL>
                    <a:lnR>
                      <a:noFill/>
                    </a:lnR>
                    <a:lnT>
                      <a:noFill/>
                    </a:lnT>
                    <a:lnB>
                      <a:noFill/>
                    </a:lnB>
                    <a:noFill/>
                  </a:tcPr>
                </a:tc>
                <a:tc>
                  <a:txBody>
                    <a:bodyPr/>
                    <a:lstStyle/>
                    <a:p>
                      <a:pPr algn="l" fontAlgn="ctr">
                        <a:buNone/>
                      </a:pPr>
                      <a:r>
                        <a:rPr lang="en-IN" sz="2200" b="1" i="0" u="none" strike="noStrike" dirty="0">
                          <a:effectLst/>
                          <a:latin typeface="Arial" panose="020B0604020202020204" pitchFamily="34" charset="0"/>
                        </a:rPr>
                        <a:t>Target</a:t>
                      </a:r>
                    </a:p>
                  </a:txBody>
                  <a:tcPr marL="114292" marR="114292" marT="57146" marB="57146" anchor="ctr">
                    <a:lnL>
                      <a:noFill/>
                    </a:lnL>
                    <a:lnR>
                      <a:noFill/>
                    </a:lnR>
                    <a:lnT>
                      <a:noFill/>
                    </a:lnT>
                    <a:lnB>
                      <a:noFill/>
                    </a:lnB>
                    <a:noFill/>
                  </a:tcPr>
                </a:tc>
                <a:extLst>
                  <a:ext uri="{0D108BD9-81ED-4DB2-BD59-A6C34878D82A}">
                    <a16:rowId xmlns:a16="http://schemas.microsoft.com/office/drawing/2014/main" val="2881339535"/>
                  </a:ext>
                </a:extLst>
              </a:tr>
              <a:tr h="502885">
                <a:tc>
                  <a:txBody>
                    <a:bodyPr/>
                    <a:lstStyle/>
                    <a:p>
                      <a:pPr algn="l" fontAlgn="ctr">
                        <a:buNone/>
                      </a:pPr>
                      <a:r>
                        <a:rPr lang="en-IN" sz="2200" b="0" i="0" u="none" strike="noStrike">
                          <a:effectLst/>
                          <a:latin typeface="Arial" panose="020B0604020202020204" pitchFamily="34" charset="0"/>
                        </a:rPr>
                        <a:t>Customer</a:t>
                      </a:r>
                    </a:p>
                  </a:txBody>
                  <a:tcPr marL="114292" marR="114292" marT="57146" marB="57146" anchor="ctr">
                    <a:lnL>
                      <a:noFill/>
                    </a:lnL>
                    <a:lnR>
                      <a:noFill/>
                    </a:lnR>
                    <a:lnT>
                      <a:noFill/>
                    </a:lnT>
                    <a:lnB>
                      <a:noFill/>
                    </a:lnB>
                    <a:noFill/>
                  </a:tcPr>
                </a:tc>
                <a:tc>
                  <a:txBody>
                    <a:bodyPr/>
                    <a:lstStyle/>
                    <a:p>
                      <a:pPr algn="l" fontAlgn="ctr">
                        <a:buNone/>
                      </a:pPr>
                      <a:r>
                        <a:rPr lang="en-IN" sz="2200" b="0" i="0" u="none" strike="noStrike">
                          <a:effectLst/>
                          <a:latin typeface="Arial" panose="020B0604020202020204" pitchFamily="34" charset="0"/>
                        </a:rPr>
                        <a:t>CSAT</a:t>
                      </a:r>
                    </a:p>
                  </a:txBody>
                  <a:tcPr marL="114292" marR="114292" marT="57146" marB="57146" anchor="ctr">
                    <a:lnL>
                      <a:noFill/>
                    </a:lnL>
                    <a:lnR>
                      <a:noFill/>
                    </a:lnR>
                    <a:lnT>
                      <a:noFill/>
                    </a:lnT>
                    <a:lnB>
                      <a:noFill/>
                    </a:lnB>
                    <a:noFill/>
                  </a:tcPr>
                </a:tc>
                <a:tc>
                  <a:txBody>
                    <a:bodyPr/>
                    <a:lstStyle/>
                    <a:p>
                      <a:pPr algn="l" fontAlgn="ctr">
                        <a:buNone/>
                      </a:pPr>
                      <a:r>
                        <a:rPr lang="en-IN" sz="2200" b="0" i="0" u="none" strike="noStrike">
                          <a:effectLst/>
                          <a:latin typeface="Arial" panose="020B0604020202020204" pitchFamily="34" charset="0"/>
                        </a:rPr>
                        <a:t>&gt; 4.5/5</a:t>
                      </a:r>
                    </a:p>
                  </a:txBody>
                  <a:tcPr marL="114292" marR="114292" marT="57146" marB="57146" anchor="ctr">
                    <a:lnL>
                      <a:noFill/>
                    </a:lnL>
                    <a:lnR>
                      <a:noFill/>
                    </a:lnR>
                    <a:lnT>
                      <a:noFill/>
                    </a:lnT>
                    <a:lnB>
                      <a:noFill/>
                    </a:lnB>
                    <a:noFill/>
                  </a:tcPr>
                </a:tc>
                <a:extLst>
                  <a:ext uri="{0D108BD9-81ED-4DB2-BD59-A6C34878D82A}">
                    <a16:rowId xmlns:a16="http://schemas.microsoft.com/office/drawing/2014/main" val="2716329828"/>
                  </a:ext>
                </a:extLst>
              </a:tr>
              <a:tr h="502885">
                <a:tc>
                  <a:txBody>
                    <a:bodyPr/>
                    <a:lstStyle/>
                    <a:p>
                      <a:pPr algn="l" fontAlgn="ctr">
                        <a:buNone/>
                      </a:pPr>
                      <a:r>
                        <a:rPr lang="en-IN" sz="2200" b="0" i="0" u="none" strike="noStrike">
                          <a:effectLst/>
                          <a:latin typeface="Arial" panose="020B0604020202020204" pitchFamily="34" charset="0"/>
                        </a:rPr>
                        <a:t>Customer</a:t>
                      </a:r>
                    </a:p>
                  </a:txBody>
                  <a:tcPr marL="114292" marR="114292" marT="57146" marB="57146" anchor="ctr">
                    <a:lnL>
                      <a:noFill/>
                    </a:lnL>
                    <a:lnR>
                      <a:noFill/>
                    </a:lnR>
                    <a:lnT>
                      <a:noFill/>
                    </a:lnT>
                    <a:lnB>
                      <a:noFill/>
                    </a:lnB>
                    <a:noFill/>
                  </a:tcPr>
                </a:tc>
                <a:tc>
                  <a:txBody>
                    <a:bodyPr/>
                    <a:lstStyle/>
                    <a:p>
                      <a:pPr algn="l" fontAlgn="ctr">
                        <a:buNone/>
                      </a:pPr>
                      <a:r>
                        <a:rPr lang="en-IN" sz="2200" b="0" i="0" u="none" strike="noStrike">
                          <a:effectLst/>
                          <a:latin typeface="Arial" panose="020B0604020202020204" pitchFamily="34" charset="0"/>
                        </a:rPr>
                        <a:t>NPS</a:t>
                      </a:r>
                    </a:p>
                  </a:txBody>
                  <a:tcPr marL="114292" marR="114292" marT="57146" marB="57146" anchor="ctr">
                    <a:lnL>
                      <a:noFill/>
                    </a:lnL>
                    <a:lnR>
                      <a:noFill/>
                    </a:lnR>
                    <a:lnT>
                      <a:noFill/>
                    </a:lnT>
                    <a:lnB>
                      <a:noFill/>
                    </a:lnB>
                    <a:noFill/>
                  </a:tcPr>
                </a:tc>
                <a:tc>
                  <a:txBody>
                    <a:bodyPr/>
                    <a:lstStyle/>
                    <a:p>
                      <a:pPr algn="l" fontAlgn="ctr">
                        <a:buNone/>
                      </a:pPr>
                      <a:r>
                        <a:rPr lang="en-IN" sz="2200" b="0" i="0" u="none" strike="noStrike">
                          <a:effectLst/>
                          <a:latin typeface="Arial" panose="020B0604020202020204" pitchFamily="34" charset="0"/>
                        </a:rPr>
                        <a:t>&gt; 50</a:t>
                      </a:r>
                    </a:p>
                  </a:txBody>
                  <a:tcPr marL="114292" marR="114292" marT="57146" marB="57146" anchor="ctr">
                    <a:lnL>
                      <a:noFill/>
                    </a:lnL>
                    <a:lnR>
                      <a:noFill/>
                    </a:lnR>
                    <a:lnT>
                      <a:noFill/>
                    </a:lnT>
                    <a:lnB>
                      <a:noFill/>
                    </a:lnB>
                    <a:noFill/>
                  </a:tcPr>
                </a:tc>
                <a:extLst>
                  <a:ext uri="{0D108BD9-81ED-4DB2-BD59-A6C34878D82A}">
                    <a16:rowId xmlns:a16="http://schemas.microsoft.com/office/drawing/2014/main" val="3745266498"/>
                  </a:ext>
                </a:extLst>
              </a:tr>
              <a:tr h="502885">
                <a:tc>
                  <a:txBody>
                    <a:bodyPr/>
                    <a:lstStyle/>
                    <a:p>
                      <a:pPr algn="l" fontAlgn="ctr">
                        <a:buNone/>
                      </a:pPr>
                      <a:r>
                        <a:rPr lang="en-IN" sz="2200" b="0" i="0" u="none" strike="noStrike">
                          <a:effectLst/>
                          <a:latin typeface="Arial" panose="020B0604020202020204" pitchFamily="34" charset="0"/>
                        </a:rPr>
                        <a:t>Usage</a:t>
                      </a:r>
                    </a:p>
                  </a:txBody>
                  <a:tcPr marL="114292" marR="114292" marT="57146" marB="57146" anchor="ctr">
                    <a:lnL>
                      <a:noFill/>
                    </a:lnL>
                    <a:lnR>
                      <a:noFill/>
                    </a:lnR>
                    <a:lnT>
                      <a:noFill/>
                    </a:lnT>
                    <a:lnB>
                      <a:noFill/>
                    </a:lnB>
                    <a:noFill/>
                  </a:tcPr>
                </a:tc>
                <a:tc>
                  <a:txBody>
                    <a:bodyPr/>
                    <a:lstStyle/>
                    <a:p>
                      <a:pPr algn="l" fontAlgn="ctr">
                        <a:buNone/>
                      </a:pPr>
                      <a:r>
                        <a:rPr lang="en-IN" sz="2200" b="0" i="0" u="none" strike="noStrike">
                          <a:effectLst/>
                          <a:latin typeface="Arial" panose="020B0604020202020204" pitchFamily="34" charset="0"/>
                        </a:rPr>
                        <a:t>Feature Adoption</a:t>
                      </a:r>
                    </a:p>
                  </a:txBody>
                  <a:tcPr marL="114292" marR="114292" marT="57146" marB="57146" anchor="ctr">
                    <a:lnL>
                      <a:noFill/>
                    </a:lnL>
                    <a:lnR>
                      <a:noFill/>
                    </a:lnR>
                    <a:lnT>
                      <a:noFill/>
                    </a:lnT>
                    <a:lnB>
                      <a:noFill/>
                    </a:lnB>
                    <a:noFill/>
                  </a:tcPr>
                </a:tc>
                <a:tc>
                  <a:txBody>
                    <a:bodyPr/>
                    <a:lstStyle/>
                    <a:p>
                      <a:pPr algn="l" fontAlgn="ctr">
                        <a:buNone/>
                      </a:pPr>
                      <a:r>
                        <a:rPr lang="en-IN" sz="2200" b="0" i="0" u="none" strike="noStrike">
                          <a:effectLst/>
                          <a:latin typeface="Arial" panose="020B0604020202020204" pitchFamily="34" charset="0"/>
                        </a:rPr>
                        <a:t>&gt; 75%</a:t>
                      </a:r>
                    </a:p>
                  </a:txBody>
                  <a:tcPr marL="114292" marR="114292" marT="57146" marB="57146" anchor="ctr">
                    <a:lnL>
                      <a:noFill/>
                    </a:lnL>
                    <a:lnR>
                      <a:noFill/>
                    </a:lnR>
                    <a:lnT>
                      <a:noFill/>
                    </a:lnT>
                    <a:lnB>
                      <a:noFill/>
                    </a:lnB>
                    <a:noFill/>
                  </a:tcPr>
                </a:tc>
                <a:extLst>
                  <a:ext uri="{0D108BD9-81ED-4DB2-BD59-A6C34878D82A}">
                    <a16:rowId xmlns:a16="http://schemas.microsoft.com/office/drawing/2014/main" val="27864326"/>
                  </a:ext>
                </a:extLst>
              </a:tr>
              <a:tr h="502885">
                <a:tc>
                  <a:txBody>
                    <a:bodyPr/>
                    <a:lstStyle/>
                    <a:p>
                      <a:pPr algn="l" fontAlgn="ctr">
                        <a:buNone/>
                      </a:pPr>
                      <a:r>
                        <a:rPr lang="en-IN" sz="2200" b="0" i="0" u="none" strike="noStrike">
                          <a:effectLst/>
                          <a:latin typeface="Arial" panose="020B0604020202020204" pitchFamily="34" charset="0"/>
                        </a:rPr>
                        <a:t>Usage</a:t>
                      </a:r>
                    </a:p>
                  </a:txBody>
                  <a:tcPr marL="114292" marR="114292" marT="57146" marB="57146" anchor="ctr">
                    <a:lnL>
                      <a:noFill/>
                    </a:lnL>
                    <a:lnR>
                      <a:noFill/>
                    </a:lnR>
                    <a:lnT>
                      <a:noFill/>
                    </a:lnT>
                    <a:lnB>
                      <a:noFill/>
                    </a:lnB>
                    <a:noFill/>
                  </a:tcPr>
                </a:tc>
                <a:tc>
                  <a:txBody>
                    <a:bodyPr/>
                    <a:lstStyle/>
                    <a:p>
                      <a:pPr algn="l" fontAlgn="ctr">
                        <a:buNone/>
                      </a:pPr>
                      <a:r>
                        <a:rPr lang="en-IN" sz="2200" b="0" i="0" u="none" strike="noStrike">
                          <a:effectLst/>
                          <a:latin typeface="Arial" panose="020B0604020202020204" pitchFamily="34" charset="0"/>
                        </a:rPr>
                        <a:t>Monthly Active Users</a:t>
                      </a:r>
                    </a:p>
                  </a:txBody>
                  <a:tcPr marL="114292" marR="114292" marT="57146" marB="57146" anchor="ctr">
                    <a:lnL>
                      <a:noFill/>
                    </a:lnL>
                    <a:lnR>
                      <a:noFill/>
                    </a:lnR>
                    <a:lnT>
                      <a:noFill/>
                    </a:lnT>
                    <a:lnB>
                      <a:noFill/>
                    </a:lnB>
                    <a:noFill/>
                  </a:tcPr>
                </a:tc>
                <a:tc>
                  <a:txBody>
                    <a:bodyPr/>
                    <a:lstStyle/>
                    <a:p>
                      <a:pPr algn="l" fontAlgn="ctr">
                        <a:buNone/>
                      </a:pPr>
                      <a:r>
                        <a:rPr lang="en-IN" sz="2200" b="0" i="0" u="none" strike="noStrike">
                          <a:effectLst/>
                          <a:latin typeface="Arial" panose="020B0604020202020204" pitchFamily="34" charset="0"/>
                        </a:rPr>
                        <a:t>+20%</a:t>
                      </a:r>
                    </a:p>
                  </a:txBody>
                  <a:tcPr marL="114292" marR="114292" marT="57146" marB="57146" anchor="ctr">
                    <a:lnL>
                      <a:noFill/>
                    </a:lnL>
                    <a:lnR>
                      <a:noFill/>
                    </a:lnR>
                    <a:lnT>
                      <a:noFill/>
                    </a:lnT>
                    <a:lnB>
                      <a:noFill/>
                    </a:lnB>
                    <a:noFill/>
                  </a:tcPr>
                </a:tc>
                <a:extLst>
                  <a:ext uri="{0D108BD9-81ED-4DB2-BD59-A6C34878D82A}">
                    <a16:rowId xmlns:a16="http://schemas.microsoft.com/office/drawing/2014/main" val="1205337222"/>
                  </a:ext>
                </a:extLst>
              </a:tr>
              <a:tr h="502885">
                <a:tc>
                  <a:txBody>
                    <a:bodyPr/>
                    <a:lstStyle/>
                    <a:p>
                      <a:pPr algn="l" fontAlgn="ctr">
                        <a:buNone/>
                      </a:pPr>
                      <a:r>
                        <a:rPr lang="en-IN" sz="2200" b="0" i="0" u="none" strike="noStrike">
                          <a:effectLst/>
                          <a:latin typeface="Arial" panose="020B0604020202020204" pitchFamily="34" charset="0"/>
                        </a:rPr>
                        <a:t>Business</a:t>
                      </a:r>
                    </a:p>
                  </a:txBody>
                  <a:tcPr marL="114292" marR="114292" marT="57146" marB="57146" anchor="ctr">
                    <a:lnL>
                      <a:noFill/>
                    </a:lnL>
                    <a:lnR>
                      <a:noFill/>
                    </a:lnR>
                    <a:lnT>
                      <a:noFill/>
                    </a:lnT>
                    <a:lnB>
                      <a:noFill/>
                    </a:lnB>
                    <a:noFill/>
                  </a:tcPr>
                </a:tc>
                <a:tc>
                  <a:txBody>
                    <a:bodyPr/>
                    <a:lstStyle/>
                    <a:p>
                      <a:pPr algn="l" fontAlgn="ctr">
                        <a:buNone/>
                      </a:pPr>
                      <a:r>
                        <a:rPr lang="en-IN" sz="2200" b="0" i="0" u="none" strike="noStrike">
                          <a:effectLst/>
                          <a:latin typeface="Arial" panose="020B0604020202020204" pitchFamily="34" charset="0"/>
                        </a:rPr>
                        <a:t>Revenue Growth</a:t>
                      </a:r>
                    </a:p>
                  </a:txBody>
                  <a:tcPr marL="114292" marR="114292" marT="57146" marB="57146" anchor="ctr">
                    <a:lnL>
                      <a:noFill/>
                    </a:lnL>
                    <a:lnR>
                      <a:noFill/>
                    </a:lnR>
                    <a:lnT>
                      <a:noFill/>
                    </a:lnT>
                    <a:lnB>
                      <a:noFill/>
                    </a:lnB>
                    <a:noFill/>
                  </a:tcPr>
                </a:tc>
                <a:tc>
                  <a:txBody>
                    <a:bodyPr/>
                    <a:lstStyle/>
                    <a:p>
                      <a:pPr algn="l" fontAlgn="ctr">
                        <a:buNone/>
                      </a:pPr>
                      <a:r>
                        <a:rPr lang="en-IN" sz="2200" b="0" i="0" u="none" strike="noStrike">
                          <a:effectLst/>
                          <a:latin typeface="Arial" panose="020B0604020202020204" pitchFamily="34" charset="0"/>
                        </a:rPr>
                        <a:t>+15%</a:t>
                      </a:r>
                    </a:p>
                  </a:txBody>
                  <a:tcPr marL="114292" marR="114292" marT="57146" marB="57146" anchor="ctr">
                    <a:lnL>
                      <a:noFill/>
                    </a:lnL>
                    <a:lnR>
                      <a:noFill/>
                    </a:lnR>
                    <a:lnT>
                      <a:noFill/>
                    </a:lnT>
                    <a:lnB>
                      <a:noFill/>
                    </a:lnB>
                    <a:noFill/>
                  </a:tcPr>
                </a:tc>
                <a:extLst>
                  <a:ext uri="{0D108BD9-81ED-4DB2-BD59-A6C34878D82A}">
                    <a16:rowId xmlns:a16="http://schemas.microsoft.com/office/drawing/2014/main" val="3721661774"/>
                  </a:ext>
                </a:extLst>
              </a:tr>
              <a:tr h="502885">
                <a:tc>
                  <a:txBody>
                    <a:bodyPr/>
                    <a:lstStyle/>
                    <a:p>
                      <a:pPr algn="l" fontAlgn="ctr">
                        <a:buNone/>
                      </a:pPr>
                      <a:r>
                        <a:rPr lang="en-IN" sz="2200" b="0" i="0" u="none" strike="noStrike">
                          <a:effectLst/>
                          <a:latin typeface="Arial" panose="020B0604020202020204" pitchFamily="34" charset="0"/>
                        </a:rPr>
                        <a:t>Business</a:t>
                      </a:r>
                    </a:p>
                  </a:txBody>
                  <a:tcPr marL="114292" marR="114292" marT="57146" marB="57146" anchor="ctr">
                    <a:lnL>
                      <a:noFill/>
                    </a:lnL>
                    <a:lnR>
                      <a:noFill/>
                    </a:lnR>
                    <a:lnT>
                      <a:noFill/>
                    </a:lnT>
                    <a:lnB>
                      <a:noFill/>
                    </a:lnB>
                    <a:noFill/>
                  </a:tcPr>
                </a:tc>
                <a:tc>
                  <a:txBody>
                    <a:bodyPr/>
                    <a:lstStyle/>
                    <a:p>
                      <a:pPr algn="l" fontAlgn="ctr">
                        <a:buNone/>
                      </a:pPr>
                      <a:r>
                        <a:rPr lang="en-IN" sz="2200" b="0" i="0" u="none" strike="noStrike">
                          <a:effectLst/>
                          <a:latin typeface="Arial" panose="020B0604020202020204" pitchFamily="34" charset="0"/>
                        </a:rPr>
                        <a:t>Customer Retention</a:t>
                      </a:r>
                    </a:p>
                  </a:txBody>
                  <a:tcPr marL="114292" marR="114292" marT="57146" marB="57146" anchor="ctr">
                    <a:lnL>
                      <a:noFill/>
                    </a:lnL>
                    <a:lnR>
                      <a:noFill/>
                    </a:lnR>
                    <a:lnT>
                      <a:noFill/>
                    </a:lnT>
                    <a:lnB>
                      <a:noFill/>
                    </a:lnB>
                    <a:noFill/>
                  </a:tcPr>
                </a:tc>
                <a:tc>
                  <a:txBody>
                    <a:bodyPr/>
                    <a:lstStyle/>
                    <a:p>
                      <a:pPr algn="l" fontAlgn="ctr">
                        <a:buNone/>
                      </a:pPr>
                      <a:r>
                        <a:rPr lang="en-IN" sz="2200" b="0" i="0" u="none" strike="noStrike">
                          <a:effectLst/>
                          <a:latin typeface="Arial" panose="020B0604020202020204" pitchFamily="34" charset="0"/>
                        </a:rPr>
                        <a:t>&gt; 95%</a:t>
                      </a:r>
                    </a:p>
                  </a:txBody>
                  <a:tcPr marL="114292" marR="114292" marT="57146" marB="57146" anchor="ctr">
                    <a:lnL>
                      <a:noFill/>
                    </a:lnL>
                    <a:lnR>
                      <a:noFill/>
                    </a:lnR>
                    <a:lnT>
                      <a:noFill/>
                    </a:lnT>
                    <a:lnB>
                      <a:noFill/>
                    </a:lnB>
                    <a:noFill/>
                  </a:tcPr>
                </a:tc>
                <a:extLst>
                  <a:ext uri="{0D108BD9-81ED-4DB2-BD59-A6C34878D82A}">
                    <a16:rowId xmlns:a16="http://schemas.microsoft.com/office/drawing/2014/main" val="3619346573"/>
                  </a:ext>
                </a:extLst>
              </a:tr>
              <a:tr h="502885">
                <a:tc>
                  <a:txBody>
                    <a:bodyPr/>
                    <a:lstStyle/>
                    <a:p>
                      <a:pPr algn="l" fontAlgn="ctr">
                        <a:buNone/>
                      </a:pPr>
                      <a:r>
                        <a:rPr lang="en-IN" sz="2200" b="0" i="0" u="none" strike="noStrike">
                          <a:effectLst/>
                          <a:latin typeface="Arial" panose="020B0604020202020204" pitchFamily="34" charset="0"/>
                        </a:rPr>
                        <a:t>Operations</a:t>
                      </a:r>
                    </a:p>
                  </a:txBody>
                  <a:tcPr marL="114292" marR="114292" marT="57146" marB="57146" anchor="ctr">
                    <a:lnL>
                      <a:noFill/>
                    </a:lnL>
                    <a:lnR>
                      <a:noFill/>
                    </a:lnR>
                    <a:lnT>
                      <a:noFill/>
                    </a:lnT>
                    <a:lnB>
                      <a:noFill/>
                    </a:lnB>
                    <a:noFill/>
                  </a:tcPr>
                </a:tc>
                <a:tc>
                  <a:txBody>
                    <a:bodyPr/>
                    <a:lstStyle/>
                    <a:p>
                      <a:pPr algn="l" fontAlgn="ctr">
                        <a:buNone/>
                      </a:pPr>
                      <a:r>
                        <a:rPr lang="en-IN" sz="2200" b="0" i="0" u="none" strike="noStrike">
                          <a:effectLst/>
                          <a:latin typeface="Arial" panose="020B0604020202020204" pitchFamily="34" charset="0"/>
                        </a:rPr>
                        <a:t>Support Tickets</a:t>
                      </a:r>
                    </a:p>
                  </a:txBody>
                  <a:tcPr marL="114292" marR="114292" marT="57146" marB="57146" anchor="ctr">
                    <a:lnL>
                      <a:noFill/>
                    </a:lnL>
                    <a:lnR>
                      <a:noFill/>
                    </a:lnR>
                    <a:lnT>
                      <a:noFill/>
                    </a:lnT>
                    <a:lnB>
                      <a:noFill/>
                    </a:lnB>
                    <a:noFill/>
                  </a:tcPr>
                </a:tc>
                <a:tc>
                  <a:txBody>
                    <a:bodyPr/>
                    <a:lstStyle/>
                    <a:p>
                      <a:pPr algn="l" fontAlgn="ctr">
                        <a:buNone/>
                      </a:pPr>
                      <a:r>
                        <a:rPr lang="en-IN" sz="2200" b="0" i="0" u="none" strike="noStrike">
                          <a:effectLst/>
                          <a:latin typeface="Arial" panose="020B0604020202020204" pitchFamily="34" charset="0"/>
                        </a:rPr>
                        <a:t>-30%</a:t>
                      </a:r>
                    </a:p>
                  </a:txBody>
                  <a:tcPr marL="114292" marR="114292" marT="57146" marB="57146" anchor="ctr">
                    <a:lnL>
                      <a:noFill/>
                    </a:lnL>
                    <a:lnR>
                      <a:noFill/>
                    </a:lnR>
                    <a:lnT>
                      <a:noFill/>
                    </a:lnT>
                    <a:lnB>
                      <a:noFill/>
                    </a:lnB>
                    <a:noFill/>
                  </a:tcPr>
                </a:tc>
                <a:extLst>
                  <a:ext uri="{0D108BD9-81ED-4DB2-BD59-A6C34878D82A}">
                    <a16:rowId xmlns:a16="http://schemas.microsoft.com/office/drawing/2014/main" val="2863718282"/>
                  </a:ext>
                </a:extLst>
              </a:tr>
              <a:tr h="502885">
                <a:tc>
                  <a:txBody>
                    <a:bodyPr/>
                    <a:lstStyle/>
                    <a:p>
                      <a:pPr algn="l" fontAlgn="ctr">
                        <a:buNone/>
                      </a:pPr>
                      <a:r>
                        <a:rPr lang="en-IN" sz="2200" b="0" i="0" u="none" strike="noStrike">
                          <a:effectLst/>
                          <a:latin typeface="Arial" panose="020B0604020202020204" pitchFamily="34" charset="0"/>
                        </a:rPr>
                        <a:t>Performance</a:t>
                      </a:r>
                    </a:p>
                  </a:txBody>
                  <a:tcPr marL="114292" marR="114292" marT="57146" marB="57146" anchor="ctr">
                    <a:lnL>
                      <a:noFill/>
                    </a:lnL>
                    <a:lnR>
                      <a:noFill/>
                    </a:lnR>
                    <a:lnT>
                      <a:noFill/>
                    </a:lnT>
                    <a:lnB>
                      <a:noFill/>
                    </a:lnB>
                    <a:noFill/>
                  </a:tcPr>
                </a:tc>
                <a:tc>
                  <a:txBody>
                    <a:bodyPr/>
                    <a:lstStyle/>
                    <a:p>
                      <a:pPr algn="l" fontAlgn="ctr">
                        <a:buNone/>
                      </a:pPr>
                      <a:r>
                        <a:rPr lang="en-IN" sz="2200" b="0" i="0" u="none" strike="noStrike">
                          <a:effectLst/>
                          <a:latin typeface="Arial" panose="020B0604020202020204" pitchFamily="34" charset="0"/>
                        </a:rPr>
                        <a:t>API Response Time</a:t>
                      </a:r>
                    </a:p>
                  </a:txBody>
                  <a:tcPr marL="114292" marR="114292" marT="57146" marB="57146" anchor="ctr">
                    <a:lnL>
                      <a:noFill/>
                    </a:lnL>
                    <a:lnR>
                      <a:noFill/>
                    </a:lnR>
                    <a:lnT>
                      <a:noFill/>
                    </a:lnT>
                    <a:lnB>
                      <a:noFill/>
                    </a:lnB>
                    <a:noFill/>
                  </a:tcPr>
                </a:tc>
                <a:tc>
                  <a:txBody>
                    <a:bodyPr/>
                    <a:lstStyle/>
                    <a:p>
                      <a:pPr algn="l" fontAlgn="ctr">
                        <a:buNone/>
                      </a:pPr>
                      <a:r>
                        <a:rPr lang="en-IN" sz="2200" b="0" i="0" u="none" strike="noStrike" dirty="0">
                          <a:effectLst/>
                          <a:latin typeface="Arial" panose="020B0604020202020204" pitchFamily="34" charset="0"/>
                        </a:rPr>
                        <a:t>&lt; 2 sec</a:t>
                      </a:r>
                    </a:p>
                  </a:txBody>
                  <a:tcPr marL="114292" marR="114292" marT="57146" marB="57146" anchor="ctr">
                    <a:lnL>
                      <a:noFill/>
                    </a:lnL>
                    <a:lnR>
                      <a:noFill/>
                    </a:lnR>
                    <a:lnT>
                      <a:noFill/>
                    </a:lnT>
                    <a:lnB>
                      <a:noFill/>
                    </a:lnB>
                    <a:noFill/>
                  </a:tcPr>
                </a:tc>
                <a:extLst>
                  <a:ext uri="{0D108BD9-81ED-4DB2-BD59-A6C34878D82A}">
                    <a16:rowId xmlns:a16="http://schemas.microsoft.com/office/drawing/2014/main" val="2286649647"/>
                  </a:ext>
                </a:extLst>
              </a:tr>
            </a:tbl>
          </a:graphicData>
        </a:graphic>
      </p:graphicFrame>
    </p:spTree>
    <p:extLst>
      <p:ext uri="{BB962C8B-B14F-4D97-AF65-F5344CB8AC3E}">
        <p14:creationId xmlns:p14="http://schemas.microsoft.com/office/powerpoint/2010/main" val="153601379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wrap="square"/>
          <a:lstStyle/>
          <a:p>
            <a:r>
              <a:rPr sz="2600" b="1">
                <a:solidFill>
                  <a:srgbClr val="003352"/>
                </a:solidFill>
                <a:latin typeface="Century Gothic"/>
              </a:rPr>
              <a:t>Case: it shipped on time and still failed</a:t>
            </a:r>
          </a:p>
        </p:txBody>
      </p:sp>
      <p:sp>
        <p:nvSpPr>
          <p:cNvPr id="4" name="Rounded Rectangle 3"/>
          <p:cNvSpPr/>
          <p:nvPr/>
        </p:nvSpPr>
        <p:spPr>
          <a:xfrm>
            <a:off x="502920" y="1371600"/>
            <a:ext cx="3346704" cy="292608"/>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ctr"/>
            <a:r>
              <a:rPr sz="1000" b="1" i="0">
                <a:solidFill>
                  <a:srgbClr val="003352"/>
                </a:solidFill>
                <a:latin typeface="Century Gothic"/>
              </a:rPr>
              <a:t>CASE  ·  MEASUREMENT</a:t>
            </a:r>
          </a:p>
        </p:txBody>
      </p:sp>
      <p:sp>
        <p:nvSpPr>
          <p:cNvPr id="5" name="Rounded Rectangle 4"/>
          <p:cNvSpPr/>
          <p:nvPr/>
        </p:nvSpPr>
        <p:spPr>
          <a:xfrm>
            <a:off x="502920" y="1874519"/>
            <a:ext cx="2697480" cy="2788920"/>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ounded Rectangle 5"/>
          <p:cNvSpPr/>
          <p:nvPr/>
        </p:nvSpPr>
        <p:spPr>
          <a:xfrm>
            <a:off x="685800" y="2057400"/>
            <a:ext cx="1188720" cy="310896"/>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lIns="54864" rIns="54864" rtlCol="0" anchor="ctr"/>
          <a:lstStyle/>
          <a:p>
            <a:pPr algn="ctr"/>
            <a:r>
              <a:rPr sz="1000" b="1" i="0">
                <a:solidFill>
                  <a:srgbClr val="003352"/>
                </a:solidFill>
                <a:latin typeface="Century Gothic"/>
              </a:rPr>
              <a:t>Nov 2017</a:t>
            </a:r>
          </a:p>
        </p:txBody>
      </p:sp>
      <p:sp>
        <p:nvSpPr>
          <p:cNvPr id="7" name="TextBox 6"/>
          <p:cNvSpPr txBox="1"/>
          <p:nvPr/>
        </p:nvSpPr>
        <p:spPr>
          <a:xfrm>
            <a:off x="685800" y="2496312"/>
            <a:ext cx="2331720" cy="2011680"/>
          </a:xfrm>
          <a:prstGeom prst="rect">
            <a:avLst/>
          </a:prstGeom>
          <a:noFill/>
        </p:spPr>
        <p:txBody>
          <a:bodyPr wrap="square" lIns="0" tIns="0" rIns="0" bIns="0" anchor="t">
            <a:spAutoFit/>
          </a:bodyPr>
          <a:lstStyle/>
          <a:p>
            <a:pPr algn="l">
              <a:spcBef>
                <a:spcPts val="0"/>
              </a:spcBef>
              <a:spcAft>
                <a:spcPts val="600"/>
              </a:spcAft>
            </a:pPr>
            <a:r>
              <a:rPr sz="1300" b="1" i="0">
                <a:solidFill>
                  <a:srgbClr val="003352"/>
                </a:solidFill>
                <a:latin typeface="Century Gothic"/>
              </a:rPr>
              <a:t>The redesign ships</a:t>
            </a:r>
          </a:p>
          <a:p>
            <a:pPr algn="l">
              <a:spcBef>
                <a:spcPts val="0"/>
              </a:spcBef>
              <a:spcAft>
                <a:spcPts val="400"/>
              </a:spcAft>
            </a:pPr>
            <a:r>
              <a:rPr sz="1150" b="0" i="0">
                <a:solidFill>
                  <a:srgbClr val="003352"/>
                </a:solidFill>
                <a:latin typeface="Century Gothic"/>
              </a:rPr>
              <a:t>Snapchat's biggest redesign in years. Delivered on schedule, aimed squarely at making the app easier for new and older users to understand.</a:t>
            </a:r>
          </a:p>
        </p:txBody>
      </p:sp>
      <p:sp>
        <p:nvSpPr>
          <p:cNvPr id="8" name="Rounded Rectangle 7"/>
          <p:cNvSpPr/>
          <p:nvPr/>
        </p:nvSpPr>
        <p:spPr>
          <a:xfrm>
            <a:off x="3364992" y="1874519"/>
            <a:ext cx="2697480" cy="2788920"/>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ounded Rectangle 8"/>
          <p:cNvSpPr/>
          <p:nvPr/>
        </p:nvSpPr>
        <p:spPr>
          <a:xfrm>
            <a:off x="3547872" y="2057400"/>
            <a:ext cx="1188720" cy="310896"/>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lIns="54864" rIns="54864" rtlCol="0" anchor="ctr"/>
          <a:lstStyle/>
          <a:p>
            <a:pPr algn="ctr"/>
            <a:r>
              <a:rPr sz="1000" b="1" i="0">
                <a:solidFill>
                  <a:srgbClr val="003352"/>
                </a:solidFill>
                <a:latin typeface="Century Gothic"/>
              </a:rPr>
              <a:t>Early data</a:t>
            </a:r>
          </a:p>
        </p:txBody>
      </p:sp>
      <p:sp>
        <p:nvSpPr>
          <p:cNvPr id="10" name="TextBox 9"/>
          <p:cNvSpPr txBox="1"/>
          <p:nvPr/>
        </p:nvSpPr>
        <p:spPr>
          <a:xfrm>
            <a:off x="3547872" y="2496312"/>
            <a:ext cx="2331720" cy="2011680"/>
          </a:xfrm>
          <a:prstGeom prst="rect">
            <a:avLst/>
          </a:prstGeom>
          <a:noFill/>
        </p:spPr>
        <p:txBody>
          <a:bodyPr wrap="square" lIns="0" tIns="0" rIns="0" bIns="0" anchor="t">
            <a:spAutoFit/>
          </a:bodyPr>
          <a:lstStyle/>
          <a:p>
            <a:pPr algn="l">
              <a:spcBef>
                <a:spcPts val="0"/>
              </a:spcBef>
              <a:spcAft>
                <a:spcPts val="600"/>
              </a:spcAft>
            </a:pPr>
            <a:r>
              <a:rPr sz="1300" b="1" i="0">
                <a:solidFill>
                  <a:srgbClr val="003352"/>
                </a:solidFill>
                <a:latin typeface="Century Gothic"/>
              </a:rPr>
              <a:t>The dashboard looks fine</a:t>
            </a:r>
          </a:p>
          <a:p>
            <a:pPr algn="l">
              <a:spcBef>
                <a:spcPts val="0"/>
              </a:spcBef>
              <a:spcAft>
                <a:spcPts val="400"/>
              </a:spcAft>
            </a:pPr>
            <a:r>
              <a:rPr sz="1150" b="0" i="0">
                <a:solidFill>
                  <a:srgbClr val="003352"/>
                </a:solidFill>
                <a:latin typeface="Century Gothic"/>
              </a:rPr>
              <a:t>Snap reported Discover engagement up and stronger engagement from users over 35 — exactly the metric the redesign was built to move.</a:t>
            </a:r>
          </a:p>
        </p:txBody>
      </p:sp>
      <p:sp>
        <p:nvSpPr>
          <p:cNvPr id="11" name="Rounded Rectangle 10"/>
          <p:cNvSpPr/>
          <p:nvPr/>
        </p:nvSpPr>
        <p:spPr>
          <a:xfrm>
            <a:off x="6227064" y="1874519"/>
            <a:ext cx="2697480" cy="2788920"/>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6409944" y="2057400"/>
            <a:ext cx="1188720" cy="310896"/>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lIns="54864" rIns="54864" rtlCol="0" anchor="ctr"/>
          <a:lstStyle/>
          <a:p>
            <a:pPr algn="ctr"/>
            <a:r>
              <a:rPr sz="1000" b="1" i="0">
                <a:solidFill>
                  <a:srgbClr val="003352"/>
                </a:solidFill>
                <a:latin typeface="Century Gothic"/>
              </a:rPr>
              <a:t>Feb 2018</a:t>
            </a:r>
          </a:p>
        </p:txBody>
      </p:sp>
      <p:sp>
        <p:nvSpPr>
          <p:cNvPr id="13" name="TextBox 12"/>
          <p:cNvSpPr txBox="1"/>
          <p:nvPr/>
        </p:nvSpPr>
        <p:spPr>
          <a:xfrm>
            <a:off x="6409944" y="2496312"/>
            <a:ext cx="2331720" cy="2011680"/>
          </a:xfrm>
          <a:prstGeom prst="rect">
            <a:avLst/>
          </a:prstGeom>
          <a:noFill/>
        </p:spPr>
        <p:txBody>
          <a:bodyPr wrap="square" lIns="0" tIns="0" rIns="0" bIns="0" anchor="t">
            <a:spAutoFit/>
          </a:bodyPr>
          <a:lstStyle/>
          <a:p>
            <a:pPr algn="l">
              <a:spcBef>
                <a:spcPts val="0"/>
              </a:spcBef>
              <a:spcAft>
                <a:spcPts val="600"/>
              </a:spcAft>
            </a:pPr>
            <a:r>
              <a:rPr sz="1300" b="1" i="0">
                <a:solidFill>
                  <a:srgbClr val="003352"/>
                </a:solidFill>
                <a:latin typeface="Century Gothic"/>
              </a:rPr>
              <a:t>1.2 million signatures</a:t>
            </a:r>
          </a:p>
          <a:p>
            <a:pPr algn="l">
              <a:spcBef>
                <a:spcPts val="0"/>
              </a:spcBef>
              <a:spcAft>
                <a:spcPts val="400"/>
              </a:spcAft>
            </a:pPr>
            <a:r>
              <a:rPr sz="1150" b="0" i="0">
                <a:solidFill>
                  <a:srgbClr val="003352"/>
                </a:solidFill>
                <a:latin typeface="Century Gothic"/>
              </a:rPr>
              <a:t>A petition to roll the update back passes 1.2M. Existing users say the actions they did most often had become harder to find.</a:t>
            </a:r>
          </a:p>
        </p:txBody>
      </p:sp>
      <p:sp>
        <p:nvSpPr>
          <p:cNvPr id="14" name="Rounded Rectangle 13"/>
          <p:cNvSpPr/>
          <p:nvPr/>
        </p:nvSpPr>
        <p:spPr>
          <a:xfrm>
            <a:off x="9089136" y="1874519"/>
            <a:ext cx="2697480" cy="2788920"/>
          </a:xfrm>
          <a:prstGeom prst="roundRect">
            <a:avLst>
              <a:gd name="adj" fmla="val 6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unded Rectangle 14"/>
          <p:cNvSpPr/>
          <p:nvPr/>
        </p:nvSpPr>
        <p:spPr>
          <a:xfrm>
            <a:off x="9272016" y="2057400"/>
            <a:ext cx="1188720" cy="310896"/>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lIns="54864" rIns="54864" rtlCol="0" anchor="ctr"/>
          <a:lstStyle/>
          <a:p>
            <a:pPr algn="ctr"/>
            <a:r>
              <a:rPr sz="1000" b="1" i="0">
                <a:solidFill>
                  <a:srgbClr val="003352"/>
                </a:solidFill>
                <a:latin typeface="Century Gothic"/>
              </a:rPr>
              <a:t>Q2 2018</a:t>
            </a:r>
          </a:p>
        </p:txBody>
      </p:sp>
      <p:sp>
        <p:nvSpPr>
          <p:cNvPr id="16" name="TextBox 15"/>
          <p:cNvSpPr txBox="1"/>
          <p:nvPr/>
        </p:nvSpPr>
        <p:spPr>
          <a:xfrm>
            <a:off x="9272016" y="2496312"/>
            <a:ext cx="2331720" cy="2011680"/>
          </a:xfrm>
          <a:prstGeom prst="rect">
            <a:avLst/>
          </a:prstGeom>
          <a:noFill/>
        </p:spPr>
        <p:txBody>
          <a:bodyPr wrap="square" lIns="0" tIns="0" rIns="0" bIns="0" anchor="t">
            <a:spAutoFit/>
          </a:bodyPr>
          <a:lstStyle/>
          <a:p>
            <a:pPr algn="l">
              <a:spcBef>
                <a:spcPts val="0"/>
              </a:spcBef>
              <a:spcAft>
                <a:spcPts val="600"/>
              </a:spcAft>
            </a:pPr>
            <a:r>
              <a:rPr sz="1300" b="1" i="0">
                <a:solidFill>
                  <a:srgbClr val="003352"/>
                </a:solidFill>
                <a:latin typeface="Century Gothic"/>
              </a:rPr>
              <a:t>First ever DAU decline</a:t>
            </a:r>
          </a:p>
          <a:p>
            <a:pPr algn="l">
              <a:spcBef>
                <a:spcPts val="0"/>
              </a:spcBef>
              <a:spcAft>
                <a:spcPts val="400"/>
              </a:spcAft>
            </a:pPr>
            <a:r>
              <a:rPr sz="1150" b="0" i="0">
                <a:solidFill>
                  <a:srgbClr val="003352"/>
                </a:solidFill>
                <a:latin typeface="Century Gothic"/>
              </a:rPr>
              <a:t>Snap reports its first quarterly fall in daily active users, around 3 million. The CEO attributes it to disruption caused by the redesign.</a:t>
            </a:r>
          </a:p>
        </p:txBody>
      </p:sp>
      <p:sp>
        <p:nvSpPr>
          <p:cNvPr id="17" name="Rounded Rectangle 16"/>
          <p:cNvSpPr/>
          <p:nvPr/>
        </p:nvSpPr>
        <p:spPr>
          <a:xfrm>
            <a:off x="502920" y="5486400"/>
            <a:ext cx="11201400" cy="658368"/>
          </a:xfrm>
          <a:prstGeom prst="roundRect">
            <a:avLst>
              <a:gd name="adj" fmla="val 10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54864" rIns="201168" bIns="54864" rtlCol="0" anchor="ctr"/>
          <a:lstStyle/>
          <a:p>
            <a:r>
              <a:rPr sz="1300" b="1" i="0">
                <a:solidFill>
                  <a:srgbClr val="FFFFFF"/>
                </a:solidFill>
                <a:latin typeface="Century Gothic"/>
              </a:rPr>
              <a:t>Delivery was excellent. The success metric was chosen before anyone asked what the existing users would lose. Which guardrail metric, watched from week one, would have caught this?</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wrap="square"/>
          <a:lstStyle/>
          <a:p>
            <a:r>
              <a:rPr sz="2600" b="1">
                <a:solidFill>
                  <a:srgbClr val="003352"/>
                </a:solidFill>
                <a:latin typeface="Century Gothic"/>
              </a:rPr>
              <a:t>Quiz: which metric answers the question?</a:t>
            </a:r>
          </a:p>
        </p:txBody>
      </p:sp>
      <p:sp>
        <p:nvSpPr>
          <p:cNvPr id="4" name="Rounded Rectangle 3"/>
          <p:cNvSpPr/>
          <p:nvPr/>
        </p:nvSpPr>
        <p:spPr>
          <a:xfrm>
            <a:off x="502920" y="1371600"/>
            <a:ext cx="4370832" cy="292608"/>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ctr"/>
            <a:r>
              <a:rPr sz="1000" b="1" i="0">
                <a:solidFill>
                  <a:srgbClr val="003352"/>
                </a:solidFill>
                <a:latin typeface="Century Gothic"/>
              </a:rPr>
              <a:t>QUIZ  ·  4 MIN  ·  MATCHING</a:t>
            </a:r>
          </a:p>
        </p:txBody>
      </p:sp>
      <p:sp>
        <p:nvSpPr>
          <p:cNvPr id="5" name="TextBox 4"/>
          <p:cNvSpPr txBox="1"/>
          <p:nvPr/>
        </p:nvSpPr>
        <p:spPr>
          <a:xfrm>
            <a:off x="502920" y="1874519"/>
            <a:ext cx="11201400" cy="292608"/>
          </a:xfrm>
          <a:prstGeom prst="rect">
            <a:avLst/>
          </a:prstGeom>
          <a:noFill/>
        </p:spPr>
        <p:txBody>
          <a:bodyPr wrap="square" lIns="0" tIns="0" rIns="0" bIns="0" anchor="t">
            <a:spAutoFit/>
          </a:bodyPr>
          <a:lstStyle/>
          <a:p>
            <a:pPr algn="l">
              <a:spcBef>
                <a:spcPts val="0"/>
              </a:spcBef>
              <a:spcAft>
                <a:spcPts val="400"/>
              </a:spcAft>
            </a:pPr>
            <a:r>
              <a:rPr sz="1250" b="0" i="0">
                <a:solidFill>
                  <a:srgbClr val="003352"/>
                </a:solidFill>
                <a:latin typeface="Century Gothic"/>
              </a:rPr>
              <a:t>A business question is only useful if one number answers it. Name the metric for each — and say where it would come from.</a:t>
            </a:r>
          </a:p>
        </p:txBody>
      </p:sp>
      <p:sp>
        <p:nvSpPr>
          <p:cNvPr id="6" name="Rounded Rectangle 5"/>
          <p:cNvSpPr/>
          <p:nvPr/>
        </p:nvSpPr>
        <p:spPr>
          <a:xfrm>
            <a:off x="502920" y="2276856"/>
            <a:ext cx="11201400" cy="530352"/>
          </a:xfrm>
          <a:prstGeom prst="roundRect">
            <a:avLst>
              <a:gd name="adj" fmla="val 10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649224" y="2377439"/>
            <a:ext cx="329184" cy="329184"/>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i="0">
                <a:solidFill>
                  <a:srgbClr val="63E7A4"/>
                </a:solidFill>
                <a:latin typeface="Century Gothic"/>
              </a:rPr>
              <a:t>1</a:t>
            </a:r>
          </a:p>
        </p:txBody>
      </p:sp>
      <p:sp>
        <p:nvSpPr>
          <p:cNvPr id="8" name="TextBox 7"/>
          <p:cNvSpPr txBox="1"/>
          <p:nvPr/>
        </p:nvSpPr>
        <p:spPr>
          <a:xfrm>
            <a:off x="1106424" y="2322575"/>
            <a:ext cx="7955280" cy="438912"/>
          </a:xfrm>
          <a:prstGeom prst="rect">
            <a:avLst/>
          </a:prstGeom>
          <a:noFill/>
        </p:spPr>
        <p:txBody>
          <a:bodyPr wrap="square" lIns="0" tIns="0" rIns="0" bIns="0" anchor="ctr">
            <a:spAutoFit/>
          </a:bodyPr>
          <a:lstStyle/>
          <a:p>
            <a:pPr algn="l">
              <a:spcBef>
                <a:spcPts val="0"/>
              </a:spcBef>
              <a:spcAft>
                <a:spcPts val="400"/>
              </a:spcAft>
            </a:pPr>
            <a:r>
              <a:rPr sz="1150" b="0" i="0">
                <a:solidFill>
                  <a:srgbClr val="003352"/>
                </a:solidFill>
                <a:latin typeface="Century Gothic"/>
              </a:rPr>
              <a:t>“Did the people who tried it come back?”</a:t>
            </a:r>
          </a:p>
        </p:txBody>
      </p:sp>
      <p:sp>
        <p:nvSpPr>
          <p:cNvPr id="9" name="Rounded Rectangle 8"/>
          <p:cNvSpPr/>
          <p:nvPr/>
        </p:nvSpPr>
        <p:spPr>
          <a:xfrm>
            <a:off x="9180576" y="2359151"/>
            <a:ext cx="2377440" cy="365760"/>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536B7A"/>
                </a:solidFill>
                <a:latin typeface="Century Gothic"/>
              </a:rPr>
              <a:t>which metric?</a:t>
            </a:r>
          </a:p>
        </p:txBody>
      </p:sp>
      <p:sp>
        <p:nvSpPr>
          <p:cNvPr id="10" name="Rounded Rectangle 9"/>
          <p:cNvSpPr/>
          <p:nvPr/>
        </p:nvSpPr>
        <p:spPr>
          <a:xfrm>
            <a:off x="502920" y="2880360"/>
            <a:ext cx="11201400" cy="530352"/>
          </a:xfrm>
          <a:prstGeom prst="roundRect">
            <a:avLst>
              <a:gd name="adj" fmla="val 10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649224" y="2980944"/>
            <a:ext cx="329184" cy="329184"/>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i="0">
                <a:solidFill>
                  <a:srgbClr val="63E7A4"/>
                </a:solidFill>
                <a:latin typeface="Century Gothic"/>
              </a:rPr>
              <a:t>2</a:t>
            </a:r>
          </a:p>
        </p:txBody>
      </p:sp>
      <p:sp>
        <p:nvSpPr>
          <p:cNvPr id="12" name="TextBox 11"/>
          <p:cNvSpPr txBox="1"/>
          <p:nvPr/>
        </p:nvSpPr>
        <p:spPr>
          <a:xfrm>
            <a:off x="1106424" y="2926079"/>
            <a:ext cx="7955280" cy="438912"/>
          </a:xfrm>
          <a:prstGeom prst="rect">
            <a:avLst/>
          </a:prstGeom>
          <a:noFill/>
        </p:spPr>
        <p:txBody>
          <a:bodyPr wrap="square" lIns="0" tIns="0" rIns="0" bIns="0" anchor="ctr">
            <a:spAutoFit/>
          </a:bodyPr>
          <a:lstStyle/>
          <a:p>
            <a:pPr algn="l">
              <a:spcBef>
                <a:spcPts val="0"/>
              </a:spcBef>
              <a:spcAft>
                <a:spcPts val="400"/>
              </a:spcAft>
            </a:pPr>
            <a:r>
              <a:rPr sz="1150" b="0" i="0">
                <a:solidFill>
                  <a:srgbClr val="003352"/>
                </a:solidFill>
                <a:latin typeface="Century Gothic"/>
              </a:rPr>
              <a:t>“Is the feature reaching the people we built it for?”</a:t>
            </a:r>
          </a:p>
        </p:txBody>
      </p:sp>
      <p:sp>
        <p:nvSpPr>
          <p:cNvPr id="13" name="Rounded Rectangle 12"/>
          <p:cNvSpPr/>
          <p:nvPr/>
        </p:nvSpPr>
        <p:spPr>
          <a:xfrm>
            <a:off x="9180576" y="2962656"/>
            <a:ext cx="2377440" cy="365760"/>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536B7A"/>
                </a:solidFill>
                <a:latin typeface="Century Gothic"/>
              </a:rPr>
              <a:t>which metric?</a:t>
            </a:r>
          </a:p>
        </p:txBody>
      </p:sp>
      <p:sp>
        <p:nvSpPr>
          <p:cNvPr id="14" name="Rounded Rectangle 13"/>
          <p:cNvSpPr/>
          <p:nvPr/>
        </p:nvSpPr>
        <p:spPr>
          <a:xfrm>
            <a:off x="502920" y="3483863"/>
            <a:ext cx="11201400" cy="530352"/>
          </a:xfrm>
          <a:prstGeom prst="roundRect">
            <a:avLst>
              <a:gd name="adj" fmla="val 10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649224" y="3584447"/>
            <a:ext cx="329184" cy="329184"/>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i="0">
                <a:solidFill>
                  <a:srgbClr val="63E7A4"/>
                </a:solidFill>
                <a:latin typeface="Century Gothic"/>
              </a:rPr>
              <a:t>3</a:t>
            </a:r>
          </a:p>
        </p:txBody>
      </p:sp>
      <p:sp>
        <p:nvSpPr>
          <p:cNvPr id="16" name="TextBox 15"/>
          <p:cNvSpPr txBox="1"/>
          <p:nvPr/>
        </p:nvSpPr>
        <p:spPr>
          <a:xfrm>
            <a:off x="1106424" y="3529583"/>
            <a:ext cx="7955280" cy="438912"/>
          </a:xfrm>
          <a:prstGeom prst="rect">
            <a:avLst/>
          </a:prstGeom>
          <a:noFill/>
        </p:spPr>
        <p:txBody>
          <a:bodyPr wrap="square" lIns="0" tIns="0" rIns="0" bIns="0" anchor="ctr">
            <a:spAutoFit/>
          </a:bodyPr>
          <a:lstStyle/>
          <a:p>
            <a:pPr algn="l">
              <a:spcBef>
                <a:spcPts val="0"/>
              </a:spcBef>
              <a:spcAft>
                <a:spcPts val="400"/>
              </a:spcAft>
            </a:pPr>
            <a:r>
              <a:rPr sz="1150" b="0" i="0">
                <a:solidFill>
                  <a:srgbClr val="003352"/>
                </a:solidFill>
                <a:latin typeface="Century Gothic"/>
              </a:rPr>
              <a:t>“Are we actually making our customers' work faster?”</a:t>
            </a:r>
          </a:p>
        </p:txBody>
      </p:sp>
      <p:sp>
        <p:nvSpPr>
          <p:cNvPr id="17" name="Rounded Rectangle 16"/>
          <p:cNvSpPr/>
          <p:nvPr/>
        </p:nvSpPr>
        <p:spPr>
          <a:xfrm>
            <a:off x="9180576" y="3566159"/>
            <a:ext cx="2377440" cy="365760"/>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536B7A"/>
                </a:solidFill>
                <a:latin typeface="Century Gothic"/>
              </a:rPr>
              <a:t>which metric?</a:t>
            </a:r>
          </a:p>
        </p:txBody>
      </p:sp>
      <p:sp>
        <p:nvSpPr>
          <p:cNvPr id="18" name="Rounded Rectangle 17"/>
          <p:cNvSpPr/>
          <p:nvPr/>
        </p:nvSpPr>
        <p:spPr>
          <a:xfrm>
            <a:off x="502920" y="4087368"/>
            <a:ext cx="11201400" cy="530352"/>
          </a:xfrm>
          <a:prstGeom prst="roundRect">
            <a:avLst>
              <a:gd name="adj" fmla="val 10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649224" y="4187952"/>
            <a:ext cx="329184" cy="329184"/>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i="0">
                <a:solidFill>
                  <a:srgbClr val="63E7A4"/>
                </a:solidFill>
                <a:latin typeface="Century Gothic"/>
              </a:rPr>
              <a:t>4</a:t>
            </a:r>
          </a:p>
        </p:txBody>
      </p:sp>
      <p:sp>
        <p:nvSpPr>
          <p:cNvPr id="20" name="TextBox 19"/>
          <p:cNvSpPr txBox="1"/>
          <p:nvPr/>
        </p:nvSpPr>
        <p:spPr>
          <a:xfrm>
            <a:off x="1106424" y="4133087"/>
            <a:ext cx="7955280" cy="438912"/>
          </a:xfrm>
          <a:prstGeom prst="rect">
            <a:avLst/>
          </a:prstGeom>
          <a:noFill/>
        </p:spPr>
        <p:txBody>
          <a:bodyPr wrap="square" lIns="0" tIns="0" rIns="0" bIns="0" anchor="ctr">
            <a:spAutoFit/>
          </a:bodyPr>
          <a:lstStyle/>
          <a:p>
            <a:pPr algn="l">
              <a:spcBef>
                <a:spcPts val="0"/>
              </a:spcBef>
              <a:spcAft>
                <a:spcPts val="400"/>
              </a:spcAft>
            </a:pPr>
            <a:r>
              <a:rPr sz="1150" b="0" i="0">
                <a:solidFill>
                  <a:srgbClr val="003352"/>
                </a:solidFill>
                <a:latin typeface="Century Gothic"/>
              </a:rPr>
              <a:t>“Would our customers recommend us to another hotel?”</a:t>
            </a:r>
          </a:p>
        </p:txBody>
      </p:sp>
      <p:sp>
        <p:nvSpPr>
          <p:cNvPr id="21" name="Rounded Rectangle 20"/>
          <p:cNvSpPr/>
          <p:nvPr/>
        </p:nvSpPr>
        <p:spPr>
          <a:xfrm>
            <a:off x="9180576" y="4169663"/>
            <a:ext cx="2377440" cy="365760"/>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536B7A"/>
                </a:solidFill>
                <a:latin typeface="Century Gothic"/>
              </a:rPr>
              <a:t>which metric?</a:t>
            </a:r>
          </a:p>
        </p:txBody>
      </p:sp>
      <p:sp>
        <p:nvSpPr>
          <p:cNvPr id="22" name="Rounded Rectangle 21"/>
          <p:cNvSpPr/>
          <p:nvPr/>
        </p:nvSpPr>
        <p:spPr>
          <a:xfrm>
            <a:off x="502920" y="4690872"/>
            <a:ext cx="11201400" cy="530352"/>
          </a:xfrm>
          <a:prstGeom prst="roundRect">
            <a:avLst>
              <a:gd name="adj" fmla="val 10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649224" y="4791456"/>
            <a:ext cx="329184" cy="329184"/>
          </a:xfrm>
          <a:prstGeom prst="ellipse">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i="0">
                <a:solidFill>
                  <a:srgbClr val="63E7A4"/>
                </a:solidFill>
                <a:latin typeface="Century Gothic"/>
              </a:rPr>
              <a:t>5</a:t>
            </a:r>
          </a:p>
        </p:txBody>
      </p:sp>
      <p:sp>
        <p:nvSpPr>
          <p:cNvPr id="24" name="TextBox 23"/>
          <p:cNvSpPr txBox="1"/>
          <p:nvPr/>
        </p:nvSpPr>
        <p:spPr>
          <a:xfrm>
            <a:off x="1106424" y="4736592"/>
            <a:ext cx="7955280" cy="438912"/>
          </a:xfrm>
          <a:prstGeom prst="rect">
            <a:avLst/>
          </a:prstGeom>
          <a:noFill/>
        </p:spPr>
        <p:txBody>
          <a:bodyPr wrap="square" lIns="0" tIns="0" rIns="0" bIns="0" anchor="ctr">
            <a:spAutoFit/>
          </a:bodyPr>
          <a:lstStyle/>
          <a:p>
            <a:pPr algn="l">
              <a:spcBef>
                <a:spcPts val="0"/>
              </a:spcBef>
              <a:spcAft>
                <a:spcPts val="400"/>
              </a:spcAft>
            </a:pPr>
            <a:r>
              <a:rPr sz="1150" b="0" i="0">
                <a:solidFill>
                  <a:srgbClr val="003352"/>
                </a:solidFill>
                <a:latin typeface="Century Gothic"/>
              </a:rPr>
              <a:t>“Are we quietly losing the customers we already won?”</a:t>
            </a:r>
          </a:p>
        </p:txBody>
      </p:sp>
      <p:sp>
        <p:nvSpPr>
          <p:cNvPr id="25" name="Rounded Rectangle 24"/>
          <p:cNvSpPr/>
          <p:nvPr/>
        </p:nvSpPr>
        <p:spPr>
          <a:xfrm>
            <a:off x="9180576" y="4773168"/>
            <a:ext cx="2377440" cy="365760"/>
          </a:xfrm>
          <a:prstGeom prst="roundRect">
            <a:avLst>
              <a:gd name="adj" fmla="val 14000"/>
            </a:avLst>
          </a:prstGeom>
          <a:solidFill>
            <a:srgbClr val="FFFFFF"/>
          </a:solidFill>
          <a:ln w="12700">
            <a:solidFill>
              <a:srgbClr val="C9D6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536B7A"/>
                </a:solidFill>
                <a:latin typeface="Century Gothic"/>
              </a:rPr>
              <a:t>which metric?</a:t>
            </a:r>
          </a:p>
        </p:txBody>
      </p:sp>
      <p:sp>
        <p:nvSpPr>
          <p:cNvPr id="26" name="Rounded Rectangle 25"/>
          <p:cNvSpPr/>
          <p:nvPr/>
        </p:nvSpPr>
        <p:spPr>
          <a:xfrm>
            <a:off x="502920" y="5486400"/>
            <a:ext cx="11201400" cy="658368"/>
          </a:xfrm>
          <a:prstGeom prst="roundRect">
            <a:avLst>
              <a:gd name="adj" fmla="val 10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54864" rIns="201168" bIns="54864" rtlCol="0" anchor="ctr"/>
          <a:lstStyle/>
          <a:p>
            <a:r>
              <a:rPr sz="1300" b="1" i="0">
                <a:solidFill>
                  <a:srgbClr val="FFFFFF"/>
                </a:solidFill>
                <a:latin typeface="Century Gothic"/>
              </a:rPr>
              <a:t>Then reverse it: take one KPI from the dashboard on the previous slide and say which question it answers. If nobody can, it should not be on the dashboard.</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57CED6-63A7-F7DB-8A88-098782B5579B}"/>
              </a:ext>
            </a:extLst>
          </p:cNvPr>
          <p:cNvSpPr>
            <a:spLocks noGrp="1"/>
          </p:cNvSpPr>
          <p:nvPr>
            <p:ph sz="quarter" idx="10"/>
          </p:nvPr>
        </p:nvSpPr>
        <p:spPr/>
        <p:txBody>
          <a:bodyPr/>
          <a:lstStyle/>
          <a:p>
            <a:r>
              <a:rPr lang="en-IN" b="1" dirty="0"/>
              <a:t>Key Takeaways</a:t>
            </a:r>
          </a:p>
          <a:p>
            <a:endParaRPr lang="en-IN" dirty="0"/>
          </a:p>
        </p:txBody>
      </p:sp>
      <p:sp>
        <p:nvSpPr>
          <p:cNvPr id="4" name="Rectangle 1">
            <a:extLst>
              <a:ext uri="{FF2B5EF4-FFF2-40B4-BE49-F238E27FC236}">
                <a16:creationId xmlns:a16="http://schemas.microsoft.com/office/drawing/2014/main" id="{B7529A98-8766-CE98-B760-7DB8D559E51D}"/>
              </a:ext>
            </a:extLst>
          </p:cNvPr>
          <p:cNvSpPr>
            <a:spLocks noGrp="1" noChangeArrowheads="1"/>
          </p:cNvSpPr>
          <p:nvPr>
            <p:ph idx="1"/>
          </p:nvPr>
        </p:nvSpPr>
        <p:spPr bwMode="auto">
          <a:xfrm>
            <a:off x="406400" y="1437799"/>
            <a:ext cx="1088390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 release is not the finish line—it is the starting point for measuring impact.</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Measure both </a:t>
            </a:r>
            <a:r>
              <a:rPr kumimoji="0" lang="en-US" altLang="en-US" sz="1800" b="1" i="0" u="none" strike="noStrike" cap="none" normalizeH="0" baseline="0" dirty="0">
                <a:ln>
                  <a:noFill/>
                </a:ln>
                <a:solidFill>
                  <a:schemeClr val="tx1"/>
                </a:solidFill>
                <a:effectLst/>
                <a:latin typeface="Arial" panose="020B0604020202020204" pitchFamily="34" charset="0"/>
              </a:rPr>
              <a:t>customer outcomes</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business outcomes</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Choose KPIs that align with your product objectives.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 customer feedback and analytics together to drive future decisions.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Continuously improve based on evidence, not assumptions. </a:t>
            </a:r>
          </a:p>
        </p:txBody>
      </p:sp>
    </p:spTree>
    <p:extLst>
      <p:ext uri="{BB962C8B-B14F-4D97-AF65-F5344CB8AC3E}">
        <p14:creationId xmlns:p14="http://schemas.microsoft.com/office/powerpoint/2010/main" val="30205381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wrap="square"/>
          <a:lstStyle/>
          <a:p>
            <a:r>
              <a:rPr sz="2600" b="1">
                <a:solidFill>
                  <a:srgbClr val="003352"/>
                </a:solidFill>
                <a:latin typeface="Century Gothic"/>
              </a:rPr>
              <a:t>Capstone: 25 minutes, teams of four</a:t>
            </a:r>
          </a:p>
        </p:txBody>
      </p:sp>
      <p:sp>
        <p:nvSpPr>
          <p:cNvPr id="4" name="Rounded Rectangle 3"/>
          <p:cNvSpPr/>
          <p:nvPr/>
        </p:nvSpPr>
        <p:spPr>
          <a:xfrm>
            <a:off x="502920" y="1371600"/>
            <a:ext cx="1591056" cy="292608"/>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ctr"/>
            <a:r>
              <a:rPr sz="1000" b="1" i="0">
                <a:solidFill>
                  <a:srgbClr val="003352"/>
                </a:solidFill>
                <a:latin typeface="Century Gothic"/>
              </a:rPr>
              <a:t>WORKSHOP</a:t>
            </a:r>
          </a:p>
        </p:txBody>
      </p:sp>
      <p:sp>
        <p:nvSpPr>
          <p:cNvPr id="5" name="Rounded Rectangle 4"/>
          <p:cNvSpPr/>
          <p:nvPr/>
        </p:nvSpPr>
        <p:spPr>
          <a:xfrm>
            <a:off x="502920" y="1874519"/>
            <a:ext cx="11201400" cy="493776"/>
          </a:xfrm>
          <a:prstGeom prst="roundRect">
            <a:avLst>
              <a:gd name="adj" fmla="val 10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ounded Rectangle 5"/>
          <p:cNvSpPr/>
          <p:nvPr/>
        </p:nvSpPr>
        <p:spPr>
          <a:xfrm>
            <a:off x="649224" y="1965960"/>
            <a:ext cx="777240" cy="310896"/>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i="0">
                <a:solidFill>
                  <a:srgbClr val="003352"/>
                </a:solidFill>
                <a:latin typeface="Century Gothic"/>
              </a:rPr>
              <a:t>2 min</a:t>
            </a:r>
          </a:p>
        </p:txBody>
      </p:sp>
      <p:sp>
        <p:nvSpPr>
          <p:cNvPr id="7" name="TextBox 6"/>
          <p:cNvSpPr txBox="1"/>
          <p:nvPr/>
        </p:nvSpPr>
        <p:spPr>
          <a:xfrm>
            <a:off x="1554480" y="1929384"/>
            <a:ext cx="4434840" cy="384048"/>
          </a:xfrm>
          <a:prstGeom prst="rect">
            <a:avLst/>
          </a:prstGeom>
          <a:noFill/>
        </p:spPr>
        <p:txBody>
          <a:bodyPr wrap="square" lIns="0" tIns="0" rIns="0" bIns="0" anchor="ctr">
            <a:spAutoFit/>
          </a:bodyPr>
          <a:lstStyle/>
          <a:p>
            <a:pPr algn="l">
              <a:spcBef>
                <a:spcPts val="0"/>
              </a:spcBef>
              <a:spcAft>
                <a:spcPts val="400"/>
              </a:spcAft>
            </a:pPr>
            <a:r>
              <a:rPr sz="1250" b="1" i="0">
                <a:solidFill>
                  <a:srgbClr val="003352"/>
                </a:solidFill>
                <a:latin typeface="Century Gothic"/>
              </a:rPr>
              <a:t>Pick a product every one of you uses</a:t>
            </a:r>
          </a:p>
        </p:txBody>
      </p:sp>
      <p:sp>
        <p:nvSpPr>
          <p:cNvPr id="8" name="TextBox 7"/>
          <p:cNvSpPr txBox="1"/>
          <p:nvPr/>
        </p:nvSpPr>
        <p:spPr>
          <a:xfrm>
            <a:off x="6172200" y="1929384"/>
            <a:ext cx="5349240" cy="384048"/>
          </a:xfrm>
          <a:prstGeom prst="rect">
            <a:avLst/>
          </a:prstGeom>
          <a:noFill/>
        </p:spPr>
        <p:txBody>
          <a:bodyPr wrap="square" lIns="0" tIns="0" rIns="0" bIns="0" anchor="ctr">
            <a:spAutoFit/>
          </a:bodyPr>
          <a:lstStyle/>
          <a:p>
            <a:pPr algn="l">
              <a:spcBef>
                <a:spcPts val="0"/>
              </a:spcBef>
              <a:spcAft>
                <a:spcPts val="400"/>
              </a:spcAft>
            </a:pPr>
            <a:r>
              <a:rPr sz="1150" b="0" i="0">
                <a:solidFill>
                  <a:srgbClr val="536B7A"/>
                </a:solidFill>
                <a:latin typeface="Century Gothic"/>
              </a:rPr>
              <a:t>No company confidential work. Something with a real user you can argue about.</a:t>
            </a:r>
          </a:p>
        </p:txBody>
      </p:sp>
      <p:sp>
        <p:nvSpPr>
          <p:cNvPr id="9" name="Rounded Rectangle 8"/>
          <p:cNvSpPr/>
          <p:nvPr/>
        </p:nvSpPr>
        <p:spPr>
          <a:xfrm>
            <a:off x="502920" y="2441448"/>
            <a:ext cx="11201400" cy="49377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ounded Rectangle 9"/>
          <p:cNvSpPr/>
          <p:nvPr/>
        </p:nvSpPr>
        <p:spPr>
          <a:xfrm>
            <a:off x="649224" y="2532888"/>
            <a:ext cx="777240" cy="310896"/>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i="0">
                <a:solidFill>
                  <a:srgbClr val="003352"/>
                </a:solidFill>
                <a:latin typeface="Century Gothic"/>
              </a:rPr>
              <a:t>5 min</a:t>
            </a:r>
          </a:p>
        </p:txBody>
      </p:sp>
      <p:sp>
        <p:nvSpPr>
          <p:cNvPr id="11" name="TextBox 10"/>
          <p:cNvSpPr txBox="1"/>
          <p:nvPr/>
        </p:nvSpPr>
        <p:spPr>
          <a:xfrm>
            <a:off x="1554480" y="2496312"/>
            <a:ext cx="4434840" cy="384048"/>
          </a:xfrm>
          <a:prstGeom prst="rect">
            <a:avLst/>
          </a:prstGeom>
          <a:noFill/>
        </p:spPr>
        <p:txBody>
          <a:bodyPr wrap="square" lIns="0" tIns="0" rIns="0" bIns="0" anchor="ctr">
            <a:spAutoFit/>
          </a:bodyPr>
          <a:lstStyle/>
          <a:p>
            <a:pPr algn="l">
              <a:spcBef>
                <a:spcPts val="0"/>
              </a:spcBef>
              <a:spcAft>
                <a:spcPts val="400"/>
              </a:spcAft>
            </a:pPr>
            <a:r>
              <a:rPr sz="1250" b="1" i="0">
                <a:solidFill>
                  <a:srgbClr val="003352"/>
                </a:solidFill>
                <a:latin typeface="Century Gothic"/>
              </a:rPr>
              <a:t>Write one problem statement</a:t>
            </a:r>
          </a:p>
        </p:txBody>
      </p:sp>
      <p:sp>
        <p:nvSpPr>
          <p:cNvPr id="12" name="TextBox 11"/>
          <p:cNvSpPr txBox="1"/>
          <p:nvPr/>
        </p:nvSpPr>
        <p:spPr>
          <a:xfrm>
            <a:off x="6172200" y="2496312"/>
            <a:ext cx="5349240" cy="384048"/>
          </a:xfrm>
          <a:prstGeom prst="rect">
            <a:avLst/>
          </a:prstGeom>
          <a:noFill/>
        </p:spPr>
        <p:txBody>
          <a:bodyPr wrap="square" lIns="0" tIns="0" rIns="0" bIns="0" anchor="ctr">
            <a:spAutoFit/>
          </a:bodyPr>
          <a:lstStyle/>
          <a:p>
            <a:pPr algn="l">
              <a:spcBef>
                <a:spcPts val="0"/>
              </a:spcBef>
              <a:spcAft>
                <a:spcPts val="400"/>
              </a:spcAft>
            </a:pPr>
            <a:r>
              <a:rPr sz="1150" b="0" i="0">
                <a:solidFill>
                  <a:srgbClr val="536B7A"/>
                </a:solidFill>
                <a:latin typeface="Century Gothic"/>
              </a:rPr>
              <a:t>Who has it, what happens, how often, how bad. No solutions allowed in this box.</a:t>
            </a:r>
          </a:p>
        </p:txBody>
      </p:sp>
      <p:sp>
        <p:nvSpPr>
          <p:cNvPr id="13" name="Rounded Rectangle 12"/>
          <p:cNvSpPr/>
          <p:nvPr/>
        </p:nvSpPr>
        <p:spPr>
          <a:xfrm>
            <a:off x="502920" y="3008376"/>
            <a:ext cx="11201400" cy="493776"/>
          </a:xfrm>
          <a:prstGeom prst="roundRect">
            <a:avLst>
              <a:gd name="adj" fmla="val 10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ounded Rectangle 13"/>
          <p:cNvSpPr/>
          <p:nvPr/>
        </p:nvSpPr>
        <p:spPr>
          <a:xfrm>
            <a:off x="649224" y="3099816"/>
            <a:ext cx="777240" cy="310896"/>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i="0">
                <a:solidFill>
                  <a:srgbClr val="003352"/>
                </a:solidFill>
                <a:latin typeface="Century Gothic"/>
              </a:rPr>
              <a:t>8 min</a:t>
            </a:r>
          </a:p>
        </p:txBody>
      </p:sp>
      <p:sp>
        <p:nvSpPr>
          <p:cNvPr id="15" name="TextBox 14"/>
          <p:cNvSpPr txBox="1"/>
          <p:nvPr/>
        </p:nvSpPr>
        <p:spPr>
          <a:xfrm>
            <a:off x="1554480" y="3063240"/>
            <a:ext cx="4434840" cy="384048"/>
          </a:xfrm>
          <a:prstGeom prst="rect">
            <a:avLst/>
          </a:prstGeom>
          <a:noFill/>
        </p:spPr>
        <p:txBody>
          <a:bodyPr wrap="square" lIns="0" tIns="0" rIns="0" bIns="0" anchor="ctr">
            <a:spAutoFit/>
          </a:bodyPr>
          <a:lstStyle/>
          <a:p>
            <a:pPr algn="l">
              <a:spcBef>
                <a:spcPts val="0"/>
              </a:spcBef>
              <a:spcAft>
                <a:spcPts val="400"/>
              </a:spcAft>
            </a:pPr>
            <a:r>
              <a:rPr sz="1250" b="1" i="0">
                <a:solidFill>
                  <a:srgbClr val="003352"/>
                </a:solidFill>
                <a:latin typeface="Century Gothic"/>
              </a:rPr>
              <a:t>Write three user stories</a:t>
            </a:r>
          </a:p>
        </p:txBody>
      </p:sp>
      <p:sp>
        <p:nvSpPr>
          <p:cNvPr id="16" name="TextBox 15"/>
          <p:cNvSpPr txBox="1"/>
          <p:nvPr/>
        </p:nvSpPr>
        <p:spPr>
          <a:xfrm>
            <a:off x="6172200" y="3063240"/>
            <a:ext cx="5349240" cy="384048"/>
          </a:xfrm>
          <a:prstGeom prst="rect">
            <a:avLst/>
          </a:prstGeom>
          <a:noFill/>
        </p:spPr>
        <p:txBody>
          <a:bodyPr wrap="square" lIns="0" tIns="0" rIns="0" bIns="0" anchor="ctr">
            <a:spAutoFit/>
          </a:bodyPr>
          <a:lstStyle/>
          <a:p>
            <a:pPr algn="l">
              <a:spcBef>
                <a:spcPts val="0"/>
              </a:spcBef>
              <a:spcAft>
                <a:spcPts val="400"/>
              </a:spcAft>
            </a:pPr>
            <a:r>
              <a:rPr sz="1150" b="0" i="0">
                <a:solidFill>
                  <a:srgbClr val="536B7A"/>
                </a:solidFill>
                <a:latin typeface="Century Gothic"/>
              </a:rPr>
              <a:t>As a… / I want… / so that…  Give one of them full acceptance criteria, including the empty and error states.</a:t>
            </a:r>
          </a:p>
        </p:txBody>
      </p:sp>
      <p:sp>
        <p:nvSpPr>
          <p:cNvPr id="17" name="Rounded Rectangle 16"/>
          <p:cNvSpPr/>
          <p:nvPr/>
        </p:nvSpPr>
        <p:spPr>
          <a:xfrm>
            <a:off x="502920" y="3575303"/>
            <a:ext cx="11201400" cy="49377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ounded Rectangle 17"/>
          <p:cNvSpPr/>
          <p:nvPr/>
        </p:nvSpPr>
        <p:spPr>
          <a:xfrm>
            <a:off x="649224" y="3666744"/>
            <a:ext cx="777240" cy="310896"/>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i="0">
                <a:solidFill>
                  <a:srgbClr val="003352"/>
                </a:solidFill>
                <a:latin typeface="Century Gothic"/>
              </a:rPr>
              <a:t>5 min</a:t>
            </a:r>
          </a:p>
        </p:txBody>
      </p:sp>
      <p:sp>
        <p:nvSpPr>
          <p:cNvPr id="19" name="TextBox 18"/>
          <p:cNvSpPr txBox="1"/>
          <p:nvPr/>
        </p:nvSpPr>
        <p:spPr>
          <a:xfrm>
            <a:off x="1554480" y="3630168"/>
            <a:ext cx="4434840" cy="384048"/>
          </a:xfrm>
          <a:prstGeom prst="rect">
            <a:avLst/>
          </a:prstGeom>
          <a:noFill/>
        </p:spPr>
        <p:txBody>
          <a:bodyPr wrap="square" lIns="0" tIns="0" rIns="0" bIns="0" anchor="ctr">
            <a:spAutoFit/>
          </a:bodyPr>
          <a:lstStyle/>
          <a:p>
            <a:pPr algn="l">
              <a:spcBef>
                <a:spcPts val="0"/>
              </a:spcBef>
              <a:spcAft>
                <a:spcPts val="400"/>
              </a:spcAft>
            </a:pPr>
            <a:r>
              <a:rPr sz="1250" b="1" i="0">
                <a:solidFill>
                  <a:srgbClr val="003352"/>
                </a:solidFill>
                <a:latin typeface="Century Gothic"/>
              </a:rPr>
              <a:t>Score them with RICE</a:t>
            </a:r>
          </a:p>
        </p:txBody>
      </p:sp>
      <p:sp>
        <p:nvSpPr>
          <p:cNvPr id="20" name="TextBox 19"/>
          <p:cNvSpPr txBox="1"/>
          <p:nvPr/>
        </p:nvSpPr>
        <p:spPr>
          <a:xfrm>
            <a:off x="6172200" y="3630168"/>
            <a:ext cx="5349240" cy="384048"/>
          </a:xfrm>
          <a:prstGeom prst="rect">
            <a:avLst/>
          </a:prstGeom>
          <a:noFill/>
        </p:spPr>
        <p:txBody>
          <a:bodyPr wrap="square" lIns="0" tIns="0" rIns="0" bIns="0" anchor="ctr">
            <a:spAutoFit/>
          </a:bodyPr>
          <a:lstStyle/>
          <a:p>
            <a:pPr algn="l">
              <a:spcBef>
                <a:spcPts val="0"/>
              </a:spcBef>
              <a:spcAft>
                <a:spcPts val="400"/>
              </a:spcAft>
            </a:pPr>
            <a:r>
              <a:rPr sz="1150" b="0" i="0">
                <a:solidFill>
                  <a:srgbClr val="536B7A"/>
                </a:solidFill>
                <a:latin typeface="Century Gothic"/>
              </a:rPr>
              <a:t>Say your Reach assumption out loud. Someone else in the team must challenge it.</a:t>
            </a:r>
          </a:p>
        </p:txBody>
      </p:sp>
      <p:sp>
        <p:nvSpPr>
          <p:cNvPr id="21" name="Rounded Rectangle 20"/>
          <p:cNvSpPr/>
          <p:nvPr/>
        </p:nvSpPr>
        <p:spPr>
          <a:xfrm>
            <a:off x="502920" y="4142231"/>
            <a:ext cx="11201400" cy="493776"/>
          </a:xfrm>
          <a:prstGeom prst="roundRect">
            <a:avLst>
              <a:gd name="adj" fmla="val 10000"/>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ounded Rectangle 21"/>
          <p:cNvSpPr/>
          <p:nvPr/>
        </p:nvSpPr>
        <p:spPr>
          <a:xfrm>
            <a:off x="649224" y="4233671"/>
            <a:ext cx="777240" cy="310896"/>
          </a:xfrm>
          <a:prstGeom prst="roundRect">
            <a:avLst>
              <a:gd name="adj" fmla="val 50000"/>
            </a:avLst>
          </a:prstGeom>
          <a:solidFill>
            <a:srgbClr val="63E7A4"/>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00" b="1" i="0">
                <a:solidFill>
                  <a:srgbClr val="003352"/>
                </a:solidFill>
                <a:latin typeface="Century Gothic"/>
              </a:rPr>
              <a:t>5 min</a:t>
            </a:r>
          </a:p>
        </p:txBody>
      </p:sp>
      <p:sp>
        <p:nvSpPr>
          <p:cNvPr id="23" name="TextBox 22"/>
          <p:cNvSpPr txBox="1"/>
          <p:nvPr/>
        </p:nvSpPr>
        <p:spPr>
          <a:xfrm>
            <a:off x="1554480" y="4197095"/>
            <a:ext cx="4434840" cy="384048"/>
          </a:xfrm>
          <a:prstGeom prst="rect">
            <a:avLst/>
          </a:prstGeom>
          <a:noFill/>
        </p:spPr>
        <p:txBody>
          <a:bodyPr wrap="square" lIns="0" tIns="0" rIns="0" bIns="0" anchor="ctr">
            <a:spAutoFit/>
          </a:bodyPr>
          <a:lstStyle/>
          <a:p>
            <a:pPr algn="l">
              <a:spcBef>
                <a:spcPts val="0"/>
              </a:spcBef>
              <a:spcAft>
                <a:spcPts val="400"/>
              </a:spcAft>
            </a:pPr>
            <a:r>
              <a:rPr sz="1250" b="1" i="0">
                <a:solidFill>
                  <a:srgbClr val="003352"/>
                </a:solidFill>
                <a:latin typeface="Century Gothic"/>
              </a:rPr>
              <a:t>Name one success and one guardrail metric</a:t>
            </a:r>
          </a:p>
        </p:txBody>
      </p:sp>
      <p:sp>
        <p:nvSpPr>
          <p:cNvPr id="24" name="TextBox 23"/>
          <p:cNvSpPr txBox="1"/>
          <p:nvPr/>
        </p:nvSpPr>
        <p:spPr>
          <a:xfrm>
            <a:off x="6172200" y="4197095"/>
            <a:ext cx="5349240" cy="384048"/>
          </a:xfrm>
          <a:prstGeom prst="rect">
            <a:avLst/>
          </a:prstGeom>
          <a:noFill/>
        </p:spPr>
        <p:txBody>
          <a:bodyPr wrap="square" lIns="0" tIns="0" rIns="0" bIns="0" anchor="ctr">
            <a:spAutoFit/>
          </a:bodyPr>
          <a:lstStyle/>
          <a:p>
            <a:pPr algn="l">
              <a:spcBef>
                <a:spcPts val="0"/>
              </a:spcBef>
              <a:spcAft>
                <a:spcPts val="400"/>
              </a:spcAft>
            </a:pPr>
            <a:r>
              <a:rPr sz="1150" b="0" i="0">
                <a:solidFill>
                  <a:srgbClr val="536B7A"/>
                </a:solidFill>
                <a:latin typeface="Century Gothic"/>
              </a:rPr>
              <a:t>And say how you would instrument each of them before release.</a:t>
            </a:r>
          </a:p>
        </p:txBody>
      </p:sp>
      <p:sp>
        <p:nvSpPr>
          <p:cNvPr id="25" name="Rounded Rectangle 24"/>
          <p:cNvSpPr/>
          <p:nvPr/>
        </p:nvSpPr>
        <p:spPr>
          <a:xfrm>
            <a:off x="502920" y="4892040"/>
            <a:ext cx="11201400" cy="658368"/>
          </a:xfrm>
          <a:prstGeom prst="roundRect">
            <a:avLst>
              <a:gd name="adj" fmla="val 10000"/>
            </a:avLst>
          </a:prstGeom>
          <a:solidFill>
            <a:srgbClr val="003352"/>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54864" rIns="201168" bIns="54864" rtlCol="0" anchor="ctr"/>
          <a:lstStyle/>
          <a:p>
            <a:r>
              <a:rPr sz="1300" b="1" i="0">
                <a:solidFill>
                  <a:srgbClr val="FFFFFF"/>
                </a:solidFill>
                <a:latin typeface="Century Gothic"/>
              </a:rPr>
              <a:t>Two minutes per team to present. The room's only job while they present is to attack the assumptions — not the idea.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507BA72441AEE45A3CAE1ADD5070980" ma:contentTypeVersion="7" ma:contentTypeDescription="Create a new document." ma:contentTypeScope="" ma:versionID="257639c9bae52cceea61322fecbfd23b">
  <xsd:schema xmlns:xsd="http://www.w3.org/2001/XMLSchema" xmlns:xs="http://www.w3.org/2001/XMLSchema" xmlns:p="http://schemas.microsoft.com/office/2006/metadata/properties" xmlns:ns2="2723f1bc-7802-4c44-b827-a549654b530e" targetNamespace="http://schemas.microsoft.com/office/2006/metadata/properties" ma:root="true" ma:fieldsID="146ed545e40a9bf03aef0bb26930a53e" ns2:_="">
    <xsd:import namespace="2723f1bc-7802-4c44-b827-a549654b530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23f1bc-7802-4c44-b827-a549654b53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CC1CE97-337D-451F-96F2-86929EB74173}"/>
</file>

<file path=customXml/itemProps2.xml><?xml version="1.0" encoding="utf-8"?>
<ds:datastoreItem xmlns:ds="http://schemas.openxmlformats.org/officeDocument/2006/customXml" ds:itemID="{491B8A42-D572-4AAC-9A04-ACBEA576A747}"/>
</file>

<file path=customXml/itemProps3.xml><?xml version="1.0" encoding="utf-8"?>
<ds:datastoreItem xmlns:ds="http://schemas.openxmlformats.org/officeDocument/2006/customXml" ds:itemID="{E38A2B98-C03B-416B-9DF6-4652B2CF526B}"/>
</file>

<file path=docProps/app.xml><?xml version="1.0" encoding="utf-8"?>
<Properties xmlns="http://schemas.openxmlformats.org/officeDocument/2006/extended-properties" xmlns:vt="http://schemas.openxmlformats.org/officeDocument/2006/docPropsVTypes">
  <TotalTime>354</TotalTime>
  <Words>11973</Words>
  <Application>Microsoft Office PowerPoint</Application>
  <PresentationFormat>Widescreen</PresentationFormat>
  <Paragraphs>1435</Paragraphs>
  <Slides>98</Slides>
  <Notes>34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98</vt:i4>
      </vt:variant>
    </vt:vector>
  </HeadingPairs>
  <TitlesOfParts>
    <vt:vector size="104" baseType="lpstr">
      <vt:lpstr>Aptos</vt:lpstr>
      <vt:lpstr>Aptos Display</vt:lpstr>
      <vt:lpstr>Arial</vt:lpstr>
      <vt:lpstr>Century Gothic</vt:lpstr>
      <vt:lpstr>Google Sans Flex</vt:lpstr>
      <vt:lpstr>Office Theme</vt:lpstr>
      <vt:lpstr>BITS Pilani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Types of Releases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Madhu Venkat</dc:creator>
  <cp:lastModifiedBy>Madhu Venkat</cp:lastModifiedBy>
  <cp:revision>55</cp:revision>
  <dcterms:created xsi:type="dcterms:W3CDTF">2026-08-02T04:49:33Z</dcterms:created>
  <dcterms:modified xsi:type="dcterms:W3CDTF">2026-08-16T07:34:31Z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0x0101008507BA72441AEE45A3CAE1ADD5070980</vt:lpwstr>
  </property>
</Properties>
</file>