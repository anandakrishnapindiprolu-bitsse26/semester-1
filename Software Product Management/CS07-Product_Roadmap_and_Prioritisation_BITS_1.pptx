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10.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presentation.xml" ContentType="application/vnd.openxmlformats-officedocument.presentationml.presentation.main+xml"/>
  <Override PartName="/ppt/slides/slide53.xml" ContentType="application/vnd.openxmlformats-officedocument.presentationml.slid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11.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47.xml" ContentType="application/vnd.openxmlformats-officedocument.presentationml.notes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charts/chart5.xml" ContentType="application/vnd.openxmlformats-officedocument.drawingml.chart+xml"/>
  <Override PartName="/ppt/notesMasters/notesMaster1.xml" ContentType="application/vnd.openxmlformats-officedocument.presentationml.notesMaster+xml"/>
  <Override PartName="/ppt/theme/theme1.xml" ContentType="application/vnd.openxmlformats-officedocument.theme+xml"/>
  <Override PartName="/ppt/charts/chart4.xml" ContentType="application/vnd.openxmlformats-officedocument.drawingml.chart+xml"/>
  <Override PartName="/ppt/charts/chart3.xml" ContentType="application/vnd.openxmlformats-officedocument.drawingml.chart+xml"/>
  <Override PartName="/ppt/charts/chart2.xml" ContentType="application/vnd.openxmlformats-officedocument.drawingml.chart+xml"/>
  <Override PartName="/ppt/charts/chart1.xml" ContentType="application/vnd.openxmlformats-officedocument.drawingml.chart+xml"/>
  <Override PartName="/ppt/theme/theme5.xml" ContentType="application/vnd.openxmlformats-officedocument.theme+xml"/>
  <Override PartName="/ppt/theme/theme4.xml" ContentType="application/vnd.openxmlformats-officedocument.theme+xml"/>
  <Override PartName="/ppt/theme/theme3.xml" ContentType="application/vnd.openxmlformats-officedocument.theme+xml"/>
  <Override PartName="/ppt/theme/theme2.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2" r:id="rId2"/>
    <p:sldMasterId id="2147483675" r:id="rId3"/>
    <p:sldMasterId id="2147483688" r:id="rId4"/>
  </p:sldMasterIdLst>
  <p:notesMasterIdLst>
    <p:notesMasterId r:id="rId61"/>
  </p:notesMasterIdLst>
  <p:sldIdLst>
    <p:sldId id="256" r:id="rId5"/>
    <p:sldId id="257" r:id="rId6"/>
    <p:sldId id="258" r:id="rId7"/>
    <p:sldId id="259" r:id="rId8"/>
    <p:sldId id="260" r:id="rId9"/>
    <p:sldId id="261" r:id="rId10"/>
    <p:sldId id="262" r:id="rId11"/>
    <p:sldId id="263" r:id="rId12"/>
    <p:sldId id="264" r:id="rId13"/>
    <p:sldId id="265" r:id="rId14"/>
    <p:sldId id="266"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277" autoAdjust="0"/>
    <p:restoredTop sz="94437" autoAdjust="0"/>
  </p:normalViewPr>
  <p:slideViewPr>
    <p:cSldViewPr snapToGrid="0">
      <p:cViewPr varScale="1">
        <p:scale>
          <a:sx n="101" d="100"/>
          <a:sy n="101" d="100"/>
        </p:scale>
        <p:origin x="41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viewProps" Target="viewProps.xml"/><Relationship Id="rId68" Type="http://schemas.openxmlformats.org/officeDocument/2006/relationships/customXml" Target="../customXml/item3.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customXml" Target="../customXml/item1.xml"/><Relationship Id="rId5" Type="http://schemas.openxmlformats.org/officeDocument/2006/relationships/slide" Target="slides/slide1.xml"/><Relationship Id="rId61" Type="http://schemas.openxmlformats.org/officeDocument/2006/relationships/notesMaster" Target="notesMasters/notesMaster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customXml" Target="../customXml/item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s</c:v>
                </c:pt>
              </c:strCache>
            </c:strRef>
          </c:tx>
          <c:spPr>
            <a:ln w="38100">
              <a:solidFill>
                <a:srgbClr val="211D71"/>
              </a:solidFill>
            </a:ln>
          </c:spPr>
          <c:marker>
            <c:symbol val="none"/>
          </c:marker>
          <c:cat>
            <c:strRef>
              <c:f>Sheet1!$A$2:$A$7</c:f>
              <c:strCache>
                <c:ptCount val="6"/>
                <c:pt idx="0">
                  <c:v>0</c:v>
                </c:pt>
                <c:pt idx="1">
                  <c:v>1</c:v>
                </c:pt>
                <c:pt idx="2">
                  <c:v>2</c:v>
                </c:pt>
                <c:pt idx="3">
                  <c:v>3</c:v>
                </c:pt>
                <c:pt idx="4">
                  <c:v>4</c:v>
                </c:pt>
                <c:pt idx="5">
                  <c:v>5</c:v>
                </c:pt>
              </c:strCache>
            </c:strRef>
          </c:cat>
          <c:val>
            <c:numRef>
              <c:f>Sheet1!$B$2:$B$7</c:f>
              <c:numCache>
                <c:formatCode>General</c:formatCode>
                <c:ptCount val="6"/>
                <c:pt idx="0">
                  <c:v>100</c:v>
                </c:pt>
                <c:pt idx="1">
                  <c:v>88</c:v>
                </c:pt>
                <c:pt idx="2">
                  <c:v>74</c:v>
                </c:pt>
                <c:pt idx="3">
                  <c:v>60</c:v>
                </c:pt>
                <c:pt idx="4">
                  <c:v>44</c:v>
                </c:pt>
                <c:pt idx="5">
                  <c:v>30</c:v>
                </c:pt>
              </c:numCache>
            </c:numRef>
          </c:val>
          <c:smooth val="0"/>
          <c:extLst>
            <c:ext xmlns:c16="http://schemas.microsoft.com/office/drawing/2014/chart" uri="{C3380CC4-5D6E-409C-BE32-E72D297353CC}">
              <c16:uniqueId val="{00000000-0F8C-4BAF-99E6-180DC1CE0E09}"/>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out"/>
        <c:minorTickMark val="none"/>
        <c:tickLblPos val="nextTo"/>
        <c:spPr>
          <a:ln>
            <a:solidFill>
              <a:srgbClr val="E7E9F5"/>
            </a:solidFill>
          </a:ln>
        </c:spPr>
        <c:txPr>
          <a:bodyPr/>
          <a:lstStyle/>
          <a:p>
            <a:pPr>
              <a:defRPr sz="800">
                <a:solidFill>
                  <a:srgbClr val="5F6178"/>
                </a:solidFill>
                <a:latin typeface="Arial"/>
              </a:defRPr>
            </a:pPr>
            <a:endParaRPr lang="en-US"/>
          </a:p>
        </c:txPr>
        <c:crossAx val="2140495176"/>
        <c:crosses val="autoZero"/>
        <c:auto val="1"/>
        <c:lblAlgn val="ctr"/>
        <c:lblOffset val="100"/>
        <c:noMultiLvlLbl val="0"/>
      </c:catAx>
      <c:valAx>
        <c:axId val="2140495176"/>
        <c:scaling>
          <c:orientation val="minMax"/>
          <c:max val="110"/>
          <c:min val="0"/>
        </c:scaling>
        <c:delete val="1"/>
        <c:axPos val="l"/>
        <c:numFmt formatCode="General" sourceLinked="1"/>
        <c:majorTickMark val="out"/>
        <c:minorTickMark val="none"/>
        <c:tickLblPos val="nextTo"/>
        <c:crossAx val="2118791784"/>
        <c:crosses val="autoZero"/>
        <c:crossBetween val="between"/>
      </c:valAx>
    </c:plotArea>
    <c:plotVisOnly val="1"/>
    <c:dispBlanksAs val="gap"/>
    <c:showDLblsOverMax val="0"/>
  </c:chart>
  <c:txPr>
    <a:bodyPr/>
    <a:lstStyle/>
    <a:p>
      <a:pPr>
        <a:defRPr sz="1800">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s</c:v>
                </c:pt>
              </c:strCache>
            </c:strRef>
          </c:tx>
          <c:spPr>
            <a:ln w="38100">
              <a:solidFill>
                <a:srgbClr val="E31C24"/>
              </a:solidFill>
            </a:ln>
          </c:spPr>
          <c:marker>
            <c:symbol val="none"/>
          </c:marker>
          <c:cat>
            <c:strRef>
              <c:f>Sheet1!$A$2:$A$7</c:f>
              <c:strCache>
                <c:ptCount val="6"/>
                <c:pt idx="0">
                  <c:v>0</c:v>
                </c:pt>
                <c:pt idx="1">
                  <c:v>1</c:v>
                </c:pt>
                <c:pt idx="2">
                  <c:v>2</c:v>
                </c:pt>
                <c:pt idx="3">
                  <c:v>3</c:v>
                </c:pt>
                <c:pt idx="4">
                  <c:v>4</c:v>
                </c:pt>
                <c:pt idx="5">
                  <c:v>5</c:v>
                </c:pt>
              </c:strCache>
            </c:strRef>
          </c:cat>
          <c:val>
            <c:numRef>
              <c:f>Sheet1!$B$2:$B$7</c:f>
              <c:numCache>
                <c:formatCode>General</c:formatCode>
                <c:ptCount val="6"/>
                <c:pt idx="0">
                  <c:v>100</c:v>
                </c:pt>
                <c:pt idx="1">
                  <c:v>100</c:v>
                </c:pt>
                <c:pt idx="2">
                  <c:v>100</c:v>
                </c:pt>
                <c:pt idx="3">
                  <c:v>100</c:v>
                </c:pt>
                <c:pt idx="4">
                  <c:v>12</c:v>
                </c:pt>
                <c:pt idx="5">
                  <c:v>5</c:v>
                </c:pt>
              </c:numCache>
            </c:numRef>
          </c:val>
          <c:smooth val="0"/>
          <c:extLst>
            <c:ext xmlns:c16="http://schemas.microsoft.com/office/drawing/2014/chart" uri="{C3380CC4-5D6E-409C-BE32-E72D297353CC}">
              <c16:uniqueId val="{00000000-8EFE-40E5-B7CC-E8EE1800C9F1}"/>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out"/>
        <c:minorTickMark val="none"/>
        <c:tickLblPos val="nextTo"/>
        <c:spPr>
          <a:ln>
            <a:solidFill>
              <a:srgbClr val="E7E9F5"/>
            </a:solidFill>
          </a:ln>
        </c:spPr>
        <c:txPr>
          <a:bodyPr/>
          <a:lstStyle/>
          <a:p>
            <a:pPr>
              <a:defRPr sz="800">
                <a:solidFill>
                  <a:srgbClr val="5F6178"/>
                </a:solidFill>
                <a:latin typeface="Arial"/>
              </a:defRPr>
            </a:pPr>
            <a:endParaRPr lang="en-US"/>
          </a:p>
        </c:txPr>
        <c:crossAx val="2140495176"/>
        <c:crosses val="autoZero"/>
        <c:auto val="1"/>
        <c:lblAlgn val="ctr"/>
        <c:lblOffset val="100"/>
        <c:noMultiLvlLbl val="0"/>
      </c:catAx>
      <c:valAx>
        <c:axId val="2140495176"/>
        <c:scaling>
          <c:orientation val="minMax"/>
          <c:max val="110"/>
          <c:min val="0"/>
        </c:scaling>
        <c:delete val="1"/>
        <c:axPos val="l"/>
        <c:numFmt formatCode="General" sourceLinked="1"/>
        <c:majorTickMark val="out"/>
        <c:minorTickMark val="none"/>
        <c:tickLblPos val="nextTo"/>
        <c:crossAx val="2118791784"/>
        <c:crosses val="autoZero"/>
        <c:crossBetween val="between"/>
      </c:valAx>
    </c:plotArea>
    <c:plotVisOnly val="1"/>
    <c:dispBlanksAs val="gap"/>
    <c:showDLblsOverMax val="0"/>
  </c:chart>
  <c:txPr>
    <a:bodyPr/>
    <a:lstStyle/>
    <a:p>
      <a:pPr>
        <a:defRPr sz="1800">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s</c:v>
                </c:pt>
              </c:strCache>
            </c:strRef>
          </c:tx>
          <c:spPr>
            <a:ln w="38100">
              <a:solidFill>
                <a:srgbClr val="FCB017"/>
              </a:solidFill>
            </a:ln>
          </c:spPr>
          <c:marker>
            <c:symbol val="none"/>
          </c:marker>
          <c:cat>
            <c:strRef>
              <c:f>Sheet1!$A$2:$A$7</c:f>
              <c:strCache>
                <c:ptCount val="6"/>
                <c:pt idx="0">
                  <c:v>0</c:v>
                </c:pt>
                <c:pt idx="1">
                  <c:v>1</c:v>
                </c:pt>
                <c:pt idx="2">
                  <c:v>2</c:v>
                </c:pt>
                <c:pt idx="3">
                  <c:v>3</c:v>
                </c:pt>
                <c:pt idx="4">
                  <c:v>4</c:v>
                </c:pt>
                <c:pt idx="5">
                  <c:v>5</c:v>
                </c:pt>
              </c:strCache>
            </c:strRef>
          </c:cat>
          <c:val>
            <c:numRef>
              <c:f>Sheet1!$B$2:$B$7</c:f>
              <c:numCache>
                <c:formatCode>General</c:formatCode>
                <c:ptCount val="6"/>
                <c:pt idx="0">
                  <c:v>100</c:v>
                </c:pt>
                <c:pt idx="1">
                  <c:v>95</c:v>
                </c:pt>
                <c:pt idx="2">
                  <c:v>80</c:v>
                </c:pt>
                <c:pt idx="3">
                  <c:v>20</c:v>
                </c:pt>
                <c:pt idx="4">
                  <c:v>5</c:v>
                </c:pt>
                <c:pt idx="5">
                  <c:v>2</c:v>
                </c:pt>
              </c:numCache>
            </c:numRef>
          </c:val>
          <c:smooth val="0"/>
          <c:extLst>
            <c:ext xmlns:c16="http://schemas.microsoft.com/office/drawing/2014/chart" uri="{C3380CC4-5D6E-409C-BE32-E72D297353CC}">
              <c16:uniqueId val="{00000000-2FA1-4336-B72D-B287FD2458EC}"/>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out"/>
        <c:minorTickMark val="none"/>
        <c:tickLblPos val="nextTo"/>
        <c:spPr>
          <a:ln>
            <a:solidFill>
              <a:srgbClr val="E7E9F5"/>
            </a:solidFill>
          </a:ln>
        </c:spPr>
        <c:txPr>
          <a:bodyPr/>
          <a:lstStyle/>
          <a:p>
            <a:pPr>
              <a:defRPr sz="800">
                <a:solidFill>
                  <a:srgbClr val="5F6178"/>
                </a:solidFill>
                <a:latin typeface="Arial"/>
              </a:defRPr>
            </a:pPr>
            <a:endParaRPr lang="en-US"/>
          </a:p>
        </c:txPr>
        <c:crossAx val="2140495176"/>
        <c:crosses val="autoZero"/>
        <c:auto val="1"/>
        <c:lblAlgn val="ctr"/>
        <c:lblOffset val="100"/>
        <c:noMultiLvlLbl val="0"/>
      </c:catAx>
      <c:valAx>
        <c:axId val="2140495176"/>
        <c:scaling>
          <c:orientation val="minMax"/>
          <c:max val="110"/>
          <c:min val="0"/>
        </c:scaling>
        <c:delete val="1"/>
        <c:axPos val="l"/>
        <c:numFmt formatCode="General" sourceLinked="1"/>
        <c:majorTickMark val="out"/>
        <c:minorTickMark val="none"/>
        <c:tickLblPos val="nextTo"/>
        <c:crossAx val="2118791784"/>
        <c:crosses val="autoZero"/>
        <c:crossBetween val="between"/>
      </c:valAx>
    </c:plotArea>
    <c:plotVisOnly val="1"/>
    <c:dispBlanksAs val="gap"/>
    <c:showDLblsOverMax val="0"/>
  </c:chart>
  <c:txPr>
    <a:bodyPr/>
    <a:lstStyle/>
    <a:p>
      <a:pPr>
        <a:defRPr sz="1800">
          <a:latin typeface="Aria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s</c:v>
                </c:pt>
              </c:strCache>
            </c:strRef>
          </c:tx>
          <c:spPr>
            <a:ln w="38100">
              <a:solidFill>
                <a:srgbClr val="76C2E5"/>
              </a:solidFill>
            </a:ln>
          </c:spPr>
          <c:marker>
            <c:symbol val="none"/>
          </c:marker>
          <c:cat>
            <c:strRef>
              <c:f>Sheet1!$A$2:$A$7</c:f>
              <c:strCache>
                <c:ptCount val="6"/>
                <c:pt idx="0">
                  <c:v>0</c:v>
                </c:pt>
                <c:pt idx="1">
                  <c:v>1</c:v>
                </c:pt>
                <c:pt idx="2">
                  <c:v>2</c:v>
                </c:pt>
                <c:pt idx="3">
                  <c:v>3</c:v>
                </c:pt>
                <c:pt idx="4">
                  <c:v>4</c:v>
                </c:pt>
                <c:pt idx="5">
                  <c:v>5</c:v>
                </c:pt>
              </c:strCache>
            </c:strRef>
          </c:cat>
          <c:val>
            <c:numRef>
              <c:f>Sheet1!$B$2:$B$7</c:f>
              <c:numCache>
                <c:formatCode>General</c:formatCode>
                <c:ptCount val="6"/>
                <c:pt idx="0">
                  <c:v>100</c:v>
                </c:pt>
                <c:pt idx="1">
                  <c:v>78</c:v>
                </c:pt>
                <c:pt idx="2">
                  <c:v>55</c:v>
                </c:pt>
                <c:pt idx="3">
                  <c:v>38</c:v>
                </c:pt>
                <c:pt idx="4">
                  <c:v>26</c:v>
                </c:pt>
                <c:pt idx="5">
                  <c:v>18</c:v>
                </c:pt>
              </c:numCache>
            </c:numRef>
          </c:val>
          <c:smooth val="0"/>
          <c:extLst>
            <c:ext xmlns:c16="http://schemas.microsoft.com/office/drawing/2014/chart" uri="{C3380CC4-5D6E-409C-BE32-E72D297353CC}">
              <c16:uniqueId val="{00000000-E1C3-45E3-8897-6D7C1C0EAA71}"/>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out"/>
        <c:minorTickMark val="none"/>
        <c:tickLblPos val="nextTo"/>
        <c:spPr>
          <a:ln>
            <a:solidFill>
              <a:srgbClr val="E7E9F5"/>
            </a:solidFill>
          </a:ln>
        </c:spPr>
        <c:txPr>
          <a:bodyPr/>
          <a:lstStyle/>
          <a:p>
            <a:pPr>
              <a:defRPr sz="800">
                <a:solidFill>
                  <a:srgbClr val="5F6178"/>
                </a:solidFill>
                <a:latin typeface="Arial"/>
              </a:defRPr>
            </a:pPr>
            <a:endParaRPr lang="en-US"/>
          </a:p>
        </c:txPr>
        <c:crossAx val="2140495176"/>
        <c:crosses val="autoZero"/>
        <c:auto val="1"/>
        <c:lblAlgn val="ctr"/>
        <c:lblOffset val="100"/>
        <c:noMultiLvlLbl val="0"/>
      </c:catAx>
      <c:valAx>
        <c:axId val="2140495176"/>
        <c:scaling>
          <c:orientation val="minMax"/>
          <c:max val="110"/>
          <c:min val="0"/>
        </c:scaling>
        <c:delete val="1"/>
        <c:axPos val="l"/>
        <c:numFmt formatCode="General" sourceLinked="1"/>
        <c:majorTickMark val="out"/>
        <c:minorTickMark val="none"/>
        <c:tickLblPos val="nextTo"/>
        <c:crossAx val="2118791784"/>
        <c:crosses val="autoZero"/>
        <c:crossBetween val="between"/>
      </c:valAx>
    </c:plotArea>
    <c:plotVisOnly val="1"/>
    <c:dispBlanksAs val="gap"/>
    <c:showDLblsOverMax val="0"/>
  </c:chart>
  <c:txPr>
    <a:bodyPr/>
    <a:lstStyle/>
    <a:p>
      <a:pPr>
        <a:defRPr sz="1800">
          <a:latin typeface="Aria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s</c:v>
                </c:pt>
              </c:strCache>
            </c:strRef>
          </c:tx>
          <c:invertIfNegative val="1"/>
          <c:dPt>
            <c:idx val="0"/>
            <c:invertIfNegative val="1"/>
            <c:bubble3D val="0"/>
            <c:spPr>
              <a:solidFill>
                <a:srgbClr val="1E7A4C"/>
              </a:solidFill>
              <a:ln>
                <a:noFill/>
              </a:ln>
            </c:spPr>
            <c:extLst>
              <c:ext xmlns:c16="http://schemas.microsoft.com/office/drawing/2014/chart" uri="{C3380CC4-5D6E-409C-BE32-E72D297353CC}">
                <c16:uniqueId val="{00000001-38BB-4B01-9C85-C30A4DEABEB8}"/>
              </c:ext>
            </c:extLst>
          </c:dPt>
          <c:dPt>
            <c:idx val="1"/>
            <c:invertIfNegative val="1"/>
            <c:bubble3D val="0"/>
            <c:spPr>
              <a:solidFill>
                <a:srgbClr val="211D71"/>
              </a:solidFill>
              <a:ln>
                <a:noFill/>
              </a:ln>
            </c:spPr>
            <c:extLst>
              <c:ext xmlns:c16="http://schemas.microsoft.com/office/drawing/2014/chart" uri="{C3380CC4-5D6E-409C-BE32-E72D297353CC}">
                <c16:uniqueId val="{00000003-38BB-4B01-9C85-C30A4DEABEB8}"/>
              </c:ext>
            </c:extLst>
          </c:dPt>
          <c:dPt>
            <c:idx val="2"/>
            <c:invertIfNegative val="1"/>
            <c:bubble3D val="0"/>
            <c:spPr>
              <a:solidFill>
                <a:srgbClr val="211D71"/>
              </a:solidFill>
              <a:ln>
                <a:noFill/>
              </a:ln>
            </c:spPr>
            <c:extLst>
              <c:ext xmlns:c16="http://schemas.microsoft.com/office/drawing/2014/chart" uri="{C3380CC4-5D6E-409C-BE32-E72D297353CC}">
                <c16:uniqueId val="{00000005-38BB-4B01-9C85-C30A4DEABEB8}"/>
              </c:ext>
            </c:extLst>
          </c:dPt>
          <c:dPt>
            <c:idx val="3"/>
            <c:invertIfNegative val="1"/>
            <c:bubble3D val="0"/>
            <c:spPr>
              <a:solidFill>
                <a:srgbClr val="E31C24"/>
              </a:solidFill>
              <a:ln>
                <a:noFill/>
              </a:ln>
            </c:spPr>
            <c:extLst>
              <c:ext xmlns:c16="http://schemas.microsoft.com/office/drawing/2014/chart" uri="{C3380CC4-5D6E-409C-BE32-E72D297353CC}">
                <c16:uniqueId val="{00000007-38BB-4B01-9C85-C30A4DEABEB8}"/>
              </c:ext>
            </c:extLst>
          </c:dPt>
          <c:dLbls>
            <c:spPr>
              <a:noFill/>
              <a:ln>
                <a:noFill/>
              </a:ln>
              <a:effectLst/>
            </c:spPr>
            <c:txPr>
              <a:bodyPr/>
              <a:lstStyle/>
              <a:p>
                <a:pPr>
                  <a:defRPr sz="1100">
                    <a:solidFill>
                      <a:srgbClr val="22223B"/>
                    </a:solidFill>
                    <a:latin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Our order
A-B-C-D</c:v>
                </c:pt>
                <c:pt idx="1">
                  <c:v>Biggest loss first
B-A-C-D</c:v>
                </c:pt>
                <c:pt idx="2">
                  <c:v>Quickest first
A-D-B-C</c:v>
                </c:pt>
                <c:pt idx="3">
                  <c:v>Order they were asked for
C-D-B-A</c:v>
                </c:pt>
              </c:strCache>
            </c:strRef>
          </c:cat>
          <c:val>
            <c:numRef>
              <c:f>Sheet1!$B$2:$B$5</c:f>
              <c:numCache>
                <c:formatCode>General</c:formatCode>
                <c:ptCount val="4"/>
                <c:pt idx="0">
                  <c:v>196</c:v>
                </c:pt>
                <c:pt idx="1">
                  <c:v>212</c:v>
                </c:pt>
                <c:pt idx="2">
                  <c:v>220</c:v>
                </c:pt>
                <c:pt idx="3">
                  <c:v>284</c:v>
                </c:pt>
              </c:numCache>
            </c:numRef>
          </c:val>
          <c:extLst>
            <c:ext xmlns:c16="http://schemas.microsoft.com/office/drawing/2014/chart" uri="{C3380CC4-5D6E-409C-BE32-E72D297353CC}">
              <c16:uniqueId val="{00000008-38BB-4B01-9C85-C30A4DEABEB8}"/>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E7E9F5"/>
            </a:solidFill>
          </a:ln>
        </c:spPr>
        <c:txPr>
          <a:bodyPr/>
          <a:lstStyle/>
          <a:p>
            <a:pPr>
              <a:defRPr sz="850">
                <a:solidFill>
                  <a:srgbClr val="5F6178"/>
                </a:solidFill>
                <a:latin typeface="Arial"/>
              </a:defRPr>
            </a:pPr>
            <a:endParaRPr lang="en-US"/>
          </a:p>
        </c:txPr>
        <c:crossAx val="-2113994440"/>
        <c:crosses val="autoZero"/>
        <c:auto val="1"/>
        <c:lblAlgn val="ctr"/>
        <c:lblOffset val="100"/>
        <c:noMultiLvlLbl val="0"/>
      </c:catAx>
      <c:valAx>
        <c:axId val="-2113994440"/>
        <c:scaling>
          <c:orientation val="minMax"/>
          <c:max val="300"/>
          <c:min val="0"/>
        </c:scaling>
        <c:delete val="0"/>
        <c:axPos val="l"/>
        <c:majorGridlines>
          <c:spPr>
            <a:ln w="9525">
              <a:solidFill>
                <a:srgbClr val="E7E9F5"/>
              </a:solidFill>
            </a:ln>
          </c:spPr>
        </c:majorGridlines>
        <c:numFmt formatCode="General" sourceLinked="1"/>
        <c:majorTickMark val="out"/>
        <c:minorTickMark val="none"/>
        <c:tickLblPos val="nextTo"/>
        <c:spPr>
          <a:ln>
            <a:solidFill>
              <a:srgbClr val="E7E9F5"/>
            </a:solidFill>
          </a:ln>
        </c:spPr>
        <c:txPr>
          <a:bodyPr/>
          <a:lstStyle/>
          <a:p>
            <a:pPr>
              <a:defRPr sz="900">
                <a:solidFill>
                  <a:srgbClr val="5F6178"/>
                </a:solidFill>
                <a:latin typeface="Arial"/>
              </a:defRPr>
            </a:pPr>
            <a:endParaRPr lang="en-US"/>
          </a:p>
        </c:txPr>
        <c:crossAx val="-2068027336"/>
        <c:crosses val="autoZero"/>
        <c:crossBetween val="between"/>
        <c:majorUnit val="100"/>
      </c:valAx>
    </c:plotArea>
    <c:plotVisOnly val="1"/>
    <c:dispBlanksAs val="gap"/>
    <c:showDLblsOverMax val="1"/>
  </c:chart>
  <c:txPr>
    <a:bodyPr/>
    <a:lstStyle/>
    <a:p>
      <a:pPr>
        <a:defRPr sz="1800">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A3F49B-73A8-4D6A-B662-1D98069273A3}" type="datetimeFigureOut">
              <a:rPr lang="en-IN" smtClean="0"/>
              <a:t>06-09-2026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A9767C-618F-4365-971F-E89358573A39}" type="slidenum">
              <a:rPr lang="en-IN" smtClean="0"/>
              <a:t>‹#›</a:t>
            </a:fld>
            <a:endParaRPr lang="en-IN"/>
          </a:p>
        </p:txBody>
      </p:sp>
    </p:spTree>
    <p:extLst>
      <p:ext uri="{BB962C8B-B14F-4D97-AF65-F5344CB8AC3E}">
        <p14:creationId xmlns:p14="http://schemas.microsoft.com/office/powerpoint/2010/main" val="32974824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Fill in the course number, your name and the semester before you present.</a:t>
            </a:r>
          </a:p>
          <a:p>
            <a:endParaRPr/>
          </a:p>
          <a:p>
            <a:r>
              <a:t>Open with a question to the room: your team can build three things this quarter. Twenty people have asked for something. How do you choose?</a:t>
            </a:r>
          </a:p>
          <a:p>
            <a:endParaRPr/>
          </a:p>
          <a:p>
            <a:r>
              <a:t>That is the whole session in one sentence.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Pause here. Let the question sit.</a:t>
            </a:r>
          </a:p>
          <a:p>
            <a:endParaRPr/>
          </a:p>
          <a:p>
            <a:r>
              <a:t>The key phrase is 'with a reason you can show people'. Most teams already make these decisions; they just cannot explain them afterwards. That is what today fixes.</a:t>
            </a:r>
          </a:p>
          <a:p>
            <a:endParaRPr/>
          </a:p>
          <a:p>
            <a:r>
              <a:t>The lunchbox line works well with this audience — ask how they pack for a trip when the bag has a weight limit.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Card 1 is the one to labour. Students arrive thinking prioritisation means picking the valuable things. It does not — everything on the list is valuable, or it would not be on the list.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 these out. Six sentences, no jargon.</a:t>
            </a:r>
          </a:p>
          <a:p>
            <a:endParaRPr/>
          </a:p>
          <a:p>
            <a:r>
              <a:t>Tell them the first three are assessed, so those are the ones to take notes on.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Point out the four red rows — a quarter of the session is them working, not you talking.</a:t>
            </a:r>
          </a:p>
          <a:p>
            <a:endParaRPr/>
          </a:p>
          <a:p>
            <a:r>
              <a:t>Introduce CampusPay now: one example all the way through, so each new tool is applied to something they already understand.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 min mark. Eleven minutes, then they build one.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Show the list, then say: nobody can look at this and tell you what the product is.</a:t>
            </a:r>
          </a:p>
          <a:p>
            <a:endParaRPr/>
          </a:p>
          <a:p>
            <a:r>
              <a:t>Jeff Patton's book User Story Mapping is where this comes from. His observation was that teams wrote perfectly good stories and still shipped incoherent releases, because the list format hid the flow.</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sentences is the whole technique. Say each one slowly and point at the next slide's picture as you go.</a:t>
            </a:r>
          </a:p>
          <a:p>
            <a:endParaRPr/>
          </a:p>
          <a:p>
            <a:r>
              <a:t>If the comic strip does not land, use 'a recipe' — the steps in order across the top, the ingredient options underneath.</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it in this order: the blue row first (the steps), then down one column (the options), then the red line.</a:t>
            </a:r>
          </a:p>
          <a:p>
            <a:endParaRPr/>
          </a:p>
          <a:p>
            <a:r>
              <a:t>The sentence in the dark box is the one that makes it click — read the yellow row aloud as a story about a real student.</a:t>
            </a:r>
          </a:p>
          <a:p>
            <a:endParaRPr/>
          </a:p>
          <a:p>
            <a:r>
              <a:t>The closing line is the exam-worthy rule: a good slice takes one card from every column.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technical name is the 'walking skeleton' — Alistair Cockburn's term. Introduce the name only after the meal analogy has landed.</a:t>
            </a:r>
          </a:p>
          <a:p>
            <a:endParaRPr/>
          </a:p>
          <a:p>
            <a:r>
              <a:t>Manual workarounds are allowed and under-used in release 1. If reconciliation is a staff member with a spreadsheet for eight weeks, the journey still completes and you learn whether anyone wants it before you automate it.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mistake is seductive because it matches how the team is organised — one release per team. Conway's law shows up in release plans as much as in architecture.</a:t>
            </a:r>
          </a:p>
          <a:p>
            <a:endParaRPr/>
          </a:p>
          <a:p>
            <a:r>
              <a:t>The test at the bottom is the sentence to write on the board.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25 min. 90 seconds silent, then hands up per option before you reveal.</a:t>
            </a:r>
          </a:p>
          <a:p>
            <a:endParaRPr/>
          </a:p>
          <a:p>
            <a:r>
              <a:t>Q3 (c) is worth a comment if hands go there — wall versus tool is a preference, not a mistake.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28 min. Do not linger — the bridging sentence is the point.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28 min. Eight minutes. Simple arithmetic, whole numbers only.</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Anthony Ulwick's Outcome-Driven Innovation, but they do not need the name yet.</a:t>
            </a:r>
          </a:p>
          <a:p>
            <a:endParaRPr/>
          </a:p>
          <a:p>
            <a:r>
              <a:t>The four boxes are the entire intuition. Ask for an example of box two from their own products — something they polished that nobody noticed.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sentence shape at the bottom is worth writing on the board: reduce / increase + the thing you measure + what the user is trying to do.</a:t>
            </a:r>
          </a:p>
          <a:p>
            <a:endParaRPr/>
          </a:p>
          <a:p>
            <a:r>
              <a:t>Students routinely write 'better bill splitting', which cannot be measured and therefore cannot be scored.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 one aloud before moving on: important 9, happy 4 → 9 + 5 = 14.</a:t>
            </a:r>
          </a:p>
          <a:p>
            <a:endParaRPr/>
          </a:p>
          <a:p>
            <a:r>
              <a:t>The 'why twice' question always comes. Answer: the second half is the gap, and a gap only matters as much as the thing itself matters.</a:t>
            </a:r>
          </a:p>
          <a:p>
            <a:endParaRPr/>
          </a:p>
          <a:p>
            <a:r>
              <a:t>The bands are conventions, not laws. What matters is ranking within your own set of answers.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 row 1 on the board: 9 + (9 − 2) = 9 + 7 = 16.</a:t>
            </a:r>
          </a:p>
          <a:p>
            <a:endParaRPr/>
          </a:p>
          <a:p>
            <a:r>
              <a:t>The comparison of rows 1 and 4 is the whole lesson — that is why you ask the second question at all.</a:t>
            </a:r>
          </a:p>
          <a:p>
            <a:endParaRPr/>
          </a:p>
          <a:p>
            <a:r>
              <a:t>Someone will want to write −2 in the last row. Show them the floor at zero.</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36 min. Limitation 1 is the bridge — the missing denominator is exactly what we add next.</a:t>
            </a:r>
          </a:p>
          <a:p>
            <a:endParaRPr/>
          </a:p>
          <a:p>
            <a:r>
              <a:t>Limitation 3 is survivorship bias. If they have churn data at work, the leavers' answers are usually the most useful and the hardest to collect.</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36 min. Nine minutes, then they do the case study. Keep all the numbers small.</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unit is the thing they get wrong. Say 'per week' twice.</a:t>
            </a:r>
          </a:p>
          <a:p>
            <a:endParaRPr/>
          </a:p>
          <a:p>
            <a:r>
              <a:t>This is Donald Reinertsen's idea, from The Principles of Product Development Flow. His finding was that teams could estimate cost of delay within a factor of two after an hour's work, while the spread between backlog items was often ten times.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 this on the board with them, slowly. It is the moment the whole section turns on.</a:t>
            </a:r>
          </a:p>
          <a:p>
            <a:endParaRPr/>
          </a:p>
          <a:p>
            <a:r>
              <a:t>The key insight: while job one is being built, job two is still losing money. So a long job at the front makes everything behind it pay.</a:t>
            </a:r>
          </a:p>
          <a:p>
            <a:endParaRPr/>
          </a:p>
          <a:p>
            <a:r>
              <a:t>The supermarket queue analogy is the one they will remember in six months.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Card 4 is Reinertsen's central economic argument, in one line. Small batches are not a fashion; they score higher on the same sum.</a:t>
            </a:r>
          </a:p>
          <a:p>
            <a:endParaRPr/>
          </a:p>
          <a:p>
            <a:r>
              <a:t>The caveat matters — do not oversell CD3 as universal. It orders an independent queue optimally, nothing more.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Ask which shape a regulatory item follows, then ask what happens if you rank it by today's cost of delay. Answer: it sits at the bottom, because today it costs nothing.</a:t>
            </a:r>
          </a:p>
          <a:p>
            <a:endParaRPr/>
          </a:p>
          <a:p>
            <a:r>
              <a:t>Practical tip: pick the shape first, then the number. Business stakeholders argue productively about which curve it is and unproductively about rupees.</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 min. WSJF is the Scaled Agile Framework's simplification of CD3.</a:t>
            </a:r>
          </a:p>
          <a:p>
            <a:endParaRPr/>
          </a:p>
          <a:p>
            <a:r>
              <a:t>One practical scoring rule: give the smallest item in each column a 1, then score everything relative to it, column by column. Scoring a whole row at once smuggles in a gut ranking.</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 min. Six minutes on the first two questions; hold question 3 for the debrief if time is tight.</a:t>
            </a:r>
          </a:p>
          <a:p>
            <a:endParaRPr/>
          </a:p>
          <a:p>
            <a:r>
              <a:t>The counting rule is essential and most groups get it wrong first time — they multiply by the feature's own duration instead of the week it finishes, which gives the same answer for every order and hides the whole point. Say it twice.</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two cards are the lesson. A beats B even though B loses 20% more each week, because A is half the length.</a:t>
            </a:r>
          </a:p>
          <a:p>
            <a:endParaRPr/>
          </a:p>
          <a:p>
            <a:r>
              <a:t>If a group argued for B first on instinct, that sets up the next slide perfectly — their instinct costs ₹16 lakh and we can show it exactly.</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Work the left box aloud. The key move is 'the week it FINISHES', not how long it took.</a:t>
            </a:r>
          </a:p>
          <a:p>
            <a:endParaRPr/>
          </a:p>
          <a:p>
            <a:r>
              <a:t>Point at the last bar: doing things in the order people asked for them costs ₹88 lakh more than the same work in the right order. That is the number to leave them with.</a:t>
            </a:r>
          </a:p>
          <a:p>
            <a:endParaRPr/>
          </a:p>
          <a:p>
            <a:r>
              <a:t>Quickest-first at 220 is worse than both, because it puts dark mode ahead of the regulator.</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53 min. The three steps are the transferable procedure. If short on time, cut the two boxes and keep the steps.</a:t>
            </a:r>
          </a:p>
          <a:p>
            <a:endParaRPr/>
          </a:p>
          <a:p>
            <a:r>
              <a:t>The one-line summary: CD3 chooses a good order, it does not obey a calendar. You obey the calendar first.</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53 min. Q1 catches everyone who forgot the floor at zero — expect a good number of hands for (d).</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56 min. Thirty-four minutes left, six topics. Move briskly from here — the remaining tools are individually simpler.</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56 min. Six minutes. Two artefacts, one clear difference between them.</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'no ties' rule is the one organisations negotiate away, usually by adding a priority field with four values so everything can be High.</a:t>
            </a:r>
          </a:p>
          <a:p>
            <a:endParaRPr/>
          </a:p>
          <a:p>
            <a:r>
              <a:t>The archive habit meets resistance. The argument that works: nothing is deleted, it is in the history — and if it truly matters, someone will ask again. That recurrence is evidence.</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economic argument in the yellow box is the one that persuades engineers.</a:t>
            </a:r>
          </a:p>
          <a:p>
            <a:endParaRPr/>
          </a:p>
          <a:p>
            <a:r>
              <a:t>Mention 'Definition of Ready' if asked: it is the checklist for the top row. Used as a hard gate it becomes a mini-waterfall, so treat it as a shared checklist applied with judgement.</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italic line at the bottom is the most practically useful sentence in this module. Every working professional in the room has a boss who wants dates.</a:t>
            </a:r>
          </a:p>
          <a:p>
            <a:endParaRPr/>
          </a:p>
          <a:p>
            <a:r>
              <a:t>Two artefacts, two levels of commitment, is what actually gets adopted.</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62 min. The Now/Next/Later risk worth naming: if you do not define the horizons in weeks, stakeholders quietly convert them into quarters and hold you to it.</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62 min. Five minutes. Keep it practical.</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Kind 2 is the one that gets forgotten, and this audience mostly works in enterprise or regulated settings where it matters most. The next slide is entirely about it.</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dark box is the sentence to say slowly. It is a governance point disguised as a writing tip.</a:t>
            </a:r>
          </a:p>
          <a:p>
            <a:endParaRPr/>
          </a:p>
          <a:p>
            <a:r>
              <a:t>If asked how to size an NFR: attach it as an acceptance criterion on a story people already want. That is how these get built rather than admired.</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67 min. Given / When / Then is worth five seconds of practice — ask the room for a third criterion out loud.</a:t>
            </a:r>
          </a:p>
          <a:p>
            <a:endParaRPr/>
          </a:p>
          <a:p>
            <a:r>
              <a:t>The closing line is Ron Jeffries' card-conversation-confirmation. The step teams skip is the conversation, because it leaves no trace.</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67 min. Thirteen minutes, three tools. These are the ones they can use at work next week with no data at all.</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comes from DSDM, published by the Agile Business Consortium.</a:t>
            </a:r>
          </a:p>
          <a:p>
            <a:endParaRPr/>
          </a:p>
          <a:p>
            <a:r>
              <a:t>Most MoSCoW sessions fail not because the Musts are wrong, but because nothing is ever explicitly excluded — so the same items return next month.</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min. This slide is the difference between MoSCoW as a decision tool and MoSCoW as a labelling exercise.</a:t>
            </a:r>
          </a:p>
          <a:p>
            <a:endParaRPr/>
          </a:p>
          <a:p>
            <a:r>
              <a:t>Do the arithmetic aloud: 6 × 1.25 = 7.5 versus 8 × 1.25 = 10. The Coulds are not a wish list; they are the contingency you plan to sacrifice.</a:t>
            </a:r>
          </a:p>
          <a:p>
            <a:endParaRPr/>
          </a:p>
          <a:p>
            <a:r>
              <a:t>When a room insists on 90% Musts, do not argue about the items. Point out they have just said they will accept no schedule risk at all.</a:t>
            </a:r>
          </a:p>
          <a:p>
            <a:endParaRPr/>
          </a:p>
          <a:p>
            <a:r>
              <a:t>MoSCoW is about effort, not item count. Count the weeks.</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From Luke Hohmann's Innovation Games. Designed for the situation where customers cannot rank a list but can point at where they want a product to grow.</a:t>
            </a:r>
          </a:p>
          <a:p>
            <a:endParaRPr/>
          </a:p>
          <a:p>
            <a:r>
              <a:t>The roots rule is the sharpest part. When a group pins everything on the canopy and nothing on the roots, hold the picture up and ask who they expect to answer the phone when it breaks.</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76 min. Step 3 is the one new facilitators get wrong — they watch the tree and miss the conversation.</a:t>
            </a:r>
          </a:p>
          <a:p>
            <a:endParaRPr/>
          </a:p>
          <a:p>
            <a:r>
              <a:t>Step 4's last question often produces the most actionable finding of the whole session.</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Rule 2 is counter-intuitive and non-negotiable. Someone who can afford their favourite alone tells you only what they already knew they wanted.</a:t>
            </a:r>
          </a:p>
          <a:p>
            <a:endParaRPr/>
          </a:p>
          <a:p>
            <a:r>
              <a:t>Works with customers, with a sales team, and — carefully — with internal stakeholders, where it is often the only way to make a senior person experience a trade-off.</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80 min. The analytics row is the classic finding and the reason to run the game: what people say they want and what they will pay for are different, and only the second predicts behaviour.</a:t>
            </a:r>
          </a:p>
          <a:p>
            <a:endParaRPr/>
          </a:p>
          <a:p>
            <a:r>
              <a:t>The dark mode row lands well too — the cheapest item on the board and not one person spent ₹50 on it.</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80 min. Five minutes. This is the take-home.</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 down the third column. Knowing when a tool fails is worth more than knowing how it works, and it is what separates a good answer from a great one in the assignment.</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1 needs no arithmetic and is where most of the value is. Items that serve no roadmap problem should not be scored, refined or argued about — they should be declined, with a reason.</a:t>
            </a:r>
          </a:p>
          <a:p>
            <a:endParaRPr/>
          </a:p>
          <a:p>
            <a:r>
              <a:t>The override log is the practical takeaway. Suggest they start one on Monday; it costs one spreadsheet column.</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85 min. Ask the question at the bottom aloud and take two or three answers. Expect traps 1 and 3 to dominate.</a:t>
            </a:r>
          </a:p>
          <a:p>
            <a:endParaRPr/>
          </a:p>
          <a:p>
            <a:r>
              <a:t>The closing thought is deliberate: they will leave able to compute CD3 in ten minutes. Getting an organisation to accept the answer is the problem that lasts a career.</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85 min. Two minutes total. Read them out and take hands straight away.</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87 min. Read the navy box aloud. It is the sentence to leave the room with.</a:t>
            </a:r>
          </a:p>
          <a:p>
            <a:endParaRPr/>
          </a:p>
          <a:p>
            <a:r>
              <a:t>If you are behind, this slide alone can close the session — skip the sources slide and point at the assignment.</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88 min. Set the deadline on this slide before you deliver.</a:t>
            </a:r>
          </a:p>
          <a:p>
            <a:endParaRPr/>
          </a:p>
          <a:p>
            <a:r>
              <a:t>Tell them to start Part B in the first three days.</a:t>
            </a:r>
          </a:p>
          <a:p>
            <a:endParaRPr/>
          </a:p>
          <a:p>
            <a:r>
              <a:t>Grade the last clause of Part D hardest.</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89 min. Do not read this out. Point at it, say it is in the handout, move to questions.</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90 min. Fill in the next session topic, office hours and your email before you present.</a:t>
            </a:r>
          </a:p>
          <a:p>
            <a:endParaRPr/>
          </a:p>
          <a:p>
            <a:r>
              <a:t>If asked about using CD3 when items depend on each other: CD3 orders a queue of independent jobs. Chains of dependent work should either be merged into one item or booked as constraints first, like the deadline case.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2E833-EA39-405A-D0B7-BD305895FB0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E07A195-F203-7F69-F55D-D107A825686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79A1833-4AA4-55C3-931C-212722488180}"/>
              </a:ext>
            </a:extLst>
          </p:cNvPr>
          <p:cNvSpPr>
            <a:spLocks noGrp="1"/>
          </p:cNvSpPr>
          <p:nvPr>
            <p:ph type="dt" sz="half" idx="10"/>
          </p:nvPr>
        </p:nvSpPr>
        <p:spPr/>
        <p:txBody>
          <a:bodyPr/>
          <a:lstStyle/>
          <a:p>
            <a:fld id="{BAC12147-5AEB-466D-918F-6998C52C80D8}" type="datetimeFigureOut">
              <a:rPr lang="en-IN" smtClean="0"/>
              <a:t>06-09-2026</a:t>
            </a:fld>
            <a:endParaRPr lang="en-IN"/>
          </a:p>
        </p:txBody>
      </p:sp>
      <p:sp>
        <p:nvSpPr>
          <p:cNvPr id="5" name="Footer Placeholder 4">
            <a:extLst>
              <a:ext uri="{FF2B5EF4-FFF2-40B4-BE49-F238E27FC236}">
                <a16:creationId xmlns:a16="http://schemas.microsoft.com/office/drawing/2014/main" id="{031F049B-D4A1-9787-36AB-1171DFF47C2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B604AF8-6DF1-C6AD-7ACF-14F20CE365BB}"/>
              </a:ext>
            </a:extLst>
          </p:cNvPr>
          <p:cNvSpPr>
            <a:spLocks noGrp="1"/>
          </p:cNvSpPr>
          <p:nvPr>
            <p:ph type="sldNum" sz="quarter" idx="12"/>
          </p:nvPr>
        </p:nvSpPr>
        <p:spPr/>
        <p:txBody>
          <a:bodyPr/>
          <a:lstStyle/>
          <a:p>
            <a:fld id="{34F8A2CE-78BF-4E55-B511-FEC8FE90AFC0}" type="slidenum">
              <a:rPr lang="en-IN" smtClean="0"/>
              <a:t>‹#›</a:t>
            </a:fld>
            <a:endParaRPr lang="en-IN"/>
          </a:p>
        </p:txBody>
      </p:sp>
    </p:spTree>
    <p:extLst>
      <p:ext uri="{BB962C8B-B14F-4D97-AF65-F5344CB8AC3E}">
        <p14:creationId xmlns:p14="http://schemas.microsoft.com/office/powerpoint/2010/main" val="13895580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1BCEF-82A8-A673-BFE1-A89F13AF332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C07E67F-5402-6CA7-733F-2FB31A5C824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1FC0636-8BCB-CD1D-9F3B-5AFC923E310F}"/>
              </a:ext>
            </a:extLst>
          </p:cNvPr>
          <p:cNvSpPr>
            <a:spLocks noGrp="1"/>
          </p:cNvSpPr>
          <p:nvPr>
            <p:ph type="dt" sz="half" idx="10"/>
          </p:nvPr>
        </p:nvSpPr>
        <p:spPr/>
        <p:txBody>
          <a:bodyPr/>
          <a:lstStyle/>
          <a:p>
            <a:fld id="{BAC12147-5AEB-466D-918F-6998C52C80D8}" type="datetimeFigureOut">
              <a:rPr lang="en-IN" smtClean="0"/>
              <a:t>06-09-2026</a:t>
            </a:fld>
            <a:endParaRPr lang="en-IN"/>
          </a:p>
        </p:txBody>
      </p:sp>
      <p:sp>
        <p:nvSpPr>
          <p:cNvPr id="5" name="Footer Placeholder 4">
            <a:extLst>
              <a:ext uri="{FF2B5EF4-FFF2-40B4-BE49-F238E27FC236}">
                <a16:creationId xmlns:a16="http://schemas.microsoft.com/office/drawing/2014/main" id="{4FAE7930-555B-370B-798D-0C2BE8C03FC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334ECA-963F-082E-A79F-8B2F072037E2}"/>
              </a:ext>
            </a:extLst>
          </p:cNvPr>
          <p:cNvSpPr>
            <a:spLocks noGrp="1"/>
          </p:cNvSpPr>
          <p:nvPr>
            <p:ph type="sldNum" sz="quarter" idx="12"/>
          </p:nvPr>
        </p:nvSpPr>
        <p:spPr/>
        <p:txBody>
          <a:bodyPr/>
          <a:lstStyle/>
          <a:p>
            <a:fld id="{34F8A2CE-78BF-4E55-B511-FEC8FE90AFC0}" type="slidenum">
              <a:rPr lang="en-IN" smtClean="0"/>
              <a:t>‹#›</a:t>
            </a:fld>
            <a:endParaRPr lang="en-IN"/>
          </a:p>
        </p:txBody>
      </p:sp>
    </p:spTree>
    <p:extLst>
      <p:ext uri="{BB962C8B-B14F-4D97-AF65-F5344CB8AC3E}">
        <p14:creationId xmlns:p14="http://schemas.microsoft.com/office/powerpoint/2010/main" val="33602444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37F80-F17D-798B-5B34-12898E7D49B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6F0AAD8-65BB-6AAD-2EEB-47D3EFBB04A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5E018DE-8F9B-40EE-A056-C58503F51339}"/>
              </a:ext>
            </a:extLst>
          </p:cNvPr>
          <p:cNvSpPr>
            <a:spLocks noGrp="1"/>
          </p:cNvSpPr>
          <p:nvPr>
            <p:ph type="dt" sz="half" idx="10"/>
          </p:nvPr>
        </p:nvSpPr>
        <p:spPr/>
        <p:txBody>
          <a:bodyPr/>
          <a:lstStyle/>
          <a:p>
            <a:fld id="{BAC12147-5AEB-466D-918F-6998C52C80D8}" type="datetimeFigureOut">
              <a:rPr lang="en-IN" smtClean="0"/>
              <a:t>06-09-2026</a:t>
            </a:fld>
            <a:endParaRPr lang="en-IN"/>
          </a:p>
        </p:txBody>
      </p:sp>
      <p:sp>
        <p:nvSpPr>
          <p:cNvPr id="5" name="Footer Placeholder 4">
            <a:extLst>
              <a:ext uri="{FF2B5EF4-FFF2-40B4-BE49-F238E27FC236}">
                <a16:creationId xmlns:a16="http://schemas.microsoft.com/office/drawing/2014/main" id="{0A82AB25-D0DB-1788-41FE-DE8DD1BBF7D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CC6B0E6-BC39-F376-6AE1-5CE5C5360214}"/>
              </a:ext>
            </a:extLst>
          </p:cNvPr>
          <p:cNvSpPr>
            <a:spLocks noGrp="1"/>
          </p:cNvSpPr>
          <p:nvPr>
            <p:ph type="sldNum" sz="quarter" idx="12"/>
          </p:nvPr>
        </p:nvSpPr>
        <p:spPr/>
        <p:txBody>
          <a:bodyPr/>
          <a:lstStyle/>
          <a:p>
            <a:fld id="{34F8A2CE-78BF-4E55-B511-FEC8FE90AFC0}" type="slidenum">
              <a:rPr lang="en-IN" smtClean="0"/>
              <a:t>‹#›</a:t>
            </a:fld>
            <a:endParaRPr lang="en-IN"/>
          </a:p>
        </p:txBody>
      </p:sp>
    </p:spTree>
    <p:extLst>
      <p:ext uri="{BB962C8B-B14F-4D97-AF65-F5344CB8AC3E}">
        <p14:creationId xmlns:p14="http://schemas.microsoft.com/office/powerpoint/2010/main" val="426057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56DB9-D70E-CD93-1B5F-4CD5E85002E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9F9138B-E41C-FDAA-B43B-55311E80650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D5A0937-8D70-FB36-15E6-FB249BDEB4F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93089B9-912F-7174-A995-367FF1154741}"/>
              </a:ext>
            </a:extLst>
          </p:cNvPr>
          <p:cNvSpPr>
            <a:spLocks noGrp="1"/>
          </p:cNvSpPr>
          <p:nvPr>
            <p:ph type="dt" sz="half" idx="10"/>
          </p:nvPr>
        </p:nvSpPr>
        <p:spPr/>
        <p:txBody>
          <a:bodyPr/>
          <a:lstStyle/>
          <a:p>
            <a:fld id="{BAC12147-5AEB-466D-918F-6998C52C80D8}" type="datetimeFigureOut">
              <a:rPr lang="en-IN" smtClean="0"/>
              <a:t>06-09-2026</a:t>
            </a:fld>
            <a:endParaRPr lang="en-IN"/>
          </a:p>
        </p:txBody>
      </p:sp>
      <p:sp>
        <p:nvSpPr>
          <p:cNvPr id="6" name="Footer Placeholder 5">
            <a:extLst>
              <a:ext uri="{FF2B5EF4-FFF2-40B4-BE49-F238E27FC236}">
                <a16:creationId xmlns:a16="http://schemas.microsoft.com/office/drawing/2014/main" id="{5762C3A7-C5C6-1F94-8D21-D71535AE8EF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362D89D-8386-46ED-FE9E-A2A2B48A983A}"/>
              </a:ext>
            </a:extLst>
          </p:cNvPr>
          <p:cNvSpPr>
            <a:spLocks noGrp="1"/>
          </p:cNvSpPr>
          <p:nvPr>
            <p:ph type="sldNum" sz="quarter" idx="12"/>
          </p:nvPr>
        </p:nvSpPr>
        <p:spPr/>
        <p:txBody>
          <a:bodyPr/>
          <a:lstStyle/>
          <a:p>
            <a:fld id="{34F8A2CE-78BF-4E55-B511-FEC8FE90AFC0}" type="slidenum">
              <a:rPr lang="en-IN" smtClean="0"/>
              <a:t>‹#›</a:t>
            </a:fld>
            <a:endParaRPr lang="en-IN"/>
          </a:p>
        </p:txBody>
      </p:sp>
    </p:spTree>
    <p:extLst>
      <p:ext uri="{BB962C8B-B14F-4D97-AF65-F5344CB8AC3E}">
        <p14:creationId xmlns:p14="http://schemas.microsoft.com/office/powerpoint/2010/main" val="38484676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60A6B-301A-13E0-E5B5-BDBD0D008C4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38AEA2D-CC73-9F27-ED5B-1DE148B8FA8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03A7B58-8BD6-6CC0-285E-C8609D70532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FA96E3C-2CBC-4C8D-984E-FE3BE0A30CA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58338EC-8769-E7AE-376E-52B2AD2A160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465844E-A86A-FDB9-B028-362AF9A94FB5}"/>
              </a:ext>
            </a:extLst>
          </p:cNvPr>
          <p:cNvSpPr>
            <a:spLocks noGrp="1"/>
          </p:cNvSpPr>
          <p:nvPr>
            <p:ph type="dt" sz="half" idx="10"/>
          </p:nvPr>
        </p:nvSpPr>
        <p:spPr/>
        <p:txBody>
          <a:bodyPr/>
          <a:lstStyle/>
          <a:p>
            <a:fld id="{BAC12147-5AEB-466D-918F-6998C52C80D8}" type="datetimeFigureOut">
              <a:rPr lang="en-IN" smtClean="0"/>
              <a:t>06-09-2026</a:t>
            </a:fld>
            <a:endParaRPr lang="en-IN"/>
          </a:p>
        </p:txBody>
      </p:sp>
      <p:sp>
        <p:nvSpPr>
          <p:cNvPr id="8" name="Footer Placeholder 7">
            <a:extLst>
              <a:ext uri="{FF2B5EF4-FFF2-40B4-BE49-F238E27FC236}">
                <a16:creationId xmlns:a16="http://schemas.microsoft.com/office/drawing/2014/main" id="{4F1E14EE-C89A-5632-78B9-622A2674783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5553867-B5D4-422C-76A1-CA3FDB601F49}"/>
              </a:ext>
            </a:extLst>
          </p:cNvPr>
          <p:cNvSpPr>
            <a:spLocks noGrp="1"/>
          </p:cNvSpPr>
          <p:nvPr>
            <p:ph type="sldNum" sz="quarter" idx="12"/>
          </p:nvPr>
        </p:nvSpPr>
        <p:spPr/>
        <p:txBody>
          <a:bodyPr/>
          <a:lstStyle/>
          <a:p>
            <a:fld id="{34F8A2CE-78BF-4E55-B511-FEC8FE90AFC0}" type="slidenum">
              <a:rPr lang="en-IN" smtClean="0"/>
              <a:t>‹#›</a:t>
            </a:fld>
            <a:endParaRPr lang="en-IN"/>
          </a:p>
        </p:txBody>
      </p:sp>
    </p:spTree>
    <p:extLst>
      <p:ext uri="{BB962C8B-B14F-4D97-AF65-F5344CB8AC3E}">
        <p14:creationId xmlns:p14="http://schemas.microsoft.com/office/powerpoint/2010/main" val="32226391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543A4-BDFB-AEDA-F634-ECABBECF6BC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6E62FF7-60B9-B6C4-629D-69C5E90D0CBA}"/>
              </a:ext>
            </a:extLst>
          </p:cNvPr>
          <p:cNvSpPr>
            <a:spLocks noGrp="1"/>
          </p:cNvSpPr>
          <p:nvPr>
            <p:ph type="dt" sz="half" idx="10"/>
          </p:nvPr>
        </p:nvSpPr>
        <p:spPr/>
        <p:txBody>
          <a:bodyPr/>
          <a:lstStyle/>
          <a:p>
            <a:fld id="{BAC12147-5AEB-466D-918F-6998C52C80D8}" type="datetimeFigureOut">
              <a:rPr lang="en-IN" smtClean="0"/>
              <a:t>06-09-2026</a:t>
            </a:fld>
            <a:endParaRPr lang="en-IN"/>
          </a:p>
        </p:txBody>
      </p:sp>
      <p:sp>
        <p:nvSpPr>
          <p:cNvPr id="4" name="Footer Placeholder 3">
            <a:extLst>
              <a:ext uri="{FF2B5EF4-FFF2-40B4-BE49-F238E27FC236}">
                <a16:creationId xmlns:a16="http://schemas.microsoft.com/office/drawing/2014/main" id="{37829407-4F8C-6AD7-3F57-56B491B6467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888272C-31F6-1159-1E38-005E83FDBB8D}"/>
              </a:ext>
            </a:extLst>
          </p:cNvPr>
          <p:cNvSpPr>
            <a:spLocks noGrp="1"/>
          </p:cNvSpPr>
          <p:nvPr>
            <p:ph type="sldNum" sz="quarter" idx="12"/>
          </p:nvPr>
        </p:nvSpPr>
        <p:spPr/>
        <p:txBody>
          <a:bodyPr/>
          <a:lstStyle/>
          <a:p>
            <a:fld id="{34F8A2CE-78BF-4E55-B511-FEC8FE90AFC0}" type="slidenum">
              <a:rPr lang="en-IN" smtClean="0"/>
              <a:t>‹#›</a:t>
            </a:fld>
            <a:endParaRPr lang="en-IN"/>
          </a:p>
        </p:txBody>
      </p:sp>
    </p:spTree>
    <p:extLst>
      <p:ext uri="{BB962C8B-B14F-4D97-AF65-F5344CB8AC3E}">
        <p14:creationId xmlns:p14="http://schemas.microsoft.com/office/powerpoint/2010/main" val="33038307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3E5FF3E-7EA3-44D1-D4D3-AB5D42EAB463}"/>
              </a:ext>
            </a:extLst>
          </p:cNvPr>
          <p:cNvSpPr>
            <a:spLocks noGrp="1"/>
          </p:cNvSpPr>
          <p:nvPr>
            <p:ph type="dt" sz="half" idx="10"/>
          </p:nvPr>
        </p:nvSpPr>
        <p:spPr/>
        <p:txBody>
          <a:bodyPr/>
          <a:lstStyle/>
          <a:p>
            <a:fld id="{BAC12147-5AEB-466D-918F-6998C52C80D8}" type="datetimeFigureOut">
              <a:rPr lang="en-IN" smtClean="0"/>
              <a:t>06-09-2026</a:t>
            </a:fld>
            <a:endParaRPr lang="en-IN"/>
          </a:p>
        </p:txBody>
      </p:sp>
      <p:sp>
        <p:nvSpPr>
          <p:cNvPr id="3" name="Footer Placeholder 2">
            <a:extLst>
              <a:ext uri="{FF2B5EF4-FFF2-40B4-BE49-F238E27FC236}">
                <a16:creationId xmlns:a16="http://schemas.microsoft.com/office/drawing/2014/main" id="{4C887D73-4FBE-7182-71FA-2BABD4915E0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9E7FC33-E799-8B1B-7734-019C96CAB754}"/>
              </a:ext>
            </a:extLst>
          </p:cNvPr>
          <p:cNvSpPr>
            <a:spLocks noGrp="1"/>
          </p:cNvSpPr>
          <p:nvPr>
            <p:ph type="sldNum" sz="quarter" idx="12"/>
          </p:nvPr>
        </p:nvSpPr>
        <p:spPr/>
        <p:txBody>
          <a:bodyPr/>
          <a:lstStyle/>
          <a:p>
            <a:fld id="{34F8A2CE-78BF-4E55-B511-FEC8FE90AFC0}" type="slidenum">
              <a:rPr lang="en-IN" smtClean="0"/>
              <a:t>‹#›</a:t>
            </a:fld>
            <a:endParaRPr lang="en-IN"/>
          </a:p>
        </p:txBody>
      </p:sp>
    </p:spTree>
    <p:extLst>
      <p:ext uri="{BB962C8B-B14F-4D97-AF65-F5344CB8AC3E}">
        <p14:creationId xmlns:p14="http://schemas.microsoft.com/office/powerpoint/2010/main" val="7392856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9AB81-F1E8-EE51-1994-ACB81F035F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E8C82B9-BD4F-D77C-E53F-3176267FBBA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7389F9D-0089-DF3A-76D0-CD0C92AF5D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6568B68-0E11-B079-CFB4-2C4A2784F461}"/>
              </a:ext>
            </a:extLst>
          </p:cNvPr>
          <p:cNvSpPr>
            <a:spLocks noGrp="1"/>
          </p:cNvSpPr>
          <p:nvPr>
            <p:ph type="dt" sz="half" idx="10"/>
          </p:nvPr>
        </p:nvSpPr>
        <p:spPr/>
        <p:txBody>
          <a:bodyPr/>
          <a:lstStyle/>
          <a:p>
            <a:fld id="{BAC12147-5AEB-466D-918F-6998C52C80D8}" type="datetimeFigureOut">
              <a:rPr lang="en-IN" smtClean="0"/>
              <a:t>06-09-2026</a:t>
            </a:fld>
            <a:endParaRPr lang="en-IN"/>
          </a:p>
        </p:txBody>
      </p:sp>
      <p:sp>
        <p:nvSpPr>
          <p:cNvPr id="6" name="Footer Placeholder 5">
            <a:extLst>
              <a:ext uri="{FF2B5EF4-FFF2-40B4-BE49-F238E27FC236}">
                <a16:creationId xmlns:a16="http://schemas.microsoft.com/office/drawing/2014/main" id="{2A72CCEC-72C9-6A31-EB2D-412853DA4E1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A012D96-A2C3-B4E5-C8F3-AC727C1E7D6F}"/>
              </a:ext>
            </a:extLst>
          </p:cNvPr>
          <p:cNvSpPr>
            <a:spLocks noGrp="1"/>
          </p:cNvSpPr>
          <p:nvPr>
            <p:ph type="sldNum" sz="quarter" idx="12"/>
          </p:nvPr>
        </p:nvSpPr>
        <p:spPr/>
        <p:txBody>
          <a:bodyPr/>
          <a:lstStyle/>
          <a:p>
            <a:fld id="{34F8A2CE-78BF-4E55-B511-FEC8FE90AFC0}" type="slidenum">
              <a:rPr lang="en-IN" smtClean="0"/>
              <a:t>‹#›</a:t>
            </a:fld>
            <a:endParaRPr lang="en-IN"/>
          </a:p>
        </p:txBody>
      </p:sp>
    </p:spTree>
    <p:extLst>
      <p:ext uri="{BB962C8B-B14F-4D97-AF65-F5344CB8AC3E}">
        <p14:creationId xmlns:p14="http://schemas.microsoft.com/office/powerpoint/2010/main" val="12800936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2E561-E881-508E-424C-167FB0290C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C1C9818-9054-F968-52F5-9DFD86402E2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6FC0646-71C9-DB3A-CBBF-AEB6BE907B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5B6F32-AF0C-00AD-0FED-76937135302A}"/>
              </a:ext>
            </a:extLst>
          </p:cNvPr>
          <p:cNvSpPr>
            <a:spLocks noGrp="1"/>
          </p:cNvSpPr>
          <p:nvPr>
            <p:ph type="dt" sz="half" idx="10"/>
          </p:nvPr>
        </p:nvSpPr>
        <p:spPr/>
        <p:txBody>
          <a:bodyPr/>
          <a:lstStyle/>
          <a:p>
            <a:fld id="{BAC12147-5AEB-466D-918F-6998C52C80D8}" type="datetimeFigureOut">
              <a:rPr lang="en-IN" smtClean="0"/>
              <a:t>06-09-2026</a:t>
            </a:fld>
            <a:endParaRPr lang="en-IN"/>
          </a:p>
        </p:txBody>
      </p:sp>
      <p:sp>
        <p:nvSpPr>
          <p:cNvPr id="6" name="Footer Placeholder 5">
            <a:extLst>
              <a:ext uri="{FF2B5EF4-FFF2-40B4-BE49-F238E27FC236}">
                <a16:creationId xmlns:a16="http://schemas.microsoft.com/office/drawing/2014/main" id="{ED4BB9DB-2C76-17D3-D351-8048FC144AE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8BECCBD-9CDA-29CA-D04C-390C02332047}"/>
              </a:ext>
            </a:extLst>
          </p:cNvPr>
          <p:cNvSpPr>
            <a:spLocks noGrp="1"/>
          </p:cNvSpPr>
          <p:nvPr>
            <p:ph type="sldNum" sz="quarter" idx="12"/>
          </p:nvPr>
        </p:nvSpPr>
        <p:spPr/>
        <p:txBody>
          <a:bodyPr/>
          <a:lstStyle/>
          <a:p>
            <a:fld id="{34F8A2CE-78BF-4E55-B511-FEC8FE90AFC0}" type="slidenum">
              <a:rPr lang="en-IN" smtClean="0"/>
              <a:t>‹#›</a:t>
            </a:fld>
            <a:endParaRPr lang="en-IN"/>
          </a:p>
        </p:txBody>
      </p:sp>
    </p:spTree>
    <p:extLst>
      <p:ext uri="{BB962C8B-B14F-4D97-AF65-F5344CB8AC3E}">
        <p14:creationId xmlns:p14="http://schemas.microsoft.com/office/powerpoint/2010/main" val="7201444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6F1F5-D0B9-7F7C-E053-EB685FD8E3F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D7CFD0C-DB65-38A1-BF7C-58E3734833F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0557916-5216-78FC-83D9-D5E556C5DCE6}"/>
              </a:ext>
            </a:extLst>
          </p:cNvPr>
          <p:cNvSpPr>
            <a:spLocks noGrp="1"/>
          </p:cNvSpPr>
          <p:nvPr>
            <p:ph type="dt" sz="half" idx="10"/>
          </p:nvPr>
        </p:nvSpPr>
        <p:spPr/>
        <p:txBody>
          <a:bodyPr/>
          <a:lstStyle/>
          <a:p>
            <a:fld id="{BAC12147-5AEB-466D-918F-6998C52C80D8}" type="datetimeFigureOut">
              <a:rPr lang="en-IN" smtClean="0"/>
              <a:t>06-09-2026</a:t>
            </a:fld>
            <a:endParaRPr lang="en-IN"/>
          </a:p>
        </p:txBody>
      </p:sp>
      <p:sp>
        <p:nvSpPr>
          <p:cNvPr id="5" name="Footer Placeholder 4">
            <a:extLst>
              <a:ext uri="{FF2B5EF4-FFF2-40B4-BE49-F238E27FC236}">
                <a16:creationId xmlns:a16="http://schemas.microsoft.com/office/drawing/2014/main" id="{272DB7E2-B883-E00C-BF5A-C8C32ABFB1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1484CB9-D699-7100-474A-65471D490616}"/>
              </a:ext>
            </a:extLst>
          </p:cNvPr>
          <p:cNvSpPr>
            <a:spLocks noGrp="1"/>
          </p:cNvSpPr>
          <p:nvPr>
            <p:ph type="sldNum" sz="quarter" idx="12"/>
          </p:nvPr>
        </p:nvSpPr>
        <p:spPr/>
        <p:txBody>
          <a:bodyPr/>
          <a:lstStyle/>
          <a:p>
            <a:fld id="{34F8A2CE-78BF-4E55-B511-FEC8FE90AFC0}" type="slidenum">
              <a:rPr lang="en-IN" smtClean="0"/>
              <a:t>‹#›</a:t>
            </a:fld>
            <a:endParaRPr lang="en-IN"/>
          </a:p>
        </p:txBody>
      </p:sp>
    </p:spTree>
    <p:extLst>
      <p:ext uri="{BB962C8B-B14F-4D97-AF65-F5344CB8AC3E}">
        <p14:creationId xmlns:p14="http://schemas.microsoft.com/office/powerpoint/2010/main" val="7744160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0028A0E-D6FB-40BE-8B8D-71DCC839D21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DC377DE-4E75-D307-CA8E-80B109D247C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F5859E4-F9DD-73F0-7861-9A77EECF36D4}"/>
              </a:ext>
            </a:extLst>
          </p:cNvPr>
          <p:cNvSpPr>
            <a:spLocks noGrp="1"/>
          </p:cNvSpPr>
          <p:nvPr>
            <p:ph type="dt" sz="half" idx="10"/>
          </p:nvPr>
        </p:nvSpPr>
        <p:spPr/>
        <p:txBody>
          <a:bodyPr/>
          <a:lstStyle/>
          <a:p>
            <a:fld id="{BAC12147-5AEB-466D-918F-6998C52C80D8}" type="datetimeFigureOut">
              <a:rPr lang="en-IN" smtClean="0"/>
              <a:t>06-09-2026</a:t>
            </a:fld>
            <a:endParaRPr lang="en-IN"/>
          </a:p>
        </p:txBody>
      </p:sp>
      <p:sp>
        <p:nvSpPr>
          <p:cNvPr id="5" name="Footer Placeholder 4">
            <a:extLst>
              <a:ext uri="{FF2B5EF4-FFF2-40B4-BE49-F238E27FC236}">
                <a16:creationId xmlns:a16="http://schemas.microsoft.com/office/drawing/2014/main" id="{211CD2C0-5C45-F7AE-8557-B7D33F21521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41F75ED-39CA-DB5F-46BA-95490D11C296}"/>
              </a:ext>
            </a:extLst>
          </p:cNvPr>
          <p:cNvSpPr>
            <a:spLocks noGrp="1"/>
          </p:cNvSpPr>
          <p:nvPr>
            <p:ph type="sldNum" sz="quarter" idx="12"/>
          </p:nvPr>
        </p:nvSpPr>
        <p:spPr/>
        <p:txBody>
          <a:bodyPr/>
          <a:lstStyle/>
          <a:p>
            <a:fld id="{34F8A2CE-78BF-4E55-B511-FEC8FE90AFC0}" type="slidenum">
              <a:rPr lang="en-IN" smtClean="0"/>
              <a:t>‹#›</a:t>
            </a:fld>
            <a:endParaRPr lang="en-IN"/>
          </a:p>
        </p:txBody>
      </p:sp>
    </p:spTree>
    <p:extLst>
      <p:ext uri="{BB962C8B-B14F-4D97-AF65-F5344CB8AC3E}">
        <p14:creationId xmlns:p14="http://schemas.microsoft.com/office/powerpoint/2010/main" val="42183703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8"/>
        <p:cNvGrpSpPr/>
        <p:nvPr/>
      </p:nvGrpSpPr>
      <p:grpSpPr>
        <a:xfrm>
          <a:off x="0" y="0"/>
          <a:ext cx="0" cy="0"/>
          <a:chOff x="0" y="0"/>
          <a:chExt cx="0" cy="0"/>
        </a:xfrm>
      </p:grpSpPr>
      <p:pic>
        <p:nvPicPr>
          <p:cNvPr id="2" name="Google Shape;9;p6">
            <a:extLst>
              <a:ext uri="{FF2B5EF4-FFF2-40B4-BE49-F238E27FC236}">
                <a16:creationId xmlns:a16="http://schemas.microsoft.com/office/drawing/2014/main" id="{80FAB2DE-7E5F-D7CC-E77D-9CE70D89B303}"/>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t="3185" b="1180"/>
          <a:stretch>
            <a:fillRect/>
          </a:stretch>
        </p:blipFill>
        <p:spPr bwMode="auto">
          <a:xfrm>
            <a:off x="0" y="0"/>
            <a:ext cx="12192000"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3" name="Google Shape;10;p6">
            <a:extLst>
              <a:ext uri="{FF2B5EF4-FFF2-40B4-BE49-F238E27FC236}">
                <a16:creationId xmlns:a16="http://schemas.microsoft.com/office/drawing/2014/main" id="{C23A355C-C249-585D-9A3B-93D81A6BFD5F}"/>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Google Shape;11;p6">
            <a:extLst>
              <a:ext uri="{FF2B5EF4-FFF2-40B4-BE49-F238E27FC236}">
                <a16:creationId xmlns:a16="http://schemas.microsoft.com/office/drawing/2014/main" id="{A4FA5297-D461-3440-3461-D498438F8986}"/>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2551113"/>
            <a:ext cx="9678988" cy="179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Google Shape;12;p6">
            <a:extLst>
              <a:ext uri="{FF2B5EF4-FFF2-40B4-BE49-F238E27FC236}">
                <a16:creationId xmlns:a16="http://schemas.microsoft.com/office/drawing/2014/main" id="{07ED1467-4CA5-F4CD-1F0B-92F7D15E332C}"/>
              </a:ext>
            </a:extLst>
          </p:cNvPr>
          <p:cNvPicPr preferRelativeResize="0">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47675"/>
            <a:ext cx="10744200" cy="805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Google Shape;15;p6">
            <a:extLst>
              <a:ext uri="{FF2B5EF4-FFF2-40B4-BE49-F238E27FC236}">
                <a16:creationId xmlns:a16="http://schemas.microsoft.com/office/drawing/2014/main" id="{D4F921A2-4E0C-ABEA-C302-1566D907606E}"/>
              </a:ext>
            </a:extLst>
          </p:cNvPr>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23288" y="896938"/>
            <a:ext cx="3097212" cy="108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Google Shape;16;p6">
            <a:extLst>
              <a:ext uri="{FF2B5EF4-FFF2-40B4-BE49-F238E27FC236}">
                <a16:creationId xmlns:a16="http://schemas.microsoft.com/office/drawing/2014/main" id="{495643C8-83C1-40F9-7C28-ACC4F89BA9A5}"/>
              </a:ext>
            </a:extLst>
          </p:cNvPr>
          <p:cNvPicPr preferRelativeResize="0">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77038" y="4800600"/>
            <a:ext cx="5124450" cy="2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Google Shape;13;p6"/>
          <p:cNvSpPr txBox="1">
            <a:spLocks noGrp="1"/>
          </p:cNvSpPr>
          <p:nvPr>
            <p:ph type="ctrTitle"/>
          </p:nvPr>
        </p:nvSpPr>
        <p:spPr>
          <a:xfrm>
            <a:off x="4572002" y="2549771"/>
            <a:ext cx="7330831" cy="1600725"/>
          </a:xfrm>
          <a:prstGeom prst="rect">
            <a:avLst/>
          </a:prstGeom>
          <a:noFill/>
          <a:ln>
            <a:noFill/>
          </a:ln>
        </p:spPr>
        <p:txBody>
          <a:bodyPr spcFirstLastPara="1" lIns="91425" tIns="45700" rIns="91425" bIns="45700">
            <a:normAutofit/>
          </a:bodyPr>
          <a:lstStyle>
            <a:lvl1pPr lvl="0" algn="r">
              <a:lnSpc>
                <a:spcPct val="90000"/>
              </a:lnSpc>
              <a:spcBef>
                <a:spcPts val="0"/>
              </a:spcBef>
              <a:spcAft>
                <a:spcPts val="0"/>
              </a:spcAft>
              <a:buClr>
                <a:schemeClr val="lt1"/>
              </a:buClr>
              <a:buSzPts val="3200"/>
              <a:buFont typeface="Helvetica Neue"/>
              <a:buNone/>
              <a:defRPr sz="2400" b="1">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14" name="Google Shape;14;p6"/>
          <p:cNvSpPr txBox="1">
            <a:spLocks noGrp="1"/>
          </p:cNvSpPr>
          <p:nvPr>
            <p:ph type="subTitle" idx="1"/>
          </p:nvPr>
        </p:nvSpPr>
        <p:spPr>
          <a:xfrm>
            <a:off x="5908431" y="4452632"/>
            <a:ext cx="5994400" cy="343327"/>
          </a:xfrm>
          <a:prstGeom prst="rect">
            <a:avLst/>
          </a:prstGeom>
          <a:noFill/>
          <a:ln>
            <a:noFill/>
          </a:ln>
        </p:spPr>
        <p:txBody>
          <a:bodyPr spcFirstLastPara="1" lIns="91425" tIns="45700" rIns="91425" bIns="45700" anchor="ctr">
            <a:normAutofit/>
          </a:bodyPr>
          <a:lstStyle>
            <a:lvl1pPr lvl="0" algn="r">
              <a:lnSpc>
                <a:spcPct val="90000"/>
              </a:lnSpc>
              <a:spcBef>
                <a:spcPts val="750"/>
              </a:spcBef>
              <a:spcAft>
                <a:spcPts val="0"/>
              </a:spcAft>
              <a:buClr>
                <a:srgbClr val="1C1573"/>
              </a:buClr>
              <a:buSzPts val="1700"/>
              <a:buNone/>
              <a:defRPr sz="1275" b="1">
                <a:solidFill>
                  <a:srgbClr val="1C1573"/>
                </a:solidFill>
                <a:latin typeface="Helvetica Neue"/>
                <a:ea typeface="Helvetica Neue"/>
                <a:cs typeface="Helvetica Neue"/>
                <a:sym typeface="Helvetica Neue"/>
              </a:defRPr>
            </a:lvl1pPr>
            <a:lvl2pPr lvl="1" algn="ctr">
              <a:lnSpc>
                <a:spcPct val="90000"/>
              </a:lnSpc>
              <a:spcBef>
                <a:spcPts val="375"/>
              </a:spcBef>
              <a:spcAft>
                <a:spcPts val="0"/>
              </a:spcAft>
              <a:buClr>
                <a:schemeClr val="dk1"/>
              </a:buClr>
              <a:buSzPts val="1500"/>
              <a:buNone/>
              <a:defRPr sz="1125"/>
            </a:lvl2pPr>
            <a:lvl3pPr lvl="2" algn="ctr">
              <a:lnSpc>
                <a:spcPct val="90000"/>
              </a:lnSpc>
              <a:spcBef>
                <a:spcPts val="375"/>
              </a:spcBef>
              <a:spcAft>
                <a:spcPts val="0"/>
              </a:spcAft>
              <a:buClr>
                <a:schemeClr val="dk1"/>
              </a:buClr>
              <a:buSzPts val="1350"/>
              <a:buNone/>
              <a:defRPr sz="1013"/>
            </a:lvl3pPr>
            <a:lvl4pPr lvl="3" algn="ctr">
              <a:lnSpc>
                <a:spcPct val="90000"/>
              </a:lnSpc>
              <a:spcBef>
                <a:spcPts val="375"/>
              </a:spcBef>
              <a:spcAft>
                <a:spcPts val="0"/>
              </a:spcAft>
              <a:buClr>
                <a:schemeClr val="dk1"/>
              </a:buClr>
              <a:buSzPts val="1200"/>
              <a:buNone/>
              <a:defRPr sz="900"/>
            </a:lvl4pPr>
            <a:lvl5pPr lvl="4" algn="ctr">
              <a:lnSpc>
                <a:spcPct val="90000"/>
              </a:lnSpc>
              <a:spcBef>
                <a:spcPts val="375"/>
              </a:spcBef>
              <a:spcAft>
                <a:spcPts val="0"/>
              </a:spcAft>
              <a:buClr>
                <a:schemeClr val="dk1"/>
              </a:buClr>
              <a:buSzPts val="1200"/>
              <a:buNone/>
              <a:defRPr sz="900"/>
            </a:lvl5pPr>
            <a:lvl6pPr lvl="5" algn="ctr">
              <a:lnSpc>
                <a:spcPct val="90000"/>
              </a:lnSpc>
              <a:spcBef>
                <a:spcPts val="375"/>
              </a:spcBef>
              <a:spcAft>
                <a:spcPts val="0"/>
              </a:spcAft>
              <a:buClr>
                <a:schemeClr val="dk1"/>
              </a:buClr>
              <a:buSzPts val="1200"/>
              <a:buNone/>
              <a:defRPr sz="900"/>
            </a:lvl6pPr>
            <a:lvl7pPr lvl="6" algn="ctr">
              <a:lnSpc>
                <a:spcPct val="90000"/>
              </a:lnSpc>
              <a:spcBef>
                <a:spcPts val="375"/>
              </a:spcBef>
              <a:spcAft>
                <a:spcPts val="0"/>
              </a:spcAft>
              <a:buClr>
                <a:schemeClr val="dk1"/>
              </a:buClr>
              <a:buSzPts val="1200"/>
              <a:buNone/>
              <a:defRPr sz="900"/>
            </a:lvl7pPr>
            <a:lvl8pPr lvl="7" algn="ctr">
              <a:lnSpc>
                <a:spcPct val="90000"/>
              </a:lnSpc>
              <a:spcBef>
                <a:spcPts val="375"/>
              </a:spcBef>
              <a:spcAft>
                <a:spcPts val="0"/>
              </a:spcAft>
              <a:buClr>
                <a:schemeClr val="dk1"/>
              </a:buClr>
              <a:buSzPts val="1200"/>
              <a:buNone/>
              <a:defRPr sz="900"/>
            </a:lvl8pPr>
            <a:lvl9pPr lvl="8" algn="ctr">
              <a:lnSpc>
                <a:spcPct val="90000"/>
              </a:lnSpc>
              <a:spcBef>
                <a:spcPts val="375"/>
              </a:spcBef>
              <a:spcAft>
                <a:spcPts val="0"/>
              </a:spcAft>
              <a:buClr>
                <a:schemeClr val="dk1"/>
              </a:buClr>
              <a:buSzPts val="1200"/>
              <a:buNone/>
              <a:defRPr sz="900"/>
            </a:lvl9pPr>
          </a:lstStyle>
          <a:p>
            <a:r>
              <a:rPr lang="en-US"/>
              <a:t>Click to edit Master subtitle style</a:t>
            </a:r>
            <a:endParaRPr/>
          </a:p>
        </p:txBody>
      </p:sp>
      <p:sp>
        <p:nvSpPr>
          <p:cNvPr id="17" name="Google Shape;17;p6"/>
          <p:cNvSpPr txBox="1">
            <a:spLocks noGrp="1"/>
          </p:cNvSpPr>
          <p:nvPr>
            <p:ph type="body" idx="2"/>
          </p:nvPr>
        </p:nvSpPr>
        <p:spPr>
          <a:xfrm>
            <a:off x="5189413" y="4826979"/>
            <a:ext cx="6713419" cy="1108563"/>
          </a:xfrm>
          <a:prstGeom prst="rect">
            <a:avLst/>
          </a:prstGeom>
          <a:noFill/>
          <a:ln>
            <a:noFill/>
          </a:ln>
        </p:spPr>
        <p:txBody>
          <a:bodyPr spcFirstLastPara="1" lIns="91425" tIns="45700" rIns="91425" bIns="45700">
            <a:normAutofit/>
          </a:bodyPr>
          <a:lstStyle>
            <a:lvl1pPr marL="342900" lvl="0" indent="-171450" algn="r">
              <a:lnSpc>
                <a:spcPct val="90000"/>
              </a:lnSpc>
              <a:spcBef>
                <a:spcPts val="0"/>
              </a:spcBef>
              <a:spcAft>
                <a:spcPts val="0"/>
              </a:spcAft>
              <a:buClr>
                <a:srgbClr val="1C1573"/>
              </a:buClr>
              <a:buSzPts val="1700"/>
              <a:buNone/>
              <a:defRPr sz="1275">
                <a:solidFill>
                  <a:srgbClr val="1C1573"/>
                </a:solidFill>
                <a:latin typeface="Helvetica Neue"/>
                <a:ea typeface="Helvetica Neue"/>
                <a:cs typeface="Helvetica Neue"/>
                <a:sym typeface="Helvetica Neue"/>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949720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200"/>
                                        <p:tgtEl>
                                          <p:spTgt spid="3"/>
                                        </p:tgtEl>
                                      </p:cBhvr>
                                    </p:animEffect>
                                  </p:childTnLst>
                                </p:cTn>
                              </p:par>
                            </p:childTnLst>
                          </p:cTn>
                        </p:par>
                        <p:par>
                          <p:cTn id="8" fill="hold">
                            <p:stCondLst>
                              <p:cond delay="1200"/>
                            </p:stCondLst>
                            <p:childTnLst>
                              <p:par>
                                <p:cTn id="9" presetID="10"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1300"/>
                                        <p:tgtEl>
                                          <p:spTgt spid="5"/>
                                        </p:tgtEl>
                                      </p:cBhvr>
                                    </p:animEffect>
                                  </p:childTnLst>
                                </p:cTn>
                              </p:par>
                            </p:childTnLst>
                          </p:cTn>
                        </p:par>
                        <p:par>
                          <p:cTn id="12" fill="hold">
                            <p:stCondLst>
                              <p:cond delay="2500"/>
                            </p:stCondLst>
                            <p:childTnLst>
                              <p:par>
                                <p:cTn id="13" presetID="10" presetClass="entr" presetSubtype="0"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60569"/>
            <a:ext cx="10668000" cy="764364"/>
          </a:xfrm>
          <a:prstGeom prst="rect">
            <a:avLst/>
          </a:prstGeom>
        </p:spPr>
      </p:pic>
      <p:sp>
        <p:nvSpPr>
          <p:cNvPr id="2" name="Title 1"/>
          <p:cNvSpPr>
            <a:spLocks noGrp="1"/>
          </p:cNvSpPr>
          <p:nvPr>
            <p:ph type="title"/>
          </p:nvPr>
        </p:nvSpPr>
        <p:spPr>
          <a:xfrm>
            <a:off x="838200" y="160569"/>
            <a:ext cx="9321800" cy="764364"/>
          </a:xfrm>
        </p:spPr>
        <p:txBody>
          <a:bodyPr>
            <a:normAutofit/>
          </a:bodyPr>
          <a:lstStyle>
            <a:lvl1pPr>
              <a:defRPr sz="24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857739" y="1600203"/>
            <a:ext cx="10160000" cy="2728913"/>
          </a:xfrm>
        </p:spPr>
        <p:txBody>
          <a:bodyPr/>
          <a:lstStyle>
            <a:lvl1pPr>
              <a:defRPr sz="1350">
                <a:latin typeface="Helvetica" panose="020B0604020202030204" pitchFamily="34" charset="0"/>
              </a:defRPr>
            </a:lvl1pPr>
            <a:lvl2pPr>
              <a:defRPr sz="1200">
                <a:latin typeface="Helvetica" panose="020B0604020202030204" pitchFamily="34" charset="0"/>
              </a:defRPr>
            </a:lvl2pPr>
            <a:lvl3pPr>
              <a:defRPr sz="1050">
                <a:latin typeface="Helvetica" panose="020B0604020202030204" pitchFamily="34" charset="0"/>
              </a:defRPr>
            </a:lvl3pPr>
            <a:lvl4pPr>
              <a:defRPr sz="900">
                <a:latin typeface="Helvetica" panose="020B0604020202030204" pitchFamily="34" charset="0"/>
              </a:defRPr>
            </a:lvl4pPr>
            <a:lvl5pPr>
              <a:defRPr sz="900">
                <a:latin typeface="Helvetica" panose="020B060402020203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2"/>
          <p:cNvSpPr>
            <a:spLocks noGrp="1"/>
          </p:cNvSpPr>
          <p:nvPr>
            <p:ph type="body" sz="quarter" idx="14"/>
          </p:nvPr>
        </p:nvSpPr>
        <p:spPr>
          <a:xfrm>
            <a:off x="329247" y="1143003"/>
            <a:ext cx="11196956" cy="395287"/>
          </a:xfrm>
        </p:spPr>
        <p:txBody>
          <a:bodyPr>
            <a:normAutofit/>
          </a:bodyPr>
          <a:lstStyle>
            <a:lvl1pPr marL="0" indent="0">
              <a:buNone/>
              <a:defRPr sz="15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a:t>Edit Master text styles</a:t>
            </a:r>
          </a:p>
        </p:txBody>
      </p:sp>
    </p:spTree>
    <p:extLst>
      <p:ext uri="{BB962C8B-B14F-4D97-AF65-F5344CB8AC3E}">
        <p14:creationId xmlns:p14="http://schemas.microsoft.com/office/powerpoint/2010/main" val="31907828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6" name="Pictur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743337" y="2482116"/>
            <a:ext cx="8848465" cy="2130566"/>
          </a:xfrm>
          <a:prstGeom prst="rect">
            <a:avLst/>
          </a:prstGeom>
        </p:spPr>
      </p:pic>
      <p:sp>
        <p:nvSpPr>
          <p:cNvPr id="7" name="Title 1"/>
          <p:cNvSpPr txBox="1">
            <a:spLocks/>
          </p:cNvSpPr>
          <p:nvPr userDrawn="1"/>
        </p:nvSpPr>
        <p:spPr>
          <a:xfrm>
            <a:off x="1831509" y="2575123"/>
            <a:ext cx="8666988" cy="1936878"/>
          </a:xfrm>
          <a:prstGeom prst="rect">
            <a:avLst/>
          </a:prstGeom>
        </p:spPr>
        <p:txBody>
          <a:bodyPr vert="horz" lIns="68580" tIns="34290" rIns="68580" bIns="34290" rtlCol="0" anchor="ctr">
            <a:normAutofit/>
          </a:bodyPr>
          <a:lstStyle>
            <a:lvl1pPr algn="r" defTabSz="685800" rtl="0" eaLnBrk="1" latinLnBrk="0" hangingPunct="1">
              <a:lnSpc>
                <a:spcPct val="90000"/>
              </a:lnSpc>
              <a:spcBef>
                <a:spcPct val="0"/>
              </a:spcBef>
              <a:buNone/>
              <a:defRPr sz="3200" b="1" kern="1200">
                <a:solidFill>
                  <a:schemeClr val="bg1"/>
                </a:solidFill>
                <a:latin typeface="Helvetica" panose="020B0604020202030204" pitchFamily="34" charset="0"/>
                <a:ea typeface="+mj-ea"/>
                <a:cs typeface="+mj-cs"/>
              </a:defRPr>
            </a:lvl1pPr>
          </a:lstStyle>
          <a:p>
            <a:pPr marL="0" marR="0" lvl="0" indent="0" algn="ctr" defTabSz="514350" rtl="0" eaLnBrk="1" fontAlgn="auto" latinLnBrk="0" hangingPunct="1">
              <a:lnSpc>
                <a:spcPct val="90000"/>
              </a:lnSpc>
              <a:spcBef>
                <a:spcPct val="0"/>
              </a:spcBef>
              <a:spcAft>
                <a:spcPts val="0"/>
              </a:spcAft>
              <a:buClrTx/>
              <a:buSzTx/>
              <a:buFontTx/>
              <a:buNone/>
              <a:tabLst/>
              <a:defRPr/>
            </a:pPr>
            <a:r>
              <a:rPr kumimoji="0" lang="en-US" sz="2700" b="1" i="0" u="none" strike="noStrike" kern="1200" cap="none" spc="0" normalizeH="0" baseline="0" noProof="0" dirty="0">
                <a:ln>
                  <a:noFill/>
                </a:ln>
                <a:solidFill>
                  <a:prstClr val="white"/>
                </a:solidFill>
                <a:effectLst/>
                <a:uLnTx/>
                <a:uFillTx/>
                <a:latin typeface="Helvetica" panose="020B0604020202030204" pitchFamily="34" charset="0"/>
                <a:ea typeface="+mj-ea"/>
                <a:cs typeface="+mj-cs"/>
              </a:rPr>
              <a:t>Click to edit Session title</a:t>
            </a:r>
          </a:p>
        </p:txBody>
      </p:sp>
    </p:spTree>
    <p:extLst>
      <p:ext uri="{BB962C8B-B14F-4D97-AF65-F5344CB8AC3E}">
        <p14:creationId xmlns:p14="http://schemas.microsoft.com/office/powerpoint/2010/main" val="3136458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normAutofit/>
          </a:bodyPr>
          <a:lstStyle>
            <a:lvl1pPr algn="r">
              <a:defRPr sz="4050" b="1">
                <a:solidFill>
                  <a:srgbClr val="150860"/>
                </a:solidFill>
                <a:latin typeface="Helvetica"/>
                <a:cs typeface="Helvetica"/>
              </a:defRPr>
            </a:lvl1pPr>
          </a:lstStyle>
          <a:p>
            <a:r>
              <a:rPr lang="en-US"/>
              <a:t>Click to edit Master title style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lgn="r">
              <a:buNone/>
              <a:defRPr sz="1800" b="0" i="0">
                <a:solidFill>
                  <a:schemeClr val="tx1">
                    <a:tint val="75000"/>
                  </a:schemeClr>
                </a:solidFill>
                <a:latin typeface="Helvetica Light"/>
                <a:cs typeface="Helvetica Light"/>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spTree>
    <p:extLst>
      <p:ext uri="{BB962C8B-B14F-4D97-AF65-F5344CB8AC3E}">
        <p14:creationId xmlns:p14="http://schemas.microsoft.com/office/powerpoint/2010/main" val="33713088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Section Header">
    <p:spTree>
      <p:nvGrpSpPr>
        <p:cNvPr id="1" name=""/>
        <p:cNvGrpSpPr/>
        <p:nvPr/>
      </p:nvGrpSpPr>
      <p:grpSpPr>
        <a:xfrm>
          <a:off x="0" y="0"/>
          <a:ext cx="0" cy="0"/>
          <a:chOff x="0" y="0"/>
          <a:chExt cx="0" cy="0"/>
        </a:xfrm>
      </p:grpSpPr>
      <p:pic>
        <p:nvPicPr>
          <p:cNvPr id="2" name="Picture 6" descr="\\Server\D\jyoti\FI023_BITS_v1\styleguide img\IMG_5627_b.jpg">
            <a:extLst>
              <a:ext uri="{FF2B5EF4-FFF2-40B4-BE49-F238E27FC236}">
                <a16:creationId xmlns:a16="http://schemas.microsoft.com/office/drawing/2014/main" id="{C0189C86-2CFC-A5A0-767A-D4DD8814AE6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C8FCFD15-45C7-5D0F-0914-2A89FFBA2555}"/>
              </a:ext>
            </a:extLst>
          </p:cNvPr>
          <p:cNvSpPr/>
          <p:nvPr userDrawn="1"/>
        </p:nvSpPr>
        <p:spPr>
          <a:xfrm>
            <a:off x="0" y="4281488"/>
            <a:ext cx="12192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pic>
        <p:nvPicPr>
          <p:cNvPr id="4" name="Picture 8" descr="Picture 7.png">
            <a:extLst>
              <a:ext uri="{FF2B5EF4-FFF2-40B4-BE49-F238E27FC236}">
                <a16:creationId xmlns:a16="http://schemas.microsoft.com/office/drawing/2014/main" id="{899E7625-D9BF-7B77-D4BA-90D8837078A0}"/>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l="1923" b="5336"/>
          <a:stretch>
            <a:fillRect/>
          </a:stretch>
        </p:blipFill>
        <p:spPr bwMode="auto">
          <a:xfrm>
            <a:off x="8839202"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354487A8-CFC5-A53B-78A1-82E94FEA9730}"/>
              </a:ext>
            </a:extLst>
          </p:cNvPr>
          <p:cNvSpPr/>
          <p:nvPr userDrawn="1"/>
        </p:nvSpPr>
        <p:spPr>
          <a:xfrm>
            <a:off x="3843867" y="677545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F87091E3-5640-3ED0-685B-A74EC3B69E4D}"/>
              </a:ext>
            </a:extLst>
          </p:cNvPr>
          <p:cNvSpPr/>
          <p:nvPr userDrawn="1"/>
        </p:nvSpPr>
        <p:spPr>
          <a:xfrm>
            <a:off x="-16933" y="677545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a:extLst>
              <a:ext uri="{FF2B5EF4-FFF2-40B4-BE49-F238E27FC236}">
                <a16:creationId xmlns:a16="http://schemas.microsoft.com/office/drawing/2014/main" id="{C478C882-6981-E2E1-4C2E-2F0E727DE248}"/>
              </a:ext>
            </a:extLst>
          </p:cNvPr>
          <p:cNvSpPr/>
          <p:nvPr userDrawn="1"/>
        </p:nvSpPr>
        <p:spPr>
          <a:xfrm>
            <a:off x="7704667" y="677545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8" name="TextBox 7">
            <a:extLst>
              <a:ext uri="{FF2B5EF4-FFF2-40B4-BE49-F238E27FC236}">
                <a16:creationId xmlns:a16="http://schemas.microsoft.com/office/drawing/2014/main" id="{F930D992-5DE6-8CBF-5464-AE793FEEF7CC}"/>
              </a:ext>
            </a:extLst>
          </p:cNvPr>
          <p:cNvSpPr txBox="1"/>
          <p:nvPr userDrawn="1"/>
        </p:nvSpPr>
        <p:spPr>
          <a:xfrm>
            <a:off x="9144000" y="762000"/>
            <a:ext cx="2946400" cy="427040"/>
          </a:xfrm>
          <a:prstGeom prst="rect">
            <a:avLst/>
          </a:prstGeom>
          <a:noFill/>
        </p:spPr>
        <p:txBody>
          <a:bodyPr>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2175" b="1" i="0" u="none" strike="noStrike" kern="1200" cap="none" spc="-113" normalizeH="0" baseline="0" noProof="0" dirty="0">
                <a:ln>
                  <a:noFill/>
                </a:ln>
                <a:solidFill>
                  <a:prstClr val="white"/>
                </a:solidFill>
                <a:effectLst/>
                <a:uLnTx/>
                <a:uFillTx/>
                <a:latin typeface="Arial"/>
                <a:ea typeface="+mn-ea"/>
                <a:cs typeface="Arial"/>
              </a:rPr>
              <a:t>BITS</a:t>
            </a:r>
            <a:r>
              <a:rPr kumimoji="0" lang="en-US" sz="2175" b="0" i="0" u="none" strike="noStrike" kern="1200" cap="none" spc="-113" normalizeH="0" baseline="0" noProof="0" dirty="0">
                <a:ln>
                  <a:noFill/>
                </a:ln>
                <a:solidFill>
                  <a:prstClr val="white"/>
                </a:solidFill>
                <a:effectLst/>
                <a:uLnTx/>
                <a:uFillTx/>
                <a:latin typeface="Arial"/>
                <a:ea typeface="+mn-ea"/>
                <a:cs typeface="Arial"/>
              </a:rPr>
              <a:t> Pilani</a:t>
            </a:r>
          </a:p>
        </p:txBody>
      </p:sp>
      <p:sp>
        <p:nvSpPr>
          <p:cNvPr id="9" name="TextBox 8">
            <a:extLst>
              <a:ext uri="{FF2B5EF4-FFF2-40B4-BE49-F238E27FC236}">
                <a16:creationId xmlns:a16="http://schemas.microsoft.com/office/drawing/2014/main" id="{19389F12-0C58-1376-EE5F-4A0DBF73827E}"/>
              </a:ext>
            </a:extLst>
          </p:cNvPr>
          <p:cNvSpPr txBox="1"/>
          <p:nvPr userDrawn="1"/>
        </p:nvSpPr>
        <p:spPr>
          <a:xfrm>
            <a:off x="9448800" y="1171576"/>
            <a:ext cx="2540000" cy="230832"/>
          </a:xfrm>
          <a:prstGeom prst="rect">
            <a:avLst/>
          </a:prstGeom>
          <a:noFill/>
        </p:spPr>
        <p:txBody>
          <a:bodyPr>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Arial"/>
              </a:rPr>
              <a:t>Pilani Campus</a:t>
            </a:r>
          </a:p>
        </p:txBody>
      </p:sp>
      <p:sp>
        <p:nvSpPr>
          <p:cNvPr id="17" name="Content Placeholder 16"/>
          <p:cNvSpPr>
            <a:spLocks noGrp="1"/>
          </p:cNvSpPr>
          <p:nvPr>
            <p:ph sz="quarter" idx="10"/>
          </p:nvPr>
        </p:nvSpPr>
        <p:spPr>
          <a:xfrm>
            <a:off x="406400" y="4648200"/>
            <a:ext cx="11277600" cy="1600200"/>
          </a:xfrm>
        </p:spPr>
        <p:txBody>
          <a:bodyPr>
            <a:noAutofit/>
          </a:bodyPr>
          <a:lstStyle>
            <a:lvl1pPr marL="0" indent="0">
              <a:lnSpc>
                <a:spcPts val="3150"/>
              </a:lnSpc>
              <a:spcBef>
                <a:spcPts val="0"/>
              </a:spcBef>
              <a:buNone/>
              <a:defRPr sz="3000" b="1" spc="-113" baseline="0">
                <a:latin typeface="Arial" pitchFamily="34" charset="0"/>
                <a:cs typeface="Arial" pitchFamily="34" charset="0"/>
              </a:defRPr>
            </a:lvl1pPr>
          </a:lstStyle>
          <a:p>
            <a:pPr lvl="0"/>
            <a:r>
              <a:rPr lang="en-US"/>
              <a:t>Edit Master text styles</a:t>
            </a:r>
          </a:p>
          <a:p>
            <a:pPr lvl="1"/>
            <a:r>
              <a:rPr lang="en-US"/>
              <a:t>Second level</a:t>
            </a:r>
          </a:p>
        </p:txBody>
      </p:sp>
    </p:spTree>
    <p:extLst>
      <p:ext uri="{BB962C8B-B14F-4D97-AF65-F5344CB8AC3E}">
        <p14:creationId xmlns:p14="http://schemas.microsoft.com/office/powerpoint/2010/main" val="18529701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_Title Slide" preserve="1">
  <p:cSld name="1_Title Slide">
    <p:spTree>
      <p:nvGrpSpPr>
        <p:cNvPr id="1" name="Shape 8"/>
        <p:cNvGrpSpPr/>
        <p:nvPr/>
      </p:nvGrpSpPr>
      <p:grpSpPr>
        <a:xfrm>
          <a:off x="0" y="0"/>
          <a:ext cx="0" cy="0"/>
          <a:chOff x="0" y="0"/>
          <a:chExt cx="0" cy="0"/>
        </a:xfrm>
      </p:grpSpPr>
      <p:pic>
        <p:nvPicPr>
          <p:cNvPr id="5" name="Google Shape;9;p6">
            <a:extLst>
              <a:ext uri="{FF2B5EF4-FFF2-40B4-BE49-F238E27FC236}">
                <a16:creationId xmlns:a16="http://schemas.microsoft.com/office/drawing/2014/main" id="{F25B0690-2AA3-4D32-A3BE-F758AA0F052D}"/>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t="3185" b="1180"/>
          <a:stretch>
            <a:fillRect/>
          </a:stretch>
        </p:blipFill>
        <p:spPr bwMode="auto">
          <a:xfrm>
            <a:off x="0" y="0"/>
            <a:ext cx="12192000"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6" name="Google Shape;10;p6">
            <a:extLst>
              <a:ext uri="{FF2B5EF4-FFF2-40B4-BE49-F238E27FC236}">
                <a16:creationId xmlns:a16="http://schemas.microsoft.com/office/drawing/2014/main" id="{893C1886-432F-4E8C-89E4-EA62A101C202}"/>
              </a:ext>
            </a:extLst>
          </p:cNvPr>
          <p:cNvPicPr preferRelativeResize="0">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Google Shape;11;p6">
            <a:extLst>
              <a:ext uri="{FF2B5EF4-FFF2-40B4-BE49-F238E27FC236}">
                <a16:creationId xmlns:a16="http://schemas.microsoft.com/office/drawing/2014/main" id="{144E1ABE-9DE4-4A16-BAF4-B78FB9377E0A}"/>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2551113"/>
            <a:ext cx="9679517" cy="179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Google Shape;12;p6">
            <a:extLst>
              <a:ext uri="{FF2B5EF4-FFF2-40B4-BE49-F238E27FC236}">
                <a16:creationId xmlns:a16="http://schemas.microsoft.com/office/drawing/2014/main" id="{83A8598A-4A6D-4252-A238-3D78D1272072}"/>
              </a:ext>
            </a:extLst>
          </p:cNvPr>
          <p:cNvPicPr preferRelativeResize="0">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47675"/>
            <a:ext cx="10744200" cy="805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Google Shape;15;p6">
            <a:extLst>
              <a:ext uri="{FF2B5EF4-FFF2-40B4-BE49-F238E27FC236}">
                <a16:creationId xmlns:a16="http://schemas.microsoft.com/office/drawing/2014/main" id="{E7FD79E3-6B96-4CE0-B3D1-A3DCED65C62A}"/>
              </a:ext>
            </a:extLst>
          </p:cNvPr>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23817" y="896938"/>
            <a:ext cx="3096683" cy="108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Google Shape;16;p6">
            <a:extLst>
              <a:ext uri="{FF2B5EF4-FFF2-40B4-BE49-F238E27FC236}">
                <a16:creationId xmlns:a16="http://schemas.microsoft.com/office/drawing/2014/main" id="{F029E66F-4D8A-4B60-AB6F-AAE31A525006}"/>
              </a:ext>
            </a:extLst>
          </p:cNvPr>
          <p:cNvPicPr preferRelativeResize="0">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777568" y="4800600"/>
            <a:ext cx="5124451" cy="2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Google Shape;13;p6"/>
          <p:cNvSpPr txBox="1">
            <a:spLocks noGrp="1"/>
          </p:cNvSpPr>
          <p:nvPr>
            <p:ph type="ctrTitle"/>
          </p:nvPr>
        </p:nvSpPr>
        <p:spPr>
          <a:xfrm>
            <a:off x="4572003" y="2549773"/>
            <a:ext cx="7330831" cy="1600725"/>
          </a:xfrm>
          <a:prstGeom prst="rect">
            <a:avLst/>
          </a:prstGeom>
          <a:noFill/>
          <a:ln>
            <a:noFill/>
          </a:ln>
        </p:spPr>
        <p:txBody>
          <a:bodyPr spcFirstLastPara="1" lIns="91425" tIns="45700" rIns="91425" bIns="45700">
            <a:normAutofit/>
          </a:bodyPr>
          <a:lstStyle>
            <a:lvl1pPr lvl="0" algn="r">
              <a:lnSpc>
                <a:spcPct val="90000"/>
              </a:lnSpc>
              <a:spcBef>
                <a:spcPts val="0"/>
              </a:spcBef>
              <a:spcAft>
                <a:spcPts val="0"/>
              </a:spcAft>
              <a:buClr>
                <a:schemeClr val="lt1"/>
              </a:buClr>
              <a:buSzPts val="3200"/>
              <a:buFont typeface="Helvetica Neue"/>
              <a:buNone/>
              <a:defRPr sz="1800" b="1">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14" name="Google Shape;14;p6"/>
          <p:cNvSpPr txBox="1">
            <a:spLocks noGrp="1"/>
          </p:cNvSpPr>
          <p:nvPr>
            <p:ph type="subTitle" idx="1"/>
          </p:nvPr>
        </p:nvSpPr>
        <p:spPr>
          <a:xfrm>
            <a:off x="5908431" y="4452634"/>
            <a:ext cx="5994400" cy="343327"/>
          </a:xfrm>
          <a:prstGeom prst="rect">
            <a:avLst/>
          </a:prstGeom>
          <a:noFill/>
          <a:ln>
            <a:noFill/>
          </a:ln>
        </p:spPr>
        <p:txBody>
          <a:bodyPr spcFirstLastPara="1" lIns="91425" tIns="45700" rIns="91425" bIns="45700" anchor="ctr">
            <a:normAutofit/>
          </a:bodyPr>
          <a:lstStyle>
            <a:lvl1pPr lvl="0" algn="r">
              <a:lnSpc>
                <a:spcPct val="90000"/>
              </a:lnSpc>
              <a:spcBef>
                <a:spcPts val="563"/>
              </a:spcBef>
              <a:spcAft>
                <a:spcPts val="0"/>
              </a:spcAft>
              <a:buClr>
                <a:srgbClr val="1C1573"/>
              </a:buClr>
              <a:buSzPts val="1700"/>
              <a:buNone/>
              <a:defRPr sz="956" b="1">
                <a:solidFill>
                  <a:srgbClr val="1C1573"/>
                </a:solidFill>
                <a:latin typeface="Helvetica Neue"/>
                <a:ea typeface="Helvetica Neue"/>
                <a:cs typeface="Helvetica Neue"/>
                <a:sym typeface="Helvetica Neue"/>
              </a:defRPr>
            </a:lvl1pPr>
            <a:lvl2pPr lvl="1" algn="ctr">
              <a:lnSpc>
                <a:spcPct val="90000"/>
              </a:lnSpc>
              <a:spcBef>
                <a:spcPts val="281"/>
              </a:spcBef>
              <a:spcAft>
                <a:spcPts val="0"/>
              </a:spcAft>
              <a:buClr>
                <a:schemeClr val="dk1"/>
              </a:buClr>
              <a:buSzPts val="1500"/>
              <a:buNone/>
              <a:defRPr sz="844"/>
            </a:lvl2pPr>
            <a:lvl3pPr lvl="2" algn="ctr">
              <a:lnSpc>
                <a:spcPct val="90000"/>
              </a:lnSpc>
              <a:spcBef>
                <a:spcPts val="281"/>
              </a:spcBef>
              <a:spcAft>
                <a:spcPts val="0"/>
              </a:spcAft>
              <a:buClr>
                <a:schemeClr val="dk1"/>
              </a:buClr>
              <a:buSzPts val="1350"/>
              <a:buNone/>
              <a:defRPr sz="760"/>
            </a:lvl3pPr>
            <a:lvl4pPr lvl="3" algn="ctr">
              <a:lnSpc>
                <a:spcPct val="90000"/>
              </a:lnSpc>
              <a:spcBef>
                <a:spcPts val="281"/>
              </a:spcBef>
              <a:spcAft>
                <a:spcPts val="0"/>
              </a:spcAft>
              <a:buClr>
                <a:schemeClr val="dk1"/>
              </a:buClr>
              <a:buSzPts val="1200"/>
              <a:buNone/>
              <a:defRPr sz="675"/>
            </a:lvl4pPr>
            <a:lvl5pPr lvl="4" algn="ctr">
              <a:lnSpc>
                <a:spcPct val="90000"/>
              </a:lnSpc>
              <a:spcBef>
                <a:spcPts val="281"/>
              </a:spcBef>
              <a:spcAft>
                <a:spcPts val="0"/>
              </a:spcAft>
              <a:buClr>
                <a:schemeClr val="dk1"/>
              </a:buClr>
              <a:buSzPts val="1200"/>
              <a:buNone/>
              <a:defRPr sz="675"/>
            </a:lvl5pPr>
            <a:lvl6pPr lvl="5" algn="ctr">
              <a:lnSpc>
                <a:spcPct val="90000"/>
              </a:lnSpc>
              <a:spcBef>
                <a:spcPts val="281"/>
              </a:spcBef>
              <a:spcAft>
                <a:spcPts val="0"/>
              </a:spcAft>
              <a:buClr>
                <a:schemeClr val="dk1"/>
              </a:buClr>
              <a:buSzPts val="1200"/>
              <a:buNone/>
              <a:defRPr sz="675"/>
            </a:lvl6pPr>
            <a:lvl7pPr lvl="6" algn="ctr">
              <a:lnSpc>
                <a:spcPct val="90000"/>
              </a:lnSpc>
              <a:spcBef>
                <a:spcPts val="281"/>
              </a:spcBef>
              <a:spcAft>
                <a:spcPts val="0"/>
              </a:spcAft>
              <a:buClr>
                <a:schemeClr val="dk1"/>
              </a:buClr>
              <a:buSzPts val="1200"/>
              <a:buNone/>
              <a:defRPr sz="675"/>
            </a:lvl7pPr>
            <a:lvl8pPr lvl="7" algn="ctr">
              <a:lnSpc>
                <a:spcPct val="90000"/>
              </a:lnSpc>
              <a:spcBef>
                <a:spcPts val="281"/>
              </a:spcBef>
              <a:spcAft>
                <a:spcPts val="0"/>
              </a:spcAft>
              <a:buClr>
                <a:schemeClr val="dk1"/>
              </a:buClr>
              <a:buSzPts val="1200"/>
              <a:buNone/>
              <a:defRPr sz="675"/>
            </a:lvl8pPr>
            <a:lvl9pPr lvl="8" algn="ctr">
              <a:lnSpc>
                <a:spcPct val="90000"/>
              </a:lnSpc>
              <a:spcBef>
                <a:spcPts val="281"/>
              </a:spcBef>
              <a:spcAft>
                <a:spcPts val="0"/>
              </a:spcAft>
              <a:buClr>
                <a:schemeClr val="dk1"/>
              </a:buClr>
              <a:buSzPts val="1200"/>
              <a:buNone/>
              <a:defRPr sz="675"/>
            </a:lvl9pPr>
          </a:lstStyle>
          <a:p>
            <a:r>
              <a:rPr lang="en-US"/>
              <a:t>Click to edit Master subtitle style</a:t>
            </a:r>
            <a:endParaRPr/>
          </a:p>
        </p:txBody>
      </p:sp>
      <p:sp>
        <p:nvSpPr>
          <p:cNvPr id="17" name="Google Shape;17;p6"/>
          <p:cNvSpPr txBox="1">
            <a:spLocks noGrp="1"/>
          </p:cNvSpPr>
          <p:nvPr>
            <p:ph type="body" idx="2"/>
          </p:nvPr>
        </p:nvSpPr>
        <p:spPr>
          <a:xfrm>
            <a:off x="5189413" y="4826981"/>
            <a:ext cx="6713419" cy="1108563"/>
          </a:xfrm>
          <a:prstGeom prst="rect">
            <a:avLst/>
          </a:prstGeom>
          <a:noFill/>
          <a:ln>
            <a:noFill/>
          </a:ln>
        </p:spPr>
        <p:txBody>
          <a:bodyPr spcFirstLastPara="1" lIns="91425" tIns="45700" rIns="91425" bIns="45700">
            <a:normAutofit/>
          </a:bodyPr>
          <a:lstStyle>
            <a:lvl1pPr marL="257175" lvl="0" indent="-128588" algn="r">
              <a:lnSpc>
                <a:spcPct val="90000"/>
              </a:lnSpc>
              <a:spcBef>
                <a:spcPts val="0"/>
              </a:spcBef>
              <a:spcAft>
                <a:spcPts val="0"/>
              </a:spcAft>
              <a:buClr>
                <a:srgbClr val="1C1573"/>
              </a:buClr>
              <a:buSzPts val="1700"/>
              <a:buNone/>
              <a:defRPr sz="956">
                <a:solidFill>
                  <a:srgbClr val="1C1573"/>
                </a:solidFill>
                <a:latin typeface="Helvetica Neue"/>
                <a:ea typeface="Helvetica Neue"/>
                <a:cs typeface="Helvetica Neue"/>
                <a:sym typeface="Helvetica Neue"/>
              </a:defRPr>
            </a:lvl1pPr>
            <a:lvl2pPr marL="514350" lvl="1" indent="-192881" algn="l">
              <a:lnSpc>
                <a:spcPct val="90000"/>
              </a:lnSpc>
              <a:spcBef>
                <a:spcPts val="281"/>
              </a:spcBef>
              <a:spcAft>
                <a:spcPts val="0"/>
              </a:spcAft>
              <a:buClr>
                <a:schemeClr val="dk1"/>
              </a:buClr>
              <a:buSzPts val="1800"/>
              <a:buChar char="•"/>
              <a:defRPr/>
            </a:lvl2pPr>
            <a:lvl3pPr marL="771525" lvl="2" indent="-192881" algn="l">
              <a:lnSpc>
                <a:spcPct val="90000"/>
              </a:lnSpc>
              <a:spcBef>
                <a:spcPts val="281"/>
              </a:spcBef>
              <a:spcAft>
                <a:spcPts val="0"/>
              </a:spcAft>
              <a:buClr>
                <a:schemeClr val="dk1"/>
              </a:buClr>
              <a:buSzPts val="1800"/>
              <a:buChar char="•"/>
              <a:defRPr/>
            </a:lvl3pPr>
            <a:lvl4pPr marL="1028700" lvl="3" indent="-192881" algn="l">
              <a:lnSpc>
                <a:spcPct val="90000"/>
              </a:lnSpc>
              <a:spcBef>
                <a:spcPts val="281"/>
              </a:spcBef>
              <a:spcAft>
                <a:spcPts val="0"/>
              </a:spcAft>
              <a:buClr>
                <a:schemeClr val="dk1"/>
              </a:buClr>
              <a:buSzPts val="1800"/>
              <a:buChar char="•"/>
              <a:defRPr/>
            </a:lvl4pPr>
            <a:lvl5pPr marL="1285875" lvl="4" indent="-192881" algn="l">
              <a:lnSpc>
                <a:spcPct val="90000"/>
              </a:lnSpc>
              <a:spcBef>
                <a:spcPts val="281"/>
              </a:spcBef>
              <a:spcAft>
                <a:spcPts val="0"/>
              </a:spcAft>
              <a:buClr>
                <a:schemeClr val="dk1"/>
              </a:buClr>
              <a:buSzPts val="1800"/>
              <a:buChar char="•"/>
              <a:defRPr/>
            </a:lvl5pPr>
            <a:lvl6pPr marL="1543050" lvl="5" indent="-192881" algn="l">
              <a:lnSpc>
                <a:spcPct val="90000"/>
              </a:lnSpc>
              <a:spcBef>
                <a:spcPts val="281"/>
              </a:spcBef>
              <a:spcAft>
                <a:spcPts val="0"/>
              </a:spcAft>
              <a:buClr>
                <a:schemeClr val="dk1"/>
              </a:buClr>
              <a:buSzPts val="1800"/>
              <a:buChar char="•"/>
              <a:defRPr/>
            </a:lvl6pPr>
            <a:lvl7pPr marL="1800225" lvl="6" indent="-192881" algn="l">
              <a:lnSpc>
                <a:spcPct val="90000"/>
              </a:lnSpc>
              <a:spcBef>
                <a:spcPts val="281"/>
              </a:spcBef>
              <a:spcAft>
                <a:spcPts val="0"/>
              </a:spcAft>
              <a:buClr>
                <a:schemeClr val="dk1"/>
              </a:buClr>
              <a:buSzPts val="1800"/>
              <a:buChar char="•"/>
              <a:defRPr/>
            </a:lvl7pPr>
            <a:lvl8pPr marL="2057400" lvl="7" indent="-192881" algn="l">
              <a:lnSpc>
                <a:spcPct val="90000"/>
              </a:lnSpc>
              <a:spcBef>
                <a:spcPts val="281"/>
              </a:spcBef>
              <a:spcAft>
                <a:spcPts val="0"/>
              </a:spcAft>
              <a:buClr>
                <a:schemeClr val="dk1"/>
              </a:buClr>
              <a:buSzPts val="1800"/>
              <a:buChar char="•"/>
              <a:defRPr/>
            </a:lvl8pPr>
            <a:lvl9pPr marL="2314575" lvl="8" indent="-192881" algn="l">
              <a:lnSpc>
                <a:spcPct val="90000"/>
              </a:lnSpc>
              <a:spcBef>
                <a:spcPts val="281"/>
              </a:spcBef>
              <a:spcAft>
                <a:spcPts val="0"/>
              </a:spcAft>
              <a:buClr>
                <a:schemeClr val="dk1"/>
              </a:buClr>
              <a:buSzPts val="1800"/>
              <a:buChar char="•"/>
              <a:defRPr/>
            </a:lvl9pPr>
          </a:lstStyle>
          <a:p>
            <a:pPr lvl="0"/>
            <a:r>
              <a:rPr lang="en-US"/>
              <a:t>Edit Master text styles</a:t>
            </a:r>
          </a:p>
        </p:txBody>
      </p:sp>
    </p:spTree>
    <p:extLst>
      <p:ext uri="{BB962C8B-B14F-4D97-AF65-F5344CB8AC3E}">
        <p14:creationId xmlns:p14="http://schemas.microsoft.com/office/powerpoint/2010/main" val="348567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200"/>
                                        <p:tgtEl>
                                          <p:spTgt spid="6"/>
                                        </p:tgtEl>
                                      </p:cBhvr>
                                    </p:animEffect>
                                  </p:childTnLst>
                                </p:cTn>
                              </p:par>
                            </p:childTnLst>
                          </p:cTn>
                        </p:par>
                        <p:par>
                          <p:cTn id="8" fill="hold">
                            <p:stCondLst>
                              <p:cond delay="1200"/>
                            </p:stCondLst>
                            <p:childTnLst>
                              <p:par>
                                <p:cTn id="9" presetID="10"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300"/>
                                        <p:tgtEl>
                                          <p:spTgt spid="8"/>
                                        </p:tgtEl>
                                      </p:cBhvr>
                                    </p:animEffect>
                                  </p:childTnLst>
                                </p:cTn>
                              </p:par>
                            </p:childTnLst>
                          </p:cTn>
                        </p:par>
                        <p:par>
                          <p:cTn id="12" fill="hold">
                            <p:stCondLst>
                              <p:cond delay="2500"/>
                            </p:stCondLst>
                            <p:childTnLst>
                              <p:par>
                                <p:cTn id="13" presetID="10" presetClass="entr" presetSubtype="0"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_one" preserve="1">
  <p:cSld name="Blank_one">
    <p:spTree>
      <p:nvGrpSpPr>
        <p:cNvPr id="1" name="Shape 56"/>
        <p:cNvGrpSpPr/>
        <p:nvPr/>
      </p:nvGrpSpPr>
      <p:grpSpPr>
        <a:xfrm>
          <a:off x="0" y="0"/>
          <a:ext cx="0" cy="0"/>
          <a:chOff x="0" y="0"/>
          <a:chExt cx="0" cy="0"/>
        </a:xfrm>
      </p:grpSpPr>
      <p:sp>
        <p:nvSpPr>
          <p:cNvPr id="57" name="Google Shape;57;p110"/>
          <p:cNvSpPr txBox="1"/>
          <p:nvPr/>
        </p:nvSpPr>
        <p:spPr>
          <a:xfrm>
            <a:off x="10871200" y="6550026"/>
            <a:ext cx="1320800" cy="196177"/>
          </a:xfrm>
          <a:prstGeom prst="rect">
            <a:avLst/>
          </a:prstGeom>
          <a:noFill/>
          <a:ln>
            <a:noFill/>
          </a:ln>
        </p:spPr>
        <p:txBody>
          <a:bodyPr spcFirstLastPara="1" wrap="square" lIns="68569" tIns="34275" rIns="68569" bIns="34275" anchor="t" anchorCtr="0">
            <a:spAutoFit/>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kumimoji="0" lang="en-US" sz="825" b="1" i="0" u="none" strike="noStrike" kern="1200" cap="none" spc="0" normalizeH="0" baseline="0" noProof="0">
                <a:ln>
                  <a:noFill/>
                </a:ln>
                <a:solidFill>
                  <a:srgbClr val="101141"/>
                </a:solidFill>
                <a:effectLst/>
                <a:uLnTx/>
                <a:uFillTx/>
                <a:latin typeface="Arial"/>
                <a:ea typeface="Arial"/>
                <a:cs typeface="Arial"/>
                <a:sym typeface="Arial"/>
              </a:rPr>
              <a:t>BITS </a:t>
            </a:r>
            <a:r>
              <a:rPr kumimoji="0" lang="en-US" sz="825" b="0" i="0" u="none" strike="noStrike" kern="1200" cap="none" spc="0" normalizeH="0" baseline="0" noProof="0">
                <a:ln>
                  <a:noFill/>
                </a:ln>
                <a:solidFill>
                  <a:srgbClr val="101141"/>
                </a:solidFill>
                <a:effectLst/>
                <a:uLnTx/>
                <a:uFillTx/>
                <a:latin typeface="Arial"/>
                <a:ea typeface="Arial"/>
                <a:cs typeface="Arial"/>
                <a:sym typeface="Arial"/>
              </a:rPr>
              <a:t>Pilani</a:t>
            </a:r>
            <a:endParaRPr kumimoji="0" sz="825" b="0" i="0" u="none" strike="noStrike" kern="1200" cap="none" spc="0" normalizeH="0" baseline="0" noProof="0">
              <a:ln>
                <a:noFill/>
              </a:ln>
              <a:solidFill>
                <a:srgbClr val="101141"/>
              </a:solidFill>
              <a:effectLst/>
              <a:uLnTx/>
              <a:uFillTx/>
              <a:latin typeface="Arial"/>
              <a:ea typeface="Arial"/>
              <a:cs typeface="Arial"/>
              <a:sym typeface="Arial"/>
            </a:endParaRPr>
          </a:p>
        </p:txBody>
      </p:sp>
      <p:grpSp>
        <p:nvGrpSpPr>
          <p:cNvPr id="58" name="Google Shape;58;p110"/>
          <p:cNvGrpSpPr/>
          <p:nvPr/>
        </p:nvGrpSpPr>
        <p:grpSpPr>
          <a:xfrm>
            <a:off x="2779184" y="6550028"/>
            <a:ext cx="9412816" cy="49213"/>
            <a:chOff x="2083888" y="6550671"/>
            <a:chExt cx="7060112" cy="48665"/>
          </a:xfrm>
        </p:grpSpPr>
        <p:sp>
          <p:nvSpPr>
            <p:cNvPr id="59" name="Google Shape;59;p110"/>
            <p:cNvSpPr/>
            <p:nvPr/>
          </p:nvSpPr>
          <p:spPr>
            <a:xfrm>
              <a:off x="4630418" y="6550671"/>
              <a:ext cx="2329027" cy="48665"/>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Tahoma"/>
                <a:ea typeface="Tahoma"/>
                <a:cs typeface="Tahoma"/>
                <a:sym typeface="Tahoma"/>
              </a:endParaRPr>
            </a:p>
          </p:txBody>
        </p:sp>
        <p:sp>
          <p:nvSpPr>
            <p:cNvPr id="60" name="Google Shape;60;p110"/>
            <p:cNvSpPr/>
            <p:nvPr/>
          </p:nvSpPr>
          <p:spPr>
            <a:xfrm>
              <a:off x="6908642" y="6550671"/>
              <a:ext cx="2235358" cy="45525"/>
            </a:xfrm>
            <a:prstGeom prst="rect">
              <a:avLst/>
            </a:prstGeom>
            <a:solidFill>
              <a:srgbClr val="E31C24"/>
            </a:solidFill>
            <a:ln>
              <a:noFill/>
            </a:ln>
          </p:spPr>
          <p:txBody>
            <a:bodyPr spcFirstLastPara="1" wrap="square" lIns="91425" tIns="45700" rIns="91425" bIns="45700" anchor="ctr" anchorCtr="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Tahoma"/>
                <a:ea typeface="Tahoma"/>
                <a:cs typeface="Tahoma"/>
                <a:sym typeface="Tahoma"/>
              </a:endParaRPr>
            </a:p>
          </p:txBody>
        </p:sp>
        <p:sp>
          <p:nvSpPr>
            <p:cNvPr id="61" name="Google Shape;61;p110"/>
            <p:cNvSpPr/>
            <p:nvPr/>
          </p:nvSpPr>
          <p:spPr>
            <a:xfrm>
              <a:off x="2083888" y="6550671"/>
              <a:ext cx="2581458" cy="48665"/>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Tahoma"/>
                <a:ea typeface="Tahoma"/>
                <a:cs typeface="Tahoma"/>
                <a:sym typeface="Tahoma"/>
              </a:endParaRPr>
            </a:p>
          </p:txBody>
        </p:sp>
      </p:grpSp>
      <p:pic>
        <p:nvPicPr>
          <p:cNvPr id="62" name="Google Shape;62;p110" descr="Picture 7.png"/>
          <p:cNvPicPr preferRelativeResize="0"/>
          <p:nvPr/>
        </p:nvPicPr>
        <p:blipFill rotWithShape="1">
          <a:blip r:embed="rId2">
            <a:alphaModFix/>
          </a:blip>
          <a:srcRect l="1923" b="5335"/>
          <a:stretch/>
        </p:blipFill>
        <p:spPr>
          <a:xfrm>
            <a:off x="8839202" y="0"/>
            <a:ext cx="2925233" cy="692150"/>
          </a:xfrm>
          <a:prstGeom prst="rect">
            <a:avLst/>
          </a:prstGeom>
          <a:noFill/>
          <a:ln>
            <a:noFill/>
          </a:ln>
        </p:spPr>
      </p:pic>
      <p:grpSp>
        <p:nvGrpSpPr>
          <p:cNvPr id="63" name="Google Shape;63;p110"/>
          <p:cNvGrpSpPr/>
          <p:nvPr/>
        </p:nvGrpSpPr>
        <p:grpSpPr>
          <a:xfrm>
            <a:off x="2844800" y="6553200"/>
            <a:ext cx="9347200" cy="46038"/>
            <a:chOff x="1905000" y="6553200"/>
            <a:chExt cx="7010400" cy="45719"/>
          </a:xfrm>
        </p:grpSpPr>
        <p:sp>
          <p:nvSpPr>
            <p:cNvPr id="64" name="Google Shape;64;p110"/>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Tahoma"/>
                <a:ea typeface="Tahoma"/>
                <a:cs typeface="Tahoma"/>
                <a:sym typeface="Tahoma"/>
              </a:endParaRPr>
            </a:p>
          </p:txBody>
        </p:sp>
        <p:sp>
          <p:nvSpPr>
            <p:cNvPr id="65" name="Google Shape;65;p110"/>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Tahoma"/>
                <a:ea typeface="Tahoma"/>
                <a:cs typeface="Tahoma"/>
                <a:sym typeface="Tahoma"/>
              </a:endParaRPr>
            </a:p>
          </p:txBody>
        </p:sp>
        <p:sp>
          <p:nvSpPr>
            <p:cNvPr id="66" name="Google Shape;66;p110"/>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Tahoma"/>
                <a:ea typeface="Tahoma"/>
                <a:cs typeface="Tahoma"/>
                <a:sym typeface="Tahoma"/>
              </a:endParaRPr>
            </a:p>
          </p:txBody>
        </p:sp>
      </p:grpSp>
      <p:grpSp>
        <p:nvGrpSpPr>
          <p:cNvPr id="67" name="Google Shape;67;p110"/>
          <p:cNvGrpSpPr/>
          <p:nvPr/>
        </p:nvGrpSpPr>
        <p:grpSpPr>
          <a:xfrm>
            <a:off x="0" y="1295400"/>
            <a:ext cx="9347200" cy="46038"/>
            <a:chOff x="1905000" y="6553200"/>
            <a:chExt cx="7010400" cy="45719"/>
          </a:xfrm>
        </p:grpSpPr>
        <p:sp>
          <p:nvSpPr>
            <p:cNvPr id="68" name="Google Shape;68;p110"/>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Tahoma"/>
                <a:ea typeface="Tahoma"/>
                <a:cs typeface="Tahoma"/>
                <a:sym typeface="Tahoma"/>
              </a:endParaRPr>
            </a:p>
          </p:txBody>
        </p:sp>
        <p:sp>
          <p:nvSpPr>
            <p:cNvPr id="69" name="Google Shape;69;p110"/>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Tahoma"/>
                <a:ea typeface="Tahoma"/>
                <a:cs typeface="Tahoma"/>
                <a:sym typeface="Tahoma"/>
              </a:endParaRPr>
            </a:p>
          </p:txBody>
        </p:sp>
        <p:sp>
          <p:nvSpPr>
            <p:cNvPr id="70" name="Google Shape;70;p110"/>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Tahoma"/>
                <a:ea typeface="Tahoma"/>
                <a:cs typeface="Tahoma"/>
                <a:sym typeface="Tahoma"/>
              </a:endParaRPr>
            </a:p>
          </p:txBody>
        </p:sp>
      </p:grpSp>
    </p:spTree>
    <p:extLst>
      <p:ext uri="{BB962C8B-B14F-4D97-AF65-F5344CB8AC3E}">
        <p14:creationId xmlns:p14="http://schemas.microsoft.com/office/powerpoint/2010/main" val="205084905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7_Title and Content">
    <p:spTree>
      <p:nvGrpSpPr>
        <p:cNvPr id="1" name=""/>
        <p:cNvGrpSpPr/>
        <p:nvPr/>
      </p:nvGrpSpPr>
      <p:grpSpPr>
        <a:xfrm>
          <a:off x="0" y="0"/>
          <a:ext cx="0" cy="0"/>
          <a:chOff x="0" y="0"/>
          <a:chExt cx="0" cy="0"/>
        </a:xfrm>
      </p:grpSpPr>
      <p:sp>
        <p:nvSpPr>
          <p:cNvPr id="4" name="TextBox 3"/>
          <p:cNvSpPr txBox="1"/>
          <p:nvPr/>
        </p:nvSpPr>
        <p:spPr>
          <a:xfrm>
            <a:off x="4368800" y="6596066"/>
            <a:ext cx="7823200" cy="219291"/>
          </a:xfrm>
          <a:prstGeom prst="rect">
            <a:avLst/>
          </a:prstGeom>
          <a:noFill/>
        </p:spPr>
        <p:txBody>
          <a:bodyPr>
            <a:spAutoFit/>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kumimoji="0" lang="en-US" sz="825" b="1" i="0" u="none" strike="noStrike" kern="1200" cap="none" spc="0" normalizeH="0" baseline="0" noProof="0" dirty="0">
                <a:ln>
                  <a:noFill/>
                </a:ln>
                <a:solidFill>
                  <a:srgbClr val="101141"/>
                </a:solidFill>
                <a:effectLst/>
                <a:uLnTx/>
                <a:uFillTx/>
                <a:latin typeface="Arial"/>
                <a:ea typeface="+mn-ea"/>
                <a:cs typeface="Arial"/>
              </a:rPr>
              <a:t>BITS </a:t>
            </a:r>
            <a:r>
              <a:rPr kumimoji="0" lang="en-US" sz="825" b="0" i="0" u="none" strike="noStrike" kern="1200" cap="none" spc="0" normalizeH="0" baseline="0" noProof="0" dirty="0">
                <a:ln>
                  <a:noFill/>
                </a:ln>
                <a:solidFill>
                  <a:srgbClr val="101141"/>
                </a:solidFill>
                <a:effectLst/>
                <a:uLnTx/>
                <a:uFillTx/>
                <a:latin typeface="Arial"/>
                <a:ea typeface="+mn-ea"/>
                <a:cs typeface="Arial"/>
              </a:rPr>
              <a:t>Pilani, Pilani Campus</a:t>
            </a:r>
          </a:p>
        </p:txBody>
      </p:sp>
      <p:grpSp>
        <p:nvGrpSpPr>
          <p:cNvPr id="5" name="Group 11"/>
          <p:cNvGrpSpPr>
            <a:grpSpLocks/>
          </p:cNvGrpSpPr>
          <p:nvPr/>
        </p:nvGrpSpPr>
        <p:grpSpPr bwMode="auto">
          <a:xfrm>
            <a:off x="2779184" y="6550028"/>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8839202" y="0"/>
            <a:ext cx="2925233" cy="692150"/>
          </a:xfrm>
          <a:prstGeom prst="rect">
            <a:avLst/>
          </a:prstGeom>
          <a:noFill/>
          <a:ln w="9525">
            <a:noFill/>
            <a:miter lim="800000"/>
            <a:headEnd/>
            <a:tailEnd/>
          </a:ln>
        </p:spPr>
      </p:pic>
      <p:grpSp>
        <p:nvGrpSpPr>
          <p:cNvPr id="10" name="Group 18"/>
          <p:cNvGrpSpPr>
            <a:grpSpLocks/>
          </p:cNvGrpSpPr>
          <p:nvPr/>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4" name="Group 22"/>
          <p:cNvGrpSpPr>
            <a:grpSpLocks/>
          </p:cNvGrpSpPr>
          <p:nvPr/>
        </p:nvGrpSpPr>
        <p:grpSpPr bwMode="auto">
          <a:xfrm>
            <a:off x="0" y="1295400"/>
            <a:ext cx="93472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406400" y="1493840"/>
            <a:ext cx="109728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Edit Master text styles</a:t>
            </a:r>
          </a:p>
        </p:txBody>
      </p:sp>
    </p:spTree>
    <p:extLst>
      <p:ext uri="{BB962C8B-B14F-4D97-AF65-F5344CB8AC3E}">
        <p14:creationId xmlns:p14="http://schemas.microsoft.com/office/powerpoint/2010/main" val="6907912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1_Blank_one">
    <p:spTree>
      <p:nvGrpSpPr>
        <p:cNvPr id="1" name="Shape 56"/>
        <p:cNvGrpSpPr/>
        <p:nvPr/>
      </p:nvGrpSpPr>
      <p:grpSpPr>
        <a:xfrm>
          <a:off x="0" y="0"/>
          <a:ext cx="0" cy="0"/>
          <a:chOff x="0" y="0"/>
          <a:chExt cx="0" cy="0"/>
        </a:xfrm>
      </p:grpSpPr>
      <p:grpSp>
        <p:nvGrpSpPr>
          <p:cNvPr id="2" name="Google Shape;58;p106">
            <a:extLst>
              <a:ext uri="{FF2B5EF4-FFF2-40B4-BE49-F238E27FC236}">
                <a16:creationId xmlns:a16="http://schemas.microsoft.com/office/drawing/2014/main" id="{388B7AC2-9338-42ED-B0AC-AFF798FA35AB}"/>
              </a:ext>
            </a:extLst>
          </p:cNvPr>
          <p:cNvGrpSpPr>
            <a:grpSpLocks/>
          </p:cNvGrpSpPr>
          <p:nvPr/>
        </p:nvGrpSpPr>
        <p:grpSpPr bwMode="auto">
          <a:xfrm>
            <a:off x="2" y="3"/>
            <a:ext cx="9412817" cy="49213"/>
            <a:chOff x="0" y="0"/>
            <a:chExt cx="7060112" cy="48665"/>
          </a:xfrm>
        </p:grpSpPr>
        <p:sp>
          <p:nvSpPr>
            <p:cNvPr id="3" name="Google Shape;59;p106">
              <a:extLst>
                <a:ext uri="{FF2B5EF4-FFF2-40B4-BE49-F238E27FC236}">
                  <a16:creationId xmlns:a16="http://schemas.microsoft.com/office/drawing/2014/main" id="{2E2AE42B-B438-40E3-A12D-DECB0826EF1E}"/>
                </a:ext>
              </a:extLst>
            </p:cNvPr>
            <p:cNvSpPr>
              <a:spLocks noChangeArrowheads="1"/>
            </p:cNvSpPr>
            <p:nvPr/>
          </p:nvSpPr>
          <p:spPr bwMode="auto">
            <a:xfrm>
              <a:off x="4631065" y="6550871"/>
              <a:ext cx="2329027" cy="48664"/>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4" name="Google Shape;60;p106">
              <a:extLst>
                <a:ext uri="{FF2B5EF4-FFF2-40B4-BE49-F238E27FC236}">
                  <a16:creationId xmlns:a16="http://schemas.microsoft.com/office/drawing/2014/main" id="{CA611BA7-FBE6-4FDE-95B2-F4DBDD85F2C7}"/>
                </a:ext>
              </a:extLst>
            </p:cNvPr>
            <p:cNvSpPr>
              <a:spLocks noChangeArrowheads="1"/>
            </p:cNvSpPr>
            <p:nvPr/>
          </p:nvSpPr>
          <p:spPr bwMode="auto">
            <a:xfrm>
              <a:off x="6909288" y="6550871"/>
              <a:ext cx="2235358" cy="45524"/>
            </a:xfrm>
            <a:prstGeom prst="rect">
              <a:avLst/>
            </a:prstGeom>
            <a:solidFill>
              <a:srgbClr val="E31C24"/>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5" name="Google Shape;61;p106">
              <a:extLst>
                <a:ext uri="{FF2B5EF4-FFF2-40B4-BE49-F238E27FC236}">
                  <a16:creationId xmlns:a16="http://schemas.microsoft.com/office/drawing/2014/main" id="{C5730040-5703-4D01-B41E-68DEE797B669}"/>
                </a:ext>
              </a:extLst>
            </p:cNvPr>
            <p:cNvSpPr>
              <a:spLocks noChangeArrowheads="1"/>
            </p:cNvSpPr>
            <p:nvPr/>
          </p:nvSpPr>
          <p:spPr bwMode="auto">
            <a:xfrm>
              <a:off x="2084535" y="6550871"/>
              <a:ext cx="2581457" cy="48664"/>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grpSp>
      <p:pic>
        <p:nvPicPr>
          <p:cNvPr id="6" name="Google Shape;62;p106" descr="Picture 7.png">
            <a:extLst>
              <a:ext uri="{FF2B5EF4-FFF2-40B4-BE49-F238E27FC236}">
                <a16:creationId xmlns:a16="http://schemas.microsoft.com/office/drawing/2014/main" id="{7B6FCF6E-79D1-40AF-913E-45A83B4CDB7F}"/>
              </a:ext>
            </a:extLst>
          </p:cNvPr>
          <p:cNvPicPr preferRelativeResize="0">
            <a:picLocks noChangeAspect="1" noChangeArrowheads="1"/>
          </p:cNvPicPr>
          <p:nvPr/>
        </p:nvPicPr>
        <p:blipFill>
          <a:blip r:embed="rId2" cstate="print">
            <a:extLst>
              <a:ext uri="{28A0092B-C50C-407E-A947-70E740481C1C}">
                <a14:useLocalDpi xmlns:a14="http://schemas.microsoft.com/office/drawing/2010/main" val="0"/>
              </a:ext>
            </a:extLst>
          </a:blip>
          <a:srcRect l="1923" b="5334"/>
          <a:stretch>
            <a:fillRect/>
          </a:stretch>
        </p:blipFill>
        <p:spPr bwMode="auto">
          <a:xfrm>
            <a:off x="8839202"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 name="Google Shape;63;p106">
            <a:extLst>
              <a:ext uri="{FF2B5EF4-FFF2-40B4-BE49-F238E27FC236}">
                <a16:creationId xmlns:a16="http://schemas.microsoft.com/office/drawing/2014/main" id="{C7582CFB-964D-4412-A074-E14A1A931162}"/>
              </a:ext>
            </a:extLst>
          </p:cNvPr>
          <p:cNvGrpSpPr>
            <a:grpSpLocks/>
          </p:cNvGrpSpPr>
          <p:nvPr/>
        </p:nvGrpSpPr>
        <p:grpSpPr bwMode="auto">
          <a:xfrm>
            <a:off x="0" y="0"/>
            <a:ext cx="9347200" cy="46038"/>
            <a:chOff x="0" y="0"/>
            <a:chExt cx="7010400" cy="45719"/>
          </a:xfrm>
        </p:grpSpPr>
        <p:sp>
          <p:nvSpPr>
            <p:cNvPr id="8" name="Google Shape;64;p106">
              <a:extLst>
                <a:ext uri="{FF2B5EF4-FFF2-40B4-BE49-F238E27FC236}">
                  <a16:creationId xmlns:a16="http://schemas.microsoft.com/office/drawing/2014/main" id="{25E78CE8-FE67-4F17-84C6-F00B05BB4D4C}"/>
                </a:ext>
              </a:extLst>
            </p:cNvPr>
            <p:cNvSpPr>
              <a:spLocks noChangeArrowheads="1"/>
            </p:cNvSpPr>
            <p:nvPr/>
          </p:nvSpPr>
          <p:spPr bwMode="auto">
            <a:xfrm>
              <a:off x="4267200" y="6553511"/>
              <a:ext cx="2328863" cy="45718"/>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9" name="Google Shape;65;p106">
              <a:extLst>
                <a:ext uri="{FF2B5EF4-FFF2-40B4-BE49-F238E27FC236}">
                  <a16:creationId xmlns:a16="http://schemas.microsoft.com/office/drawing/2014/main" id="{EDEAF392-8D63-4C70-89CE-1BF9B0B6ADE3}"/>
                </a:ext>
              </a:extLst>
            </p:cNvPr>
            <p:cNvSpPr>
              <a:spLocks noChangeArrowheads="1"/>
            </p:cNvSpPr>
            <p:nvPr/>
          </p:nvSpPr>
          <p:spPr bwMode="auto">
            <a:xfrm>
              <a:off x="1905000" y="6553511"/>
              <a:ext cx="2362200" cy="45718"/>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10" name="Google Shape;66;p106">
              <a:extLst>
                <a:ext uri="{FF2B5EF4-FFF2-40B4-BE49-F238E27FC236}">
                  <a16:creationId xmlns:a16="http://schemas.microsoft.com/office/drawing/2014/main" id="{1B76DF7F-CE0E-4786-B387-FD7F280597DC}"/>
                </a:ext>
              </a:extLst>
            </p:cNvPr>
            <p:cNvSpPr>
              <a:spLocks noChangeArrowheads="1"/>
            </p:cNvSpPr>
            <p:nvPr/>
          </p:nvSpPr>
          <p:spPr bwMode="auto">
            <a:xfrm>
              <a:off x="6586538" y="6553511"/>
              <a:ext cx="2328862" cy="45718"/>
            </a:xfrm>
            <a:prstGeom prst="rect">
              <a:avLst/>
            </a:prstGeom>
            <a:solidFill>
              <a:srgbClr val="FF0000"/>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grpSp>
      <p:grpSp>
        <p:nvGrpSpPr>
          <p:cNvPr id="11" name="Google Shape;67;p106">
            <a:extLst>
              <a:ext uri="{FF2B5EF4-FFF2-40B4-BE49-F238E27FC236}">
                <a16:creationId xmlns:a16="http://schemas.microsoft.com/office/drawing/2014/main" id="{F0D82B4B-C293-468C-9CC8-E37979E1F7E5}"/>
              </a:ext>
            </a:extLst>
          </p:cNvPr>
          <p:cNvGrpSpPr>
            <a:grpSpLocks/>
          </p:cNvGrpSpPr>
          <p:nvPr/>
        </p:nvGrpSpPr>
        <p:grpSpPr bwMode="auto">
          <a:xfrm>
            <a:off x="0" y="0"/>
            <a:ext cx="9347200" cy="46038"/>
            <a:chOff x="0" y="0"/>
            <a:chExt cx="7010400" cy="45719"/>
          </a:xfrm>
        </p:grpSpPr>
        <p:sp>
          <p:nvSpPr>
            <p:cNvPr id="12" name="Google Shape;68;p106">
              <a:extLst>
                <a:ext uri="{FF2B5EF4-FFF2-40B4-BE49-F238E27FC236}">
                  <a16:creationId xmlns:a16="http://schemas.microsoft.com/office/drawing/2014/main" id="{E314DE30-AC45-4CE5-A2D0-B61F39D63F93}"/>
                </a:ext>
              </a:extLst>
            </p:cNvPr>
            <p:cNvSpPr>
              <a:spLocks noChangeArrowheads="1"/>
            </p:cNvSpPr>
            <p:nvPr/>
          </p:nvSpPr>
          <p:spPr bwMode="auto">
            <a:xfrm>
              <a:off x="4267200" y="6553511"/>
              <a:ext cx="2328863" cy="45718"/>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13" name="Google Shape;69;p106">
              <a:extLst>
                <a:ext uri="{FF2B5EF4-FFF2-40B4-BE49-F238E27FC236}">
                  <a16:creationId xmlns:a16="http://schemas.microsoft.com/office/drawing/2014/main" id="{7C259459-26E1-4435-9DB8-4F8CB1CB1AB2}"/>
                </a:ext>
              </a:extLst>
            </p:cNvPr>
            <p:cNvSpPr>
              <a:spLocks noChangeArrowheads="1"/>
            </p:cNvSpPr>
            <p:nvPr/>
          </p:nvSpPr>
          <p:spPr bwMode="auto">
            <a:xfrm>
              <a:off x="1905000" y="6553511"/>
              <a:ext cx="2362200" cy="45718"/>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14" name="Google Shape;70;p106">
              <a:extLst>
                <a:ext uri="{FF2B5EF4-FFF2-40B4-BE49-F238E27FC236}">
                  <a16:creationId xmlns:a16="http://schemas.microsoft.com/office/drawing/2014/main" id="{83B36E22-03F2-4FF9-8495-AE8691BCDAD2}"/>
                </a:ext>
              </a:extLst>
            </p:cNvPr>
            <p:cNvSpPr>
              <a:spLocks noChangeArrowheads="1"/>
            </p:cNvSpPr>
            <p:nvPr/>
          </p:nvSpPr>
          <p:spPr bwMode="auto">
            <a:xfrm>
              <a:off x="6586538" y="6553511"/>
              <a:ext cx="2328862" cy="45718"/>
            </a:xfrm>
            <a:prstGeom prst="rect">
              <a:avLst/>
            </a:prstGeom>
            <a:solidFill>
              <a:srgbClr val="FF0000"/>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grpSp>
    </p:spTree>
    <p:extLst>
      <p:ext uri="{BB962C8B-B14F-4D97-AF65-F5344CB8AC3E}">
        <p14:creationId xmlns:p14="http://schemas.microsoft.com/office/powerpoint/2010/main" val="25920919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ection header" type="secHead" preserve="1">
  <p:cSld name="3_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600" y="2867800"/>
            <a:ext cx="11360800" cy="11224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r>
              <a:rPr lang="en-US"/>
              <a:t>Click to edit Master title style</a:t>
            </a:r>
            <a:endParaRPr/>
          </a:p>
        </p:txBody>
      </p:sp>
      <p:sp>
        <p:nvSpPr>
          <p:cNvPr id="15" name="Google Shape;15;p3"/>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defTabSz="685800"/>
            <a:fld id="{00000000-1234-1234-1234-123412341234}" type="slidenum">
              <a:rPr lang="en" sz="1350" smtClean="0">
                <a:solidFill>
                  <a:prstClr val="black"/>
                </a:solidFill>
              </a:rPr>
              <a:pPr algn="r" defTabSz="685800"/>
              <a:t>‹#›</a:t>
            </a:fld>
            <a:endParaRPr lang="en" sz="1350">
              <a:solidFill>
                <a:prstClr val="black"/>
              </a:solidFill>
            </a:endParaRPr>
          </a:p>
        </p:txBody>
      </p:sp>
    </p:spTree>
    <p:extLst>
      <p:ext uri="{BB962C8B-B14F-4D97-AF65-F5344CB8AC3E}">
        <p14:creationId xmlns:p14="http://schemas.microsoft.com/office/powerpoint/2010/main" val="235618792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4" name="Holder 4"/>
          <p:cNvSpPr>
            <a:spLocks noGrp="1"/>
          </p:cNvSpPr>
          <p:nvPr>
            <p:ph type="ftr" sz="quarter" idx="5"/>
          </p:nvPr>
        </p:nvSpPr>
        <p:spPr>
          <a:xfrm>
            <a:off x="9811513" y="6639738"/>
            <a:ext cx="2274993" cy="182245"/>
          </a:xfrm>
          <a:prstGeom prst="rect">
            <a:avLst/>
          </a:prstGeom>
        </p:spPr>
        <p:txBody>
          <a:bodyPr lIns="0" tIns="0" rIns="0" bIns="0"/>
          <a:lstStyle>
            <a:lvl1pPr>
              <a:defRPr sz="825" b="0" i="0">
                <a:solidFill>
                  <a:srgbClr val="0F1141"/>
                </a:solidFill>
                <a:latin typeface="Arial MT"/>
                <a:cs typeface="Arial MT"/>
              </a:defRPr>
            </a:lvl1pPr>
          </a:lstStyle>
          <a:p>
            <a:pPr marL="9525" defTabSz="685800"/>
            <a:r>
              <a:rPr lang="en-IN" b="1">
                <a:latin typeface="Arial"/>
                <a:cs typeface="Arial"/>
              </a:rPr>
              <a:t>BITS</a:t>
            </a:r>
            <a:r>
              <a:rPr lang="en-IN" b="1" spc="-41">
                <a:latin typeface="Arial"/>
                <a:cs typeface="Arial"/>
              </a:rPr>
              <a:t> </a:t>
            </a:r>
            <a:r>
              <a:rPr lang="en-IN"/>
              <a:t>Pilani,</a:t>
            </a:r>
            <a:r>
              <a:rPr lang="en-IN" spc="-26"/>
              <a:t> </a:t>
            </a:r>
            <a:r>
              <a:rPr lang="en-IN"/>
              <a:t>Pilani</a:t>
            </a:r>
            <a:r>
              <a:rPr lang="en-IN" spc="-23"/>
              <a:t> </a:t>
            </a:r>
            <a:r>
              <a:rPr lang="en-IN" spc="-8"/>
              <a:t>Campus</a:t>
            </a:r>
            <a:endParaRPr lang="en-IN" spc="-8" dirty="0"/>
          </a:p>
        </p:txBody>
      </p:sp>
      <p:sp>
        <p:nvSpPr>
          <p:cNvPr id="8" name="Content Placeholder 2"/>
          <p:cNvSpPr>
            <a:spLocks noGrp="1"/>
          </p:cNvSpPr>
          <p:nvPr>
            <p:ph idx="10"/>
          </p:nvPr>
        </p:nvSpPr>
        <p:spPr>
          <a:xfrm>
            <a:off x="304800" y="1545224"/>
            <a:ext cx="11480800" cy="4525963"/>
          </a:xfrm>
          <a:prstGeom prst="rect">
            <a:avLst/>
          </a:prstGeom>
        </p:spPr>
        <p:txBody>
          <a:bodyPr>
            <a:normAutofit/>
          </a:bodyPr>
          <a:lstStyle>
            <a:lvl1pPr>
              <a:defRPr sz="1800">
                <a:latin typeface="Cambria" panose="02040503050406030204" pitchFamily="18" charset="0"/>
                <a:ea typeface="Cambria" panose="02040503050406030204" pitchFamily="18" charset="0"/>
              </a:defRPr>
            </a:lvl1pPr>
            <a:lvl2pPr>
              <a:defRPr sz="1800">
                <a:latin typeface="Cambria" panose="02040503050406030204" pitchFamily="18" charset="0"/>
                <a:ea typeface="Cambria" panose="02040503050406030204" pitchFamily="18" charset="0"/>
              </a:defRPr>
            </a:lvl2pPr>
            <a:lvl3pPr>
              <a:defRPr sz="1800">
                <a:latin typeface="Cambria" panose="02040503050406030204" pitchFamily="18" charset="0"/>
                <a:ea typeface="Cambria" panose="02040503050406030204" pitchFamily="18" charset="0"/>
              </a:defRPr>
            </a:lvl3pPr>
            <a:lvl4pPr>
              <a:defRPr sz="1800">
                <a:latin typeface="Cambria" panose="02040503050406030204" pitchFamily="18" charset="0"/>
                <a:ea typeface="Cambria" panose="02040503050406030204" pitchFamily="18" charset="0"/>
              </a:defRPr>
            </a:lvl4pPr>
            <a:lvl5pPr>
              <a:defRPr sz="1800">
                <a:latin typeface="Cambria" panose="02040503050406030204" pitchFamily="18" charset="0"/>
                <a:ea typeface="Cambria" panose="02040503050406030204" pitchFamily="18"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9" name="Title 1"/>
          <p:cNvSpPr>
            <a:spLocks noGrp="1"/>
          </p:cNvSpPr>
          <p:nvPr>
            <p:ph type="title"/>
          </p:nvPr>
        </p:nvSpPr>
        <p:spPr>
          <a:xfrm>
            <a:off x="304802" y="0"/>
            <a:ext cx="10881209" cy="1219200"/>
          </a:xfrm>
          <a:prstGeom prst="rect">
            <a:avLst/>
          </a:prstGeom>
        </p:spPr>
        <p:txBody>
          <a:bodyPr anchor="ctr"/>
          <a:lstStyle>
            <a:lvl1pPr algn="l">
              <a:defRPr sz="2700" b="0">
                <a:latin typeface="Cambria" panose="02040503050406030204" pitchFamily="18" charset="0"/>
                <a:ea typeface="Cambria" panose="02040503050406030204" pitchFamily="18" charset="0"/>
              </a:defRPr>
            </a:lvl1pPr>
          </a:lstStyle>
          <a:p>
            <a:r>
              <a:rPr lang="en-US"/>
              <a:t>Click to edit Master title style</a:t>
            </a:r>
            <a:endParaRPr lang="en-IN" dirty="0"/>
          </a:p>
        </p:txBody>
      </p:sp>
    </p:spTree>
    <p:extLst>
      <p:ext uri="{BB962C8B-B14F-4D97-AF65-F5344CB8AC3E}">
        <p14:creationId xmlns:p14="http://schemas.microsoft.com/office/powerpoint/2010/main" val="36388862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86_Title and Content">
    <p:spTree>
      <p:nvGrpSpPr>
        <p:cNvPr id="1" name=""/>
        <p:cNvGrpSpPr/>
        <p:nvPr/>
      </p:nvGrpSpPr>
      <p:grpSpPr>
        <a:xfrm>
          <a:off x="0" y="0"/>
          <a:ext cx="0" cy="0"/>
          <a:chOff x="0" y="0"/>
          <a:chExt cx="0" cy="0"/>
        </a:xfrm>
      </p:grpSpPr>
      <p:sp>
        <p:nvSpPr>
          <p:cNvPr id="4" name="TextBox 3"/>
          <p:cNvSpPr txBox="1"/>
          <p:nvPr/>
        </p:nvSpPr>
        <p:spPr>
          <a:xfrm>
            <a:off x="4368800" y="6596068"/>
            <a:ext cx="7823200" cy="187615"/>
          </a:xfrm>
          <a:prstGeom prst="rect">
            <a:avLst/>
          </a:prstGeom>
          <a:noFill/>
        </p:spPr>
        <p:txBody>
          <a:bodyPr>
            <a:spAutoFit/>
          </a:bodyPr>
          <a:lstStyle/>
          <a:p>
            <a:pPr marL="0" marR="0" lvl="0" indent="0" algn="r" defTabSz="685800" rtl="0" eaLnBrk="1" fontAlgn="base" latinLnBrk="0" hangingPunct="1">
              <a:lnSpc>
                <a:spcPct val="100000"/>
              </a:lnSpc>
              <a:spcBef>
                <a:spcPct val="0"/>
              </a:spcBef>
              <a:spcAft>
                <a:spcPct val="0"/>
              </a:spcAft>
              <a:buClrTx/>
              <a:buSzTx/>
              <a:buFontTx/>
              <a:buNone/>
              <a:tabLst/>
              <a:defRPr/>
            </a:pPr>
            <a:r>
              <a:rPr kumimoji="0" lang="en-US" sz="619" b="1" i="0" u="none" strike="noStrike" kern="1200" cap="none" spc="0" normalizeH="0" baseline="0" noProof="0" dirty="0">
                <a:ln>
                  <a:noFill/>
                </a:ln>
                <a:solidFill>
                  <a:srgbClr val="101141"/>
                </a:solidFill>
                <a:effectLst/>
                <a:uLnTx/>
                <a:uFillTx/>
                <a:latin typeface="Arial"/>
                <a:ea typeface="+mn-ea"/>
                <a:cs typeface="Arial"/>
              </a:rPr>
              <a:t>BITS </a:t>
            </a:r>
            <a:r>
              <a:rPr kumimoji="0" lang="en-US" sz="619" b="0" i="0" u="none" strike="noStrike" kern="1200" cap="none" spc="0" normalizeH="0" baseline="0" noProof="0" dirty="0">
                <a:ln>
                  <a:noFill/>
                </a:ln>
                <a:solidFill>
                  <a:srgbClr val="101141"/>
                </a:solidFill>
                <a:effectLst/>
                <a:uLnTx/>
                <a:uFillTx/>
                <a:latin typeface="Arial"/>
                <a:ea typeface="+mn-ea"/>
                <a:cs typeface="Arial"/>
              </a:rPr>
              <a:t>Pilani, Pilani Campus</a:t>
            </a:r>
          </a:p>
        </p:txBody>
      </p:sp>
      <p:grpSp>
        <p:nvGrpSpPr>
          <p:cNvPr id="5" name="Group 11"/>
          <p:cNvGrpSpPr>
            <a:grpSpLocks/>
          </p:cNvGrpSpPr>
          <p:nvPr/>
        </p:nvGrpSpPr>
        <p:grpSpPr bwMode="auto">
          <a:xfrm>
            <a:off x="2779184" y="6550030"/>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8839204" y="0"/>
            <a:ext cx="2925233" cy="692150"/>
          </a:xfrm>
          <a:prstGeom prst="rect">
            <a:avLst/>
          </a:prstGeom>
          <a:noFill/>
          <a:ln w="9525">
            <a:noFill/>
            <a:miter lim="800000"/>
            <a:headEnd/>
            <a:tailEnd/>
          </a:ln>
        </p:spPr>
      </p:pic>
      <p:grpSp>
        <p:nvGrpSpPr>
          <p:cNvPr id="10" name="Group 18"/>
          <p:cNvGrpSpPr>
            <a:grpSpLocks/>
          </p:cNvGrpSpPr>
          <p:nvPr/>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4" name="Group 22"/>
          <p:cNvGrpSpPr>
            <a:grpSpLocks/>
          </p:cNvGrpSpPr>
          <p:nvPr/>
        </p:nvGrpSpPr>
        <p:grpSpPr bwMode="auto">
          <a:xfrm>
            <a:off x="0" y="1295400"/>
            <a:ext cx="93472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406400" y="1493842"/>
            <a:ext cx="10972800" cy="4525963"/>
          </a:xfr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2025"/>
              </a:lnSpc>
              <a:spcBef>
                <a:spcPts val="0"/>
              </a:spcBef>
              <a:buNone/>
              <a:defRPr sz="2025" b="1" spc="-85" baseline="0">
                <a:latin typeface="Arial" pitchFamily="34" charset="0"/>
                <a:cs typeface="Arial" pitchFamily="34" charset="0"/>
              </a:defRPr>
            </a:lvl1pPr>
          </a:lstStyle>
          <a:p>
            <a:pPr lvl="0"/>
            <a:r>
              <a:rPr lang="en-US"/>
              <a:t>Edit Master text styles</a:t>
            </a:r>
          </a:p>
        </p:txBody>
      </p:sp>
    </p:spTree>
    <p:extLst>
      <p:ext uri="{BB962C8B-B14F-4D97-AF65-F5344CB8AC3E}">
        <p14:creationId xmlns:p14="http://schemas.microsoft.com/office/powerpoint/2010/main" val="304340088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160569"/>
            <a:ext cx="10668000" cy="764364"/>
          </a:xfrm>
          <a:prstGeom prst="rect">
            <a:avLst/>
          </a:prstGeom>
        </p:spPr>
      </p:pic>
      <p:sp>
        <p:nvSpPr>
          <p:cNvPr id="2" name="Title 1"/>
          <p:cNvSpPr>
            <a:spLocks noGrp="1"/>
          </p:cNvSpPr>
          <p:nvPr>
            <p:ph type="title"/>
          </p:nvPr>
        </p:nvSpPr>
        <p:spPr>
          <a:xfrm>
            <a:off x="838200" y="160569"/>
            <a:ext cx="9321800" cy="764364"/>
          </a:xfrm>
        </p:spPr>
        <p:txBody>
          <a:bodyPr>
            <a:normAutofit/>
          </a:bodyPr>
          <a:lstStyle>
            <a:lvl1pPr>
              <a:defRPr sz="24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857739" y="1600203"/>
            <a:ext cx="10160000" cy="2728913"/>
          </a:xfrm>
        </p:spPr>
        <p:txBody>
          <a:bodyPr/>
          <a:lstStyle>
            <a:lvl1pPr>
              <a:defRPr sz="1350">
                <a:latin typeface="Helvetica" panose="020B0604020202030204" pitchFamily="34" charset="0"/>
              </a:defRPr>
            </a:lvl1pPr>
            <a:lvl2pPr>
              <a:defRPr sz="1200">
                <a:latin typeface="Helvetica" panose="020B0604020202030204" pitchFamily="34" charset="0"/>
              </a:defRPr>
            </a:lvl2pPr>
            <a:lvl3pPr>
              <a:defRPr sz="1050">
                <a:latin typeface="Helvetica" panose="020B0604020202030204" pitchFamily="34" charset="0"/>
              </a:defRPr>
            </a:lvl3pPr>
            <a:lvl4pPr>
              <a:defRPr sz="900">
                <a:latin typeface="Helvetica" panose="020B0604020202030204" pitchFamily="34" charset="0"/>
              </a:defRPr>
            </a:lvl4pPr>
            <a:lvl5pPr>
              <a:defRPr sz="900">
                <a:latin typeface="Helvetica" panose="020B060402020203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2"/>
          <p:cNvSpPr>
            <a:spLocks noGrp="1"/>
          </p:cNvSpPr>
          <p:nvPr>
            <p:ph type="body" sz="quarter" idx="14"/>
          </p:nvPr>
        </p:nvSpPr>
        <p:spPr>
          <a:xfrm>
            <a:off x="329247" y="1143003"/>
            <a:ext cx="11196956" cy="395287"/>
          </a:xfrm>
        </p:spPr>
        <p:txBody>
          <a:bodyPr>
            <a:normAutofit/>
          </a:bodyPr>
          <a:lstStyle>
            <a:lvl1pPr marL="0" indent="0">
              <a:buNone/>
              <a:defRPr sz="15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a:t>Edit Master text styles</a:t>
            </a:r>
          </a:p>
        </p:txBody>
      </p:sp>
    </p:spTree>
    <p:extLst>
      <p:ext uri="{BB962C8B-B14F-4D97-AF65-F5344CB8AC3E}">
        <p14:creationId xmlns:p14="http://schemas.microsoft.com/office/powerpoint/2010/main" val="128146776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527520" y="274680"/>
            <a:ext cx="8160480" cy="849960"/>
          </a:xfrm>
          <a:prstGeom prst="rect">
            <a:avLst/>
          </a:prstGeom>
        </p:spPr>
        <p:txBody>
          <a:bodyPr lIns="0" tIns="0" rIns="0" bIns="0" anchor="ctr"/>
          <a:lstStyle/>
          <a:p>
            <a:r>
              <a:rPr lang="en-US" sz="1050" b="0" strike="noStrike" spc="-1">
                <a:solidFill>
                  <a:srgbClr val="000000"/>
                </a:solidFill>
                <a:latin typeface="Arial"/>
              </a:rPr>
              <a:t>Click to edit Master title style</a:t>
            </a:r>
            <a:endParaRPr lang="en-IN" sz="1050" b="0" strike="noStrike" spc="-1">
              <a:solidFill>
                <a:srgbClr val="000000"/>
              </a:solidFill>
              <a:latin typeface="Arial"/>
            </a:endParaRPr>
          </a:p>
        </p:txBody>
      </p:sp>
      <p:sp>
        <p:nvSpPr>
          <p:cNvPr id="61" name="PlaceHolder 2"/>
          <p:cNvSpPr>
            <a:spLocks noGrp="1"/>
          </p:cNvSpPr>
          <p:nvPr>
            <p:ph type="body"/>
          </p:nvPr>
        </p:nvSpPr>
        <p:spPr>
          <a:xfrm>
            <a:off x="609600" y="1600200"/>
            <a:ext cx="10972320" cy="4525920"/>
          </a:xfrm>
          <a:prstGeom prst="rect">
            <a:avLst/>
          </a:prstGeom>
        </p:spPr>
        <p:txBody>
          <a:bodyPr lIns="0" tIns="0" rIns="0" bIns="0">
            <a:normAutofit/>
          </a:bodyPr>
          <a:lstStyle/>
          <a:p>
            <a:pPr lvl="0"/>
            <a:r>
              <a:rPr lang="en-US" sz="1050" b="0" strike="noStrike" spc="-1">
                <a:solidFill>
                  <a:srgbClr val="000000"/>
                </a:solidFill>
                <a:latin typeface="Arial"/>
              </a:rPr>
              <a:t>Edit Master text styles</a:t>
            </a:r>
          </a:p>
        </p:txBody>
      </p:sp>
    </p:spTree>
    <p:extLst>
      <p:ext uri="{BB962C8B-B14F-4D97-AF65-F5344CB8AC3E}">
        <p14:creationId xmlns:p14="http://schemas.microsoft.com/office/powerpoint/2010/main" val="131251452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3" name="Picture 4"/>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6816725"/>
            <a:ext cx="12192000" cy="4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743075" y="2482850"/>
            <a:ext cx="8848725" cy="213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le 1"/>
          <p:cNvSpPr txBox="1">
            <a:spLocks/>
          </p:cNvSpPr>
          <p:nvPr userDrawn="1"/>
        </p:nvSpPr>
        <p:spPr>
          <a:xfrm>
            <a:off x="1831975" y="2574925"/>
            <a:ext cx="8666163" cy="1936750"/>
          </a:xfrm>
          <a:prstGeom prst="rect">
            <a:avLst/>
          </a:prstGeom>
        </p:spPr>
        <p:txBody>
          <a:bodyPr lIns="68580" tIns="34290" rIns="68580" bIns="34290" anchor="ctr">
            <a:normAutofit/>
          </a:bodyPr>
          <a:lstStyle>
            <a:lvl1pPr algn="r" defTabSz="685800" rtl="0" eaLnBrk="1" latinLnBrk="0" hangingPunct="1">
              <a:lnSpc>
                <a:spcPct val="90000"/>
              </a:lnSpc>
              <a:spcBef>
                <a:spcPct val="0"/>
              </a:spcBef>
              <a:buNone/>
              <a:defRPr sz="3200" b="1" kern="1200">
                <a:solidFill>
                  <a:schemeClr val="bg1"/>
                </a:solidFill>
                <a:latin typeface="Helvetica" panose="020B0604020202030204" pitchFamily="34" charset="0"/>
                <a:ea typeface="+mj-ea"/>
                <a:cs typeface="+mj-cs"/>
              </a:defRPr>
            </a:lvl1pPr>
          </a:lstStyle>
          <a:p>
            <a:pPr marL="0" marR="0" lvl="0" indent="0" algn="ctr" defTabSz="514350" rtl="0" eaLnBrk="1" fontAlgn="auto" latinLnBrk="0" hangingPunct="1">
              <a:lnSpc>
                <a:spcPct val="90000"/>
              </a:lnSpc>
              <a:spcBef>
                <a:spcPct val="0"/>
              </a:spcBef>
              <a:spcAft>
                <a:spcPts val="0"/>
              </a:spcAft>
              <a:buClrTx/>
              <a:buSzTx/>
              <a:buFontTx/>
              <a:buNone/>
              <a:tabLst/>
              <a:defRPr/>
            </a:pPr>
            <a:r>
              <a:rPr kumimoji="0" lang="en-US" sz="2700" b="1" i="0" u="none" strike="noStrike" kern="1200" cap="none" spc="0" normalizeH="0" baseline="0" noProof="0" dirty="0">
                <a:ln>
                  <a:noFill/>
                </a:ln>
                <a:solidFill>
                  <a:prstClr val="white"/>
                </a:solidFill>
                <a:effectLst/>
                <a:uLnTx/>
                <a:uFillTx/>
                <a:latin typeface="Helvetica" panose="020B0604020202030204" pitchFamily="34" charset="0"/>
                <a:ea typeface="+mj-ea"/>
                <a:cs typeface="+mj-cs"/>
              </a:rPr>
              <a:t>Click to edit Session title</a:t>
            </a:r>
          </a:p>
        </p:txBody>
      </p:sp>
    </p:spTree>
    <p:extLst>
      <p:ext uri="{BB962C8B-B14F-4D97-AF65-F5344CB8AC3E}">
        <p14:creationId xmlns:p14="http://schemas.microsoft.com/office/powerpoint/2010/main" val="2021883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fltVal val="0"/>
                                          </p:val>
                                        </p:tav>
                                        <p:tav tm="100000">
                                          <p:val>
                                            <p:strVal val="#ppt_w"/>
                                          </p:val>
                                        </p:tav>
                                      </p:tavLst>
                                    </p:anim>
                                    <p:anim calcmode="lin" valueType="num">
                                      <p:cBhvr>
                                        <p:cTn id="12" dur="500" fill="hold"/>
                                        <p:tgtEl>
                                          <p:spTgt spid="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5" name="Picture 3"/>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6816725"/>
            <a:ext cx="12192000" cy="4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831851" y="1709740"/>
            <a:ext cx="10515600" cy="2852737"/>
          </a:xfrm>
        </p:spPr>
        <p:txBody>
          <a:bodyPr anchor="b">
            <a:normAutofit/>
          </a:bodyPr>
          <a:lstStyle>
            <a:lvl1pPr algn="r">
              <a:defRPr sz="4050" b="1">
                <a:solidFill>
                  <a:srgbClr val="150860"/>
                </a:solidFill>
                <a:latin typeface="Helvetica"/>
                <a:cs typeface="Helvetica"/>
              </a:defRPr>
            </a:lvl1pPr>
          </a:lstStyle>
          <a:p>
            <a:r>
              <a:rPr lang="en-US"/>
              <a:t>Click to edit Master title style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lgn="r">
              <a:buNone/>
              <a:defRPr sz="1800" b="0" i="0">
                <a:solidFill>
                  <a:schemeClr val="tx1">
                    <a:tint val="75000"/>
                  </a:schemeClr>
                </a:solidFill>
                <a:latin typeface="Helvetica Light"/>
                <a:cs typeface="Helvetica Light"/>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160473537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_Section Header">
    <p:spTree>
      <p:nvGrpSpPr>
        <p:cNvPr id="1" name=""/>
        <p:cNvGrpSpPr/>
        <p:nvPr/>
      </p:nvGrpSpPr>
      <p:grpSpPr>
        <a:xfrm>
          <a:off x="0" y="0"/>
          <a:ext cx="0" cy="0"/>
          <a:chOff x="0" y="0"/>
          <a:chExt cx="0" cy="0"/>
        </a:xfrm>
      </p:grpSpPr>
      <p:pic>
        <p:nvPicPr>
          <p:cNvPr id="3" name="Picture 6" descr="\\Server\D\jyoti\FI023_BITS_v1\styleguide img\IMG_5627_b.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p:nvPr userDrawn="1"/>
        </p:nvSpPr>
        <p:spPr>
          <a:xfrm>
            <a:off x="0" y="4281488"/>
            <a:ext cx="12192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pic>
        <p:nvPicPr>
          <p:cNvPr id="5" name="Picture 8" descr="Picture 7.png"/>
          <p:cNvPicPr>
            <a:picLocks noChangeAspect="1"/>
          </p:cNvPicPr>
          <p:nvPr userDrawn="1"/>
        </p:nvPicPr>
        <p:blipFill>
          <a:blip r:embed="rId3">
            <a:extLst>
              <a:ext uri="{28A0092B-C50C-407E-A947-70E740481C1C}">
                <a14:useLocalDpi xmlns:a14="http://schemas.microsoft.com/office/drawing/2010/main" val="0"/>
              </a:ext>
            </a:extLst>
          </a:blip>
          <a:srcRect l="1923" b="5336"/>
          <a:stretch>
            <a:fillRect/>
          </a:stretch>
        </p:blipFill>
        <p:spPr bwMode="auto">
          <a:xfrm>
            <a:off x="8839200" y="0"/>
            <a:ext cx="292576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userDrawn="1"/>
        </p:nvSpPr>
        <p:spPr>
          <a:xfrm>
            <a:off x="3843338" y="677545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userDrawn="1"/>
        </p:nvSpPr>
        <p:spPr>
          <a:xfrm>
            <a:off x="-17463" y="6775450"/>
            <a:ext cx="3860801"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userDrawn="1"/>
        </p:nvSpPr>
        <p:spPr>
          <a:xfrm>
            <a:off x="7704138" y="677545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9" name="TextBox 8"/>
          <p:cNvSpPr txBox="1"/>
          <p:nvPr userDrawn="1"/>
        </p:nvSpPr>
        <p:spPr>
          <a:xfrm>
            <a:off x="9144000" y="762000"/>
            <a:ext cx="2946400" cy="427038"/>
          </a:xfrm>
          <a:prstGeom prst="rect">
            <a:avLst/>
          </a:prstGeom>
          <a:noFill/>
        </p:spPr>
        <p:txBody>
          <a:bodyPr>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2175" b="1" i="0" u="none" strike="noStrike" kern="1200" cap="none" spc="-113" normalizeH="0" baseline="0" noProof="0" dirty="0">
                <a:ln>
                  <a:noFill/>
                </a:ln>
                <a:solidFill>
                  <a:prstClr val="white"/>
                </a:solidFill>
                <a:effectLst/>
                <a:uLnTx/>
                <a:uFillTx/>
                <a:latin typeface="Arial"/>
                <a:ea typeface="+mn-ea"/>
                <a:cs typeface="Arial"/>
              </a:rPr>
              <a:t>BITS</a:t>
            </a:r>
            <a:r>
              <a:rPr kumimoji="0" lang="en-US" sz="2175" b="0" i="0" u="none" strike="noStrike" kern="1200" cap="none" spc="-113" normalizeH="0" baseline="0" noProof="0" dirty="0">
                <a:ln>
                  <a:noFill/>
                </a:ln>
                <a:solidFill>
                  <a:prstClr val="white"/>
                </a:solidFill>
                <a:effectLst/>
                <a:uLnTx/>
                <a:uFillTx/>
                <a:latin typeface="Arial"/>
                <a:ea typeface="+mn-ea"/>
                <a:cs typeface="Arial"/>
              </a:rPr>
              <a:t> Pilani</a:t>
            </a:r>
          </a:p>
        </p:txBody>
      </p:sp>
      <p:sp>
        <p:nvSpPr>
          <p:cNvPr id="10" name="TextBox 10"/>
          <p:cNvSpPr txBox="1">
            <a:spLocks noChangeArrowheads="1"/>
          </p:cNvSpPr>
          <p:nvPr userDrawn="1"/>
        </p:nvSpPr>
        <p:spPr bwMode="auto">
          <a:xfrm>
            <a:off x="9448800" y="1171575"/>
            <a:ext cx="2540000" cy="230188"/>
          </a:xfrm>
          <a:prstGeom prst="rect">
            <a:avLst/>
          </a:prstGeom>
          <a:noFill/>
          <a:ln>
            <a:noFill/>
          </a:ln>
        </p:spPr>
        <p:txBody>
          <a:bodyPr>
            <a:spAutoFit/>
          </a:bodyPr>
          <a:lstStyle>
            <a:lvl1pPr defTabSz="685800">
              <a:defRPr>
                <a:solidFill>
                  <a:schemeClr val="tx1"/>
                </a:solidFill>
                <a:latin typeface="Calibri" panose="020F0502020204030204" pitchFamily="34" charset="0"/>
              </a:defRPr>
            </a:lvl1pPr>
            <a:lvl2pPr marL="742950" indent="-285750" defTabSz="685800">
              <a:defRPr>
                <a:solidFill>
                  <a:schemeClr val="tx1"/>
                </a:solidFill>
                <a:latin typeface="Calibri" panose="020F0502020204030204" pitchFamily="34" charset="0"/>
              </a:defRPr>
            </a:lvl2pPr>
            <a:lvl3pPr marL="1143000" indent="-228600" defTabSz="685800">
              <a:defRPr>
                <a:solidFill>
                  <a:schemeClr val="tx1"/>
                </a:solidFill>
                <a:latin typeface="Calibri" panose="020F0502020204030204" pitchFamily="34" charset="0"/>
              </a:defRPr>
            </a:lvl3pPr>
            <a:lvl4pPr marL="1600200" indent="-228600" defTabSz="685800">
              <a:defRPr>
                <a:solidFill>
                  <a:schemeClr val="tx1"/>
                </a:solidFill>
                <a:latin typeface="Calibri" panose="020F0502020204030204" pitchFamily="34" charset="0"/>
              </a:defRPr>
            </a:lvl4pPr>
            <a:lvl5pPr marL="2057400" indent="-228600" defTabSz="685800">
              <a:defRPr>
                <a:solidFill>
                  <a:schemeClr val="tx1"/>
                </a:solidFill>
                <a:latin typeface="Calibri" panose="020F0502020204030204" pitchFamily="34" charset="0"/>
              </a:defRPr>
            </a:lvl5pPr>
            <a:lvl6pPr marL="2514600" indent="-228600" defTabSz="685800" fontAlgn="base">
              <a:spcBef>
                <a:spcPct val="0"/>
              </a:spcBef>
              <a:spcAft>
                <a:spcPct val="0"/>
              </a:spcAft>
              <a:defRPr>
                <a:solidFill>
                  <a:schemeClr val="tx1"/>
                </a:solidFill>
                <a:latin typeface="Calibri" panose="020F0502020204030204" pitchFamily="34" charset="0"/>
              </a:defRPr>
            </a:lvl6pPr>
            <a:lvl7pPr marL="2971800" indent="-228600" defTabSz="685800" fontAlgn="base">
              <a:spcBef>
                <a:spcPct val="0"/>
              </a:spcBef>
              <a:spcAft>
                <a:spcPct val="0"/>
              </a:spcAft>
              <a:defRPr>
                <a:solidFill>
                  <a:schemeClr val="tx1"/>
                </a:solidFill>
                <a:latin typeface="Calibri" panose="020F0502020204030204" pitchFamily="34" charset="0"/>
              </a:defRPr>
            </a:lvl7pPr>
            <a:lvl8pPr marL="3429000" indent="-228600" defTabSz="685800" fontAlgn="base">
              <a:spcBef>
                <a:spcPct val="0"/>
              </a:spcBef>
              <a:spcAft>
                <a:spcPct val="0"/>
              </a:spcAft>
              <a:defRPr>
                <a:solidFill>
                  <a:schemeClr val="tx1"/>
                </a:solidFill>
                <a:latin typeface="Calibri" panose="020F0502020204030204" pitchFamily="34" charset="0"/>
              </a:defRPr>
            </a:lvl8pPr>
            <a:lvl9pPr marL="3886200" indent="-228600" defTabSz="685800" fontAlgn="base">
              <a:spcBef>
                <a:spcPct val="0"/>
              </a:spcBef>
              <a:spcAft>
                <a:spcPct val="0"/>
              </a:spcAft>
              <a:defRPr>
                <a:solidFill>
                  <a:schemeClr val="tx1"/>
                </a:solidFill>
                <a:latin typeface="Calibri" panose="020F0502020204030204" pitchFamily="34" charset="0"/>
              </a:defRPr>
            </a:lvl9pPr>
          </a:lstStyle>
          <a:p>
            <a:pPr marL="0" marR="0" lvl="0" indent="0" algn="l" defTabSz="685800" rtl="0" eaLnBrk="1" fontAlgn="base" latinLnBrk="0" hangingPunct="1">
              <a:lnSpc>
                <a:spcPct val="100000"/>
              </a:lnSpc>
              <a:spcBef>
                <a:spcPct val="0"/>
              </a:spcBef>
              <a:spcAft>
                <a:spcPct val="0"/>
              </a:spcAft>
              <a:buClrTx/>
              <a:buSzTx/>
              <a:buFontTx/>
              <a:buNone/>
              <a:tabLst/>
              <a:defRPr/>
            </a:pPr>
            <a:r>
              <a:rPr kumimoji="0" lang="en-US" altLang="en-US" sz="9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Pilani Campus</a:t>
            </a:r>
          </a:p>
        </p:txBody>
      </p:sp>
      <p:sp>
        <p:nvSpPr>
          <p:cNvPr id="17" name="Content Placeholder 16"/>
          <p:cNvSpPr>
            <a:spLocks noGrp="1"/>
          </p:cNvSpPr>
          <p:nvPr>
            <p:ph sz="quarter" idx="10"/>
          </p:nvPr>
        </p:nvSpPr>
        <p:spPr>
          <a:xfrm>
            <a:off x="406400" y="4648200"/>
            <a:ext cx="11277600" cy="1600200"/>
          </a:xfrm>
        </p:spPr>
        <p:txBody>
          <a:bodyPr>
            <a:noAutofit/>
          </a:bodyPr>
          <a:lstStyle>
            <a:lvl1pPr marL="0" indent="0">
              <a:lnSpc>
                <a:spcPts val="3150"/>
              </a:lnSpc>
              <a:spcBef>
                <a:spcPts val="0"/>
              </a:spcBef>
              <a:buNone/>
              <a:defRPr sz="3000" b="1" spc="-113" baseline="0">
                <a:latin typeface="Arial" pitchFamily="34" charset="0"/>
                <a:cs typeface="Arial" pitchFamily="34" charset="0"/>
              </a:defRPr>
            </a:lvl1pPr>
          </a:lstStyle>
          <a:p>
            <a:pPr lvl="0"/>
            <a:r>
              <a:rPr lang="en-US"/>
              <a:t>Edit Master text styles</a:t>
            </a:r>
          </a:p>
          <a:p>
            <a:pPr lvl="1"/>
            <a:r>
              <a:rPr lang="en-US"/>
              <a:t>Second level</a:t>
            </a:r>
          </a:p>
        </p:txBody>
      </p:sp>
    </p:spTree>
    <p:extLst>
      <p:ext uri="{BB962C8B-B14F-4D97-AF65-F5344CB8AC3E}">
        <p14:creationId xmlns:p14="http://schemas.microsoft.com/office/powerpoint/2010/main" val="337705558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1_Title Slide" preserve="1">
  <p:cSld name="1_Title Slide">
    <p:spTree>
      <p:nvGrpSpPr>
        <p:cNvPr id="1" name="Shape 8"/>
        <p:cNvGrpSpPr/>
        <p:nvPr/>
      </p:nvGrpSpPr>
      <p:grpSpPr>
        <a:xfrm>
          <a:off x="0" y="0"/>
          <a:ext cx="0" cy="0"/>
          <a:chOff x="0" y="0"/>
          <a:chExt cx="0" cy="0"/>
        </a:xfrm>
      </p:grpSpPr>
      <p:pic>
        <p:nvPicPr>
          <p:cNvPr id="5" name="Google Shape;9;p6"/>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t="3185" b="1180"/>
          <a:stretch>
            <a:fillRect/>
          </a:stretch>
        </p:blipFill>
        <p:spPr bwMode="auto">
          <a:xfrm>
            <a:off x="0" y="0"/>
            <a:ext cx="12192000"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6" name="Google Shape;10;p6"/>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Google Shape;11;p6"/>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2551113"/>
            <a:ext cx="9678988" cy="179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Google Shape;12;p6"/>
          <p:cNvPicPr preferRelativeResize="0">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47675"/>
            <a:ext cx="10744200" cy="805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Google Shape;15;p6"/>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23288" y="896938"/>
            <a:ext cx="3097212" cy="108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Google Shape;16;p6"/>
          <p:cNvPicPr preferRelativeResize="0">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77038" y="4800600"/>
            <a:ext cx="5124450" cy="2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Google Shape;13;p6"/>
          <p:cNvSpPr txBox="1">
            <a:spLocks noGrp="1"/>
          </p:cNvSpPr>
          <p:nvPr>
            <p:ph type="ctrTitle"/>
          </p:nvPr>
        </p:nvSpPr>
        <p:spPr>
          <a:xfrm>
            <a:off x="4572003" y="2549773"/>
            <a:ext cx="7330831" cy="1600725"/>
          </a:xfrm>
          <a:prstGeom prst="rect">
            <a:avLst/>
          </a:prstGeom>
          <a:noFill/>
          <a:ln>
            <a:noFill/>
          </a:ln>
        </p:spPr>
        <p:txBody>
          <a:bodyPr spcFirstLastPara="1" lIns="91425" tIns="45700" rIns="91425" bIns="45700">
            <a:normAutofit/>
          </a:bodyPr>
          <a:lstStyle>
            <a:lvl1pPr lvl="0" algn="r">
              <a:lnSpc>
                <a:spcPct val="90000"/>
              </a:lnSpc>
              <a:spcBef>
                <a:spcPts val="0"/>
              </a:spcBef>
              <a:spcAft>
                <a:spcPts val="0"/>
              </a:spcAft>
              <a:buClr>
                <a:schemeClr val="lt1"/>
              </a:buClr>
              <a:buSzPts val="3200"/>
              <a:buFont typeface="Helvetica Neue"/>
              <a:buNone/>
              <a:defRPr sz="1800" b="1">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14" name="Google Shape;14;p6"/>
          <p:cNvSpPr txBox="1">
            <a:spLocks noGrp="1"/>
          </p:cNvSpPr>
          <p:nvPr>
            <p:ph type="subTitle" idx="1"/>
          </p:nvPr>
        </p:nvSpPr>
        <p:spPr>
          <a:xfrm>
            <a:off x="5908431" y="4452634"/>
            <a:ext cx="5994400" cy="343327"/>
          </a:xfrm>
          <a:prstGeom prst="rect">
            <a:avLst/>
          </a:prstGeom>
          <a:noFill/>
          <a:ln>
            <a:noFill/>
          </a:ln>
        </p:spPr>
        <p:txBody>
          <a:bodyPr spcFirstLastPara="1" lIns="91425" tIns="45700" rIns="91425" bIns="45700" anchor="ctr"/>
          <a:lstStyle>
            <a:lvl1pPr lvl="0" algn="r">
              <a:lnSpc>
                <a:spcPct val="90000"/>
              </a:lnSpc>
              <a:spcBef>
                <a:spcPts val="563"/>
              </a:spcBef>
              <a:spcAft>
                <a:spcPts val="0"/>
              </a:spcAft>
              <a:buClr>
                <a:srgbClr val="1C1573"/>
              </a:buClr>
              <a:buSzPts val="1700"/>
              <a:buNone/>
              <a:defRPr sz="956" b="1">
                <a:solidFill>
                  <a:srgbClr val="1C1573"/>
                </a:solidFill>
                <a:latin typeface="Helvetica Neue"/>
                <a:ea typeface="Helvetica Neue"/>
                <a:cs typeface="Helvetica Neue"/>
                <a:sym typeface="Helvetica Neue"/>
              </a:defRPr>
            </a:lvl1pPr>
            <a:lvl2pPr lvl="1" algn="ctr">
              <a:lnSpc>
                <a:spcPct val="90000"/>
              </a:lnSpc>
              <a:spcBef>
                <a:spcPts val="281"/>
              </a:spcBef>
              <a:spcAft>
                <a:spcPts val="0"/>
              </a:spcAft>
              <a:buClr>
                <a:schemeClr val="dk1"/>
              </a:buClr>
              <a:buSzPts val="1500"/>
              <a:buNone/>
              <a:defRPr sz="844"/>
            </a:lvl2pPr>
            <a:lvl3pPr lvl="2" algn="ctr">
              <a:lnSpc>
                <a:spcPct val="90000"/>
              </a:lnSpc>
              <a:spcBef>
                <a:spcPts val="281"/>
              </a:spcBef>
              <a:spcAft>
                <a:spcPts val="0"/>
              </a:spcAft>
              <a:buClr>
                <a:schemeClr val="dk1"/>
              </a:buClr>
              <a:buSzPts val="1350"/>
              <a:buNone/>
              <a:defRPr sz="760"/>
            </a:lvl3pPr>
            <a:lvl4pPr lvl="3" algn="ctr">
              <a:lnSpc>
                <a:spcPct val="90000"/>
              </a:lnSpc>
              <a:spcBef>
                <a:spcPts val="281"/>
              </a:spcBef>
              <a:spcAft>
                <a:spcPts val="0"/>
              </a:spcAft>
              <a:buClr>
                <a:schemeClr val="dk1"/>
              </a:buClr>
              <a:buSzPts val="1200"/>
              <a:buNone/>
              <a:defRPr sz="675"/>
            </a:lvl4pPr>
            <a:lvl5pPr lvl="4" algn="ctr">
              <a:lnSpc>
                <a:spcPct val="90000"/>
              </a:lnSpc>
              <a:spcBef>
                <a:spcPts val="281"/>
              </a:spcBef>
              <a:spcAft>
                <a:spcPts val="0"/>
              </a:spcAft>
              <a:buClr>
                <a:schemeClr val="dk1"/>
              </a:buClr>
              <a:buSzPts val="1200"/>
              <a:buNone/>
              <a:defRPr sz="675"/>
            </a:lvl5pPr>
            <a:lvl6pPr lvl="5" algn="ctr">
              <a:lnSpc>
                <a:spcPct val="90000"/>
              </a:lnSpc>
              <a:spcBef>
                <a:spcPts val="281"/>
              </a:spcBef>
              <a:spcAft>
                <a:spcPts val="0"/>
              </a:spcAft>
              <a:buClr>
                <a:schemeClr val="dk1"/>
              </a:buClr>
              <a:buSzPts val="1200"/>
              <a:buNone/>
              <a:defRPr sz="675"/>
            </a:lvl6pPr>
            <a:lvl7pPr lvl="6" algn="ctr">
              <a:lnSpc>
                <a:spcPct val="90000"/>
              </a:lnSpc>
              <a:spcBef>
                <a:spcPts val="281"/>
              </a:spcBef>
              <a:spcAft>
                <a:spcPts val="0"/>
              </a:spcAft>
              <a:buClr>
                <a:schemeClr val="dk1"/>
              </a:buClr>
              <a:buSzPts val="1200"/>
              <a:buNone/>
              <a:defRPr sz="675"/>
            </a:lvl7pPr>
            <a:lvl8pPr lvl="7" algn="ctr">
              <a:lnSpc>
                <a:spcPct val="90000"/>
              </a:lnSpc>
              <a:spcBef>
                <a:spcPts val="281"/>
              </a:spcBef>
              <a:spcAft>
                <a:spcPts val="0"/>
              </a:spcAft>
              <a:buClr>
                <a:schemeClr val="dk1"/>
              </a:buClr>
              <a:buSzPts val="1200"/>
              <a:buNone/>
              <a:defRPr sz="675"/>
            </a:lvl8pPr>
            <a:lvl9pPr lvl="8" algn="ctr">
              <a:lnSpc>
                <a:spcPct val="90000"/>
              </a:lnSpc>
              <a:spcBef>
                <a:spcPts val="281"/>
              </a:spcBef>
              <a:spcAft>
                <a:spcPts val="0"/>
              </a:spcAft>
              <a:buClr>
                <a:schemeClr val="dk1"/>
              </a:buClr>
              <a:buSzPts val="1200"/>
              <a:buNone/>
              <a:defRPr sz="675"/>
            </a:lvl9pPr>
          </a:lstStyle>
          <a:p>
            <a:r>
              <a:rPr lang="en-US"/>
              <a:t>Click to edit Master subtitle style</a:t>
            </a:r>
            <a:endParaRPr/>
          </a:p>
        </p:txBody>
      </p:sp>
      <p:sp>
        <p:nvSpPr>
          <p:cNvPr id="17" name="Google Shape;17;p6"/>
          <p:cNvSpPr txBox="1">
            <a:spLocks noGrp="1"/>
          </p:cNvSpPr>
          <p:nvPr>
            <p:ph type="body" idx="2"/>
          </p:nvPr>
        </p:nvSpPr>
        <p:spPr>
          <a:xfrm>
            <a:off x="5189413" y="4826981"/>
            <a:ext cx="6713419" cy="1108563"/>
          </a:xfrm>
          <a:prstGeom prst="rect">
            <a:avLst/>
          </a:prstGeom>
          <a:noFill/>
          <a:ln>
            <a:noFill/>
          </a:ln>
        </p:spPr>
        <p:txBody>
          <a:bodyPr spcFirstLastPara="1" lIns="91425" tIns="45700" rIns="91425" bIns="45700"/>
          <a:lstStyle>
            <a:lvl1pPr marL="257175" lvl="0" indent="-128588" algn="r">
              <a:lnSpc>
                <a:spcPct val="90000"/>
              </a:lnSpc>
              <a:spcBef>
                <a:spcPts val="0"/>
              </a:spcBef>
              <a:spcAft>
                <a:spcPts val="0"/>
              </a:spcAft>
              <a:buClr>
                <a:srgbClr val="1C1573"/>
              </a:buClr>
              <a:buSzPts val="1700"/>
              <a:buNone/>
              <a:defRPr sz="956">
                <a:solidFill>
                  <a:srgbClr val="1C1573"/>
                </a:solidFill>
                <a:latin typeface="Helvetica Neue"/>
                <a:ea typeface="Helvetica Neue"/>
                <a:cs typeface="Helvetica Neue"/>
                <a:sym typeface="Helvetica Neue"/>
              </a:defRPr>
            </a:lvl1pPr>
            <a:lvl2pPr marL="514350" lvl="1" indent="-192881" algn="l">
              <a:lnSpc>
                <a:spcPct val="90000"/>
              </a:lnSpc>
              <a:spcBef>
                <a:spcPts val="281"/>
              </a:spcBef>
              <a:spcAft>
                <a:spcPts val="0"/>
              </a:spcAft>
              <a:buClr>
                <a:schemeClr val="dk1"/>
              </a:buClr>
              <a:buSzPts val="1800"/>
              <a:buChar char="•"/>
              <a:defRPr/>
            </a:lvl2pPr>
            <a:lvl3pPr marL="771525" lvl="2" indent="-192881" algn="l">
              <a:lnSpc>
                <a:spcPct val="90000"/>
              </a:lnSpc>
              <a:spcBef>
                <a:spcPts val="281"/>
              </a:spcBef>
              <a:spcAft>
                <a:spcPts val="0"/>
              </a:spcAft>
              <a:buClr>
                <a:schemeClr val="dk1"/>
              </a:buClr>
              <a:buSzPts val="1800"/>
              <a:buChar char="•"/>
              <a:defRPr/>
            </a:lvl3pPr>
            <a:lvl4pPr marL="1028700" lvl="3" indent="-192881" algn="l">
              <a:lnSpc>
                <a:spcPct val="90000"/>
              </a:lnSpc>
              <a:spcBef>
                <a:spcPts val="281"/>
              </a:spcBef>
              <a:spcAft>
                <a:spcPts val="0"/>
              </a:spcAft>
              <a:buClr>
                <a:schemeClr val="dk1"/>
              </a:buClr>
              <a:buSzPts val="1800"/>
              <a:buChar char="•"/>
              <a:defRPr/>
            </a:lvl4pPr>
            <a:lvl5pPr marL="1285875" lvl="4" indent="-192881" algn="l">
              <a:lnSpc>
                <a:spcPct val="90000"/>
              </a:lnSpc>
              <a:spcBef>
                <a:spcPts val="281"/>
              </a:spcBef>
              <a:spcAft>
                <a:spcPts val="0"/>
              </a:spcAft>
              <a:buClr>
                <a:schemeClr val="dk1"/>
              </a:buClr>
              <a:buSzPts val="1800"/>
              <a:buChar char="•"/>
              <a:defRPr/>
            </a:lvl5pPr>
            <a:lvl6pPr marL="1543050" lvl="5" indent="-192881" algn="l">
              <a:lnSpc>
                <a:spcPct val="90000"/>
              </a:lnSpc>
              <a:spcBef>
                <a:spcPts val="281"/>
              </a:spcBef>
              <a:spcAft>
                <a:spcPts val="0"/>
              </a:spcAft>
              <a:buClr>
                <a:schemeClr val="dk1"/>
              </a:buClr>
              <a:buSzPts val="1800"/>
              <a:buChar char="•"/>
              <a:defRPr/>
            </a:lvl6pPr>
            <a:lvl7pPr marL="1800225" lvl="6" indent="-192881" algn="l">
              <a:lnSpc>
                <a:spcPct val="90000"/>
              </a:lnSpc>
              <a:spcBef>
                <a:spcPts val="281"/>
              </a:spcBef>
              <a:spcAft>
                <a:spcPts val="0"/>
              </a:spcAft>
              <a:buClr>
                <a:schemeClr val="dk1"/>
              </a:buClr>
              <a:buSzPts val="1800"/>
              <a:buChar char="•"/>
              <a:defRPr/>
            </a:lvl7pPr>
            <a:lvl8pPr marL="2057400" lvl="7" indent="-192881" algn="l">
              <a:lnSpc>
                <a:spcPct val="90000"/>
              </a:lnSpc>
              <a:spcBef>
                <a:spcPts val="281"/>
              </a:spcBef>
              <a:spcAft>
                <a:spcPts val="0"/>
              </a:spcAft>
              <a:buClr>
                <a:schemeClr val="dk1"/>
              </a:buClr>
              <a:buSzPts val="1800"/>
              <a:buChar char="•"/>
              <a:defRPr/>
            </a:lvl8pPr>
            <a:lvl9pPr marL="2314575" lvl="8" indent="-192881" algn="l">
              <a:lnSpc>
                <a:spcPct val="90000"/>
              </a:lnSpc>
              <a:spcBef>
                <a:spcPts val="281"/>
              </a:spcBef>
              <a:spcAft>
                <a:spcPts val="0"/>
              </a:spcAft>
              <a:buClr>
                <a:schemeClr val="dk1"/>
              </a:buClr>
              <a:buSzPts val="1800"/>
              <a:buChar char="•"/>
              <a:defRPr/>
            </a:lvl9pPr>
          </a:lstStyle>
          <a:p>
            <a:pPr lvl="0"/>
            <a:r>
              <a:rPr lang="en-US"/>
              <a:t>Edit Master text styles</a:t>
            </a:r>
          </a:p>
        </p:txBody>
      </p:sp>
    </p:spTree>
    <p:extLst>
      <p:ext uri="{BB962C8B-B14F-4D97-AF65-F5344CB8AC3E}">
        <p14:creationId xmlns:p14="http://schemas.microsoft.com/office/powerpoint/2010/main" val="2021557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200"/>
                                        <p:tgtEl>
                                          <p:spTgt spid="6"/>
                                        </p:tgtEl>
                                      </p:cBhvr>
                                    </p:animEffect>
                                  </p:childTnLst>
                                </p:cTn>
                              </p:par>
                            </p:childTnLst>
                          </p:cTn>
                        </p:par>
                        <p:par>
                          <p:cTn id="8" fill="hold">
                            <p:stCondLst>
                              <p:cond delay="1200"/>
                            </p:stCondLst>
                            <p:childTnLst>
                              <p:par>
                                <p:cTn id="9" presetID="10"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300"/>
                                        <p:tgtEl>
                                          <p:spTgt spid="8"/>
                                        </p:tgtEl>
                                      </p:cBhvr>
                                    </p:animEffect>
                                  </p:childTnLst>
                                </p:cTn>
                              </p:par>
                            </p:childTnLst>
                          </p:cTn>
                        </p:par>
                        <p:par>
                          <p:cTn id="12" fill="hold">
                            <p:stCondLst>
                              <p:cond delay="2500"/>
                            </p:stCondLst>
                            <p:childTnLst>
                              <p:par>
                                <p:cTn id="13" presetID="10" presetClass="entr" presetSubtype="0"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Blank_one" preserve="1">
  <p:cSld name="Blank_one">
    <p:spTree>
      <p:nvGrpSpPr>
        <p:cNvPr id="1" name="Shape 56"/>
        <p:cNvGrpSpPr/>
        <p:nvPr/>
      </p:nvGrpSpPr>
      <p:grpSpPr>
        <a:xfrm>
          <a:off x="0" y="0"/>
          <a:ext cx="0" cy="0"/>
          <a:chOff x="0" y="0"/>
          <a:chExt cx="0" cy="0"/>
        </a:xfrm>
      </p:grpSpPr>
      <p:sp>
        <p:nvSpPr>
          <p:cNvPr id="2" name="Google Shape;57;p110"/>
          <p:cNvSpPr txBox="1"/>
          <p:nvPr/>
        </p:nvSpPr>
        <p:spPr>
          <a:xfrm>
            <a:off x="10871200" y="6550025"/>
            <a:ext cx="1320800" cy="196850"/>
          </a:xfrm>
          <a:prstGeom prst="rect">
            <a:avLst/>
          </a:prstGeom>
          <a:noFill/>
          <a:ln>
            <a:noFill/>
          </a:ln>
        </p:spPr>
        <p:txBody>
          <a:bodyPr spcFirstLastPara="1" lIns="68569" tIns="34275" rIns="68569" bIns="34275">
            <a:spAutoFit/>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kumimoji="0" lang="en-US" sz="825" b="1" i="0" u="none" strike="noStrike" kern="1200" cap="none" spc="0" normalizeH="0" baseline="0" noProof="0">
                <a:ln>
                  <a:noFill/>
                </a:ln>
                <a:solidFill>
                  <a:srgbClr val="101141"/>
                </a:solidFill>
                <a:effectLst/>
                <a:uLnTx/>
                <a:uFillTx/>
                <a:latin typeface="Arial"/>
                <a:ea typeface="Arial"/>
                <a:cs typeface="Arial"/>
                <a:sym typeface="Arial"/>
              </a:rPr>
              <a:t>BITS </a:t>
            </a:r>
            <a:r>
              <a:rPr kumimoji="0" lang="en-US" sz="825" b="0" i="0" u="none" strike="noStrike" kern="1200" cap="none" spc="0" normalizeH="0" baseline="0" noProof="0">
                <a:ln>
                  <a:noFill/>
                </a:ln>
                <a:solidFill>
                  <a:srgbClr val="101141"/>
                </a:solidFill>
                <a:effectLst/>
                <a:uLnTx/>
                <a:uFillTx/>
                <a:latin typeface="Arial"/>
                <a:ea typeface="Arial"/>
                <a:cs typeface="Arial"/>
                <a:sym typeface="Arial"/>
              </a:rPr>
              <a:t>Pilani</a:t>
            </a:r>
            <a:endParaRPr kumimoji="0" sz="825" b="0" i="0" u="none" strike="noStrike" kern="1200" cap="none" spc="0" normalizeH="0" baseline="0" noProof="0">
              <a:ln>
                <a:noFill/>
              </a:ln>
              <a:solidFill>
                <a:srgbClr val="101141"/>
              </a:solidFill>
              <a:effectLst/>
              <a:uLnTx/>
              <a:uFillTx/>
              <a:latin typeface="Arial"/>
              <a:ea typeface="Arial"/>
              <a:cs typeface="Arial"/>
              <a:sym typeface="Arial"/>
            </a:endParaRPr>
          </a:p>
        </p:txBody>
      </p:sp>
      <p:grpSp>
        <p:nvGrpSpPr>
          <p:cNvPr id="3" name="Google Shape;58;p110"/>
          <p:cNvGrpSpPr>
            <a:grpSpLocks/>
          </p:cNvGrpSpPr>
          <p:nvPr/>
        </p:nvGrpSpPr>
        <p:grpSpPr bwMode="auto">
          <a:xfrm>
            <a:off x="2779713" y="6550025"/>
            <a:ext cx="9412287" cy="49213"/>
            <a:chOff x="2083888" y="6550671"/>
            <a:chExt cx="7060112" cy="48665"/>
          </a:xfrm>
        </p:grpSpPr>
        <p:sp>
          <p:nvSpPr>
            <p:cNvPr id="4" name="Google Shape;59;p110"/>
            <p:cNvSpPr>
              <a:spLocks noChangeArrowheads="1"/>
            </p:cNvSpPr>
            <p:nvPr/>
          </p:nvSpPr>
          <p:spPr bwMode="auto">
            <a:xfrm>
              <a:off x="4630958" y="6550671"/>
              <a:ext cx="2327968" cy="48665"/>
            </a:xfrm>
            <a:prstGeom prst="rect">
              <a:avLst/>
            </a:prstGeom>
            <a:solidFill>
              <a:srgbClr val="76C2E5"/>
            </a:solidFill>
            <a:ln>
              <a:noFill/>
            </a:ln>
          </p:spPr>
          <p:txBody>
            <a:bodyPr lIns="91425" tIns="45700" rIns="91425" bIns="45700" anchor="ctr"/>
            <a:lstStyle>
              <a:lvl1pPr defTabSz="685800">
                <a:defRPr>
                  <a:solidFill>
                    <a:schemeClr val="tx1"/>
                  </a:solidFill>
                  <a:latin typeface="Calibri" panose="020F0502020204030204" pitchFamily="34" charset="0"/>
                </a:defRPr>
              </a:lvl1pPr>
              <a:lvl2pPr marL="742950" indent="-285750" defTabSz="685800">
                <a:defRPr>
                  <a:solidFill>
                    <a:schemeClr val="tx1"/>
                  </a:solidFill>
                  <a:latin typeface="Calibri" panose="020F0502020204030204" pitchFamily="34" charset="0"/>
                </a:defRPr>
              </a:lvl2pPr>
              <a:lvl3pPr marL="1143000" indent="-228600" defTabSz="685800">
                <a:defRPr>
                  <a:solidFill>
                    <a:schemeClr val="tx1"/>
                  </a:solidFill>
                  <a:latin typeface="Calibri" panose="020F0502020204030204" pitchFamily="34" charset="0"/>
                </a:defRPr>
              </a:lvl3pPr>
              <a:lvl4pPr marL="1600200" indent="-228600" defTabSz="685800">
                <a:defRPr>
                  <a:solidFill>
                    <a:schemeClr val="tx1"/>
                  </a:solidFill>
                  <a:latin typeface="Calibri" panose="020F0502020204030204" pitchFamily="34" charset="0"/>
                </a:defRPr>
              </a:lvl4pPr>
              <a:lvl5pPr marL="2057400" indent="-228600" defTabSz="685800">
                <a:defRPr>
                  <a:solidFill>
                    <a:schemeClr val="tx1"/>
                  </a:solidFill>
                  <a:latin typeface="Calibri" panose="020F0502020204030204" pitchFamily="34" charset="0"/>
                </a:defRPr>
              </a:lvl5pPr>
              <a:lvl6pPr marL="2514600" indent="-228600" defTabSz="685800" fontAlgn="base">
                <a:spcBef>
                  <a:spcPct val="0"/>
                </a:spcBef>
                <a:spcAft>
                  <a:spcPct val="0"/>
                </a:spcAft>
                <a:defRPr>
                  <a:solidFill>
                    <a:schemeClr val="tx1"/>
                  </a:solidFill>
                  <a:latin typeface="Calibri" panose="020F0502020204030204" pitchFamily="34" charset="0"/>
                </a:defRPr>
              </a:lvl6pPr>
              <a:lvl7pPr marL="2971800" indent="-228600" defTabSz="685800" fontAlgn="base">
                <a:spcBef>
                  <a:spcPct val="0"/>
                </a:spcBef>
                <a:spcAft>
                  <a:spcPct val="0"/>
                </a:spcAft>
                <a:defRPr>
                  <a:solidFill>
                    <a:schemeClr val="tx1"/>
                  </a:solidFill>
                  <a:latin typeface="Calibri" panose="020F0502020204030204" pitchFamily="34" charset="0"/>
                </a:defRPr>
              </a:lvl7pPr>
              <a:lvl8pPr marL="3429000" indent="-228600" defTabSz="685800" fontAlgn="base">
                <a:spcBef>
                  <a:spcPct val="0"/>
                </a:spcBef>
                <a:spcAft>
                  <a:spcPct val="0"/>
                </a:spcAft>
                <a:defRPr>
                  <a:solidFill>
                    <a:schemeClr val="tx1"/>
                  </a:solidFill>
                  <a:latin typeface="Calibri" panose="020F0502020204030204" pitchFamily="34" charset="0"/>
                </a:defRPr>
              </a:lvl8pPr>
              <a:lvl9pPr marL="3886200" indent="-228600" defTabSz="685800" fontAlgn="base">
                <a:spcBef>
                  <a:spcPct val="0"/>
                </a:spcBef>
                <a:spcAft>
                  <a:spcPct val="0"/>
                </a:spcAft>
                <a:defRPr>
                  <a:solidFill>
                    <a:schemeClr val="tx1"/>
                  </a:solidFill>
                  <a:latin typeface="Calibri" panose="020F0502020204030204" pitchFamily="34" charset="0"/>
                </a:defRPr>
              </a:lvl9pP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altLang="en-US"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5" name="Google Shape;60;p110"/>
            <p:cNvSpPr>
              <a:spLocks noChangeArrowheads="1"/>
            </p:cNvSpPr>
            <p:nvPr/>
          </p:nvSpPr>
          <p:spPr bwMode="auto">
            <a:xfrm>
              <a:off x="6908913" y="6550671"/>
              <a:ext cx="2235087" cy="45525"/>
            </a:xfrm>
            <a:prstGeom prst="rect">
              <a:avLst/>
            </a:prstGeom>
            <a:solidFill>
              <a:srgbClr val="E31C24"/>
            </a:solidFill>
            <a:ln>
              <a:noFill/>
            </a:ln>
          </p:spPr>
          <p:txBody>
            <a:bodyPr lIns="91425" tIns="45700" rIns="91425" bIns="45700" anchor="ctr"/>
            <a:lstStyle>
              <a:lvl1pPr defTabSz="685800">
                <a:defRPr>
                  <a:solidFill>
                    <a:schemeClr val="tx1"/>
                  </a:solidFill>
                  <a:latin typeface="Calibri" panose="020F0502020204030204" pitchFamily="34" charset="0"/>
                </a:defRPr>
              </a:lvl1pPr>
              <a:lvl2pPr marL="742950" indent="-285750" defTabSz="685800">
                <a:defRPr>
                  <a:solidFill>
                    <a:schemeClr val="tx1"/>
                  </a:solidFill>
                  <a:latin typeface="Calibri" panose="020F0502020204030204" pitchFamily="34" charset="0"/>
                </a:defRPr>
              </a:lvl2pPr>
              <a:lvl3pPr marL="1143000" indent="-228600" defTabSz="685800">
                <a:defRPr>
                  <a:solidFill>
                    <a:schemeClr val="tx1"/>
                  </a:solidFill>
                  <a:latin typeface="Calibri" panose="020F0502020204030204" pitchFamily="34" charset="0"/>
                </a:defRPr>
              </a:lvl3pPr>
              <a:lvl4pPr marL="1600200" indent="-228600" defTabSz="685800">
                <a:defRPr>
                  <a:solidFill>
                    <a:schemeClr val="tx1"/>
                  </a:solidFill>
                  <a:latin typeface="Calibri" panose="020F0502020204030204" pitchFamily="34" charset="0"/>
                </a:defRPr>
              </a:lvl4pPr>
              <a:lvl5pPr marL="2057400" indent="-228600" defTabSz="685800">
                <a:defRPr>
                  <a:solidFill>
                    <a:schemeClr val="tx1"/>
                  </a:solidFill>
                  <a:latin typeface="Calibri" panose="020F0502020204030204" pitchFamily="34" charset="0"/>
                </a:defRPr>
              </a:lvl5pPr>
              <a:lvl6pPr marL="2514600" indent="-228600" defTabSz="685800" fontAlgn="base">
                <a:spcBef>
                  <a:spcPct val="0"/>
                </a:spcBef>
                <a:spcAft>
                  <a:spcPct val="0"/>
                </a:spcAft>
                <a:defRPr>
                  <a:solidFill>
                    <a:schemeClr val="tx1"/>
                  </a:solidFill>
                  <a:latin typeface="Calibri" panose="020F0502020204030204" pitchFamily="34" charset="0"/>
                </a:defRPr>
              </a:lvl6pPr>
              <a:lvl7pPr marL="2971800" indent="-228600" defTabSz="685800" fontAlgn="base">
                <a:spcBef>
                  <a:spcPct val="0"/>
                </a:spcBef>
                <a:spcAft>
                  <a:spcPct val="0"/>
                </a:spcAft>
                <a:defRPr>
                  <a:solidFill>
                    <a:schemeClr val="tx1"/>
                  </a:solidFill>
                  <a:latin typeface="Calibri" panose="020F0502020204030204" pitchFamily="34" charset="0"/>
                </a:defRPr>
              </a:lvl7pPr>
              <a:lvl8pPr marL="3429000" indent="-228600" defTabSz="685800" fontAlgn="base">
                <a:spcBef>
                  <a:spcPct val="0"/>
                </a:spcBef>
                <a:spcAft>
                  <a:spcPct val="0"/>
                </a:spcAft>
                <a:defRPr>
                  <a:solidFill>
                    <a:schemeClr val="tx1"/>
                  </a:solidFill>
                  <a:latin typeface="Calibri" panose="020F0502020204030204" pitchFamily="34" charset="0"/>
                </a:defRPr>
              </a:lvl8pPr>
              <a:lvl9pPr marL="3886200" indent="-228600" defTabSz="685800" fontAlgn="base">
                <a:spcBef>
                  <a:spcPct val="0"/>
                </a:spcBef>
                <a:spcAft>
                  <a:spcPct val="0"/>
                </a:spcAft>
                <a:defRPr>
                  <a:solidFill>
                    <a:schemeClr val="tx1"/>
                  </a:solidFill>
                  <a:latin typeface="Calibri" panose="020F0502020204030204" pitchFamily="34" charset="0"/>
                </a:defRPr>
              </a:lvl9pP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altLang="en-US"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6" name="Google Shape;61;p110"/>
            <p:cNvSpPr>
              <a:spLocks noChangeArrowheads="1"/>
            </p:cNvSpPr>
            <p:nvPr/>
          </p:nvSpPr>
          <p:spPr bwMode="auto">
            <a:xfrm>
              <a:off x="2083888" y="6550671"/>
              <a:ext cx="2581603" cy="48665"/>
            </a:xfrm>
            <a:prstGeom prst="rect">
              <a:avLst/>
            </a:prstGeom>
            <a:solidFill>
              <a:srgbClr val="FCB017"/>
            </a:solidFill>
            <a:ln>
              <a:noFill/>
            </a:ln>
          </p:spPr>
          <p:txBody>
            <a:bodyPr lIns="91425" tIns="45700" rIns="91425" bIns="45700" anchor="ctr"/>
            <a:lstStyle>
              <a:lvl1pPr defTabSz="685800">
                <a:defRPr>
                  <a:solidFill>
                    <a:schemeClr val="tx1"/>
                  </a:solidFill>
                  <a:latin typeface="Calibri" panose="020F0502020204030204" pitchFamily="34" charset="0"/>
                </a:defRPr>
              </a:lvl1pPr>
              <a:lvl2pPr marL="742950" indent="-285750" defTabSz="685800">
                <a:defRPr>
                  <a:solidFill>
                    <a:schemeClr val="tx1"/>
                  </a:solidFill>
                  <a:latin typeface="Calibri" panose="020F0502020204030204" pitchFamily="34" charset="0"/>
                </a:defRPr>
              </a:lvl2pPr>
              <a:lvl3pPr marL="1143000" indent="-228600" defTabSz="685800">
                <a:defRPr>
                  <a:solidFill>
                    <a:schemeClr val="tx1"/>
                  </a:solidFill>
                  <a:latin typeface="Calibri" panose="020F0502020204030204" pitchFamily="34" charset="0"/>
                </a:defRPr>
              </a:lvl3pPr>
              <a:lvl4pPr marL="1600200" indent="-228600" defTabSz="685800">
                <a:defRPr>
                  <a:solidFill>
                    <a:schemeClr val="tx1"/>
                  </a:solidFill>
                  <a:latin typeface="Calibri" panose="020F0502020204030204" pitchFamily="34" charset="0"/>
                </a:defRPr>
              </a:lvl4pPr>
              <a:lvl5pPr marL="2057400" indent="-228600" defTabSz="685800">
                <a:defRPr>
                  <a:solidFill>
                    <a:schemeClr val="tx1"/>
                  </a:solidFill>
                  <a:latin typeface="Calibri" panose="020F0502020204030204" pitchFamily="34" charset="0"/>
                </a:defRPr>
              </a:lvl5pPr>
              <a:lvl6pPr marL="2514600" indent="-228600" defTabSz="685800" fontAlgn="base">
                <a:spcBef>
                  <a:spcPct val="0"/>
                </a:spcBef>
                <a:spcAft>
                  <a:spcPct val="0"/>
                </a:spcAft>
                <a:defRPr>
                  <a:solidFill>
                    <a:schemeClr val="tx1"/>
                  </a:solidFill>
                  <a:latin typeface="Calibri" panose="020F0502020204030204" pitchFamily="34" charset="0"/>
                </a:defRPr>
              </a:lvl6pPr>
              <a:lvl7pPr marL="2971800" indent="-228600" defTabSz="685800" fontAlgn="base">
                <a:spcBef>
                  <a:spcPct val="0"/>
                </a:spcBef>
                <a:spcAft>
                  <a:spcPct val="0"/>
                </a:spcAft>
                <a:defRPr>
                  <a:solidFill>
                    <a:schemeClr val="tx1"/>
                  </a:solidFill>
                  <a:latin typeface="Calibri" panose="020F0502020204030204" pitchFamily="34" charset="0"/>
                </a:defRPr>
              </a:lvl7pPr>
              <a:lvl8pPr marL="3429000" indent="-228600" defTabSz="685800" fontAlgn="base">
                <a:spcBef>
                  <a:spcPct val="0"/>
                </a:spcBef>
                <a:spcAft>
                  <a:spcPct val="0"/>
                </a:spcAft>
                <a:defRPr>
                  <a:solidFill>
                    <a:schemeClr val="tx1"/>
                  </a:solidFill>
                  <a:latin typeface="Calibri" panose="020F0502020204030204" pitchFamily="34" charset="0"/>
                </a:defRPr>
              </a:lvl8pPr>
              <a:lvl9pPr marL="3886200" indent="-228600" defTabSz="685800" fontAlgn="base">
                <a:spcBef>
                  <a:spcPct val="0"/>
                </a:spcBef>
                <a:spcAft>
                  <a:spcPct val="0"/>
                </a:spcAft>
                <a:defRPr>
                  <a:solidFill>
                    <a:schemeClr val="tx1"/>
                  </a:solidFill>
                  <a:latin typeface="Calibri" panose="020F0502020204030204" pitchFamily="34" charset="0"/>
                </a:defRPr>
              </a:lvl9pP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altLang="en-US"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grpSp>
      <p:pic>
        <p:nvPicPr>
          <p:cNvPr id="7" name="Google Shape;62;p110" descr="Picture 7.png"/>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l="1923" b="5334"/>
          <a:stretch>
            <a:fillRect/>
          </a:stretch>
        </p:blipFill>
        <p:spPr bwMode="auto">
          <a:xfrm>
            <a:off x="8839200" y="0"/>
            <a:ext cx="292576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 name="Google Shape;63;p110"/>
          <p:cNvGrpSpPr>
            <a:grpSpLocks/>
          </p:cNvGrpSpPr>
          <p:nvPr/>
        </p:nvGrpSpPr>
        <p:grpSpPr bwMode="auto">
          <a:xfrm>
            <a:off x="2844800" y="6553200"/>
            <a:ext cx="9347200" cy="46038"/>
            <a:chOff x="1905000" y="6553200"/>
            <a:chExt cx="7010400" cy="45719"/>
          </a:xfrm>
        </p:grpSpPr>
        <p:sp>
          <p:nvSpPr>
            <p:cNvPr id="9" name="Google Shape;64;p110"/>
            <p:cNvSpPr>
              <a:spLocks noChangeArrowheads="1"/>
            </p:cNvSpPr>
            <p:nvPr/>
          </p:nvSpPr>
          <p:spPr bwMode="auto">
            <a:xfrm>
              <a:off x="4267200" y="6553200"/>
              <a:ext cx="2328863" cy="45719"/>
            </a:xfrm>
            <a:prstGeom prst="rect">
              <a:avLst/>
            </a:prstGeom>
            <a:solidFill>
              <a:srgbClr val="76C2E5"/>
            </a:solidFill>
            <a:ln>
              <a:noFill/>
            </a:ln>
          </p:spPr>
          <p:txBody>
            <a:bodyPr lIns="91425" tIns="45700" rIns="91425" bIns="45700" anchor="ctr"/>
            <a:lstStyle>
              <a:lvl1pPr defTabSz="685800">
                <a:defRPr>
                  <a:solidFill>
                    <a:schemeClr val="tx1"/>
                  </a:solidFill>
                  <a:latin typeface="Calibri" panose="020F0502020204030204" pitchFamily="34" charset="0"/>
                </a:defRPr>
              </a:lvl1pPr>
              <a:lvl2pPr marL="742950" indent="-285750" defTabSz="685800">
                <a:defRPr>
                  <a:solidFill>
                    <a:schemeClr val="tx1"/>
                  </a:solidFill>
                  <a:latin typeface="Calibri" panose="020F0502020204030204" pitchFamily="34" charset="0"/>
                </a:defRPr>
              </a:lvl2pPr>
              <a:lvl3pPr marL="1143000" indent="-228600" defTabSz="685800">
                <a:defRPr>
                  <a:solidFill>
                    <a:schemeClr val="tx1"/>
                  </a:solidFill>
                  <a:latin typeface="Calibri" panose="020F0502020204030204" pitchFamily="34" charset="0"/>
                </a:defRPr>
              </a:lvl3pPr>
              <a:lvl4pPr marL="1600200" indent="-228600" defTabSz="685800">
                <a:defRPr>
                  <a:solidFill>
                    <a:schemeClr val="tx1"/>
                  </a:solidFill>
                  <a:latin typeface="Calibri" panose="020F0502020204030204" pitchFamily="34" charset="0"/>
                </a:defRPr>
              </a:lvl4pPr>
              <a:lvl5pPr marL="2057400" indent="-228600" defTabSz="685800">
                <a:defRPr>
                  <a:solidFill>
                    <a:schemeClr val="tx1"/>
                  </a:solidFill>
                  <a:latin typeface="Calibri" panose="020F0502020204030204" pitchFamily="34" charset="0"/>
                </a:defRPr>
              </a:lvl5pPr>
              <a:lvl6pPr marL="2514600" indent="-228600" defTabSz="685800" fontAlgn="base">
                <a:spcBef>
                  <a:spcPct val="0"/>
                </a:spcBef>
                <a:spcAft>
                  <a:spcPct val="0"/>
                </a:spcAft>
                <a:defRPr>
                  <a:solidFill>
                    <a:schemeClr val="tx1"/>
                  </a:solidFill>
                  <a:latin typeface="Calibri" panose="020F0502020204030204" pitchFamily="34" charset="0"/>
                </a:defRPr>
              </a:lvl6pPr>
              <a:lvl7pPr marL="2971800" indent="-228600" defTabSz="685800" fontAlgn="base">
                <a:spcBef>
                  <a:spcPct val="0"/>
                </a:spcBef>
                <a:spcAft>
                  <a:spcPct val="0"/>
                </a:spcAft>
                <a:defRPr>
                  <a:solidFill>
                    <a:schemeClr val="tx1"/>
                  </a:solidFill>
                  <a:latin typeface="Calibri" panose="020F0502020204030204" pitchFamily="34" charset="0"/>
                </a:defRPr>
              </a:lvl7pPr>
              <a:lvl8pPr marL="3429000" indent="-228600" defTabSz="685800" fontAlgn="base">
                <a:spcBef>
                  <a:spcPct val="0"/>
                </a:spcBef>
                <a:spcAft>
                  <a:spcPct val="0"/>
                </a:spcAft>
                <a:defRPr>
                  <a:solidFill>
                    <a:schemeClr val="tx1"/>
                  </a:solidFill>
                  <a:latin typeface="Calibri" panose="020F0502020204030204" pitchFamily="34" charset="0"/>
                </a:defRPr>
              </a:lvl8pPr>
              <a:lvl9pPr marL="3886200" indent="-228600" defTabSz="685800" fontAlgn="base">
                <a:spcBef>
                  <a:spcPct val="0"/>
                </a:spcBef>
                <a:spcAft>
                  <a:spcPct val="0"/>
                </a:spcAft>
                <a:defRPr>
                  <a:solidFill>
                    <a:schemeClr val="tx1"/>
                  </a:solidFill>
                  <a:latin typeface="Calibri" panose="020F0502020204030204" pitchFamily="34" charset="0"/>
                </a:defRPr>
              </a:lvl9pP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altLang="en-US"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10" name="Google Shape;65;p110"/>
            <p:cNvSpPr>
              <a:spLocks noChangeArrowheads="1"/>
            </p:cNvSpPr>
            <p:nvPr/>
          </p:nvSpPr>
          <p:spPr bwMode="auto">
            <a:xfrm>
              <a:off x="1905000" y="6553200"/>
              <a:ext cx="2362200" cy="45719"/>
            </a:xfrm>
            <a:prstGeom prst="rect">
              <a:avLst/>
            </a:prstGeom>
            <a:solidFill>
              <a:srgbClr val="FCB017"/>
            </a:solidFill>
            <a:ln>
              <a:noFill/>
            </a:ln>
          </p:spPr>
          <p:txBody>
            <a:bodyPr lIns="91425" tIns="45700" rIns="91425" bIns="45700" anchor="ctr"/>
            <a:lstStyle>
              <a:lvl1pPr defTabSz="685800">
                <a:defRPr>
                  <a:solidFill>
                    <a:schemeClr val="tx1"/>
                  </a:solidFill>
                  <a:latin typeface="Calibri" panose="020F0502020204030204" pitchFamily="34" charset="0"/>
                </a:defRPr>
              </a:lvl1pPr>
              <a:lvl2pPr marL="742950" indent="-285750" defTabSz="685800">
                <a:defRPr>
                  <a:solidFill>
                    <a:schemeClr val="tx1"/>
                  </a:solidFill>
                  <a:latin typeface="Calibri" panose="020F0502020204030204" pitchFamily="34" charset="0"/>
                </a:defRPr>
              </a:lvl2pPr>
              <a:lvl3pPr marL="1143000" indent="-228600" defTabSz="685800">
                <a:defRPr>
                  <a:solidFill>
                    <a:schemeClr val="tx1"/>
                  </a:solidFill>
                  <a:latin typeface="Calibri" panose="020F0502020204030204" pitchFamily="34" charset="0"/>
                </a:defRPr>
              </a:lvl3pPr>
              <a:lvl4pPr marL="1600200" indent="-228600" defTabSz="685800">
                <a:defRPr>
                  <a:solidFill>
                    <a:schemeClr val="tx1"/>
                  </a:solidFill>
                  <a:latin typeface="Calibri" panose="020F0502020204030204" pitchFamily="34" charset="0"/>
                </a:defRPr>
              </a:lvl4pPr>
              <a:lvl5pPr marL="2057400" indent="-228600" defTabSz="685800">
                <a:defRPr>
                  <a:solidFill>
                    <a:schemeClr val="tx1"/>
                  </a:solidFill>
                  <a:latin typeface="Calibri" panose="020F0502020204030204" pitchFamily="34" charset="0"/>
                </a:defRPr>
              </a:lvl5pPr>
              <a:lvl6pPr marL="2514600" indent="-228600" defTabSz="685800" fontAlgn="base">
                <a:spcBef>
                  <a:spcPct val="0"/>
                </a:spcBef>
                <a:spcAft>
                  <a:spcPct val="0"/>
                </a:spcAft>
                <a:defRPr>
                  <a:solidFill>
                    <a:schemeClr val="tx1"/>
                  </a:solidFill>
                  <a:latin typeface="Calibri" panose="020F0502020204030204" pitchFamily="34" charset="0"/>
                </a:defRPr>
              </a:lvl6pPr>
              <a:lvl7pPr marL="2971800" indent="-228600" defTabSz="685800" fontAlgn="base">
                <a:spcBef>
                  <a:spcPct val="0"/>
                </a:spcBef>
                <a:spcAft>
                  <a:spcPct val="0"/>
                </a:spcAft>
                <a:defRPr>
                  <a:solidFill>
                    <a:schemeClr val="tx1"/>
                  </a:solidFill>
                  <a:latin typeface="Calibri" panose="020F0502020204030204" pitchFamily="34" charset="0"/>
                </a:defRPr>
              </a:lvl7pPr>
              <a:lvl8pPr marL="3429000" indent="-228600" defTabSz="685800" fontAlgn="base">
                <a:spcBef>
                  <a:spcPct val="0"/>
                </a:spcBef>
                <a:spcAft>
                  <a:spcPct val="0"/>
                </a:spcAft>
                <a:defRPr>
                  <a:solidFill>
                    <a:schemeClr val="tx1"/>
                  </a:solidFill>
                  <a:latin typeface="Calibri" panose="020F0502020204030204" pitchFamily="34" charset="0"/>
                </a:defRPr>
              </a:lvl8pPr>
              <a:lvl9pPr marL="3886200" indent="-228600" defTabSz="685800" fontAlgn="base">
                <a:spcBef>
                  <a:spcPct val="0"/>
                </a:spcBef>
                <a:spcAft>
                  <a:spcPct val="0"/>
                </a:spcAft>
                <a:defRPr>
                  <a:solidFill>
                    <a:schemeClr val="tx1"/>
                  </a:solidFill>
                  <a:latin typeface="Calibri" panose="020F0502020204030204" pitchFamily="34" charset="0"/>
                </a:defRPr>
              </a:lvl9pP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altLang="en-US"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11" name="Google Shape;66;p110"/>
            <p:cNvSpPr>
              <a:spLocks noChangeArrowheads="1"/>
            </p:cNvSpPr>
            <p:nvPr/>
          </p:nvSpPr>
          <p:spPr bwMode="auto">
            <a:xfrm>
              <a:off x="6586538" y="6553200"/>
              <a:ext cx="2328863" cy="45719"/>
            </a:xfrm>
            <a:prstGeom prst="rect">
              <a:avLst/>
            </a:prstGeom>
            <a:solidFill>
              <a:srgbClr val="FF0000"/>
            </a:solidFill>
            <a:ln>
              <a:noFill/>
            </a:ln>
          </p:spPr>
          <p:txBody>
            <a:bodyPr lIns="91425" tIns="45700" rIns="91425" bIns="45700" anchor="ctr"/>
            <a:lstStyle>
              <a:lvl1pPr defTabSz="685800">
                <a:defRPr>
                  <a:solidFill>
                    <a:schemeClr val="tx1"/>
                  </a:solidFill>
                  <a:latin typeface="Calibri" panose="020F0502020204030204" pitchFamily="34" charset="0"/>
                </a:defRPr>
              </a:lvl1pPr>
              <a:lvl2pPr marL="742950" indent="-285750" defTabSz="685800">
                <a:defRPr>
                  <a:solidFill>
                    <a:schemeClr val="tx1"/>
                  </a:solidFill>
                  <a:latin typeface="Calibri" panose="020F0502020204030204" pitchFamily="34" charset="0"/>
                </a:defRPr>
              </a:lvl2pPr>
              <a:lvl3pPr marL="1143000" indent="-228600" defTabSz="685800">
                <a:defRPr>
                  <a:solidFill>
                    <a:schemeClr val="tx1"/>
                  </a:solidFill>
                  <a:latin typeface="Calibri" panose="020F0502020204030204" pitchFamily="34" charset="0"/>
                </a:defRPr>
              </a:lvl3pPr>
              <a:lvl4pPr marL="1600200" indent="-228600" defTabSz="685800">
                <a:defRPr>
                  <a:solidFill>
                    <a:schemeClr val="tx1"/>
                  </a:solidFill>
                  <a:latin typeface="Calibri" panose="020F0502020204030204" pitchFamily="34" charset="0"/>
                </a:defRPr>
              </a:lvl4pPr>
              <a:lvl5pPr marL="2057400" indent="-228600" defTabSz="685800">
                <a:defRPr>
                  <a:solidFill>
                    <a:schemeClr val="tx1"/>
                  </a:solidFill>
                  <a:latin typeface="Calibri" panose="020F0502020204030204" pitchFamily="34" charset="0"/>
                </a:defRPr>
              </a:lvl5pPr>
              <a:lvl6pPr marL="2514600" indent="-228600" defTabSz="685800" fontAlgn="base">
                <a:spcBef>
                  <a:spcPct val="0"/>
                </a:spcBef>
                <a:spcAft>
                  <a:spcPct val="0"/>
                </a:spcAft>
                <a:defRPr>
                  <a:solidFill>
                    <a:schemeClr val="tx1"/>
                  </a:solidFill>
                  <a:latin typeface="Calibri" panose="020F0502020204030204" pitchFamily="34" charset="0"/>
                </a:defRPr>
              </a:lvl6pPr>
              <a:lvl7pPr marL="2971800" indent="-228600" defTabSz="685800" fontAlgn="base">
                <a:spcBef>
                  <a:spcPct val="0"/>
                </a:spcBef>
                <a:spcAft>
                  <a:spcPct val="0"/>
                </a:spcAft>
                <a:defRPr>
                  <a:solidFill>
                    <a:schemeClr val="tx1"/>
                  </a:solidFill>
                  <a:latin typeface="Calibri" panose="020F0502020204030204" pitchFamily="34" charset="0"/>
                </a:defRPr>
              </a:lvl7pPr>
              <a:lvl8pPr marL="3429000" indent="-228600" defTabSz="685800" fontAlgn="base">
                <a:spcBef>
                  <a:spcPct val="0"/>
                </a:spcBef>
                <a:spcAft>
                  <a:spcPct val="0"/>
                </a:spcAft>
                <a:defRPr>
                  <a:solidFill>
                    <a:schemeClr val="tx1"/>
                  </a:solidFill>
                  <a:latin typeface="Calibri" panose="020F0502020204030204" pitchFamily="34" charset="0"/>
                </a:defRPr>
              </a:lvl8pPr>
              <a:lvl9pPr marL="3886200" indent="-228600" defTabSz="685800" fontAlgn="base">
                <a:spcBef>
                  <a:spcPct val="0"/>
                </a:spcBef>
                <a:spcAft>
                  <a:spcPct val="0"/>
                </a:spcAft>
                <a:defRPr>
                  <a:solidFill>
                    <a:schemeClr val="tx1"/>
                  </a:solidFill>
                  <a:latin typeface="Calibri" panose="020F0502020204030204" pitchFamily="34" charset="0"/>
                </a:defRPr>
              </a:lvl9pP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altLang="en-US"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grpSp>
      <p:grpSp>
        <p:nvGrpSpPr>
          <p:cNvPr id="12" name="Google Shape;67;p110"/>
          <p:cNvGrpSpPr>
            <a:grpSpLocks/>
          </p:cNvGrpSpPr>
          <p:nvPr/>
        </p:nvGrpSpPr>
        <p:grpSpPr bwMode="auto">
          <a:xfrm>
            <a:off x="0" y="1295400"/>
            <a:ext cx="9347200" cy="46038"/>
            <a:chOff x="1905000" y="6553200"/>
            <a:chExt cx="7010400" cy="45719"/>
          </a:xfrm>
        </p:grpSpPr>
        <p:sp>
          <p:nvSpPr>
            <p:cNvPr id="13" name="Google Shape;68;p110"/>
            <p:cNvSpPr>
              <a:spLocks noChangeArrowheads="1"/>
            </p:cNvSpPr>
            <p:nvPr/>
          </p:nvSpPr>
          <p:spPr bwMode="auto">
            <a:xfrm>
              <a:off x="4267200" y="6553200"/>
              <a:ext cx="2328863" cy="45719"/>
            </a:xfrm>
            <a:prstGeom prst="rect">
              <a:avLst/>
            </a:prstGeom>
            <a:solidFill>
              <a:srgbClr val="76C2E5"/>
            </a:solidFill>
            <a:ln>
              <a:noFill/>
            </a:ln>
          </p:spPr>
          <p:txBody>
            <a:bodyPr lIns="91425" tIns="45700" rIns="91425" bIns="45700" anchor="ctr"/>
            <a:lstStyle>
              <a:lvl1pPr defTabSz="685800">
                <a:defRPr>
                  <a:solidFill>
                    <a:schemeClr val="tx1"/>
                  </a:solidFill>
                  <a:latin typeface="Calibri" panose="020F0502020204030204" pitchFamily="34" charset="0"/>
                </a:defRPr>
              </a:lvl1pPr>
              <a:lvl2pPr marL="742950" indent="-285750" defTabSz="685800">
                <a:defRPr>
                  <a:solidFill>
                    <a:schemeClr val="tx1"/>
                  </a:solidFill>
                  <a:latin typeface="Calibri" panose="020F0502020204030204" pitchFamily="34" charset="0"/>
                </a:defRPr>
              </a:lvl2pPr>
              <a:lvl3pPr marL="1143000" indent="-228600" defTabSz="685800">
                <a:defRPr>
                  <a:solidFill>
                    <a:schemeClr val="tx1"/>
                  </a:solidFill>
                  <a:latin typeface="Calibri" panose="020F0502020204030204" pitchFamily="34" charset="0"/>
                </a:defRPr>
              </a:lvl3pPr>
              <a:lvl4pPr marL="1600200" indent="-228600" defTabSz="685800">
                <a:defRPr>
                  <a:solidFill>
                    <a:schemeClr val="tx1"/>
                  </a:solidFill>
                  <a:latin typeface="Calibri" panose="020F0502020204030204" pitchFamily="34" charset="0"/>
                </a:defRPr>
              </a:lvl4pPr>
              <a:lvl5pPr marL="2057400" indent="-228600" defTabSz="685800">
                <a:defRPr>
                  <a:solidFill>
                    <a:schemeClr val="tx1"/>
                  </a:solidFill>
                  <a:latin typeface="Calibri" panose="020F0502020204030204" pitchFamily="34" charset="0"/>
                </a:defRPr>
              </a:lvl5pPr>
              <a:lvl6pPr marL="2514600" indent="-228600" defTabSz="685800" fontAlgn="base">
                <a:spcBef>
                  <a:spcPct val="0"/>
                </a:spcBef>
                <a:spcAft>
                  <a:spcPct val="0"/>
                </a:spcAft>
                <a:defRPr>
                  <a:solidFill>
                    <a:schemeClr val="tx1"/>
                  </a:solidFill>
                  <a:latin typeface="Calibri" panose="020F0502020204030204" pitchFamily="34" charset="0"/>
                </a:defRPr>
              </a:lvl6pPr>
              <a:lvl7pPr marL="2971800" indent="-228600" defTabSz="685800" fontAlgn="base">
                <a:spcBef>
                  <a:spcPct val="0"/>
                </a:spcBef>
                <a:spcAft>
                  <a:spcPct val="0"/>
                </a:spcAft>
                <a:defRPr>
                  <a:solidFill>
                    <a:schemeClr val="tx1"/>
                  </a:solidFill>
                  <a:latin typeface="Calibri" panose="020F0502020204030204" pitchFamily="34" charset="0"/>
                </a:defRPr>
              </a:lvl7pPr>
              <a:lvl8pPr marL="3429000" indent="-228600" defTabSz="685800" fontAlgn="base">
                <a:spcBef>
                  <a:spcPct val="0"/>
                </a:spcBef>
                <a:spcAft>
                  <a:spcPct val="0"/>
                </a:spcAft>
                <a:defRPr>
                  <a:solidFill>
                    <a:schemeClr val="tx1"/>
                  </a:solidFill>
                  <a:latin typeface="Calibri" panose="020F0502020204030204" pitchFamily="34" charset="0"/>
                </a:defRPr>
              </a:lvl8pPr>
              <a:lvl9pPr marL="3886200" indent="-228600" defTabSz="685800" fontAlgn="base">
                <a:spcBef>
                  <a:spcPct val="0"/>
                </a:spcBef>
                <a:spcAft>
                  <a:spcPct val="0"/>
                </a:spcAft>
                <a:defRPr>
                  <a:solidFill>
                    <a:schemeClr val="tx1"/>
                  </a:solidFill>
                  <a:latin typeface="Calibri" panose="020F0502020204030204" pitchFamily="34" charset="0"/>
                </a:defRPr>
              </a:lvl9pP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altLang="en-US"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14" name="Google Shape;69;p110"/>
            <p:cNvSpPr>
              <a:spLocks noChangeArrowheads="1"/>
            </p:cNvSpPr>
            <p:nvPr/>
          </p:nvSpPr>
          <p:spPr bwMode="auto">
            <a:xfrm>
              <a:off x="1905000" y="6553200"/>
              <a:ext cx="2362200" cy="45719"/>
            </a:xfrm>
            <a:prstGeom prst="rect">
              <a:avLst/>
            </a:prstGeom>
            <a:solidFill>
              <a:srgbClr val="FCB017"/>
            </a:solidFill>
            <a:ln>
              <a:noFill/>
            </a:ln>
          </p:spPr>
          <p:txBody>
            <a:bodyPr lIns="91425" tIns="45700" rIns="91425" bIns="45700" anchor="ctr"/>
            <a:lstStyle>
              <a:lvl1pPr defTabSz="685800">
                <a:defRPr>
                  <a:solidFill>
                    <a:schemeClr val="tx1"/>
                  </a:solidFill>
                  <a:latin typeface="Calibri" panose="020F0502020204030204" pitchFamily="34" charset="0"/>
                </a:defRPr>
              </a:lvl1pPr>
              <a:lvl2pPr marL="742950" indent="-285750" defTabSz="685800">
                <a:defRPr>
                  <a:solidFill>
                    <a:schemeClr val="tx1"/>
                  </a:solidFill>
                  <a:latin typeface="Calibri" panose="020F0502020204030204" pitchFamily="34" charset="0"/>
                </a:defRPr>
              </a:lvl2pPr>
              <a:lvl3pPr marL="1143000" indent="-228600" defTabSz="685800">
                <a:defRPr>
                  <a:solidFill>
                    <a:schemeClr val="tx1"/>
                  </a:solidFill>
                  <a:latin typeface="Calibri" panose="020F0502020204030204" pitchFamily="34" charset="0"/>
                </a:defRPr>
              </a:lvl3pPr>
              <a:lvl4pPr marL="1600200" indent="-228600" defTabSz="685800">
                <a:defRPr>
                  <a:solidFill>
                    <a:schemeClr val="tx1"/>
                  </a:solidFill>
                  <a:latin typeface="Calibri" panose="020F0502020204030204" pitchFamily="34" charset="0"/>
                </a:defRPr>
              </a:lvl4pPr>
              <a:lvl5pPr marL="2057400" indent="-228600" defTabSz="685800">
                <a:defRPr>
                  <a:solidFill>
                    <a:schemeClr val="tx1"/>
                  </a:solidFill>
                  <a:latin typeface="Calibri" panose="020F0502020204030204" pitchFamily="34" charset="0"/>
                </a:defRPr>
              </a:lvl5pPr>
              <a:lvl6pPr marL="2514600" indent="-228600" defTabSz="685800" fontAlgn="base">
                <a:spcBef>
                  <a:spcPct val="0"/>
                </a:spcBef>
                <a:spcAft>
                  <a:spcPct val="0"/>
                </a:spcAft>
                <a:defRPr>
                  <a:solidFill>
                    <a:schemeClr val="tx1"/>
                  </a:solidFill>
                  <a:latin typeface="Calibri" panose="020F0502020204030204" pitchFamily="34" charset="0"/>
                </a:defRPr>
              </a:lvl6pPr>
              <a:lvl7pPr marL="2971800" indent="-228600" defTabSz="685800" fontAlgn="base">
                <a:spcBef>
                  <a:spcPct val="0"/>
                </a:spcBef>
                <a:spcAft>
                  <a:spcPct val="0"/>
                </a:spcAft>
                <a:defRPr>
                  <a:solidFill>
                    <a:schemeClr val="tx1"/>
                  </a:solidFill>
                  <a:latin typeface="Calibri" panose="020F0502020204030204" pitchFamily="34" charset="0"/>
                </a:defRPr>
              </a:lvl7pPr>
              <a:lvl8pPr marL="3429000" indent="-228600" defTabSz="685800" fontAlgn="base">
                <a:spcBef>
                  <a:spcPct val="0"/>
                </a:spcBef>
                <a:spcAft>
                  <a:spcPct val="0"/>
                </a:spcAft>
                <a:defRPr>
                  <a:solidFill>
                    <a:schemeClr val="tx1"/>
                  </a:solidFill>
                  <a:latin typeface="Calibri" panose="020F0502020204030204" pitchFamily="34" charset="0"/>
                </a:defRPr>
              </a:lvl8pPr>
              <a:lvl9pPr marL="3886200" indent="-228600" defTabSz="685800" fontAlgn="base">
                <a:spcBef>
                  <a:spcPct val="0"/>
                </a:spcBef>
                <a:spcAft>
                  <a:spcPct val="0"/>
                </a:spcAft>
                <a:defRPr>
                  <a:solidFill>
                    <a:schemeClr val="tx1"/>
                  </a:solidFill>
                  <a:latin typeface="Calibri" panose="020F0502020204030204" pitchFamily="34" charset="0"/>
                </a:defRPr>
              </a:lvl9pP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altLang="en-US"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15" name="Google Shape;70;p110"/>
            <p:cNvSpPr>
              <a:spLocks noChangeArrowheads="1"/>
            </p:cNvSpPr>
            <p:nvPr/>
          </p:nvSpPr>
          <p:spPr bwMode="auto">
            <a:xfrm>
              <a:off x="6586538" y="6553200"/>
              <a:ext cx="2328863" cy="45719"/>
            </a:xfrm>
            <a:prstGeom prst="rect">
              <a:avLst/>
            </a:prstGeom>
            <a:solidFill>
              <a:srgbClr val="FF0000"/>
            </a:solidFill>
            <a:ln>
              <a:noFill/>
            </a:ln>
          </p:spPr>
          <p:txBody>
            <a:bodyPr lIns="91425" tIns="45700" rIns="91425" bIns="45700" anchor="ctr"/>
            <a:lstStyle>
              <a:lvl1pPr defTabSz="685800">
                <a:defRPr>
                  <a:solidFill>
                    <a:schemeClr val="tx1"/>
                  </a:solidFill>
                  <a:latin typeface="Calibri" panose="020F0502020204030204" pitchFamily="34" charset="0"/>
                </a:defRPr>
              </a:lvl1pPr>
              <a:lvl2pPr marL="742950" indent="-285750" defTabSz="685800">
                <a:defRPr>
                  <a:solidFill>
                    <a:schemeClr val="tx1"/>
                  </a:solidFill>
                  <a:latin typeface="Calibri" panose="020F0502020204030204" pitchFamily="34" charset="0"/>
                </a:defRPr>
              </a:lvl2pPr>
              <a:lvl3pPr marL="1143000" indent="-228600" defTabSz="685800">
                <a:defRPr>
                  <a:solidFill>
                    <a:schemeClr val="tx1"/>
                  </a:solidFill>
                  <a:latin typeface="Calibri" panose="020F0502020204030204" pitchFamily="34" charset="0"/>
                </a:defRPr>
              </a:lvl3pPr>
              <a:lvl4pPr marL="1600200" indent="-228600" defTabSz="685800">
                <a:defRPr>
                  <a:solidFill>
                    <a:schemeClr val="tx1"/>
                  </a:solidFill>
                  <a:latin typeface="Calibri" panose="020F0502020204030204" pitchFamily="34" charset="0"/>
                </a:defRPr>
              </a:lvl4pPr>
              <a:lvl5pPr marL="2057400" indent="-228600" defTabSz="685800">
                <a:defRPr>
                  <a:solidFill>
                    <a:schemeClr val="tx1"/>
                  </a:solidFill>
                  <a:latin typeface="Calibri" panose="020F0502020204030204" pitchFamily="34" charset="0"/>
                </a:defRPr>
              </a:lvl5pPr>
              <a:lvl6pPr marL="2514600" indent="-228600" defTabSz="685800" fontAlgn="base">
                <a:spcBef>
                  <a:spcPct val="0"/>
                </a:spcBef>
                <a:spcAft>
                  <a:spcPct val="0"/>
                </a:spcAft>
                <a:defRPr>
                  <a:solidFill>
                    <a:schemeClr val="tx1"/>
                  </a:solidFill>
                  <a:latin typeface="Calibri" panose="020F0502020204030204" pitchFamily="34" charset="0"/>
                </a:defRPr>
              </a:lvl6pPr>
              <a:lvl7pPr marL="2971800" indent="-228600" defTabSz="685800" fontAlgn="base">
                <a:spcBef>
                  <a:spcPct val="0"/>
                </a:spcBef>
                <a:spcAft>
                  <a:spcPct val="0"/>
                </a:spcAft>
                <a:defRPr>
                  <a:solidFill>
                    <a:schemeClr val="tx1"/>
                  </a:solidFill>
                  <a:latin typeface="Calibri" panose="020F0502020204030204" pitchFamily="34" charset="0"/>
                </a:defRPr>
              </a:lvl7pPr>
              <a:lvl8pPr marL="3429000" indent="-228600" defTabSz="685800" fontAlgn="base">
                <a:spcBef>
                  <a:spcPct val="0"/>
                </a:spcBef>
                <a:spcAft>
                  <a:spcPct val="0"/>
                </a:spcAft>
                <a:defRPr>
                  <a:solidFill>
                    <a:schemeClr val="tx1"/>
                  </a:solidFill>
                  <a:latin typeface="Calibri" panose="020F0502020204030204" pitchFamily="34" charset="0"/>
                </a:defRPr>
              </a:lvl8pPr>
              <a:lvl9pPr marL="3886200" indent="-228600" defTabSz="685800" fontAlgn="base">
                <a:spcBef>
                  <a:spcPct val="0"/>
                </a:spcBef>
                <a:spcAft>
                  <a:spcPct val="0"/>
                </a:spcAft>
                <a:defRPr>
                  <a:solidFill>
                    <a:schemeClr val="tx1"/>
                  </a:solidFill>
                  <a:latin typeface="Calibri" panose="020F0502020204030204" pitchFamily="34" charset="0"/>
                </a:defRPr>
              </a:lvl9pP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altLang="en-US"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grpSp>
    </p:spTree>
    <p:extLst>
      <p:ext uri="{BB962C8B-B14F-4D97-AF65-F5344CB8AC3E}">
        <p14:creationId xmlns:p14="http://schemas.microsoft.com/office/powerpoint/2010/main" val="57217652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7_Title and Content">
    <p:spTree>
      <p:nvGrpSpPr>
        <p:cNvPr id="1" name=""/>
        <p:cNvGrpSpPr/>
        <p:nvPr/>
      </p:nvGrpSpPr>
      <p:grpSpPr>
        <a:xfrm>
          <a:off x="0" y="0"/>
          <a:ext cx="0" cy="0"/>
          <a:chOff x="0" y="0"/>
          <a:chExt cx="0" cy="0"/>
        </a:xfrm>
      </p:grpSpPr>
      <p:sp>
        <p:nvSpPr>
          <p:cNvPr id="4" name="TextBox 3"/>
          <p:cNvSpPr txBox="1"/>
          <p:nvPr/>
        </p:nvSpPr>
        <p:spPr>
          <a:xfrm>
            <a:off x="4368800" y="6596063"/>
            <a:ext cx="7823200" cy="219075"/>
          </a:xfrm>
          <a:prstGeom prst="rect">
            <a:avLst/>
          </a:prstGeom>
          <a:noFill/>
        </p:spPr>
        <p:txBody>
          <a:bodyPr>
            <a:spAutoFit/>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kumimoji="0" lang="en-US" sz="825" b="1" i="0" u="none" strike="noStrike" kern="1200" cap="none" spc="0" normalizeH="0" baseline="0" noProof="0" dirty="0">
                <a:ln>
                  <a:noFill/>
                </a:ln>
                <a:solidFill>
                  <a:srgbClr val="101141"/>
                </a:solidFill>
                <a:effectLst/>
                <a:uLnTx/>
                <a:uFillTx/>
                <a:latin typeface="Arial"/>
                <a:ea typeface="+mn-ea"/>
                <a:cs typeface="Arial"/>
              </a:rPr>
              <a:t>BITS </a:t>
            </a:r>
            <a:r>
              <a:rPr kumimoji="0" lang="en-US" sz="825" b="0" i="0" u="none" strike="noStrike" kern="1200" cap="none" spc="0" normalizeH="0" baseline="0" noProof="0" dirty="0">
                <a:ln>
                  <a:noFill/>
                </a:ln>
                <a:solidFill>
                  <a:srgbClr val="101141"/>
                </a:solidFill>
                <a:effectLst/>
                <a:uLnTx/>
                <a:uFillTx/>
                <a:latin typeface="Arial"/>
                <a:ea typeface="+mn-ea"/>
                <a:cs typeface="Arial"/>
              </a:rPr>
              <a:t>Pilani, Pilani Campus</a:t>
            </a:r>
          </a:p>
        </p:txBody>
      </p:sp>
      <p:grpSp>
        <p:nvGrpSpPr>
          <p:cNvPr id="5" name="Group 11"/>
          <p:cNvGrpSpPr>
            <a:grpSpLocks/>
          </p:cNvGrpSpPr>
          <p:nvPr/>
        </p:nvGrpSpPr>
        <p:grpSpPr bwMode="auto">
          <a:xfrm>
            <a:off x="2779713" y="6550025"/>
            <a:ext cx="9412287" cy="49213"/>
            <a:chOff x="2083888" y="6550671"/>
            <a:chExt cx="7060112" cy="48665"/>
          </a:xfrm>
        </p:grpSpPr>
        <p:sp>
          <p:nvSpPr>
            <p:cNvPr id="6" name="Rectangle 5"/>
            <p:cNvSpPr/>
            <p:nvPr/>
          </p:nvSpPr>
          <p:spPr>
            <a:xfrm>
              <a:off x="4630958" y="6550671"/>
              <a:ext cx="2327968"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913" y="6550671"/>
              <a:ext cx="2235087"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603"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noChangeArrowheads="1"/>
          </p:cNvPicPr>
          <p:nvPr/>
        </p:nvPicPr>
        <p:blipFill>
          <a:blip r:embed="rId2">
            <a:extLst>
              <a:ext uri="{28A0092B-C50C-407E-A947-70E740481C1C}">
                <a14:useLocalDpi xmlns:a14="http://schemas.microsoft.com/office/drawing/2010/main" val="0"/>
              </a:ext>
            </a:extLst>
          </a:blip>
          <a:srcRect l="1923" b="5336"/>
          <a:stretch>
            <a:fillRect/>
          </a:stretch>
        </p:blipFill>
        <p:spPr bwMode="auto">
          <a:xfrm>
            <a:off x="8839200" y="0"/>
            <a:ext cx="292576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p:cNvGrpSpPr>
            <a:grpSpLocks/>
          </p:cNvGrpSpPr>
          <p:nvPr/>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3"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4" name="Group 22"/>
          <p:cNvGrpSpPr>
            <a:grpSpLocks/>
          </p:cNvGrpSpPr>
          <p:nvPr/>
        </p:nvGrpSpPr>
        <p:grpSpPr bwMode="auto">
          <a:xfrm>
            <a:off x="0" y="1295400"/>
            <a:ext cx="93472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3"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406400" y="1493840"/>
            <a:ext cx="109728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lstStyle>
            <a:lvl1pPr marL="0">
              <a:lnSpc>
                <a:spcPts val="2700"/>
              </a:lnSpc>
              <a:spcBef>
                <a:spcPts val="0"/>
              </a:spcBef>
              <a:buNone/>
              <a:defRPr sz="2700" b="1" spc="-113" baseline="0">
                <a:latin typeface="Arial" pitchFamily="34" charset="0"/>
                <a:cs typeface="Arial" pitchFamily="34" charset="0"/>
              </a:defRPr>
            </a:lvl1pPr>
          </a:lstStyle>
          <a:p>
            <a:pPr lvl="0"/>
            <a:r>
              <a:rPr lang="en-US"/>
              <a:t>Edit Master text styles</a:t>
            </a:r>
          </a:p>
        </p:txBody>
      </p:sp>
    </p:spTree>
    <p:extLst>
      <p:ext uri="{BB962C8B-B14F-4D97-AF65-F5344CB8AC3E}">
        <p14:creationId xmlns:p14="http://schemas.microsoft.com/office/powerpoint/2010/main" val="14825887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1_Blank_one">
    <p:spTree>
      <p:nvGrpSpPr>
        <p:cNvPr id="1" name="Shape 56"/>
        <p:cNvGrpSpPr/>
        <p:nvPr/>
      </p:nvGrpSpPr>
      <p:grpSpPr>
        <a:xfrm>
          <a:off x="0" y="0"/>
          <a:ext cx="0" cy="0"/>
          <a:chOff x="0" y="0"/>
          <a:chExt cx="0" cy="0"/>
        </a:xfrm>
      </p:grpSpPr>
      <p:grpSp>
        <p:nvGrpSpPr>
          <p:cNvPr id="2" name="Google Shape;58;p106"/>
          <p:cNvGrpSpPr>
            <a:grpSpLocks/>
          </p:cNvGrpSpPr>
          <p:nvPr/>
        </p:nvGrpSpPr>
        <p:grpSpPr bwMode="auto">
          <a:xfrm>
            <a:off x="0" y="0"/>
            <a:ext cx="9412288" cy="49213"/>
            <a:chOff x="0" y="0"/>
            <a:chExt cx="7060112" cy="48665"/>
          </a:xfrm>
        </p:grpSpPr>
        <p:sp>
          <p:nvSpPr>
            <p:cNvPr id="3" name="Google Shape;59;p106"/>
            <p:cNvSpPr>
              <a:spLocks noChangeArrowheads="1"/>
            </p:cNvSpPr>
            <p:nvPr/>
          </p:nvSpPr>
          <p:spPr bwMode="auto">
            <a:xfrm>
              <a:off x="4630929" y="6550871"/>
              <a:ext cx="2329158" cy="48664"/>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4" name="Google Shape;60;p106"/>
            <p:cNvSpPr>
              <a:spLocks noChangeArrowheads="1"/>
            </p:cNvSpPr>
            <p:nvPr/>
          </p:nvSpPr>
          <p:spPr bwMode="auto">
            <a:xfrm>
              <a:off x="6908883" y="6550871"/>
              <a:ext cx="2236278" cy="45524"/>
            </a:xfrm>
            <a:prstGeom prst="rect">
              <a:avLst/>
            </a:prstGeom>
            <a:solidFill>
              <a:srgbClr val="E31C24"/>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5" name="Google Shape;61;p106"/>
            <p:cNvSpPr>
              <a:spLocks noChangeArrowheads="1"/>
            </p:cNvSpPr>
            <p:nvPr/>
          </p:nvSpPr>
          <p:spPr bwMode="auto">
            <a:xfrm>
              <a:off x="2085049" y="6550871"/>
              <a:ext cx="2580411" cy="48664"/>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grpSp>
      <p:pic>
        <p:nvPicPr>
          <p:cNvPr id="6" name="Google Shape;62;p106" descr="Picture 7.png"/>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l="1923" b="5334"/>
          <a:stretch>
            <a:fillRect/>
          </a:stretch>
        </p:blipFill>
        <p:spPr bwMode="auto">
          <a:xfrm>
            <a:off x="8839200" y="0"/>
            <a:ext cx="292576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 name="Google Shape;63;p106"/>
          <p:cNvGrpSpPr>
            <a:grpSpLocks/>
          </p:cNvGrpSpPr>
          <p:nvPr/>
        </p:nvGrpSpPr>
        <p:grpSpPr bwMode="auto">
          <a:xfrm>
            <a:off x="0" y="0"/>
            <a:ext cx="9347200" cy="46038"/>
            <a:chOff x="0" y="0"/>
            <a:chExt cx="7010400" cy="45719"/>
          </a:xfrm>
        </p:grpSpPr>
        <p:sp>
          <p:nvSpPr>
            <p:cNvPr id="8" name="Google Shape;64;p106"/>
            <p:cNvSpPr>
              <a:spLocks noChangeArrowheads="1"/>
            </p:cNvSpPr>
            <p:nvPr/>
          </p:nvSpPr>
          <p:spPr bwMode="auto">
            <a:xfrm>
              <a:off x="4267200" y="6553511"/>
              <a:ext cx="2328863" cy="45718"/>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9" name="Google Shape;65;p106"/>
            <p:cNvSpPr>
              <a:spLocks noChangeArrowheads="1"/>
            </p:cNvSpPr>
            <p:nvPr/>
          </p:nvSpPr>
          <p:spPr bwMode="auto">
            <a:xfrm>
              <a:off x="1905000" y="6553511"/>
              <a:ext cx="2362200" cy="45718"/>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10" name="Google Shape;66;p106"/>
            <p:cNvSpPr>
              <a:spLocks noChangeArrowheads="1"/>
            </p:cNvSpPr>
            <p:nvPr/>
          </p:nvSpPr>
          <p:spPr bwMode="auto">
            <a:xfrm>
              <a:off x="6586538" y="6553511"/>
              <a:ext cx="2328863" cy="45718"/>
            </a:xfrm>
            <a:prstGeom prst="rect">
              <a:avLst/>
            </a:prstGeom>
            <a:solidFill>
              <a:srgbClr val="FF0000"/>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grpSp>
      <p:grpSp>
        <p:nvGrpSpPr>
          <p:cNvPr id="11" name="Google Shape;67;p106"/>
          <p:cNvGrpSpPr>
            <a:grpSpLocks/>
          </p:cNvGrpSpPr>
          <p:nvPr/>
        </p:nvGrpSpPr>
        <p:grpSpPr bwMode="auto">
          <a:xfrm>
            <a:off x="0" y="0"/>
            <a:ext cx="9347200" cy="46038"/>
            <a:chOff x="0" y="0"/>
            <a:chExt cx="7010400" cy="45719"/>
          </a:xfrm>
        </p:grpSpPr>
        <p:sp>
          <p:nvSpPr>
            <p:cNvPr id="12" name="Google Shape;68;p106"/>
            <p:cNvSpPr>
              <a:spLocks noChangeArrowheads="1"/>
            </p:cNvSpPr>
            <p:nvPr/>
          </p:nvSpPr>
          <p:spPr bwMode="auto">
            <a:xfrm>
              <a:off x="4267200" y="6553511"/>
              <a:ext cx="2328863" cy="45718"/>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13" name="Google Shape;69;p106"/>
            <p:cNvSpPr>
              <a:spLocks noChangeArrowheads="1"/>
            </p:cNvSpPr>
            <p:nvPr/>
          </p:nvSpPr>
          <p:spPr bwMode="auto">
            <a:xfrm>
              <a:off x="1905000" y="6553511"/>
              <a:ext cx="2362200" cy="45718"/>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14" name="Google Shape;70;p106"/>
            <p:cNvSpPr>
              <a:spLocks noChangeArrowheads="1"/>
            </p:cNvSpPr>
            <p:nvPr/>
          </p:nvSpPr>
          <p:spPr bwMode="auto">
            <a:xfrm>
              <a:off x="6586538" y="6553511"/>
              <a:ext cx="2328863" cy="45718"/>
            </a:xfrm>
            <a:prstGeom prst="rect">
              <a:avLst/>
            </a:prstGeom>
            <a:solidFill>
              <a:srgbClr val="FF0000"/>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grpSp>
    </p:spTree>
    <p:extLst>
      <p:ext uri="{BB962C8B-B14F-4D97-AF65-F5344CB8AC3E}">
        <p14:creationId xmlns:p14="http://schemas.microsoft.com/office/powerpoint/2010/main" val="353426687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Section header" type="secHead" preserve="1">
  <p:cSld name="3_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600" y="2867800"/>
            <a:ext cx="11360800" cy="1122400"/>
          </a:xfrm>
          <a:prstGeom prst="rect">
            <a:avLst/>
          </a:prstGeom>
        </p:spPr>
        <p:txBody>
          <a:bodyPr spcFirstLastPara="1" lIns="91425" tIns="91425" rIns="91425" b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r>
              <a:rPr lang="en-US"/>
              <a:t>Click to edit Master title style</a:t>
            </a:r>
            <a:endParaRPr/>
          </a:p>
        </p:txBody>
      </p:sp>
      <p:sp>
        <p:nvSpPr>
          <p:cNvPr id="3" name="Google Shape;15;p3"/>
          <p:cNvSpPr txBox="1">
            <a:spLocks noGrp="1"/>
          </p:cNvSpPr>
          <p:nvPr>
            <p:ph type="sldNum" idx="10"/>
          </p:nvPr>
        </p:nvSpPr>
        <p:spPr>
          <a:xfrm>
            <a:off x="11296650" y="6218238"/>
            <a:ext cx="731838" cy="523875"/>
          </a:xfrm>
          <a:prstGeom prst="rect">
            <a:avLst/>
          </a:prstGeom>
        </p:spPr>
        <p:txBody>
          <a:bodyPr vert="horz" wrap="square" lIns="91425" tIns="91425" rIns="91425" bIns="91425" numCol="1" anchor="ctr" anchorCtr="0" compatLnSpc="1">
            <a:prstTxWarp prst="textNoShape">
              <a:avLst/>
            </a:prstTxWarp>
            <a:normAutofit/>
          </a:bodyPr>
          <a:lstStyle>
            <a:lvl1pPr algn="r" defTabSz="685800" eaLnBrk="1" hangingPunct="1">
              <a:defRPr sz="1300">
                <a:solidFill>
                  <a:srgbClr val="000000"/>
                </a:solidFill>
              </a:defRPr>
            </a:lvl1pPr>
          </a:lstStyle>
          <a:p>
            <a:pPr marL="0" marR="0" lvl="0" indent="0" algn="r" defTabSz="685800" rtl="0" eaLnBrk="1" fontAlgn="base" latinLnBrk="0" hangingPunct="1">
              <a:lnSpc>
                <a:spcPct val="100000"/>
              </a:lnSpc>
              <a:spcBef>
                <a:spcPct val="0"/>
              </a:spcBef>
              <a:spcAft>
                <a:spcPct val="0"/>
              </a:spcAft>
              <a:buClrTx/>
              <a:buSzTx/>
              <a:buFontTx/>
              <a:buNone/>
              <a:tabLst/>
              <a:defRPr/>
            </a:pPr>
            <a:fld id="{91FA9A87-351D-4BAC-9D6A-4F398EC5214E}" type="slidenum">
              <a:rPr kumimoji="0" lang="en-US" altLang="en-US" sz="1300" b="0" i="0" u="none" strike="noStrike" kern="1200" cap="none" spc="0" normalizeH="0" baseline="0" noProof="0" smtClean="0">
                <a:ln>
                  <a:noFill/>
                </a:ln>
                <a:solidFill>
                  <a:srgbClr val="000000"/>
                </a:solidFill>
                <a:effectLst/>
                <a:uLnTx/>
                <a:uFillTx/>
                <a:latin typeface="Calibri" panose="020F0502020204030204" pitchFamily="34" charset="0"/>
                <a:ea typeface="+mn-ea"/>
                <a:cs typeface="+mn-cs"/>
              </a:rPr>
              <a:pPr marL="0" marR="0" lvl="0" indent="0" algn="r" defTabSz="685800" rtl="0" eaLnBrk="1" fontAlgn="base" latinLnBrk="0" hangingPunct="1">
                <a:lnSpc>
                  <a:spcPct val="100000"/>
                </a:lnSpc>
                <a:spcBef>
                  <a:spcPct val="0"/>
                </a:spcBef>
                <a:spcAft>
                  <a:spcPct val="0"/>
                </a:spcAft>
                <a:buClrTx/>
                <a:buSzTx/>
                <a:buFontTx/>
                <a:buNone/>
                <a:tabLst/>
                <a:defRPr/>
              </a:pPr>
              <a:t>‹#›</a:t>
            </a:fld>
            <a:endParaRPr kumimoji="0" lang="en-US" altLang="en-US" sz="13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362598126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8" name="Content Placeholder 2"/>
          <p:cNvSpPr>
            <a:spLocks noGrp="1"/>
          </p:cNvSpPr>
          <p:nvPr>
            <p:ph idx="10"/>
          </p:nvPr>
        </p:nvSpPr>
        <p:spPr>
          <a:xfrm>
            <a:off x="304800" y="1545224"/>
            <a:ext cx="11480800" cy="4525963"/>
          </a:xfrm>
          <a:prstGeom prst="rect">
            <a:avLst/>
          </a:prstGeom>
        </p:spPr>
        <p:txBody>
          <a:bodyPr/>
          <a:lstStyle>
            <a:lvl1pPr>
              <a:defRPr sz="1800">
                <a:latin typeface="Cambria" panose="02040503050406030204" pitchFamily="18" charset="0"/>
                <a:ea typeface="Cambria" panose="02040503050406030204" pitchFamily="18" charset="0"/>
              </a:defRPr>
            </a:lvl1pPr>
            <a:lvl2pPr>
              <a:defRPr sz="1800">
                <a:latin typeface="Cambria" panose="02040503050406030204" pitchFamily="18" charset="0"/>
                <a:ea typeface="Cambria" panose="02040503050406030204" pitchFamily="18" charset="0"/>
              </a:defRPr>
            </a:lvl2pPr>
            <a:lvl3pPr>
              <a:defRPr sz="1800">
                <a:latin typeface="Cambria" panose="02040503050406030204" pitchFamily="18" charset="0"/>
                <a:ea typeface="Cambria" panose="02040503050406030204" pitchFamily="18" charset="0"/>
              </a:defRPr>
            </a:lvl3pPr>
            <a:lvl4pPr>
              <a:defRPr sz="1800">
                <a:latin typeface="Cambria" panose="02040503050406030204" pitchFamily="18" charset="0"/>
                <a:ea typeface="Cambria" panose="02040503050406030204" pitchFamily="18" charset="0"/>
              </a:defRPr>
            </a:lvl4pPr>
            <a:lvl5pPr>
              <a:defRPr sz="1800">
                <a:latin typeface="Cambria" panose="02040503050406030204" pitchFamily="18" charset="0"/>
                <a:ea typeface="Cambria" panose="02040503050406030204" pitchFamily="18"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9" name="Title 1"/>
          <p:cNvSpPr>
            <a:spLocks noGrp="1"/>
          </p:cNvSpPr>
          <p:nvPr>
            <p:ph type="title"/>
          </p:nvPr>
        </p:nvSpPr>
        <p:spPr>
          <a:xfrm>
            <a:off x="304802" y="0"/>
            <a:ext cx="10881209" cy="1219200"/>
          </a:xfrm>
          <a:prstGeom prst="rect">
            <a:avLst/>
          </a:prstGeom>
        </p:spPr>
        <p:txBody>
          <a:bodyPr/>
          <a:lstStyle>
            <a:lvl1pPr algn="l">
              <a:defRPr sz="2700" b="0">
                <a:latin typeface="Cambria" panose="02040503050406030204" pitchFamily="18" charset="0"/>
                <a:ea typeface="Cambria" panose="02040503050406030204" pitchFamily="18" charset="0"/>
              </a:defRPr>
            </a:lvl1pPr>
          </a:lstStyle>
          <a:p>
            <a:r>
              <a:rPr lang="en-US"/>
              <a:t>Click to edit Master title style</a:t>
            </a:r>
            <a:endParaRPr lang="en-IN" dirty="0"/>
          </a:p>
        </p:txBody>
      </p:sp>
      <p:sp>
        <p:nvSpPr>
          <p:cNvPr id="4" name="Holder 4"/>
          <p:cNvSpPr>
            <a:spLocks noGrp="1"/>
          </p:cNvSpPr>
          <p:nvPr>
            <p:ph type="ftr" sz="quarter" idx="11"/>
          </p:nvPr>
        </p:nvSpPr>
        <p:spPr>
          <a:xfrm>
            <a:off x="9810750" y="6640513"/>
            <a:ext cx="2276475" cy="180975"/>
          </a:xfrm>
          <a:prstGeom prst="rect">
            <a:avLst/>
          </a:prstGeom>
        </p:spPr>
        <p:txBody>
          <a:bodyPr lIns="0" tIns="0" rIns="0" bIns="0"/>
          <a:lstStyle>
            <a:lvl1pPr marL="9525" defTabSz="685800" eaLnBrk="1" fontAlgn="auto" hangingPunct="1">
              <a:spcBef>
                <a:spcPts val="0"/>
              </a:spcBef>
              <a:spcAft>
                <a:spcPts val="0"/>
              </a:spcAft>
              <a:defRPr sz="825" b="1" i="0">
                <a:solidFill>
                  <a:srgbClr val="0F1141"/>
                </a:solidFill>
                <a:latin typeface="Arial"/>
                <a:cs typeface="Arial"/>
              </a:defRPr>
            </a:lvl1pPr>
          </a:lstStyle>
          <a:p>
            <a:pPr marL="9525" marR="0" lvl="0" indent="0" algn="l" defTabSz="685800" rtl="0" eaLnBrk="1" fontAlgn="auto" latinLnBrk="0" hangingPunct="1">
              <a:lnSpc>
                <a:spcPct val="100000"/>
              </a:lnSpc>
              <a:spcBef>
                <a:spcPts val="0"/>
              </a:spcBef>
              <a:spcAft>
                <a:spcPts val="0"/>
              </a:spcAft>
              <a:buClrTx/>
              <a:buSzTx/>
              <a:buFontTx/>
              <a:buNone/>
              <a:tabLst/>
              <a:defRPr/>
            </a:pPr>
            <a:r>
              <a:rPr kumimoji="0" lang="en-IN" sz="825" b="1" i="0" u="none" strike="noStrike" kern="1200" cap="none" spc="0" normalizeH="0" baseline="0" noProof="0">
                <a:ln>
                  <a:noFill/>
                </a:ln>
                <a:solidFill>
                  <a:srgbClr val="0F1141"/>
                </a:solidFill>
                <a:effectLst/>
                <a:uLnTx/>
                <a:uFillTx/>
                <a:latin typeface="Arial"/>
                <a:ea typeface="+mn-ea"/>
                <a:cs typeface="Arial"/>
              </a:rPr>
              <a:t>BITS</a:t>
            </a:r>
            <a:r>
              <a:rPr kumimoji="0" lang="en-IN" sz="825" b="1" i="0" u="none" strike="noStrike" kern="1200" cap="none" spc="-41" normalizeH="0" baseline="0" noProof="0">
                <a:ln>
                  <a:noFill/>
                </a:ln>
                <a:solidFill>
                  <a:srgbClr val="0F1141"/>
                </a:solidFill>
                <a:effectLst/>
                <a:uLnTx/>
                <a:uFillTx/>
                <a:latin typeface="Arial"/>
                <a:ea typeface="+mn-ea"/>
                <a:cs typeface="Arial"/>
              </a:rPr>
              <a:t> </a:t>
            </a:r>
            <a:r>
              <a:rPr kumimoji="0" lang="en-IN" sz="825" b="0" i="0" u="none" strike="noStrike" kern="1200" cap="none" spc="0" normalizeH="0" baseline="0" noProof="0">
                <a:ln>
                  <a:noFill/>
                </a:ln>
                <a:solidFill>
                  <a:srgbClr val="0F1141"/>
                </a:solidFill>
                <a:effectLst/>
                <a:uLnTx/>
                <a:uFillTx/>
                <a:latin typeface="Arial MT"/>
                <a:ea typeface="+mn-ea"/>
                <a:cs typeface="Arial MT"/>
              </a:rPr>
              <a:t>Pilani,</a:t>
            </a:r>
            <a:r>
              <a:rPr kumimoji="0" lang="en-IN" sz="825" b="0" i="0" u="none" strike="noStrike" kern="1200" cap="none" spc="-26" normalizeH="0" baseline="0" noProof="0">
                <a:ln>
                  <a:noFill/>
                </a:ln>
                <a:solidFill>
                  <a:srgbClr val="0F1141"/>
                </a:solidFill>
                <a:effectLst/>
                <a:uLnTx/>
                <a:uFillTx/>
                <a:latin typeface="Arial MT"/>
                <a:ea typeface="+mn-ea"/>
                <a:cs typeface="Arial MT"/>
              </a:rPr>
              <a:t> </a:t>
            </a:r>
            <a:r>
              <a:rPr kumimoji="0" lang="en-IN" sz="825" b="0" i="0" u="none" strike="noStrike" kern="1200" cap="none" spc="0" normalizeH="0" baseline="0" noProof="0">
                <a:ln>
                  <a:noFill/>
                </a:ln>
                <a:solidFill>
                  <a:srgbClr val="0F1141"/>
                </a:solidFill>
                <a:effectLst/>
                <a:uLnTx/>
                <a:uFillTx/>
                <a:latin typeface="Arial MT"/>
                <a:ea typeface="+mn-ea"/>
                <a:cs typeface="Arial MT"/>
              </a:rPr>
              <a:t>Pilani</a:t>
            </a:r>
            <a:r>
              <a:rPr kumimoji="0" lang="en-IN" sz="825" b="0" i="0" u="none" strike="noStrike" kern="1200" cap="none" spc="-23" normalizeH="0" baseline="0" noProof="0">
                <a:ln>
                  <a:noFill/>
                </a:ln>
                <a:solidFill>
                  <a:srgbClr val="0F1141"/>
                </a:solidFill>
                <a:effectLst/>
                <a:uLnTx/>
                <a:uFillTx/>
                <a:latin typeface="Arial MT"/>
                <a:ea typeface="+mn-ea"/>
                <a:cs typeface="Arial MT"/>
              </a:rPr>
              <a:t> </a:t>
            </a:r>
            <a:r>
              <a:rPr kumimoji="0" lang="en-IN" sz="825" b="0" i="0" u="none" strike="noStrike" kern="1200" cap="none" spc="-8" normalizeH="0" baseline="0" noProof="0">
                <a:ln>
                  <a:noFill/>
                </a:ln>
                <a:solidFill>
                  <a:srgbClr val="0F1141"/>
                </a:solidFill>
                <a:effectLst/>
                <a:uLnTx/>
                <a:uFillTx/>
                <a:latin typeface="Arial MT"/>
                <a:ea typeface="+mn-ea"/>
                <a:cs typeface="Arial MT"/>
              </a:rPr>
              <a:t>Campus</a:t>
            </a:r>
            <a:endParaRPr kumimoji="0" lang="en-IN" sz="825" b="0" i="0" u="none" strike="noStrike" kern="1200" cap="none" spc="-8" normalizeH="0" baseline="0" noProof="0" dirty="0">
              <a:ln>
                <a:noFill/>
              </a:ln>
              <a:solidFill>
                <a:srgbClr val="0F1141"/>
              </a:solidFill>
              <a:effectLst/>
              <a:uLnTx/>
              <a:uFillTx/>
              <a:latin typeface="Arial MT"/>
              <a:ea typeface="+mn-ea"/>
              <a:cs typeface="Arial MT"/>
            </a:endParaRPr>
          </a:p>
        </p:txBody>
      </p:sp>
    </p:spTree>
    <p:extLst>
      <p:ext uri="{BB962C8B-B14F-4D97-AF65-F5344CB8AC3E}">
        <p14:creationId xmlns:p14="http://schemas.microsoft.com/office/powerpoint/2010/main" val="382495287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86_Title and Content">
    <p:spTree>
      <p:nvGrpSpPr>
        <p:cNvPr id="1" name=""/>
        <p:cNvGrpSpPr/>
        <p:nvPr/>
      </p:nvGrpSpPr>
      <p:grpSpPr>
        <a:xfrm>
          <a:off x="0" y="0"/>
          <a:ext cx="0" cy="0"/>
          <a:chOff x="0" y="0"/>
          <a:chExt cx="0" cy="0"/>
        </a:xfrm>
      </p:grpSpPr>
      <p:sp>
        <p:nvSpPr>
          <p:cNvPr id="4" name="TextBox 3"/>
          <p:cNvSpPr txBox="1"/>
          <p:nvPr/>
        </p:nvSpPr>
        <p:spPr>
          <a:xfrm>
            <a:off x="4368800" y="6596063"/>
            <a:ext cx="7823200" cy="187325"/>
          </a:xfrm>
          <a:prstGeom prst="rect">
            <a:avLst/>
          </a:prstGeom>
          <a:noFill/>
        </p:spPr>
        <p:txBody>
          <a:bodyPr>
            <a:spAutoFit/>
          </a:bodyPr>
          <a:lstStyle/>
          <a:p>
            <a:pPr marL="0" marR="0" lvl="0" indent="0" algn="r" defTabSz="685800" rtl="0" eaLnBrk="1" fontAlgn="base" latinLnBrk="0" hangingPunct="1">
              <a:lnSpc>
                <a:spcPct val="100000"/>
              </a:lnSpc>
              <a:spcBef>
                <a:spcPct val="0"/>
              </a:spcBef>
              <a:spcAft>
                <a:spcPct val="0"/>
              </a:spcAft>
              <a:buClrTx/>
              <a:buSzTx/>
              <a:buFontTx/>
              <a:buNone/>
              <a:tabLst/>
              <a:defRPr/>
            </a:pPr>
            <a:r>
              <a:rPr kumimoji="0" lang="en-US" sz="619" b="1" i="0" u="none" strike="noStrike" kern="1200" cap="none" spc="0" normalizeH="0" baseline="0" noProof="0" dirty="0">
                <a:ln>
                  <a:noFill/>
                </a:ln>
                <a:solidFill>
                  <a:srgbClr val="101141"/>
                </a:solidFill>
                <a:effectLst/>
                <a:uLnTx/>
                <a:uFillTx/>
                <a:latin typeface="Arial"/>
                <a:ea typeface="+mn-ea"/>
                <a:cs typeface="Arial"/>
              </a:rPr>
              <a:t>BITS </a:t>
            </a:r>
            <a:r>
              <a:rPr kumimoji="0" lang="en-US" sz="619" b="0" i="0" u="none" strike="noStrike" kern="1200" cap="none" spc="0" normalizeH="0" baseline="0" noProof="0" dirty="0">
                <a:ln>
                  <a:noFill/>
                </a:ln>
                <a:solidFill>
                  <a:srgbClr val="101141"/>
                </a:solidFill>
                <a:effectLst/>
                <a:uLnTx/>
                <a:uFillTx/>
                <a:latin typeface="Arial"/>
                <a:ea typeface="+mn-ea"/>
                <a:cs typeface="Arial"/>
              </a:rPr>
              <a:t>Pilani, Pilani Campus</a:t>
            </a:r>
          </a:p>
        </p:txBody>
      </p:sp>
      <p:grpSp>
        <p:nvGrpSpPr>
          <p:cNvPr id="5" name="Group 11"/>
          <p:cNvGrpSpPr>
            <a:grpSpLocks/>
          </p:cNvGrpSpPr>
          <p:nvPr/>
        </p:nvGrpSpPr>
        <p:grpSpPr bwMode="auto">
          <a:xfrm>
            <a:off x="2779713" y="6550025"/>
            <a:ext cx="9412287" cy="49213"/>
            <a:chOff x="2083888" y="6550671"/>
            <a:chExt cx="7060112" cy="48665"/>
          </a:xfrm>
        </p:grpSpPr>
        <p:sp>
          <p:nvSpPr>
            <p:cNvPr id="6" name="Rectangle 5"/>
            <p:cNvSpPr/>
            <p:nvPr/>
          </p:nvSpPr>
          <p:spPr>
            <a:xfrm>
              <a:off x="4630958" y="6550671"/>
              <a:ext cx="2327968"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913" y="6550671"/>
              <a:ext cx="2235087"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603"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noChangeArrowheads="1"/>
          </p:cNvPicPr>
          <p:nvPr/>
        </p:nvPicPr>
        <p:blipFill>
          <a:blip r:embed="rId2">
            <a:extLst>
              <a:ext uri="{28A0092B-C50C-407E-A947-70E740481C1C}">
                <a14:useLocalDpi xmlns:a14="http://schemas.microsoft.com/office/drawing/2010/main" val="0"/>
              </a:ext>
            </a:extLst>
          </a:blip>
          <a:srcRect l="1923" b="5336"/>
          <a:stretch>
            <a:fillRect/>
          </a:stretch>
        </p:blipFill>
        <p:spPr bwMode="auto">
          <a:xfrm>
            <a:off x="8839200" y="0"/>
            <a:ext cx="292576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p:cNvGrpSpPr>
            <a:grpSpLocks/>
          </p:cNvGrpSpPr>
          <p:nvPr/>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3"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4" name="Group 22"/>
          <p:cNvGrpSpPr>
            <a:grpSpLocks/>
          </p:cNvGrpSpPr>
          <p:nvPr/>
        </p:nvGrpSpPr>
        <p:grpSpPr bwMode="auto">
          <a:xfrm>
            <a:off x="0" y="1295400"/>
            <a:ext cx="93472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3"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406400" y="1493842"/>
            <a:ext cx="10972800" cy="4525963"/>
          </a:xfr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lstStyle>
            <a:lvl1pPr marL="0">
              <a:lnSpc>
                <a:spcPts val="2025"/>
              </a:lnSpc>
              <a:spcBef>
                <a:spcPts val="0"/>
              </a:spcBef>
              <a:buNone/>
              <a:defRPr sz="2025" b="1" spc="-85" baseline="0">
                <a:latin typeface="Arial" pitchFamily="34" charset="0"/>
                <a:cs typeface="Arial" pitchFamily="34" charset="0"/>
              </a:defRPr>
            </a:lvl1pPr>
          </a:lstStyle>
          <a:p>
            <a:pPr lvl="0"/>
            <a:r>
              <a:rPr lang="en-US"/>
              <a:t>Edit Master text styles</a:t>
            </a:r>
          </a:p>
        </p:txBody>
      </p:sp>
    </p:spTree>
    <p:extLst>
      <p:ext uri="{BB962C8B-B14F-4D97-AF65-F5344CB8AC3E}">
        <p14:creationId xmlns:p14="http://schemas.microsoft.com/office/powerpoint/2010/main" val="368817695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pic>
        <p:nvPicPr>
          <p:cNvPr id="6" name="Picture 4"/>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6816725"/>
            <a:ext cx="12192000" cy="4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5"/>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160338"/>
            <a:ext cx="10668000" cy="76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838200" y="160569"/>
            <a:ext cx="9321800" cy="764364"/>
          </a:xfrm>
        </p:spPr>
        <p:txBody>
          <a:bodyPr>
            <a:normAutofit/>
          </a:bodyPr>
          <a:lstStyle>
            <a:lvl1pPr>
              <a:defRPr sz="24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857739" y="1600203"/>
            <a:ext cx="10160000" cy="2728913"/>
          </a:xfrm>
        </p:spPr>
        <p:txBody>
          <a:bodyPr/>
          <a:lstStyle>
            <a:lvl1pPr>
              <a:defRPr sz="1350">
                <a:latin typeface="Helvetica" panose="020B0604020202030204" pitchFamily="34" charset="0"/>
              </a:defRPr>
            </a:lvl1pPr>
            <a:lvl2pPr>
              <a:defRPr sz="1200">
                <a:latin typeface="Helvetica" panose="020B0604020202030204" pitchFamily="34" charset="0"/>
              </a:defRPr>
            </a:lvl2pPr>
            <a:lvl3pPr>
              <a:defRPr sz="1050">
                <a:latin typeface="Helvetica" panose="020B0604020202030204" pitchFamily="34" charset="0"/>
              </a:defRPr>
            </a:lvl3pPr>
            <a:lvl4pPr>
              <a:defRPr sz="900">
                <a:latin typeface="Helvetica" panose="020B0604020202030204" pitchFamily="34" charset="0"/>
              </a:defRPr>
            </a:lvl4pPr>
            <a:lvl5pPr>
              <a:defRPr sz="900">
                <a:latin typeface="Helvetica" panose="020B060402020203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2"/>
          <p:cNvSpPr>
            <a:spLocks noGrp="1"/>
          </p:cNvSpPr>
          <p:nvPr>
            <p:ph type="body" sz="quarter" idx="14"/>
          </p:nvPr>
        </p:nvSpPr>
        <p:spPr>
          <a:xfrm>
            <a:off x="329247" y="1143003"/>
            <a:ext cx="11196956" cy="395287"/>
          </a:xfrm>
        </p:spPr>
        <p:txBody>
          <a:bodyPr/>
          <a:lstStyle>
            <a:lvl1pPr marL="0" indent="0">
              <a:buNone/>
              <a:defRPr sz="15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a:t>Edit Master text styles</a:t>
            </a:r>
          </a:p>
        </p:txBody>
      </p:sp>
    </p:spTree>
    <p:extLst>
      <p:ext uri="{BB962C8B-B14F-4D97-AF65-F5344CB8AC3E}">
        <p14:creationId xmlns:p14="http://schemas.microsoft.com/office/powerpoint/2010/main" val="191779053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527520" y="274680"/>
            <a:ext cx="8160480" cy="849960"/>
          </a:xfrm>
          <a:prstGeom prst="rect">
            <a:avLst/>
          </a:prstGeom>
        </p:spPr>
        <p:txBody>
          <a:bodyPr lIns="0" tIns="0" rIns="0" bIns="0"/>
          <a:lstStyle/>
          <a:p>
            <a:r>
              <a:rPr lang="en-US"/>
              <a:t>Click to edit Master title style</a:t>
            </a:r>
            <a:endParaRPr lang="en-IN"/>
          </a:p>
        </p:txBody>
      </p:sp>
      <p:sp>
        <p:nvSpPr>
          <p:cNvPr id="61" name="PlaceHolder 2"/>
          <p:cNvSpPr>
            <a:spLocks noGrp="1"/>
          </p:cNvSpPr>
          <p:nvPr>
            <p:ph type="body"/>
          </p:nvPr>
        </p:nvSpPr>
        <p:spPr>
          <a:xfrm>
            <a:off x="609600" y="1600200"/>
            <a:ext cx="10972320" cy="4525920"/>
          </a:xfrm>
          <a:prstGeom prst="rect">
            <a:avLst/>
          </a:prstGeom>
        </p:spPr>
        <p:txBody>
          <a:bodyPr lIns="0" tIns="0" rIns="0" bIns="0"/>
          <a:lstStyle/>
          <a:p>
            <a:pPr lvl="0"/>
            <a:r>
              <a:rPr lang="en-US"/>
              <a:t>Edit Master text styles</a:t>
            </a:r>
          </a:p>
        </p:txBody>
      </p:sp>
    </p:spTree>
    <p:extLst>
      <p:ext uri="{BB962C8B-B14F-4D97-AF65-F5344CB8AC3E}">
        <p14:creationId xmlns:p14="http://schemas.microsoft.com/office/powerpoint/2010/main" val="329798527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9B4149D8-41AE-4933-9AD6-C9E933C4C2BF}" type="datetimeFigureOut">
              <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06-09-2026</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750F3674-6D0E-4DC1-937E-E3B22E61E491}" type="slidenum">
              <a:rPr kumimoji="0" lang="en-IN"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90373318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AD3A15E-7334-47AF-AA76-7D884F085A2F}" type="datetimeFigureOut">
              <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06-09-2026</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12A22F40-4327-4492-B6D1-36D27C2CA295}" type="slidenum">
              <a:rPr kumimoji="0" lang="en-IN"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40691299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5D683905-BA3D-46E6-AC82-3727B142AD61}" type="datetimeFigureOut">
              <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06-09-2026</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76F8138-7D41-4A5B-9FB0-53F4EB57EAA0}" type="slidenum">
              <a:rPr kumimoji="0" lang="en-IN"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96060241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24C2CA44-4FDB-4EF0-BC46-20D03303E825}" type="datetimeFigureOut">
              <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06-09-2026</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EC8662A5-EFCE-466E-A067-C75C31CFD552}" type="slidenum">
              <a:rPr kumimoji="0" lang="en-IN"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332724152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D290834-E94B-4E50-94E2-CE120BED57CC}" type="datetimeFigureOut">
              <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06-09-2026</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8"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9"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CECD2C92-8A42-4547-AF76-26AF9F41CFC9}" type="slidenum">
              <a:rPr kumimoji="0" lang="en-IN"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422911847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41E5E38E-0BC8-4549-AD8C-07DF7AF6FCB5}" type="datetimeFigureOut">
              <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06-09-2026</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6A25891-6ECC-420F-8D60-8B05166EF9D8}" type="slidenum">
              <a:rPr kumimoji="0" lang="en-IN"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219272306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5672DED9-A324-4804-814B-0021ACB6B61A}" type="datetimeFigureOut">
              <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06-09-2026</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3CD39256-CFD6-4835-B155-6757C82A92C4}" type="slidenum">
              <a:rPr kumimoji="0" lang="en-IN"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361563284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67695C7-52A8-4286-B468-045F2D3C2467}" type="datetimeFigureOut">
              <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06-09-2026</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E3D9CBE0-3124-4AA9-8D46-FE0D7685DB25}" type="slidenum">
              <a:rPr kumimoji="0" lang="en-IN"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405145112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IN" noProof="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E9957158-1BD4-48C8-9503-E3AE1272242C}" type="datetimeFigureOut">
              <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06-09-2026</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056B2AF8-BCD9-487E-8A85-B7FE556EC525}" type="slidenum">
              <a:rPr kumimoji="0" lang="en-IN"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39950593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71D33945-195E-4F09-BA1C-8359F0ED7230}" type="datetimeFigureOut">
              <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06-09-2026</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D4BD5B3F-2BF3-4604-ACE6-34FD1CDBD03C}" type="slidenum">
              <a:rPr kumimoji="0" lang="en-IN"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66770690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B4CA08E2-02B5-4C11-9388-0C27B82A4D1C}" type="datetimeFigureOut">
              <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06-09-2026</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DA7A4B4B-4D12-466C-99C2-E59098A087EE}" type="slidenum">
              <a:rPr kumimoji="0" lang="en-IN"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1784940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8"/>
        <p:cNvGrpSpPr/>
        <p:nvPr/>
      </p:nvGrpSpPr>
      <p:grpSpPr>
        <a:xfrm>
          <a:off x="0" y="0"/>
          <a:ext cx="0" cy="0"/>
          <a:chOff x="0" y="0"/>
          <a:chExt cx="0" cy="0"/>
        </a:xfrm>
      </p:grpSpPr>
      <p:pic>
        <p:nvPicPr>
          <p:cNvPr id="5" name="Google Shape;9;p6"/>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t="3185" b="1180"/>
          <a:stretch>
            <a:fillRect/>
          </a:stretch>
        </p:blipFill>
        <p:spPr bwMode="auto">
          <a:xfrm>
            <a:off x="0" y="0"/>
            <a:ext cx="12192000"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6" name="Google Shape;10;p6"/>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Google Shape;11;p6"/>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2551113"/>
            <a:ext cx="9678988" cy="179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Google Shape;12;p6"/>
          <p:cNvPicPr preferRelativeResize="0">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47675"/>
            <a:ext cx="10744200" cy="805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Google Shape;15;p6"/>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23288" y="896938"/>
            <a:ext cx="3097212" cy="108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Google Shape;16;p6"/>
          <p:cNvPicPr preferRelativeResize="0">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77038" y="4800600"/>
            <a:ext cx="5124450" cy="2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Google Shape;13;p6"/>
          <p:cNvSpPr txBox="1">
            <a:spLocks noGrp="1"/>
          </p:cNvSpPr>
          <p:nvPr>
            <p:ph type="ctrTitle"/>
          </p:nvPr>
        </p:nvSpPr>
        <p:spPr>
          <a:xfrm>
            <a:off x="4572002" y="2549771"/>
            <a:ext cx="7330831" cy="1600725"/>
          </a:xfrm>
          <a:prstGeom prst="rect">
            <a:avLst/>
          </a:prstGeom>
          <a:noFill/>
          <a:ln>
            <a:noFill/>
          </a:ln>
        </p:spPr>
        <p:txBody>
          <a:bodyPr spcFirstLastPara="1" lIns="91425" tIns="45700" rIns="91425" bIns="45700">
            <a:normAutofit/>
          </a:bodyPr>
          <a:lstStyle>
            <a:lvl1pPr lvl="0" algn="r">
              <a:lnSpc>
                <a:spcPct val="90000"/>
              </a:lnSpc>
              <a:spcBef>
                <a:spcPts val="0"/>
              </a:spcBef>
              <a:spcAft>
                <a:spcPts val="0"/>
              </a:spcAft>
              <a:buClr>
                <a:schemeClr val="lt1"/>
              </a:buClr>
              <a:buSzPts val="3200"/>
              <a:buFont typeface="Helvetica Neue"/>
              <a:buNone/>
              <a:defRPr sz="2400" b="1">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14" name="Google Shape;14;p6"/>
          <p:cNvSpPr txBox="1">
            <a:spLocks noGrp="1"/>
          </p:cNvSpPr>
          <p:nvPr>
            <p:ph type="subTitle" idx="1"/>
          </p:nvPr>
        </p:nvSpPr>
        <p:spPr>
          <a:xfrm>
            <a:off x="5908431" y="4452632"/>
            <a:ext cx="5994400" cy="343327"/>
          </a:xfrm>
          <a:prstGeom prst="rect">
            <a:avLst/>
          </a:prstGeom>
          <a:noFill/>
          <a:ln>
            <a:noFill/>
          </a:ln>
        </p:spPr>
        <p:txBody>
          <a:bodyPr spcFirstLastPara="1" lIns="91425" tIns="45700" rIns="91425" bIns="45700" anchor="ctr">
            <a:normAutofit/>
          </a:bodyPr>
          <a:lstStyle>
            <a:lvl1pPr lvl="0" algn="r">
              <a:lnSpc>
                <a:spcPct val="90000"/>
              </a:lnSpc>
              <a:spcBef>
                <a:spcPts val="750"/>
              </a:spcBef>
              <a:spcAft>
                <a:spcPts val="0"/>
              </a:spcAft>
              <a:buClr>
                <a:srgbClr val="1C1573"/>
              </a:buClr>
              <a:buSzPts val="1700"/>
              <a:buNone/>
              <a:defRPr sz="1275" b="1">
                <a:solidFill>
                  <a:srgbClr val="1C1573"/>
                </a:solidFill>
                <a:latin typeface="Helvetica Neue"/>
                <a:ea typeface="Helvetica Neue"/>
                <a:cs typeface="Helvetica Neue"/>
                <a:sym typeface="Helvetica Neue"/>
              </a:defRPr>
            </a:lvl1pPr>
            <a:lvl2pPr lvl="1" algn="ctr">
              <a:lnSpc>
                <a:spcPct val="90000"/>
              </a:lnSpc>
              <a:spcBef>
                <a:spcPts val="375"/>
              </a:spcBef>
              <a:spcAft>
                <a:spcPts val="0"/>
              </a:spcAft>
              <a:buClr>
                <a:schemeClr val="dk1"/>
              </a:buClr>
              <a:buSzPts val="1500"/>
              <a:buNone/>
              <a:defRPr sz="1125"/>
            </a:lvl2pPr>
            <a:lvl3pPr lvl="2" algn="ctr">
              <a:lnSpc>
                <a:spcPct val="90000"/>
              </a:lnSpc>
              <a:spcBef>
                <a:spcPts val="375"/>
              </a:spcBef>
              <a:spcAft>
                <a:spcPts val="0"/>
              </a:spcAft>
              <a:buClr>
                <a:schemeClr val="dk1"/>
              </a:buClr>
              <a:buSzPts val="1350"/>
              <a:buNone/>
              <a:defRPr sz="1013"/>
            </a:lvl3pPr>
            <a:lvl4pPr lvl="3" algn="ctr">
              <a:lnSpc>
                <a:spcPct val="90000"/>
              </a:lnSpc>
              <a:spcBef>
                <a:spcPts val="375"/>
              </a:spcBef>
              <a:spcAft>
                <a:spcPts val="0"/>
              </a:spcAft>
              <a:buClr>
                <a:schemeClr val="dk1"/>
              </a:buClr>
              <a:buSzPts val="1200"/>
              <a:buNone/>
              <a:defRPr sz="900"/>
            </a:lvl4pPr>
            <a:lvl5pPr lvl="4" algn="ctr">
              <a:lnSpc>
                <a:spcPct val="90000"/>
              </a:lnSpc>
              <a:spcBef>
                <a:spcPts val="375"/>
              </a:spcBef>
              <a:spcAft>
                <a:spcPts val="0"/>
              </a:spcAft>
              <a:buClr>
                <a:schemeClr val="dk1"/>
              </a:buClr>
              <a:buSzPts val="1200"/>
              <a:buNone/>
              <a:defRPr sz="900"/>
            </a:lvl5pPr>
            <a:lvl6pPr lvl="5" algn="ctr">
              <a:lnSpc>
                <a:spcPct val="90000"/>
              </a:lnSpc>
              <a:spcBef>
                <a:spcPts val="375"/>
              </a:spcBef>
              <a:spcAft>
                <a:spcPts val="0"/>
              </a:spcAft>
              <a:buClr>
                <a:schemeClr val="dk1"/>
              </a:buClr>
              <a:buSzPts val="1200"/>
              <a:buNone/>
              <a:defRPr sz="900"/>
            </a:lvl6pPr>
            <a:lvl7pPr lvl="6" algn="ctr">
              <a:lnSpc>
                <a:spcPct val="90000"/>
              </a:lnSpc>
              <a:spcBef>
                <a:spcPts val="375"/>
              </a:spcBef>
              <a:spcAft>
                <a:spcPts val="0"/>
              </a:spcAft>
              <a:buClr>
                <a:schemeClr val="dk1"/>
              </a:buClr>
              <a:buSzPts val="1200"/>
              <a:buNone/>
              <a:defRPr sz="900"/>
            </a:lvl7pPr>
            <a:lvl8pPr lvl="7" algn="ctr">
              <a:lnSpc>
                <a:spcPct val="90000"/>
              </a:lnSpc>
              <a:spcBef>
                <a:spcPts val="375"/>
              </a:spcBef>
              <a:spcAft>
                <a:spcPts val="0"/>
              </a:spcAft>
              <a:buClr>
                <a:schemeClr val="dk1"/>
              </a:buClr>
              <a:buSzPts val="1200"/>
              <a:buNone/>
              <a:defRPr sz="900"/>
            </a:lvl8pPr>
            <a:lvl9pPr lvl="8" algn="ctr">
              <a:lnSpc>
                <a:spcPct val="90000"/>
              </a:lnSpc>
              <a:spcBef>
                <a:spcPts val="375"/>
              </a:spcBef>
              <a:spcAft>
                <a:spcPts val="0"/>
              </a:spcAft>
              <a:buClr>
                <a:schemeClr val="dk1"/>
              </a:buClr>
              <a:buSzPts val="1200"/>
              <a:buNone/>
              <a:defRPr sz="900"/>
            </a:lvl9pPr>
          </a:lstStyle>
          <a:p>
            <a:r>
              <a:rPr lang="en-US"/>
              <a:t>Click to edit Master subtitle style</a:t>
            </a:r>
            <a:endParaRPr/>
          </a:p>
        </p:txBody>
      </p:sp>
      <p:sp>
        <p:nvSpPr>
          <p:cNvPr id="17" name="Google Shape;17;p6"/>
          <p:cNvSpPr txBox="1">
            <a:spLocks noGrp="1"/>
          </p:cNvSpPr>
          <p:nvPr>
            <p:ph type="body" idx="2"/>
          </p:nvPr>
        </p:nvSpPr>
        <p:spPr>
          <a:xfrm>
            <a:off x="5189413" y="4826979"/>
            <a:ext cx="6713419" cy="1108563"/>
          </a:xfrm>
          <a:prstGeom prst="rect">
            <a:avLst/>
          </a:prstGeom>
          <a:noFill/>
          <a:ln>
            <a:noFill/>
          </a:ln>
        </p:spPr>
        <p:txBody>
          <a:bodyPr spcFirstLastPara="1" lIns="91425" tIns="45700" rIns="91425" bIns="45700">
            <a:normAutofit/>
          </a:bodyPr>
          <a:lstStyle>
            <a:lvl1pPr marL="342900" lvl="0" indent="-171450" algn="r">
              <a:lnSpc>
                <a:spcPct val="90000"/>
              </a:lnSpc>
              <a:spcBef>
                <a:spcPts val="0"/>
              </a:spcBef>
              <a:spcAft>
                <a:spcPts val="0"/>
              </a:spcAft>
              <a:buClr>
                <a:srgbClr val="1C1573"/>
              </a:buClr>
              <a:buSzPts val="1700"/>
              <a:buNone/>
              <a:defRPr sz="1275">
                <a:solidFill>
                  <a:srgbClr val="1C1573"/>
                </a:solidFill>
                <a:latin typeface="Helvetica Neue"/>
                <a:ea typeface="Helvetica Neue"/>
                <a:cs typeface="Helvetica Neue"/>
                <a:sym typeface="Helvetica Neue"/>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78027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200"/>
                                        <p:tgtEl>
                                          <p:spTgt spid="6"/>
                                        </p:tgtEl>
                                      </p:cBhvr>
                                    </p:animEffect>
                                  </p:childTnLst>
                                </p:cTn>
                              </p:par>
                            </p:childTnLst>
                          </p:cTn>
                        </p:par>
                        <p:par>
                          <p:cTn id="8" fill="hold">
                            <p:stCondLst>
                              <p:cond delay="1200"/>
                            </p:stCondLst>
                            <p:childTnLst>
                              <p:par>
                                <p:cTn id="9" presetID="10"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300"/>
                                        <p:tgtEl>
                                          <p:spTgt spid="8"/>
                                        </p:tgtEl>
                                      </p:cBhvr>
                                    </p:animEffect>
                                  </p:childTnLst>
                                </p:cTn>
                              </p:par>
                            </p:childTnLst>
                          </p:cTn>
                        </p:par>
                        <p:par>
                          <p:cTn id="12" fill="hold">
                            <p:stCondLst>
                              <p:cond delay="2500"/>
                            </p:stCondLst>
                            <p:childTnLst>
                              <p:par>
                                <p:cTn id="13" presetID="10" presetClass="entr" presetSubtype="0"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theme" Target="../theme/theme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theme" Target="../theme/theme4.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slideLayout" Target="../slideLayouts/slideLayout49.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9CEDD90-0453-67F9-9DB3-C14FED4AFF9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0801FCA-4994-CE98-27B5-01761DC85A6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06BD2E7-C414-D6D2-4DFE-AACD86A90E0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C12147-5AEB-466D-918F-6998C52C80D8}" type="datetimeFigureOut">
              <a:rPr lang="en-IN" smtClean="0"/>
              <a:t>06-09-2026</a:t>
            </a:fld>
            <a:endParaRPr lang="en-IN"/>
          </a:p>
        </p:txBody>
      </p:sp>
      <p:sp>
        <p:nvSpPr>
          <p:cNvPr id="5" name="Footer Placeholder 4">
            <a:extLst>
              <a:ext uri="{FF2B5EF4-FFF2-40B4-BE49-F238E27FC236}">
                <a16:creationId xmlns:a16="http://schemas.microsoft.com/office/drawing/2014/main" id="{F070EDEB-3706-9428-418B-5131FAD4ED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C1200B3-1E4E-A8C1-EE70-9E90D71BBA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F8A2CE-78BF-4E55-B511-FEC8FE90AFC0}" type="slidenum">
              <a:rPr lang="en-IN" smtClean="0"/>
              <a:t>‹#›</a:t>
            </a:fld>
            <a:endParaRPr lang="en-IN"/>
          </a:p>
        </p:txBody>
      </p:sp>
    </p:spTree>
    <p:extLst>
      <p:ext uri="{BB962C8B-B14F-4D97-AF65-F5344CB8AC3E}">
        <p14:creationId xmlns:p14="http://schemas.microsoft.com/office/powerpoint/2010/main" val="23139056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880546842"/>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Tree>
    <p:extLst>
      <p:ext uri="{BB962C8B-B14F-4D97-AF65-F5344CB8AC3E}">
        <p14:creationId xmlns:p14="http://schemas.microsoft.com/office/powerpoint/2010/main" val="2761306388"/>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Lst>
  <p:hf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200" algn="l" defTabSz="685800" rtl="0" fontAlgn="base">
        <a:lnSpc>
          <a:spcPct val="90000"/>
        </a:lnSpc>
        <a:spcBef>
          <a:spcPct val="0"/>
        </a:spcBef>
        <a:spcAft>
          <a:spcPct val="0"/>
        </a:spcAft>
        <a:defRPr sz="3300">
          <a:solidFill>
            <a:schemeClr val="tx1"/>
          </a:solidFill>
          <a:latin typeface="Calibri Light" panose="020F0302020204030204" pitchFamily="34" charset="0"/>
        </a:defRPr>
      </a:lvl6pPr>
      <a:lvl7pPr marL="914400" algn="l" defTabSz="685800" rtl="0" fontAlgn="base">
        <a:lnSpc>
          <a:spcPct val="90000"/>
        </a:lnSpc>
        <a:spcBef>
          <a:spcPct val="0"/>
        </a:spcBef>
        <a:spcAft>
          <a:spcPct val="0"/>
        </a:spcAft>
        <a:defRPr sz="3300">
          <a:solidFill>
            <a:schemeClr val="tx1"/>
          </a:solidFill>
          <a:latin typeface="Calibri Light" panose="020F0302020204030204" pitchFamily="34" charset="0"/>
        </a:defRPr>
      </a:lvl7pPr>
      <a:lvl8pPr marL="1371600" algn="l" defTabSz="685800" rtl="0" fontAlgn="base">
        <a:lnSpc>
          <a:spcPct val="90000"/>
        </a:lnSpc>
        <a:spcBef>
          <a:spcPct val="0"/>
        </a:spcBef>
        <a:spcAft>
          <a:spcPct val="0"/>
        </a:spcAft>
        <a:defRPr sz="3300">
          <a:solidFill>
            <a:schemeClr val="tx1"/>
          </a:solidFill>
          <a:latin typeface="Calibri Light" panose="020F0302020204030204" pitchFamily="34" charset="0"/>
        </a:defRPr>
      </a:lvl8pPr>
      <a:lvl9pPr marL="1828800" algn="l" defTabSz="685800"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IN" altLang="en-US"/>
          </a:p>
        </p:txBody>
      </p:sp>
      <p:sp>
        <p:nvSpPr>
          <p:cNvPr id="2051" name="Text Placeholder 2"/>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IN" alt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957DB4DE-8E0F-4DDF-A4E7-254C5E54EEAA}" type="datetimeFigureOut">
              <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06-09-2026</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31B6E05-B1E3-40C4-B3C1-B5087026BB17}" type="slidenum">
              <a:rPr kumimoji="0" lang="en-IN"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219247593"/>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6pPr>
      <a:lvl7pPr marL="9144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7pPr>
      <a:lvl8pPr marL="13716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8pPr>
      <a:lvl9pPr marL="18288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4.xml"/><Relationship Id="rId1" Type="http://schemas.openxmlformats.org/officeDocument/2006/relationships/slideLayout" Target="../slideLayouts/slideLayout19.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28.xml"/><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9.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9.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9.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9.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9.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9.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9.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9.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9.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9.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9.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9.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9.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9.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9.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9.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9.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9.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9.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9.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sz="3000" b="1">
                <a:latin typeface="Arial"/>
              </a:rPr>
              <a:t>Product Roadmap and Prioritisation</a:t>
            </a:r>
          </a:p>
        </p:txBody>
      </p:sp>
      <p:sp>
        <p:nvSpPr>
          <p:cNvPr id="3" name="TextBox 2"/>
          <p:cNvSpPr txBox="1"/>
          <p:nvPr/>
        </p:nvSpPr>
        <p:spPr>
          <a:xfrm>
            <a:off x="5212080" y="4956048"/>
            <a:ext cx="6675120" cy="998287"/>
          </a:xfrm>
          <a:prstGeom prst="rect">
            <a:avLst/>
          </a:prstGeom>
          <a:noFill/>
        </p:spPr>
        <p:txBody>
          <a:bodyPr wrap="square" lIns="0" tIns="0" rIns="0" bIns="0" anchor="t">
            <a:spAutoFit/>
          </a:bodyPr>
          <a:lstStyle/>
          <a:p>
            <a:pPr algn="l">
              <a:lnSpc>
                <a:spcPts val="2000"/>
              </a:lnSpc>
            </a:pPr>
            <a:r>
              <a:rPr sz="1400" b="1" i="0" dirty="0">
                <a:solidFill>
                  <a:srgbClr val="211D71"/>
                </a:solidFill>
                <a:latin typeface="Arial"/>
              </a:rPr>
              <a:t>How to decide what to build first</a:t>
            </a:r>
          </a:p>
          <a:p>
            <a:pPr algn="l">
              <a:lnSpc>
                <a:spcPts val="2000"/>
              </a:lnSpc>
            </a:pPr>
            <a:r>
              <a:rPr sz="1250" b="0" i="0" dirty="0">
                <a:solidFill>
                  <a:srgbClr val="5F6178"/>
                </a:solidFill>
                <a:latin typeface="Arial"/>
              </a:rPr>
              <a:t>Course:  </a:t>
            </a:r>
            <a:r>
              <a:rPr sz="1250" b="1" i="0" dirty="0">
                <a:solidFill>
                  <a:srgbClr val="22223B"/>
                </a:solidFill>
                <a:latin typeface="Arial"/>
              </a:rPr>
              <a:t>&lt;SEZG/SSZG___&gt;  &lt;</a:t>
            </a:r>
            <a:r>
              <a:rPr lang="en-IN" sz="1250" b="1" dirty="0">
                <a:solidFill>
                  <a:srgbClr val="22223B"/>
                </a:solidFill>
                <a:latin typeface="Arial"/>
              </a:rPr>
              <a:t>Software Product Management</a:t>
            </a:r>
            <a:r>
              <a:rPr sz="1250" b="1" i="0" dirty="0">
                <a:solidFill>
                  <a:srgbClr val="22223B"/>
                </a:solidFill>
                <a:latin typeface="Arial"/>
              </a:rPr>
              <a:t>&gt;</a:t>
            </a:r>
          </a:p>
          <a:p>
            <a:pPr algn="l">
              <a:lnSpc>
                <a:spcPts val="2000"/>
              </a:lnSpc>
            </a:pPr>
            <a:r>
              <a:rPr sz="1250" b="0" i="0" dirty="0">
                <a:solidFill>
                  <a:srgbClr val="5F6178"/>
                </a:solidFill>
                <a:latin typeface="Arial"/>
              </a:rPr>
              <a:t>Session:  </a:t>
            </a:r>
            <a:r>
              <a:rPr sz="1250" b="1" i="0" dirty="0">
                <a:solidFill>
                  <a:srgbClr val="22223B"/>
                </a:solidFill>
                <a:latin typeface="Arial"/>
              </a:rPr>
              <a:t>90 minutes</a:t>
            </a:r>
            <a:r>
              <a:rPr sz="1250" b="0" i="0" dirty="0">
                <a:solidFill>
                  <a:srgbClr val="5F6178"/>
                </a:solidFill>
                <a:latin typeface="Arial"/>
              </a:rPr>
              <a:t>     Faculty:  </a:t>
            </a:r>
            <a:r>
              <a:rPr sz="1250" b="1" i="0" dirty="0">
                <a:solidFill>
                  <a:srgbClr val="22223B"/>
                </a:solidFill>
                <a:latin typeface="Arial"/>
              </a:rPr>
              <a:t>&lt;</a:t>
            </a:r>
            <a:r>
              <a:rPr lang="en-IN" sz="1250" b="1" i="0" dirty="0">
                <a:solidFill>
                  <a:srgbClr val="22223B"/>
                </a:solidFill>
                <a:latin typeface="Arial"/>
              </a:rPr>
              <a:t>Madhu Venkat</a:t>
            </a:r>
            <a:r>
              <a:rPr sz="1250" b="1" i="0" dirty="0">
                <a:solidFill>
                  <a:srgbClr val="22223B"/>
                </a:solidFill>
                <a:latin typeface="Arial"/>
              </a:rPr>
              <a:t>&gt;</a:t>
            </a:r>
          </a:p>
          <a:p>
            <a:pPr algn="l">
              <a:lnSpc>
                <a:spcPts val="2000"/>
              </a:lnSpc>
            </a:pPr>
            <a:r>
              <a:rPr sz="1250" b="0" i="0" dirty="0">
                <a:solidFill>
                  <a:srgbClr val="5F6178"/>
                </a:solidFill>
                <a:latin typeface="Arial"/>
              </a:rPr>
              <a:t>&lt;</a:t>
            </a:r>
            <a:r>
              <a:rPr lang="en-IN" sz="1250" b="0" i="0" dirty="0">
                <a:solidFill>
                  <a:srgbClr val="5F6178"/>
                </a:solidFill>
                <a:latin typeface="Arial"/>
              </a:rPr>
              <a:t>2026</a:t>
            </a:r>
            <a:r>
              <a:rPr sz="1250" b="0" i="0" dirty="0">
                <a:solidFill>
                  <a:srgbClr val="5F6178"/>
                </a:solidFill>
                <a:latin typeface="Arial"/>
              </a:rPr>
              <a:t>&gt;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74320"/>
            <a:ext cx="10908792" cy="237744"/>
          </a:xfrm>
          <a:prstGeom prst="rect">
            <a:avLst/>
          </a:prstGeom>
          <a:noFill/>
        </p:spPr>
        <p:txBody>
          <a:bodyPr wrap="square" lIns="0" tIns="0" rIns="0" bIns="0" anchor="t">
            <a:spAutoFit/>
          </a:bodyPr>
          <a:lstStyle/>
          <a:p>
            <a:pPr algn="l"/>
            <a:r>
              <a:rPr sz="1000" b="1" i="0" spc="140">
                <a:solidFill>
                  <a:srgbClr val="A9740A"/>
                </a:solidFill>
                <a:latin typeface="Arial"/>
              </a:rPr>
              <a:t>THE BIG IDEA</a:t>
            </a:r>
          </a:p>
        </p:txBody>
      </p:sp>
      <p:sp>
        <p:nvSpPr>
          <p:cNvPr id="3" name="TextBox 2"/>
          <p:cNvSpPr txBox="1"/>
          <p:nvPr/>
        </p:nvSpPr>
        <p:spPr>
          <a:xfrm>
            <a:off x="640080" y="548640"/>
            <a:ext cx="8229600" cy="640080"/>
          </a:xfrm>
          <a:prstGeom prst="rect">
            <a:avLst/>
          </a:prstGeom>
          <a:noFill/>
        </p:spPr>
        <p:txBody>
          <a:bodyPr wrap="square" lIns="0" tIns="0" rIns="0" bIns="0" anchor="t">
            <a:spAutoFit/>
          </a:bodyPr>
          <a:lstStyle/>
          <a:p>
            <a:pPr algn="l"/>
            <a:r>
              <a:rPr sz="2400" b="1" i="0">
                <a:solidFill>
                  <a:srgbClr val="211D71"/>
                </a:solidFill>
                <a:latin typeface="Arial"/>
              </a:rPr>
              <a:t>The question this session answers</a:t>
            </a:r>
          </a:p>
        </p:txBody>
      </p:sp>
      <p:sp>
        <p:nvSpPr>
          <p:cNvPr id="4" name="Rounded Rectangle 3"/>
          <p:cNvSpPr/>
          <p:nvPr/>
        </p:nvSpPr>
        <p:spPr>
          <a:xfrm>
            <a:off x="640080" y="1709928"/>
            <a:ext cx="10908792" cy="2286000"/>
          </a:xfrm>
          <a:prstGeom prst="roundRect">
            <a:avLst>
              <a:gd name="adj" fmla="val 5500"/>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801368"/>
            <a:ext cx="10908792" cy="2103120"/>
          </a:xfrm>
          <a:prstGeom prst="rect">
            <a:avLst/>
          </a:prstGeom>
          <a:noFill/>
        </p:spPr>
        <p:txBody>
          <a:bodyPr wrap="square" lIns="0" tIns="0" rIns="0" bIns="0" anchor="ctr">
            <a:spAutoFit/>
          </a:bodyPr>
          <a:lstStyle/>
          <a:p>
            <a:pPr algn="ctr">
              <a:lnSpc>
                <a:spcPts val="4600"/>
              </a:lnSpc>
            </a:pPr>
            <a:r>
              <a:rPr sz="3200" b="1" i="0">
                <a:solidFill>
                  <a:srgbClr val="FFFFFF"/>
                </a:solidFill>
                <a:latin typeface="Arial"/>
              </a:rPr>
              <a:t>You cannot build everything.
So what comes first?</a:t>
            </a:r>
          </a:p>
        </p:txBody>
      </p:sp>
      <p:sp>
        <p:nvSpPr>
          <p:cNvPr id="7" name="Rounded Rectangle 6"/>
          <p:cNvSpPr/>
          <p:nvPr/>
        </p:nvSpPr>
        <p:spPr>
          <a:xfrm>
            <a:off x="640080" y="4818888"/>
            <a:ext cx="10908792" cy="1234440"/>
          </a:xfrm>
          <a:prstGeom prst="roundRect">
            <a:avLst>
              <a:gd name="adj" fmla="val 5500"/>
            </a:avLst>
          </a:prstGeom>
          <a:solidFill>
            <a:srgbClr val="FEF4DC"/>
          </a:solidFill>
          <a:ln w="15875">
            <a:solidFill>
              <a:srgbClr val="FCB0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4965192"/>
            <a:ext cx="10360152" cy="237744"/>
          </a:xfrm>
          <a:prstGeom prst="rect">
            <a:avLst/>
          </a:prstGeom>
          <a:noFill/>
        </p:spPr>
        <p:txBody>
          <a:bodyPr wrap="square" lIns="0" tIns="0" rIns="0" bIns="0" anchor="t">
            <a:spAutoFit/>
          </a:bodyPr>
          <a:lstStyle/>
          <a:p>
            <a:pPr algn="l"/>
            <a:r>
              <a:rPr sz="1000" b="1" i="0" spc="140">
                <a:solidFill>
                  <a:srgbClr val="A9740A"/>
                </a:solidFill>
                <a:latin typeface="Arial"/>
              </a:rPr>
              <a:t>THINK OF IT LIKE THIS</a:t>
            </a:r>
          </a:p>
        </p:txBody>
      </p:sp>
      <p:sp>
        <p:nvSpPr>
          <p:cNvPr id="9" name="TextBox 8"/>
          <p:cNvSpPr txBox="1"/>
          <p:nvPr/>
        </p:nvSpPr>
        <p:spPr>
          <a:xfrm>
            <a:off x="914400" y="5221224"/>
            <a:ext cx="10360152" cy="685800"/>
          </a:xfrm>
          <a:prstGeom prst="rect">
            <a:avLst/>
          </a:prstGeom>
          <a:noFill/>
        </p:spPr>
        <p:txBody>
          <a:bodyPr wrap="square" lIns="0" tIns="0" rIns="0" bIns="0" anchor="t">
            <a:spAutoFit/>
          </a:bodyPr>
          <a:lstStyle/>
          <a:p>
            <a:pPr algn="l">
              <a:lnSpc>
                <a:spcPts val="2400"/>
              </a:lnSpc>
            </a:pPr>
            <a:r>
              <a:rPr sz="1600" b="1" i="0">
                <a:solidFill>
                  <a:srgbClr val="211D71"/>
                </a:solidFill>
                <a:latin typeface="Arial"/>
              </a:rPr>
              <a:t>It is not "which food do I like?"  It is "what fits in the lunchbox, and in what order do I eat it?"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74320"/>
            <a:ext cx="10908792" cy="237744"/>
          </a:xfrm>
          <a:prstGeom prst="rect">
            <a:avLst/>
          </a:prstGeom>
          <a:noFill/>
        </p:spPr>
        <p:txBody>
          <a:bodyPr wrap="square" lIns="0" tIns="0" rIns="0" bIns="0" anchor="t">
            <a:spAutoFit/>
          </a:bodyPr>
          <a:lstStyle/>
          <a:p>
            <a:pPr algn="l"/>
            <a:r>
              <a:rPr sz="1000" b="1" i="0" spc="140">
                <a:solidFill>
                  <a:srgbClr val="A9740A"/>
                </a:solidFill>
                <a:latin typeface="Arial"/>
              </a:rPr>
              <a:t>THE PROBLEM</a:t>
            </a:r>
          </a:p>
        </p:txBody>
      </p:sp>
      <p:sp>
        <p:nvSpPr>
          <p:cNvPr id="3" name="TextBox 2"/>
          <p:cNvSpPr txBox="1"/>
          <p:nvPr/>
        </p:nvSpPr>
        <p:spPr>
          <a:xfrm>
            <a:off x="640080" y="548640"/>
            <a:ext cx="8229600" cy="640080"/>
          </a:xfrm>
          <a:prstGeom prst="rect">
            <a:avLst/>
          </a:prstGeom>
          <a:noFill/>
        </p:spPr>
        <p:txBody>
          <a:bodyPr wrap="square" lIns="0" tIns="0" rIns="0" bIns="0" anchor="t">
            <a:spAutoFit/>
          </a:bodyPr>
          <a:lstStyle/>
          <a:p>
            <a:pPr algn="l"/>
            <a:r>
              <a:rPr sz="2400" b="1" i="0">
                <a:solidFill>
                  <a:srgbClr val="211D71"/>
                </a:solidFill>
                <a:latin typeface="Arial"/>
              </a:rPr>
              <a:t>Why this is hard</a:t>
            </a:r>
          </a:p>
        </p:txBody>
      </p:sp>
      <p:sp>
        <p:nvSpPr>
          <p:cNvPr id="4" name="Rounded Rectangle 3"/>
          <p:cNvSpPr/>
          <p:nvPr/>
        </p:nvSpPr>
        <p:spPr>
          <a:xfrm>
            <a:off x="640080" y="1664207"/>
            <a:ext cx="3477768" cy="182880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59536" y="1847088"/>
            <a:ext cx="384048" cy="384048"/>
          </a:xfrm>
          <a:prstGeom prst="ellipse">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59536" y="1847088"/>
            <a:ext cx="384048" cy="384048"/>
          </a:xfrm>
          <a:prstGeom prst="rect">
            <a:avLst/>
          </a:prstGeom>
          <a:noFill/>
        </p:spPr>
        <p:txBody>
          <a:bodyPr wrap="square" lIns="0" tIns="0" rIns="0" bIns="0" anchor="ctr">
            <a:spAutoFit/>
          </a:bodyPr>
          <a:lstStyle/>
          <a:p>
            <a:pPr algn="ctr"/>
            <a:r>
              <a:rPr sz="1400" b="1" i="0">
                <a:solidFill>
                  <a:srgbClr val="FFFFFF"/>
                </a:solidFill>
                <a:latin typeface="Arial"/>
              </a:rPr>
              <a:t>1</a:t>
            </a:r>
          </a:p>
        </p:txBody>
      </p:sp>
      <p:sp>
        <p:nvSpPr>
          <p:cNvPr id="7" name="TextBox 6"/>
          <p:cNvSpPr txBox="1"/>
          <p:nvPr/>
        </p:nvSpPr>
        <p:spPr>
          <a:xfrm>
            <a:off x="1335024" y="1847088"/>
            <a:ext cx="2563368" cy="384048"/>
          </a:xfrm>
          <a:prstGeom prst="rect">
            <a:avLst/>
          </a:prstGeom>
          <a:noFill/>
        </p:spPr>
        <p:txBody>
          <a:bodyPr wrap="square" lIns="0" tIns="0" rIns="0" bIns="0" anchor="ctr">
            <a:spAutoFit/>
          </a:bodyPr>
          <a:lstStyle/>
          <a:p>
            <a:pPr algn="l"/>
            <a:r>
              <a:rPr sz="1400" b="1" i="0">
                <a:solidFill>
                  <a:srgbClr val="211D71"/>
                </a:solidFill>
                <a:latin typeface="Arial"/>
              </a:rPr>
              <a:t>Everything is useful</a:t>
            </a:r>
          </a:p>
        </p:txBody>
      </p:sp>
      <p:sp>
        <p:nvSpPr>
          <p:cNvPr id="8" name="TextBox 7"/>
          <p:cNvSpPr txBox="1"/>
          <p:nvPr/>
        </p:nvSpPr>
        <p:spPr>
          <a:xfrm>
            <a:off x="859536" y="2322576"/>
            <a:ext cx="3038856" cy="1024128"/>
          </a:xfrm>
          <a:prstGeom prst="rect">
            <a:avLst/>
          </a:prstGeom>
          <a:noFill/>
        </p:spPr>
        <p:txBody>
          <a:bodyPr wrap="square" lIns="0" tIns="0" rIns="0" bIns="0" anchor="t">
            <a:spAutoFit/>
          </a:bodyPr>
          <a:lstStyle/>
          <a:p>
            <a:pPr algn="l">
              <a:lnSpc>
                <a:spcPts val="1700"/>
              </a:lnSpc>
            </a:pPr>
            <a:r>
              <a:rPr sz="1250" b="0" i="0">
                <a:solidFill>
                  <a:srgbClr val="22223B"/>
                </a:solidFill>
                <a:latin typeface="Arial"/>
              </a:rPr>
              <a:t>Every request helps somebody. So "is it valuable?" never separates one item from another.</a:t>
            </a:r>
          </a:p>
        </p:txBody>
      </p:sp>
      <p:sp>
        <p:nvSpPr>
          <p:cNvPr id="9" name="Rounded Rectangle 8"/>
          <p:cNvSpPr/>
          <p:nvPr/>
        </p:nvSpPr>
        <p:spPr>
          <a:xfrm>
            <a:off x="4355592" y="1664207"/>
            <a:ext cx="3477768" cy="182880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4575048" y="1847088"/>
            <a:ext cx="384048" cy="384048"/>
          </a:xfrm>
          <a:prstGeom prst="ellipse">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5048" y="1847088"/>
            <a:ext cx="384048" cy="384048"/>
          </a:xfrm>
          <a:prstGeom prst="rect">
            <a:avLst/>
          </a:prstGeom>
          <a:noFill/>
        </p:spPr>
        <p:txBody>
          <a:bodyPr wrap="square" lIns="0" tIns="0" rIns="0" bIns="0" anchor="ctr">
            <a:spAutoFit/>
          </a:bodyPr>
          <a:lstStyle/>
          <a:p>
            <a:pPr algn="ctr"/>
            <a:r>
              <a:rPr sz="1400" b="1" i="0">
                <a:solidFill>
                  <a:srgbClr val="FFFFFF"/>
                </a:solidFill>
                <a:latin typeface="Arial"/>
              </a:rPr>
              <a:t>2</a:t>
            </a:r>
          </a:p>
        </p:txBody>
      </p:sp>
      <p:sp>
        <p:nvSpPr>
          <p:cNvPr id="12" name="TextBox 11"/>
          <p:cNvSpPr txBox="1"/>
          <p:nvPr/>
        </p:nvSpPr>
        <p:spPr>
          <a:xfrm>
            <a:off x="5050536" y="1847088"/>
            <a:ext cx="2563368" cy="384048"/>
          </a:xfrm>
          <a:prstGeom prst="rect">
            <a:avLst/>
          </a:prstGeom>
          <a:noFill/>
        </p:spPr>
        <p:txBody>
          <a:bodyPr wrap="square" lIns="0" tIns="0" rIns="0" bIns="0" anchor="ctr">
            <a:spAutoFit/>
          </a:bodyPr>
          <a:lstStyle/>
          <a:p>
            <a:pPr algn="l"/>
            <a:r>
              <a:rPr sz="1400" b="1" i="0">
                <a:solidFill>
                  <a:srgbClr val="211D71"/>
                </a:solidFill>
                <a:latin typeface="Arial"/>
              </a:rPr>
              <a:t>Time is fixed</a:t>
            </a:r>
          </a:p>
        </p:txBody>
      </p:sp>
      <p:sp>
        <p:nvSpPr>
          <p:cNvPr id="13" name="TextBox 12"/>
          <p:cNvSpPr txBox="1"/>
          <p:nvPr/>
        </p:nvSpPr>
        <p:spPr>
          <a:xfrm>
            <a:off x="4575048" y="2322576"/>
            <a:ext cx="3038856" cy="1024128"/>
          </a:xfrm>
          <a:prstGeom prst="rect">
            <a:avLst/>
          </a:prstGeom>
          <a:noFill/>
        </p:spPr>
        <p:txBody>
          <a:bodyPr wrap="square" lIns="0" tIns="0" rIns="0" bIns="0" anchor="t">
            <a:spAutoFit/>
          </a:bodyPr>
          <a:lstStyle/>
          <a:p>
            <a:pPr algn="l">
              <a:lnSpc>
                <a:spcPts val="1700"/>
              </a:lnSpc>
            </a:pPr>
            <a:r>
              <a:rPr sz="1250" b="0" i="0">
                <a:solidFill>
                  <a:srgbClr val="22223B"/>
                </a:solidFill>
                <a:latin typeface="Arial"/>
              </a:rPr>
              <a:t>You have one team and twelve weeks. Wanting more does not create more.</a:t>
            </a:r>
          </a:p>
        </p:txBody>
      </p:sp>
      <p:sp>
        <p:nvSpPr>
          <p:cNvPr id="14" name="Rounded Rectangle 13"/>
          <p:cNvSpPr/>
          <p:nvPr/>
        </p:nvSpPr>
        <p:spPr>
          <a:xfrm>
            <a:off x="8071104" y="1664207"/>
            <a:ext cx="3477768" cy="182880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8290560" y="1847088"/>
            <a:ext cx="384048" cy="384048"/>
          </a:xfrm>
          <a:prstGeom prst="ellipse">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90560" y="1847088"/>
            <a:ext cx="384048" cy="384048"/>
          </a:xfrm>
          <a:prstGeom prst="rect">
            <a:avLst/>
          </a:prstGeom>
          <a:noFill/>
        </p:spPr>
        <p:txBody>
          <a:bodyPr wrap="square" lIns="0" tIns="0" rIns="0" bIns="0" anchor="ctr">
            <a:spAutoFit/>
          </a:bodyPr>
          <a:lstStyle/>
          <a:p>
            <a:pPr algn="ctr"/>
            <a:r>
              <a:rPr sz="1400" b="1" i="0">
                <a:solidFill>
                  <a:srgbClr val="FFFFFF"/>
                </a:solidFill>
                <a:latin typeface="Arial"/>
              </a:rPr>
              <a:t>3</a:t>
            </a:r>
          </a:p>
        </p:txBody>
      </p:sp>
      <p:sp>
        <p:nvSpPr>
          <p:cNvPr id="17" name="TextBox 16"/>
          <p:cNvSpPr txBox="1"/>
          <p:nvPr/>
        </p:nvSpPr>
        <p:spPr>
          <a:xfrm>
            <a:off x="8766048" y="1847088"/>
            <a:ext cx="2563368" cy="384048"/>
          </a:xfrm>
          <a:prstGeom prst="rect">
            <a:avLst/>
          </a:prstGeom>
          <a:noFill/>
        </p:spPr>
        <p:txBody>
          <a:bodyPr wrap="square" lIns="0" tIns="0" rIns="0" bIns="0" anchor="ctr">
            <a:spAutoFit/>
          </a:bodyPr>
          <a:lstStyle/>
          <a:p>
            <a:pPr algn="l"/>
            <a:r>
              <a:rPr sz="1400" b="1" i="0">
                <a:solidFill>
                  <a:srgbClr val="211D71"/>
                </a:solidFill>
                <a:latin typeface="Arial"/>
              </a:rPr>
              <a:t>Late is a cost</a:t>
            </a:r>
          </a:p>
        </p:txBody>
      </p:sp>
      <p:sp>
        <p:nvSpPr>
          <p:cNvPr id="18" name="TextBox 17"/>
          <p:cNvSpPr txBox="1"/>
          <p:nvPr/>
        </p:nvSpPr>
        <p:spPr>
          <a:xfrm>
            <a:off x="8290560" y="2322576"/>
            <a:ext cx="3038856" cy="1024128"/>
          </a:xfrm>
          <a:prstGeom prst="rect">
            <a:avLst/>
          </a:prstGeom>
          <a:noFill/>
        </p:spPr>
        <p:txBody>
          <a:bodyPr wrap="square" lIns="0" tIns="0" rIns="0" bIns="0" anchor="t">
            <a:spAutoFit/>
          </a:bodyPr>
          <a:lstStyle/>
          <a:p>
            <a:pPr algn="l">
              <a:lnSpc>
                <a:spcPts val="1700"/>
              </a:lnSpc>
            </a:pPr>
            <a:r>
              <a:rPr sz="1250" b="0" i="0">
                <a:solidFill>
                  <a:srgbClr val="22223B"/>
                </a:solidFill>
                <a:latin typeface="Arial"/>
              </a:rPr>
              <a:t>The right feature delivered too late is worth much less than the same feature delivered early.</a:t>
            </a:r>
          </a:p>
        </p:txBody>
      </p:sp>
      <p:sp>
        <p:nvSpPr>
          <p:cNvPr id="19" name="Rounded Rectangle 18"/>
          <p:cNvSpPr/>
          <p:nvPr/>
        </p:nvSpPr>
        <p:spPr>
          <a:xfrm>
            <a:off x="640080" y="3813048"/>
            <a:ext cx="10908792" cy="731520"/>
          </a:xfrm>
          <a:prstGeom prst="roundRect">
            <a:avLst>
              <a:gd name="adj" fmla="val 5500"/>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68680" y="3849624"/>
            <a:ext cx="10451592" cy="658368"/>
          </a:xfrm>
          <a:prstGeom prst="rect">
            <a:avLst/>
          </a:prstGeom>
          <a:noFill/>
        </p:spPr>
        <p:txBody>
          <a:bodyPr wrap="square" lIns="0" tIns="0" rIns="0" bIns="0" anchor="ctr">
            <a:spAutoFit/>
          </a:bodyPr>
          <a:lstStyle/>
          <a:p>
            <a:pPr algn="l"/>
            <a:r>
              <a:rPr sz="1350" b="1" i="0">
                <a:solidFill>
                  <a:srgbClr val="FFFFFF"/>
                </a:solidFill>
                <a:latin typeface="Arial"/>
              </a:rPr>
              <a:t>Once you accept the box is a fixed size, the argument changes. You stop asking what is good and start asking what goes in first.</a:t>
            </a:r>
          </a:p>
        </p:txBody>
      </p:sp>
      <p:sp>
        <p:nvSpPr>
          <p:cNvPr id="21" name="TextBox 20"/>
          <p:cNvSpPr txBox="1"/>
          <p:nvPr/>
        </p:nvSpPr>
        <p:spPr>
          <a:xfrm>
            <a:off x="640080" y="4773168"/>
            <a:ext cx="10908792" cy="457200"/>
          </a:xfrm>
          <a:prstGeom prst="rect">
            <a:avLst/>
          </a:prstGeom>
          <a:noFill/>
        </p:spPr>
        <p:txBody>
          <a:bodyPr wrap="square" lIns="0" tIns="0" rIns="0" bIns="0" anchor="t">
            <a:spAutoFit/>
          </a:bodyPr>
          <a:lstStyle/>
          <a:p>
            <a:pPr algn="ctr"/>
            <a:r>
              <a:rPr sz="1500" b="0" i="0">
                <a:solidFill>
                  <a:srgbClr val="22223B"/>
                </a:solidFill>
                <a:latin typeface="Arial"/>
              </a:rPr>
              <a:t>So prioritisation has two jobs: decide what gets into the list at all, and decide the order of what does.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74320"/>
            <a:ext cx="10908792" cy="237744"/>
          </a:xfrm>
          <a:prstGeom prst="rect">
            <a:avLst/>
          </a:prstGeom>
          <a:noFill/>
        </p:spPr>
        <p:txBody>
          <a:bodyPr wrap="square" lIns="0" tIns="0" rIns="0" bIns="0" anchor="t">
            <a:spAutoFit/>
          </a:bodyPr>
          <a:lstStyle/>
          <a:p>
            <a:pPr algn="l"/>
            <a:r>
              <a:rPr sz="1000" b="1" i="0" spc="140">
                <a:solidFill>
                  <a:srgbClr val="A9740A"/>
                </a:solidFill>
                <a:latin typeface="Arial"/>
              </a:rPr>
              <a:t>WHAT YOU WILL LEARN</a:t>
            </a:r>
          </a:p>
        </p:txBody>
      </p:sp>
      <p:sp>
        <p:nvSpPr>
          <p:cNvPr id="3" name="TextBox 2"/>
          <p:cNvSpPr txBox="1"/>
          <p:nvPr/>
        </p:nvSpPr>
        <p:spPr>
          <a:xfrm>
            <a:off x="640080" y="548640"/>
            <a:ext cx="8229600" cy="640080"/>
          </a:xfrm>
          <a:prstGeom prst="rect">
            <a:avLst/>
          </a:prstGeom>
          <a:noFill/>
        </p:spPr>
        <p:txBody>
          <a:bodyPr wrap="square" lIns="0" tIns="0" rIns="0" bIns="0" anchor="t">
            <a:spAutoFit/>
          </a:bodyPr>
          <a:lstStyle/>
          <a:p>
            <a:pPr algn="l"/>
            <a:r>
              <a:rPr sz="2400" b="1" i="0">
                <a:solidFill>
                  <a:srgbClr val="211D71"/>
                </a:solidFill>
                <a:latin typeface="Arial"/>
              </a:rPr>
              <a:t>By the end of today you can…</a:t>
            </a:r>
          </a:p>
        </p:txBody>
      </p:sp>
      <p:sp>
        <p:nvSpPr>
          <p:cNvPr id="4" name="TextBox 3"/>
          <p:cNvSpPr txBox="1"/>
          <p:nvPr/>
        </p:nvSpPr>
        <p:spPr>
          <a:xfrm>
            <a:off x="640080" y="1801368"/>
            <a:ext cx="10908792" cy="4389120"/>
          </a:xfrm>
          <a:prstGeom prst="rect">
            <a:avLst/>
          </a:prstGeom>
          <a:noFill/>
        </p:spPr>
        <p:txBody>
          <a:bodyPr wrap="square" lIns="0" tIns="0" rIns="0" bIns="0">
            <a:spAutoFit/>
          </a:bodyPr>
          <a:lstStyle/>
          <a:p>
            <a:pPr marL="173736" indent="-173736">
              <a:lnSpc>
                <a:spcPts val="2200"/>
              </a:lnSpc>
              <a:spcAft>
                <a:spcPts val="1600"/>
              </a:spcAft>
              <a:buChar char="•"/>
            </a:pPr>
            <a:r>
              <a:rPr sz="1700" b="1">
                <a:solidFill>
                  <a:srgbClr val="22223B"/>
                </a:solidFill>
                <a:latin typeface="Arial"/>
              </a:rPr>
              <a:t>Draw a story map and pick a first release from it</a:t>
            </a:r>
          </a:p>
          <a:p>
            <a:pPr marL="173736" indent="-173736">
              <a:lnSpc>
                <a:spcPts val="2200"/>
              </a:lnSpc>
              <a:spcAft>
                <a:spcPts val="1600"/>
              </a:spcAft>
              <a:buChar char="•"/>
            </a:pPr>
            <a:r>
              <a:rPr sz="1700" b="1">
                <a:solidFill>
                  <a:srgbClr val="22223B"/>
                </a:solidFill>
                <a:latin typeface="Arial"/>
              </a:rPr>
              <a:t>Score which customer problems are worth solving</a:t>
            </a:r>
          </a:p>
          <a:p>
            <a:pPr marL="173736" indent="-173736">
              <a:lnSpc>
                <a:spcPts val="2200"/>
              </a:lnSpc>
              <a:spcAft>
                <a:spcPts val="1600"/>
              </a:spcAft>
              <a:buChar char="•"/>
            </a:pPr>
            <a:r>
              <a:rPr sz="1700" b="1">
                <a:solidFill>
                  <a:srgbClr val="22223B"/>
                </a:solidFill>
                <a:latin typeface="Arial"/>
              </a:rPr>
              <a:t>Put work in the order that loses the least money</a:t>
            </a:r>
          </a:p>
          <a:p>
            <a:pPr marL="173736" indent="-173736">
              <a:lnSpc>
                <a:spcPts val="2200"/>
              </a:lnSpc>
              <a:spcAft>
                <a:spcPts val="1600"/>
              </a:spcAft>
              <a:buChar char="•"/>
            </a:pPr>
            <a:r>
              <a:rPr sz="1700" b="1">
                <a:solidFill>
                  <a:srgbClr val="22223B"/>
                </a:solidFill>
                <a:latin typeface="Arial"/>
              </a:rPr>
              <a:t>Tell a backlog from a roadmap, and write both</a:t>
            </a:r>
          </a:p>
          <a:p>
            <a:pPr marL="173736" indent="-173736">
              <a:lnSpc>
                <a:spcPts val="2200"/>
              </a:lnSpc>
              <a:spcAft>
                <a:spcPts val="1600"/>
              </a:spcAft>
              <a:buChar char="•"/>
            </a:pPr>
            <a:r>
              <a:rPr sz="1700" b="1">
                <a:solidFill>
                  <a:srgbClr val="22223B"/>
                </a:solidFill>
                <a:latin typeface="Arial"/>
              </a:rPr>
              <a:t>Run MoSCoW without everything becoming a "Must"</a:t>
            </a:r>
          </a:p>
          <a:p>
            <a:pPr marL="173736" indent="-173736">
              <a:lnSpc>
                <a:spcPts val="2200"/>
              </a:lnSpc>
              <a:spcAft>
                <a:spcPts val="1600"/>
              </a:spcAft>
              <a:buChar char="•"/>
            </a:pPr>
            <a:r>
              <a:rPr sz="1700" b="1">
                <a:solidFill>
                  <a:srgbClr val="22223B"/>
                </a:solidFill>
                <a:latin typeface="Arial"/>
              </a:rPr>
              <a:t>Run two group games that get stakeholders to agree</a:t>
            </a:r>
          </a:p>
        </p:txBody>
      </p:sp>
      <p:sp>
        <p:nvSpPr>
          <p:cNvPr id="5" name="Rounded Rectangle 4"/>
          <p:cNvSpPr/>
          <p:nvPr/>
        </p:nvSpPr>
        <p:spPr>
          <a:xfrm>
            <a:off x="640080" y="5550408"/>
            <a:ext cx="10908792" cy="658368"/>
          </a:xfrm>
          <a:prstGeom prst="roundRect">
            <a:avLst>
              <a:gd name="adj" fmla="val 5500"/>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5586984"/>
            <a:ext cx="10451592" cy="585216"/>
          </a:xfrm>
          <a:prstGeom prst="rect">
            <a:avLst/>
          </a:prstGeom>
          <a:noFill/>
        </p:spPr>
        <p:txBody>
          <a:bodyPr wrap="square" lIns="0" tIns="0" rIns="0" bIns="0" anchor="ctr">
            <a:spAutoFit/>
          </a:bodyPr>
          <a:lstStyle/>
          <a:p>
            <a:pPr algn="l"/>
            <a:r>
              <a:rPr sz="1350" b="1" i="0">
                <a:solidFill>
                  <a:srgbClr val="FFFFFF"/>
                </a:solidFill>
                <a:latin typeface="Arial"/>
              </a:rPr>
              <a:t>Your assignment uses the first three of these. The rest you will use at work.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74320"/>
            <a:ext cx="10908792" cy="237744"/>
          </a:xfrm>
          <a:prstGeom prst="rect">
            <a:avLst/>
          </a:prstGeom>
          <a:noFill/>
        </p:spPr>
        <p:txBody>
          <a:bodyPr wrap="square" lIns="0" tIns="0" rIns="0" bIns="0" anchor="t">
            <a:spAutoFit/>
          </a:bodyPr>
          <a:lstStyle/>
          <a:p>
            <a:pPr algn="l"/>
            <a:r>
              <a:rPr sz="1000" b="1" i="0" spc="140">
                <a:solidFill>
                  <a:srgbClr val="A9740A"/>
                </a:solidFill>
                <a:latin typeface="Arial"/>
              </a:rPr>
              <a:t>AGENDA</a:t>
            </a:r>
          </a:p>
        </p:txBody>
      </p:sp>
      <p:sp>
        <p:nvSpPr>
          <p:cNvPr id="3" name="TextBox 2"/>
          <p:cNvSpPr txBox="1"/>
          <p:nvPr/>
        </p:nvSpPr>
        <p:spPr>
          <a:xfrm>
            <a:off x="640080" y="548640"/>
            <a:ext cx="8229600" cy="640080"/>
          </a:xfrm>
          <a:prstGeom prst="rect">
            <a:avLst/>
          </a:prstGeom>
          <a:noFill/>
        </p:spPr>
        <p:txBody>
          <a:bodyPr wrap="square" lIns="0" tIns="0" rIns="0" bIns="0" anchor="t">
            <a:spAutoFit/>
          </a:bodyPr>
          <a:lstStyle/>
          <a:p>
            <a:pPr algn="l"/>
            <a:r>
              <a:rPr sz="2400" b="1" i="0">
                <a:solidFill>
                  <a:srgbClr val="211D71"/>
                </a:solidFill>
                <a:latin typeface="Arial"/>
              </a:rPr>
              <a:t>The plan for 90 minutes</a:t>
            </a:r>
          </a:p>
        </p:txBody>
      </p:sp>
      <p:graphicFrame>
        <p:nvGraphicFramePr>
          <p:cNvPr id="4" name="Table 3"/>
          <p:cNvGraphicFramePr>
            <a:graphicFrameLocks noGrp="1"/>
          </p:cNvGraphicFramePr>
          <p:nvPr/>
        </p:nvGraphicFramePr>
        <p:xfrm>
          <a:off x="640080" y="1591056"/>
          <a:ext cx="10908791" cy="4535424"/>
        </p:xfrm>
        <a:graphic>
          <a:graphicData uri="http://schemas.openxmlformats.org/drawingml/2006/table">
            <a:tbl>
              <a:tblPr>
                <a:tableStyleId>{5C22544A-7EE6-4342-B048-85BDC9FD1C3A}</a:tableStyleId>
              </a:tblPr>
              <a:tblGrid>
                <a:gridCol w="1188720">
                  <a:extLst>
                    <a:ext uri="{9D8B030D-6E8A-4147-A177-3AD203B41FA5}">
                      <a16:colId xmlns:a16="http://schemas.microsoft.com/office/drawing/2014/main" val="20000"/>
                    </a:ext>
                  </a:extLst>
                </a:gridCol>
                <a:gridCol w="7799831">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tblGrid>
              <a:tr h="283464">
                <a:tc>
                  <a:txBody>
                    <a:bodyPr/>
                    <a:lstStyle/>
                    <a:p>
                      <a:pPr algn="l"/>
                      <a:r>
                        <a:rPr sz="1200" b="1">
                          <a:solidFill>
                            <a:srgbClr val="FFFFFF"/>
                          </a:solidFill>
                          <a:latin typeface="Arial"/>
                        </a:rPr>
                        <a:t>Time</a:t>
                      </a:r>
                    </a:p>
                  </a:txBody>
                  <a:tcPr marL="82296" marR="82296" marT="36576" marB="36576" anchor="ctr">
                    <a:solidFill>
                      <a:srgbClr val="211D71"/>
                    </a:solidFill>
                  </a:tcPr>
                </a:tc>
                <a:tc>
                  <a:txBody>
                    <a:bodyPr/>
                    <a:lstStyle/>
                    <a:p>
                      <a:pPr algn="l"/>
                      <a:r>
                        <a:rPr sz="1200" b="1">
                          <a:solidFill>
                            <a:srgbClr val="FFFFFF"/>
                          </a:solidFill>
                          <a:latin typeface="Arial"/>
                        </a:rPr>
                        <a:t>What we do</a:t>
                      </a:r>
                    </a:p>
                  </a:txBody>
                  <a:tcPr marL="82296" marR="82296" marT="36576" marB="36576" anchor="ctr">
                    <a:solidFill>
                      <a:srgbClr val="211D71"/>
                    </a:solidFill>
                  </a:tcPr>
                </a:tc>
                <a:tc>
                  <a:txBody>
                    <a:bodyPr/>
                    <a:lstStyle/>
                    <a:p>
                      <a:pPr algn="l"/>
                      <a:r>
                        <a:rPr sz="1200" b="1">
                          <a:solidFill>
                            <a:srgbClr val="FFFFFF"/>
                          </a:solidFill>
                          <a:latin typeface="Arial"/>
                        </a:rPr>
                        <a:t>Type</a:t>
                      </a:r>
                    </a:p>
                  </a:txBody>
                  <a:tcPr marL="82296" marR="82296" marT="36576" marB="36576" anchor="ctr">
                    <a:solidFill>
                      <a:srgbClr val="211D71"/>
                    </a:solidFill>
                  </a:tcPr>
                </a:tc>
                <a:extLst>
                  <a:ext uri="{0D108BD9-81ED-4DB2-BD59-A6C34878D82A}">
                    <a16:rowId xmlns:a16="http://schemas.microsoft.com/office/drawing/2014/main" val="10000"/>
                  </a:ext>
                </a:extLst>
              </a:tr>
              <a:tr h="283464">
                <a:tc>
                  <a:txBody>
                    <a:bodyPr/>
                    <a:lstStyle/>
                    <a:p>
                      <a:pPr algn="l"/>
                      <a:r>
                        <a:rPr sz="1200" b="0">
                          <a:solidFill>
                            <a:srgbClr val="22223B"/>
                          </a:solidFill>
                          <a:latin typeface="Arial"/>
                        </a:rPr>
                        <a:t>00–04</a:t>
                      </a:r>
                    </a:p>
                  </a:txBody>
                  <a:tcPr marL="82296" marR="82296" marT="36576" marB="36576" anchor="ctr">
                    <a:solidFill>
                      <a:srgbClr val="F3F4FA"/>
                    </a:solidFill>
                  </a:tcPr>
                </a:tc>
                <a:tc>
                  <a:txBody>
                    <a:bodyPr/>
                    <a:lstStyle/>
                    <a:p>
                      <a:pPr algn="l"/>
                      <a:r>
                        <a:rPr sz="1200" b="0">
                          <a:solidFill>
                            <a:srgbClr val="22223B"/>
                          </a:solidFill>
                          <a:latin typeface="Arial"/>
                        </a:rPr>
                        <a:t>Why prioritisation is hard</a:t>
                      </a:r>
                    </a:p>
                  </a:txBody>
                  <a:tcPr marL="82296" marR="82296" marT="36576" marB="36576" anchor="ctr">
                    <a:solidFill>
                      <a:srgbClr val="F3F4FA"/>
                    </a:solidFill>
                  </a:tcPr>
                </a:tc>
                <a:tc>
                  <a:txBody>
                    <a:bodyPr/>
                    <a:lstStyle/>
                    <a:p>
                      <a:pPr algn="l"/>
                      <a:r>
                        <a:rPr sz="1200" b="0">
                          <a:solidFill>
                            <a:srgbClr val="22223B"/>
                          </a:solidFill>
                          <a:latin typeface="Arial"/>
                        </a:rPr>
                        <a:t>Talk</a:t>
                      </a:r>
                    </a:p>
                  </a:txBody>
                  <a:tcPr marL="82296" marR="82296" marT="36576" marB="36576" anchor="ctr">
                    <a:solidFill>
                      <a:srgbClr val="F3F4FA"/>
                    </a:solidFill>
                  </a:tcPr>
                </a:tc>
                <a:extLst>
                  <a:ext uri="{0D108BD9-81ED-4DB2-BD59-A6C34878D82A}">
                    <a16:rowId xmlns:a16="http://schemas.microsoft.com/office/drawing/2014/main" val="10001"/>
                  </a:ext>
                </a:extLst>
              </a:tr>
              <a:tr h="283464">
                <a:tc>
                  <a:txBody>
                    <a:bodyPr/>
                    <a:lstStyle/>
                    <a:p>
                      <a:pPr algn="l"/>
                      <a:r>
                        <a:rPr sz="1200" b="0">
                          <a:solidFill>
                            <a:srgbClr val="22223B"/>
                          </a:solidFill>
                          <a:latin typeface="Arial"/>
                        </a:rPr>
                        <a:t>04–15</a:t>
                      </a:r>
                    </a:p>
                  </a:txBody>
                  <a:tcPr marL="82296" marR="82296" marT="36576" marB="36576" anchor="ctr">
                    <a:solidFill>
                      <a:srgbClr val="FFFFFF"/>
                    </a:solidFill>
                  </a:tcPr>
                </a:tc>
                <a:tc>
                  <a:txBody>
                    <a:bodyPr/>
                    <a:lstStyle/>
                    <a:p>
                      <a:pPr algn="l"/>
                      <a:r>
                        <a:rPr sz="1200" b="0">
                          <a:solidFill>
                            <a:srgbClr val="22223B"/>
                          </a:solidFill>
                          <a:latin typeface="Arial"/>
                        </a:rPr>
                        <a:t>1. Story Mapping</a:t>
                      </a:r>
                    </a:p>
                  </a:txBody>
                  <a:tcPr marL="82296" marR="82296" marT="36576" marB="36576" anchor="ctr">
                    <a:solidFill>
                      <a:srgbClr val="FFFFFF"/>
                    </a:solidFill>
                  </a:tcPr>
                </a:tc>
                <a:tc>
                  <a:txBody>
                    <a:bodyPr/>
                    <a:lstStyle/>
                    <a:p>
                      <a:pPr algn="l"/>
                      <a:r>
                        <a:rPr sz="1200" b="0">
                          <a:solidFill>
                            <a:srgbClr val="22223B"/>
                          </a:solidFill>
                          <a:latin typeface="Arial"/>
                        </a:rPr>
                        <a:t>Talk</a:t>
                      </a:r>
                    </a:p>
                  </a:txBody>
                  <a:tcPr marL="82296" marR="82296" marT="36576" marB="36576" anchor="ctr">
                    <a:solidFill>
                      <a:srgbClr val="FFFFFF"/>
                    </a:solidFill>
                  </a:tcPr>
                </a:tc>
                <a:extLst>
                  <a:ext uri="{0D108BD9-81ED-4DB2-BD59-A6C34878D82A}">
                    <a16:rowId xmlns:a16="http://schemas.microsoft.com/office/drawing/2014/main" val="10002"/>
                  </a:ext>
                </a:extLst>
              </a:tr>
              <a:tr h="283464">
                <a:tc>
                  <a:txBody>
                    <a:bodyPr/>
                    <a:lstStyle/>
                    <a:p>
                      <a:pPr algn="l"/>
                      <a:r>
                        <a:rPr sz="1200" b="0">
                          <a:solidFill>
                            <a:srgbClr val="22223B"/>
                          </a:solidFill>
                          <a:latin typeface="Arial"/>
                        </a:rPr>
                        <a:t>15–25</a:t>
                      </a:r>
                    </a:p>
                  </a:txBody>
                  <a:tcPr marL="82296" marR="82296" marT="36576" marB="36576" anchor="ctr">
                    <a:solidFill>
                      <a:srgbClr val="F3F4FA"/>
                    </a:solidFill>
                  </a:tcPr>
                </a:tc>
                <a:tc>
                  <a:txBody>
                    <a:bodyPr/>
                    <a:lstStyle/>
                    <a:p>
                      <a:pPr algn="l"/>
                      <a:r>
                        <a:rPr sz="1200" b="1">
                          <a:solidFill>
                            <a:srgbClr val="22223B"/>
                          </a:solidFill>
                          <a:latin typeface="Arial"/>
                        </a:rPr>
                        <a:t>You build a story map</a:t>
                      </a:r>
                    </a:p>
                  </a:txBody>
                  <a:tcPr marL="82296" marR="82296" marT="36576" marB="36576" anchor="ctr">
                    <a:solidFill>
                      <a:srgbClr val="F3F4FA"/>
                    </a:solidFill>
                  </a:tcPr>
                </a:tc>
                <a:tc>
                  <a:txBody>
                    <a:bodyPr/>
                    <a:lstStyle/>
                    <a:p>
                      <a:pPr algn="l"/>
                      <a:r>
                        <a:rPr sz="1200" b="0">
                          <a:solidFill>
                            <a:srgbClr val="E31C24"/>
                          </a:solidFill>
                          <a:latin typeface="Arial"/>
                        </a:rPr>
                        <a:t>Group work</a:t>
                      </a:r>
                    </a:p>
                  </a:txBody>
                  <a:tcPr marL="82296" marR="82296" marT="36576" marB="36576" anchor="ctr">
                    <a:solidFill>
                      <a:srgbClr val="F3F4FA"/>
                    </a:solidFill>
                  </a:tcPr>
                </a:tc>
                <a:extLst>
                  <a:ext uri="{0D108BD9-81ED-4DB2-BD59-A6C34878D82A}">
                    <a16:rowId xmlns:a16="http://schemas.microsoft.com/office/drawing/2014/main" val="10003"/>
                  </a:ext>
                </a:extLst>
              </a:tr>
              <a:tr h="283464">
                <a:tc>
                  <a:txBody>
                    <a:bodyPr/>
                    <a:lstStyle/>
                    <a:p>
                      <a:pPr algn="l"/>
                      <a:r>
                        <a:rPr sz="1200" b="0">
                          <a:solidFill>
                            <a:srgbClr val="22223B"/>
                          </a:solidFill>
                          <a:latin typeface="Arial"/>
                        </a:rPr>
                        <a:t>25–28</a:t>
                      </a:r>
                    </a:p>
                  </a:txBody>
                  <a:tcPr marL="82296" marR="82296" marT="36576" marB="36576" anchor="ctr">
                    <a:solidFill>
                      <a:srgbClr val="FFFFFF"/>
                    </a:solidFill>
                  </a:tcPr>
                </a:tc>
                <a:tc>
                  <a:txBody>
                    <a:bodyPr/>
                    <a:lstStyle/>
                    <a:p>
                      <a:pPr algn="l"/>
                      <a:r>
                        <a:rPr sz="1200" b="1">
                          <a:solidFill>
                            <a:srgbClr val="22223B"/>
                          </a:solidFill>
                          <a:latin typeface="Arial"/>
                        </a:rPr>
                        <a:t>Quiz 1</a:t>
                      </a:r>
                    </a:p>
                  </a:txBody>
                  <a:tcPr marL="82296" marR="82296" marT="36576" marB="36576" anchor="ctr">
                    <a:solidFill>
                      <a:srgbClr val="FFFFFF"/>
                    </a:solidFill>
                  </a:tcPr>
                </a:tc>
                <a:tc>
                  <a:txBody>
                    <a:bodyPr/>
                    <a:lstStyle/>
                    <a:p>
                      <a:pPr algn="l"/>
                      <a:r>
                        <a:rPr sz="1200" b="0">
                          <a:solidFill>
                            <a:srgbClr val="E31C24"/>
                          </a:solidFill>
                          <a:latin typeface="Arial"/>
                        </a:rPr>
                        <a:t>Quiz</a:t>
                      </a:r>
                    </a:p>
                  </a:txBody>
                  <a:tcPr marL="82296" marR="82296" marT="36576" marB="36576" anchor="ctr">
                    <a:solidFill>
                      <a:srgbClr val="FFFFFF"/>
                    </a:solidFill>
                  </a:tcPr>
                </a:tc>
                <a:extLst>
                  <a:ext uri="{0D108BD9-81ED-4DB2-BD59-A6C34878D82A}">
                    <a16:rowId xmlns:a16="http://schemas.microsoft.com/office/drawing/2014/main" val="10004"/>
                  </a:ext>
                </a:extLst>
              </a:tr>
              <a:tr h="283464">
                <a:tc>
                  <a:txBody>
                    <a:bodyPr/>
                    <a:lstStyle/>
                    <a:p>
                      <a:pPr algn="l"/>
                      <a:r>
                        <a:rPr sz="1200" b="0">
                          <a:solidFill>
                            <a:srgbClr val="22223B"/>
                          </a:solidFill>
                          <a:latin typeface="Arial"/>
                        </a:rPr>
                        <a:t>28–36</a:t>
                      </a:r>
                    </a:p>
                  </a:txBody>
                  <a:tcPr marL="82296" marR="82296" marT="36576" marB="36576" anchor="ctr">
                    <a:solidFill>
                      <a:srgbClr val="F3F4FA"/>
                    </a:solidFill>
                  </a:tcPr>
                </a:tc>
                <a:tc>
                  <a:txBody>
                    <a:bodyPr/>
                    <a:lstStyle/>
                    <a:p>
                      <a:pPr algn="l"/>
                      <a:r>
                        <a:rPr sz="1200" b="0">
                          <a:solidFill>
                            <a:srgbClr val="22223B"/>
                          </a:solidFill>
                          <a:latin typeface="Arial"/>
                        </a:rPr>
                        <a:t>2. Opportunity Scoring</a:t>
                      </a:r>
                    </a:p>
                  </a:txBody>
                  <a:tcPr marL="82296" marR="82296" marT="36576" marB="36576" anchor="ctr">
                    <a:solidFill>
                      <a:srgbClr val="F3F4FA"/>
                    </a:solidFill>
                  </a:tcPr>
                </a:tc>
                <a:tc>
                  <a:txBody>
                    <a:bodyPr/>
                    <a:lstStyle/>
                    <a:p>
                      <a:pPr algn="l"/>
                      <a:r>
                        <a:rPr sz="1200" b="0">
                          <a:solidFill>
                            <a:srgbClr val="22223B"/>
                          </a:solidFill>
                          <a:latin typeface="Arial"/>
                        </a:rPr>
                        <a:t>Talk</a:t>
                      </a:r>
                    </a:p>
                  </a:txBody>
                  <a:tcPr marL="82296" marR="82296" marT="36576" marB="36576" anchor="ctr">
                    <a:solidFill>
                      <a:srgbClr val="F3F4FA"/>
                    </a:solidFill>
                  </a:tcPr>
                </a:tc>
                <a:extLst>
                  <a:ext uri="{0D108BD9-81ED-4DB2-BD59-A6C34878D82A}">
                    <a16:rowId xmlns:a16="http://schemas.microsoft.com/office/drawing/2014/main" val="10005"/>
                  </a:ext>
                </a:extLst>
              </a:tr>
              <a:tr h="283464">
                <a:tc>
                  <a:txBody>
                    <a:bodyPr/>
                    <a:lstStyle/>
                    <a:p>
                      <a:pPr algn="l"/>
                      <a:r>
                        <a:rPr sz="1200" b="0">
                          <a:solidFill>
                            <a:srgbClr val="22223B"/>
                          </a:solidFill>
                          <a:latin typeface="Arial"/>
                        </a:rPr>
                        <a:t>36–45</a:t>
                      </a:r>
                    </a:p>
                  </a:txBody>
                  <a:tcPr marL="82296" marR="82296" marT="36576" marB="36576" anchor="ctr">
                    <a:solidFill>
                      <a:srgbClr val="FFFFFF"/>
                    </a:solidFill>
                  </a:tcPr>
                </a:tc>
                <a:tc>
                  <a:txBody>
                    <a:bodyPr/>
                    <a:lstStyle/>
                    <a:p>
                      <a:pPr algn="l"/>
                      <a:r>
                        <a:rPr sz="1200" b="0">
                          <a:solidFill>
                            <a:srgbClr val="22223B"/>
                          </a:solidFill>
                          <a:latin typeface="Arial"/>
                        </a:rPr>
                        <a:t>3. Cost of Delay</a:t>
                      </a:r>
                    </a:p>
                  </a:txBody>
                  <a:tcPr marL="82296" marR="82296" marT="36576" marB="36576" anchor="ctr">
                    <a:solidFill>
                      <a:srgbClr val="FFFFFF"/>
                    </a:solidFill>
                  </a:tcPr>
                </a:tc>
                <a:tc>
                  <a:txBody>
                    <a:bodyPr/>
                    <a:lstStyle/>
                    <a:p>
                      <a:pPr algn="l"/>
                      <a:r>
                        <a:rPr sz="1200" b="0">
                          <a:solidFill>
                            <a:srgbClr val="22223B"/>
                          </a:solidFill>
                          <a:latin typeface="Arial"/>
                        </a:rPr>
                        <a:t>Talk</a:t>
                      </a:r>
                    </a:p>
                  </a:txBody>
                  <a:tcPr marL="82296" marR="82296" marT="36576" marB="36576" anchor="ctr">
                    <a:solidFill>
                      <a:srgbClr val="FFFFFF"/>
                    </a:solidFill>
                  </a:tcPr>
                </a:tc>
                <a:extLst>
                  <a:ext uri="{0D108BD9-81ED-4DB2-BD59-A6C34878D82A}">
                    <a16:rowId xmlns:a16="http://schemas.microsoft.com/office/drawing/2014/main" val="10006"/>
                  </a:ext>
                </a:extLst>
              </a:tr>
              <a:tr h="283464">
                <a:tc>
                  <a:txBody>
                    <a:bodyPr/>
                    <a:lstStyle/>
                    <a:p>
                      <a:pPr algn="l"/>
                      <a:r>
                        <a:rPr sz="1200" b="0">
                          <a:solidFill>
                            <a:srgbClr val="22223B"/>
                          </a:solidFill>
                          <a:latin typeface="Arial"/>
                        </a:rPr>
                        <a:t>45–53</a:t>
                      </a:r>
                    </a:p>
                  </a:txBody>
                  <a:tcPr marL="82296" marR="82296" marT="36576" marB="36576" anchor="ctr">
                    <a:solidFill>
                      <a:srgbClr val="F3F4FA"/>
                    </a:solidFill>
                  </a:tcPr>
                </a:tc>
                <a:tc>
                  <a:txBody>
                    <a:bodyPr/>
                    <a:lstStyle/>
                    <a:p>
                      <a:pPr algn="l"/>
                      <a:r>
                        <a:rPr sz="1200" b="1">
                          <a:solidFill>
                            <a:srgbClr val="22223B"/>
                          </a:solidFill>
                          <a:latin typeface="Arial"/>
                        </a:rPr>
                        <a:t>You put four features in order</a:t>
                      </a:r>
                    </a:p>
                  </a:txBody>
                  <a:tcPr marL="82296" marR="82296" marT="36576" marB="36576" anchor="ctr">
                    <a:solidFill>
                      <a:srgbClr val="F3F4FA"/>
                    </a:solidFill>
                  </a:tcPr>
                </a:tc>
                <a:tc>
                  <a:txBody>
                    <a:bodyPr/>
                    <a:lstStyle/>
                    <a:p>
                      <a:pPr algn="l"/>
                      <a:r>
                        <a:rPr sz="1200" b="0">
                          <a:solidFill>
                            <a:srgbClr val="E31C24"/>
                          </a:solidFill>
                          <a:latin typeface="Arial"/>
                        </a:rPr>
                        <a:t>Group work</a:t>
                      </a:r>
                    </a:p>
                  </a:txBody>
                  <a:tcPr marL="82296" marR="82296" marT="36576" marB="36576" anchor="ctr">
                    <a:solidFill>
                      <a:srgbClr val="F3F4FA"/>
                    </a:solidFill>
                  </a:tcPr>
                </a:tc>
                <a:extLst>
                  <a:ext uri="{0D108BD9-81ED-4DB2-BD59-A6C34878D82A}">
                    <a16:rowId xmlns:a16="http://schemas.microsoft.com/office/drawing/2014/main" val="10007"/>
                  </a:ext>
                </a:extLst>
              </a:tr>
              <a:tr h="283464">
                <a:tc>
                  <a:txBody>
                    <a:bodyPr/>
                    <a:lstStyle/>
                    <a:p>
                      <a:pPr algn="l"/>
                      <a:r>
                        <a:rPr sz="1200" b="0">
                          <a:solidFill>
                            <a:srgbClr val="22223B"/>
                          </a:solidFill>
                          <a:latin typeface="Arial"/>
                        </a:rPr>
                        <a:t>53–56</a:t>
                      </a:r>
                    </a:p>
                  </a:txBody>
                  <a:tcPr marL="82296" marR="82296" marT="36576" marB="36576" anchor="ctr">
                    <a:solidFill>
                      <a:srgbClr val="FFFFFF"/>
                    </a:solidFill>
                  </a:tcPr>
                </a:tc>
                <a:tc>
                  <a:txBody>
                    <a:bodyPr/>
                    <a:lstStyle/>
                    <a:p>
                      <a:pPr algn="l"/>
                      <a:r>
                        <a:rPr sz="1200" b="1">
                          <a:solidFill>
                            <a:srgbClr val="22223B"/>
                          </a:solidFill>
                          <a:latin typeface="Arial"/>
                        </a:rPr>
                        <a:t>Quiz 2</a:t>
                      </a:r>
                    </a:p>
                  </a:txBody>
                  <a:tcPr marL="82296" marR="82296" marT="36576" marB="36576" anchor="ctr">
                    <a:solidFill>
                      <a:srgbClr val="FFFFFF"/>
                    </a:solidFill>
                  </a:tcPr>
                </a:tc>
                <a:tc>
                  <a:txBody>
                    <a:bodyPr/>
                    <a:lstStyle/>
                    <a:p>
                      <a:pPr algn="l"/>
                      <a:r>
                        <a:rPr sz="1200" b="0">
                          <a:solidFill>
                            <a:srgbClr val="E31C24"/>
                          </a:solidFill>
                          <a:latin typeface="Arial"/>
                        </a:rPr>
                        <a:t>Quiz</a:t>
                      </a:r>
                    </a:p>
                  </a:txBody>
                  <a:tcPr marL="82296" marR="82296" marT="36576" marB="36576" anchor="ctr">
                    <a:solidFill>
                      <a:srgbClr val="FFFFFF"/>
                    </a:solidFill>
                  </a:tcPr>
                </a:tc>
                <a:extLst>
                  <a:ext uri="{0D108BD9-81ED-4DB2-BD59-A6C34878D82A}">
                    <a16:rowId xmlns:a16="http://schemas.microsoft.com/office/drawing/2014/main" val="10008"/>
                  </a:ext>
                </a:extLst>
              </a:tr>
              <a:tr h="283464">
                <a:tc>
                  <a:txBody>
                    <a:bodyPr/>
                    <a:lstStyle/>
                    <a:p>
                      <a:pPr algn="l"/>
                      <a:r>
                        <a:rPr sz="1200" b="0">
                          <a:solidFill>
                            <a:srgbClr val="22223B"/>
                          </a:solidFill>
                          <a:latin typeface="Arial"/>
                        </a:rPr>
                        <a:t>56–62</a:t>
                      </a:r>
                    </a:p>
                  </a:txBody>
                  <a:tcPr marL="82296" marR="82296" marT="36576" marB="36576" anchor="ctr">
                    <a:solidFill>
                      <a:srgbClr val="F3F4FA"/>
                    </a:solidFill>
                  </a:tcPr>
                </a:tc>
                <a:tc>
                  <a:txBody>
                    <a:bodyPr/>
                    <a:lstStyle/>
                    <a:p>
                      <a:pPr algn="l"/>
                      <a:r>
                        <a:rPr sz="1200" b="0">
                          <a:solidFill>
                            <a:srgbClr val="22223B"/>
                          </a:solidFill>
                          <a:latin typeface="Arial"/>
                        </a:rPr>
                        <a:t>4. Backlog and Roadmap</a:t>
                      </a:r>
                    </a:p>
                  </a:txBody>
                  <a:tcPr marL="82296" marR="82296" marT="36576" marB="36576" anchor="ctr">
                    <a:solidFill>
                      <a:srgbClr val="F3F4FA"/>
                    </a:solidFill>
                  </a:tcPr>
                </a:tc>
                <a:tc>
                  <a:txBody>
                    <a:bodyPr/>
                    <a:lstStyle/>
                    <a:p>
                      <a:pPr algn="l"/>
                      <a:r>
                        <a:rPr sz="1200" b="0">
                          <a:solidFill>
                            <a:srgbClr val="22223B"/>
                          </a:solidFill>
                          <a:latin typeface="Arial"/>
                        </a:rPr>
                        <a:t>Talk</a:t>
                      </a:r>
                    </a:p>
                  </a:txBody>
                  <a:tcPr marL="82296" marR="82296" marT="36576" marB="36576" anchor="ctr">
                    <a:solidFill>
                      <a:srgbClr val="F3F4FA"/>
                    </a:solidFill>
                  </a:tcPr>
                </a:tc>
                <a:extLst>
                  <a:ext uri="{0D108BD9-81ED-4DB2-BD59-A6C34878D82A}">
                    <a16:rowId xmlns:a16="http://schemas.microsoft.com/office/drawing/2014/main" val="10009"/>
                  </a:ext>
                </a:extLst>
              </a:tr>
              <a:tr h="283464">
                <a:tc>
                  <a:txBody>
                    <a:bodyPr/>
                    <a:lstStyle/>
                    <a:p>
                      <a:pPr algn="l"/>
                      <a:r>
                        <a:rPr sz="1200" b="0">
                          <a:solidFill>
                            <a:srgbClr val="22223B"/>
                          </a:solidFill>
                          <a:latin typeface="Arial"/>
                        </a:rPr>
                        <a:t>62–67</a:t>
                      </a:r>
                    </a:p>
                  </a:txBody>
                  <a:tcPr marL="82296" marR="82296" marT="36576" marB="36576" anchor="ctr">
                    <a:solidFill>
                      <a:srgbClr val="FFFFFF"/>
                    </a:solidFill>
                  </a:tcPr>
                </a:tc>
                <a:tc>
                  <a:txBody>
                    <a:bodyPr/>
                    <a:lstStyle/>
                    <a:p>
                      <a:pPr algn="l"/>
                      <a:r>
                        <a:rPr sz="1200" b="0">
                          <a:solidFill>
                            <a:srgbClr val="22223B"/>
                          </a:solidFill>
                          <a:latin typeface="Arial"/>
                        </a:rPr>
                        <a:t>5. Requirements</a:t>
                      </a:r>
                    </a:p>
                  </a:txBody>
                  <a:tcPr marL="82296" marR="82296" marT="36576" marB="36576" anchor="ctr">
                    <a:solidFill>
                      <a:srgbClr val="FFFFFF"/>
                    </a:solidFill>
                  </a:tcPr>
                </a:tc>
                <a:tc>
                  <a:txBody>
                    <a:bodyPr/>
                    <a:lstStyle/>
                    <a:p>
                      <a:pPr algn="l"/>
                      <a:r>
                        <a:rPr sz="1200" b="0">
                          <a:solidFill>
                            <a:srgbClr val="22223B"/>
                          </a:solidFill>
                          <a:latin typeface="Arial"/>
                        </a:rPr>
                        <a:t>Talk</a:t>
                      </a:r>
                    </a:p>
                  </a:txBody>
                  <a:tcPr marL="82296" marR="82296" marT="36576" marB="36576" anchor="ctr">
                    <a:solidFill>
                      <a:srgbClr val="FFFFFF"/>
                    </a:solidFill>
                  </a:tcPr>
                </a:tc>
                <a:extLst>
                  <a:ext uri="{0D108BD9-81ED-4DB2-BD59-A6C34878D82A}">
                    <a16:rowId xmlns:a16="http://schemas.microsoft.com/office/drawing/2014/main" val="10010"/>
                  </a:ext>
                </a:extLst>
              </a:tr>
              <a:tr h="283464">
                <a:tc>
                  <a:txBody>
                    <a:bodyPr/>
                    <a:lstStyle/>
                    <a:p>
                      <a:pPr algn="l"/>
                      <a:r>
                        <a:rPr sz="1200" b="0">
                          <a:solidFill>
                            <a:srgbClr val="22223B"/>
                          </a:solidFill>
                          <a:latin typeface="Arial"/>
                        </a:rPr>
                        <a:t>67–72</a:t>
                      </a:r>
                    </a:p>
                  </a:txBody>
                  <a:tcPr marL="82296" marR="82296" marT="36576" marB="36576" anchor="ctr">
                    <a:solidFill>
                      <a:srgbClr val="F3F4FA"/>
                    </a:solidFill>
                  </a:tcPr>
                </a:tc>
                <a:tc>
                  <a:txBody>
                    <a:bodyPr/>
                    <a:lstStyle/>
                    <a:p>
                      <a:pPr algn="l"/>
                      <a:r>
                        <a:rPr sz="1200" b="0">
                          <a:solidFill>
                            <a:srgbClr val="22223B"/>
                          </a:solidFill>
                          <a:latin typeface="Arial"/>
                        </a:rPr>
                        <a:t>6. MoSCoW</a:t>
                      </a:r>
                    </a:p>
                  </a:txBody>
                  <a:tcPr marL="82296" marR="82296" marT="36576" marB="36576" anchor="ctr">
                    <a:solidFill>
                      <a:srgbClr val="F3F4FA"/>
                    </a:solidFill>
                  </a:tcPr>
                </a:tc>
                <a:tc>
                  <a:txBody>
                    <a:bodyPr/>
                    <a:lstStyle/>
                    <a:p>
                      <a:pPr algn="l"/>
                      <a:r>
                        <a:rPr sz="1200" b="0">
                          <a:solidFill>
                            <a:srgbClr val="22223B"/>
                          </a:solidFill>
                          <a:latin typeface="Arial"/>
                        </a:rPr>
                        <a:t>Talk</a:t>
                      </a:r>
                    </a:p>
                  </a:txBody>
                  <a:tcPr marL="82296" marR="82296" marT="36576" marB="36576" anchor="ctr">
                    <a:solidFill>
                      <a:srgbClr val="F3F4FA"/>
                    </a:solidFill>
                  </a:tcPr>
                </a:tc>
                <a:extLst>
                  <a:ext uri="{0D108BD9-81ED-4DB2-BD59-A6C34878D82A}">
                    <a16:rowId xmlns:a16="http://schemas.microsoft.com/office/drawing/2014/main" val="10011"/>
                  </a:ext>
                </a:extLst>
              </a:tr>
              <a:tr h="283464">
                <a:tc>
                  <a:txBody>
                    <a:bodyPr/>
                    <a:lstStyle/>
                    <a:p>
                      <a:pPr algn="l"/>
                      <a:r>
                        <a:rPr sz="1200" b="0">
                          <a:solidFill>
                            <a:srgbClr val="22223B"/>
                          </a:solidFill>
                          <a:latin typeface="Arial"/>
                        </a:rPr>
                        <a:t>72–76</a:t>
                      </a:r>
                    </a:p>
                  </a:txBody>
                  <a:tcPr marL="82296" marR="82296" marT="36576" marB="36576" anchor="ctr">
                    <a:solidFill>
                      <a:srgbClr val="FFFFFF"/>
                    </a:solidFill>
                  </a:tcPr>
                </a:tc>
                <a:tc>
                  <a:txBody>
                    <a:bodyPr/>
                    <a:lstStyle/>
                    <a:p>
                      <a:pPr algn="l"/>
                      <a:r>
                        <a:rPr sz="1200" b="0">
                          <a:solidFill>
                            <a:srgbClr val="22223B"/>
                          </a:solidFill>
                          <a:latin typeface="Arial"/>
                        </a:rPr>
                        <a:t>7. Product Tree</a:t>
                      </a:r>
                    </a:p>
                  </a:txBody>
                  <a:tcPr marL="82296" marR="82296" marT="36576" marB="36576" anchor="ctr">
                    <a:solidFill>
                      <a:srgbClr val="FFFFFF"/>
                    </a:solidFill>
                  </a:tcPr>
                </a:tc>
                <a:tc>
                  <a:txBody>
                    <a:bodyPr/>
                    <a:lstStyle/>
                    <a:p>
                      <a:pPr algn="l"/>
                      <a:r>
                        <a:rPr sz="1200" b="0">
                          <a:solidFill>
                            <a:srgbClr val="22223B"/>
                          </a:solidFill>
                          <a:latin typeface="Arial"/>
                        </a:rPr>
                        <a:t>Talk</a:t>
                      </a:r>
                    </a:p>
                  </a:txBody>
                  <a:tcPr marL="82296" marR="82296" marT="36576" marB="36576" anchor="ctr">
                    <a:solidFill>
                      <a:srgbClr val="FFFFFF"/>
                    </a:solidFill>
                  </a:tcPr>
                </a:tc>
                <a:extLst>
                  <a:ext uri="{0D108BD9-81ED-4DB2-BD59-A6C34878D82A}">
                    <a16:rowId xmlns:a16="http://schemas.microsoft.com/office/drawing/2014/main" val="10012"/>
                  </a:ext>
                </a:extLst>
              </a:tr>
              <a:tr h="283464">
                <a:tc>
                  <a:txBody>
                    <a:bodyPr/>
                    <a:lstStyle/>
                    <a:p>
                      <a:pPr algn="l"/>
                      <a:r>
                        <a:rPr sz="1200" b="0">
                          <a:solidFill>
                            <a:srgbClr val="22223B"/>
                          </a:solidFill>
                          <a:latin typeface="Arial"/>
                        </a:rPr>
                        <a:t>76–80</a:t>
                      </a:r>
                    </a:p>
                  </a:txBody>
                  <a:tcPr marL="82296" marR="82296" marT="36576" marB="36576" anchor="ctr">
                    <a:solidFill>
                      <a:srgbClr val="F3F4FA"/>
                    </a:solidFill>
                  </a:tcPr>
                </a:tc>
                <a:tc>
                  <a:txBody>
                    <a:bodyPr/>
                    <a:lstStyle/>
                    <a:p>
                      <a:pPr algn="l"/>
                      <a:r>
                        <a:rPr sz="1200" b="0">
                          <a:solidFill>
                            <a:srgbClr val="22223B"/>
                          </a:solidFill>
                          <a:latin typeface="Arial"/>
                        </a:rPr>
                        <a:t>8. Buy a Feature</a:t>
                      </a:r>
                    </a:p>
                  </a:txBody>
                  <a:tcPr marL="82296" marR="82296" marT="36576" marB="36576" anchor="ctr">
                    <a:solidFill>
                      <a:srgbClr val="F3F4FA"/>
                    </a:solidFill>
                  </a:tcPr>
                </a:tc>
                <a:tc>
                  <a:txBody>
                    <a:bodyPr/>
                    <a:lstStyle/>
                    <a:p>
                      <a:pPr algn="l"/>
                      <a:r>
                        <a:rPr sz="1200" b="0">
                          <a:solidFill>
                            <a:srgbClr val="22223B"/>
                          </a:solidFill>
                          <a:latin typeface="Arial"/>
                        </a:rPr>
                        <a:t>Talk</a:t>
                      </a:r>
                    </a:p>
                  </a:txBody>
                  <a:tcPr marL="82296" marR="82296" marT="36576" marB="36576" anchor="ctr">
                    <a:solidFill>
                      <a:srgbClr val="F3F4FA"/>
                    </a:solidFill>
                  </a:tcPr>
                </a:tc>
                <a:extLst>
                  <a:ext uri="{0D108BD9-81ED-4DB2-BD59-A6C34878D82A}">
                    <a16:rowId xmlns:a16="http://schemas.microsoft.com/office/drawing/2014/main" val="10013"/>
                  </a:ext>
                </a:extLst>
              </a:tr>
              <a:tr h="283464">
                <a:tc>
                  <a:txBody>
                    <a:bodyPr/>
                    <a:lstStyle/>
                    <a:p>
                      <a:pPr algn="l"/>
                      <a:r>
                        <a:rPr sz="1200" b="0">
                          <a:solidFill>
                            <a:srgbClr val="22223B"/>
                          </a:solidFill>
                          <a:latin typeface="Arial"/>
                        </a:rPr>
                        <a:t>80–85</a:t>
                      </a:r>
                    </a:p>
                  </a:txBody>
                  <a:tcPr marL="82296" marR="82296" marT="36576" marB="36576" anchor="ctr">
                    <a:solidFill>
                      <a:srgbClr val="FFFFFF"/>
                    </a:solidFill>
                  </a:tcPr>
                </a:tc>
                <a:tc>
                  <a:txBody>
                    <a:bodyPr/>
                    <a:lstStyle/>
                    <a:p>
                      <a:pPr algn="l"/>
                      <a:r>
                        <a:rPr sz="1200" b="0">
                          <a:solidFill>
                            <a:srgbClr val="22223B"/>
                          </a:solidFill>
                          <a:latin typeface="Arial"/>
                        </a:rPr>
                        <a:t>9. Putting it all together</a:t>
                      </a:r>
                    </a:p>
                  </a:txBody>
                  <a:tcPr marL="82296" marR="82296" marT="36576" marB="36576" anchor="ctr">
                    <a:solidFill>
                      <a:srgbClr val="FFFFFF"/>
                    </a:solidFill>
                  </a:tcPr>
                </a:tc>
                <a:tc>
                  <a:txBody>
                    <a:bodyPr/>
                    <a:lstStyle/>
                    <a:p>
                      <a:pPr algn="l"/>
                      <a:r>
                        <a:rPr sz="1200" b="0">
                          <a:solidFill>
                            <a:srgbClr val="22223B"/>
                          </a:solidFill>
                          <a:latin typeface="Arial"/>
                        </a:rPr>
                        <a:t>Talk</a:t>
                      </a:r>
                    </a:p>
                  </a:txBody>
                  <a:tcPr marL="82296" marR="82296" marT="36576" marB="36576" anchor="ctr">
                    <a:solidFill>
                      <a:srgbClr val="FFFFFF"/>
                    </a:solidFill>
                  </a:tcPr>
                </a:tc>
                <a:extLst>
                  <a:ext uri="{0D108BD9-81ED-4DB2-BD59-A6C34878D82A}">
                    <a16:rowId xmlns:a16="http://schemas.microsoft.com/office/drawing/2014/main" val="10014"/>
                  </a:ext>
                </a:extLst>
              </a:tr>
              <a:tr h="283464">
                <a:tc>
                  <a:txBody>
                    <a:bodyPr/>
                    <a:lstStyle/>
                    <a:p>
                      <a:pPr algn="l"/>
                      <a:r>
                        <a:rPr sz="1200" b="0">
                          <a:solidFill>
                            <a:srgbClr val="22223B"/>
                          </a:solidFill>
                          <a:latin typeface="Arial"/>
                        </a:rPr>
                        <a:t>85–90</a:t>
                      </a:r>
                    </a:p>
                  </a:txBody>
                  <a:tcPr marL="82296" marR="82296" marT="36576" marB="36576" anchor="ctr">
                    <a:solidFill>
                      <a:srgbClr val="F3F4FA"/>
                    </a:solidFill>
                  </a:tcPr>
                </a:tc>
                <a:tc>
                  <a:txBody>
                    <a:bodyPr/>
                    <a:lstStyle/>
                    <a:p>
                      <a:pPr algn="l"/>
                      <a:r>
                        <a:rPr sz="1200" b="1">
                          <a:solidFill>
                            <a:srgbClr val="22223B"/>
                          </a:solidFill>
                          <a:latin typeface="Arial"/>
                        </a:rPr>
                        <a:t>Quiz 3, takeaways, assignment</a:t>
                      </a:r>
                    </a:p>
                  </a:txBody>
                  <a:tcPr marL="82296" marR="82296" marT="36576" marB="36576" anchor="ctr">
                    <a:solidFill>
                      <a:srgbClr val="F3F4FA"/>
                    </a:solidFill>
                  </a:tcPr>
                </a:tc>
                <a:tc>
                  <a:txBody>
                    <a:bodyPr/>
                    <a:lstStyle/>
                    <a:p>
                      <a:pPr algn="l"/>
                      <a:r>
                        <a:rPr sz="1200" b="0">
                          <a:solidFill>
                            <a:srgbClr val="E31C24"/>
                          </a:solidFill>
                          <a:latin typeface="Arial"/>
                        </a:rPr>
                        <a:t>Wrap-up</a:t>
                      </a:r>
                    </a:p>
                  </a:txBody>
                  <a:tcPr marL="82296" marR="82296" marT="36576" marB="36576" anchor="ctr">
                    <a:solidFill>
                      <a:srgbClr val="F3F4FA"/>
                    </a:solidFill>
                  </a:tcPr>
                </a:tc>
                <a:extLst>
                  <a:ext uri="{0D108BD9-81ED-4DB2-BD59-A6C34878D82A}">
                    <a16:rowId xmlns:a16="http://schemas.microsoft.com/office/drawing/2014/main" val="10015"/>
                  </a:ext>
                </a:extLst>
              </a:tr>
            </a:tbl>
          </a:graphicData>
        </a:graphic>
      </p:graphicFrame>
      <p:sp>
        <p:nvSpPr>
          <p:cNvPr id="5" name="TextBox 4"/>
          <p:cNvSpPr txBox="1"/>
          <p:nvPr/>
        </p:nvSpPr>
        <p:spPr>
          <a:xfrm>
            <a:off x="640080" y="6099048"/>
            <a:ext cx="10908792" cy="292608"/>
          </a:xfrm>
          <a:prstGeom prst="rect">
            <a:avLst/>
          </a:prstGeom>
          <a:noFill/>
        </p:spPr>
        <p:txBody>
          <a:bodyPr wrap="square" lIns="0" tIns="0" rIns="0" bIns="0" anchor="t">
            <a:spAutoFit/>
          </a:bodyPr>
          <a:lstStyle/>
          <a:p>
            <a:pPr algn="l"/>
            <a:r>
              <a:rPr sz="1300" b="1" i="0">
                <a:solidFill>
                  <a:srgbClr val="211D71"/>
                </a:solidFill>
                <a:latin typeface="Arial"/>
              </a:rPr>
              <a:t>One example runs through everything:  CampusPay, a payment app for a college campus.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19" y="1828800"/>
            <a:ext cx="2194560" cy="1371600"/>
          </a:xfrm>
          <a:prstGeom prst="rect">
            <a:avLst/>
          </a:prstGeom>
          <a:noFill/>
        </p:spPr>
        <p:txBody>
          <a:bodyPr wrap="square" lIns="0" tIns="0" rIns="0" bIns="0" anchor="t">
            <a:spAutoFit/>
          </a:bodyPr>
          <a:lstStyle/>
          <a:p>
            <a:pPr algn="l"/>
            <a:r>
              <a:rPr sz="7600" b="1" i="0">
                <a:solidFill>
                  <a:srgbClr val="B4B8DA"/>
                </a:solidFill>
                <a:latin typeface="Arial"/>
              </a:rPr>
              <a:t>01</a:t>
            </a:r>
          </a:p>
        </p:txBody>
      </p:sp>
      <p:sp>
        <p:nvSpPr>
          <p:cNvPr id="3" name="TextBox 2"/>
          <p:cNvSpPr txBox="1"/>
          <p:nvPr/>
        </p:nvSpPr>
        <p:spPr>
          <a:xfrm>
            <a:off x="731519" y="3017520"/>
            <a:ext cx="10058400" cy="868680"/>
          </a:xfrm>
          <a:prstGeom prst="rect">
            <a:avLst/>
          </a:prstGeom>
          <a:noFill/>
        </p:spPr>
        <p:txBody>
          <a:bodyPr wrap="square" lIns="0" tIns="0" rIns="0" bIns="0" anchor="t">
            <a:spAutoFit/>
          </a:bodyPr>
          <a:lstStyle/>
          <a:p>
            <a:pPr algn="l"/>
            <a:r>
              <a:rPr sz="3600" b="1" i="0">
                <a:solidFill>
                  <a:srgbClr val="211D71"/>
                </a:solidFill>
                <a:latin typeface="Arial"/>
              </a:rPr>
              <a:t>Story Mapping</a:t>
            </a:r>
          </a:p>
        </p:txBody>
      </p:sp>
      <p:sp>
        <p:nvSpPr>
          <p:cNvPr id="4" name="Rectangle 3"/>
          <p:cNvSpPr/>
          <p:nvPr/>
        </p:nvSpPr>
        <p:spPr>
          <a:xfrm>
            <a:off x="777240" y="3977639"/>
            <a:ext cx="914400" cy="50292"/>
          </a:xfrm>
          <a:prstGeom prst="rect">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691639" y="3977639"/>
            <a:ext cx="914400" cy="50292"/>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606039" y="3977639"/>
            <a:ext cx="914400" cy="50292"/>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19" y="4187952"/>
            <a:ext cx="10058400" cy="457200"/>
          </a:xfrm>
          <a:prstGeom prst="rect">
            <a:avLst/>
          </a:prstGeom>
          <a:noFill/>
        </p:spPr>
        <p:txBody>
          <a:bodyPr wrap="square" lIns="0" tIns="0" rIns="0" bIns="0" anchor="t">
            <a:spAutoFit/>
          </a:bodyPr>
          <a:lstStyle/>
          <a:p>
            <a:pPr algn="l"/>
            <a:r>
              <a:rPr sz="1400" b="0" i="0">
                <a:solidFill>
                  <a:srgbClr val="5F6178"/>
                </a:solidFill>
                <a:latin typeface="Arial"/>
              </a:rPr>
              <a:t>Seeing the whole product on one wall   ·   04–15 min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74320"/>
            <a:ext cx="10908792" cy="237744"/>
          </a:xfrm>
          <a:prstGeom prst="rect">
            <a:avLst/>
          </a:prstGeom>
          <a:noFill/>
        </p:spPr>
        <p:txBody>
          <a:bodyPr wrap="square" lIns="0" tIns="0" rIns="0" bIns="0" anchor="t">
            <a:spAutoFit/>
          </a:bodyPr>
          <a:lstStyle/>
          <a:p>
            <a:pPr algn="l"/>
            <a:r>
              <a:rPr sz="1000" b="1" i="0" spc="140">
                <a:solidFill>
                  <a:srgbClr val="A9740A"/>
                </a:solidFill>
                <a:latin typeface="Arial"/>
              </a:rPr>
              <a:t>STORY MAPPING</a:t>
            </a:r>
          </a:p>
        </p:txBody>
      </p:sp>
      <p:sp>
        <p:nvSpPr>
          <p:cNvPr id="3" name="TextBox 2"/>
          <p:cNvSpPr txBox="1"/>
          <p:nvPr/>
        </p:nvSpPr>
        <p:spPr>
          <a:xfrm>
            <a:off x="640080" y="548640"/>
            <a:ext cx="8229600" cy="640080"/>
          </a:xfrm>
          <a:prstGeom prst="rect">
            <a:avLst/>
          </a:prstGeom>
          <a:noFill/>
        </p:spPr>
        <p:txBody>
          <a:bodyPr wrap="square" lIns="0" tIns="0" rIns="0" bIns="0" anchor="t">
            <a:spAutoFit/>
          </a:bodyPr>
          <a:lstStyle/>
          <a:p>
            <a:pPr algn="l"/>
            <a:r>
              <a:rPr sz="2400" b="1" i="0">
                <a:solidFill>
                  <a:srgbClr val="211D71"/>
                </a:solidFill>
                <a:latin typeface="Arial"/>
              </a:rPr>
              <a:t>A long list hides the story</a:t>
            </a:r>
          </a:p>
        </p:txBody>
      </p:sp>
      <p:sp>
        <p:nvSpPr>
          <p:cNvPr id="4" name="Rounded Rectangle 3"/>
          <p:cNvSpPr/>
          <p:nvPr/>
        </p:nvSpPr>
        <p:spPr>
          <a:xfrm>
            <a:off x="640080" y="1664207"/>
            <a:ext cx="4937760" cy="3291840"/>
          </a:xfrm>
          <a:prstGeom prst="roundRect">
            <a:avLst>
              <a:gd name="adj" fmla="val 5500"/>
            </a:avLst>
          </a:prstGeom>
          <a:solidFill>
            <a:srgbClr val="FBE9E9"/>
          </a:solidFill>
          <a:ln w="15875">
            <a:solidFill>
              <a:srgbClr val="E31C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847088"/>
            <a:ext cx="4389120" cy="310896"/>
          </a:xfrm>
          <a:prstGeom prst="rect">
            <a:avLst/>
          </a:prstGeom>
          <a:noFill/>
        </p:spPr>
        <p:txBody>
          <a:bodyPr wrap="square" lIns="0" tIns="0" rIns="0" bIns="0" anchor="t">
            <a:spAutoFit/>
          </a:bodyPr>
          <a:lstStyle/>
          <a:p>
            <a:pPr algn="l"/>
            <a:r>
              <a:rPr sz="1600" b="1" i="0">
                <a:solidFill>
                  <a:srgbClr val="E31C24"/>
                </a:solidFill>
                <a:latin typeface="Arial"/>
              </a:rPr>
              <a:t>✗   A backlog as a list</a:t>
            </a:r>
          </a:p>
        </p:txBody>
      </p:sp>
      <p:sp>
        <p:nvSpPr>
          <p:cNvPr id="6" name="Rounded Rectangle 5"/>
          <p:cNvSpPr/>
          <p:nvPr/>
        </p:nvSpPr>
        <p:spPr>
          <a:xfrm>
            <a:off x="914400" y="2304288"/>
            <a:ext cx="4389120" cy="256032"/>
          </a:xfrm>
          <a:prstGeom prst="roundRect">
            <a:avLst>
              <a:gd name="adj" fmla="val 5500"/>
            </a:avLst>
          </a:prstGeom>
          <a:solidFill>
            <a:srgbClr val="FFFFFF"/>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2304288"/>
            <a:ext cx="4114800" cy="256032"/>
          </a:xfrm>
          <a:prstGeom prst="rect">
            <a:avLst/>
          </a:prstGeom>
          <a:noFill/>
        </p:spPr>
        <p:txBody>
          <a:bodyPr wrap="square" lIns="0" tIns="0" rIns="0" bIns="0" anchor="ctr">
            <a:spAutoFit/>
          </a:bodyPr>
          <a:lstStyle/>
          <a:p>
            <a:pPr algn="l"/>
            <a:r>
              <a:rPr sz="1100" b="0" i="0">
                <a:solidFill>
                  <a:srgbClr val="22223B"/>
                </a:solidFill>
                <a:latin typeface="Arial"/>
              </a:rPr>
              <a:t>Add card payment</a:t>
            </a:r>
          </a:p>
        </p:txBody>
      </p:sp>
      <p:sp>
        <p:nvSpPr>
          <p:cNvPr id="8" name="Rounded Rectangle 7"/>
          <p:cNvSpPr/>
          <p:nvPr/>
        </p:nvSpPr>
        <p:spPr>
          <a:xfrm>
            <a:off x="914400" y="2615184"/>
            <a:ext cx="4389120" cy="256032"/>
          </a:xfrm>
          <a:prstGeom prst="roundRect">
            <a:avLst>
              <a:gd name="adj" fmla="val 5500"/>
            </a:avLst>
          </a:prstGeom>
          <a:solidFill>
            <a:srgbClr val="FFFFFF"/>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2615184"/>
            <a:ext cx="4114800" cy="256032"/>
          </a:xfrm>
          <a:prstGeom prst="rect">
            <a:avLst/>
          </a:prstGeom>
          <a:noFill/>
        </p:spPr>
        <p:txBody>
          <a:bodyPr wrap="square" lIns="0" tIns="0" rIns="0" bIns="0" anchor="ctr">
            <a:spAutoFit/>
          </a:bodyPr>
          <a:lstStyle/>
          <a:p>
            <a:pPr algn="l"/>
            <a:r>
              <a:rPr sz="1100" b="0" i="0">
                <a:solidFill>
                  <a:srgbClr val="22223B"/>
                </a:solidFill>
                <a:latin typeface="Arial"/>
              </a:rPr>
              <a:t>Show balance</a:t>
            </a:r>
          </a:p>
        </p:txBody>
      </p:sp>
      <p:sp>
        <p:nvSpPr>
          <p:cNvPr id="10" name="Rounded Rectangle 9"/>
          <p:cNvSpPr/>
          <p:nvPr/>
        </p:nvSpPr>
        <p:spPr>
          <a:xfrm>
            <a:off x="914400" y="2926080"/>
            <a:ext cx="4389120" cy="256032"/>
          </a:xfrm>
          <a:prstGeom prst="roundRect">
            <a:avLst>
              <a:gd name="adj" fmla="val 5500"/>
            </a:avLst>
          </a:prstGeom>
          <a:solidFill>
            <a:srgbClr val="FFFFFF"/>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51560" y="2926080"/>
            <a:ext cx="4114800" cy="256032"/>
          </a:xfrm>
          <a:prstGeom prst="rect">
            <a:avLst/>
          </a:prstGeom>
          <a:noFill/>
        </p:spPr>
        <p:txBody>
          <a:bodyPr wrap="square" lIns="0" tIns="0" rIns="0" bIns="0" anchor="ctr">
            <a:spAutoFit/>
          </a:bodyPr>
          <a:lstStyle/>
          <a:p>
            <a:pPr algn="l"/>
            <a:r>
              <a:rPr sz="1100" b="0" i="0">
                <a:solidFill>
                  <a:srgbClr val="22223B"/>
                </a:solidFill>
                <a:latin typeface="Arial"/>
              </a:rPr>
              <a:t>Export history</a:t>
            </a:r>
          </a:p>
        </p:txBody>
      </p:sp>
      <p:sp>
        <p:nvSpPr>
          <p:cNvPr id="12" name="Rounded Rectangle 11"/>
          <p:cNvSpPr/>
          <p:nvPr/>
        </p:nvSpPr>
        <p:spPr>
          <a:xfrm>
            <a:off x="914400" y="3236976"/>
            <a:ext cx="4389120" cy="256032"/>
          </a:xfrm>
          <a:prstGeom prst="roundRect">
            <a:avLst>
              <a:gd name="adj" fmla="val 5500"/>
            </a:avLst>
          </a:prstGeom>
          <a:solidFill>
            <a:srgbClr val="FFFFFF"/>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51560" y="3236976"/>
            <a:ext cx="4114800" cy="256032"/>
          </a:xfrm>
          <a:prstGeom prst="rect">
            <a:avLst/>
          </a:prstGeom>
          <a:noFill/>
        </p:spPr>
        <p:txBody>
          <a:bodyPr wrap="square" lIns="0" tIns="0" rIns="0" bIns="0" anchor="ctr">
            <a:spAutoFit/>
          </a:bodyPr>
          <a:lstStyle/>
          <a:p>
            <a:pPr algn="l"/>
            <a:r>
              <a:rPr sz="1100" b="0" i="0">
                <a:solidFill>
                  <a:srgbClr val="22223B"/>
                </a:solidFill>
                <a:latin typeface="Arial"/>
              </a:rPr>
              <a:t>Split a bill</a:t>
            </a:r>
          </a:p>
        </p:txBody>
      </p:sp>
      <p:sp>
        <p:nvSpPr>
          <p:cNvPr id="14" name="Rounded Rectangle 13"/>
          <p:cNvSpPr/>
          <p:nvPr/>
        </p:nvSpPr>
        <p:spPr>
          <a:xfrm>
            <a:off x="914400" y="3547872"/>
            <a:ext cx="4389120" cy="256032"/>
          </a:xfrm>
          <a:prstGeom prst="roundRect">
            <a:avLst>
              <a:gd name="adj" fmla="val 5500"/>
            </a:avLst>
          </a:prstGeom>
          <a:solidFill>
            <a:srgbClr val="FFFFFF"/>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51560" y="3547872"/>
            <a:ext cx="4114800" cy="256032"/>
          </a:xfrm>
          <a:prstGeom prst="rect">
            <a:avLst/>
          </a:prstGeom>
          <a:noFill/>
        </p:spPr>
        <p:txBody>
          <a:bodyPr wrap="square" lIns="0" tIns="0" rIns="0" bIns="0" anchor="ctr">
            <a:spAutoFit/>
          </a:bodyPr>
          <a:lstStyle/>
          <a:p>
            <a:pPr algn="l"/>
            <a:r>
              <a:rPr sz="1100" b="0" i="0">
                <a:solidFill>
                  <a:srgbClr val="22223B"/>
                </a:solidFill>
                <a:latin typeface="Arial"/>
              </a:rPr>
              <a:t>Set a PIN</a:t>
            </a:r>
          </a:p>
        </p:txBody>
      </p:sp>
      <p:sp>
        <p:nvSpPr>
          <p:cNvPr id="16" name="Rounded Rectangle 15"/>
          <p:cNvSpPr/>
          <p:nvPr/>
        </p:nvSpPr>
        <p:spPr>
          <a:xfrm>
            <a:off x="914400" y="3858768"/>
            <a:ext cx="4389120" cy="256032"/>
          </a:xfrm>
          <a:prstGeom prst="roundRect">
            <a:avLst>
              <a:gd name="adj" fmla="val 5500"/>
            </a:avLst>
          </a:prstGeom>
          <a:solidFill>
            <a:srgbClr val="FFFFFF"/>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51560" y="3858768"/>
            <a:ext cx="4114800" cy="256032"/>
          </a:xfrm>
          <a:prstGeom prst="rect">
            <a:avLst/>
          </a:prstGeom>
          <a:noFill/>
        </p:spPr>
        <p:txBody>
          <a:bodyPr wrap="square" lIns="0" tIns="0" rIns="0" bIns="0" anchor="ctr">
            <a:spAutoFit/>
          </a:bodyPr>
          <a:lstStyle/>
          <a:p>
            <a:pPr algn="l"/>
            <a:r>
              <a:rPr sz="1100" b="0" i="0">
                <a:solidFill>
                  <a:srgbClr val="22223B"/>
                </a:solidFill>
                <a:latin typeface="Arial"/>
              </a:rPr>
              <a:t>Scan a QR code</a:t>
            </a:r>
          </a:p>
        </p:txBody>
      </p:sp>
      <p:sp>
        <p:nvSpPr>
          <p:cNvPr id="18" name="Rounded Rectangle 17"/>
          <p:cNvSpPr/>
          <p:nvPr/>
        </p:nvSpPr>
        <p:spPr>
          <a:xfrm>
            <a:off x="914400" y="4169663"/>
            <a:ext cx="4389120" cy="256032"/>
          </a:xfrm>
          <a:prstGeom prst="roundRect">
            <a:avLst>
              <a:gd name="adj" fmla="val 5500"/>
            </a:avLst>
          </a:prstGeom>
          <a:solidFill>
            <a:srgbClr val="FFFFFF"/>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51560" y="4169663"/>
            <a:ext cx="4114800" cy="256032"/>
          </a:xfrm>
          <a:prstGeom prst="rect">
            <a:avLst/>
          </a:prstGeom>
          <a:noFill/>
        </p:spPr>
        <p:txBody>
          <a:bodyPr wrap="square" lIns="0" tIns="0" rIns="0" bIns="0" anchor="ctr">
            <a:spAutoFit/>
          </a:bodyPr>
          <a:lstStyle/>
          <a:p>
            <a:pPr algn="l"/>
            <a:r>
              <a:rPr sz="1100" b="0" i="0">
                <a:solidFill>
                  <a:srgbClr val="22223B"/>
                </a:solidFill>
                <a:latin typeface="Arial"/>
              </a:rPr>
              <a:t>Invite a friend</a:t>
            </a:r>
          </a:p>
        </p:txBody>
      </p:sp>
      <p:sp>
        <p:nvSpPr>
          <p:cNvPr id="20" name="Rounded Rectangle 19"/>
          <p:cNvSpPr/>
          <p:nvPr/>
        </p:nvSpPr>
        <p:spPr>
          <a:xfrm>
            <a:off x="914400" y="4480560"/>
            <a:ext cx="4389120" cy="256032"/>
          </a:xfrm>
          <a:prstGeom prst="roundRect">
            <a:avLst>
              <a:gd name="adj" fmla="val 5500"/>
            </a:avLst>
          </a:prstGeom>
          <a:solidFill>
            <a:srgbClr val="FFFFFF"/>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51560" y="4480560"/>
            <a:ext cx="4114800" cy="256032"/>
          </a:xfrm>
          <a:prstGeom prst="rect">
            <a:avLst/>
          </a:prstGeom>
          <a:noFill/>
        </p:spPr>
        <p:txBody>
          <a:bodyPr wrap="square" lIns="0" tIns="0" rIns="0" bIns="0" anchor="ctr">
            <a:spAutoFit/>
          </a:bodyPr>
          <a:lstStyle/>
          <a:p>
            <a:pPr algn="l"/>
            <a:r>
              <a:rPr sz="1100" b="0" i="0">
                <a:solidFill>
                  <a:srgbClr val="5F6178"/>
                </a:solidFill>
                <a:latin typeface="Arial"/>
              </a:rPr>
              <a:t>…and 380 more</a:t>
            </a:r>
          </a:p>
        </p:txBody>
      </p:sp>
      <p:sp>
        <p:nvSpPr>
          <p:cNvPr id="22" name="TextBox 21"/>
          <p:cNvSpPr txBox="1"/>
          <p:nvPr/>
        </p:nvSpPr>
        <p:spPr>
          <a:xfrm>
            <a:off x="6126480" y="1984248"/>
            <a:ext cx="5394960" cy="2743200"/>
          </a:xfrm>
          <a:prstGeom prst="rect">
            <a:avLst/>
          </a:prstGeom>
          <a:noFill/>
        </p:spPr>
        <p:txBody>
          <a:bodyPr wrap="square" lIns="0" tIns="0" rIns="0" bIns="0">
            <a:spAutoFit/>
          </a:bodyPr>
          <a:lstStyle/>
          <a:p>
            <a:pPr marL="173736" indent="-173736">
              <a:lnSpc>
                <a:spcPts val="2200"/>
              </a:lnSpc>
              <a:spcAft>
                <a:spcPts val="1400"/>
              </a:spcAft>
              <a:buChar char="•"/>
            </a:pPr>
            <a:r>
              <a:rPr sz="1500" b="0">
                <a:solidFill>
                  <a:srgbClr val="22223B"/>
                </a:solidFill>
                <a:latin typeface="Arial"/>
              </a:rPr>
              <a:t>You cannot see what the product actually does.</a:t>
            </a:r>
          </a:p>
          <a:p>
            <a:pPr marL="173736" indent="-173736">
              <a:lnSpc>
                <a:spcPts val="2200"/>
              </a:lnSpc>
              <a:spcAft>
                <a:spcPts val="1400"/>
              </a:spcAft>
              <a:buChar char="•"/>
            </a:pPr>
            <a:r>
              <a:rPr sz="1500" b="0">
                <a:solidFill>
                  <a:srgbClr val="22223B"/>
                </a:solidFill>
                <a:latin typeface="Arial"/>
              </a:rPr>
              <a:t>You cannot see what is missing.</a:t>
            </a:r>
          </a:p>
          <a:p>
            <a:pPr marL="173736" indent="-173736">
              <a:lnSpc>
                <a:spcPts val="2200"/>
              </a:lnSpc>
              <a:spcAft>
                <a:spcPts val="1400"/>
              </a:spcAft>
              <a:buChar char="•"/>
            </a:pPr>
            <a:r>
              <a:rPr sz="1500" b="0">
                <a:solidFill>
                  <a:srgbClr val="22223B"/>
                </a:solidFill>
                <a:latin typeface="Arial"/>
              </a:rPr>
              <a:t>Every item looks the same size and the same importance.</a:t>
            </a:r>
          </a:p>
          <a:p>
            <a:pPr marL="173736" indent="-173736">
              <a:lnSpc>
                <a:spcPts val="2200"/>
              </a:lnSpc>
              <a:spcAft>
                <a:spcPts val="1400"/>
              </a:spcAft>
              <a:buChar char="•"/>
            </a:pPr>
            <a:r>
              <a:rPr sz="1500" b="0">
                <a:solidFill>
                  <a:srgbClr val="22223B"/>
                </a:solidFill>
                <a:latin typeface="Arial"/>
              </a:rPr>
              <a:t>Pick the top ten and you get ten unrelated pieces — not something a person can use.</a:t>
            </a:r>
          </a:p>
        </p:txBody>
      </p:sp>
      <p:sp>
        <p:nvSpPr>
          <p:cNvPr id="23" name="Rounded Rectangle 22"/>
          <p:cNvSpPr/>
          <p:nvPr/>
        </p:nvSpPr>
        <p:spPr>
          <a:xfrm>
            <a:off x="640080" y="5276088"/>
            <a:ext cx="10908792" cy="658368"/>
          </a:xfrm>
          <a:prstGeom prst="roundRect">
            <a:avLst>
              <a:gd name="adj" fmla="val 5500"/>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68680" y="5312664"/>
            <a:ext cx="10451592" cy="585216"/>
          </a:xfrm>
          <a:prstGeom prst="rect">
            <a:avLst/>
          </a:prstGeom>
          <a:noFill/>
        </p:spPr>
        <p:txBody>
          <a:bodyPr wrap="square" lIns="0" tIns="0" rIns="0" bIns="0" anchor="ctr">
            <a:spAutoFit/>
          </a:bodyPr>
          <a:lstStyle/>
          <a:p>
            <a:pPr algn="l"/>
            <a:r>
              <a:rPr sz="1350" b="1" i="0">
                <a:solidFill>
                  <a:srgbClr val="FFFFFF"/>
                </a:solidFill>
                <a:latin typeface="Arial"/>
              </a:rPr>
              <a:t>A story map fixes this by putting the list back in the order the user lives it.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74320"/>
            <a:ext cx="10908792" cy="237744"/>
          </a:xfrm>
          <a:prstGeom prst="rect">
            <a:avLst/>
          </a:prstGeom>
          <a:noFill/>
        </p:spPr>
        <p:txBody>
          <a:bodyPr wrap="square" lIns="0" tIns="0" rIns="0" bIns="0" anchor="t">
            <a:spAutoFit/>
          </a:bodyPr>
          <a:lstStyle/>
          <a:p>
            <a:pPr algn="l"/>
            <a:r>
              <a:rPr sz="1000" b="1" i="0" spc="140">
                <a:solidFill>
                  <a:srgbClr val="A9740A"/>
                </a:solidFill>
                <a:latin typeface="Arial"/>
              </a:rPr>
              <a:t>STORY MAPPING</a:t>
            </a:r>
          </a:p>
        </p:txBody>
      </p:sp>
      <p:sp>
        <p:nvSpPr>
          <p:cNvPr id="3" name="TextBox 2"/>
          <p:cNvSpPr txBox="1"/>
          <p:nvPr/>
        </p:nvSpPr>
        <p:spPr>
          <a:xfrm>
            <a:off x="640080" y="548640"/>
            <a:ext cx="8229600" cy="640080"/>
          </a:xfrm>
          <a:prstGeom prst="rect">
            <a:avLst/>
          </a:prstGeom>
          <a:noFill/>
        </p:spPr>
        <p:txBody>
          <a:bodyPr wrap="square" lIns="0" tIns="0" rIns="0" bIns="0" anchor="t">
            <a:spAutoFit/>
          </a:bodyPr>
          <a:lstStyle/>
          <a:p>
            <a:pPr algn="l"/>
            <a:r>
              <a:rPr sz="2400" b="1" i="0">
                <a:solidFill>
                  <a:srgbClr val="211D71"/>
                </a:solidFill>
                <a:latin typeface="Arial"/>
              </a:rPr>
              <a:t>A story map is a comic strip</a:t>
            </a:r>
          </a:p>
        </p:txBody>
      </p:sp>
      <p:sp>
        <p:nvSpPr>
          <p:cNvPr id="4" name="Rounded Rectangle 3"/>
          <p:cNvSpPr/>
          <p:nvPr/>
        </p:nvSpPr>
        <p:spPr>
          <a:xfrm>
            <a:off x="640080" y="1618488"/>
            <a:ext cx="10908792" cy="1371600"/>
          </a:xfrm>
          <a:prstGeom prst="roundRect">
            <a:avLst>
              <a:gd name="adj" fmla="val 5500"/>
            </a:avLst>
          </a:prstGeom>
          <a:solidFill>
            <a:srgbClr val="FEF4DC"/>
          </a:solidFill>
          <a:ln w="15875">
            <a:solidFill>
              <a:srgbClr val="FCB0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764791"/>
            <a:ext cx="10360152" cy="237744"/>
          </a:xfrm>
          <a:prstGeom prst="rect">
            <a:avLst/>
          </a:prstGeom>
          <a:noFill/>
        </p:spPr>
        <p:txBody>
          <a:bodyPr wrap="square" lIns="0" tIns="0" rIns="0" bIns="0" anchor="t">
            <a:spAutoFit/>
          </a:bodyPr>
          <a:lstStyle/>
          <a:p>
            <a:pPr algn="l"/>
            <a:r>
              <a:rPr sz="1000" b="1" i="0" spc="140">
                <a:solidFill>
                  <a:srgbClr val="A9740A"/>
                </a:solidFill>
                <a:latin typeface="Arial"/>
              </a:rPr>
              <a:t>THINK OF IT LIKE THIS</a:t>
            </a:r>
          </a:p>
        </p:txBody>
      </p:sp>
      <p:sp>
        <p:nvSpPr>
          <p:cNvPr id="6" name="TextBox 5"/>
          <p:cNvSpPr txBox="1"/>
          <p:nvPr/>
        </p:nvSpPr>
        <p:spPr>
          <a:xfrm>
            <a:off x="914400" y="2020824"/>
            <a:ext cx="10360152" cy="822960"/>
          </a:xfrm>
          <a:prstGeom prst="rect">
            <a:avLst/>
          </a:prstGeom>
          <a:noFill/>
        </p:spPr>
        <p:txBody>
          <a:bodyPr wrap="square" lIns="0" tIns="0" rIns="0" bIns="0" anchor="t">
            <a:spAutoFit/>
          </a:bodyPr>
          <a:lstStyle/>
          <a:p>
            <a:pPr algn="l">
              <a:lnSpc>
                <a:spcPts val="2400"/>
              </a:lnSpc>
            </a:pPr>
            <a:r>
              <a:rPr sz="1700" b="1" i="0">
                <a:solidFill>
                  <a:srgbClr val="211D71"/>
                </a:solidFill>
                <a:latin typeface="Arial"/>
              </a:rPr>
              <a:t>Draw your user's day as a comic strip, left to right. Then stack the possible scenes underneath each frame.</a:t>
            </a:r>
          </a:p>
        </p:txBody>
      </p:sp>
      <p:sp>
        <p:nvSpPr>
          <p:cNvPr id="7" name="Rounded Rectangle 6"/>
          <p:cNvSpPr/>
          <p:nvPr/>
        </p:nvSpPr>
        <p:spPr>
          <a:xfrm>
            <a:off x="640080" y="3218688"/>
            <a:ext cx="3477768" cy="196596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59536" y="3401568"/>
            <a:ext cx="384048" cy="384048"/>
          </a:xfrm>
          <a:prstGeom prst="ellipse">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9536" y="3401568"/>
            <a:ext cx="384048" cy="384048"/>
          </a:xfrm>
          <a:prstGeom prst="rect">
            <a:avLst/>
          </a:prstGeom>
          <a:noFill/>
        </p:spPr>
        <p:txBody>
          <a:bodyPr wrap="square" lIns="0" tIns="0" rIns="0" bIns="0" anchor="ctr">
            <a:spAutoFit/>
          </a:bodyPr>
          <a:lstStyle/>
          <a:p>
            <a:pPr algn="ctr"/>
            <a:r>
              <a:rPr sz="1400" b="1" i="0">
                <a:solidFill>
                  <a:srgbClr val="FFFFFF"/>
                </a:solidFill>
                <a:latin typeface="Arial"/>
              </a:rPr>
              <a:t>1</a:t>
            </a:r>
          </a:p>
        </p:txBody>
      </p:sp>
      <p:sp>
        <p:nvSpPr>
          <p:cNvPr id="10" name="TextBox 9"/>
          <p:cNvSpPr txBox="1"/>
          <p:nvPr/>
        </p:nvSpPr>
        <p:spPr>
          <a:xfrm>
            <a:off x="1335024" y="3401568"/>
            <a:ext cx="2563368" cy="384048"/>
          </a:xfrm>
          <a:prstGeom prst="rect">
            <a:avLst/>
          </a:prstGeom>
          <a:noFill/>
        </p:spPr>
        <p:txBody>
          <a:bodyPr wrap="square" lIns="0" tIns="0" rIns="0" bIns="0" anchor="ctr">
            <a:spAutoFit/>
          </a:bodyPr>
          <a:lstStyle/>
          <a:p>
            <a:pPr algn="l"/>
            <a:r>
              <a:rPr sz="1400" b="1" i="0">
                <a:solidFill>
                  <a:srgbClr val="211D71"/>
                </a:solidFill>
                <a:latin typeface="Arial"/>
              </a:rPr>
              <a:t>Left to right</a:t>
            </a:r>
          </a:p>
        </p:txBody>
      </p:sp>
      <p:sp>
        <p:nvSpPr>
          <p:cNvPr id="11" name="TextBox 10"/>
          <p:cNvSpPr txBox="1"/>
          <p:nvPr/>
        </p:nvSpPr>
        <p:spPr>
          <a:xfrm>
            <a:off x="859536" y="3877056"/>
            <a:ext cx="3038856" cy="1161287"/>
          </a:xfrm>
          <a:prstGeom prst="rect">
            <a:avLst/>
          </a:prstGeom>
          <a:noFill/>
        </p:spPr>
        <p:txBody>
          <a:bodyPr wrap="square" lIns="0" tIns="0" rIns="0" bIns="0" anchor="t">
            <a:spAutoFit/>
          </a:bodyPr>
          <a:lstStyle/>
          <a:p>
            <a:pPr algn="l">
              <a:lnSpc>
                <a:spcPts val="1700"/>
              </a:lnSpc>
            </a:pPr>
            <a:r>
              <a:rPr sz="1250" b="0" i="0">
                <a:solidFill>
                  <a:srgbClr val="22223B"/>
                </a:solidFill>
                <a:latin typeface="Arial"/>
              </a:rPr>
              <a:t>The steps a user goes through, in the order they happen. Discover → sign up → add money → pay.</a:t>
            </a:r>
          </a:p>
        </p:txBody>
      </p:sp>
      <p:sp>
        <p:nvSpPr>
          <p:cNvPr id="12" name="Rounded Rectangle 11"/>
          <p:cNvSpPr/>
          <p:nvPr/>
        </p:nvSpPr>
        <p:spPr>
          <a:xfrm>
            <a:off x="4355592" y="3218688"/>
            <a:ext cx="3477768" cy="196596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4575048" y="3401568"/>
            <a:ext cx="384048" cy="384048"/>
          </a:xfrm>
          <a:prstGeom prst="ellipse">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75048" y="3401568"/>
            <a:ext cx="384048" cy="384048"/>
          </a:xfrm>
          <a:prstGeom prst="rect">
            <a:avLst/>
          </a:prstGeom>
          <a:noFill/>
        </p:spPr>
        <p:txBody>
          <a:bodyPr wrap="square" lIns="0" tIns="0" rIns="0" bIns="0" anchor="ctr">
            <a:spAutoFit/>
          </a:bodyPr>
          <a:lstStyle/>
          <a:p>
            <a:pPr algn="ctr"/>
            <a:r>
              <a:rPr sz="1400" b="1" i="0">
                <a:solidFill>
                  <a:srgbClr val="FFFFFF"/>
                </a:solidFill>
                <a:latin typeface="Arial"/>
              </a:rPr>
              <a:t>2</a:t>
            </a:r>
          </a:p>
        </p:txBody>
      </p:sp>
      <p:sp>
        <p:nvSpPr>
          <p:cNvPr id="15" name="TextBox 14"/>
          <p:cNvSpPr txBox="1"/>
          <p:nvPr/>
        </p:nvSpPr>
        <p:spPr>
          <a:xfrm>
            <a:off x="5050536" y="3401568"/>
            <a:ext cx="2563368" cy="384048"/>
          </a:xfrm>
          <a:prstGeom prst="rect">
            <a:avLst/>
          </a:prstGeom>
          <a:noFill/>
        </p:spPr>
        <p:txBody>
          <a:bodyPr wrap="square" lIns="0" tIns="0" rIns="0" bIns="0" anchor="ctr">
            <a:spAutoFit/>
          </a:bodyPr>
          <a:lstStyle/>
          <a:p>
            <a:pPr algn="l"/>
            <a:r>
              <a:rPr sz="1400" b="1" i="0">
                <a:solidFill>
                  <a:srgbClr val="211D71"/>
                </a:solidFill>
                <a:latin typeface="Arial"/>
              </a:rPr>
              <a:t>Top to bottom</a:t>
            </a:r>
          </a:p>
        </p:txBody>
      </p:sp>
      <p:sp>
        <p:nvSpPr>
          <p:cNvPr id="16" name="TextBox 15"/>
          <p:cNvSpPr txBox="1"/>
          <p:nvPr/>
        </p:nvSpPr>
        <p:spPr>
          <a:xfrm>
            <a:off x="4575048" y="3877056"/>
            <a:ext cx="3038856" cy="1161287"/>
          </a:xfrm>
          <a:prstGeom prst="rect">
            <a:avLst/>
          </a:prstGeom>
          <a:noFill/>
        </p:spPr>
        <p:txBody>
          <a:bodyPr wrap="square" lIns="0" tIns="0" rIns="0" bIns="0" anchor="t">
            <a:spAutoFit/>
          </a:bodyPr>
          <a:lstStyle/>
          <a:p>
            <a:pPr algn="l">
              <a:lnSpc>
                <a:spcPts val="1700"/>
              </a:lnSpc>
            </a:pPr>
            <a:r>
              <a:rPr sz="1250" b="0" i="0">
                <a:solidFill>
                  <a:srgbClr val="22223B"/>
                </a:solidFill>
                <a:latin typeface="Arial"/>
              </a:rPr>
              <a:t>Under each step, the different ways of doing it. Most important at the top, nice-to-have at the bottom.</a:t>
            </a:r>
          </a:p>
        </p:txBody>
      </p:sp>
      <p:sp>
        <p:nvSpPr>
          <p:cNvPr id="17" name="Rounded Rectangle 16"/>
          <p:cNvSpPr/>
          <p:nvPr/>
        </p:nvSpPr>
        <p:spPr>
          <a:xfrm>
            <a:off x="8071104" y="3218688"/>
            <a:ext cx="3477768" cy="196596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8290560" y="3401568"/>
            <a:ext cx="384048" cy="384048"/>
          </a:xfrm>
          <a:prstGeom prst="ellipse">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90560" y="3401568"/>
            <a:ext cx="384048" cy="384048"/>
          </a:xfrm>
          <a:prstGeom prst="rect">
            <a:avLst/>
          </a:prstGeom>
          <a:noFill/>
        </p:spPr>
        <p:txBody>
          <a:bodyPr wrap="square" lIns="0" tIns="0" rIns="0" bIns="0" anchor="ctr">
            <a:spAutoFit/>
          </a:bodyPr>
          <a:lstStyle/>
          <a:p>
            <a:pPr algn="ctr"/>
            <a:r>
              <a:rPr sz="1400" b="1" i="0">
                <a:solidFill>
                  <a:srgbClr val="FFFFFF"/>
                </a:solidFill>
                <a:latin typeface="Arial"/>
              </a:rPr>
              <a:t>3</a:t>
            </a:r>
          </a:p>
        </p:txBody>
      </p:sp>
      <p:sp>
        <p:nvSpPr>
          <p:cNvPr id="20" name="TextBox 19"/>
          <p:cNvSpPr txBox="1"/>
          <p:nvPr/>
        </p:nvSpPr>
        <p:spPr>
          <a:xfrm>
            <a:off x="8766048" y="3401568"/>
            <a:ext cx="2563368" cy="384048"/>
          </a:xfrm>
          <a:prstGeom prst="rect">
            <a:avLst/>
          </a:prstGeom>
          <a:noFill/>
        </p:spPr>
        <p:txBody>
          <a:bodyPr wrap="square" lIns="0" tIns="0" rIns="0" bIns="0" anchor="ctr">
            <a:spAutoFit/>
          </a:bodyPr>
          <a:lstStyle/>
          <a:p>
            <a:pPr algn="l"/>
            <a:r>
              <a:rPr sz="1400" b="1" i="0">
                <a:solidFill>
                  <a:srgbClr val="211D71"/>
                </a:solidFill>
                <a:latin typeface="Arial"/>
              </a:rPr>
              <a:t>Cut a line across</a:t>
            </a:r>
          </a:p>
        </p:txBody>
      </p:sp>
      <p:sp>
        <p:nvSpPr>
          <p:cNvPr id="21" name="TextBox 20"/>
          <p:cNvSpPr txBox="1"/>
          <p:nvPr/>
        </p:nvSpPr>
        <p:spPr>
          <a:xfrm>
            <a:off x="8290560" y="3877056"/>
            <a:ext cx="3038856" cy="1161287"/>
          </a:xfrm>
          <a:prstGeom prst="rect">
            <a:avLst/>
          </a:prstGeom>
          <a:noFill/>
        </p:spPr>
        <p:txBody>
          <a:bodyPr wrap="square" lIns="0" tIns="0" rIns="0" bIns="0" anchor="t">
            <a:spAutoFit/>
          </a:bodyPr>
          <a:lstStyle/>
          <a:p>
            <a:pPr algn="l">
              <a:lnSpc>
                <a:spcPts val="1700"/>
              </a:lnSpc>
            </a:pPr>
            <a:r>
              <a:rPr sz="1250" b="0" i="0">
                <a:solidFill>
                  <a:srgbClr val="22223B"/>
                </a:solidFill>
                <a:latin typeface="Arial"/>
              </a:rPr>
              <a:t>Everything above the line is your first release. It is thin, but the user can get all the way through.</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74320"/>
            <a:ext cx="10908792" cy="237744"/>
          </a:xfrm>
          <a:prstGeom prst="rect">
            <a:avLst/>
          </a:prstGeom>
          <a:noFill/>
        </p:spPr>
        <p:txBody>
          <a:bodyPr wrap="square" lIns="0" tIns="0" rIns="0" bIns="0" anchor="t">
            <a:spAutoFit/>
          </a:bodyPr>
          <a:lstStyle/>
          <a:p>
            <a:pPr algn="l"/>
            <a:r>
              <a:rPr sz="1000" b="1" i="0" spc="140">
                <a:solidFill>
                  <a:srgbClr val="A9740A"/>
                </a:solidFill>
                <a:latin typeface="Arial"/>
              </a:rPr>
              <a:t>STORY MAPPING  ·  CAMPUSPAY</a:t>
            </a:r>
          </a:p>
        </p:txBody>
      </p:sp>
      <p:sp>
        <p:nvSpPr>
          <p:cNvPr id="3" name="TextBox 2"/>
          <p:cNvSpPr txBox="1"/>
          <p:nvPr/>
        </p:nvSpPr>
        <p:spPr>
          <a:xfrm>
            <a:off x="640080" y="548640"/>
            <a:ext cx="8229600" cy="640080"/>
          </a:xfrm>
          <a:prstGeom prst="rect">
            <a:avLst/>
          </a:prstGeom>
          <a:noFill/>
        </p:spPr>
        <p:txBody>
          <a:bodyPr wrap="square" lIns="0" tIns="0" rIns="0" bIns="0" anchor="t">
            <a:spAutoFit/>
          </a:bodyPr>
          <a:lstStyle/>
          <a:p>
            <a:pPr algn="l"/>
            <a:r>
              <a:rPr sz="2400" b="1" i="0">
                <a:solidFill>
                  <a:srgbClr val="211D71"/>
                </a:solidFill>
                <a:latin typeface="Arial"/>
              </a:rPr>
              <a:t>What it looks like</a:t>
            </a:r>
          </a:p>
        </p:txBody>
      </p:sp>
      <p:sp>
        <p:nvSpPr>
          <p:cNvPr id="4" name="Rounded Rectangle 3"/>
          <p:cNvSpPr/>
          <p:nvPr/>
        </p:nvSpPr>
        <p:spPr>
          <a:xfrm>
            <a:off x="640080" y="1481328"/>
            <a:ext cx="2084831" cy="566928"/>
          </a:xfrm>
          <a:prstGeom prst="roundRect">
            <a:avLst>
              <a:gd name="adj" fmla="val 5500"/>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481328"/>
            <a:ext cx="2084831" cy="566928"/>
          </a:xfrm>
          <a:prstGeom prst="rect">
            <a:avLst/>
          </a:prstGeom>
          <a:noFill/>
        </p:spPr>
        <p:txBody>
          <a:bodyPr wrap="square" lIns="0" tIns="0" rIns="0" bIns="0" anchor="ctr">
            <a:spAutoFit/>
          </a:bodyPr>
          <a:lstStyle/>
          <a:p>
            <a:pPr algn="ctr">
              <a:lnSpc>
                <a:spcPts val="1400"/>
              </a:lnSpc>
            </a:pPr>
            <a:r>
              <a:rPr sz="1150" b="1" i="0">
                <a:solidFill>
                  <a:srgbClr val="FFFFFF"/>
                </a:solidFill>
                <a:latin typeface="Arial"/>
              </a:rPr>
              <a:t>Find out</a:t>
            </a:r>
          </a:p>
          <a:p>
            <a:pPr algn="ctr">
              <a:lnSpc>
                <a:spcPts val="1400"/>
              </a:lnSpc>
            </a:pPr>
            <a:r>
              <a:rPr sz="1150" b="1" i="0">
                <a:solidFill>
                  <a:srgbClr val="FFFFFF"/>
                </a:solidFill>
                <a:latin typeface="Arial"/>
              </a:rPr>
              <a:t>about it</a:t>
            </a:r>
          </a:p>
        </p:txBody>
      </p:sp>
      <p:sp>
        <p:nvSpPr>
          <p:cNvPr id="6" name="Rounded Rectangle 5"/>
          <p:cNvSpPr/>
          <p:nvPr/>
        </p:nvSpPr>
        <p:spPr>
          <a:xfrm>
            <a:off x="2862072" y="1481328"/>
            <a:ext cx="2084831" cy="566928"/>
          </a:xfrm>
          <a:prstGeom prst="roundRect">
            <a:avLst>
              <a:gd name="adj" fmla="val 5500"/>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862072" y="1481328"/>
            <a:ext cx="2084831" cy="566928"/>
          </a:xfrm>
          <a:prstGeom prst="rect">
            <a:avLst/>
          </a:prstGeom>
          <a:noFill/>
        </p:spPr>
        <p:txBody>
          <a:bodyPr wrap="square" lIns="0" tIns="0" rIns="0" bIns="0" anchor="ctr">
            <a:spAutoFit/>
          </a:bodyPr>
          <a:lstStyle/>
          <a:p>
            <a:pPr algn="ctr">
              <a:lnSpc>
                <a:spcPts val="1400"/>
              </a:lnSpc>
            </a:pPr>
            <a:r>
              <a:rPr sz="1150" b="1" i="0">
                <a:solidFill>
                  <a:srgbClr val="FFFFFF"/>
                </a:solidFill>
                <a:latin typeface="Arial"/>
              </a:rPr>
              <a:t>Sign up</a:t>
            </a:r>
          </a:p>
        </p:txBody>
      </p:sp>
      <p:sp>
        <p:nvSpPr>
          <p:cNvPr id="8" name="Rounded Rectangle 7"/>
          <p:cNvSpPr/>
          <p:nvPr/>
        </p:nvSpPr>
        <p:spPr>
          <a:xfrm>
            <a:off x="5084064" y="1481328"/>
            <a:ext cx="2084831" cy="566928"/>
          </a:xfrm>
          <a:prstGeom prst="roundRect">
            <a:avLst>
              <a:gd name="adj" fmla="val 5500"/>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84064" y="1481328"/>
            <a:ext cx="2084831" cy="566928"/>
          </a:xfrm>
          <a:prstGeom prst="rect">
            <a:avLst/>
          </a:prstGeom>
          <a:noFill/>
        </p:spPr>
        <p:txBody>
          <a:bodyPr wrap="square" lIns="0" tIns="0" rIns="0" bIns="0" anchor="ctr">
            <a:spAutoFit/>
          </a:bodyPr>
          <a:lstStyle/>
          <a:p>
            <a:pPr algn="ctr">
              <a:lnSpc>
                <a:spcPts val="1400"/>
              </a:lnSpc>
            </a:pPr>
            <a:r>
              <a:rPr sz="1150" b="1" i="0">
                <a:solidFill>
                  <a:srgbClr val="FFFFFF"/>
                </a:solidFill>
                <a:latin typeface="Arial"/>
              </a:rPr>
              <a:t>Add money</a:t>
            </a:r>
          </a:p>
        </p:txBody>
      </p:sp>
      <p:sp>
        <p:nvSpPr>
          <p:cNvPr id="10" name="Rounded Rectangle 9"/>
          <p:cNvSpPr/>
          <p:nvPr/>
        </p:nvSpPr>
        <p:spPr>
          <a:xfrm>
            <a:off x="7306055" y="1481328"/>
            <a:ext cx="2084831" cy="566928"/>
          </a:xfrm>
          <a:prstGeom prst="roundRect">
            <a:avLst>
              <a:gd name="adj" fmla="val 5500"/>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06055" y="1481328"/>
            <a:ext cx="2084831" cy="566928"/>
          </a:xfrm>
          <a:prstGeom prst="rect">
            <a:avLst/>
          </a:prstGeom>
          <a:noFill/>
        </p:spPr>
        <p:txBody>
          <a:bodyPr wrap="square" lIns="0" tIns="0" rIns="0" bIns="0" anchor="ctr">
            <a:spAutoFit/>
          </a:bodyPr>
          <a:lstStyle/>
          <a:p>
            <a:pPr algn="ctr">
              <a:lnSpc>
                <a:spcPts val="1400"/>
              </a:lnSpc>
            </a:pPr>
            <a:r>
              <a:rPr sz="1150" b="1" i="0">
                <a:solidFill>
                  <a:srgbClr val="FFFFFF"/>
                </a:solidFill>
                <a:latin typeface="Arial"/>
              </a:rPr>
              <a:t>Pay for</a:t>
            </a:r>
          </a:p>
          <a:p>
            <a:pPr algn="ctr">
              <a:lnSpc>
                <a:spcPts val="1400"/>
              </a:lnSpc>
            </a:pPr>
            <a:r>
              <a:rPr sz="1150" b="1" i="0">
                <a:solidFill>
                  <a:srgbClr val="FFFFFF"/>
                </a:solidFill>
                <a:latin typeface="Arial"/>
              </a:rPr>
              <a:t>something</a:t>
            </a:r>
          </a:p>
        </p:txBody>
      </p:sp>
      <p:sp>
        <p:nvSpPr>
          <p:cNvPr id="12" name="Rounded Rectangle 11"/>
          <p:cNvSpPr/>
          <p:nvPr/>
        </p:nvSpPr>
        <p:spPr>
          <a:xfrm>
            <a:off x="9528047" y="1481328"/>
            <a:ext cx="2084831" cy="566928"/>
          </a:xfrm>
          <a:prstGeom prst="roundRect">
            <a:avLst>
              <a:gd name="adj" fmla="val 5500"/>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528047" y="1481328"/>
            <a:ext cx="2084831" cy="566928"/>
          </a:xfrm>
          <a:prstGeom prst="rect">
            <a:avLst/>
          </a:prstGeom>
          <a:noFill/>
        </p:spPr>
        <p:txBody>
          <a:bodyPr wrap="square" lIns="0" tIns="0" rIns="0" bIns="0" anchor="ctr">
            <a:spAutoFit/>
          </a:bodyPr>
          <a:lstStyle/>
          <a:p>
            <a:pPr algn="ctr">
              <a:lnSpc>
                <a:spcPts val="1400"/>
              </a:lnSpc>
            </a:pPr>
            <a:r>
              <a:rPr sz="1150" b="1" i="0">
                <a:solidFill>
                  <a:srgbClr val="FFFFFF"/>
                </a:solidFill>
                <a:latin typeface="Arial"/>
              </a:rPr>
              <a:t>Check what</a:t>
            </a:r>
          </a:p>
          <a:p>
            <a:pPr algn="ctr">
              <a:lnSpc>
                <a:spcPts val="1400"/>
              </a:lnSpc>
            </a:pPr>
            <a:r>
              <a:rPr sz="1150" b="1" i="0">
                <a:solidFill>
                  <a:srgbClr val="FFFFFF"/>
                </a:solidFill>
                <a:latin typeface="Arial"/>
              </a:rPr>
              <a:t>I spent</a:t>
            </a:r>
          </a:p>
        </p:txBody>
      </p:sp>
      <p:sp>
        <p:nvSpPr>
          <p:cNvPr id="14" name="TextBox 13"/>
          <p:cNvSpPr txBox="1"/>
          <p:nvPr/>
        </p:nvSpPr>
        <p:spPr>
          <a:xfrm>
            <a:off x="640080" y="2121408"/>
            <a:ext cx="10881360" cy="219456"/>
          </a:xfrm>
          <a:prstGeom prst="rect">
            <a:avLst/>
          </a:prstGeom>
          <a:noFill/>
        </p:spPr>
        <p:txBody>
          <a:bodyPr wrap="square" lIns="0" tIns="0" rIns="0" bIns="0" anchor="t">
            <a:spAutoFit/>
          </a:bodyPr>
          <a:lstStyle/>
          <a:p>
            <a:pPr algn="l"/>
            <a:r>
              <a:rPr sz="950" b="1" i="0" spc="100">
                <a:solidFill>
                  <a:srgbClr val="A9740A"/>
                </a:solidFill>
                <a:latin typeface="Arial"/>
              </a:rPr>
              <a:t>THE STEPS  —  what the user does, in order</a:t>
            </a:r>
          </a:p>
        </p:txBody>
      </p:sp>
      <p:sp>
        <p:nvSpPr>
          <p:cNvPr id="15" name="Rounded Rectangle 14"/>
          <p:cNvSpPr/>
          <p:nvPr/>
        </p:nvSpPr>
        <p:spPr>
          <a:xfrm>
            <a:off x="640080" y="2359152"/>
            <a:ext cx="2084831" cy="420624"/>
          </a:xfrm>
          <a:prstGeom prst="roundRect">
            <a:avLst>
              <a:gd name="adj" fmla="val 5500"/>
            </a:avLst>
          </a:prstGeom>
          <a:solidFill>
            <a:srgbClr val="FEF0D3"/>
          </a:solidFill>
          <a:ln w="12700">
            <a:solidFill>
              <a:srgbClr val="FCB0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2359152"/>
            <a:ext cx="2084831" cy="420624"/>
          </a:xfrm>
          <a:prstGeom prst="rect">
            <a:avLst/>
          </a:prstGeom>
          <a:noFill/>
        </p:spPr>
        <p:txBody>
          <a:bodyPr wrap="square" lIns="0" tIns="0" rIns="0" bIns="0" anchor="ctr">
            <a:spAutoFit/>
          </a:bodyPr>
          <a:lstStyle/>
          <a:p>
            <a:pPr algn="ctr"/>
            <a:r>
              <a:rPr sz="1100" b="0" i="0">
                <a:solidFill>
                  <a:srgbClr val="22223B"/>
                </a:solidFill>
                <a:latin typeface="Arial"/>
              </a:rPr>
              <a:t>See a poster</a:t>
            </a:r>
          </a:p>
        </p:txBody>
      </p:sp>
      <p:sp>
        <p:nvSpPr>
          <p:cNvPr id="17" name="Rounded Rectangle 16"/>
          <p:cNvSpPr/>
          <p:nvPr/>
        </p:nvSpPr>
        <p:spPr>
          <a:xfrm>
            <a:off x="2862072" y="2359152"/>
            <a:ext cx="2084831" cy="420624"/>
          </a:xfrm>
          <a:prstGeom prst="roundRect">
            <a:avLst>
              <a:gd name="adj" fmla="val 5500"/>
            </a:avLst>
          </a:prstGeom>
          <a:solidFill>
            <a:srgbClr val="FEF0D3"/>
          </a:solidFill>
          <a:ln w="12700">
            <a:solidFill>
              <a:srgbClr val="FCB0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862072" y="2359152"/>
            <a:ext cx="2084831" cy="420624"/>
          </a:xfrm>
          <a:prstGeom prst="rect">
            <a:avLst/>
          </a:prstGeom>
          <a:noFill/>
        </p:spPr>
        <p:txBody>
          <a:bodyPr wrap="square" lIns="0" tIns="0" rIns="0" bIns="0" anchor="ctr">
            <a:spAutoFit/>
          </a:bodyPr>
          <a:lstStyle/>
          <a:p>
            <a:pPr algn="ctr"/>
            <a:r>
              <a:rPr sz="1100" b="0" i="0">
                <a:solidFill>
                  <a:srgbClr val="22223B"/>
                </a:solidFill>
                <a:latin typeface="Arial"/>
              </a:rPr>
              <a:t>Phone + OTP</a:t>
            </a:r>
          </a:p>
        </p:txBody>
      </p:sp>
      <p:sp>
        <p:nvSpPr>
          <p:cNvPr id="19" name="Rounded Rectangle 18"/>
          <p:cNvSpPr/>
          <p:nvPr/>
        </p:nvSpPr>
        <p:spPr>
          <a:xfrm>
            <a:off x="5084064" y="2359152"/>
            <a:ext cx="2084831" cy="420624"/>
          </a:xfrm>
          <a:prstGeom prst="roundRect">
            <a:avLst>
              <a:gd name="adj" fmla="val 5500"/>
            </a:avLst>
          </a:prstGeom>
          <a:solidFill>
            <a:srgbClr val="FEF0D3"/>
          </a:solidFill>
          <a:ln w="12700">
            <a:solidFill>
              <a:srgbClr val="FCB0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084064" y="2359152"/>
            <a:ext cx="2084831" cy="420624"/>
          </a:xfrm>
          <a:prstGeom prst="rect">
            <a:avLst/>
          </a:prstGeom>
          <a:noFill/>
        </p:spPr>
        <p:txBody>
          <a:bodyPr wrap="square" lIns="0" tIns="0" rIns="0" bIns="0" anchor="ctr">
            <a:spAutoFit/>
          </a:bodyPr>
          <a:lstStyle/>
          <a:p>
            <a:pPr algn="ctr"/>
            <a:r>
              <a:rPr sz="1100" b="0" i="0">
                <a:solidFill>
                  <a:srgbClr val="22223B"/>
                </a:solidFill>
                <a:latin typeface="Arial"/>
              </a:rPr>
              <a:t>Pay by UPI</a:t>
            </a:r>
          </a:p>
        </p:txBody>
      </p:sp>
      <p:sp>
        <p:nvSpPr>
          <p:cNvPr id="21" name="Rounded Rectangle 20"/>
          <p:cNvSpPr/>
          <p:nvPr/>
        </p:nvSpPr>
        <p:spPr>
          <a:xfrm>
            <a:off x="7306055" y="2359152"/>
            <a:ext cx="2084831" cy="420624"/>
          </a:xfrm>
          <a:prstGeom prst="roundRect">
            <a:avLst>
              <a:gd name="adj" fmla="val 5500"/>
            </a:avLst>
          </a:prstGeom>
          <a:solidFill>
            <a:srgbClr val="FEF0D3"/>
          </a:solidFill>
          <a:ln w="12700">
            <a:solidFill>
              <a:srgbClr val="FCB0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306055" y="2359152"/>
            <a:ext cx="2084831" cy="420624"/>
          </a:xfrm>
          <a:prstGeom prst="rect">
            <a:avLst/>
          </a:prstGeom>
          <a:noFill/>
        </p:spPr>
        <p:txBody>
          <a:bodyPr wrap="square" lIns="0" tIns="0" rIns="0" bIns="0" anchor="ctr">
            <a:spAutoFit/>
          </a:bodyPr>
          <a:lstStyle/>
          <a:p>
            <a:pPr algn="ctr"/>
            <a:r>
              <a:rPr sz="1100" b="0" i="0">
                <a:solidFill>
                  <a:srgbClr val="22223B"/>
                </a:solidFill>
                <a:latin typeface="Arial"/>
              </a:rPr>
              <a:t>Scan a QR</a:t>
            </a:r>
          </a:p>
        </p:txBody>
      </p:sp>
      <p:sp>
        <p:nvSpPr>
          <p:cNvPr id="23" name="Rounded Rectangle 22"/>
          <p:cNvSpPr/>
          <p:nvPr/>
        </p:nvSpPr>
        <p:spPr>
          <a:xfrm>
            <a:off x="9528047" y="2359152"/>
            <a:ext cx="2084831" cy="420624"/>
          </a:xfrm>
          <a:prstGeom prst="roundRect">
            <a:avLst>
              <a:gd name="adj" fmla="val 5500"/>
            </a:avLst>
          </a:prstGeom>
          <a:solidFill>
            <a:srgbClr val="FEF0D3"/>
          </a:solidFill>
          <a:ln w="12700">
            <a:solidFill>
              <a:srgbClr val="FCB0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528047" y="2359152"/>
            <a:ext cx="2084831" cy="420624"/>
          </a:xfrm>
          <a:prstGeom prst="rect">
            <a:avLst/>
          </a:prstGeom>
          <a:noFill/>
        </p:spPr>
        <p:txBody>
          <a:bodyPr wrap="square" lIns="0" tIns="0" rIns="0" bIns="0" anchor="ctr">
            <a:spAutoFit/>
          </a:bodyPr>
          <a:lstStyle/>
          <a:p>
            <a:pPr algn="ctr"/>
            <a:r>
              <a:rPr sz="1100" b="0" i="0">
                <a:solidFill>
                  <a:srgbClr val="22223B"/>
                </a:solidFill>
                <a:latin typeface="Arial"/>
              </a:rPr>
              <a:t>See my history</a:t>
            </a:r>
          </a:p>
        </p:txBody>
      </p:sp>
      <p:sp>
        <p:nvSpPr>
          <p:cNvPr id="25" name="Rounded Rectangle 24"/>
          <p:cNvSpPr/>
          <p:nvPr/>
        </p:nvSpPr>
        <p:spPr>
          <a:xfrm>
            <a:off x="640080" y="3200400"/>
            <a:ext cx="2084831" cy="420624"/>
          </a:xfrm>
          <a:prstGeom prst="roundRect">
            <a:avLst>
              <a:gd name="adj" fmla="val 5500"/>
            </a:avLst>
          </a:prstGeom>
          <a:solidFill>
            <a:srgbClr val="FFFFFF"/>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 y="3200400"/>
            <a:ext cx="2084831" cy="420624"/>
          </a:xfrm>
          <a:prstGeom prst="rect">
            <a:avLst/>
          </a:prstGeom>
          <a:noFill/>
        </p:spPr>
        <p:txBody>
          <a:bodyPr wrap="square" lIns="0" tIns="0" rIns="0" bIns="0" anchor="ctr">
            <a:spAutoFit/>
          </a:bodyPr>
          <a:lstStyle/>
          <a:p>
            <a:pPr algn="ctr"/>
            <a:r>
              <a:rPr sz="1100" b="0" i="0">
                <a:solidFill>
                  <a:srgbClr val="5F6178"/>
                </a:solidFill>
                <a:latin typeface="Arial"/>
              </a:rPr>
              <a:t>Ask a friend</a:t>
            </a:r>
          </a:p>
        </p:txBody>
      </p:sp>
      <p:sp>
        <p:nvSpPr>
          <p:cNvPr id="27" name="Rounded Rectangle 26"/>
          <p:cNvSpPr/>
          <p:nvPr/>
        </p:nvSpPr>
        <p:spPr>
          <a:xfrm>
            <a:off x="2862072" y="3200400"/>
            <a:ext cx="2084831" cy="420624"/>
          </a:xfrm>
          <a:prstGeom prst="roundRect">
            <a:avLst>
              <a:gd name="adj" fmla="val 5500"/>
            </a:avLst>
          </a:prstGeom>
          <a:solidFill>
            <a:srgbClr val="FFFFFF"/>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862072" y="3200400"/>
            <a:ext cx="2084831" cy="420624"/>
          </a:xfrm>
          <a:prstGeom prst="rect">
            <a:avLst/>
          </a:prstGeom>
          <a:noFill/>
        </p:spPr>
        <p:txBody>
          <a:bodyPr wrap="square" lIns="0" tIns="0" rIns="0" bIns="0" anchor="ctr">
            <a:spAutoFit/>
          </a:bodyPr>
          <a:lstStyle/>
          <a:p>
            <a:pPr algn="ctr"/>
            <a:r>
              <a:rPr sz="1100" b="0" i="0">
                <a:solidFill>
                  <a:srgbClr val="5F6178"/>
                </a:solidFill>
                <a:latin typeface="Arial"/>
              </a:rPr>
              <a:t>Upload ID</a:t>
            </a:r>
          </a:p>
        </p:txBody>
      </p:sp>
      <p:sp>
        <p:nvSpPr>
          <p:cNvPr id="29" name="Rounded Rectangle 28"/>
          <p:cNvSpPr/>
          <p:nvPr/>
        </p:nvSpPr>
        <p:spPr>
          <a:xfrm>
            <a:off x="5084064" y="3200400"/>
            <a:ext cx="2084831" cy="420624"/>
          </a:xfrm>
          <a:prstGeom prst="roundRect">
            <a:avLst>
              <a:gd name="adj" fmla="val 5500"/>
            </a:avLst>
          </a:prstGeom>
          <a:solidFill>
            <a:srgbClr val="FFFFFF"/>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084064" y="3200400"/>
            <a:ext cx="2084831" cy="420624"/>
          </a:xfrm>
          <a:prstGeom prst="rect">
            <a:avLst/>
          </a:prstGeom>
          <a:noFill/>
        </p:spPr>
        <p:txBody>
          <a:bodyPr wrap="square" lIns="0" tIns="0" rIns="0" bIns="0" anchor="ctr">
            <a:spAutoFit/>
          </a:bodyPr>
          <a:lstStyle/>
          <a:p>
            <a:pPr algn="ctr"/>
            <a:r>
              <a:rPr sz="1100" b="0" i="0">
                <a:solidFill>
                  <a:srgbClr val="5F6178"/>
                </a:solidFill>
                <a:latin typeface="Arial"/>
              </a:rPr>
              <a:t>Pay by card</a:t>
            </a:r>
          </a:p>
        </p:txBody>
      </p:sp>
      <p:sp>
        <p:nvSpPr>
          <p:cNvPr id="31" name="Rounded Rectangle 30"/>
          <p:cNvSpPr/>
          <p:nvPr/>
        </p:nvSpPr>
        <p:spPr>
          <a:xfrm>
            <a:off x="7306055" y="3200400"/>
            <a:ext cx="2084831" cy="420624"/>
          </a:xfrm>
          <a:prstGeom prst="roundRect">
            <a:avLst>
              <a:gd name="adj" fmla="val 5500"/>
            </a:avLst>
          </a:prstGeom>
          <a:solidFill>
            <a:srgbClr val="FFFFFF"/>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306055" y="3200400"/>
            <a:ext cx="2084831" cy="420624"/>
          </a:xfrm>
          <a:prstGeom prst="rect">
            <a:avLst/>
          </a:prstGeom>
          <a:noFill/>
        </p:spPr>
        <p:txBody>
          <a:bodyPr wrap="square" lIns="0" tIns="0" rIns="0" bIns="0" anchor="ctr">
            <a:spAutoFit/>
          </a:bodyPr>
          <a:lstStyle/>
          <a:p>
            <a:pPr algn="ctr"/>
            <a:r>
              <a:rPr sz="1100" b="0" i="0">
                <a:solidFill>
                  <a:srgbClr val="5F6178"/>
                </a:solidFill>
                <a:latin typeface="Arial"/>
              </a:rPr>
              <a:t>Tap to pay</a:t>
            </a:r>
          </a:p>
        </p:txBody>
      </p:sp>
      <p:sp>
        <p:nvSpPr>
          <p:cNvPr id="33" name="Rounded Rectangle 32"/>
          <p:cNvSpPr/>
          <p:nvPr/>
        </p:nvSpPr>
        <p:spPr>
          <a:xfrm>
            <a:off x="9528047" y="3200400"/>
            <a:ext cx="2084831" cy="420624"/>
          </a:xfrm>
          <a:prstGeom prst="roundRect">
            <a:avLst>
              <a:gd name="adj" fmla="val 5500"/>
            </a:avLst>
          </a:prstGeom>
          <a:solidFill>
            <a:srgbClr val="FFFFFF"/>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528047" y="3200400"/>
            <a:ext cx="2084831" cy="420624"/>
          </a:xfrm>
          <a:prstGeom prst="rect">
            <a:avLst/>
          </a:prstGeom>
          <a:noFill/>
        </p:spPr>
        <p:txBody>
          <a:bodyPr wrap="square" lIns="0" tIns="0" rIns="0" bIns="0" anchor="ctr">
            <a:spAutoFit/>
          </a:bodyPr>
          <a:lstStyle/>
          <a:p>
            <a:pPr algn="ctr"/>
            <a:r>
              <a:rPr sz="1100" b="0" i="0">
                <a:solidFill>
                  <a:srgbClr val="5F6178"/>
                </a:solidFill>
                <a:latin typeface="Arial"/>
              </a:rPr>
              <a:t>Download it</a:t>
            </a:r>
          </a:p>
        </p:txBody>
      </p:sp>
      <p:sp>
        <p:nvSpPr>
          <p:cNvPr id="35" name="Rounded Rectangle 34"/>
          <p:cNvSpPr/>
          <p:nvPr/>
        </p:nvSpPr>
        <p:spPr>
          <a:xfrm>
            <a:off x="640080" y="3730752"/>
            <a:ext cx="2084831" cy="420624"/>
          </a:xfrm>
          <a:prstGeom prst="roundRect">
            <a:avLst>
              <a:gd name="adj" fmla="val 5500"/>
            </a:avLst>
          </a:prstGeom>
          <a:solidFill>
            <a:srgbClr val="FFFFFF"/>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40080" y="3730752"/>
            <a:ext cx="2084831" cy="420624"/>
          </a:xfrm>
          <a:prstGeom prst="rect">
            <a:avLst/>
          </a:prstGeom>
          <a:noFill/>
        </p:spPr>
        <p:txBody>
          <a:bodyPr wrap="square" lIns="0" tIns="0" rIns="0" bIns="0" anchor="ctr">
            <a:spAutoFit/>
          </a:bodyPr>
          <a:lstStyle/>
          <a:p>
            <a:pPr algn="ctr"/>
            <a:r>
              <a:rPr sz="1100" b="0" i="0">
                <a:solidFill>
                  <a:srgbClr val="5F6178"/>
                </a:solidFill>
                <a:latin typeface="Arial"/>
              </a:rPr>
              <a:t>Watch a demo</a:t>
            </a:r>
          </a:p>
        </p:txBody>
      </p:sp>
      <p:sp>
        <p:nvSpPr>
          <p:cNvPr id="37" name="Rounded Rectangle 36"/>
          <p:cNvSpPr/>
          <p:nvPr/>
        </p:nvSpPr>
        <p:spPr>
          <a:xfrm>
            <a:off x="2862072" y="3730752"/>
            <a:ext cx="2084831" cy="420624"/>
          </a:xfrm>
          <a:prstGeom prst="roundRect">
            <a:avLst>
              <a:gd name="adj" fmla="val 5500"/>
            </a:avLst>
          </a:prstGeom>
          <a:solidFill>
            <a:srgbClr val="FFFFFF"/>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2862072" y="3730752"/>
            <a:ext cx="2084831" cy="420624"/>
          </a:xfrm>
          <a:prstGeom prst="rect">
            <a:avLst/>
          </a:prstGeom>
          <a:noFill/>
        </p:spPr>
        <p:txBody>
          <a:bodyPr wrap="square" lIns="0" tIns="0" rIns="0" bIns="0" anchor="ctr">
            <a:spAutoFit/>
          </a:bodyPr>
          <a:lstStyle/>
          <a:p>
            <a:pPr algn="ctr"/>
            <a:r>
              <a:rPr sz="1100" b="0" i="0">
                <a:solidFill>
                  <a:srgbClr val="5F6178"/>
                </a:solidFill>
                <a:latin typeface="Arial"/>
              </a:rPr>
              <a:t>Set a PIN</a:t>
            </a:r>
          </a:p>
        </p:txBody>
      </p:sp>
      <p:sp>
        <p:nvSpPr>
          <p:cNvPr id="39" name="Rounded Rectangle 38"/>
          <p:cNvSpPr/>
          <p:nvPr/>
        </p:nvSpPr>
        <p:spPr>
          <a:xfrm>
            <a:off x="5084064" y="3730752"/>
            <a:ext cx="2084831" cy="420624"/>
          </a:xfrm>
          <a:prstGeom prst="roundRect">
            <a:avLst>
              <a:gd name="adj" fmla="val 5500"/>
            </a:avLst>
          </a:prstGeom>
          <a:solidFill>
            <a:srgbClr val="FFFFFF"/>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5084064" y="3730752"/>
            <a:ext cx="2084831" cy="420624"/>
          </a:xfrm>
          <a:prstGeom prst="rect">
            <a:avLst/>
          </a:prstGeom>
          <a:noFill/>
        </p:spPr>
        <p:txBody>
          <a:bodyPr wrap="square" lIns="0" tIns="0" rIns="0" bIns="0" anchor="ctr">
            <a:spAutoFit/>
          </a:bodyPr>
          <a:lstStyle/>
          <a:p>
            <a:pPr algn="ctr"/>
            <a:r>
              <a:rPr sz="1100" b="0" i="0">
                <a:solidFill>
                  <a:srgbClr val="5F6178"/>
                </a:solidFill>
                <a:latin typeface="Arial"/>
              </a:rPr>
              <a:t>Auto top-up</a:t>
            </a:r>
          </a:p>
        </p:txBody>
      </p:sp>
      <p:sp>
        <p:nvSpPr>
          <p:cNvPr id="41" name="Rounded Rectangle 40"/>
          <p:cNvSpPr/>
          <p:nvPr/>
        </p:nvSpPr>
        <p:spPr>
          <a:xfrm>
            <a:off x="7306055" y="3730752"/>
            <a:ext cx="2084831" cy="420624"/>
          </a:xfrm>
          <a:prstGeom prst="roundRect">
            <a:avLst>
              <a:gd name="adj" fmla="val 5500"/>
            </a:avLst>
          </a:prstGeom>
          <a:solidFill>
            <a:srgbClr val="FFFFFF"/>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306055" y="3730752"/>
            <a:ext cx="2084831" cy="420624"/>
          </a:xfrm>
          <a:prstGeom prst="rect">
            <a:avLst/>
          </a:prstGeom>
          <a:noFill/>
        </p:spPr>
        <p:txBody>
          <a:bodyPr wrap="square" lIns="0" tIns="0" rIns="0" bIns="0" anchor="ctr">
            <a:spAutoFit/>
          </a:bodyPr>
          <a:lstStyle/>
          <a:p>
            <a:pPr algn="ctr"/>
            <a:r>
              <a:rPr sz="1100" b="0" i="0">
                <a:solidFill>
                  <a:srgbClr val="5F6178"/>
                </a:solidFill>
                <a:latin typeface="Arial"/>
              </a:rPr>
              <a:t>Split a bill</a:t>
            </a:r>
          </a:p>
        </p:txBody>
      </p:sp>
      <p:sp>
        <p:nvSpPr>
          <p:cNvPr id="43" name="Rounded Rectangle 42"/>
          <p:cNvSpPr/>
          <p:nvPr/>
        </p:nvSpPr>
        <p:spPr>
          <a:xfrm>
            <a:off x="9528047" y="3730752"/>
            <a:ext cx="2084831" cy="420624"/>
          </a:xfrm>
          <a:prstGeom prst="roundRect">
            <a:avLst>
              <a:gd name="adj" fmla="val 5500"/>
            </a:avLst>
          </a:prstGeom>
          <a:solidFill>
            <a:srgbClr val="FFFFFF"/>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9528047" y="3730752"/>
            <a:ext cx="2084831" cy="420624"/>
          </a:xfrm>
          <a:prstGeom prst="rect">
            <a:avLst/>
          </a:prstGeom>
          <a:noFill/>
        </p:spPr>
        <p:txBody>
          <a:bodyPr wrap="square" lIns="0" tIns="0" rIns="0" bIns="0" anchor="ctr">
            <a:spAutoFit/>
          </a:bodyPr>
          <a:lstStyle/>
          <a:p>
            <a:pPr algn="ctr"/>
            <a:r>
              <a:rPr sz="1100" b="0" i="0">
                <a:solidFill>
                  <a:srgbClr val="5F6178"/>
                </a:solidFill>
                <a:latin typeface="Arial"/>
              </a:rPr>
              <a:t>Monthly report</a:t>
            </a:r>
          </a:p>
        </p:txBody>
      </p:sp>
      <p:cxnSp>
        <p:nvCxnSpPr>
          <p:cNvPr id="45" name="Connector 44"/>
          <p:cNvCxnSpPr/>
          <p:nvPr/>
        </p:nvCxnSpPr>
        <p:spPr>
          <a:xfrm>
            <a:off x="640080" y="3127248"/>
            <a:ext cx="10881360" cy="0"/>
          </a:xfrm>
          <a:prstGeom prst="line">
            <a:avLst/>
          </a:prstGeom>
          <a:ln w="25400">
            <a:solidFill>
              <a:srgbClr val="E31C24"/>
            </a:solidFill>
            <a:prstDash val="dash"/>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640080" y="3694176"/>
            <a:ext cx="10881360" cy="0"/>
          </a:xfrm>
          <a:prstGeom prst="line">
            <a:avLst/>
          </a:prstGeom>
          <a:ln w="12700">
            <a:solidFill>
              <a:srgbClr val="E7E9F5"/>
            </a:solidFill>
            <a:prstDash val="dash"/>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8321040" y="2834640"/>
            <a:ext cx="3200400" cy="237744"/>
          </a:xfrm>
          <a:prstGeom prst="rect">
            <a:avLst/>
          </a:prstGeom>
          <a:noFill/>
        </p:spPr>
        <p:txBody>
          <a:bodyPr wrap="square" lIns="0" tIns="0" rIns="0" bIns="0" anchor="t">
            <a:spAutoFit/>
          </a:bodyPr>
          <a:lstStyle/>
          <a:p>
            <a:pPr algn="r"/>
            <a:r>
              <a:rPr sz="1100" b="1" i="0">
                <a:solidFill>
                  <a:srgbClr val="E31C24"/>
                </a:solidFill>
                <a:latin typeface="Arial"/>
              </a:rPr>
              <a:t>Cut here  =  release 1   ▾</a:t>
            </a:r>
          </a:p>
        </p:txBody>
      </p:sp>
      <p:sp>
        <p:nvSpPr>
          <p:cNvPr id="48" name="TextBox 47"/>
          <p:cNvSpPr txBox="1"/>
          <p:nvPr/>
        </p:nvSpPr>
        <p:spPr>
          <a:xfrm>
            <a:off x="9692640" y="3758184"/>
            <a:ext cx="1828800" cy="219456"/>
          </a:xfrm>
          <a:prstGeom prst="rect">
            <a:avLst/>
          </a:prstGeom>
          <a:noFill/>
        </p:spPr>
        <p:txBody>
          <a:bodyPr wrap="square" lIns="0" tIns="0" rIns="0" bIns="0" anchor="t">
            <a:spAutoFit/>
          </a:bodyPr>
          <a:lstStyle/>
          <a:p>
            <a:pPr algn="r"/>
            <a:r>
              <a:rPr sz="950" b="0" i="0">
                <a:solidFill>
                  <a:srgbClr val="5F6178"/>
                </a:solidFill>
                <a:latin typeface="Arial"/>
              </a:rPr>
              <a:t>Release 2 →</a:t>
            </a:r>
          </a:p>
        </p:txBody>
      </p:sp>
      <p:sp>
        <p:nvSpPr>
          <p:cNvPr id="49" name="Rounded Rectangle 48"/>
          <p:cNvSpPr/>
          <p:nvPr/>
        </p:nvSpPr>
        <p:spPr>
          <a:xfrm>
            <a:off x="640080" y="4544568"/>
            <a:ext cx="10908792" cy="822960"/>
          </a:xfrm>
          <a:prstGeom prst="roundRect">
            <a:avLst>
              <a:gd name="adj" fmla="val 5500"/>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868680" y="4581144"/>
            <a:ext cx="10451592" cy="749808"/>
          </a:xfrm>
          <a:prstGeom prst="rect">
            <a:avLst/>
          </a:prstGeom>
          <a:noFill/>
        </p:spPr>
        <p:txBody>
          <a:bodyPr wrap="square" lIns="0" tIns="0" rIns="0" bIns="0" anchor="ctr">
            <a:spAutoFit/>
          </a:bodyPr>
          <a:lstStyle/>
          <a:p>
            <a:pPr algn="l"/>
            <a:r>
              <a:rPr sz="1350" b="0" i="0">
                <a:solidFill>
                  <a:srgbClr val="FFFFFF"/>
                </a:solidFill>
                <a:latin typeface="Arial"/>
              </a:rPr>
              <a:t>Read the yellow row: a student hears about the app, signs up with a phone number, adds money by UPI, scans a QR to pay, and can see what they spent. That is a whole, usable product — built in one release.</a:t>
            </a:r>
          </a:p>
        </p:txBody>
      </p:sp>
      <p:sp>
        <p:nvSpPr>
          <p:cNvPr id="51" name="TextBox 50"/>
          <p:cNvSpPr txBox="1"/>
          <p:nvPr/>
        </p:nvSpPr>
        <p:spPr>
          <a:xfrm>
            <a:off x="640080" y="5550408"/>
            <a:ext cx="10908792" cy="365760"/>
          </a:xfrm>
          <a:prstGeom prst="rect">
            <a:avLst/>
          </a:prstGeom>
          <a:noFill/>
        </p:spPr>
        <p:txBody>
          <a:bodyPr wrap="square" lIns="0" tIns="0" rIns="0" bIns="0" anchor="t">
            <a:spAutoFit/>
          </a:bodyPr>
          <a:lstStyle/>
          <a:p>
            <a:pPr algn="ctr"/>
            <a:r>
              <a:rPr sz="1400" b="1" i="0">
                <a:solidFill>
                  <a:srgbClr val="211D71"/>
                </a:solidFill>
                <a:latin typeface="Arial"/>
              </a:rPr>
              <a:t>Notice: the first release takes ONE card from EVERY column. That is the test of a good cut.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74320"/>
            <a:ext cx="10908792" cy="237744"/>
          </a:xfrm>
          <a:prstGeom prst="rect">
            <a:avLst/>
          </a:prstGeom>
          <a:noFill/>
        </p:spPr>
        <p:txBody>
          <a:bodyPr wrap="square" lIns="0" tIns="0" rIns="0" bIns="0" anchor="t">
            <a:spAutoFit/>
          </a:bodyPr>
          <a:lstStyle/>
          <a:p>
            <a:pPr algn="l"/>
            <a:r>
              <a:rPr sz="1000" b="1" i="0" spc="140">
                <a:solidFill>
                  <a:srgbClr val="A9740A"/>
                </a:solidFill>
                <a:latin typeface="Arial"/>
              </a:rPr>
              <a:t>STORY MAPPING</a:t>
            </a:r>
          </a:p>
        </p:txBody>
      </p:sp>
      <p:sp>
        <p:nvSpPr>
          <p:cNvPr id="3" name="TextBox 2"/>
          <p:cNvSpPr txBox="1"/>
          <p:nvPr/>
        </p:nvSpPr>
        <p:spPr>
          <a:xfrm>
            <a:off x="640080" y="548640"/>
            <a:ext cx="8229600" cy="640080"/>
          </a:xfrm>
          <a:prstGeom prst="rect">
            <a:avLst/>
          </a:prstGeom>
          <a:noFill/>
        </p:spPr>
        <p:txBody>
          <a:bodyPr wrap="square" lIns="0" tIns="0" rIns="0" bIns="0" anchor="t">
            <a:spAutoFit/>
          </a:bodyPr>
          <a:lstStyle/>
          <a:p>
            <a:pPr algn="l"/>
            <a:r>
              <a:rPr sz="2400" b="1" i="0">
                <a:solidFill>
                  <a:srgbClr val="211D71"/>
                </a:solidFill>
                <a:latin typeface="Arial"/>
              </a:rPr>
              <a:t>Release 1 should be thin, not small</a:t>
            </a:r>
          </a:p>
        </p:txBody>
      </p:sp>
      <p:sp>
        <p:nvSpPr>
          <p:cNvPr id="4" name="Rounded Rectangle 3"/>
          <p:cNvSpPr/>
          <p:nvPr/>
        </p:nvSpPr>
        <p:spPr>
          <a:xfrm>
            <a:off x="640080" y="1572768"/>
            <a:ext cx="10908792" cy="1371600"/>
          </a:xfrm>
          <a:prstGeom prst="roundRect">
            <a:avLst>
              <a:gd name="adj" fmla="val 5500"/>
            </a:avLst>
          </a:prstGeom>
          <a:solidFill>
            <a:srgbClr val="FEF4DC"/>
          </a:solidFill>
          <a:ln w="15875">
            <a:solidFill>
              <a:srgbClr val="FCB0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719072"/>
            <a:ext cx="10360152" cy="237744"/>
          </a:xfrm>
          <a:prstGeom prst="rect">
            <a:avLst/>
          </a:prstGeom>
          <a:noFill/>
        </p:spPr>
        <p:txBody>
          <a:bodyPr wrap="square" lIns="0" tIns="0" rIns="0" bIns="0" anchor="t">
            <a:spAutoFit/>
          </a:bodyPr>
          <a:lstStyle/>
          <a:p>
            <a:pPr algn="l"/>
            <a:r>
              <a:rPr sz="1000" b="1" i="0" spc="140">
                <a:solidFill>
                  <a:srgbClr val="A9740A"/>
                </a:solidFill>
                <a:latin typeface="Arial"/>
              </a:rPr>
              <a:t>THINK OF IT LIKE THIS</a:t>
            </a:r>
          </a:p>
        </p:txBody>
      </p:sp>
      <p:sp>
        <p:nvSpPr>
          <p:cNvPr id="6" name="TextBox 5"/>
          <p:cNvSpPr txBox="1"/>
          <p:nvPr/>
        </p:nvSpPr>
        <p:spPr>
          <a:xfrm>
            <a:off x="914400" y="1975104"/>
            <a:ext cx="10360152" cy="822960"/>
          </a:xfrm>
          <a:prstGeom prst="rect">
            <a:avLst/>
          </a:prstGeom>
          <a:noFill/>
        </p:spPr>
        <p:txBody>
          <a:bodyPr wrap="square" lIns="0" tIns="0" rIns="0" bIns="0" anchor="t">
            <a:spAutoFit/>
          </a:bodyPr>
          <a:lstStyle/>
          <a:p>
            <a:pPr algn="l">
              <a:lnSpc>
                <a:spcPts val="2400"/>
              </a:lnSpc>
            </a:pPr>
            <a:r>
              <a:rPr sz="1700" b="1" i="0">
                <a:solidFill>
                  <a:srgbClr val="211D71"/>
                </a:solidFill>
                <a:latin typeface="Arial"/>
              </a:rPr>
              <a:t>A small full meal beats one enormous bowl of soup. Rice, dal and a vegetable in small portions is dinner. Three litres of soup is not.</a:t>
            </a:r>
          </a:p>
        </p:txBody>
      </p:sp>
      <p:sp>
        <p:nvSpPr>
          <p:cNvPr id="7" name="TextBox 6"/>
          <p:cNvSpPr txBox="1"/>
          <p:nvPr/>
        </p:nvSpPr>
        <p:spPr>
          <a:xfrm>
            <a:off x="640080" y="3172968"/>
            <a:ext cx="10908792" cy="731520"/>
          </a:xfrm>
          <a:prstGeom prst="rect">
            <a:avLst/>
          </a:prstGeom>
          <a:noFill/>
        </p:spPr>
        <p:txBody>
          <a:bodyPr wrap="square" lIns="0" tIns="0" rIns="0" bIns="0" anchor="t">
            <a:spAutoFit/>
          </a:bodyPr>
          <a:lstStyle/>
          <a:p>
            <a:pPr algn="l">
              <a:lnSpc>
                <a:spcPts val="2100"/>
              </a:lnSpc>
            </a:pPr>
            <a:r>
              <a:rPr sz="1400" b="0" i="0">
                <a:solidFill>
                  <a:srgbClr val="22223B"/>
                </a:solidFill>
                <a:latin typeface="Arial"/>
              </a:rPr>
              <a:t>Release 1 should let one real person finish the whole journey — even if every step is basic.</a:t>
            </a:r>
          </a:p>
        </p:txBody>
      </p:sp>
      <p:sp>
        <p:nvSpPr>
          <p:cNvPr id="8" name="Rounded Rectangle 7"/>
          <p:cNvSpPr/>
          <p:nvPr/>
        </p:nvSpPr>
        <p:spPr>
          <a:xfrm>
            <a:off x="640080" y="3310128"/>
            <a:ext cx="5271516" cy="2331720"/>
          </a:xfrm>
          <a:prstGeom prst="roundRect">
            <a:avLst>
              <a:gd name="adj" fmla="val 5500"/>
            </a:avLst>
          </a:prstGeom>
          <a:solidFill>
            <a:srgbClr val="FBE9E9"/>
          </a:solidFill>
          <a:ln w="15875">
            <a:solidFill>
              <a:srgbClr val="E31C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96112" y="3493008"/>
            <a:ext cx="4759452" cy="347472"/>
          </a:xfrm>
          <a:prstGeom prst="rect">
            <a:avLst/>
          </a:prstGeom>
          <a:noFill/>
        </p:spPr>
        <p:txBody>
          <a:bodyPr wrap="square" lIns="0" tIns="0" rIns="0" bIns="0" anchor="t">
            <a:spAutoFit/>
          </a:bodyPr>
          <a:lstStyle/>
          <a:p>
            <a:pPr algn="l"/>
            <a:r>
              <a:rPr sz="1600" b="1" i="0">
                <a:solidFill>
                  <a:srgbClr val="E31C24"/>
                </a:solidFill>
                <a:latin typeface="Arial"/>
              </a:rPr>
              <a:t>✗   Half a product</a:t>
            </a:r>
          </a:p>
        </p:txBody>
      </p:sp>
      <p:sp>
        <p:nvSpPr>
          <p:cNvPr id="10" name="TextBox 9"/>
          <p:cNvSpPr txBox="1"/>
          <p:nvPr/>
        </p:nvSpPr>
        <p:spPr>
          <a:xfrm>
            <a:off x="896112" y="3968496"/>
            <a:ext cx="4759452" cy="1490472"/>
          </a:xfrm>
          <a:prstGeom prst="rect">
            <a:avLst/>
          </a:prstGeom>
          <a:noFill/>
        </p:spPr>
        <p:txBody>
          <a:bodyPr wrap="square" lIns="0" tIns="0" rIns="0" bIns="0">
            <a:spAutoFit/>
          </a:bodyPr>
          <a:lstStyle/>
          <a:p>
            <a:pPr marL="173736" indent="-173736">
              <a:lnSpc>
                <a:spcPts val="1900"/>
              </a:lnSpc>
              <a:spcAft>
                <a:spcPts val="1000"/>
              </a:spcAft>
              <a:buChar char="•"/>
            </a:pPr>
            <a:r>
              <a:rPr sz="1400" b="0">
                <a:solidFill>
                  <a:srgbClr val="22223B"/>
                </a:solidFill>
                <a:latin typeface="Arial"/>
              </a:rPr>
              <a:t>Sign-up is beautiful and complete</a:t>
            </a:r>
          </a:p>
          <a:p>
            <a:pPr marL="173736" indent="-173736">
              <a:lnSpc>
                <a:spcPts val="1900"/>
              </a:lnSpc>
              <a:spcAft>
                <a:spcPts val="1000"/>
              </a:spcAft>
              <a:buChar char="•"/>
            </a:pPr>
            <a:r>
              <a:rPr sz="1400" b="0">
                <a:solidFill>
                  <a:srgbClr val="22223B"/>
                </a:solidFill>
                <a:latin typeface="Arial"/>
              </a:rPr>
              <a:t>Ten ways to add money</a:t>
            </a:r>
          </a:p>
          <a:p>
            <a:pPr marL="173736" indent="-173736">
              <a:lnSpc>
                <a:spcPts val="1900"/>
              </a:lnSpc>
              <a:spcAft>
                <a:spcPts val="1000"/>
              </a:spcAft>
              <a:buChar char="•"/>
            </a:pPr>
            <a:r>
              <a:rPr sz="1400" b="0">
                <a:solidFill>
                  <a:srgbClr val="22223B"/>
                </a:solidFill>
                <a:latin typeface="Arial"/>
              </a:rPr>
              <a:t>But you still cannot pay for anything</a:t>
            </a:r>
          </a:p>
          <a:p>
            <a:pPr marL="173736" indent="-173736">
              <a:lnSpc>
                <a:spcPts val="1900"/>
              </a:lnSpc>
              <a:spcAft>
                <a:spcPts val="1000"/>
              </a:spcAft>
              <a:buChar char="•"/>
            </a:pPr>
            <a:r>
              <a:rPr sz="1400" b="0">
                <a:solidFill>
                  <a:srgbClr val="22223B"/>
                </a:solidFill>
                <a:latin typeface="Arial"/>
              </a:rPr>
              <a:t>Nobody can use it, so nobody can tell you if it is any good</a:t>
            </a:r>
          </a:p>
        </p:txBody>
      </p:sp>
      <p:sp>
        <p:nvSpPr>
          <p:cNvPr id="11" name="Rounded Rectangle 10"/>
          <p:cNvSpPr/>
          <p:nvPr/>
        </p:nvSpPr>
        <p:spPr>
          <a:xfrm>
            <a:off x="6277356" y="3310128"/>
            <a:ext cx="5271516" cy="2331720"/>
          </a:xfrm>
          <a:prstGeom prst="roundRect">
            <a:avLst>
              <a:gd name="adj" fmla="val 5500"/>
            </a:avLst>
          </a:prstGeom>
          <a:solidFill>
            <a:srgbClr val="E8F5EE"/>
          </a:solidFill>
          <a:ln w="15875">
            <a:solidFill>
              <a:srgbClr val="1E7A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33388" y="3493008"/>
            <a:ext cx="4759452" cy="347472"/>
          </a:xfrm>
          <a:prstGeom prst="rect">
            <a:avLst/>
          </a:prstGeom>
          <a:noFill/>
        </p:spPr>
        <p:txBody>
          <a:bodyPr wrap="square" lIns="0" tIns="0" rIns="0" bIns="0" anchor="t">
            <a:spAutoFit/>
          </a:bodyPr>
          <a:lstStyle/>
          <a:p>
            <a:pPr algn="l"/>
            <a:r>
              <a:rPr sz="1600" b="1" i="0">
                <a:solidFill>
                  <a:srgbClr val="1E7A4C"/>
                </a:solidFill>
                <a:latin typeface="Arial"/>
              </a:rPr>
              <a:t>✓   A thin whole product</a:t>
            </a:r>
          </a:p>
        </p:txBody>
      </p:sp>
      <p:sp>
        <p:nvSpPr>
          <p:cNvPr id="13" name="TextBox 12"/>
          <p:cNvSpPr txBox="1"/>
          <p:nvPr/>
        </p:nvSpPr>
        <p:spPr>
          <a:xfrm>
            <a:off x="6533388" y="3968496"/>
            <a:ext cx="4759452" cy="1490472"/>
          </a:xfrm>
          <a:prstGeom prst="rect">
            <a:avLst/>
          </a:prstGeom>
          <a:noFill/>
        </p:spPr>
        <p:txBody>
          <a:bodyPr wrap="square" lIns="0" tIns="0" rIns="0" bIns="0">
            <a:spAutoFit/>
          </a:bodyPr>
          <a:lstStyle/>
          <a:p>
            <a:pPr marL="173736" indent="-173736">
              <a:lnSpc>
                <a:spcPts val="1900"/>
              </a:lnSpc>
              <a:spcAft>
                <a:spcPts val="1000"/>
              </a:spcAft>
              <a:buChar char="•"/>
            </a:pPr>
            <a:r>
              <a:rPr sz="1400" b="0">
                <a:solidFill>
                  <a:srgbClr val="22223B"/>
                </a:solidFill>
                <a:latin typeface="Arial"/>
              </a:rPr>
              <a:t>Sign-up works, plainly</a:t>
            </a:r>
          </a:p>
          <a:p>
            <a:pPr marL="173736" indent="-173736">
              <a:lnSpc>
                <a:spcPts val="1900"/>
              </a:lnSpc>
              <a:spcAft>
                <a:spcPts val="1000"/>
              </a:spcAft>
              <a:buChar char="•"/>
            </a:pPr>
            <a:r>
              <a:rPr sz="1400" b="0">
                <a:solidFill>
                  <a:srgbClr val="22223B"/>
                </a:solidFill>
                <a:latin typeface="Arial"/>
              </a:rPr>
              <a:t>One way to add money</a:t>
            </a:r>
          </a:p>
          <a:p>
            <a:pPr marL="173736" indent="-173736">
              <a:lnSpc>
                <a:spcPts val="1900"/>
              </a:lnSpc>
              <a:spcAft>
                <a:spcPts val="1000"/>
              </a:spcAft>
              <a:buChar char="•"/>
            </a:pPr>
            <a:r>
              <a:rPr sz="1400" b="0">
                <a:solidFill>
                  <a:srgbClr val="22223B"/>
                </a:solidFill>
                <a:latin typeface="Arial"/>
              </a:rPr>
              <a:t>You can pay at the canteen</a:t>
            </a:r>
          </a:p>
          <a:p>
            <a:pPr marL="173736" indent="-173736">
              <a:lnSpc>
                <a:spcPts val="1900"/>
              </a:lnSpc>
              <a:spcAft>
                <a:spcPts val="1000"/>
              </a:spcAft>
              <a:buChar char="•"/>
            </a:pPr>
            <a:r>
              <a:rPr sz="1400" b="0">
                <a:solidFill>
                  <a:srgbClr val="22223B"/>
                </a:solidFill>
                <a:latin typeface="Arial"/>
              </a:rPr>
              <a:t>A student can buy lunch without cash. You learn something real in week 8.</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74320"/>
            <a:ext cx="10908792" cy="237744"/>
          </a:xfrm>
          <a:prstGeom prst="rect">
            <a:avLst/>
          </a:prstGeom>
          <a:noFill/>
        </p:spPr>
        <p:txBody>
          <a:bodyPr wrap="square" lIns="0" tIns="0" rIns="0" bIns="0" anchor="t">
            <a:spAutoFit/>
          </a:bodyPr>
          <a:lstStyle/>
          <a:p>
            <a:pPr algn="l"/>
            <a:r>
              <a:rPr sz="1000" b="1" i="0" spc="140">
                <a:solidFill>
                  <a:srgbClr val="A9740A"/>
                </a:solidFill>
                <a:latin typeface="Arial"/>
              </a:rPr>
              <a:t>STORY MAPPING</a:t>
            </a:r>
          </a:p>
        </p:txBody>
      </p:sp>
      <p:sp>
        <p:nvSpPr>
          <p:cNvPr id="3" name="TextBox 2"/>
          <p:cNvSpPr txBox="1"/>
          <p:nvPr/>
        </p:nvSpPr>
        <p:spPr>
          <a:xfrm>
            <a:off x="640080" y="548640"/>
            <a:ext cx="8229600" cy="640080"/>
          </a:xfrm>
          <a:prstGeom prst="rect">
            <a:avLst/>
          </a:prstGeom>
          <a:noFill/>
        </p:spPr>
        <p:txBody>
          <a:bodyPr wrap="square" lIns="0" tIns="0" rIns="0" bIns="0" anchor="t">
            <a:spAutoFit/>
          </a:bodyPr>
          <a:lstStyle/>
          <a:p>
            <a:pPr algn="l"/>
            <a:r>
              <a:rPr sz="2400" b="1" i="0">
                <a:solidFill>
                  <a:srgbClr val="211D71"/>
                </a:solidFill>
                <a:latin typeface="Arial"/>
              </a:rPr>
              <a:t>The mistake almost everyone makes</a:t>
            </a:r>
          </a:p>
        </p:txBody>
      </p:sp>
      <p:sp>
        <p:nvSpPr>
          <p:cNvPr id="4" name="Rounded Rectangle 3"/>
          <p:cNvSpPr/>
          <p:nvPr/>
        </p:nvSpPr>
        <p:spPr>
          <a:xfrm>
            <a:off x="640080" y="1618488"/>
            <a:ext cx="5271516" cy="3200400"/>
          </a:xfrm>
          <a:prstGeom prst="roundRect">
            <a:avLst>
              <a:gd name="adj" fmla="val 5500"/>
            </a:avLst>
          </a:prstGeom>
          <a:solidFill>
            <a:srgbClr val="FBE9E9"/>
          </a:solidFill>
          <a:ln w="15875">
            <a:solidFill>
              <a:srgbClr val="E31C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96112" y="1801367"/>
            <a:ext cx="4759452" cy="347472"/>
          </a:xfrm>
          <a:prstGeom prst="rect">
            <a:avLst/>
          </a:prstGeom>
          <a:noFill/>
        </p:spPr>
        <p:txBody>
          <a:bodyPr wrap="square" lIns="0" tIns="0" rIns="0" bIns="0" anchor="t">
            <a:spAutoFit/>
          </a:bodyPr>
          <a:lstStyle/>
          <a:p>
            <a:pPr algn="l"/>
            <a:r>
              <a:rPr sz="1600" b="1" i="0">
                <a:solidFill>
                  <a:srgbClr val="E31C24"/>
                </a:solidFill>
                <a:latin typeface="Arial"/>
              </a:rPr>
              <a:t>✗   Cutting by technology</a:t>
            </a:r>
          </a:p>
        </p:txBody>
      </p:sp>
      <p:sp>
        <p:nvSpPr>
          <p:cNvPr id="6" name="TextBox 5"/>
          <p:cNvSpPr txBox="1"/>
          <p:nvPr/>
        </p:nvSpPr>
        <p:spPr>
          <a:xfrm>
            <a:off x="896112" y="2276856"/>
            <a:ext cx="4759452" cy="2359152"/>
          </a:xfrm>
          <a:prstGeom prst="rect">
            <a:avLst/>
          </a:prstGeom>
          <a:noFill/>
        </p:spPr>
        <p:txBody>
          <a:bodyPr wrap="square" lIns="0" tIns="0" rIns="0" bIns="0">
            <a:spAutoFit/>
          </a:bodyPr>
          <a:lstStyle/>
          <a:p>
            <a:pPr marL="173736" indent="-173736">
              <a:lnSpc>
                <a:spcPts val="1900"/>
              </a:lnSpc>
              <a:spcAft>
                <a:spcPts val="1000"/>
              </a:spcAft>
              <a:buChar char="•"/>
            </a:pPr>
            <a:r>
              <a:rPr sz="1400" b="0">
                <a:solidFill>
                  <a:srgbClr val="22223B"/>
                </a:solidFill>
                <a:latin typeface="Arial"/>
              </a:rPr>
              <a:t>Release 1: the database</a:t>
            </a:r>
          </a:p>
          <a:p>
            <a:pPr marL="173736" indent="-173736">
              <a:lnSpc>
                <a:spcPts val="1900"/>
              </a:lnSpc>
              <a:spcAft>
                <a:spcPts val="1000"/>
              </a:spcAft>
              <a:buChar char="•"/>
            </a:pPr>
            <a:r>
              <a:rPr sz="1400" b="0">
                <a:solidFill>
                  <a:srgbClr val="22223B"/>
                </a:solidFill>
                <a:latin typeface="Arial"/>
              </a:rPr>
              <a:t>Release 2: the APIs</a:t>
            </a:r>
          </a:p>
          <a:p>
            <a:pPr marL="173736" indent="-173736">
              <a:lnSpc>
                <a:spcPts val="1900"/>
              </a:lnSpc>
              <a:spcAft>
                <a:spcPts val="1000"/>
              </a:spcAft>
              <a:buChar char="•"/>
            </a:pPr>
            <a:r>
              <a:rPr sz="1400" b="0">
                <a:solidFill>
                  <a:srgbClr val="22223B"/>
                </a:solidFill>
                <a:latin typeface="Arial"/>
              </a:rPr>
              <a:t>Release 3: the screens</a:t>
            </a:r>
          </a:p>
          <a:p>
            <a:pPr marL="173736" indent="-173736">
              <a:lnSpc>
                <a:spcPts val="1900"/>
              </a:lnSpc>
              <a:spcAft>
                <a:spcPts val="1000"/>
              </a:spcAft>
              <a:buChar char="•"/>
            </a:pPr>
            <a:r>
              <a:rPr sz="1400" b="0">
                <a:solidFill>
                  <a:srgbClr val="22223B"/>
                </a:solidFill>
                <a:latin typeface="Arial"/>
              </a:rPr>
              <a:t>Nothing is usable until release 3</a:t>
            </a:r>
          </a:p>
          <a:p>
            <a:pPr marL="173736" indent="-173736">
              <a:lnSpc>
                <a:spcPts val="1900"/>
              </a:lnSpc>
              <a:spcAft>
                <a:spcPts val="1000"/>
              </a:spcAft>
              <a:buChar char="•"/>
            </a:pPr>
            <a:r>
              <a:rPr sz="1400" b="0">
                <a:solidFill>
                  <a:srgbClr val="22223B"/>
                </a:solidFill>
                <a:latin typeface="Arial"/>
              </a:rPr>
              <a:t>All the risk lands at the end</a:t>
            </a:r>
          </a:p>
        </p:txBody>
      </p:sp>
      <p:sp>
        <p:nvSpPr>
          <p:cNvPr id="7" name="Rounded Rectangle 6"/>
          <p:cNvSpPr/>
          <p:nvPr/>
        </p:nvSpPr>
        <p:spPr>
          <a:xfrm>
            <a:off x="6277356" y="1618488"/>
            <a:ext cx="5271516" cy="3200400"/>
          </a:xfrm>
          <a:prstGeom prst="roundRect">
            <a:avLst>
              <a:gd name="adj" fmla="val 5500"/>
            </a:avLst>
          </a:prstGeom>
          <a:solidFill>
            <a:srgbClr val="E8F5EE"/>
          </a:solidFill>
          <a:ln w="15875">
            <a:solidFill>
              <a:srgbClr val="1E7A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33388" y="1801367"/>
            <a:ext cx="4759452" cy="347472"/>
          </a:xfrm>
          <a:prstGeom prst="rect">
            <a:avLst/>
          </a:prstGeom>
          <a:noFill/>
        </p:spPr>
        <p:txBody>
          <a:bodyPr wrap="square" lIns="0" tIns="0" rIns="0" bIns="0" anchor="t">
            <a:spAutoFit/>
          </a:bodyPr>
          <a:lstStyle/>
          <a:p>
            <a:pPr algn="l"/>
            <a:r>
              <a:rPr sz="1600" b="1" i="0">
                <a:solidFill>
                  <a:srgbClr val="1E7A4C"/>
                </a:solidFill>
                <a:latin typeface="Arial"/>
              </a:rPr>
              <a:t>✓   Cutting by what a user can do</a:t>
            </a:r>
          </a:p>
        </p:txBody>
      </p:sp>
      <p:sp>
        <p:nvSpPr>
          <p:cNvPr id="9" name="TextBox 8"/>
          <p:cNvSpPr txBox="1"/>
          <p:nvPr/>
        </p:nvSpPr>
        <p:spPr>
          <a:xfrm>
            <a:off x="6533388" y="2276856"/>
            <a:ext cx="4759452" cy="2359152"/>
          </a:xfrm>
          <a:prstGeom prst="rect">
            <a:avLst/>
          </a:prstGeom>
          <a:noFill/>
        </p:spPr>
        <p:txBody>
          <a:bodyPr wrap="square" lIns="0" tIns="0" rIns="0" bIns="0">
            <a:spAutoFit/>
          </a:bodyPr>
          <a:lstStyle/>
          <a:p>
            <a:pPr marL="173736" indent="-173736">
              <a:lnSpc>
                <a:spcPts val="1900"/>
              </a:lnSpc>
              <a:spcAft>
                <a:spcPts val="1000"/>
              </a:spcAft>
              <a:buChar char="•"/>
            </a:pPr>
            <a:r>
              <a:rPr sz="1400" b="0">
                <a:solidFill>
                  <a:srgbClr val="22223B"/>
                </a:solidFill>
                <a:latin typeface="Arial"/>
              </a:rPr>
              <a:t>Release 1: buy lunch at one shop</a:t>
            </a:r>
          </a:p>
          <a:p>
            <a:pPr marL="173736" indent="-173736">
              <a:lnSpc>
                <a:spcPts val="1900"/>
              </a:lnSpc>
              <a:spcAft>
                <a:spcPts val="1000"/>
              </a:spcAft>
              <a:buChar char="•"/>
            </a:pPr>
            <a:r>
              <a:rPr sz="1400" b="0">
                <a:solidFill>
                  <a:srgbClr val="22223B"/>
                </a:solidFill>
                <a:latin typeface="Arial"/>
              </a:rPr>
              <a:t>Release 2: buy at all shops, split bills</a:t>
            </a:r>
          </a:p>
          <a:p>
            <a:pPr marL="173736" indent="-173736">
              <a:lnSpc>
                <a:spcPts val="1900"/>
              </a:lnSpc>
              <a:spcAft>
                <a:spcPts val="1000"/>
              </a:spcAft>
              <a:buChar char="•"/>
            </a:pPr>
            <a:r>
              <a:rPr sz="1400" b="0">
                <a:solidFill>
                  <a:srgbClr val="22223B"/>
                </a:solidFill>
                <a:latin typeface="Arial"/>
              </a:rPr>
              <a:t>Release 3: offline pay, rewards</a:t>
            </a:r>
          </a:p>
          <a:p>
            <a:pPr marL="173736" indent="-173736">
              <a:lnSpc>
                <a:spcPts val="1900"/>
              </a:lnSpc>
              <a:spcAft>
                <a:spcPts val="1000"/>
              </a:spcAft>
              <a:buChar char="•"/>
            </a:pPr>
            <a:r>
              <a:rPr sz="1400" b="0">
                <a:solidFill>
                  <a:srgbClr val="22223B"/>
                </a:solidFill>
                <a:latin typeface="Arial"/>
              </a:rPr>
              <a:t>Every release is usable and testable</a:t>
            </a:r>
          </a:p>
          <a:p>
            <a:pPr marL="173736" indent="-173736">
              <a:lnSpc>
                <a:spcPts val="1900"/>
              </a:lnSpc>
              <a:spcAft>
                <a:spcPts val="1000"/>
              </a:spcAft>
              <a:buChar char="•"/>
            </a:pPr>
            <a:r>
              <a:rPr sz="1400" b="0">
                <a:solidFill>
                  <a:srgbClr val="22223B"/>
                </a:solidFill>
                <a:latin typeface="Arial"/>
              </a:rPr>
              <a:t>You learn while there is still time to change</a:t>
            </a:r>
          </a:p>
        </p:txBody>
      </p:sp>
      <p:sp>
        <p:nvSpPr>
          <p:cNvPr id="10" name="Rounded Rectangle 9"/>
          <p:cNvSpPr/>
          <p:nvPr/>
        </p:nvSpPr>
        <p:spPr>
          <a:xfrm>
            <a:off x="640080" y="5047488"/>
            <a:ext cx="10908792" cy="777240"/>
          </a:xfrm>
          <a:prstGeom prst="roundRect">
            <a:avLst>
              <a:gd name="adj" fmla="val 5500"/>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5084064"/>
            <a:ext cx="10451592" cy="704088"/>
          </a:xfrm>
          <a:prstGeom prst="rect">
            <a:avLst/>
          </a:prstGeom>
          <a:noFill/>
        </p:spPr>
        <p:txBody>
          <a:bodyPr wrap="square" lIns="0" tIns="0" rIns="0" bIns="0" anchor="ctr">
            <a:spAutoFit/>
          </a:bodyPr>
          <a:lstStyle/>
          <a:p>
            <a:pPr algn="l"/>
            <a:r>
              <a:rPr sz="1350" b="1" i="0">
                <a:solidFill>
                  <a:srgbClr val="FFFFFF"/>
                </a:solidFill>
                <a:latin typeface="Arial"/>
              </a:rPr>
              <a:t>Quick test for any plan: can one real person finish the journey with only what is in this release? If not, it is a part, not a release.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74320"/>
            <a:ext cx="10908792" cy="237744"/>
          </a:xfrm>
          <a:prstGeom prst="rect">
            <a:avLst/>
          </a:prstGeom>
          <a:noFill/>
        </p:spPr>
        <p:txBody>
          <a:bodyPr wrap="square" lIns="0" tIns="0" rIns="0" bIns="0" anchor="t">
            <a:spAutoFit/>
          </a:bodyPr>
          <a:lstStyle/>
          <a:p>
            <a:pPr algn="l"/>
            <a:r>
              <a:rPr sz="1000" b="1" i="0" spc="140">
                <a:solidFill>
                  <a:srgbClr val="A9740A"/>
                </a:solidFill>
                <a:latin typeface="Arial"/>
              </a:rPr>
              <a:t>3 QUESTIONS  ·  90 SECONDS  ·  25–28 MIN</a:t>
            </a:r>
          </a:p>
        </p:txBody>
      </p:sp>
      <p:sp>
        <p:nvSpPr>
          <p:cNvPr id="3" name="TextBox 2"/>
          <p:cNvSpPr txBox="1"/>
          <p:nvPr/>
        </p:nvSpPr>
        <p:spPr>
          <a:xfrm>
            <a:off x="640080" y="548640"/>
            <a:ext cx="8229600" cy="640080"/>
          </a:xfrm>
          <a:prstGeom prst="rect">
            <a:avLst/>
          </a:prstGeom>
          <a:noFill/>
        </p:spPr>
        <p:txBody>
          <a:bodyPr wrap="square" lIns="0" tIns="0" rIns="0" bIns="0" anchor="t">
            <a:spAutoFit/>
          </a:bodyPr>
          <a:lstStyle/>
          <a:p>
            <a:pPr algn="l"/>
            <a:r>
              <a:rPr sz="2400" b="1" i="0">
                <a:solidFill>
                  <a:srgbClr val="211D71"/>
                </a:solidFill>
                <a:latin typeface="Arial"/>
              </a:rPr>
              <a:t>Quiz 1 — Story Mapping</a:t>
            </a:r>
          </a:p>
        </p:txBody>
      </p:sp>
      <p:sp>
        <p:nvSpPr>
          <p:cNvPr id="4" name="Rounded Rectangle 3"/>
          <p:cNvSpPr/>
          <p:nvPr/>
        </p:nvSpPr>
        <p:spPr>
          <a:xfrm>
            <a:off x="640080" y="1463040"/>
            <a:ext cx="10908792" cy="137160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536192"/>
            <a:ext cx="10451592" cy="310896"/>
          </a:xfrm>
          <a:prstGeom prst="rect">
            <a:avLst/>
          </a:prstGeom>
          <a:noFill/>
        </p:spPr>
        <p:txBody>
          <a:bodyPr wrap="square" lIns="0" tIns="0" rIns="0" bIns="0" anchor="t">
            <a:spAutoFit/>
          </a:bodyPr>
          <a:lstStyle/>
          <a:p>
            <a:pPr algn="l"/>
            <a:r>
              <a:rPr sz="1450" b="1" i="0">
                <a:solidFill>
                  <a:srgbClr val="211D71"/>
                </a:solidFill>
                <a:latin typeface="Arial"/>
              </a:rPr>
              <a:t>Q1.  The top row of a story map shows:</a:t>
            </a:r>
          </a:p>
        </p:txBody>
      </p:sp>
      <p:sp>
        <p:nvSpPr>
          <p:cNvPr id="6" name="TextBox 5"/>
          <p:cNvSpPr txBox="1"/>
          <p:nvPr/>
        </p:nvSpPr>
        <p:spPr>
          <a:xfrm>
            <a:off x="1143000" y="1865376"/>
            <a:ext cx="10177272" cy="950976"/>
          </a:xfrm>
          <a:prstGeom prst="rect">
            <a:avLst/>
          </a:prstGeom>
          <a:noFill/>
        </p:spPr>
        <p:txBody>
          <a:bodyPr wrap="square" lIns="0" tIns="0" rIns="0" bIns="0" anchor="t">
            <a:spAutoFit/>
          </a:bodyPr>
          <a:lstStyle/>
          <a:p>
            <a:pPr algn="l">
              <a:lnSpc>
                <a:spcPts val="1800"/>
              </a:lnSpc>
            </a:pPr>
            <a:r>
              <a:rPr sz="1300" b="0" i="0">
                <a:solidFill>
                  <a:srgbClr val="22223B"/>
                </a:solidFill>
                <a:latin typeface="Arial"/>
              </a:rPr>
              <a:t>(a) the order the team will build things</a:t>
            </a:r>
          </a:p>
          <a:p>
            <a:pPr algn="l">
              <a:lnSpc>
                <a:spcPts val="1800"/>
              </a:lnSpc>
            </a:pPr>
            <a:r>
              <a:rPr sz="1300" b="0" i="0">
                <a:solidFill>
                  <a:srgbClr val="22223B"/>
                </a:solidFill>
                <a:latin typeface="Arial"/>
              </a:rPr>
              <a:t>(b) the steps the user goes through, in order</a:t>
            </a:r>
          </a:p>
          <a:p>
            <a:pPr algn="l">
              <a:lnSpc>
                <a:spcPts val="1800"/>
              </a:lnSpc>
            </a:pPr>
            <a:r>
              <a:rPr sz="1300" b="0" i="0">
                <a:solidFill>
                  <a:srgbClr val="22223B"/>
                </a:solidFill>
                <a:latin typeface="Arial"/>
              </a:rPr>
              <a:t>(c) the technical layers of the system</a:t>
            </a:r>
          </a:p>
          <a:p>
            <a:pPr algn="l">
              <a:lnSpc>
                <a:spcPts val="1800"/>
              </a:lnSpc>
            </a:pPr>
            <a:r>
              <a:rPr sz="1300" b="0" i="0">
                <a:solidFill>
                  <a:srgbClr val="22223B"/>
                </a:solidFill>
                <a:latin typeface="Arial"/>
              </a:rPr>
              <a:t>(d) items ranked most to least important</a:t>
            </a:r>
          </a:p>
        </p:txBody>
      </p:sp>
      <p:sp>
        <p:nvSpPr>
          <p:cNvPr id="7" name="Rounded Rectangle 6"/>
          <p:cNvSpPr/>
          <p:nvPr/>
        </p:nvSpPr>
        <p:spPr>
          <a:xfrm>
            <a:off x="640080" y="3075432"/>
            <a:ext cx="10908792" cy="137160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3148584"/>
            <a:ext cx="10451592" cy="310896"/>
          </a:xfrm>
          <a:prstGeom prst="rect">
            <a:avLst/>
          </a:prstGeom>
          <a:noFill/>
        </p:spPr>
        <p:txBody>
          <a:bodyPr wrap="square" lIns="0" tIns="0" rIns="0" bIns="0" anchor="t">
            <a:spAutoFit/>
          </a:bodyPr>
          <a:lstStyle/>
          <a:p>
            <a:pPr algn="l"/>
            <a:r>
              <a:rPr sz="1450" b="1" i="0">
                <a:solidFill>
                  <a:srgbClr val="211D71"/>
                </a:solidFill>
                <a:latin typeface="Arial"/>
              </a:rPr>
              <a:t>Q2.  A good first release is:</a:t>
            </a:r>
          </a:p>
        </p:txBody>
      </p:sp>
      <p:sp>
        <p:nvSpPr>
          <p:cNvPr id="9" name="TextBox 8"/>
          <p:cNvSpPr txBox="1"/>
          <p:nvPr/>
        </p:nvSpPr>
        <p:spPr>
          <a:xfrm>
            <a:off x="1143000" y="3477768"/>
            <a:ext cx="10177272" cy="950976"/>
          </a:xfrm>
          <a:prstGeom prst="rect">
            <a:avLst/>
          </a:prstGeom>
          <a:noFill/>
        </p:spPr>
        <p:txBody>
          <a:bodyPr wrap="square" lIns="0" tIns="0" rIns="0" bIns="0" anchor="t">
            <a:spAutoFit/>
          </a:bodyPr>
          <a:lstStyle/>
          <a:p>
            <a:pPr algn="l">
              <a:lnSpc>
                <a:spcPts val="1800"/>
              </a:lnSpc>
            </a:pPr>
            <a:r>
              <a:rPr sz="1300" b="0" i="0">
                <a:solidFill>
                  <a:srgbClr val="22223B"/>
                </a:solidFill>
                <a:latin typeface="Arial"/>
              </a:rPr>
              <a:t>(a) one complete step, done beautifully</a:t>
            </a:r>
          </a:p>
          <a:p>
            <a:pPr algn="l">
              <a:lnSpc>
                <a:spcPts val="1800"/>
              </a:lnSpc>
            </a:pPr>
            <a:r>
              <a:rPr sz="1300" b="0" i="0">
                <a:solidFill>
                  <a:srgbClr val="22223B"/>
                </a:solidFill>
                <a:latin typeface="Arial"/>
              </a:rPr>
              <a:t>(b) thin but complete — the user can finish the whole journey</a:t>
            </a:r>
          </a:p>
          <a:p>
            <a:pPr algn="l">
              <a:lnSpc>
                <a:spcPts val="1800"/>
              </a:lnSpc>
            </a:pPr>
            <a:r>
              <a:rPr sz="1300" b="0" i="0">
                <a:solidFill>
                  <a:srgbClr val="22223B"/>
                </a:solidFill>
                <a:latin typeface="Arial"/>
              </a:rPr>
              <a:t>(c) everything marked Must-have</a:t>
            </a:r>
          </a:p>
          <a:p>
            <a:pPr algn="l">
              <a:lnSpc>
                <a:spcPts val="1800"/>
              </a:lnSpc>
            </a:pPr>
            <a:r>
              <a:rPr sz="1300" b="0" i="0">
                <a:solidFill>
                  <a:srgbClr val="22223B"/>
                </a:solidFill>
                <a:latin typeface="Arial"/>
              </a:rPr>
              <a:t>(d) a prototype you throw away afterwards</a:t>
            </a:r>
          </a:p>
        </p:txBody>
      </p:sp>
      <p:sp>
        <p:nvSpPr>
          <p:cNvPr id="10" name="Rounded Rectangle 9"/>
          <p:cNvSpPr/>
          <p:nvPr/>
        </p:nvSpPr>
        <p:spPr>
          <a:xfrm>
            <a:off x="640080" y="4687824"/>
            <a:ext cx="10908792" cy="137160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4760975"/>
            <a:ext cx="10451592" cy="310896"/>
          </a:xfrm>
          <a:prstGeom prst="rect">
            <a:avLst/>
          </a:prstGeom>
          <a:noFill/>
        </p:spPr>
        <p:txBody>
          <a:bodyPr wrap="square" lIns="0" tIns="0" rIns="0" bIns="0" anchor="t">
            <a:spAutoFit/>
          </a:bodyPr>
          <a:lstStyle/>
          <a:p>
            <a:pPr algn="l"/>
            <a:r>
              <a:rPr sz="1450" b="1" i="0">
                <a:solidFill>
                  <a:srgbClr val="211D71"/>
                </a:solidFill>
                <a:latin typeface="Arial"/>
              </a:rPr>
              <a:t>Q3.  Which is a sign the map is being used badly?</a:t>
            </a:r>
          </a:p>
        </p:txBody>
      </p:sp>
      <p:sp>
        <p:nvSpPr>
          <p:cNvPr id="12" name="TextBox 11"/>
          <p:cNvSpPr txBox="1"/>
          <p:nvPr/>
        </p:nvSpPr>
        <p:spPr>
          <a:xfrm>
            <a:off x="1143000" y="5090160"/>
            <a:ext cx="10177272" cy="950976"/>
          </a:xfrm>
          <a:prstGeom prst="rect">
            <a:avLst/>
          </a:prstGeom>
          <a:noFill/>
        </p:spPr>
        <p:txBody>
          <a:bodyPr wrap="square" lIns="0" tIns="0" rIns="0" bIns="0" anchor="t">
            <a:spAutoFit/>
          </a:bodyPr>
          <a:lstStyle/>
          <a:p>
            <a:pPr algn="l">
              <a:lnSpc>
                <a:spcPts val="1800"/>
              </a:lnSpc>
            </a:pPr>
            <a:r>
              <a:rPr sz="1300" b="0" i="0">
                <a:solidFill>
                  <a:srgbClr val="22223B"/>
                </a:solidFill>
                <a:latin typeface="Arial"/>
              </a:rPr>
              <a:t>(a) cards get moved around during the workshop</a:t>
            </a:r>
          </a:p>
          <a:p>
            <a:pPr algn="l">
              <a:lnSpc>
                <a:spcPts val="1800"/>
              </a:lnSpc>
            </a:pPr>
            <a:r>
              <a:rPr sz="1300" b="0" i="0">
                <a:solidFill>
                  <a:srgbClr val="22223B"/>
                </a:solidFill>
                <a:latin typeface="Arial"/>
              </a:rPr>
              <a:t>(b) releases are cut as database, then APIs, then screens</a:t>
            </a:r>
          </a:p>
          <a:p>
            <a:pPr algn="l">
              <a:lnSpc>
                <a:spcPts val="1800"/>
              </a:lnSpc>
            </a:pPr>
            <a:r>
              <a:rPr sz="1300" b="0" i="0">
                <a:solidFill>
                  <a:srgbClr val="22223B"/>
                </a:solidFill>
                <a:latin typeface="Arial"/>
              </a:rPr>
              <a:t>(c) it is on a wall instead of in software</a:t>
            </a:r>
          </a:p>
          <a:p>
            <a:pPr algn="l">
              <a:lnSpc>
                <a:spcPts val="1800"/>
              </a:lnSpc>
            </a:pPr>
            <a:r>
              <a:rPr sz="1300" b="0" i="0">
                <a:solidFill>
                  <a:srgbClr val="22223B"/>
                </a:solidFill>
                <a:latin typeface="Arial"/>
              </a:rPr>
              <a:t>(d) one column has more cards than the others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74320"/>
            <a:ext cx="10908792" cy="237744"/>
          </a:xfrm>
          <a:prstGeom prst="rect">
            <a:avLst/>
          </a:prstGeom>
          <a:noFill/>
        </p:spPr>
        <p:txBody>
          <a:bodyPr wrap="square" lIns="0" tIns="0" rIns="0" bIns="0" anchor="t">
            <a:spAutoFit/>
          </a:bodyPr>
          <a:lstStyle/>
          <a:p>
            <a:pPr algn="l"/>
            <a:r>
              <a:rPr sz="1000" b="1" i="0" spc="140">
                <a:solidFill>
                  <a:srgbClr val="A9740A"/>
                </a:solidFill>
                <a:latin typeface="Arial"/>
              </a:rPr>
              <a:t>DEBRIEF</a:t>
            </a:r>
          </a:p>
        </p:txBody>
      </p:sp>
      <p:sp>
        <p:nvSpPr>
          <p:cNvPr id="3" name="TextBox 2"/>
          <p:cNvSpPr txBox="1"/>
          <p:nvPr/>
        </p:nvSpPr>
        <p:spPr>
          <a:xfrm>
            <a:off x="640080" y="548640"/>
            <a:ext cx="8229600" cy="640080"/>
          </a:xfrm>
          <a:prstGeom prst="rect">
            <a:avLst/>
          </a:prstGeom>
          <a:noFill/>
        </p:spPr>
        <p:txBody>
          <a:bodyPr wrap="square" lIns="0" tIns="0" rIns="0" bIns="0" anchor="t">
            <a:spAutoFit/>
          </a:bodyPr>
          <a:lstStyle/>
          <a:p>
            <a:pPr algn="l"/>
            <a:r>
              <a:rPr sz="2400" b="1" i="0">
                <a:solidFill>
                  <a:srgbClr val="211D71"/>
                </a:solidFill>
                <a:latin typeface="Arial"/>
              </a:rPr>
              <a:t>Quiz 1 — answers</a:t>
            </a:r>
          </a:p>
        </p:txBody>
      </p:sp>
      <p:sp>
        <p:nvSpPr>
          <p:cNvPr id="4" name="Rounded Rectangle 3"/>
          <p:cNvSpPr/>
          <p:nvPr/>
        </p:nvSpPr>
        <p:spPr>
          <a:xfrm>
            <a:off x="640080" y="1709928"/>
            <a:ext cx="3477768" cy="210312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59536" y="1892807"/>
            <a:ext cx="3038856" cy="310896"/>
          </a:xfrm>
          <a:prstGeom prst="rect">
            <a:avLst/>
          </a:prstGeom>
          <a:noFill/>
        </p:spPr>
        <p:txBody>
          <a:bodyPr wrap="square" lIns="0" tIns="0" rIns="0" bIns="0" anchor="t">
            <a:spAutoFit/>
          </a:bodyPr>
          <a:lstStyle/>
          <a:p>
            <a:pPr algn="l"/>
            <a:r>
              <a:rPr sz="1400" b="1" i="0">
                <a:solidFill>
                  <a:srgbClr val="211D71"/>
                </a:solidFill>
                <a:latin typeface="Arial"/>
              </a:rPr>
              <a:t>Q1  →  (b)</a:t>
            </a:r>
          </a:p>
        </p:txBody>
      </p:sp>
      <p:sp>
        <p:nvSpPr>
          <p:cNvPr id="6" name="TextBox 5"/>
          <p:cNvSpPr txBox="1"/>
          <p:nvPr/>
        </p:nvSpPr>
        <p:spPr>
          <a:xfrm>
            <a:off x="859536" y="2258568"/>
            <a:ext cx="3038856" cy="1408175"/>
          </a:xfrm>
          <a:prstGeom prst="rect">
            <a:avLst/>
          </a:prstGeom>
          <a:noFill/>
        </p:spPr>
        <p:txBody>
          <a:bodyPr wrap="square" lIns="0" tIns="0" rIns="0" bIns="0" anchor="t">
            <a:spAutoFit/>
          </a:bodyPr>
          <a:lstStyle/>
          <a:p>
            <a:pPr algn="l">
              <a:lnSpc>
                <a:spcPts val="1700"/>
              </a:lnSpc>
            </a:pPr>
            <a:r>
              <a:rPr sz="1350" b="0" i="0">
                <a:solidFill>
                  <a:srgbClr val="22223B"/>
                </a:solidFill>
                <a:latin typeface="Arial"/>
              </a:rPr>
              <a:t>The top row is the user's journey, in the order they live it. It is deliberately not the build order — the horizontal cuts give you that.</a:t>
            </a:r>
          </a:p>
        </p:txBody>
      </p:sp>
      <p:sp>
        <p:nvSpPr>
          <p:cNvPr id="7" name="Rounded Rectangle 6"/>
          <p:cNvSpPr/>
          <p:nvPr/>
        </p:nvSpPr>
        <p:spPr>
          <a:xfrm>
            <a:off x="4355592" y="1709928"/>
            <a:ext cx="3477768" cy="210312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5048" y="1892807"/>
            <a:ext cx="3038856" cy="310896"/>
          </a:xfrm>
          <a:prstGeom prst="rect">
            <a:avLst/>
          </a:prstGeom>
          <a:noFill/>
        </p:spPr>
        <p:txBody>
          <a:bodyPr wrap="square" lIns="0" tIns="0" rIns="0" bIns="0" anchor="t">
            <a:spAutoFit/>
          </a:bodyPr>
          <a:lstStyle/>
          <a:p>
            <a:pPr algn="l"/>
            <a:r>
              <a:rPr sz="1400" b="1" i="0">
                <a:solidFill>
                  <a:srgbClr val="211D71"/>
                </a:solidFill>
                <a:latin typeface="Arial"/>
              </a:rPr>
              <a:t>Q2  →  (b)</a:t>
            </a:r>
          </a:p>
        </p:txBody>
      </p:sp>
      <p:sp>
        <p:nvSpPr>
          <p:cNvPr id="9" name="TextBox 8"/>
          <p:cNvSpPr txBox="1"/>
          <p:nvPr/>
        </p:nvSpPr>
        <p:spPr>
          <a:xfrm>
            <a:off x="4575048" y="2258568"/>
            <a:ext cx="3038856" cy="1408175"/>
          </a:xfrm>
          <a:prstGeom prst="rect">
            <a:avLst/>
          </a:prstGeom>
          <a:noFill/>
        </p:spPr>
        <p:txBody>
          <a:bodyPr wrap="square" lIns="0" tIns="0" rIns="0" bIns="0" anchor="t">
            <a:spAutoFit/>
          </a:bodyPr>
          <a:lstStyle/>
          <a:p>
            <a:pPr algn="l">
              <a:lnSpc>
                <a:spcPts val="1700"/>
              </a:lnSpc>
            </a:pPr>
            <a:r>
              <a:rPr sz="1350" b="0" i="0">
                <a:solidFill>
                  <a:srgbClr val="22223B"/>
                </a:solidFill>
                <a:latin typeface="Arial"/>
              </a:rPr>
              <a:t>Thin but complete. Every column touched, basic everywhere, usable end to end. Not a prototype — it ships to real people.</a:t>
            </a:r>
          </a:p>
        </p:txBody>
      </p:sp>
      <p:sp>
        <p:nvSpPr>
          <p:cNvPr id="10" name="Rounded Rectangle 9"/>
          <p:cNvSpPr/>
          <p:nvPr/>
        </p:nvSpPr>
        <p:spPr>
          <a:xfrm>
            <a:off x="8071104" y="1709928"/>
            <a:ext cx="3477768" cy="210312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90560" y="1892807"/>
            <a:ext cx="3038856" cy="310896"/>
          </a:xfrm>
          <a:prstGeom prst="rect">
            <a:avLst/>
          </a:prstGeom>
          <a:noFill/>
        </p:spPr>
        <p:txBody>
          <a:bodyPr wrap="square" lIns="0" tIns="0" rIns="0" bIns="0" anchor="t">
            <a:spAutoFit/>
          </a:bodyPr>
          <a:lstStyle/>
          <a:p>
            <a:pPr algn="l"/>
            <a:r>
              <a:rPr sz="1400" b="1" i="0">
                <a:solidFill>
                  <a:srgbClr val="211D71"/>
                </a:solidFill>
                <a:latin typeface="Arial"/>
              </a:rPr>
              <a:t>Q3  →  (b)</a:t>
            </a:r>
          </a:p>
        </p:txBody>
      </p:sp>
      <p:sp>
        <p:nvSpPr>
          <p:cNvPr id="12" name="TextBox 11"/>
          <p:cNvSpPr txBox="1"/>
          <p:nvPr/>
        </p:nvSpPr>
        <p:spPr>
          <a:xfrm>
            <a:off x="8290560" y="2258568"/>
            <a:ext cx="3038856" cy="1408175"/>
          </a:xfrm>
          <a:prstGeom prst="rect">
            <a:avLst/>
          </a:prstGeom>
          <a:noFill/>
        </p:spPr>
        <p:txBody>
          <a:bodyPr wrap="square" lIns="0" tIns="0" rIns="0" bIns="0" anchor="t">
            <a:spAutoFit/>
          </a:bodyPr>
          <a:lstStyle/>
          <a:p>
            <a:pPr algn="l">
              <a:lnSpc>
                <a:spcPts val="1700"/>
              </a:lnSpc>
            </a:pPr>
            <a:r>
              <a:rPr sz="1350" b="0" i="0">
                <a:solidFill>
                  <a:srgbClr val="22223B"/>
                </a:solidFill>
                <a:latin typeface="Arial"/>
              </a:rPr>
              <a:t>Cutting by technology means nothing is usable until the last release. (a) is healthy, (c) is preference, (d) is normal.</a:t>
            </a:r>
          </a:p>
        </p:txBody>
      </p:sp>
      <p:sp>
        <p:nvSpPr>
          <p:cNvPr id="13" name="Rounded Rectangle 12"/>
          <p:cNvSpPr/>
          <p:nvPr/>
        </p:nvSpPr>
        <p:spPr>
          <a:xfrm>
            <a:off x="640080" y="4133088"/>
            <a:ext cx="10908792" cy="731520"/>
          </a:xfrm>
          <a:prstGeom prst="roundRect">
            <a:avLst>
              <a:gd name="adj" fmla="val 5500"/>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68680" y="4169664"/>
            <a:ext cx="10451592" cy="658368"/>
          </a:xfrm>
          <a:prstGeom prst="rect">
            <a:avLst/>
          </a:prstGeom>
          <a:noFill/>
        </p:spPr>
        <p:txBody>
          <a:bodyPr wrap="square" lIns="0" tIns="0" rIns="0" bIns="0" anchor="ctr">
            <a:spAutoFit/>
          </a:bodyPr>
          <a:lstStyle/>
          <a:p>
            <a:pPr algn="l"/>
            <a:r>
              <a:rPr sz="1350" b="1" i="0">
                <a:solidFill>
                  <a:srgbClr val="FFFFFF"/>
                </a:solidFill>
                <a:latin typeface="Arial"/>
              </a:rPr>
              <a:t>Next: the map shows you the shape of the work. It does not tell you which problems are worth solving. For that, we need numbers.</a:t>
            </a:r>
          </a:p>
        </p:txBody>
      </p:sp>
      <p:sp>
        <p:nvSpPr>
          <p:cNvPr id="15" name="Rounded Rectangle 14"/>
          <p:cNvSpPr/>
          <p:nvPr/>
        </p:nvSpPr>
        <p:spPr>
          <a:xfrm>
            <a:off x="640080" y="5138928"/>
            <a:ext cx="1098296" cy="603504"/>
          </a:xfrm>
          <a:prstGeom prst="roundRect">
            <a:avLst>
              <a:gd name="adj" fmla="val 5500"/>
            </a:avLst>
          </a:prstGeom>
          <a:solidFill>
            <a:srgbClr val="211D71"/>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5138928"/>
            <a:ext cx="1098296" cy="603504"/>
          </a:xfrm>
          <a:prstGeom prst="rect">
            <a:avLst/>
          </a:prstGeom>
          <a:noFill/>
        </p:spPr>
        <p:txBody>
          <a:bodyPr wrap="square" lIns="0" tIns="0" rIns="0" bIns="0" anchor="ctr">
            <a:spAutoFit/>
          </a:bodyPr>
          <a:lstStyle/>
          <a:p>
            <a:pPr algn="ctr"/>
            <a:r>
              <a:rPr sz="950" b="1" i="0">
                <a:solidFill>
                  <a:srgbClr val="FFFFFF"/>
                </a:solidFill>
                <a:latin typeface="Arial"/>
              </a:rPr>
              <a:t>Story map</a:t>
            </a:r>
          </a:p>
        </p:txBody>
      </p:sp>
      <p:sp>
        <p:nvSpPr>
          <p:cNvPr id="17" name="Rounded Rectangle 16"/>
          <p:cNvSpPr/>
          <p:nvPr/>
        </p:nvSpPr>
        <p:spPr>
          <a:xfrm>
            <a:off x="1866392" y="5138928"/>
            <a:ext cx="1098296" cy="603504"/>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866392" y="5138928"/>
            <a:ext cx="1098296" cy="603504"/>
          </a:xfrm>
          <a:prstGeom prst="rect">
            <a:avLst/>
          </a:prstGeom>
          <a:noFill/>
        </p:spPr>
        <p:txBody>
          <a:bodyPr wrap="square" lIns="0" tIns="0" rIns="0" bIns="0" anchor="ctr">
            <a:spAutoFit/>
          </a:bodyPr>
          <a:lstStyle/>
          <a:p>
            <a:pPr algn="ctr"/>
            <a:r>
              <a:rPr sz="950" b="0" i="0">
                <a:solidFill>
                  <a:srgbClr val="5F6178"/>
                </a:solidFill>
                <a:latin typeface="Arial"/>
              </a:rPr>
              <a:t>Opportunity</a:t>
            </a:r>
          </a:p>
        </p:txBody>
      </p:sp>
      <p:sp>
        <p:nvSpPr>
          <p:cNvPr id="19" name="Rounded Rectangle 18"/>
          <p:cNvSpPr/>
          <p:nvPr/>
        </p:nvSpPr>
        <p:spPr>
          <a:xfrm>
            <a:off x="3092704" y="5138928"/>
            <a:ext cx="1098296" cy="603504"/>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092704" y="5138928"/>
            <a:ext cx="1098296" cy="603504"/>
          </a:xfrm>
          <a:prstGeom prst="rect">
            <a:avLst/>
          </a:prstGeom>
          <a:noFill/>
        </p:spPr>
        <p:txBody>
          <a:bodyPr wrap="square" lIns="0" tIns="0" rIns="0" bIns="0" anchor="ctr">
            <a:spAutoFit/>
          </a:bodyPr>
          <a:lstStyle/>
          <a:p>
            <a:pPr algn="ctr"/>
            <a:r>
              <a:rPr sz="950" b="0" i="0">
                <a:solidFill>
                  <a:srgbClr val="5F6178"/>
                </a:solidFill>
                <a:latin typeface="Arial"/>
              </a:rPr>
              <a:t>Cost of Delay</a:t>
            </a:r>
          </a:p>
        </p:txBody>
      </p:sp>
      <p:sp>
        <p:nvSpPr>
          <p:cNvPr id="21" name="Rounded Rectangle 20"/>
          <p:cNvSpPr/>
          <p:nvPr/>
        </p:nvSpPr>
        <p:spPr>
          <a:xfrm>
            <a:off x="4319016" y="5138928"/>
            <a:ext cx="1098296" cy="603504"/>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319016" y="5138928"/>
            <a:ext cx="1098296" cy="603504"/>
          </a:xfrm>
          <a:prstGeom prst="rect">
            <a:avLst/>
          </a:prstGeom>
          <a:noFill/>
        </p:spPr>
        <p:txBody>
          <a:bodyPr wrap="square" lIns="0" tIns="0" rIns="0" bIns="0" anchor="ctr">
            <a:spAutoFit/>
          </a:bodyPr>
          <a:lstStyle/>
          <a:p>
            <a:pPr algn="ctr"/>
            <a:r>
              <a:rPr sz="950" b="0" i="0">
                <a:solidFill>
                  <a:srgbClr val="5F6178"/>
                </a:solidFill>
                <a:latin typeface="Arial"/>
              </a:rPr>
              <a:t>Backlog &amp; roadmap</a:t>
            </a:r>
          </a:p>
        </p:txBody>
      </p:sp>
      <p:sp>
        <p:nvSpPr>
          <p:cNvPr id="23" name="Rounded Rectangle 22"/>
          <p:cNvSpPr/>
          <p:nvPr/>
        </p:nvSpPr>
        <p:spPr>
          <a:xfrm>
            <a:off x="5545328" y="5138928"/>
            <a:ext cx="1098296" cy="603504"/>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545328" y="5138928"/>
            <a:ext cx="1098296" cy="603504"/>
          </a:xfrm>
          <a:prstGeom prst="rect">
            <a:avLst/>
          </a:prstGeom>
          <a:noFill/>
        </p:spPr>
        <p:txBody>
          <a:bodyPr wrap="square" lIns="0" tIns="0" rIns="0" bIns="0" anchor="ctr">
            <a:spAutoFit/>
          </a:bodyPr>
          <a:lstStyle/>
          <a:p>
            <a:pPr algn="ctr"/>
            <a:r>
              <a:rPr sz="950" b="0" i="0">
                <a:solidFill>
                  <a:srgbClr val="5F6178"/>
                </a:solidFill>
                <a:latin typeface="Arial"/>
              </a:rPr>
              <a:t>Requirements</a:t>
            </a:r>
          </a:p>
        </p:txBody>
      </p:sp>
      <p:sp>
        <p:nvSpPr>
          <p:cNvPr id="25" name="Rounded Rectangle 24"/>
          <p:cNvSpPr/>
          <p:nvPr/>
        </p:nvSpPr>
        <p:spPr>
          <a:xfrm>
            <a:off x="6771640" y="5138928"/>
            <a:ext cx="1098296" cy="603504"/>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771640" y="5138928"/>
            <a:ext cx="1098296" cy="603504"/>
          </a:xfrm>
          <a:prstGeom prst="rect">
            <a:avLst/>
          </a:prstGeom>
          <a:noFill/>
        </p:spPr>
        <p:txBody>
          <a:bodyPr wrap="square" lIns="0" tIns="0" rIns="0" bIns="0" anchor="ctr">
            <a:spAutoFit/>
          </a:bodyPr>
          <a:lstStyle/>
          <a:p>
            <a:pPr algn="ctr"/>
            <a:r>
              <a:rPr sz="950" b="0" i="0">
                <a:solidFill>
                  <a:srgbClr val="5F6178"/>
                </a:solidFill>
                <a:latin typeface="Arial"/>
              </a:rPr>
              <a:t>MoSCoW</a:t>
            </a:r>
          </a:p>
        </p:txBody>
      </p:sp>
      <p:sp>
        <p:nvSpPr>
          <p:cNvPr id="27" name="Rounded Rectangle 26"/>
          <p:cNvSpPr/>
          <p:nvPr/>
        </p:nvSpPr>
        <p:spPr>
          <a:xfrm>
            <a:off x="7997951" y="5138928"/>
            <a:ext cx="1098296" cy="603504"/>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997951" y="5138928"/>
            <a:ext cx="1098296" cy="603504"/>
          </a:xfrm>
          <a:prstGeom prst="rect">
            <a:avLst/>
          </a:prstGeom>
          <a:noFill/>
        </p:spPr>
        <p:txBody>
          <a:bodyPr wrap="square" lIns="0" tIns="0" rIns="0" bIns="0" anchor="ctr">
            <a:spAutoFit/>
          </a:bodyPr>
          <a:lstStyle/>
          <a:p>
            <a:pPr algn="ctr"/>
            <a:r>
              <a:rPr sz="950" b="0" i="0">
                <a:solidFill>
                  <a:srgbClr val="5F6178"/>
                </a:solidFill>
                <a:latin typeface="Arial"/>
              </a:rPr>
              <a:t>Product tree</a:t>
            </a:r>
          </a:p>
        </p:txBody>
      </p:sp>
      <p:sp>
        <p:nvSpPr>
          <p:cNvPr id="29" name="Rounded Rectangle 28"/>
          <p:cNvSpPr/>
          <p:nvPr/>
        </p:nvSpPr>
        <p:spPr>
          <a:xfrm>
            <a:off x="9224264" y="5138928"/>
            <a:ext cx="1098296" cy="603504"/>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224264" y="5138928"/>
            <a:ext cx="1098296" cy="603504"/>
          </a:xfrm>
          <a:prstGeom prst="rect">
            <a:avLst/>
          </a:prstGeom>
          <a:noFill/>
        </p:spPr>
        <p:txBody>
          <a:bodyPr wrap="square" lIns="0" tIns="0" rIns="0" bIns="0" anchor="ctr">
            <a:spAutoFit/>
          </a:bodyPr>
          <a:lstStyle/>
          <a:p>
            <a:pPr algn="ctr"/>
            <a:r>
              <a:rPr sz="950" b="0" i="0">
                <a:solidFill>
                  <a:srgbClr val="5F6178"/>
                </a:solidFill>
                <a:latin typeface="Arial"/>
              </a:rPr>
              <a:t>Buy a feature</a:t>
            </a:r>
          </a:p>
        </p:txBody>
      </p:sp>
      <p:sp>
        <p:nvSpPr>
          <p:cNvPr id="31" name="Rounded Rectangle 30"/>
          <p:cNvSpPr/>
          <p:nvPr/>
        </p:nvSpPr>
        <p:spPr>
          <a:xfrm>
            <a:off x="10450576" y="5138928"/>
            <a:ext cx="1098296" cy="603504"/>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0450576" y="5138928"/>
            <a:ext cx="1098296" cy="603504"/>
          </a:xfrm>
          <a:prstGeom prst="rect">
            <a:avLst/>
          </a:prstGeom>
          <a:noFill/>
        </p:spPr>
        <p:txBody>
          <a:bodyPr wrap="square" lIns="0" tIns="0" rIns="0" bIns="0" anchor="ctr">
            <a:spAutoFit/>
          </a:bodyPr>
          <a:lstStyle/>
          <a:p>
            <a:pPr algn="ctr"/>
            <a:r>
              <a:rPr sz="950" b="0" i="0">
                <a:solidFill>
                  <a:srgbClr val="5F6178"/>
                </a:solidFill>
                <a:latin typeface="Arial"/>
              </a:rPr>
              <a:t>Put together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19" y="1828800"/>
            <a:ext cx="2194560" cy="1371600"/>
          </a:xfrm>
          <a:prstGeom prst="rect">
            <a:avLst/>
          </a:prstGeom>
          <a:noFill/>
        </p:spPr>
        <p:txBody>
          <a:bodyPr wrap="square" lIns="0" tIns="0" rIns="0" bIns="0" anchor="t">
            <a:spAutoFit/>
          </a:bodyPr>
          <a:lstStyle/>
          <a:p>
            <a:pPr algn="l"/>
            <a:r>
              <a:rPr sz="7600" b="1" i="0">
                <a:solidFill>
                  <a:srgbClr val="B4B8DA"/>
                </a:solidFill>
                <a:latin typeface="Arial"/>
              </a:rPr>
              <a:t>02</a:t>
            </a:r>
          </a:p>
        </p:txBody>
      </p:sp>
      <p:sp>
        <p:nvSpPr>
          <p:cNvPr id="3" name="TextBox 2"/>
          <p:cNvSpPr txBox="1"/>
          <p:nvPr/>
        </p:nvSpPr>
        <p:spPr>
          <a:xfrm>
            <a:off x="731519" y="3017520"/>
            <a:ext cx="10058400" cy="868680"/>
          </a:xfrm>
          <a:prstGeom prst="rect">
            <a:avLst/>
          </a:prstGeom>
          <a:noFill/>
        </p:spPr>
        <p:txBody>
          <a:bodyPr wrap="square" lIns="0" tIns="0" rIns="0" bIns="0" anchor="t">
            <a:spAutoFit/>
          </a:bodyPr>
          <a:lstStyle/>
          <a:p>
            <a:pPr algn="l"/>
            <a:r>
              <a:rPr sz="3600" b="1" i="0">
                <a:solidFill>
                  <a:srgbClr val="211D71"/>
                </a:solidFill>
                <a:latin typeface="Arial"/>
              </a:rPr>
              <a:t>Opportunity Scoring</a:t>
            </a:r>
          </a:p>
        </p:txBody>
      </p:sp>
      <p:sp>
        <p:nvSpPr>
          <p:cNvPr id="4" name="Rectangle 3"/>
          <p:cNvSpPr/>
          <p:nvPr/>
        </p:nvSpPr>
        <p:spPr>
          <a:xfrm>
            <a:off x="777240" y="3977639"/>
            <a:ext cx="914400" cy="50292"/>
          </a:xfrm>
          <a:prstGeom prst="rect">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691639" y="3977639"/>
            <a:ext cx="914400" cy="50292"/>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606039" y="3977639"/>
            <a:ext cx="914400" cy="50292"/>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19" y="4187952"/>
            <a:ext cx="10058400" cy="457200"/>
          </a:xfrm>
          <a:prstGeom prst="rect">
            <a:avLst/>
          </a:prstGeom>
          <a:noFill/>
        </p:spPr>
        <p:txBody>
          <a:bodyPr wrap="square" lIns="0" tIns="0" rIns="0" bIns="0" anchor="t">
            <a:spAutoFit/>
          </a:bodyPr>
          <a:lstStyle/>
          <a:p>
            <a:pPr algn="l"/>
            <a:r>
              <a:rPr sz="1400" b="0" i="0">
                <a:solidFill>
                  <a:srgbClr val="5F6178"/>
                </a:solidFill>
                <a:latin typeface="Arial"/>
              </a:rPr>
              <a:t>Which customer problems are actually worth solving   ·   28–36 min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74320"/>
            <a:ext cx="10908792" cy="237744"/>
          </a:xfrm>
          <a:prstGeom prst="rect">
            <a:avLst/>
          </a:prstGeom>
          <a:noFill/>
        </p:spPr>
        <p:txBody>
          <a:bodyPr wrap="square" lIns="0" tIns="0" rIns="0" bIns="0" anchor="t">
            <a:spAutoFit/>
          </a:bodyPr>
          <a:lstStyle/>
          <a:p>
            <a:pPr algn="l"/>
            <a:r>
              <a:rPr sz="1000" b="1" i="0" spc="140">
                <a:solidFill>
                  <a:srgbClr val="A9740A"/>
                </a:solidFill>
                <a:latin typeface="Arial"/>
              </a:rPr>
              <a:t>OPPORTUNITY SCORING</a:t>
            </a:r>
          </a:p>
        </p:txBody>
      </p:sp>
      <p:sp>
        <p:nvSpPr>
          <p:cNvPr id="3" name="TextBox 2"/>
          <p:cNvSpPr txBox="1"/>
          <p:nvPr/>
        </p:nvSpPr>
        <p:spPr>
          <a:xfrm>
            <a:off x="640080" y="548640"/>
            <a:ext cx="8229600" cy="640080"/>
          </a:xfrm>
          <a:prstGeom prst="rect">
            <a:avLst/>
          </a:prstGeom>
          <a:noFill/>
        </p:spPr>
        <p:txBody>
          <a:bodyPr wrap="square" lIns="0" tIns="0" rIns="0" bIns="0" anchor="t">
            <a:spAutoFit/>
          </a:bodyPr>
          <a:lstStyle/>
          <a:p>
            <a:pPr algn="l"/>
            <a:r>
              <a:rPr sz="2400" b="1" i="0">
                <a:solidFill>
                  <a:srgbClr val="211D71"/>
                </a:solidFill>
                <a:latin typeface="Arial"/>
              </a:rPr>
              <a:t>Find the itch nobody has scratched</a:t>
            </a:r>
          </a:p>
        </p:txBody>
      </p:sp>
      <p:sp>
        <p:nvSpPr>
          <p:cNvPr id="4" name="Rounded Rectangle 3"/>
          <p:cNvSpPr/>
          <p:nvPr/>
        </p:nvSpPr>
        <p:spPr>
          <a:xfrm>
            <a:off x="640080" y="1618488"/>
            <a:ext cx="10908792" cy="1325880"/>
          </a:xfrm>
          <a:prstGeom prst="roundRect">
            <a:avLst>
              <a:gd name="adj" fmla="val 5500"/>
            </a:avLst>
          </a:prstGeom>
          <a:solidFill>
            <a:srgbClr val="FEF4DC"/>
          </a:solidFill>
          <a:ln w="15875">
            <a:solidFill>
              <a:srgbClr val="FCB0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764791"/>
            <a:ext cx="10360152" cy="237744"/>
          </a:xfrm>
          <a:prstGeom prst="rect">
            <a:avLst/>
          </a:prstGeom>
          <a:noFill/>
        </p:spPr>
        <p:txBody>
          <a:bodyPr wrap="square" lIns="0" tIns="0" rIns="0" bIns="0" anchor="t">
            <a:spAutoFit/>
          </a:bodyPr>
          <a:lstStyle/>
          <a:p>
            <a:pPr algn="l"/>
            <a:r>
              <a:rPr sz="1000" b="1" i="0" spc="140">
                <a:solidFill>
                  <a:srgbClr val="A9740A"/>
                </a:solidFill>
                <a:latin typeface="Arial"/>
              </a:rPr>
              <a:t>THINK OF IT LIKE THIS</a:t>
            </a:r>
          </a:p>
        </p:txBody>
      </p:sp>
      <p:sp>
        <p:nvSpPr>
          <p:cNvPr id="6" name="TextBox 5"/>
          <p:cNvSpPr txBox="1"/>
          <p:nvPr/>
        </p:nvSpPr>
        <p:spPr>
          <a:xfrm>
            <a:off x="914400" y="2020824"/>
            <a:ext cx="10360152" cy="777240"/>
          </a:xfrm>
          <a:prstGeom prst="rect">
            <a:avLst/>
          </a:prstGeom>
          <a:noFill/>
        </p:spPr>
        <p:txBody>
          <a:bodyPr wrap="square" lIns="0" tIns="0" rIns="0" bIns="0" anchor="t">
            <a:spAutoFit/>
          </a:bodyPr>
          <a:lstStyle/>
          <a:p>
            <a:pPr algn="l">
              <a:lnSpc>
                <a:spcPts val="2400"/>
              </a:lnSpc>
            </a:pPr>
            <a:r>
              <a:rPr sz="1700" b="1" i="0">
                <a:solidFill>
                  <a:srgbClr val="211D71"/>
                </a:solidFill>
                <a:latin typeface="Arial"/>
              </a:rPr>
              <a:t>Two things have to be true before something is worth building: people care about it, AND they are unhappy with it today.</a:t>
            </a:r>
          </a:p>
        </p:txBody>
      </p:sp>
      <p:sp>
        <p:nvSpPr>
          <p:cNvPr id="7" name="TextBox 6"/>
          <p:cNvSpPr txBox="1"/>
          <p:nvPr/>
        </p:nvSpPr>
        <p:spPr>
          <a:xfrm>
            <a:off x="640080" y="3172968"/>
            <a:ext cx="10908792" cy="731520"/>
          </a:xfrm>
          <a:prstGeom prst="rect">
            <a:avLst/>
          </a:prstGeom>
          <a:noFill/>
        </p:spPr>
        <p:txBody>
          <a:bodyPr wrap="square" lIns="0" tIns="0" rIns="0" bIns="0" anchor="t">
            <a:spAutoFit/>
          </a:bodyPr>
          <a:lstStyle/>
          <a:p>
            <a:pPr algn="l">
              <a:lnSpc>
                <a:spcPts val="2100"/>
              </a:lnSpc>
            </a:pPr>
            <a:r>
              <a:rPr sz="1400" b="0" i="0">
                <a:solidFill>
                  <a:srgbClr val="22223B"/>
                </a:solidFill>
                <a:latin typeface="Arial"/>
              </a:rPr>
              <a:t>If people care but are already happy — leave it alone. If they are unhappy but do not care — ignore it.</a:t>
            </a:r>
          </a:p>
        </p:txBody>
      </p:sp>
      <p:sp>
        <p:nvSpPr>
          <p:cNvPr id="8" name="Rounded Rectangle 7"/>
          <p:cNvSpPr/>
          <p:nvPr/>
        </p:nvSpPr>
        <p:spPr>
          <a:xfrm>
            <a:off x="640080" y="3813048"/>
            <a:ext cx="2548890" cy="169164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9536" y="3995928"/>
            <a:ext cx="2109978" cy="566928"/>
          </a:xfrm>
          <a:prstGeom prst="rect">
            <a:avLst/>
          </a:prstGeom>
          <a:noFill/>
        </p:spPr>
        <p:txBody>
          <a:bodyPr wrap="square" lIns="0" tIns="0" rIns="0" bIns="0" anchor="t">
            <a:spAutoFit/>
          </a:bodyPr>
          <a:lstStyle/>
          <a:p>
            <a:pPr algn="l"/>
            <a:r>
              <a:rPr sz="1350" b="1" i="0">
                <a:solidFill>
                  <a:srgbClr val="211D71"/>
                </a:solidFill>
                <a:latin typeface="Arial"/>
              </a:rPr>
              <a:t>Care a lot  +  very unhappy</a:t>
            </a:r>
          </a:p>
        </p:txBody>
      </p:sp>
      <p:sp>
        <p:nvSpPr>
          <p:cNvPr id="10" name="TextBox 9"/>
          <p:cNvSpPr txBox="1"/>
          <p:nvPr/>
        </p:nvSpPr>
        <p:spPr>
          <a:xfrm>
            <a:off x="859536" y="4617720"/>
            <a:ext cx="2109978" cy="740664"/>
          </a:xfrm>
          <a:prstGeom prst="rect">
            <a:avLst/>
          </a:prstGeom>
          <a:noFill/>
        </p:spPr>
        <p:txBody>
          <a:bodyPr wrap="square" lIns="0" tIns="0" rIns="0" bIns="0" anchor="t">
            <a:spAutoFit/>
          </a:bodyPr>
          <a:lstStyle/>
          <a:p>
            <a:pPr algn="l">
              <a:lnSpc>
                <a:spcPts val="1700"/>
              </a:lnSpc>
            </a:pPr>
            <a:r>
              <a:rPr sz="1300" b="0" i="0">
                <a:solidFill>
                  <a:srgbClr val="22223B"/>
                </a:solidFill>
                <a:latin typeface="Arial"/>
              </a:rPr>
              <a:t>This is the opportunity. Build here.</a:t>
            </a:r>
          </a:p>
        </p:txBody>
      </p:sp>
      <p:sp>
        <p:nvSpPr>
          <p:cNvPr id="11" name="Rounded Rectangle 10"/>
          <p:cNvSpPr/>
          <p:nvPr/>
        </p:nvSpPr>
        <p:spPr>
          <a:xfrm>
            <a:off x="3426714" y="3813048"/>
            <a:ext cx="2548890" cy="169164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46170" y="3995928"/>
            <a:ext cx="2109978" cy="566928"/>
          </a:xfrm>
          <a:prstGeom prst="rect">
            <a:avLst/>
          </a:prstGeom>
          <a:noFill/>
        </p:spPr>
        <p:txBody>
          <a:bodyPr wrap="square" lIns="0" tIns="0" rIns="0" bIns="0" anchor="t">
            <a:spAutoFit/>
          </a:bodyPr>
          <a:lstStyle/>
          <a:p>
            <a:pPr algn="l"/>
            <a:r>
              <a:rPr sz="1350" b="1" i="0">
                <a:solidFill>
                  <a:srgbClr val="211D71"/>
                </a:solidFill>
                <a:latin typeface="Arial"/>
              </a:rPr>
              <a:t>Care a lot  +  already happy</a:t>
            </a:r>
          </a:p>
        </p:txBody>
      </p:sp>
      <p:sp>
        <p:nvSpPr>
          <p:cNvPr id="13" name="TextBox 12"/>
          <p:cNvSpPr txBox="1"/>
          <p:nvPr/>
        </p:nvSpPr>
        <p:spPr>
          <a:xfrm>
            <a:off x="3646170" y="4617720"/>
            <a:ext cx="2109978" cy="740664"/>
          </a:xfrm>
          <a:prstGeom prst="rect">
            <a:avLst/>
          </a:prstGeom>
          <a:noFill/>
        </p:spPr>
        <p:txBody>
          <a:bodyPr wrap="square" lIns="0" tIns="0" rIns="0" bIns="0" anchor="t">
            <a:spAutoFit/>
          </a:bodyPr>
          <a:lstStyle/>
          <a:p>
            <a:pPr algn="l">
              <a:lnSpc>
                <a:spcPts val="1700"/>
              </a:lnSpc>
            </a:pPr>
            <a:r>
              <a:rPr sz="1300" b="0" i="0">
                <a:solidFill>
                  <a:srgbClr val="22223B"/>
                </a:solidFill>
                <a:latin typeface="Arial"/>
              </a:rPr>
              <a:t>Do not touch it. You will spend a lot to change nothing.</a:t>
            </a:r>
          </a:p>
        </p:txBody>
      </p:sp>
      <p:sp>
        <p:nvSpPr>
          <p:cNvPr id="14" name="Rounded Rectangle 13"/>
          <p:cNvSpPr/>
          <p:nvPr/>
        </p:nvSpPr>
        <p:spPr>
          <a:xfrm>
            <a:off x="6213348" y="3813048"/>
            <a:ext cx="2548890" cy="169164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32804" y="3995928"/>
            <a:ext cx="2109978" cy="566928"/>
          </a:xfrm>
          <a:prstGeom prst="rect">
            <a:avLst/>
          </a:prstGeom>
          <a:noFill/>
        </p:spPr>
        <p:txBody>
          <a:bodyPr wrap="square" lIns="0" tIns="0" rIns="0" bIns="0" anchor="t">
            <a:spAutoFit/>
          </a:bodyPr>
          <a:lstStyle/>
          <a:p>
            <a:pPr algn="l"/>
            <a:r>
              <a:rPr sz="1350" b="1" i="0">
                <a:solidFill>
                  <a:srgbClr val="211D71"/>
                </a:solidFill>
                <a:latin typeface="Arial"/>
              </a:rPr>
              <a:t>Do not care  +  unhappy</a:t>
            </a:r>
          </a:p>
        </p:txBody>
      </p:sp>
      <p:sp>
        <p:nvSpPr>
          <p:cNvPr id="16" name="TextBox 15"/>
          <p:cNvSpPr txBox="1"/>
          <p:nvPr/>
        </p:nvSpPr>
        <p:spPr>
          <a:xfrm>
            <a:off x="6432804" y="4617720"/>
            <a:ext cx="2109978" cy="740664"/>
          </a:xfrm>
          <a:prstGeom prst="rect">
            <a:avLst/>
          </a:prstGeom>
          <a:noFill/>
        </p:spPr>
        <p:txBody>
          <a:bodyPr wrap="square" lIns="0" tIns="0" rIns="0" bIns="0" anchor="t">
            <a:spAutoFit/>
          </a:bodyPr>
          <a:lstStyle/>
          <a:p>
            <a:pPr algn="l">
              <a:lnSpc>
                <a:spcPts val="1700"/>
              </a:lnSpc>
            </a:pPr>
            <a:r>
              <a:rPr sz="1300" b="0" i="0">
                <a:solidFill>
                  <a:srgbClr val="22223B"/>
                </a:solidFill>
                <a:latin typeface="Arial"/>
              </a:rPr>
              <a:t>Leave it. Fixing it wins you nothing.</a:t>
            </a:r>
          </a:p>
        </p:txBody>
      </p:sp>
      <p:sp>
        <p:nvSpPr>
          <p:cNvPr id="17" name="Rounded Rectangle 16"/>
          <p:cNvSpPr/>
          <p:nvPr/>
        </p:nvSpPr>
        <p:spPr>
          <a:xfrm>
            <a:off x="8999982" y="3813048"/>
            <a:ext cx="2548890" cy="169164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219438" y="3995928"/>
            <a:ext cx="2109978" cy="566928"/>
          </a:xfrm>
          <a:prstGeom prst="rect">
            <a:avLst/>
          </a:prstGeom>
          <a:noFill/>
        </p:spPr>
        <p:txBody>
          <a:bodyPr wrap="square" lIns="0" tIns="0" rIns="0" bIns="0" anchor="t">
            <a:spAutoFit/>
          </a:bodyPr>
          <a:lstStyle/>
          <a:p>
            <a:pPr algn="l"/>
            <a:r>
              <a:rPr sz="1350" b="1" i="0">
                <a:solidFill>
                  <a:srgbClr val="211D71"/>
                </a:solidFill>
                <a:latin typeface="Arial"/>
              </a:rPr>
              <a:t>Do not care  +  happy</a:t>
            </a:r>
          </a:p>
        </p:txBody>
      </p:sp>
      <p:sp>
        <p:nvSpPr>
          <p:cNvPr id="19" name="TextBox 18"/>
          <p:cNvSpPr txBox="1"/>
          <p:nvPr/>
        </p:nvSpPr>
        <p:spPr>
          <a:xfrm>
            <a:off x="9219438" y="4617720"/>
            <a:ext cx="2109978" cy="740664"/>
          </a:xfrm>
          <a:prstGeom prst="rect">
            <a:avLst/>
          </a:prstGeom>
          <a:noFill/>
        </p:spPr>
        <p:txBody>
          <a:bodyPr wrap="square" lIns="0" tIns="0" rIns="0" bIns="0" anchor="t">
            <a:spAutoFit/>
          </a:bodyPr>
          <a:lstStyle/>
          <a:p>
            <a:pPr algn="l">
              <a:lnSpc>
                <a:spcPts val="1700"/>
              </a:lnSpc>
            </a:pPr>
            <a:r>
              <a:rPr sz="1300" b="0" i="0">
                <a:solidFill>
                  <a:srgbClr val="22223B"/>
                </a:solidFill>
                <a:latin typeface="Arial"/>
              </a:rPr>
              <a:t>Not a decision. Move 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74320"/>
            <a:ext cx="10908792" cy="237744"/>
          </a:xfrm>
          <a:prstGeom prst="rect">
            <a:avLst/>
          </a:prstGeom>
          <a:noFill/>
        </p:spPr>
        <p:txBody>
          <a:bodyPr wrap="square" lIns="0" tIns="0" rIns="0" bIns="0" anchor="t">
            <a:spAutoFit/>
          </a:bodyPr>
          <a:lstStyle/>
          <a:p>
            <a:pPr algn="l"/>
            <a:r>
              <a:rPr sz="1000" b="1" i="0" spc="140">
                <a:solidFill>
                  <a:srgbClr val="A9740A"/>
                </a:solidFill>
                <a:latin typeface="Arial"/>
              </a:rPr>
              <a:t>OPPORTUNITY SCORING</a:t>
            </a:r>
          </a:p>
        </p:txBody>
      </p:sp>
      <p:sp>
        <p:nvSpPr>
          <p:cNvPr id="3" name="TextBox 2"/>
          <p:cNvSpPr txBox="1"/>
          <p:nvPr/>
        </p:nvSpPr>
        <p:spPr>
          <a:xfrm>
            <a:off x="640080" y="548640"/>
            <a:ext cx="8229600" cy="640080"/>
          </a:xfrm>
          <a:prstGeom prst="rect">
            <a:avLst/>
          </a:prstGeom>
          <a:noFill/>
        </p:spPr>
        <p:txBody>
          <a:bodyPr wrap="square" lIns="0" tIns="0" rIns="0" bIns="0" anchor="t">
            <a:spAutoFit/>
          </a:bodyPr>
          <a:lstStyle/>
          <a:p>
            <a:pPr algn="l"/>
            <a:r>
              <a:rPr sz="2400" b="1" i="0">
                <a:solidFill>
                  <a:srgbClr val="211D71"/>
                </a:solidFill>
                <a:latin typeface="Arial"/>
              </a:rPr>
              <a:t>Ask about the goal, not your feature</a:t>
            </a:r>
          </a:p>
        </p:txBody>
      </p:sp>
      <p:sp>
        <p:nvSpPr>
          <p:cNvPr id="4" name="Rounded Rectangle 3"/>
          <p:cNvSpPr/>
          <p:nvPr/>
        </p:nvSpPr>
        <p:spPr>
          <a:xfrm>
            <a:off x="640080" y="1618488"/>
            <a:ext cx="5271516" cy="3063240"/>
          </a:xfrm>
          <a:prstGeom prst="roundRect">
            <a:avLst>
              <a:gd name="adj" fmla="val 5500"/>
            </a:avLst>
          </a:prstGeom>
          <a:solidFill>
            <a:srgbClr val="FBE9E9"/>
          </a:solidFill>
          <a:ln w="15875">
            <a:solidFill>
              <a:srgbClr val="E31C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96112" y="1801367"/>
            <a:ext cx="4759452" cy="347472"/>
          </a:xfrm>
          <a:prstGeom prst="rect">
            <a:avLst/>
          </a:prstGeom>
          <a:noFill/>
        </p:spPr>
        <p:txBody>
          <a:bodyPr wrap="square" lIns="0" tIns="0" rIns="0" bIns="0" anchor="t">
            <a:spAutoFit/>
          </a:bodyPr>
          <a:lstStyle/>
          <a:p>
            <a:pPr algn="l"/>
            <a:r>
              <a:rPr sz="1600" b="1" i="0">
                <a:solidFill>
                  <a:srgbClr val="E31C24"/>
                </a:solidFill>
                <a:latin typeface="Arial"/>
              </a:rPr>
              <a:t>✗   Asking about your idea</a:t>
            </a:r>
          </a:p>
        </p:txBody>
      </p:sp>
      <p:sp>
        <p:nvSpPr>
          <p:cNvPr id="6" name="TextBox 5"/>
          <p:cNvSpPr txBox="1"/>
          <p:nvPr/>
        </p:nvSpPr>
        <p:spPr>
          <a:xfrm>
            <a:off x="896112" y="2276856"/>
            <a:ext cx="4759452" cy="2221992"/>
          </a:xfrm>
          <a:prstGeom prst="rect">
            <a:avLst/>
          </a:prstGeom>
          <a:noFill/>
        </p:spPr>
        <p:txBody>
          <a:bodyPr wrap="square" lIns="0" tIns="0" rIns="0" bIns="0">
            <a:spAutoFit/>
          </a:bodyPr>
          <a:lstStyle/>
          <a:p>
            <a:pPr marL="173736" indent="-173736">
              <a:lnSpc>
                <a:spcPts val="1900"/>
              </a:lnSpc>
              <a:spcAft>
                <a:spcPts val="1000"/>
              </a:spcAft>
              <a:buChar char="•"/>
            </a:pPr>
            <a:r>
              <a:rPr sz="1400" b="0">
                <a:solidFill>
                  <a:srgbClr val="22223B"/>
                </a:solidFill>
                <a:latin typeface="Arial"/>
              </a:rPr>
              <a:t>"How useful would a bill-splitting screen be?"</a:t>
            </a:r>
          </a:p>
          <a:p>
            <a:pPr marL="173736" indent="-173736">
              <a:lnSpc>
                <a:spcPts val="1900"/>
              </a:lnSpc>
              <a:spcAft>
                <a:spcPts val="1000"/>
              </a:spcAft>
              <a:buChar char="•"/>
            </a:pPr>
            <a:r>
              <a:rPr sz="1400" b="0">
                <a:solidFill>
                  <a:srgbClr val="22223B"/>
                </a:solidFill>
                <a:latin typeface="Arial"/>
              </a:rPr>
              <a:t>"Would you use auto top-up?"</a:t>
            </a:r>
          </a:p>
          <a:p>
            <a:pPr marL="173736" indent="-173736">
              <a:lnSpc>
                <a:spcPts val="1900"/>
              </a:lnSpc>
              <a:spcAft>
                <a:spcPts val="1000"/>
              </a:spcAft>
              <a:buChar char="•"/>
            </a:pPr>
            <a:r>
              <a:rPr sz="1400" b="0">
                <a:solidFill>
                  <a:srgbClr val="22223B"/>
                </a:solidFill>
                <a:latin typeface="Arial"/>
              </a:rPr>
              <a:t>People are bad at judging ideas they have not tried.</a:t>
            </a:r>
          </a:p>
          <a:p>
            <a:pPr marL="173736" indent="-173736">
              <a:lnSpc>
                <a:spcPts val="1900"/>
              </a:lnSpc>
              <a:spcAft>
                <a:spcPts val="1000"/>
              </a:spcAft>
              <a:buChar char="•"/>
            </a:pPr>
            <a:r>
              <a:rPr sz="1400" b="0">
                <a:solidFill>
                  <a:srgbClr val="22223B"/>
                </a:solidFill>
                <a:latin typeface="Arial"/>
              </a:rPr>
              <a:t>And if your idea is wrong, the answer is worthless.</a:t>
            </a:r>
          </a:p>
        </p:txBody>
      </p:sp>
      <p:sp>
        <p:nvSpPr>
          <p:cNvPr id="7" name="Rounded Rectangle 6"/>
          <p:cNvSpPr/>
          <p:nvPr/>
        </p:nvSpPr>
        <p:spPr>
          <a:xfrm>
            <a:off x="6277356" y="1618488"/>
            <a:ext cx="5271516" cy="3063240"/>
          </a:xfrm>
          <a:prstGeom prst="roundRect">
            <a:avLst>
              <a:gd name="adj" fmla="val 5500"/>
            </a:avLst>
          </a:prstGeom>
          <a:solidFill>
            <a:srgbClr val="E8F5EE"/>
          </a:solidFill>
          <a:ln w="15875">
            <a:solidFill>
              <a:srgbClr val="1E7A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33388" y="1801367"/>
            <a:ext cx="4759452" cy="347472"/>
          </a:xfrm>
          <a:prstGeom prst="rect">
            <a:avLst/>
          </a:prstGeom>
          <a:noFill/>
        </p:spPr>
        <p:txBody>
          <a:bodyPr wrap="square" lIns="0" tIns="0" rIns="0" bIns="0" anchor="t">
            <a:spAutoFit/>
          </a:bodyPr>
          <a:lstStyle/>
          <a:p>
            <a:pPr algn="l"/>
            <a:r>
              <a:rPr sz="1600" b="1" i="0">
                <a:solidFill>
                  <a:srgbClr val="1E7A4C"/>
                </a:solidFill>
                <a:latin typeface="Arial"/>
              </a:rPr>
              <a:t>✓   Asking about their problem</a:t>
            </a:r>
          </a:p>
        </p:txBody>
      </p:sp>
      <p:sp>
        <p:nvSpPr>
          <p:cNvPr id="9" name="TextBox 8"/>
          <p:cNvSpPr txBox="1"/>
          <p:nvPr/>
        </p:nvSpPr>
        <p:spPr>
          <a:xfrm>
            <a:off x="6533388" y="2276856"/>
            <a:ext cx="4759452" cy="2221992"/>
          </a:xfrm>
          <a:prstGeom prst="rect">
            <a:avLst/>
          </a:prstGeom>
          <a:noFill/>
        </p:spPr>
        <p:txBody>
          <a:bodyPr wrap="square" lIns="0" tIns="0" rIns="0" bIns="0">
            <a:spAutoFit/>
          </a:bodyPr>
          <a:lstStyle/>
          <a:p>
            <a:pPr marL="173736" indent="-173736">
              <a:lnSpc>
                <a:spcPts val="1900"/>
              </a:lnSpc>
              <a:spcAft>
                <a:spcPts val="1000"/>
              </a:spcAft>
              <a:buChar char="•"/>
            </a:pPr>
            <a:r>
              <a:rPr sz="1400" b="0">
                <a:solidFill>
                  <a:srgbClr val="22223B"/>
                </a:solidFill>
                <a:latin typeface="Arial"/>
              </a:rPr>
              <a:t>"How annoying is it to settle a shared bill?"</a:t>
            </a:r>
          </a:p>
          <a:p>
            <a:pPr marL="173736" indent="-173736">
              <a:lnSpc>
                <a:spcPts val="1900"/>
              </a:lnSpc>
              <a:spcAft>
                <a:spcPts val="1000"/>
              </a:spcAft>
              <a:buChar char="•"/>
            </a:pPr>
            <a:r>
              <a:rPr sz="1400" b="0">
                <a:solidFill>
                  <a:srgbClr val="22223B"/>
                </a:solidFill>
                <a:latin typeface="Arial"/>
              </a:rPr>
              <a:t>"How often does a payment fail because you forgot to top up?"</a:t>
            </a:r>
          </a:p>
          <a:p>
            <a:pPr marL="173736" indent="-173736">
              <a:lnSpc>
                <a:spcPts val="1900"/>
              </a:lnSpc>
              <a:spcAft>
                <a:spcPts val="1000"/>
              </a:spcAft>
              <a:buChar char="•"/>
            </a:pPr>
            <a:r>
              <a:rPr sz="1400" b="0">
                <a:solidFill>
                  <a:srgbClr val="22223B"/>
                </a:solidFill>
                <a:latin typeface="Arial"/>
              </a:rPr>
              <a:t>People are very good at describing their own trouble.</a:t>
            </a:r>
          </a:p>
          <a:p>
            <a:pPr marL="173736" indent="-173736">
              <a:lnSpc>
                <a:spcPts val="1900"/>
              </a:lnSpc>
              <a:spcAft>
                <a:spcPts val="1000"/>
              </a:spcAft>
              <a:buChar char="•"/>
            </a:pPr>
            <a:r>
              <a:rPr sz="1400" b="0">
                <a:solidFill>
                  <a:srgbClr val="22223B"/>
                </a:solidFill>
                <a:latin typeface="Arial"/>
              </a:rPr>
              <a:t>And you stay free to solve it in a cheaper way.</a:t>
            </a:r>
          </a:p>
        </p:txBody>
      </p:sp>
      <p:sp>
        <p:nvSpPr>
          <p:cNvPr id="10" name="Rounded Rectangle 9"/>
          <p:cNvSpPr/>
          <p:nvPr/>
        </p:nvSpPr>
        <p:spPr>
          <a:xfrm>
            <a:off x="640080" y="4864608"/>
            <a:ext cx="10908792" cy="100584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4974336"/>
            <a:ext cx="4114800" cy="256032"/>
          </a:xfrm>
          <a:prstGeom prst="rect">
            <a:avLst/>
          </a:prstGeom>
          <a:noFill/>
        </p:spPr>
        <p:txBody>
          <a:bodyPr wrap="square" lIns="0" tIns="0" rIns="0" bIns="0" anchor="t">
            <a:spAutoFit/>
          </a:bodyPr>
          <a:lstStyle/>
          <a:p>
            <a:pPr algn="l"/>
            <a:r>
              <a:rPr sz="1250" b="1" i="0">
                <a:solidFill>
                  <a:srgbClr val="211D71"/>
                </a:solidFill>
                <a:latin typeface="Arial"/>
              </a:rPr>
              <a:t>Write each problem in this shape:</a:t>
            </a:r>
          </a:p>
        </p:txBody>
      </p:sp>
      <p:sp>
        <p:nvSpPr>
          <p:cNvPr id="12" name="TextBox 11"/>
          <p:cNvSpPr txBox="1"/>
          <p:nvPr/>
        </p:nvSpPr>
        <p:spPr>
          <a:xfrm>
            <a:off x="914400" y="5248656"/>
            <a:ext cx="10360152" cy="457200"/>
          </a:xfrm>
          <a:prstGeom prst="rect">
            <a:avLst/>
          </a:prstGeom>
          <a:noFill/>
        </p:spPr>
        <p:txBody>
          <a:bodyPr wrap="square" lIns="0" tIns="0" rIns="0" bIns="0" anchor="t">
            <a:spAutoFit/>
          </a:bodyPr>
          <a:lstStyle/>
          <a:p>
            <a:pPr algn="l"/>
            <a:r>
              <a:rPr sz="1900" b="1" i="0">
                <a:solidFill>
                  <a:srgbClr val="211D71"/>
                </a:solidFill>
                <a:latin typeface="Arial"/>
              </a:rPr>
              <a:t>Reduce   the time it takes   to settle a shared bill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74320"/>
            <a:ext cx="10908792" cy="237744"/>
          </a:xfrm>
          <a:prstGeom prst="rect">
            <a:avLst/>
          </a:prstGeom>
          <a:noFill/>
        </p:spPr>
        <p:txBody>
          <a:bodyPr wrap="square" lIns="0" tIns="0" rIns="0" bIns="0" anchor="t">
            <a:spAutoFit/>
          </a:bodyPr>
          <a:lstStyle/>
          <a:p>
            <a:pPr algn="l"/>
            <a:r>
              <a:rPr sz="1000" b="1" i="0" spc="140">
                <a:solidFill>
                  <a:srgbClr val="A9740A"/>
                </a:solidFill>
                <a:latin typeface="Arial"/>
              </a:rPr>
              <a:t>OPPORTUNITY SCORING</a:t>
            </a:r>
          </a:p>
        </p:txBody>
      </p:sp>
      <p:sp>
        <p:nvSpPr>
          <p:cNvPr id="3" name="TextBox 2"/>
          <p:cNvSpPr txBox="1"/>
          <p:nvPr/>
        </p:nvSpPr>
        <p:spPr>
          <a:xfrm>
            <a:off x="640080" y="548640"/>
            <a:ext cx="8229600" cy="640080"/>
          </a:xfrm>
          <a:prstGeom prst="rect">
            <a:avLst/>
          </a:prstGeom>
          <a:noFill/>
        </p:spPr>
        <p:txBody>
          <a:bodyPr wrap="square" lIns="0" tIns="0" rIns="0" bIns="0" anchor="t">
            <a:spAutoFit/>
          </a:bodyPr>
          <a:lstStyle/>
          <a:p>
            <a:pPr algn="l"/>
            <a:r>
              <a:rPr sz="2400" b="1" i="0">
                <a:solidFill>
                  <a:srgbClr val="211D71"/>
                </a:solidFill>
                <a:latin typeface="Arial"/>
              </a:rPr>
              <a:t>Ask two questions, do one sum</a:t>
            </a:r>
          </a:p>
        </p:txBody>
      </p:sp>
      <p:sp>
        <p:nvSpPr>
          <p:cNvPr id="4" name="Rounded Rectangle 3"/>
          <p:cNvSpPr/>
          <p:nvPr/>
        </p:nvSpPr>
        <p:spPr>
          <a:xfrm>
            <a:off x="640080" y="1572768"/>
            <a:ext cx="5349240" cy="1325880"/>
          </a:xfrm>
          <a:prstGeom prst="roundRect">
            <a:avLst>
              <a:gd name="adj" fmla="val 5500"/>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709928"/>
            <a:ext cx="4800600" cy="256032"/>
          </a:xfrm>
          <a:prstGeom prst="rect">
            <a:avLst/>
          </a:prstGeom>
          <a:noFill/>
        </p:spPr>
        <p:txBody>
          <a:bodyPr wrap="square" lIns="0" tIns="0" rIns="0" bIns="0" anchor="t">
            <a:spAutoFit/>
          </a:bodyPr>
          <a:lstStyle/>
          <a:p>
            <a:pPr algn="l"/>
            <a:r>
              <a:rPr sz="1200" b="1" i="0">
                <a:solidFill>
                  <a:srgbClr val="FCB017"/>
                </a:solidFill>
                <a:latin typeface="Arial"/>
              </a:rPr>
              <a:t>Question 1</a:t>
            </a:r>
          </a:p>
        </p:txBody>
      </p:sp>
      <p:sp>
        <p:nvSpPr>
          <p:cNvPr id="6" name="TextBox 5"/>
          <p:cNvSpPr txBox="1"/>
          <p:nvPr/>
        </p:nvSpPr>
        <p:spPr>
          <a:xfrm>
            <a:off x="914400" y="1984248"/>
            <a:ext cx="4800600" cy="777240"/>
          </a:xfrm>
          <a:prstGeom prst="rect">
            <a:avLst/>
          </a:prstGeom>
          <a:noFill/>
        </p:spPr>
        <p:txBody>
          <a:bodyPr wrap="square" lIns="0" tIns="0" rIns="0" bIns="0" anchor="t">
            <a:spAutoFit/>
          </a:bodyPr>
          <a:lstStyle/>
          <a:p>
            <a:pPr algn="l">
              <a:lnSpc>
                <a:spcPts val="2400"/>
              </a:lnSpc>
            </a:pPr>
            <a:r>
              <a:rPr sz="1700" b="1" i="0">
                <a:solidFill>
                  <a:srgbClr val="FFFFFF"/>
                </a:solidFill>
                <a:latin typeface="Arial"/>
              </a:rPr>
              <a:t>How important is this to you?</a:t>
            </a:r>
          </a:p>
          <a:p>
            <a:pPr algn="l">
              <a:lnSpc>
                <a:spcPts val="2400"/>
              </a:lnSpc>
            </a:pPr>
            <a:r>
              <a:rPr sz="1700" b="1" i="0">
                <a:solidFill>
                  <a:srgbClr val="FFFFFF"/>
                </a:solidFill>
                <a:latin typeface="Arial"/>
              </a:rPr>
              <a:t>1 to 10</a:t>
            </a:r>
          </a:p>
        </p:txBody>
      </p:sp>
      <p:sp>
        <p:nvSpPr>
          <p:cNvPr id="7" name="Rounded Rectangle 6"/>
          <p:cNvSpPr/>
          <p:nvPr/>
        </p:nvSpPr>
        <p:spPr>
          <a:xfrm>
            <a:off x="6263640" y="1572768"/>
            <a:ext cx="5349240" cy="1325880"/>
          </a:xfrm>
          <a:prstGeom prst="roundRect">
            <a:avLst>
              <a:gd name="adj" fmla="val 5500"/>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37960" y="1709928"/>
            <a:ext cx="4800600" cy="256032"/>
          </a:xfrm>
          <a:prstGeom prst="rect">
            <a:avLst/>
          </a:prstGeom>
          <a:noFill/>
        </p:spPr>
        <p:txBody>
          <a:bodyPr wrap="square" lIns="0" tIns="0" rIns="0" bIns="0" anchor="t">
            <a:spAutoFit/>
          </a:bodyPr>
          <a:lstStyle/>
          <a:p>
            <a:pPr algn="l"/>
            <a:r>
              <a:rPr sz="1200" b="1" i="0">
                <a:solidFill>
                  <a:srgbClr val="FCB017"/>
                </a:solidFill>
                <a:latin typeface="Arial"/>
              </a:rPr>
              <a:t>Question 2</a:t>
            </a:r>
          </a:p>
        </p:txBody>
      </p:sp>
      <p:sp>
        <p:nvSpPr>
          <p:cNvPr id="9" name="TextBox 8"/>
          <p:cNvSpPr txBox="1"/>
          <p:nvPr/>
        </p:nvSpPr>
        <p:spPr>
          <a:xfrm>
            <a:off x="6537960" y="1984248"/>
            <a:ext cx="4800600" cy="777240"/>
          </a:xfrm>
          <a:prstGeom prst="rect">
            <a:avLst/>
          </a:prstGeom>
          <a:noFill/>
        </p:spPr>
        <p:txBody>
          <a:bodyPr wrap="square" lIns="0" tIns="0" rIns="0" bIns="0" anchor="t">
            <a:spAutoFit/>
          </a:bodyPr>
          <a:lstStyle/>
          <a:p>
            <a:pPr algn="l">
              <a:lnSpc>
                <a:spcPts val="2400"/>
              </a:lnSpc>
            </a:pPr>
            <a:r>
              <a:rPr sz="1700" b="1" i="0">
                <a:solidFill>
                  <a:srgbClr val="FFFFFF"/>
                </a:solidFill>
                <a:latin typeface="Arial"/>
              </a:rPr>
              <a:t>How happy are you with it today?</a:t>
            </a:r>
          </a:p>
          <a:p>
            <a:pPr algn="l">
              <a:lnSpc>
                <a:spcPts val="2400"/>
              </a:lnSpc>
            </a:pPr>
            <a:r>
              <a:rPr sz="1700" b="1" i="0">
                <a:solidFill>
                  <a:srgbClr val="FFFFFF"/>
                </a:solidFill>
                <a:latin typeface="Arial"/>
              </a:rPr>
              <a:t>1 to 10</a:t>
            </a:r>
          </a:p>
        </p:txBody>
      </p:sp>
      <p:sp>
        <p:nvSpPr>
          <p:cNvPr id="10" name="Rounded Rectangle 9"/>
          <p:cNvSpPr/>
          <p:nvPr/>
        </p:nvSpPr>
        <p:spPr>
          <a:xfrm>
            <a:off x="640080" y="3172968"/>
            <a:ext cx="10908792" cy="1051560"/>
          </a:xfrm>
          <a:prstGeom prst="roundRect">
            <a:avLst>
              <a:gd name="adj" fmla="val 5500"/>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3172968"/>
            <a:ext cx="10908792" cy="1051560"/>
          </a:xfrm>
          <a:prstGeom prst="rect">
            <a:avLst/>
          </a:prstGeom>
          <a:noFill/>
        </p:spPr>
        <p:txBody>
          <a:bodyPr wrap="square" lIns="0" tIns="0" rIns="0" bIns="0" anchor="ctr">
            <a:spAutoFit/>
          </a:bodyPr>
          <a:lstStyle/>
          <a:p>
            <a:pPr algn="ctr"/>
            <a:r>
              <a:rPr sz="2500" b="1" i="0">
                <a:solidFill>
                  <a:srgbClr val="FCB017"/>
                </a:solidFill>
                <a:latin typeface="Arial"/>
              </a:rPr>
              <a:t>Score  =  Important  +  ( Important − Happy )</a:t>
            </a:r>
          </a:p>
        </p:txBody>
      </p:sp>
      <p:sp>
        <p:nvSpPr>
          <p:cNvPr id="12" name="Rounded Rectangle 11"/>
          <p:cNvSpPr/>
          <p:nvPr/>
        </p:nvSpPr>
        <p:spPr>
          <a:xfrm>
            <a:off x="640080" y="4407408"/>
            <a:ext cx="3477768" cy="160020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59536" y="4590288"/>
            <a:ext cx="3038856" cy="310896"/>
          </a:xfrm>
          <a:prstGeom prst="rect">
            <a:avLst/>
          </a:prstGeom>
          <a:noFill/>
        </p:spPr>
        <p:txBody>
          <a:bodyPr wrap="square" lIns="0" tIns="0" rIns="0" bIns="0" anchor="t">
            <a:spAutoFit/>
          </a:bodyPr>
          <a:lstStyle/>
          <a:p>
            <a:pPr algn="l"/>
            <a:r>
              <a:rPr sz="1350" b="1" i="0">
                <a:solidFill>
                  <a:srgbClr val="211D71"/>
                </a:solidFill>
                <a:latin typeface="Arial"/>
              </a:rPr>
              <a:t>If Happy is bigger than Important</a:t>
            </a:r>
          </a:p>
        </p:txBody>
      </p:sp>
      <p:sp>
        <p:nvSpPr>
          <p:cNvPr id="14" name="TextBox 13"/>
          <p:cNvSpPr txBox="1"/>
          <p:nvPr/>
        </p:nvSpPr>
        <p:spPr>
          <a:xfrm>
            <a:off x="859536" y="4956048"/>
            <a:ext cx="3038856" cy="905255"/>
          </a:xfrm>
          <a:prstGeom prst="rect">
            <a:avLst/>
          </a:prstGeom>
          <a:noFill/>
        </p:spPr>
        <p:txBody>
          <a:bodyPr wrap="square" lIns="0" tIns="0" rIns="0" bIns="0" anchor="t">
            <a:spAutoFit/>
          </a:bodyPr>
          <a:lstStyle/>
          <a:p>
            <a:pPr algn="l">
              <a:lnSpc>
                <a:spcPts val="1700"/>
              </a:lnSpc>
            </a:pPr>
            <a:r>
              <a:rPr sz="1200" b="0" i="0">
                <a:solidFill>
                  <a:srgbClr val="22223B"/>
                </a:solidFill>
                <a:latin typeface="Arial"/>
              </a:rPr>
              <a:t>The bracket would go negative. Just use 0 instead. The lowest a score can go is the Important number itself.</a:t>
            </a:r>
          </a:p>
        </p:txBody>
      </p:sp>
      <p:sp>
        <p:nvSpPr>
          <p:cNvPr id="15" name="Rounded Rectangle 14"/>
          <p:cNvSpPr/>
          <p:nvPr/>
        </p:nvSpPr>
        <p:spPr>
          <a:xfrm>
            <a:off x="4355592" y="4407408"/>
            <a:ext cx="3477768" cy="160020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5048" y="4590288"/>
            <a:ext cx="3038856" cy="310896"/>
          </a:xfrm>
          <a:prstGeom prst="rect">
            <a:avLst/>
          </a:prstGeom>
          <a:noFill/>
        </p:spPr>
        <p:txBody>
          <a:bodyPr wrap="square" lIns="0" tIns="0" rIns="0" bIns="0" anchor="t">
            <a:spAutoFit/>
          </a:bodyPr>
          <a:lstStyle/>
          <a:p>
            <a:pPr algn="l"/>
            <a:r>
              <a:rPr sz="1350" b="1" i="0">
                <a:solidFill>
                  <a:srgbClr val="211D71"/>
                </a:solidFill>
                <a:latin typeface="Arial"/>
              </a:rPr>
              <a:t>Why Important is counted twice</a:t>
            </a:r>
          </a:p>
        </p:txBody>
      </p:sp>
      <p:sp>
        <p:nvSpPr>
          <p:cNvPr id="17" name="TextBox 16"/>
          <p:cNvSpPr txBox="1"/>
          <p:nvPr/>
        </p:nvSpPr>
        <p:spPr>
          <a:xfrm>
            <a:off x="4575048" y="4956048"/>
            <a:ext cx="3038856" cy="905255"/>
          </a:xfrm>
          <a:prstGeom prst="rect">
            <a:avLst/>
          </a:prstGeom>
          <a:noFill/>
        </p:spPr>
        <p:txBody>
          <a:bodyPr wrap="square" lIns="0" tIns="0" rIns="0" bIns="0" anchor="t">
            <a:spAutoFit/>
          </a:bodyPr>
          <a:lstStyle/>
          <a:p>
            <a:pPr algn="l">
              <a:lnSpc>
                <a:spcPts val="1700"/>
              </a:lnSpc>
            </a:pPr>
            <a:r>
              <a:rPr sz="1200" b="0" i="0">
                <a:solidFill>
                  <a:srgbClr val="22223B"/>
                </a:solidFill>
                <a:latin typeface="Arial"/>
              </a:rPr>
              <a:t>The gap only matters in proportion to how much people care. A big gap on something nobody cares about is not an opportunity.</a:t>
            </a:r>
          </a:p>
        </p:txBody>
      </p:sp>
      <p:sp>
        <p:nvSpPr>
          <p:cNvPr id="18" name="Rounded Rectangle 17"/>
          <p:cNvSpPr/>
          <p:nvPr/>
        </p:nvSpPr>
        <p:spPr>
          <a:xfrm>
            <a:off x="8071104" y="4407408"/>
            <a:ext cx="3477768" cy="160020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90560" y="4590288"/>
            <a:ext cx="3038856" cy="310896"/>
          </a:xfrm>
          <a:prstGeom prst="rect">
            <a:avLst/>
          </a:prstGeom>
          <a:noFill/>
        </p:spPr>
        <p:txBody>
          <a:bodyPr wrap="square" lIns="0" tIns="0" rIns="0" bIns="0" anchor="t">
            <a:spAutoFit/>
          </a:bodyPr>
          <a:lstStyle/>
          <a:p>
            <a:pPr algn="l"/>
            <a:r>
              <a:rPr sz="1350" b="1" i="0">
                <a:solidFill>
                  <a:srgbClr val="211D71"/>
                </a:solidFill>
                <a:latin typeface="Arial"/>
              </a:rPr>
              <a:t>Scores run from 1 to 20</a:t>
            </a:r>
          </a:p>
        </p:txBody>
      </p:sp>
      <p:sp>
        <p:nvSpPr>
          <p:cNvPr id="20" name="TextBox 19"/>
          <p:cNvSpPr txBox="1"/>
          <p:nvPr/>
        </p:nvSpPr>
        <p:spPr>
          <a:xfrm>
            <a:off x="8290560" y="4956048"/>
            <a:ext cx="3038856" cy="905255"/>
          </a:xfrm>
          <a:prstGeom prst="rect">
            <a:avLst/>
          </a:prstGeom>
          <a:noFill/>
        </p:spPr>
        <p:txBody>
          <a:bodyPr wrap="square" lIns="0" tIns="0" rIns="0" bIns="0" anchor="t">
            <a:spAutoFit/>
          </a:bodyPr>
          <a:lstStyle/>
          <a:p>
            <a:pPr algn="l">
              <a:lnSpc>
                <a:spcPts val="1700"/>
              </a:lnSpc>
            </a:pPr>
            <a:r>
              <a:rPr sz="1200" b="0" i="0">
                <a:solidFill>
                  <a:srgbClr val="22223B"/>
                </a:solidFill>
                <a:latin typeface="Arial"/>
              </a:rPr>
              <a:t>Above 15 = big opportunity. 10 to 15 = worth a look. Below 10 = leave it alone.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74320"/>
            <a:ext cx="10908792" cy="237744"/>
          </a:xfrm>
          <a:prstGeom prst="rect">
            <a:avLst/>
          </a:prstGeom>
          <a:noFill/>
        </p:spPr>
        <p:txBody>
          <a:bodyPr wrap="square" lIns="0" tIns="0" rIns="0" bIns="0" anchor="t">
            <a:spAutoFit/>
          </a:bodyPr>
          <a:lstStyle/>
          <a:p>
            <a:pPr algn="l"/>
            <a:r>
              <a:rPr sz="1000" b="1" i="0" spc="140">
                <a:solidFill>
                  <a:srgbClr val="A9740A"/>
                </a:solidFill>
                <a:latin typeface="Arial"/>
              </a:rPr>
              <a:t>OPPORTUNITY SCORING  ·  CAMPUSPAY</a:t>
            </a:r>
          </a:p>
        </p:txBody>
      </p:sp>
      <p:sp>
        <p:nvSpPr>
          <p:cNvPr id="3" name="TextBox 2"/>
          <p:cNvSpPr txBox="1"/>
          <p:nvPr/>
        </p:nvSpPr>
        <p:spPr>
          <a:xfrm>
            <a:off x="640080" y="548640"/>
            <a:ext cx="8229600" cy="640080"/>
          </a:xfrm>
          <a:prstGeom prst="rect">
            <a:avLst/>
          </a:prstGeom>
          <a:noFill/>
        </p:spPr>
        <p:txBody>
          <a:bodyPr wrap="square" lIns="0" tIns="0" rIns="0" bIns="0" anchor="t">
            <a:spAutoFit/>
          </a:bodyPr>
          <a:lstStyle/>
          <a:p>
            <a:pPr algn="l"/>
            <a:r>
              <a:rPr sz="2400" b="1" i="0">
                <a:solidFill>
                  <a:srgbClr val="211D71"/>
                </a:solidFill>
                <a:latin typeface="Arial"/>
              </a:rPr>
              <a:t>Worked example — we asked 80 students</a:t>
            </a:r>
          </a:p>
        </p:txBody>
      </p:sp>
      <p:graphicFrame>
        <p:nvGraphicFramePr>
          <p:cNvPr id="4" name="Table 3"/>
          <p:cNvGraphicFramePr>
            <a:graphicFrameLocks noGrp="1"/>
          </p:cNvGraphicFramePr>
          <p:nvPr/>
        </p:nvGraphicFramePr>
        <p:xfrm>
          <a:off x="640080" y="1618488"/>
          <a:ext cx="10908792" cy="2852928"/>
        </p:xfrm>
        <a:graphic>
          <a:graphicData uri="http://schemas.openxmlformats.org/drawingml/2006/table">
            <a:tbl>
              <a:tblPr>
                <a:tableStyleId>{5C22544A-7EE6-4342-B048-85BDC9FD1C3A}</a:tableStyleId>
              </a:tblPr>
              <a:tblGrid>
                <a:gridCol w="475488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490472">
                  <a:extLst>
                    <a:ext uri="{9D8B030D-6E8A-4147-A177-3AD203B41FA5}">
                      <a16:colId xmlns:a16="http://schemas.microsoft.com/office/drawing/2014/main" val="20004"/>
                    </a:ext>
                  </a:extLst>
                </a:gridCol>
              </a:tblGrid>
              <a:tr h="475488">
                <a:tc>
                  <a:txBody>
                    <a:bodyPr/>
                    <a:lstStyle/>
                    <a:p>
                      <a:pPr algn="ctr"/>
                      <a:r>
                        <a:rPr sz="1250" b="1">
                          <a:solidFill>
                            <a:srgbClr val="FFFFFF"/>
                          </a:solidFill>
                          <a:latin typeface="Arial"/>
                        </a:rPr>
                        <a:t>What the student is trying to do</a:t>
                      </a:r>
                    </a:p>
                  </a:txBody>
                  <a:tcPr marL="82296" marR="82296" marT="36576" marB="36576" anchor="ctr">
                    <a:solidFill>
                      <a:srgbClr val="211D71"/>
                    </a:solidFill>
                  </a:tcPr>
                </a:tc>
                <a:tc>
                  <a:txBody>
                    <a:bodyPr/>
                    <a:lstStyle/>
                    <a:p>
                      <a:pPr algn="ctr"/>
                      <a:r>
                        <a:rPr sz="1250" b="1">
                          <a:solidFill>
                            <a:srgbClr val="FFFFFF"/>
                          </a:solidFill>
                          <a:latin typeface="Arial"/>
                        </a:rPr>
                        <a:t>Important</a:t>
                      </a:r>
                    </a:p>
                  </a:txBody>
                  <a:tcPr marL="82296" marR="82296" marT="36576" marB="36576" anchor="ctr">
                    <a:solidFill>
                      <a:srgbClr val="211D71"/>
                    </a:solidFill>
                  </a:tcPr>
                </a:tc>
                <a:tc>
                  <a:txBody>
                    <a:bodyPr/>
                    <a:lstStyle/>
                    <a:p>
                      <a:pPr algn="ctr"/>
                      <a:r>
                        <a:rPr sz="1250" b="1">
                          <a:solidFill>
                            <a:srgbClr val="FFFFFF"/>
                          </a:solidFill>
                          <a:latin typeface="Arial"/>
                        </a:rPr>
                        <a:t>Happy today</a:t>
                      </a:r>
                    </a:p>
                  </a:txBody>
                  <a:tcPr marL="82296" marR="82296" marT="36576" marB="36576" anchor="ctr">
                    <a:solidFill>
                      <a:srgbClr val="211D71"/>
                    </a:solidFill>
                  </a:tcPr>
                </a:tc>
                <a:tc>
                  <a:txBody>
                    <a:bodyPr/>
                    <a:lstStyle/>
                    <a:p>
                      <a:pPr algn="ctr"/>
                      <a:r>
                        <a:rPr sz="1250" b="1">
                          <a:solidFill>
                            <a:srgbClr val="FFFFFF"/>
                          </a:solidFill>
                          <a:latin typeface="Arial"/>
                        </a:rPr>
                        <a:t>Score</a:t>
                      </a:r>
                    </a:p>
                  </a:txBody>
                  <a:tcPr marL="82296" marR="82296" marT="36576" marB="36576" anchor="ctr">
                    <a:solidFill>
                      <a:srgbClr val="211D71"/>
                    </a:solidFill>
                  </a:tcPr>
                </a:tc>
                <a:tc>
                  <a:txBody>
                    <a:bodyPr/>
                    <a:lstStyle/>
                    <a:p>
                      <a:pPr algn="ctr"/>
                      <a:r>
                        <a:rPr sz="1250" b="1">
                          <a:solidFill>
                            <a:srgbClr val="FFFFFF"/>
                          </a:solidFill>
                          <a:latin typeface="Arial"/>
                        </a:rPr>
                        <a:t>So?</a:t>
                      </a:r>
                    </a:p>
                  </a:txBody>
                  <a:tcPr marL="82296" marR="82296" marT="36576" marB="36576" anchor="ctr">
                    <a:solidFill>
                      <a:srgbClr val="211D71"/>
                    </a:solidFill>
                  </a:tcPr>
                </a:tc>
                <a:extLst>
                  <a:ext uri="{0D108BD9-81ED-4DB2-BD59-A6C34878D82A}">
                    <a16:rowId xmlns:a16="http://schemas.microsoft.com/office/drawing/2014/main" val="10000"/>
                  </a:ext>
                </a:extLst>
              </a:tr>
              <a:tr h="475488">
                <a:tc>
                  <a:txBody>
                    <a:bodyPr/>
                    <a:lstStyle/>
                    <a:p>
                      <a:pPr algn="l"/>
                      <a:r>
                        <a:rPr sz="1350" b="0">
                          <a:solidFill>
                            <a:srgbClr val="22223B"/>
                          </a:solidFill>
                          <a:latin typeface="Arial"/>
                        </a:rPr>
                        <a:t>Get my money back after a payment fails</a:t>
                      </a:r>
                    </a:p>
                  </a:txBody>
                  <a:tcPr marL="82296" marR="82296" marT="36576" marB="36576" anchor="ctr">
                    <a:solidFill>
                      <a:srgbClr val="F3F4FA"/>
                    </a:solidFill>
                  </a:tcPr>
                </a:tc>
                <a:tc>
                  <a:txBody>
                    <a:bodyPr/>
                    <a:lstStyle/>
                    <a:p>
                      <a:pPr algn="ctr"/>
                      <a:r>
                        <a:rPr sz="1350" b="0">
                          <a:solidFill>
                            <a:srgbClr val="22223B"/>
                          </a:solidFill>
                          <a:latin typeface="Arial"/>
                        </a:rPr>
                        <a:t>9</a:t>
                      </a:r>
                    </a:p>
                  </a:txBody>
                  <a:tcPr marL="82296" marR="82296" marT="36576" marB="36576" anchor="ctr">
                    <a:solidFill>
                      <a:srgbClr val="F3F4FA"/>
                    </a:solidFill>
                  </a:tcPr>
                </a:tc>
                <a:tc>
                  <a:txBody>
                    <a:bodyPr/>
                    <a:lstStyle/>
                    <a:p>
                      <a:pPr algn="ctr"/>
                      <a:r>
                        <a:rPr sz="1350" b="0">
                          <a:solidFill>
                            <a:srgbClr val="22223B"/>
                          </a:solidFill>
                          <a:latin typeface="Arial"/>
                        </a:rPr>
                        <a:t>2</a:t>
                      </a:r>
                    </a:p>
                  </a:txBody>
                  <a:tcPr marL="82296" marR="82296" marT="36576" marB="36576" anchor="ctr">
                    <a:solidFill>
                      <a:srgbClr val="F3F4FA"/>
                    </a:solidFill>
                  </a:tcPr>
                </a:tc>
                <a:tc>
                  <a:txBody>
                    <a:bodyPr/>
                    <a:lstStyle/>
                    <a:p>
                      <a:pPr algn="ctr"/>
                      <a:r>
                        <a:rPr sz="1350" b="1">
                          <a:solidFill>
                            <a:srgbClr val="E31C24"/>
                          </a:solidFill>
                          <a:latin typeface="Arial"/>
                        </a:rPr>
                        <a:t>9 + 7 = 16</a:t>
                      </a:r>
                    </a:p>
                  </a:txBody>
                  <a:tcPr marL="82296" marR="82296" marT="36576" marB="36576" anchor="ctr">
                    <a:solidFill>
                      <a:srgbClr val="F3F4FA"/>
                    </a:solidFill>
                  </a:tcPr>
                </a:tc>
                <a:tc>
                  <a:txBody>
                    <a:bodyPr/>
                    <a:lstStyle/>
                    <a:p>
                      <a:pPr algn="ctr"/>
                      <a:r>
                        <a:rPr sz="1350" b="1">
                          <a:solidFill>
                            <a:srgbClr val="E31C24"/>
                          </a:solidFill>
                          <a:latin typeface="Arial"/>
                        </a:rPr>
                        <a:t>Build this</a:t>
                      </a:r>
                    </a:p>
                  </a:txBody>
                  <a:tcPr marL="82296" marR="82296" marT="36576" marB="36576" anchor="ctr">
                    <a:solidFill>
                      <a:srgbClr val="F3F4FA"/>
                    </a:solidFill>
                  </a:tcPr>
                </a:tc>
                <a:extLst>
                  <a:ext uri="{0D108BD9-81ED-4DB2-BD59-A6C34878D82A}">
                    <a16:rowId xmlns:a16="http://schemas.microsoft.com/office/drawing/2014/main" val="10001"/>
                  </a:ext>
                </a:extLst>
              </a:tr>
              <a:tr h="475488">
                <a:tc>
                  <a:txBody>
                    <a:bodyPr/>
                    <a:lstStyle/>
                    <a:p>
                      <a:pPr algn="l"/>
                      <a:r>
                        <a:rPr sz="1350" b="0">
                          <a:solidFill>
                            <a:srgbClr val="22223B"/>
                          </a:solidFill>
                          <a:latin typeface="Arial"/>
                        </a:rPr>
                        <a:t>Split a bill with friends</a:t>
                      </a:r>
                    </a:p>
                  </a:txBody>
                  <a:tcPr marL="82296" marR="82296" marT="36576" marB="36576" anchor="ctr">
                    <a:solidFill>
                      <a:srgbClr val="FFFFFF"/>
                    </a:solidFill>
                  </a:tcPr>
                </a:tc>
                <a:tc>
                  <a:txBody>
                    <a:bodyPr/>
                    <a:lstStyle/>
                    <a:p>
                      <a:pPr algn="ctr"/>
                      <a:r>
                        <a:rPr sz="1350" b="0">
                          <a:solidFill>
                            <a:srgbClr val="22223B"/>
                          </a:solidFill>
                          <a:latin typeface="Arial"/>
                        </a:rPr>
                        <a:t>9</a:t>
                      </a:r>
                    </a:p>
                  </a:txBody>
                  <a:tcPr marL="82296" marR="82296" marT="36576" marB="36576" anchor="ctr">
                    <a:solidFill>
                      <a:srgbClr val="FFFFFF"/>
                    </a:solidFill>
                  </a:tcPr>
                </a:tc>
                <a:tc>
                  <a:txBody>
                    <a:bodyPr/>
                    <a:lstStyle/>
                    <a:p>
                      <a:pPr algn="ctr"/>
                      <a:r>
                        <a:rPr sz="1350" b="0">
                          <a:solidFill>
                            <a:srgbClr val="22223B"/>
                          </a:solidFill>
                          <a:latin typeface="Arial"/>
                        </a:rPr>
                        <a:t>4</a:t>
                      </a:r>
                    </a:p>
                  </a:txBody>
                  <a:tcPr marL="82296" marR="82296" marT="36576" marB="36576" anchor="ctr">
                    <a:solidFill>
                      <a:srgbClr val="FFFFFF"/>
                    </a:solidFill>
                  </a:tcPr>
                </a:tc>
                <a:tc>
                  <a:txBody>
                    <a:bodyPr/>
                    <a:lstStyle/>
                    <a:p>
                      <a:pPr algn="ctr"/>
                      <a:r>
                        <a:rPr sz="1350" b="1">
                          <a:solidFill>
                            <a:srgbClr val="22223B"/>
                          </a:solidFill>
                          <a:latin typeface="Arial"/>
                        </a:rPr>
                        <a:t>9 + 5 = 14</a:t>
                      </a:r>
                    </a:p>
                  </a:txBody>
                  <a:tcPr marL="82296" marR="82296" marT="36576" marB="36576" anchor="ctr">
                    <a:solidFill>
                      <a:srgbClr val="FFFFFF"/>
                    </a:solidFill>
                  </a:tcPr>
                </a:tc>
                <a:tc>
                  <a:txBody>
                    <a:bodyPr/>
                    <a:lstStyle/>
                    <a:p>
                      <a:pPr algn="ctr"/>
                      <a:r>
                        <a:rPr sz="1350" b="0">
                          <a:solidFill>
                            <a:srgbClr val="22223B"/>
                          </a:solidFill>
                          <a:latin typeface="Arial"/>
                        </a:rPr>
                        <a:t>Worth a look</a:t>
                      </a:r>
                    </a:p>
                  </a:txBody>
                  <a:tcPr marL="82296" marR="82296" marT="36576" marB="36576" anchor="ctr">
                    <a:solidFill>
                      <a:srgbClr val="FFFFFF"/>
                    </a:solidFill>
                  </a:tcPr>
                </a:tc>
                <a:extLst>
                  <a:ext uri="{0D108BD9-81ED-4DB2-BD59-A6C34878D82A}">
                    <a16:rowId xmlns:a16="http://schemas.microsoft.com/office/drawing/2014/main" val="10002"/>
                  </a:ext>
                </a:extLst>
              </a:tr>
              <a:tr h="475488">
                <a:tc>
                  <a:txBody>
                    <a:bodyPr/>
                    <a:lstStyle/>
                    <a:p>
                      <a:pPr algn="l"/>
                      <a:r>
                        <a:rPr sz="1350" b="0">
                          <a:solidFill>
                            <a:srgbClr val="22223B"/>
                          </a:solidFill>
                          <a:latin typeface="Arial"/>
                        </a:rPr>
                        <a:t>Check what I spent this month</a:t>
                      </a:r>
                    </a:p>
                  </a:txBody>
                  <a:tcPr marL="82296" marR="82296" marT="36576" marB="36576" anchor="ctr">
                    <a:solidFill>
                      <a:srgbClr val="F3F4FA"/>
                    </a:solidFill>
                  </a:tcPr>
                </a:tc>
                <a:tc>
                  <a:txBody>
                    <a:bodyPr/>
                    <a:lstStyle/>
                    <a:p>
                      <a:pPr algn="ctr"/>
                      <a:r>
                        <a:rPr sz="1350" b="0">
                          <a:solidFill>
                            <a:srgbClr val="22223B"/>
                          </a:solidFill>
                          <a:latin typeface="Arial"/>
                        </a:rPr>
                        <a:t>7</a:t>
                      </a:r>
                    </a:p>
                  </a:txBody>
                  <a:tcPr marL="82296" marR="82296" marT="36576" marB="36576" anchor="ctr">
                    <a:solidFill>
                      <a:srgbClr val="F3F4FA"/>
                    </a:solidFill>
                  </a:tcPr>
                </a:tc>
                <a:tc>
                  <a:txBody>
                    <a:bodyPr/>
                    <a:lstStyle/>
                    <a:p>
                      <a:pPr algn="ctr"/>
                      <a:r>
                        <a:rPr sz="1350" b="0">
                          <a:solidFill>
                            <a:srgbClr val="22223B"/>
                          </a:solidFill>
                          <a:latin typeface="Arial"/>
                        </a:rPr>
                        <a:t>3</a:t>
                      </a:r>
                    </a:p>
                  </a:txBody>
                  <a:tcPr marL="82296" marR="82296" marT="36576" marB="36576" anchor="ctr">
                    <a:solidFill>
                      <a:srgbClr val="F3F4FA"/>
                    </a:solidFill>
                  </a:tcPr>
                </a:tc>
                <a:tc>
                  <a:txBody>
                    <a:bodyPr/>
                    <a:lstStyle/>
                    <a:p>
                      <a:pPr algn="ctr"/>
                      <a:r>
                        <a:rPr sz="1350" b="1">
                          <a:solidFill>
                            <a:srgbClr val="22223B"/>
                          </a:solidFill>
                          <a:latin typeface="Arial"/>
                        </a:rPr>
                        <a:t>7 + 4 = 11</a:t>
                      </a:r>
                    </a:p>
                  </a:txBody>
                  <a:tcPr marL="82296" marR="82296" marT="36576" marB="36576" anchor="ctr">
                    <a:solidFill>
                      <a:srgbClr val="F3F4FA"/>
                    </a:solidFill>
                  </a:tcPr>
                </a:tc>
                <a:tc>
                  <a:txBody>
                    <a:bodyPr/>
                    <a:lstStyle/>
                    <a:p>
                      <a:pPr algn="ctr"/>
                      <a:r>
                        <a:rPr sz="1350" b="0">
                          <a:solidFill>
                            <a:srgbClr val="22223B"/>
                          </a:solidFill>
                          <a:latin typeface="Arial"/>
                        </a:rPr>
                        <a:t>Worth a look</a:t>
                      </a:r>
                    </a:p>
                  </a:txBody>
                  <a:tcPr marL="82296" marR="82296" marT="36576" marB="36576" anchor="ctr">
                    <a:solidFill>
                      <a:srgbClr val="F3F4FA"/>
                    </a:solidFill>
                  </a:tcPr>
                </a:tc>
                <a:extLst>
                  <a:ext uri="{0D108BD9-81ED-4DB2-BD59-A6C34878D82A}">
                    <a16:rowId xmlns:a16="http://schemas.microsoft.com/office/drawing/2014/main" val="10003"/>
                  </a:ext>
                </a:extLst>
              </a:tr>
              <a:tr h="475488">
                <a:tc>
                  <a:txBody>
                    <a:bodyPr/>
                    <a:lstStyle/>
                    <a:p>
                      <a:pPr algn="l"/>
                      <a:r>
                        <a:rPr sz="1350" b="0">
                          <a:solidFill>
                            <a:srgbClr val="22223B"/>
                          </a:solidFill>
                          <a:latin typeface="Arial"/>
                        </a:rPr>
                        <a:t>Add money to the wallet</a:t>
                      </a:r>
                    </a:p>
                  </a:txBody>
                  <a:tcPr marL="82296" marR="82296" marT="36576" marB="36576" anchor="ctr">
                    <a:solidFill>
                      <a:srgbClr val="FFFFFF"/>
                    </a:solidFill>
                  </a:tcPr>
                </a:tc>
                <a:tc>
                  <a:txBody>
                    <a:bodyPr/>
                    <a:lstStyle/>
                    <a:p>
                      <a:pPr algn="ctr"/>
                      <a:r>
                        <a:rPr sz="1350" b="0">
                          <a:solidFill>
                            <a:srgbClr val="22223B"/>
                          </a:solidFill>
                          <a:latin typeface="Arial"/>
                        </a:rPr>
                        <a:t>9</a:t>
                      </a:r>
                    </a:p>
                  </a:txBody>
                  <a:tcPr marL="82296" marR="82296" marT="36576" marB="36576" anchor="ctr">
                    <a:solidFill>
                      <a:srgbClr val="FFFFFF"/>
                    </a:solidFill>
                  </a:tcPr>
                </a:tc>
                <a:tc>
                  <a:txBody>
                    <a:bodyPr/>
                    <a:lstStyle/>
                    <a:p>
                      <a:pPr algn="ctr"/>
                      <a:r>
                        <a:rPr sz="1350" b="0">
                          <a:solidFill>
                            <a:srgbClr val="22223B"/>
                          </a:solidFill>
                          <a:latin typeface="Arial"/>
                        </a:rPr>
                        <a:t>8</a:t>
                      </a:r>
                    </a:p>
                  </a:txBody>
                  <a:tcPr marL="82296" marR="82296" marT="36576" marB="36576" anchor="ctr">
                    <a:solidFill>
                      <a:srgbClr val="FFFFFF"/>
                    </a:solidFill>
                  </a:tcPr>
                </a:tc>
                <a:tc>
                  <a:txBody>
                    <a:bodyPr/>
                    <a:lstStyle/>
                    <a:p>
                      <a:pPr algn="ctr"/>
                      <a:r>
                        <a:rPr sz="1350" b="0">
                          <a:solidFill>
                            <a:srgbClr val="5F6178"/>
                          </a:solidFill>
                          <a:latin typeface="Arial"/>
                        </a:rPr>
                        <a:t>9 + 1 = 10</a:t>
                      </a:r>
                    </a:p>
                  </a:txBody>
                  <a:tcPr marL="82296" marR="82296" marT="36576" marB="36576" anchor="ctr">
                    <a:solidFill>
                      <a:srgbClr val="FFFFFF"/>
                    </a:solidFill>
                  </a:tcPr>
                </a:tc>
                <a:tc>
                  <a:txBody>
                    <a:bodyPr/>
                    <a:lstStyle/>
                    <a:p>
                      <a:pPr algn="ctr"/>
                      <a:r>
                        <a:rPr sz="1350" b="0">
                          <a:solidFill>
                            <a:srgbClr val="5F6178"/>
                          </a:solidFill>
                          <a:latin typeface="Arial"/>
                        </a:rPr>
                        <a:t>Already fine</a:t>
                      </a:r>
                    </a:p>
                  </a:txBody>
                  <a:tcPr marL="82296" marR="82296" marT="36576" marB="36576" anchor="ctr">
                    <a:solidFill>
                      <a:srgbClr val="FFFFFF"/>
                    </a:solidFill>
                  </a:tcPr>
                </a:tc>
                <a:extLst>
                  <a:ext uri="{0D108BD9-81ED-4DB2-BD59-A6C34878D82A}">
                    <a16:rowId xmlns:a16="http://schemas.microsoft.com/office/drawing/2014/main" val="10004"/>
                  </a:ext>
                </a:extLst>
              </a:tr>
              <a:tr h="475488">
                <a:tc>
                  <a:txBody>
                    <a:bodyPr/>
                    <a:lstStyle/>
                    <a:p>
                      <a:pPr algn="l"/>
                      <a:r>
                        <a:rPr sz="1350" b="0">
                          <a:solidFill>
                            <a:srgbClr val="22223B"/>
                          </a:solidFill>
                          <a:latin typeface="Arial"/>
                        </a:rPr>
                        <a:t>See offers near me</a:t>
                      </a:r>
                    </a:p>
                  </a:txBody>
                  <a:tcPr marL="82296" marR="82296" marT="36576" marB="36576" anchor="ctr">
                    <a:solidFill>
                      <a:srgbClr val="F3F4FA"/>
                    </a:solidFill>
                  </a:tcPr>
                </a:tc>
                <a:tc>
                  <a:txBody>
                    <a:bodyPr/>
                    <a:lstStyle/>
                    <a:p>
                      <a:pPr algn="ctr"/>
                      <a:r>
                        <a:rPr sz="1350" b="0">
                          <a:solidFill>
                            <a:srgbClr val="22223B"/>
                          </a:solidFill>
                          <a:latin typeface="Arial"/>
                        </a:rPr>
                        <a:t>5</a:t>
                      </a:r>
                    </a:p>
                  </a:txBody>
                  <a:tcPr marL="82296" marR="82296" marT="36576" marB="36576" anchor="ctr">
                    <a:solidFill>
                      <a:srgbClr val="F3F4FA"/>
                    </a:solidFill>
                  </a:tcPr>
                </a:tc>
                <a:tc>
                  <a:txBody>
                    <a:bodyPr/>
                    <a:lstStyle/>
                    <a:p>
                      <a:pPr algn="ctr"/>
                      <a:r>
                        <a:rPr sz="1350" b="0">
                          <a:solidFill>
                            <a:srgbClr val="22223B"/>
                          </a:solidFill>
                          <a:latin typeface="Arial"/>
                        </a:rPr>
                        <a:t>7</a:t>
                      </a:r>
                    </a:p>
                  </a:txBody>
                  <a:tcPr marL="82296" marR="82296" marT="36576" marB="36576" anchor="ctr">
                    <a:solidFill>
                      <a:srgbClr val="F3F4FA"/>
                    </a:solidFill>
                  </a:tcPr>
                </a:tc>
                <a:tc>
                  <a:txBody>
                    <a:bodyPr/>
                    <a:lstStyle/>
                    <a:p>
                      <a:pPr algn="ctr"/>
                      <a:r>
                        <a:rPr sz="1350" b="0">
                          <a:solidFill>
                            <a:srgbClr val="5F6178"/>
                          </a:solidFill>
                          <a:latin typeface="Arial"/>
                        </a:rPr>
                        <a:t>5 + 0 = 5</a:t>
                      </a:r>
                    </a:p>
                  </a:txBody>
                  <a:tcPr marL="82296" marR="82296" marT="36576" marB="36576" anchor="ctr">
                    <a:solidFill>
                      <a:srgbClr val="F3F4FA"/>
                    </a:solidFill>
                  </a:tcPr>
                </a:tc>
                <a:tc>
                  <a:txBody>
                    <a:bodyPr/>
                    <a:lstStyle/>
                    <a:p>
                      <a:pPr algn="ctr"/>
                      <a:r>
                        <a:rPr sz="1350" b="0">
                          <a:solidFill>
                            <a:srgbClr val="5F6178"/>
                          </a:solidFill>
                          <a:latin typeface="Arial"/>
                        </a:rPr>
                        <a:t>Leave it</a:t>
                      </a:r>
                    </a:p>
                  </a:txBody>
                  <a:tcPr marL="82296" marR="82296" marT="36576" marB="36576" anchor="ctr">
                    <a:solidFill>
                      <a:srgbClr val="F3F4FA"/>
                    </a:solidFill>
                  </a:tcPr>
                </a:tc>
                <a:extLst>
                  <a:ext uri="{0D108BD9-81ED-4DB2-BD59-A6C34878D82A}">
                    <a16:rowId xmlns:a16="http://schemas.microsoft.com/office/drawing/2014/main" val="10005"/>
                  </a:ext>
                </a:extLst>
              </a:tr>
            </a:tbl>
          </a:graphicData>
        </a:graphic>
      </p:graphicFrame>
      <p:sp>
        <p:nvSpPr>
          <p:cNvPr id="5" name="Rounded Rectangle 4"/>
          <p:cNvSpPr/>
          <p:nvPr/>
        </p:nvSpPr>
        <p:spPr>
          <a:xfrm>
            <a:off x="640080" y="4224528"/>
            <a:ext cx="5349240" cy="137160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4352544"/>
            <a:ext cx="4800600" cy="256032"/>
          </a:xfrm>
          <a:prstGeom prst="rect">
            <a:avLst/>
          </a:prstGeom>
          <a:noFill/>
        </p:spPr>
        <p:txBody>
          <a:bodyPr wrap="square" lIns="0" tIns="0" rIns="0" bIns="0" anchor="t">
            <a:spAutoFit/>
          </a:bodyPr>
          <a:lstStyle/>
          <a:p>
            <a:pPr algn="l"/>
            <a:r>
              <a:rPr sz="1350" b="1" i="0">
                <a:solidFill>
                  <a:srgbClr val="211D71"/>
                </a:solidFill>
                <a:latin typeface="Arial"/>
              </a:rPr>
              <a:t>Look at rows 1 and 4</a:t>
            </a:r>
          </a:p>
        </p:txBody>
      </p:sp>
      <p:sp>
        <p:nvSpPr>
          <p:cNvPr id="7" name="TextBox 6"/>
          <p:cNvSpPr txBox="1"/>
          <p:nvPr/>
        </p:nvSpPr>
        <p:spPr>
          <a:xfrm>
            <a:off x="914400" y="4645152"/>
            <a:ext cx="4800600" cy="868680"/>
          </a:xfrm>
          <a:prstGeom prst="rect">
            <a:avLst/>
          </a:prstGeom>
          <a:noFill/>
        </p:spPr>
        <p:txBody>
          <a:bodyPr wrap="square" lIns="0" tIns="0" rIns="0" bIns="0" anchor="t">
            <a:spAutoFit/>
          </a:bodyPr>
          <a:lstStyle/>
          <a:p>
            <a:pPr algn="l">
              <a:lnSpc>
                <a:spcPts val="1800"/>
              </a:lnSpc>
            </a:pPr>
            <a:r>
              <a:rPr sz="1300" b="0" i="0">
                <a:solidFill>
                  <a:srgbClr val="22223B"/>
                </a:solidFill>
                <a:latin typeface="Arial"/>
              </a:rPr>
              <a:t>Both score 9 for importance. If we had only asked "how important?", they would tie. The second question separates them by 6 points.</a:t>
            </a:r>
          </a:p>
        </p:txBody>
      </p:sp>
      <p:sp>
        <p:nvSpPr>
          <p:cNvPr id="8" name="Rounded Rectangle 7"/>
          <p:cNvSpPr/>
          <p:nvPr/>
        </p:nvSpPr>
        <p:spPr>
          <a:xfrm>
            <a:off x="6263640" y="4224528"/>
            <a:ext cx="5349240" cy="137160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37960" y="4352544"/>
            <a:ext cx="4800600" cy="256032"/>
          </a:xfrm>
          <a:prstGeom prst="rect">
            <a:avLst/>
          </a:prstGeom>
          <a:noFill/>
        </p:spPr>
        <p:txBody>
          <a:bodyPr wrap="square" lIns="0" tIns="0" rIns="0" bIns="0" anchor="t">
            <a:spAutoFit/>
          </a:bodyPr>
          <a:lstStyle/>
          <a:p>
            <a:pPr algn="l"/>
            <a:r>
              <a:rPr sz="1350" b="1" i="0">
                <a:solidFill>
                  <a:srgbClr val="211D71"/>
                </a:solidFill>
                <a:latin typeface="Arial"/>
              </a:rPr>
              <a:t>Look at the last row</a:t>
            </a:r>
          </a:p>
        </p:txBody>
      </p:sp>
      <p:sp>
        <p:nvSpPr>
          <p:cNvPr id="10" name="TextBox 9"/>
          <p:cNvSpPr txBox="1"/>
          <p:nvPr/>
        </p:nvSpPr>
        <p:spPr>
          <a:xfrm>
            <a:off x="6537960" y="4645152"/>
            <a:ext cx="4800600" cy="868680"/>
          </a:xfrm>
          <a:prstGeom prst="rect">
            <a:avLst/>
          </a:prstGeom>
          <a:noFill/>
        </p:spPr>
        <p:txBody>
          <a:bodyPr wrap="square" lIns="0" tIns="0" rIns="0" bIns="0" anchor="t">
            <a:spAutoFit/>
          </a:bodyPr>
          <a:lstStyle/>
          <a:p>
            <a:pPr algn="l">
              <a:lnSpc>
                <a:spcPts val="1800"/>
              </a:lnSpc>
            </a:pPr>
            <a:r>
              <a:rPr sz="1300" b="0" i="0">
                <a:solidFill>
                  <a:srgbClr val="22223B"/>
                </a:solidFill>
                <a:latin typeface="Arial"/>
              </a:rPr>
              <a:t>Happy (7) is higher than Important (5), so the bracket is 0, not −2. Students are more than satisfied here. Adding to it is wasted money.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74320"/>
            <a:ext cx="10908792" cy="237744"/>
          </a:xfrm>
          <a:prstGeom prst="rect">
            <a:avLst/>
          </a:prstGeom>
          <a:noFill/>
        </p:spPr>
        <p:txBody>
          <a:bodyPr wrap="square" lIns="0" tIns="0" rIns="0" bIns="0" anchor="t">
            <a:spAutoFit/>
          </a:bodyPr>
          <a:lstStyle/>
          <a:p>
            <a:pPr algn="l"/>
            <a:r>
              <a:rPr sz="1000" b="1" i="0" spc="140">
                <a:solidFill>
                  <a:srgbClr val="A9740A"/>
                </a:solidFill>
                <a:latin typeface="Arial"/>
              </a:rPr>
              <a:t>OPPORTUNITY SCORING</a:t>
            </a:r>
          </a:p>
        </p:txBody>
      </p:sp>
      <p:sp>
        <p:nvSpPr>
          <p:cNvPr id="3" name="TextBox 2"/>
          <p:cNvSpPr txBox="1"/>
          <p:nvPr/>
        </p:nvSpPr>
        <p:spPr>
          <a:xfrm>
            <a:off x="640080" y="548640"/>
            <a:ext cx="8229600" cy="640080"/>
          </a:xfrm>
          <a:prstGeom prst="rect">
            <a:avLst/>
          </a:prstGeom>
          <a:noFill/>
        </p:spPr>
        <p:txBody>
          <a:bodyPr wrap="square" lIns="0" tIns="0" rIns="0" bIns="0" anchor="t">
            <a:spAutoFit/>
          </a:bodyPr>
          <a:lstStyle/>
          <a:p>
            <a:pPr algn="l"/>
            <a:r>
              <a:rPr sz="2400" b="1" i="0">
                <a:solidFill>
                  <a:srgbClr val="211D71"/>
                </a:solidFill>
                <a:latin typeface="Arial"/>
              </a:rPr>
              <a:t>Three things this cannot tell you</a:t>
            </a:r>
          </a:p>
        </p:txBody>
      </p:sp>
      <p:sp>
        <p:nvSpPr>
          <p:cNvPr id="4" name="Rounded Rectangle 3"/>
          <p:cNvSpPr/>
          <p:nvPr/>
        </p:nvSpPr>
        <p:spPr>
          <a:xfrm>
            <a:off x="640080" y="1709928"/>
            <a:ext cx="3477768" cy="219456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59536" y="1892807"/>
            <a:ext cx="384048" cy="384048"/>
          </a:xfrm>
          <a:prstGeom prst="ellipse">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59536" y="1892807"/>
            <a:ext cx="384048" cy="384048"/>
          </a:xfrm>
          <a:prstGeom prst="rect">
            <a:avLst/>
          </a:prstGeom>
          <a:noFill/>
        </p:spPr>
        <p:txBody>
          <a:bodyPr wrap="square" lIns="0" tIns="0" rIns="0" bIns="0" anchor="ctr">
            <a:spAutoFit/>
          </a:bodyPr>
          <a:lstStyle/>
          <a:p>
            <a:pPr algn="ctr"/>
            <a:r>
              <a:rPr sz="1400" b="1" i="0">
                <a:solidFill>
                  <a:srgbClr val="FFFFFF"/>
                </a:solidFill>
                <a:latin typeface="Arial"/>
              </a:rPr>
              <a:t>1</a:t>
            </a:r>
          </a:p>
        </p:txBody>
      </p:sp>
      <p:sp>
        <p:nvSpPr>
          <p:cNvPr id="7" name="TextBox 6"/>
          <p:cNvSpPr txBox="1"/>
          <p:nvPr/>
        </p:nvSpPr>
        <p:spPr>
          <a:xfrm>
            <a:off x="1335024" y="1892807"/>
            <a:ext cx="2563368" cy="384048"/>
          </a:xfrm>
          <a:prstGeom prst="rect">
            <a:avLst/>
          </a:prstGeom>
          <a:noFill/>
        </p:spPr>
        <p:txBody>
          <a:bodyPr wrap="square" lIns="0" tIns="0" rIns="0" bIns="0" anchor="ctr">
            <a:spAutoFit/>
          </a:bodyPr>
          <a:lstStyle/>
          <a:p>
            <a:pPr algn="l"/>
            <a:r>
              <a:rPr sz="1400" b="1" i="0">
                <a:solidFill>
                  <a:srgbClr val="211D71"/>
                </a:solidFill>
                <a:latin typeface="Arial"/>
              </a:rPr>
              <a:t>How much it costs</a:t>
            </a:r>
          </a:p>
        </p:txBody>
      </p:sp>
      <p:sp>
        <p:nvSpPr>
          <p:cNvPr id="8" name="TextBox 7"/>
          <p:cNvSpPr txBox="1"/>
          <p:nvPr/>
        </p:nvSpPr>
        <p:spPr>
          <a:xfrm>
            <a:off x="859536" y="2368296"/>
            <a:ext cx="3038856" cy="1389888"/>
          </a:xfrm>
          <a:prstGeom prst="rect">
            <a:avLst/>
          </a:prstGeom>
          <a:noFill/>
        </p:spPr>
        <p:txBody>
          <a:bodyPr wrap="square" lIns="0" tIns="0" rIns="0" bIns="0" anchor="t">
            <a:spAutoFit/>
          </a:bodyPr>
          <a:lstStyle/>
          <a:p>
            <a:pPr algn="l">
              <a:lnSpc>
                <a:spcPts val="1700"/>
              </a:lnSpc>
            </a:pPr>
            <a:r>
              <a:rPr sz="1300" b="0" i="0">
                <a:solidFill>
                  <a:srgbClr val="22223B"/>
                </a:solidFill>
                <a:latin typeface="Arial"/>
              </a:rPr>
              <a:t>A score of 16 that takes a year and a score of 11 that takes two weeks look the same here. The score ignores effort completely.</a:t>
            </a:r>
          </a:p>
        </p:txBody>
      </p:sp>
      <p:sp>
        <p:nvSpPr>
          <p:cNvPr id="9" name="Rounded Rectangle 8"/>
          <p:cNvSpPr/>
          <p:nvPr/>
        </p:nvSpPr>
        <p:spPr>
          <a:xfrm>
            <a:off x="4355592" y="1709928"/>
            <a:ext cx="3477768" cy="219456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4575048" y="1892807"/>
            <a:ext cx="384048" cy="384048"/>
          </a:xfrm>
          <a:prstGeom prst="ellipse">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5048" y="1892807"/>
            <a:ext cx="384048" cy="384048"/>
          </a:xfrm>
          <a:prstGeom prst="rect">
            <a:avLst/>
          </a:prstGeom>
          <a:noFill/>
        </p:spPr>
        <p:txBody>
          <a:bodyPr wrap="square" lIns="0" tIns="0" rIns="0" bIns="0" anchor="ctr">
            <a:spAutoFit/>
          </a:bodyPr>
          <a:lstStyle/>
          <a:p>
            <a:pPr algn="ctr"/>
            <a:r>
              <a:rPr sz="1400" b="1" i="0">
                <a:solidFill>
                  <a:srgbClr val="FFFFFF"/>
                </a:solidFill>
                <a:latin typeface="Arial"/>
              </a:rPr>
              <a:t>2</a:t>
            </a:r>
          </a:p>
        </p:txBody>
      </p:sp>
      <p:sp>
        <p:nvSpPr>
          <p:cNvPr id="12" name="TextBox 11"/>
          <p:cNvSpPr txBox="1"/>
          <p:nvPr/>
        </p:nvSpPr>
        <p:spPr>
          <a:xfrm>
            <a:off x="5050536" y="1892807"/>
            <a:ext cx="2563368" cy="384048"/>
          </a:xfrm>
          <a:prstGeom prst="rect">
            <a:avLst/>
          </a:prstGeom>
          <a:noFill/>
        </p:spPr>
        <p:txBody>
          <a:bodyPr wrap="square" lIns="0" tIns="0" rIns="0" bIns="0" anchor="ctr">
            <a:spAutoFit/>
          </a:bodyPr>
          <a:lstStyle/>
          <a:p>
            <a:pPr algn="l"/>
            <a:r>
              <a:rPr sz="1400" b="1" i="0">
                <a:solidFill>
                  <a:srgbClr val="211D71"/>
                </a:solidFill>
                <a:latin typeface="Arial"/>
              </a:rPr>
              <a:t>How urgent it is</a:t>
            </a:r>
          </a:p>
        </p:txBody>
      </p:sp>
      <p:sp>
        <p:nvSpPr>
          <p:cNvPr id="13" name="TextBox 12"/>
          <p:cNvSpPr txBox="1"/>
          <p:nvPr/>
        </p:nvSpPr>
        <p:spPr>
          <a:xfrm>
            <a:off x="4575048" y="2368296"/>
            <a:ext cx="3038856" cy="1389888"/>
          </a:xfrm>
          <a:prstGeom prst="rect">
            <a:avLst/>
          </a:prstGeom>
          <a:noFill/>
        </p:spPr>
        <p:txBody>
          <a:bodyPr wrap="square" lIns="0" tIns="0" rIns="0" bIns="0" anchor="t">
            <a:spAutoFit/>
          </a:bodyPr>
          <a:lstStyle/>
          <a:p>
            <a:pPr algn="l">
              <a:lnSpc>
                <a:spcPts val="1700"/>
              </a:lnSpc>
            </a:pPr>
            <a:r>
              <a:rPr sz="1300" b="0" i="0">
                <a:solidFill>
                  <a:srgbClr val="22223B"/>
                </a:solidFill>
                <a:latin typeface="Arial"/>
              </a:rPr>
              <a:t>It is a photo of today's demand. A deadline next month does not change anybody's answer to "how important is this?"</a:t>
            </a:r>
          </a:p>
        </p:txBody>
      </p:sp>
      <p:sp>
        <p:nvSpPr>
          <p:cNvPr id="14" name="Rounded Rectangle 13"/>
          <p:cNvSpPr/>
          <p:nvPr/>
        </p:nvSpPr>
        <p:spPr>
          <a:xfrm>
            <a:off x="8071104" y="1709928"/>
            <a:ext cx="3477768" cy="219456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8290560" y="1892807"/>
            <a:ext cx="384048" cy="384048"/>
          </a:xfrm>
          <a:prstGeom prst="ellipse">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90560" y="1892807"/>
            <a:ext cx="384048" cy="384048"/>
          </a:xfrm>
          <a:prstGeom prst="rect">
            <a:avLst/>
          </a:prstGeom>
          <a:noFill/>
        </p:spPr>
        <p:txBody>
          <a:bodyPr wrap="square" lIns="0" tIns="0" rIns="0" bIns="0" anchor="ctr">
            <a:spAutoFit/>
          </a:bodyPr>
          <a:lstStyle/>
          <a:p>
            <a:pPr algn="ctr"/>
            <a:r>
              <a:rPr sz="1400" b="1" i="0">
                <a:solidFill>
                  <a:srgbClr val="FFFFFF"/>
                </a:solidFill>
                <a:latin typeface="Arial"/>
              </a:rPr>
              <a:t>3</a:t>
            </a:r>
          </a:p>
        </p:txBody>
      </p:sp>
      <p:sp>
        <p:nvSpPr>
          <p:cNvPr id="17" name="TextBox 16"/>
          <p:cNvSpPr txBox="1"/>
          <p:nvPr/>
        </p:nvSpPr>
        <p:spPr>
          <a:xfrm>
            <a:off x="8766048" y="1892807"/>
            <a:ext cx="2563368" cy="384048"/>
          </a:xfrm>
          <a:prstGeom prst="rect">
            <a:avLst/>
          </a:prstGeom>
          <a:noFill/>
        </p:spPr>
        <p:txBody>
          <a:bodyPr wrap="square" lIns="0" tIns="0" rIns="0" bIns="0" anchor="ctr">
            <a:spAutoFit/>
          </a:bodyPr>
          <a:lstStyle/>
          <a:p>
            <a:pPr algn="l"/>
            <a:r>
              <a:rPr sz="1400" b="1" i="0">
                <a:solidFill>
                  <a:srgbClr val="211D71"/>
                </a:solidFill>
                <a:latin typeface="Arial"/>
              </a:rPr>
              <a:t>What people who left would say</a:t>
            </a:r>
          </a:p>
        </p:txBody>
      </p:sp>
      <p:sp>
        <p:nvSpPr>
          <p:cNvPr id="18" name="TextBox 17"/>
          <p:cNvSpPr txBox="1"/>
          <p:nvPr/>
        </p:nvSpPr>
        <p:spPr>
          <a:xfrm>
            <a:off x="8290560" y="2368296"/>
            <a:ext cx="3038856" cy="1389888"/>
          </a:xfrm>
          <a:prstGeom prst="rect">
            <a:avLst/>
          </a:prstGeom>
          <a:noFill/>
        </p:spPr>
        <p:txBody>
          <a:bodyPr wrap="square" lIns="0" tIns="0" rIns="0" bIns="0" anchor="t">
            <a:spAutoFit/>
          </a:bodyPr>
          <a:lstStyle/>
          <a:p>
            <a:pPr algn="l">
              <a:lnSpc>
                <a:spcPts val="1700"/>
              </a:lnSpc>
            </a:pPr>
            <a:r>
              <a:rPr sz="1300" b="0" i="0">
                <a:solidFill>
                  <a:srgbClr val="22223B"/>
                </a:solidFill>
                <a:latin typeface="Arial"/>
              </a:rPr>
              <a:t>You surveyed the students who stayed. The problem that made others give up never appears in your data.</a:t>
            </a:r>
          </a:p>
        </p:txBody>
      </p:sp>
      <p:sp>
        <p:nvSpPr>
          <p:cNvPr id="19" name="Rounded Rectangle 18"/>
          <p:cNvSpPr/>
          <p:nvPr/>
        </p:nvSpPr>
        <p:spPr>
          <a:xfrm>
            <a:off x="640080" y="4178808"/>
            <a:ext cx="10908792" cy="731520"/>
          </a:xfrm>
          <a:prstGeom prst="roundRect">
            <a:avLst>
              <a:gd name="adj" fmla="val 5500"/>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68680" y="4215384"/>
            <a:ext cx="10451592" cy="658368"/>
          </a:xfrm>
          <a:prstGeom prst="rect">
            <a:avLst/>
          </a:prstGeom>
          <a:noFill/>
        </p:spPr>
        <p:txBody>
          <a:bodyPr wrap="square" lIns="0" tIns="0" rIns="0" bIns="0" anchor="ctr">
            <a:spAutoFit/>
          </a:bodyPr>
          <a:lstStyle/>
          <a:p>
            <a:pPr algn="l"/>
            <a:r>
              <a:rPr sz="1350" b="1" i="0">
                <a:solidFill>
                  <a:srgbClr val="FFFFFF"/>
                </a:solidFill>
                <a:latin typeface="Arial"/>
              </a:rPr>
              <a:t>So we need a second number — one that includes time and effort. That is Cost of Delay, and it is the next section.</a:t>
            </a:r>
          </a:p>
        </p:txBody>
      </p:sp>
      <p:sp>
        <p:nvSpPr>
          <p:cNvPr id="21" name="TextBox 20"/>
          <p:cNvSpPr txBox="1"/>
          <p:nvPr/>
        </p:nvSpPr>
        <p:spPr>
          <a:xfrm>
            <a:off x="640080" y="5138928"/>
            <a:ext cx="10908792" cy="457200"/>
          </a:xfrm>
          <a:prstGeom prst="rect">
            <a:avLst/>
          </a:prstGeom>
          <a:noFill/>
        </p:spPr>
        <p:txBody>
          <a:bodyPr wrap="square" lIns="0" tIns="0" rIns="0" bIns="0" anchor="t">
            <a:spAutoFit/>
          </a:bodyPr>
          <a:lstStyle/>
          <a:p>
            <a:pPr algn="ctr"/>
            <a:r>
              <a:rPr sz="1500" b="1" i="0">
                <a:solidFill>
                  <a:srgbClr val="211D71"/>
                </a:solidFill>
                <a:latin typeface="Arial"/>
              </a:rPr>
              <a:t>Use them together: opportunity scoring says WHERE the value is. Cost of Delay says WHEN it has to arrive.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19" y="1828800"/>
            <a:ext cx="2194560" cy="1371600"/>
          </a:xfrm>
          <a:prstGeom prst="rect">
            <a:avLst/>
          </a:prstGeom>
          <a:noFill/>
        </p:spPr>
        <p:txBody>
          <a:bodyPr wrap="square" lIns="0" tIns="0" rIns="0" bIns="0" anchor="t">
            <a:spAutoFit/>
          </a:bodyPr>
          <a:lstStyle/>
          <a:p>
            <a:pPr algn="l"/>
            <a:r>
              <a:rPr sz="7600" b="1" i="0">
                <a:solidFill>
                  <a:srgbClr val="B4B8DA"/>
                </a:solidFill>
                <a:latin typeface="Arial"/>
              </a:rPr>
              <a:t>03</a:t>
            </a:r>
          </a:p>
        </p:txBody>
      </p:sp>
      <p:sp>
        <p:nvSpPr>
          <p:cNvPr id="3" name="TextBox 2"/>
          <p:cNvSpPr txBox="1"/>
          <p:nvPr/>
        </p:nvSpPr>
        <p:spPr>
          <a:xfrm>
            <a:off x="731519" y="3017520"/>
            <a:ext cx="10058400" cy="868680"/>
          </a:xfrm>
          <a:prstGeom prst="rect">
            <a:avLst/>
          </a:prstGeom>
          <a:noFill/>
        </p:spPr>
        <p:txBody>
          <a:bodyPr wrap="square" lIns="0" tIns="0" rIns="0" bIns="0" anchor="t">
            <a:spAutoFit/>
          </a:bodyPr>
          <a:lstStyle/>
          <a:p>
            <a:pPr algn="l"/>
            <a:r>
              <a:rPr sz="3600" b="1" i="0">
                <a:solidFill>
                  <a:srgbClr val="211D71"/>
                </a:solidFill>
                <a:latin typeface="Arial"/>
              </a:rPr>
              <a:t>Cost of Delay</a:t>
            </a:r>
          </a:p>
        </p:txBody>
      </p:sp>
      <p:sp>
        <p:nvSpPr>
          <p:cNvPr id="4" name="Rectangle 3"/>
          <p:cNvSpPr/>
          <p:nvPr/>
        </p:nvSpPr>
        <p:spPr>
          <a:xfrm>
            <a:off x="777240" y="3977639"/>
            <a:ext cx="914400" cy="50292"/>
          </a:xfrm>
          <a:prstGeom prst="rect">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691639" y="3977639"/>
            <a:ext cx="914400" cy="50292"/>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606039" y="3977639"/>
            <a:ext cx="914400" cy="50292"/>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19" y="4187952"/>
            <a:ext cx="10058400" cy="457200"/>
          </a:xfrm>
          <a:prstGeom prst="rect">
            <a:avLst/>
          </a:prstGeom>
          <a:noFill/>
        </p:spPr>
        <p:txBody>
          <a:bodyPr wrap="square" lIns="0" tIns="0" rIns="0" bIns="0" anchor="t">
            <a:spAutoFit/>
          </a:bodyPr>
          <a:lstStyle/>
          <a:p>
            <a:pPr algn="l"/>
            <a:r>
              <a:rPr sz="1400" b="0" i="0">
                <a:solidFill>
                  <a:srgbClr val="5F6178"/>
                </a:solidFill>
                <a:latin typeface="Arial"/>
              </a:rPr>
              <a:t>What waiting actually costs you   ·   36–45 min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74320"/>
            <a:ext cx="10908792" cy="237744"/>
          </a:xfrm>
          <a:prstGeom prst="rect">
            <a:avLst/>
          </a:prstGeom>
          <a:noFill/>
        </p:spPr>
        <p:txBody>
          <a:bodyPr wrap="square" lIns="0" tIns="0" rIns="0" bIns="0" anchor="t">
            <a:spAutoFit/>
          </a:bodyPr>
          <a:lstStyle/>
          <a:p>
            <a:pPr algn="l"/>
            <a:r>
              <a:rPr sz="1000" b="1" i="0" spc="140">
                <a:solidFill>
                  <a:srgbClr val="A9740A"/>
                </a:solidFill>
                <a:latin typeface="Arial"/>
              </a:rPr>
              <a:t>COST OF DELAY</a:t>
            </a:r>
          </a:p>
        </p:txBody>
      </p:sp>
      <p:sp>
        <p:nvSpPr>
          <p:cNvPr id="3" name="TextBox 2"/>
          <p:cNvSpPr txBox="1"/>
          <p:nvPr/>
        </p:nvSpPr>
        <p:spPr>
          <a:xfrm>
            <a:off x="640080" y="548640"/>
            <a:ext cx="8229600" cy="640080"/>
          </a:xfrm>
          <a:prstGeom prst="rect">
            <a:avLst/>
          </a:prstGeom>
          <a:noFill/>
        </p:spPr>
        <p:txBody>
          <a:bodyPr wrap="square" lIns="0" tIns="0" rIns="0" bIns="0" anchor="t">
            <a:spAutoFit/>
          </a:bodyPr>
          <a:lstStyle/>
          <a:p>
            <a:pPr algn="l"/>
            <a:r>
              <a:rPr sz="2400" b="1" i="0">
                <a:solidFill>
                  <a:srgbClr val="211D71"/>
                </a:solidFill>
                <a:latin typeface="Arial"/>
              </a:rPr>
              <a:t>Waiting costs money every week</a:t>
            </a:r>
          </a:p>
        </p:txBody>
      </p:sp>
      <p:sp>
        <p:nvSpPr>
          <p:cNvPr id="4" name="Rounded Rectangle 3"/>
          <p:cNvSpPr/>
          <p:nvPr/>
        </p:nvSpPr>
        <p:spPr>
          <a:xfrm>
            <a:off x="640080" y="1572768"/>
            <a:ext cx="10908792" cy="1188720"/>
          </a:xfrm>
          <a:prstGeom prst="roundRect">
            <a:avLst>
              <a:gd name="adj" fmla="val 5500"/>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572768"/>
            <a:ext cx="10908792" cy="1188720"/>
          </a:xfrm>
          <a:prstGeom prst="rect">
            <a:avLst/>
          </a:prstGeom>
          <a:noFill/>
        </p:spPr>
        <p:txBody>
          <a:bodyPr wrap="square" lIns="0" tIns="0" rIns="0" bIns="0" anchor="ctr">
            <a:spAutoFit/>
          </a:bodyPr>
          <a:lstStyle/>
          <a:p>
            <a:pPr algn="ctr">
              <a:lnSpc>
                <a:spcPts val="3400"/>
              </a:lnSpc>
            </a:pPr>
            <a:r>
              <a:rPr sz="2300" b="1" i="0">
                <a:solidFill>
                  <a:srgbClr val="FCB017"/>
                </a:solidFill>
                <a:latin typeface="Arial"/>
              </a:rPr>
              <a:t>Cost of Delay  =  what you lose</a:t>
            </a:r>
          </a:p>
          <a:p>
            <a:pPr algn="ctr">
              <a:lnSpc>
                <a:spcPts val="3400"/>
              </a:lnSpc>
            </a:pPr>
            <a:r>
              <a:rPr sz="2300" b="1" i="0">
                <a:solidFill>
                  <a:srgbClr val="FCB017"/>
                </a:solidFill>
                <a:latin typeface="Arial"/>
              </a:rPr>
              <a:t>for every week it is not built yet</a:t>
            </a:r>
          </a:p>
        </p:txBody>
      </p:sp>
      <p:sp>
        <p:nvSpPr>
          <p:cNvPr id="6" name="Rounded Rectangle 5"/>
          <p:cNvSpPr/>
          <p:nvPr/>
        </p:nvSpPr>
        <p:spPr>
          <a:xfrm>
            <a:off x="640080" y="2898648"/>
            <a:ext cx="10908792" cy="1234440"/>
          </a:xfrm>
          <a:prstGeom prst="roundRect">
            <a:avLst>
              <a:gd name="adj" fmla="val 5500"/>
            </a:avLst>
          </a:prstGeom>
          <a:solidFill>
            <a:srgbClr val="FEF4DC"/>
          </a:solidFill>
          <a:ln w="15875">
            <a:solidFill>
              <a:srgbClr val="FCB0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3044952"/>
            <a:ext cx="10360152" cy="237744"/>
          </a:xfrm>
          <a:prstGeom prst="rect">
            <a:avLst/>
          </a:prstGeom>
          <a:noFill/>
        </p:spPr>
        <p:txBody>
          <a:bodyPr wrap="square" lIns="0" tIns="0" rIns="0" bIns="0" anchor="t">
            <a:spAutoFit/>
          </a:bodyPr>
          <a:lstStyle/>
          <a:p>
            <a:pPr algn="l"/>
            <a:r>
              <a:rPr sz="1000" b="1" i="0" spc="140">
                <a:solidFill>
                  <a:srgbClr val="A9740A"/>
                </a:solidFill>
                <a:latin typeface="Arial"/>
              </a:rPr>
              <a:t>THINK OF IT LIKE THIS</a:t>
            </a:r>
          </a:p>
        </p:txBody>
      </p:sp>
      <p:sp>
        <p:nvSpPr>
          <p:cNvPr id="8" name="TextBox 7"/>
          <p:cNvSpPr txBox="1"/>
          <p:nvPr/>
        </p:nvSpPr>
        <p:spPr>
          <a:xfrm>
            <a:off x="914400" y="3300984"/>
            <a:ext cx="10360152" cy="685800"/>
          </a:xfrm>
          <a:prstGeom prst="rect">
            <a:avLst/>
          </a:prstGeom>
          <a:noFill/>
        </p:spPr>
        <p:txBody>
          <a:bodyPr wrap="square" lIns="0" tIns="0" rIns="0" bIns="0" anchor="t">
            <a:spAutoFit/>
          </a:bodyPr>
          <a:lstStyle/>
          <a:p>
            <a:pPr algn="l">
              <a:lnSpc>
                <a:spcPts val="2400"/>
              </a:lnSpc>
            </a:pPr>
            <a:r>
              <a:rPr sz="1700" b="1" i="0">
                <a:solidFill>
                  <a:srgbClr val="211D71"/>
                </a:solidFill>
                <a:latin typeface="Arial"/>
              </a:rPr>
              <a:t>It is a taxi meter. It is not "the ride costs ₹500" — it is "₹20 every minute you sit there".</a:t>
            </a:r>
          </a:p>
        </p:txBody>
      </p:sp>
      <p:sp>
        <p:nvSpPr>
          <p:cNvPr id="9" name="Rounded Rectangle 8"/>
          <p:cNvSpPr/>
          <p:nvPr/>
        </p:nvSpPr>
        <p:spPr>
          <a:xfrm>
            <a:off x="640080" y="4315968"/>
            <a:ext cx="3477768" cy="160020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59536" y="4498848"/>
            <a:ext cx="3038856" cy="310896"/>
          </a:xfrm>
          <a:prstGeom prst="rect">
            <a:avLst/>
          </a:prstGeom>
          <a:noFill/>
        </p:spPr>
        <p:txBody>
          <a:bodyPr wrap="square" lIns="0" tIns="0" rIns="0" bIns="0" anchor="t">
            <a:spAutoFit/>
          </a:bodyPr>
          <a:lstStyle/>
          <a:p>
            <a:pPr algn="l"/>
            <a:r>
              <a:rPr sz="1400" b="1" i="0">
                <a:solidFill>
                  <a:srgbClr val="211D71"/>
                </a:solidFill>
                <a:latin typeface="Arial"/>
              </a:rPr>
              <a:t>Money per week</a:t>
            </a:r>
          </a:p>
        </p:txBody>
      </p:sp>
      <p:sp>
        <p:nvSpPr>
          <p:cNvPr id="11" name="TextBox 10"/>
          <p:cNvSpPr txBox="1"/>
          <p:nvPr/>
        </p:nvSpPr>
        <p:spPr>
          <a:xfrm>
            <a:off x="859536" y="4864608"/>
            <a:ext cx="3038856" cy="905255"/>
          </a:xfrm>
          <a:prstGeom prst="rect">
            <a:avLst/>
          </a:prstGeom>
          <a:noFill/>
        </p:spPr>
        <p:txBody>
          <a:bodyPr wrap="square" lIns="0" tIns="0" rIns="0" bIns="0" anchor="t">
            <a:spAutoFit/>
          </a:bodyPr>
          <a:lstStyle/>
          <a:p>
            <a:pPr algn="l">
              <a:lnSpc>
                <a:spcPts val="1700"/>
              </a:lnSpc>
            </a:pPr>
            <a:r>
              <a:rPr sz="1250" b="0" i="0">
                <a:solidFill>
                  <a:srgbClr val="22223B"/>
                </a:solidFill>
                <a:latin typeface="Arial"/>
              </a:rPr>
              <a:t>₹8 lakh a week, not ₹8 lakh. The unit is what makes it useful.</a:t>
            </a:r>
          </a:p>
        </p:txBody>
      </p:sp>
      <p:sp>
        <p:nvSpPr>
          <p:cNvPr id="12" name="Rounded Rectangle 11"/>
          <p:cNvSpPr/>
          <p:nvPr/>
        </p:nvSpPr>
        <p:spPr>
          <a:xfrm>
            <a:off x="4355592" y="4315968"/>
            <a:ext cx="3477768" cy="160020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5048" y="4498848"/>
            <a:ext cx="3038856" cy="310896"/>
          </a:xfrm>
          <a:prstGeom prst="rect">
            <a:avLst/>
          </a:prstGeom>
          <a:noFill/>
        </p:spPr>
        <p:txBody>
          <a:bodyPr wrap="square" lIns="0" tIns="0" rIns="0" bIns="0" anchor="t">
            <a:spAutoFit/>
          </a:bodyPr>
          <a:lstStyle/>
          <a:p>
            <a:pPr algn="l"/>
            <a:r>
              <a:rPr sz="1400" b="1" i="0">
                <a:solidFill>
                  <a:srgbClr val="211D71"/>
                </a:solidFill>
                <a:latin typeface="Arial"/>
              </a:rPr>
              <a:t>Everything on one scale</a:t>
            </a:r>
          </a:p>
        </p:txBody>
      </p:sp>
      <p:sp>
        <p:nvSpPr>
          <p:cNvPr id="14" name="TextBox 13"/>
          <p:cNvSpPr txBox="1"/>
          <p:nvPr/>
        </p:nvSpPr>
        <p:spPr>
          <a:xfrm>
            <a:off x="4575048" y="4864608"/>
            <a:ext cx="3038856" cy="905255"/>
          </a:xfrm>
          <a:prstGeom prst="rect">
            <a:avLst/>
          </a:prstGeom>
          <a:noFill/>
        </p:spPr>
        <p:txBody>
          <a:bodyPr wrap="square" lIns="0" tIns="0" rIns="0" bIns="0" anchor="t">
            <a:spAutoFit/>
          </a:bodyPr>
          <a:lstStyle/>
          <a:p>
            <a:pPr algn="l">
              <a:lnSpc>
                <a:spcPts val="1700"/>
              </a:lnSpc>
            </a:pPr>
            <a:r>
              <a:rPr sz="1250" b="0" i="0">
                <a:solidFill>
                  <a:srgbClr val="22223B"/>
                </a:solidFill>
                <a:latin typeface="Arial"/>
              </a:rPr>
              <a:t>A new revenue feature, a cost saving and a legal deadline can finally be compared.</a:t>
            </a:r>
          </a:p>
        </p:txBody>
      </p:sp>
      <p:sp>
        <p:nvSpPr>
          <p:cNvPr id="15" name="Rounded Rectangle 14"/>
          <p:cNvSpPr/>
          <p:nvPr/>
        </p:nvSpPr>
        <p:spPr>
          <a:xfrm>
            <a:off x="8071104" y="4315968"/>
            <a:ext cx="3477768" cy="160020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90560" y="4498848"/>
            <a:ext cx="3038856" cy="310896"/>
          </a:xfrm>
          <a:prstGeom prst="rect">
            <a:avLst/>
          </a:prstGeom>
          <a:noFill/>
        </p:spPr>
        <p:txBody>
          <a:bodyPr wrap="square" lIns="0" tIns="0" rIns="0" bIns="0" anchor="t">
            <a:spAutoFit/>
          </a:bodyPr>
          <a:lstStyle/>
          <a:p>
            <a:pPr algn="l"/>
            <a:r>
              <a:rPr sz="1400" b="1" i="0">
                <a:solidFill>
                  <a:srgbClr val="211D71"/>
                </a:solidFill>
                <a:latin typeface="Arial"/>
              </a:rPr>
              <a:t>Rough is fine</a:t>
            </a:r>
          </a:p>
        </p:txBody>
      </p:sp>
      <p:sp>
        <p:nvSpPr>
          <p:cNvPr id="17" name="TextBox 16"/>
          <p:cNvSpPr txBox="1"/>
          <p:nvPr/>
        </p:nvSpPr>
        <p:spPr>
          <a:xfrm>
            <a:off x="8290560" y="4864608"/>
            <a:ext cx="3038856" cy="905255"/>
          </a:xfrm>
          <a:prstGeom prst="rect">
            <a:avLst/>
          </a:prstGeom>
          <a:noFill/>
        </p:spPr>
        <p:txBody>
          <a:bodyPr wrap="square" lIns="0" tIns="0" rIns="0" bIns="0" anchor="t">
            <a:spAutoFit/>
          </a:bodyPr>
          <a:lstStyle/>
          <a:p>
            <a:pPr algn="l">
              <a:lnSpc>
                <a:spcPts val="1700"/>
              </a:lnSpc>
            </a:pPr>
            <a:r>
              <a:rPr sz="1250" b="0" i="0">
                <a:solidFill>
                  <a:srgbClr val="22223B"/>
                </a:solidFill>
                <a:latin typeface="Arial"/>
              </a:rPr>
              <a:t>A rough guess beats no number, because the differences between items are usually much bigger than your error.</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74320"/>
            <a:ext cx="10908792" cy="237744"/>
          </a:xfrm>
          <a:prstGeom prst="rect">
            <a:avLst/>
          </a:prstGeom>
          <a:noFill/>
        </p:spPr>
        <p:txBody>
          <a:bodyPr wrap="square" lIns="0" tIns="0" rIns="0" bIns="0" anchor="t">
            <a:spAutoFit/>
          </a:bodyPr>
          <a:lstStyle/>
          <a:p>
            <a:pPr algn="l"/>
            <a:r>
              <a:rPr sz="1000" b="1" i="0" spc="140">
                <a:solidFill>
                  <a:srgbClr val="A9740A"/>
                </a:solidFill>
                <a:latin typeface="Arial"/>
              </a:rPr>
              <a:t>COST OF DELAY</a:t>
            </a:r>
          </a:p>
        </p:txBody>
      </p:sp>
      <p:sp>
        <p:nvSpPr>
          <p:cNvPr id="3" name="TextBox 2"/>
          <p:cNvSpPr txBox="1"/>
          <p:nvPr/>
        </p:nvSpPr>
        <p:spPr>
          <a:xfrm>
            <a:off x="640080" y="548640"/>
            <a:ext cx="8229600" cy="640080"/>
          </a:xfrm>
          <a:prstGeom prst="rect">
            <a:avLst/>
          </a:prstGeom>
          <a:noFill/>
        </p:spPr>
        <p:txBody>
          <a:bodyPr wrap="square" lIns="0" tIns="0" rIns="0" bIns="0" anchor="t">
            <a:spAutoFit/>
          </a:bodyPr>
          <a:lstStyle/>
          <a:p>
            <a:pPr algn="l"/>
            <a:r>
              <a:rPr sz="2400" b="1" i="0">
                <a:solidFill>
                  <a:srgbClr val="211D71"/>
                </a:solidFill>
                <a:latin typeface="Arial"/>
              </a:rPr>
              <a:t>Two jobs. Which one first?</a:t>
            </a:r>
          </a:p>
        </p:txBody>
      </p:sp>
      <p:sp>
        <p:nvSpPr>
          <p:cNvPr id="4" name="Rounded Rectangle 3"/>
          <p:cNvSpPr/>
          <p:nvPr/>
        </p:nvSpPr>
        <p:spPr>
          <a:xfrm>
            <a:off x="640080" y="1572768"/>
            <a:ext cx="5349240" cy="1371600"/>
          </a:xfrm>
          <a:prstGeom prst="roundRect">
            <a:avLst>
              <a:gd name="adj" fmla="val 5500"/>
            </a:avLst>
          </a:prstGeom>
          <a:solidFill>
            <a:srgbClr val="F3F4FA"/>
          </a:solidFill>
          <a:ln w="1587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700784"/>
            <a:ext cx="4800600" cy="274320"/>
          </a:xfrm>
          <a:prstGeom prst="rect">
            <a:avLst/>
          </a:prstGeom>
          <a:noFill/>
        </p:spPr>
        <p:txBody>
          <a:bodyPr wrap="square" lIns="0" tIns="0" rIns="0" bIns="0" anchor="t">
            <a:spAutoFit/>
          </a:bodyPr>
          <a:lstStyle/>
          <a:p>
            <a:pPr algn="l"/>
            <a:r>
              <a:rPr sz="1400" b="1" i="0">
                <a:solidFill>
                  <a:srgbClr val="211D71"/>
                </a:solidFill>
                <a:latin typeface="Arial"/>
              </a:rPr>
              <a:t>Job X</a:t>
            </a:r>
          </a:p>
        </p:txBody>
      </p:sp>
      <p:sp>
        <p:nvSpPr>
          <p:cNvPr id="6" name="TextBox 5"/>
          <p:cNvSpPr txBox="1"/>
          <p:nvPr/>
        </p:nvSpPr>
        <p:spPr>
          <a:xfrm>
            <a:off x="914400" y="2075688"/>
            <a:ext cx="4800600" cy="548640"/>
          </a:xfrm>
          <a:prstGeom prst="rect">
            <a:avLst/>
          </a:prstGeom>
          <a:noFill/>
        </p:spPr>
        <p:txBody>
          <a:bodyPr wrap="square" lIns="0" tIns="0" rIns="0" bIns="0" anchor="t">
            <a:spAutoFit/>
          </a:bodyPr>
          <a:lstStyle/>
          <a:p>
            <a:pPr algn="l"/>
            <a:r>
              <a:rPr sz="1700" b="1" i="0">
                <a:solidFill>
                  <a:srgbClr val="22223B"/>
                </a:solidFill>
                <a:latin typeface="Arial"/>
              </a:rPr>
              <a:t>Loses ₹10 a week  ·  takes 5 weeks</a:t>
            </a:r>
          </a:p>
        </p:txBody>
      </p:sp>
      <p:sp>
        <p:nvSpPr>
          <p:cNvPr id="7" name="Rounded Rectangle 6"/>
          <p:cNvSpPr/>
          <p:nvPr/>
        </p:nvSpPr>
        <p:spPr>
          <a:xfrm>
            <a:off x="6263640" y="1572768"/>
            <a:ext cx="5349240" cy="1371600"/>
          </a:xfrm>
          <a:prstGeom prst="roundRect">
            <a:avLst>
              <a:gd name="adj" fmla="val 5500"/>
            </a:avLst>
          </a:prstGeom>
          <a:solidFill>
            <a:srgbClr val="F3F4FA"/>
          </a:solidFill>
          <a:ln w="1587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37960" y="1700784"/>
            <a:ext cx="4800600" cy="274320"/>
          </a:xfrm>
          <a:prstGeom prst="rect">
            <a:avLst/>
          </a:prstGeom>
          <a:noFill/>
        </p:spPr>
        <p:txBody>
          <a:bodyPr wrap="square" lIns="0" tIns="0" rIns="0" bIns="0" anchor="t">
            <a:spAutoFit/>
          </a:bodyPr>
          <a:lstStyle/>
          <a:p>
            <a:pPr algn="l"/>
            <a:r>
              <a:rPr sz="1400" b="1" i="0">
                <a:solidFill>
                  <a:srgbClr val="211D71"/>
                </a:solidFill>
                <a:latin typeface="Arial"/>
              </a:rPr>
              <a:t>Job Y</a:t>
            </a:r>
          </a:p>
        </p:txBody>
      </p:sp>
      <p:sp>
        <p:nvSpPr>
          <p:cNvPr id="9" name="TextBox 8"/>
          <p:cNvSpPr txBox="1"/>
          <p:nvPr/>
        </p:nvSpPr>
        <p:spPr>
          <a:xfrm>
            <a:off x="6537960" y="2075688"/>
            <a:ext cx="4800600" cy="548640"/>
          </a:xfrm>
          <a:prstGeom prst="rect">
            <a:avLst/>
          </a:prstGeom>
          <a:noFill/>
        </p:spPr>
        <p:txBody>
          <a:bodyPr wrap="square" lIns="0" tIns="0" rIns="0" bIns="0" anchor="t">
            <a:spAutoFit/>
          </a:bodyPr>
          <a:lstStyle/>
          <a:p>
            <a:pPr algn="l"/>
            <a:r>
              <a:rPr sz="1700" b="1" i="0">
                <a:solidFill>
                  <a:srgbClr val="22223B"/>
                </a:solidFill>
                <a:latin typeface="Arial"/>
              </a:rPr>
              <a:t>Loses ₹6 a week  ·  takes 2 weeks</a:t>
            </a:r>
          </a:p>
        </p:txBody>
      </p:sp>
      <p:sp>
        <p:nvSpPr>
          <p:cNvPr id="10" name="TextBox 9"/>
          <p:cNvSpPr txBox="1"/>
          <p:nvPr/>
        </p:nvSpPr>
        <p:spPr>
          <a:xfrm>
            <a:off x="640080" y="3054096"/>
            <a:ext cx="10908792" cy="310896"/>
          </a:xfrm>
          <a:prstGeom prst="rect">
            <a:avLst/>
          </a:prstGeom>
          <a:noFill/>
        </p:spPr>
        <p:txBody>
          <a:bodyPr wrap="square" lIns="0" tIns="0" rIns="0" bIns="0" anchor="t">
            <a:spAutoFit/>
          </a:bodyPr>
          <a:lstStyle/>
          <a:p>
            <a:pPr algn="ctr"/>
            <a:r>
              <a:rPr sz="1500" b="1" i="0">
                <a:solidFill>
                  <a:srgbClr val="211D71"/>
                </a:solidFill>
                <a:latin typeface="Arial"/>
              </a:rPr>
              <a:t>Most people say X, because X loses more money. Let us count.</a:t>
            </a:r>
          </a:p>
        </p:txBody>
      </p:sp>
      <p:graphicFrame>
        <p:nvGraphicFramePr>
          <p:cNvPr id="11" name="Table 10"/>
          <p:cNvGraphicFramePr>
            <a:graphicFrameLocks noGrp="1"/>
          </p:cNvGraphicFramePr>
          <p:nvPr/>
        </p:nvGraphicFramePr>
        <p:xfrm>
          <a:off x="640080" y="3447288"/>
          <a:ext cx="10908792" cy="1371600"/>
        </p:xfrm>
        <a:graphic>
          <a:graphicData uri="http://schemas.openxmlformats.org/drawingml/2006/table">
            <a:tbl>
              <a:tblPr>
                <a:tableStyleId>{5C22544A-7EE6-4342-B048-85BDC9FD1C3A}</a:tableStyleId>
              </a:tblPr>
              <a:tblGrid>
                <a:gridCol w="201168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gridCol w="2130552">
                  <a:extLst>
                    <a:ext uri="{9D8B030D-6E8A-4147-A177-3AD203B41FA5}">
                      <a16:colId xmlns:a16="http://schemas.microsoft.com/office/drawing/2014/main" val="20003"/>
                    </a:ext>
                  </a:extLst>
                </a:gridCol>
              </a:tblGrid>
              <a:tr h="457200">
                <a:tc>
                  <a:txBody>
                    <a:bodyPr/>
                    <a:lstStyle/>
                    <a:p>
                      <a:pPr algn="ctr"/>
                      <a:r>
                        <a:rPr sz="1300" b="1">
                          <a:solidFill>
                            <a:srgbClr val="FFFFFF"/>
                          </a:solidFill>
                          <a:latin typeface="Arial"/>
                        </a:rPr>
                        <a:t>Order</a:t>
                      </a:r>
                    </a:p>
                  </a:txBody>
                  <a:tcPr marL="82296" marR="82296" marT="36576" marB="36576" anchor="ctr">
                    <a:solidFill>
                      <a:srgbClr val="211D71"/>
                    </a:solidFill>
                  </a:tcPr>
                </a:tc>
                <a:tc>
                  <a:txBody>
                    <a:bodyPr/>
                    <a:lstStyle/>
                    <a:p>
                      <a:pPr algn="ctr"/>
                      <a:r>
                        <a:rPr sz="1300" b="1">
                          <a:solidFill>
                            <a:srgbClr val="FFFFFF"/>
                          </a:solidFill>
                          <a:latin typeface="Arial"/>
                        </a:rPr>
                        <a:t>First job finishes</a:t>
                      </a:r>
                    </a:p>
                  </a:txBody>
                  <a:tcPr marL="82296" marR="82296" marT="36576" marB="36576" anchor="ctr">
                    <a:solidFill>
                      <a:srgbClr val="211D71"/>
                    </a:solidFill>
                  </a:tcPr>
                </a:tc>
                <a:tc>
                  <a:txBody>
                    <a:bodyPr/>
                    <a:lstStyle/>
                    <a:p>
                      <a:pPr algn="ctr"/>
                      <a:r>
                        <a:rPr sz="1300" b="1">
                          <a:solidFill>
                            <a:srgbClr val="FFFFFF"/>
                          </a:solidFill>
                          <a:latin typeface="Arial"/>
                        </a:rPr>
                        <a:t>Second job finishes</a:t>
                      </a:r>
                    </a:p>
                  </a:txBody>
                  <a:tcPr marL="82296" marR="82296" marT="36576" marB="36576" anchor="ctr">
                    <a:solidFill>
                      <a:srgbClr val="211D71"/>
                    </a:solidFill>
                  </a:tcPr>
                </a:tc>
                <a:tc>
                  <a:txBody>
                    <a:bodyPr/>
                    <a:lstStyle/>
                    <a:p>
                      <a:pPr algn="ctr"/>
                      <a:r>
                        <a:rPr sz="1300" b="1">
                          <a:solidFill>
                            <a:srgbClr val="FFFFFF"/>
                          </a:solidFill>
                          <a:latin typeface="Arial"/>
                        </a:rPr>
                        <a:t>Total lost</a:t>
                      </a:r>
                    </a:p>
                  </a:txBody>
                  <a:tcPr marL="82296" marR="82296" marT="36576" marB="36576" anchor="ctr">
                    <a:solidFill>
                      <a:srgbClr val="211D71"/>
                    </a:solidFill>
                  </a:tcPr>
                </a:tc>
                <a:extLst>
                  <a:ext uri="{0D108BD9-81ED-4DB2-BD59-A6C34878D82A}">
                    <a16:rowId xmlns:a16="http://schemas.microsoft.com/office/drawing/2014/main" val="10000"/>
                  </a:ext>
                </a:extLst>
              </a:tr>
              <a:tr h="457200">
                <a:tc>
                  <a:txBody>
                    <a:bodyPr/>
                    <a:lstStyle/>
                    <a:p>
                      <a:pPr algn="l"/>
                      <a:r>
                        <a:rPr sz="1400" b="0">
                          <a:solidFill>
                            <a:srgbClr val="22223B"/>
                          </a:solidFill>
                          <a:latin typeface="Arial"/>
                        </a:rPr>
                        <a:t>X then Y</a:t>
                      </a:r>
                    </a:p>
                  </a:txBody>
                  <a:tcPr marL="82296" marR="82296" marT="36576" marB="36576" anchor="ctr">
                    <a:solidFill>
                      <a:srgbClr val="F3F4FA"/>
                    </a:solidFill>
                  </a:tcPr>
                </a:tc>
                <a:tc>
                  <a:txBody>
                    <a:bodyPr/>
                    <a:lstStyle/>
                    <a:p>
                      <a:pPr algn="ctr"/>
                      <a:r>
                        <a:rPr sz="1400" b="0">
                          <a:solidFill>
                            <a:srgbClr val="22223B"/>
                          </a:solidFill>
                          <a:latin typeface="Arial"/>
                        </a:rPr>
                        <a:t>week 5  →  10 × 5 = 50</a:t>
                      </a:r>
                    </a:p>
                  </a:txBody>
                  <a:tcPr marL="82296" marR="82296" marT="36576" marB="36576" anchor="ctr">
                    <a:solidFill>
                      <a:srgbClr val="F3F4FA"/>
                    </a:solidFill>
                  </a:tcPr>
                </a:tc>
                <a:tc>
                  <a:txBody>
                    <a:bodyPr/>
                    <a:lstStyle/>
                    <a:p>
                      <a:pPr algn="ctr"/>
                      <a:r>
                        <a:rPr sz="1400" b="0">
                          <a:solidFill>
                            <a:srgbClr val="22223B"/>
                          </a:solidFill>
                          <a:latin typeface="Arial"/>
                        </a:rPr>
                        <a:t>week 7  →  6 × 7 = 42</a:t>
                      </a:r>
                    </a:p>
                  </a:txBody>
                  <a:tcPr marL="82296" marR="82296" marT="36576" marB="36576" anchor="ctr">
                    <a:solidFill>
                      <a:srgbClr val="F3F4FA"/>
                    </a:solidFill>
                  </a:tcPr>
                </a:tc>
                <a:tc>
                  <a:txBody>
                    <a:bodyPr/>
                    <a:lstStyle/>
                    <a:p>
                      <a:pPr algn="ctr"/>
                      <a:r>
                        <a:rPr sz="1400" b="1">
                          <a:solidFill>
                            <a:srgbClr val="E31C24"/>
                          </a:solidFill>
                          <a:latin typeface="Arial"/>
                        </a:rPr>
                        <a:t>92</a:t>
                      </a:r>
                    </a:p>
                  </a:txBody>
                  <a:tcPr marL="82296" marR="82296" marT="36576" marB="36576" anchor="ctr">
                    <a:solidFill>
                      <a:srgbClr val="F3F4FA"/>
                    </a:solidFill>
                  </a:tcPr>
                </a:tc>
                <a:extLst>
                  <a:ext uri="{0D108BD9-81ED-4DB2-BD59-A6C34878D82A}">
                    <a16:rowId xmlns:a16="http://schemas.microsoft.com/office/drawing/2014/main" val="10001"/>
                  </a:ext>
                </a:extLst>
              </a:tr>
              <a:tr h="457200">
                <a:tc>
                  <a:txBody>
                    <a:bodyPr/>
                    <a:lstStyle/>
                    <a:p>
                      <a:pPr algn="l"/>
                      <a:r>
                        <a:rPr sz="1400" b="0">
                          <a:solidFill>
                            <a:srgbClr val="22223B"/>
                          </a:solidFill>
                          <a:latin typeface="Arial"/>
                        </a:rPr>
                        <a:t>Y then X</a:t>
                      </a:r>
                    </a:p>
                  </a:txBody>
                  <a:tcPr marL="82296" marR="82296" marT="36576" marB="36576" anchor="ctr">
                    <a:solidFill>
                      <a:srgbClr val="FFFFFF"/>
                    </a:solidFill>
                  </a:tcPr>
                </a:tc>
                <a:tc>
                  <a:txBody>
                    <a:bodyPr/>
                    <a:lstStyle/>
                    <a:p>
                      <a:pPr algn="ctr"/>
                      <a:r>
                        <a:rPr sz="1400" b="0">
                          <a:solidFill>
                            <a:srgbClr val="22223B"/>
                          </a:solidFill>
                          <a:latin typeface="Arial"/>
                        </a:rPr>
                        <a:t>week 2  →  6 × 2 = 12</a:t>
                      </a:r>
                    </a:p>
                  </a:txBody>
                  <a:tcPr marL="82296" marR="82296" marT="36576" marB="36576" anchor="ctr">
                    <a:solidFill>
                      <a:srgbClr val="FFFFFF"/>
                    </a:solidFill>
                  </a:tcPr>
                </a:tc>
                <a:tc>
                  <a:txBody>
                    <a:bodyPr/>
                    <a:lstStyle/>
                    <a:p>
                      <a:pPr algn="ctr"/>
                      <a:r>
                        <a:rPr sz="1400" b="0">
                          <a:solidFill>
                            <a:srgbClr val="22223B"/>
                          </a:solidFill>
                          <a:latin typeface="Arial"/>
                        </a:rPr>
                        <a:t>week 7  →  10 × 7 = 70</a:t>
                      </a:r>
                    </a:p>
                  </a:txBody>
                  <a:tcPr marL="82296" marR="82296" marT="36576" marB="36576" anchor="ctr">
                    <a:solidFill>
                      <a:srgbClr val="FFFFFF"/>
                    </a:solidFill>
                  </a:tcPr>
                </a:tc>
                <a:tc>
                  <a:txBody>
                    <a:bodyPr/>
                    <a:lstStyle/>
                    <a:p>
                      <a:pPr algn="ctr"/>
                      <a:r>
                        <a:rPr sz="1400" b="1">
                          <a:solidFill>
                            <a:srgbClr val="1E7A4C"/>
                          </a:solidFill>
                          <a:latin typeface="Arial"/>
                        </a:rPr>
                        <a:t>82</a:t>
                      </a:r>
                    </a:p>
                  </a:txBody>
                  <a:tcPr marL="82296" marR="82296" marT="36576" marB="36576" anchor="ctr">
                    <a:solidFill>
                      <a:srgbClr val="FFFFFF"/>
                    </a:solidFill>
                  </a:tcPr>
                </a:tc>
                <a:extLst>
                  <a:ext uri="{0D108BD9-81ED-4DB2-BD59-A6C34878D82A}">
                    <a16:rowId xmlns:a16="http://schemas.microsoft.com/office/drawing/2014/main" val="10002"/>
                  </a:ext>
                </a:extLst>
              </a:tr>
            </a:tbl>
          </a:graphicData>
        </a:graphic>
      </p:graphicFrame>
      <p:sp>
        <p:nvSpPr>
          <p:cNvPr id="12" name="Rounded Rectangle 11"/>
          <p:cNvSpPr/>
          <p:nvPr/>
        </p:nvSpPr>
        <p:spPr>
          <a:xfrm>
            <a:off x="640080" y="4910328"/>
            <a:ext cx="10908792" cy="777240"/>
          </a:xfrm>
          <a:prstGeom prst="roundRect">
            <a:avLst>
              <a:gd name="adj" fmla="val 5500"/>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68680" y="4946904"/>
            <a:ext cx="10451592" cy="704088"/>
          </a:xfrm>
          <a:prstGeom prst="rect">
            <a:avLst/>
          </a:prstGeom>
          <a:noFill/>
        </p:spPr>
        <p:txBody>
          <a:bodyPr wrap="square" lIns="0" tIns="0" rIns="0" bIns="0" anchor="ctr">
            <a:spAutoFit/>
          </a:bodyPr>
          <a:lstStyle/>
          <a:p>
            <a:pPr algn="l"/>
            <a:r>
              <a:rPr sz="1350" b="1" i="0">
                <a:solidFill>
                  <a:srgbClr val="FFFFFF"/>
                </a:solidFill>
                <a:latin typeface="Arial"/>
              </a:rPr>
              <a:t>Y first. Doing the quick job first gets it off the meter, and the big job finishes at week 7 either way. Same work, same team — ₹10 saved by order alone.</a:t>
            </a:r>
          </a:p>
        </p:txBody>
      </p:sp>
      <p:sp>
        <p:nvSpPr>
          <p:cNvPr id="14" name="TextBox 13"/>
          <p:cNvSpPr txBox="1"/>
          <p:nvPr/>
        </p:nvSpPr>
        <p:spPr>
          <a:xfrm>
            <a:off x="640080" y="5824728"/>
            <a:ext cx="10908792" cy="384048"/>
          </a:xfrm>
          <a:prstGeom prst="rect">
            <a:avLst/>
          </a:prstGeom>
          <a:noFill/>
        </p:spPr>
        <p:txBody>
          <a:bodyPr wrap="square" lIns="0" tIns="0" rIns="0" bIns="0" anchor="t">
            <a:spAutoFit/>
          </a:bodyPr>
          <a:lstStyle/>
          <a:p>
            <a:pPr algn="ctr"/>
            <a:r>
              <a:rPr sz="1400" b="0" i="1">
                <a:solidFill>
                  <a:srgbClr val="5F6178"/>
                </a:solidFill>
                <a:latin typeface="Arial"/>
              </a:rPr>
              <a:t>Think of the supermarket queue: you wave the person with two items ahead of your full trolley. Everyone waits less in total.</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74320"/>
            <a:ext cx="10908792" cy="237744"/>
          </a:xfrm>
          <a:prstGeom prst="rect">
            <a:avLst/>
          </a:prstGeom>
          <a:noFill/>
        </p:spPr>
        <p:txBody>
          <a:bodyPr wrap="square" lIns="0" tIns="0" rIns="0" bIns="0" anchor="t">
            <a:spAutoFit/>
          </a:bodyPr>
          <a:lstStyle/>
          <a:p>
            <a:pPr algn="l"/>
            <a:r>
              <a:rPr sz="1000" b="1" i="0" spc="140">
                <a:solidFill>
                  <a:srgbClr val="A9740A"/>
                </a:solidFill>
                <a:latin typeface="Arial"/>
              </a:rPr>
              <a:t>COST OF DELAY  ·  CD3</a:t>
            </a:r>
          </a:p>
        </p:txBody>
      </p:sp>
      <p:sp>
        <p:nvSpPr>
          <p:cNvPr id="3" name="TextBox 2"/>
          <p:cNvSpPr txBox="1"/>
          <p:nvPr/>
        </p:nvSpPr>
        <p:spPr>
          <a:xfrm>
            <a:off x="640080" y="548640"/>
            <a:ext cx="8229600" cy="640080"/>
          </a:xfrm>
          <a:prstGeom prst="rect">
            <a:avLst/>
          </a:prstGeom>
          <a:noFill/>
        </p:spPr>
        <p:txBody>
          <a:bodyPr wrap="square" lIns="0" tIns="0" rIns="0" bIns="0" anchor="t">
            <a:spAutoFit/>
          </a:bodyPr>
          <a:lstStyle/>
          <a:p>
            <a:pPr algn="l"/>
            <a:r>
              <a:rPr sz="2400" b="1" i="0">
                <a:solidFill>
                  <a:srgbClr val="211D71"/>
                </a:solidFill>
                <a:latin typeface="Arial"/>
              </a:rPr>
              <a:t>The rule: divide by how long it takes</a:t>
            </a:r>
          </a:p>
        </p:txBody>
      </p:sp>
      <p:sp>
        <p:nvSpPr>
          <p:cNvPr id="4" name="Rounded Rectangle 3"/>
          <p:cNvSpPr/>
          <p:nvPr/>
        </p:nvSpPr>
        <p:spPr>
          <a:xfrm>
            <a:off x="640080" y="1572768"/>
            <a:ext cx="10908792" cy="1097280"/>
          </a:xfrm>
          <a:prstGeom prst="roundRect">
            <a:avLst>
              <a:gd name="adj" fmla="val 5500"/>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572768"/>
            <a:ext cx="10908792" cy="1097280"/>
          </a:xfrm>
          <a:prstGeom prst="rect">
            <a:avLst/>
          </a:prstGeom>
          <a:noFill/>
        </p:spPr>
        <p:txBody>
          <a:bodyPr wrap="square" lIns="0" tIns="0" rIns="0" bIns="0" anchor="ctr">
            <a:spAutoFit/>
          </a:bodyPr>
          <a:lstStyle/>
          <a:p>
            <a:pPr algn="ctr"/>
            <a:r>
              <a:rPr sz="2500" b="1" i="0">
                <a:solidFill>
                  <a:srgbClr val="FCB017"/>
                </a:solidFill>
                <a:latin typeface="Arial"/>
              </a:rPr>
              <a:t>Score  =  money lost per week   ÷   weeks of work</a:t>
            </a:r>
          </a:p>
        </p:txBody>
      </p:sp>
      <p:sp>
        <p:nvSpPr>
          <p:cNvPr id="6" name="TextBox 5"/>
          <p:cNvSpPr txBox="1"/>
          <p:nvPr/>
        </p:nvSpPr>
        <p:spPr>
          <a:xfrm>
            <a:off x="640080" y="2807208"/>
            <a:ext cx="10908792" cy="310896"/>
          </a:xfrm>
          <a:prstGeom prst="rect">
            <a:avLst/>
          </a:prstGeom>
          <a:noFill/>
        </p:spPr>
        <p:txBody>
          <a:bodyPr wrap="square" lIns="0" tIns="0" rIns="0" bIns="0" anchor="t">
            <a:spAutoFit/>
          </a:bodyPr>
          <a:lstStyle/>
          <a:p>
            <a:pPr algn="ctr"/>
            <a:r>
              <a:rPr sz="1400" b="0" i="0">
                <a:solidFill>
                  <a:srgbClr val="5F6178"/>
                </a:solidFill>
                <a:latin typeface="Arial"/>
              </a:rPr>
              <a:t>Then do the highest score first, one at a time. This is called CD3 — Cost of Delay divided by Duration.</a:t>
            </a:r>
          </a:p>
        </p:txBody>
      </p:sp>
      <p:sp>
        <p:nvSpPr>
          <p:cNvPr id="7" name="Rounded Rectangle 6"/>
          <p:cNvSpPr/>
          <p:nvPr/>
        </p:nvSpPr>
        <p:spPr>
          <a:xfrm>
            <a:off x="640080" y="3264408"/>
            <a:ext cx="2548890" cy="192024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59536" y="3447288"/>
            <a:ext cx="384048" cy="384048"/>
          </a:xfrm>
          <a:prstGeom prst="ellipse">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9536" y="3447288"/>
            <a:ext cx="384048" cy="384048"/>
          </a:xfrm>
          <a:prstGeom prst="rect">
            <a:avLst/>
          </a:prstGeom>
          <a:noFill/>
        </p:spPr>
        <p:txBody>
          <a:bodyPr wrap="square" lIns="0" tIns="0" rIns="0" bIns="0" anchor="ctr">
            <a:spAutoFit/>
          </a:bodyPr>
          <a:lstStyle/>
          <a:p>
            <a:pPr algn="ctr"/>
            <a:r>
              <a:rPr sz="1400" b="1" i="0">
                <a:solidFill>
                  <a:srgbClr val="FFFFFF"/>
                </a:solidFill>
                <a:latin typeface="Arial"/>
              </a:rPr>
              <a:t>1</a:t>
            </a:r>
          </a:p>
        </p:txBody>
      </p:sp>
      <p:sp>
        <p:nvSpPr>
          <p:cNvPr id="10" name="TextBox 9"/>
          <p:cNvSpPr txBox="1"/>
          <p:nvPr/>
        </p:nvSpPr>
        <p:spPr>
          <a:xfrm>
            <a:off x="1335024" y="3447288"/>
            <a:ext cx="1634490" cy="384048"/>
          </a:xfrm>
          <a:prstGeom prst="rect">
            <a:avLst/>
          </a:prstGeom>
          <a:noFill/>
        </p:spPr>
        <p:txBody>
          <a:bodyPr wrap="square" lIns="0" tIns="0" rIns="0" bIns="0" anchor="ctr">
            <a:spAutoFit/>
          </a:bodyPr>
          <a:lstStyle/>
          <a:p>
            <a:pPr algn="l"/>
            <a:r>
              <a:rPr sz="1400" b="1" i="0">
                <a:solidFill>
                  <a:srgbClr val="211D71"/>
                </a:solidFill>
                <a:latin typeface="Arial"/>
              </a:rPr>
              <a:t>Biggest loss first is wrong</a:t>
            </a:r>
          </a:p>
        </p:txBody>
      </p:sp>
      <p:sp>
        <p:nvSpPr>
          <p:cNvPr id="11" name="TextBox 10"/>
          <p:cNvSpPr txBox="1"/>
          <p:nvPr/>
        </p:nvSpPr>
        <p:spPr>
          <a:xfrm>
            <a:off x="859536" y="3922776"/>
            <a:ext cx="2109978" cy="1115568"/>
          </a:xfrm>
          <a:prstGeom prst="rect">
            <a:avLst/>
          </a:prstGeom>
          <a:noFill/>
        </p:spPr>
        <p:txBody>
          <a:bodyPr wrap="square" lIns="0" tIns="0" rIns="0" bIns="0" anchor="t">
            <a:spAutoFit/>
          </a:bodyPr>
          <a:lstStyle/>
          <a:p>
            <a:pPr algn="l">
              <a:lnSpc>
                <a:spcPts val="1700"/>
              </a:lnSpc>
            </a:pPr>
            <a:r>
              <a:rPr sz="1250" b="0" i="0">
                <a:solidFill>
                  <a:srgbClr val="22223B"/>
                </a:solidFill>
                <a:latin typeface="Arial"/>
              </a:rPr>
              <a:t>One expensive, slow job at the front blocks three cheap, fast ones behind it.</a:t>
            </a:r>
          </a:p>
        </p:txBody>
      </p:sp>
      <p:sp>
        <p:nvSpPr>
          <p:cNvPr id="12" name="Rounded Rectangle 11"/>
          <p:cNvSpPr/>
          <p:nvPr/>
        </p:nvSpPr>
        <p:spPr>
          <a:xfrm>
            <a:off x="3426714" y="3264408"/>
            <a:ext cx="2548890" cy="192024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3646170" y="3447288"/>
            <a:ext cx="384048" cy="384048"/>
          </a:xfrm>
          <a:prstGeom prst="ellipse">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46170" y="3447288"/>
            <a:ext cx="384048" cy="384048"/>
          </a:xfrm>
          <a:prstGeom prst="rect">
            <a:avLst/>
          </a:prstGeom>
          <a:noFill/>
        </p:spPr>
        <p:txBody>
          <a:bodyPr wrap="square" lIns="0" tIns="0" rIns="0" bIns="0" anchor="ctr">
            <a:spAutoFit/>
          </a:bodyPr>
          <a:lstStyle/>
          <a:p>
            <a:pPr algn="ctr"/>
            <a:r>
              <a:rPr sz="1400" b="1" i="0">
                <a:solidFill>
                  <a:srgbClr val="FFFFFF"/>
                </a:solidFill>
                <a:latin typeface="Arial"/>
              </a:rPr>
              <a:t>2</a:t>
            </a:r>
          </a:p>
        </p:txBody>
      </p:sp>
      <p:sp>
        <p:nvSpPr>
          <p:cNvPr id="15" name="TextBox 14"/>
          <p:cNvSpPr txBox="1"/>
          <p:nvPr/>
        </p:nvSpPr>
        <p:spPr>
          <a:xfrm>
            <a:off x="4121658" y="3447288"/>
            <a:ext cx="1634490" cy="384048"/>
          </a:xfrm>
          <a:prstGeom prst="rect">
            <a:avLst/>
          </a:prstGeom>
          <a:noFill/>
        </p:spPr>
        <p:txBody>
          <a:bodyPr wrap="square" lIns="0" tIns="0" rIns="0" bIns="0" anchor="ctr">
            <a:spAutoFit/>
          </a:bodyPr>
          <a:lstStyle/>
          <a:p>
            <a:pPr algn="l"/>
            <a:r>
              <a:rPr sz="1400" b="1" i="0">
                <a:solidFill>
                  <a:srgbClr val="211D71"/>
                </a:solidFill>
                <a:latin typeface="Arial"/>
              </a:rPr>
              <a:t>Quickest first is wrong too</a:t>
            </a:r>
          </a:p>
        </p:txBody>
      </p:sp>
      <p:sp>
        <p:nvSpPr>
          <p:cNvPr id="16" name="TextBox 15"/>
          <p:cNvSpPr txBox="1"/>
          <p:nvPr/>
        </p:nvSpPr>
        <p:spPr>
          <a:xfrm>
            <a:off x="3646170" y="3922776"/>
            <a:ext cx="2109978" cy="1115568"/>
          </a:xfrm>
          <a:prstGeom prst="rect">
            <a:avLst/>
          </a:prstGeom>
          <a:noFill/>
        </p:spPr>
        <p:txBody>
          <a:bodyPr wrap="square" lIns="0" tIns="0" rIns="0" bIns="0" anchor="t">
            <a:spAutoFit/>
          </a:bodyPr>
          <a:lstStyle/>
          <a:p>
            <a:pPr algn="l">
              <a:lnSpc>
                <a:spcPts val="1700"/>
              </a:lnSpc>
            </a:pPr>
            <a:r>
              <a:rPr sz="1250" b="0" i="0">
                <a:solidFill>
                  <a:srgbClr val="22223B"/>
                </a:solidFill>
                <a:latin typeface="Arial"/>
              </a:rPr>
              <a:t>You ship small things fast while the item that really costs you sits waiting.</a:t>
            </a:r>
          </a:p>
        </p:txBody>
      </p:sp>
      <p:sp>
        <p:nvSpPr>
          <p:cNvPr id="17" name="Rounded Rectangle 16"/>
          <p:cNvSpPr/>
          <p:nvPr/>
        </p:nvSpPr>
        <p:spPr>
          <a:xfrm>
            <a:off x="6213348" y="3264408"/>
            <a:ext cx="2548890" cy="192024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6432804" y="3447288"/>
            <a:ext cx="384048" cy="384048"/>
          </a:xfrm>
          <a:prstGeom prst="ellipse">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32804" y="3447288"/>
            <a:ext cx="384048" cy="384048"/>
          </a:xfrm>
          <a:prstGeom prst="rect">
            <a:avLst/>
          </a:prstGeom>
          <a:noFill/>
        </p:spPr>
        <p:txBody>
          <a:bodyPr wrap="square" lIns="0" tIns="0" rIns="0" bIns="0" anchor="ctr">
            <a:spAutoFit/>
          </a:bodyPr>
          <a:lstStyle/>
          <a:p>
            <a:pPr algn="ctr"/>
            <a:r>
              <a:rPr sz="1400" b="1" i="0">
                <a:solidFill>
                  <a:srgbClr val="FFFFFF"/>
                </a:solidFill>
                <a:latin typeface="Arial"/>
              </a:rPr>
              <a:t>3</a:t>
            </a:r>
          </a:p>
        </p:txBody>
      </p:sp>
      <p:sp>
        <p:nvSpPr>
          <p:cNvPr id="20" name="TextBox 19"/>
          <p:cNvSpPr txBox="1"/>
          <p:nvPr/>
        </p:nvSpPr>
        <p:spPr>
          <a:xfrm>
            <a:off x="6908292" y="3447288"/>
            <a:ext cx="1634490" cy="384048"/>
          </a:xfrm>
          <a:prstGeom prst="rect">
            <a:avLst/>
          </a:prstGeom>
          <a:noFill/>
        </p:spPr>
        <p:txBody>
          <a:bodyPr wrap="square" lIns="0" tIns="0" rIns="0" bIns="0" anchor="ctr">
            <a:spAutoFit/>
          </a:bodyPr>
          <a:lstStyle/>
          <a:p>
            <a:pPr algn="l"/>
            <a:r>
              <a:rPr sz="1400" b="1" i="0">
                <a:solidFill>
                  <a:srgbClr val="211D71"/>
                </a:solidFill>
                <a:latin typeface="Arial"/>
              </a:rPr>
              <a:t>Divide, and both are handled</a:t>
            </a:r>
          </a:p>
        </p:txBody>
      </p:sp>
      <p:sp>
        <p:nvSpPr>
          <p:cNvPr id="21" name="TextBox 20"/>
          <p:cNvSpPr txBox="1"/>
          <p:nvPr/>
        </p:nvSpPr>
        <p:spPr>
          <a:xfrm>
            <a:off x="6432804" y="3922776"/>
            <a:ext cx="2109978" cy="1115568"/>
          </a:xfrm>
          <a:prstGeom prst="rect">
            <a:avLst/>
          </a:prstGeom>
          <a:noFill/>
        </p:spPr>
        <p:txBody>
          <a:bodyPr wrap="square" lIns="0" tIns="0" rIns="0" bIns="0" anchor="t">
            <a:spAutoFit/>
          </a:bodyPr>
          <a:lstStyle/>
          <a:p>
            <a:pPr algn="l">
              <a:lnSpc>
                <a:spcPts val="1700"/>
              </a:lnSpc>
            </a:pPr>
            <a:r>
              <a:rPr sz="1250" b="0" i="0">
                <a:solidFill>
                  <a:srgbClr val="22223B"/>
                </a:solidFill>
                <a:latin typeface="Arial"/>
              </a:rPr>
              <a:t>The sum balances how much it loses against how long it blocks everything else.</a:t>
            </a:r>
          </a:p>
        </p:txBody>
      </p:sp>
      <p:sp>
        <p:nvSpPr>
          <p:cNvPr id="22" name="Rounded Rectangle 21"/>
          <p:cNvSpPr/>
          <p:nvPr/>
        </p:nvSpPr>
        <p:spPr>
          <a:xfrm>
            <a:off x="8999982" y="3264408"/>
            <a:ext cx="2548890" cy="192024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9219438" y="3447288"/>
            <a:ext cx="384048" cy="384048"/>
          </a:xfrm>
          <a:prstGeom prst="ellipse">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219438" y="3447288"/>
            <a:ext cx="384048" cy="384048"/>
          </a:xfrm>
          <a:prstGeom prst="rect">
            <a:avLst/>
          </a:prstGeom>
          <a:noFill/>
        </p:spPr>
        <p:txBody>
          <a:bodyPr wrap="square" lIns="0" tIns="0" rIns="0" bIns="0" anchor="ctr">
            <a:spAutoFit/>
          </a:bodyPr>
          <a:lstStyle/>
          <a:p>
            <a:pPr algn="ctr"/>
            <a:r>
              <a:rPr sz="1400" b="1" i="0">
                <a:solidFill>
                  <a:srgbClr val="FFFFFF"/>
                </a:solidFill>
                <a:latin typeface="Arial"/>
              </a:rPr>
              <a:t>4</a:t>
            </a:r>
          </a:p>
        </p:txBody>
      </p:sp>
      <p:sp>
        <p:nvSpPr>
          <p:cNvPr id="25" name="TextBox 24"/>
          <p:cNvSpPr txBox="1"/>
          <p:nvPr/>
        </p:nvSpPr>
        <p:spPr>
          <a:xfrm>
            <a:off x="9694926" y="3447288"/>
            <a:ext cx="1634490" cy="384048"/>
          </a:xfrm>
          <a:prstGeom prst="rect">
            <a:avLst/>
          </a:prstGeom>
          <a:noFill/>
        </p:spPr>
        <p:txBody>
          <a:bodyPr wrap="square" lIns="0" tIns="0" rIns="0" bIns="0" anchor="ctr">
            <a:spAutoFit/>
          </a:bodyPr>
          <a:lstStyle/>
          <a:p>
            <a:pPr algn="l"/>
            <a:r>
              <a:rPr sz="1400" b="1" i="0">
                <a:solidFill>
                  <a:srgbClr val="211D71"/>
                </a:solidFill>
                <a:latin typeface="Arial"/>
              </a:rPr>
              <a:t>Smaller jobs always score higher</a:t>
            </a:r>
          </a:p>
        </p:txBody>
      </p:sp>
      <p:sp>
        <p:nvSpPr>
          <p:cNvPr id="26" name="TextBox 25"/>
          <p:cNvSpPr txBox="1"/>
          <p:nvPr/>
        </p:nvSpPr>
        <p:spPr>
          <a:xfrm>
            <a:off x="9219438" y="3922776"/>
            <a:ext cx="2109978" cy="1115568"/>
          </a:xfrm>
          <a:prstGeom prst="rect">
            <a:avLst/>
          </a:prstGeom>
          <a:noFill/>
        </p:spPr>
        <p:txBody>
          <a:bodyPr wrap="square" lIns="0" tIns="0" rIns="0" bIns="0" anchor="t">
            <a:spAutoFit/>
          </a:bodyPr>
          <a:lstStyle/>
          <a:p>
            <a:pPr algn="l">
              <a:lnSpc>
                <a:spcPts val="1700"/>
              </a:lnSpc>
            </a:pPr>
            <a:r>
              <a:rPr sz="1250" b="0" i="0">
                <a:solidFill>
                  <a:srgbClr val="22223B"/>
                </a:solidFill>
                <a:latin typeface="Arial"/>
              </a:rPr>
              <a:t>Halve the duration and the score doubles. That is the arithmetic reason to break work into small pieces.</a:t>
            </a:r>
          </a:p>
        </p:txBody>
      </p:sp>
      <p:sp>
        <p:nvSpPr>
          <p:cNvPr id="27" name="Rounded Rectangle 26"/>
          <p:cNvSpPr/>
          <p:nvPr/>
        </p:nvSpPr>
        <p:spPr>
          <a:xfrm>
            <a:off x="640080" y="5367528"/>
            <a:ext cx="10908792" cy="685800"/>
          </a:xfrm>
          <a:prstGeom prst="roundRect">
            <a:avLst>
              <a:gd name="adj" fmla="val 5500"/>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68680" y="5404104"/>
            <a:ext cx="10451592" cy="612648"/>
          </a:xfrm>
          <a:prstGeom prst="rect">
            <a:avLst/>
          </a:prstGeom>
          <a:noFill/>
        </p:spPr>
        <p:txBody>
          <a:bodyPr wrap="square" lIns="0" tIns="0" rIns="0" bIns="0" anchor="ctr">
            <a:spAutoFit/>
          </a:bodyPr>
          <a:lstStyle/>
          <a:p>
            <a:pPr algn="l"/>
            <a:r>
              <a:rPr sz="1350" b="0" i="0">
                <a:solidFill>
                  <a:srgbClr val="FFFFFF"/>
                </a:solidFill>
                <a:latin typeface="Arial"/>
              </a:rPr>
              <a:t>This works when: one team, one queue, jobs are independent. Add hard dependencies or a fixed deadline and the rule needs help — see two slides 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74320"/>
            <a:ext cx="10908792" cy="237744"/>
          </a:xfrm>
          <a:prstGeom prst="rect">
            <a:avLst/>
          </a:prstGeom>
          <a:noFill/>
        </p:spPr>
        <p:txBody>
          <a:bodyPr wrap="square" lIns="0" tIns="0" rIns="0" bIns="0" anchor="t">
            <a:spAutoFit/>
          </a:bodyPr>
          <a:lstStyle/>
          <a:p>
            <a:pPr algn="l"/>
            <a:r>
              <a:rPr sz="1000" b="1" i="0" spc="140">
                <a:solidFill>
                  <a:srgbClr val="A9740A"/>
                </a:solidFill>
                <a:latin typeface="Arial"/>
              </a:rPr>
              <a:t>COST OF DELAY</a:t>
            </a:r>
          </a:p>
        </p:txBody>
      </p:sp>
      <p:sp>
        <p:nvSpPr>
          <p:cNvPr id="3" name="TextBox 2"/>
          <p:cNvSpPr txBox="1"/>
          <p:nvPr/>
        </p:nvSpPr>
        <p:spPr>
          <a:xfrm>
            <a:off x="640080" y="548640"/>
            <a:ext cx="8229600" cy="640080"/>
          </a:xfrm>
          <a:prstGeom prst="rect">
            <a:avLst/>
          </a:prstGeom>
          <a:noFill/>
        </p:spPr>
        <p:txBody>
          <a:bodyPr wrap="square" lIns="0" tIns="0" rIns="0" bIns="0" anchor="t">
            <a:spAutoFit/>
          </a:bodyPr>
          <a:lstStyle/>
          <a:p>
            <a:pPr algn="l"/>
            <a:r>
              <a:rPr sz="2400" b="1" i="0">
                <a:solidFill>
                  <a:srgbClr val="211D71"/>
                </a:solidFill>
                <a:latin typeface="Arial"/>
              </a:rPr>
              <a:t>Not everything loses value the same way</a:t>
            </a:r>
          </a:p>
        </p:txBody>
      </p:sp>
      <p:sp>
        <p:nvSpPr>
          <p:cNvPr id="4" name="Rounded Rectangle 3"/>
          <p:cNvSpPr/>
          <p:nvPr/>
        </p:nvSpPr>
        <p:spPr>
          <a:xfrm>
            <a:off x="640080" y="1618488"/>
            <a:ext cx="2576322" cy="1783080"/>
          </a:xfrm>
          <a:prstGeom prst="roundRect">
            <a:avLst>
              <a:gd name="adj" fmla="val 5500"/>
            </a:avLst>
          </a:prstGeom>
          <a:solidFill>
            <a:srgbClr val="F3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Chart 4"/>
          <p:cNvGraphicFramePr>
            <a:graphicFrameLocks noGrp="1"/>
          </p:cNvGraphicFramePr>
          <p:nvPr/>
        </p:nvGraphicFramePr>
        <p:xfrm>
          <a:off x="640080" y="1618488"/>
          <a:ext cx="2576322" cy="178308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p:cNvSpPr txBox="1"/>
          <p:nvPr/>
        </p:nvSpPr>
        <p:spPr>
          <a:xfrm>
            <a:off x="640080" y="3474720"/>
            <a:ext cx="2576322" cy="292608"/>
          </a:xfrm>
          <a:prstGeom prst="rect">
            <a:avLst/>
          </a:prstGeom>
          <a:noFill/>
        </p:spPr>
        <p:txBody>
          <a:bodyPr wrap="square" lIns="0" tIns="0" rIns="0" bIns="0" anchor="t">
            <a:spAutoFit/>
          </a:bodyPr>
          <a:lstStyle/>
          <a:p>
            <a:pPr algn="l"/>
            <a:r>
              <a:rPr sz="1500" b="1" i="0">
                <a:solidFill>
                  <a:srgbClr val="211D71"/>
                </a:solidFill>
                <a:latin typeface="Arial"/>
              </a:rPr>
              <a:t>Slow fade</a:t>
            </a:r>
          </a:p>
        </p:txBody>
      </p:sp>
      <p:sp>
        <p:nvSpPr>
          <p:cNvPr id="7" name="TextBox 6"/>
          <p:cNvSpPr txBox="1"/>
          <p:nvPr/>
        </p:nvSpPr>
        <p:spPr>
          <a:xfrm>
            <a:off x="640080" y="3803904"/>
            <a:ext cx="2576322" cy="914400"/>
          </a:xfrm>
          <a:prstGeom prst="rect">
            <a:avLst/>
          </a:prstGeom>
          <a:noFill/>
        </p:spPr>
        <p:txBody>
          <a:bodyPr wrap="square" lIns="0" tIns="0" rIns="0" bIns="0" anchor="t">
            <a:spAutoFit/>
          </a:bodyPr>
          <a:lstStyle/>
          <a:p>
            <a:pPr algn="l">
              <a:lnSpc>
                <a:spcPts val="1700"/>
              </a:lnSpc>
            </a:pPr>
            <a:r>
              <a:rPr sz="1250" b="0" i="0">
                <a:solidFill>
                  <a:srgbClr val="22223B"/>
                </a:solidFill>
                <a:latin typeface="Arial"/>
              </a:rPr>
              <a:t>Value drops steadily. Most features are like this.</a:t>
            </a:r>
          </a:p>
        </p:txBody>
      </p:sp>
      <p:sp>
        <p:nvSpPr>
          <p:cNvPr id="8" name="Rounded Rectangle 7"/>
          <p:cNvSpPr/>
          <p:nvPr/>
        </p:nvSpPr>
        <p:spPr>
          <a:xfrm>
            <a:off x="3417570" y="1618488"/>
            <a:ext cx="2576322" cy="1783080"/>
          </a:xfrm>
          <a:prstGeom prst="roundRect">
            <a:avLst>
              <a:gd name="adj" fmla="val 5500"/>
            </a:avLst>
          </a:prstGeom>
          <a:solidFill>
            <a:srgbClr val="F3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9" name="Chart 8"/>
          <p:cNvGraphicFramePr>
            <a:graphicFrameLocks noGrp="1"/>
          </p:cNvGraphicFramePr>
          <p:nvPr/>
        </p:nvGraphicFramePr>
        <p:xfrm>
          <a:off x="3417570" y="1618488"/>
          <a:ext cx="2576322" cy="1783080"/>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Box 9"/>
          <p:cNvSpPr txBox="1"/>
          <p:nvPr/>
        </p:nvSpPr>
        <p:spPr>
          <a:xfrm>
            <a:off x="3417570" y="3474720"/>
            <a:ext cx="2576322" cy="292608"/>
          </a:xfrm>
          <a:prstGeom prst="rect">
            <a:avLst/>
          </a:prstGeom>
          <a:noFill/>
        </p:spPr>
        <p:txBody>
          <a:bodyPr wrap="square" lIns="0" tIns="0" rIns="0" bIns="0" anchor="t">
            <a:spAutoFit/>
          </a:bodyPr>
          <a:lstStyle/>
          <a:p>
            <a:pPr algn="l"/>
            <a:r>
              <a:rPr sz="1500" b="1" i="0">
                <a:solidFill>
                  <a:srgbClr val="211D71"/>
                </a:solidFill>
                <a:latin typeface="Arial"/>
              </a:rPr>
              <a:t>Cliff edge</a:t>
            </a:r>
          </a:p>
        </p:txBody>
      </p:sp>
      <p:sp>
        <p:nvSpPr>
          <p:cNvPr id="11" name="TextBox 10"/>
          <p:cNvSpPr txBox="1"/>
          <p:nvPr/>
        </p:nvSpPr>
        <p:spPr>
          <a:xfrm>
            <a:off x="3417570" y="3803904"/>
            <a:ext cx="2576322" cy="914400"/>
          </a:xfrm>
          <a:prstGeom prst="rect">
            <a:avLst/>
          </a:prstGeom>
          <a:noFill/>
        </p:spPr>
        <p:txBody>
          <a:bodyPr wrap="square" lIns="0" tIns="0" rIns="0" bIns="0" anchor="t">
            <a:spAutoFit/>
          </a:bodyPr>
          <a:lstStyle/>
          <a:p>
            <a:pPr algn="l">
              <a:lnSpc>
                <a:spcPts val="1700"/>
              </a:lnSpc>
            </a:pPr>
            <a:r>
              <a:rPr sz="1250" b="0" i="0">
                <a:solidFill>
                  <a:srgbClr val="22223B"/>
                </a:solidFill>
                <a:latin typeface="Arial"/>
              </a:rPr>
              <a:t>A legal deadline. Costs nothing until the date, then everything.</a:t>
            </a:r>
          </a:p>
        </p:txBody>
      </p:sp>
      <p:sp>
        <p:nvSpPr>
          <p:cNvPr id="12" name="Rounded Rectangle 11"/>
          <p:cNvSpPr/>
          <p:nvPr/>
        </p:nvSpPr>
        <p:spPr>
          <a:xfrm>
            <a:off x="6195060" y="1618488"/>
            <a:ext cx="2576322" cy="1783080"/>
          </a:xfrm>
          <a:prstGeom prst="roundRect">
            <a:avLst>
              <a:gd name="adj" fmla="val 5500"/>
            </a:avLst>
          </a:prstGeom>
          <a:solidFill>
            <a:srgbClr val="F3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3" name="Chart 12"/>
          <p:cNvGraphicFramePr>
            <a:graphicFrameLocks noGrp="1"/>
          </p:cNvGraphicFramePr>
          <p:nvPr/>
        </p:nvGraphicFramePr>
        <p:xfrm>
          <a:off x="6195060" y="1618488"/>
          <a:ext cx="2576322" cy="1783080"/>
        </p:xfrm>
        <a:graphic>
          <a:graphicData uri="http://schemas.openxmlformats.org/drawingml/2006/chart">
            <c:chart xmlns:c="http://schemas.openxmlformats.org/drawingml/2006/chart" xmlns:r="http://schemas.openxmlformats.org/officeDocument/2006/relationships" r:id="rId5"/>
          </a:graphicData>
        </a:graphic>
      </p:graphicFrame>
      <p:sp>
        <p:nvSpPr>
          <p:cNvPr id="14" name="TextBox 13"/>
          <p:cNvSpPr txBox="1"/>
          <p:nvPr/>
        </p:nvSpPr>
        <p:spPr>
          <a:xfrm>
            <a:off x="6195060" y="3474720"/>
            <a:ext cx="2576322" cy="292608"/>
          </a:xfrm>
          <a:prstGeom prst="rect">
            <a:avLst/>
          </a:prstGeom>
          <a:noFill/>
        </p:spPr>
        <p:txBody>
          <a:bodyPr wrap="square" lIns="0" tIns="0" rIns="0" bIns="0" anchor="t">
            <a:spAutoFit/>
          </a:bodyPr>
          <a:lstStyle/>
          <a:p>
            <a:pPr algn="l"/>
            <a:r>
              <a:rPr sz="1500" b="1" i="0">
                <a:solidFill>
                  <a:srgbClr val="211D71"/>
                </a:solidFill>
                <a:latin typeface="Arial"/>
              </a:rPr>
              <a:t>Short window</a:t>
            </a:r>
          </a:p>
        </p:txBody>
      </p:sp>
      <p:sp>
        <p:nvSpPr>
          <p:cNvPr id="15" name="TextBox 14"/>
          <p:cNvSpPr txBox="1"/>
          <p:nvPr/>
        </p:nvSpPr>
        <p:spPr>
          <a:xfrm>
            <a:off x="6195060" y="3803904"/>
            <a:ext cx="2576322" cy="914400"/>
          </a:xfrm>
          <a:prstGeom prst="rect">
            <a:avLst/>
          </a:prstGeom>
          <a:noFill/>
        </p:spPr>
        <p:txBody>
          <a:bodyPr wrap="square" lIns="0" tIns="0" rIns="0" bIns="0" anchor="t">
            <a:spAutoFit/>
          </a:bodyPr>
          <a:lstStyle/>
          <a:p>
            <a:pPr algn="l">
              <a:lnSpc>
                <a:spcPts val="1700"/>
              </a:lnSpc>
            </a:pPr>
            <a:r>
              <a:rPr sz="1250" b="0" i="0">
                <a:solidFill>
                  <a:srgbClr val="22223B"/>
                </a:solidFill>
                <a:latin typeface="Arial"/>
              </a:rPr>
              <a:t>A festival sale, an exam week. Miss it and the value is simply gone.</a:t>
            </a:r>
          </a:p>
        </p:txBody>
      </p:sp>
      <p:sp>
        <p:nvSpPr>
          <p:cNvPr id="16" name="Rounded Rectangle 15"/>
          <p:cNvSpPr/>
          <p:nvPr/>
        </p:nvSpPr>
        <p:spPr>
          <a:xfrm>
            <a:off x="8972550" y="1618488"/>
            <a:ext cx="2576322" cy="1783080"/>
          </a:xfrm>
          <a:prstGeom prst="roundRect">
            <a:avLst>
              <a:gd name="adj" fmla="val 5500"/>
            </a:avLst>
          </a:prstGeom>
          <a:solidFill>
            <a:srgbClr val="F3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7" name="Chart 16"/>
          <p:cNvGraphicFramePr>
            <a:graphicFrameLocks noGrp="1"/>
          </p:cNvGraphicFramePr>
          <p:nvPr/>
        </p:nvGraphicFramePr>
        <p:xfrm>
          <a:off x="8972550" y="1618488"/>
          <a:ext cx="2576322" cy="1783080"/>
        </p:xfrm>
        <a:graphic>
          <a:graphicData uri="http://schemas.openxmlformats.org/drawingml/2006/chart">
            <c:chart xmlns:c="http://schemas.openxmlformats.org/drawingml/2006/chart" xmlns:r="http://schemas.openxmlformats.org/officeDocument/2006/relationships" r:id="rId6"/>
          </a:graphicData>
        </a:graphic>
      </p:graphicFrame>
      <p:sp>
        <p:nvSpPr>
          <p:cNvPr id="18" name="TextBox 17"/>
          <p:cNvSpPr txBox="1"/>
          <p:nvPr/>
        </p:nvSpPr>
        <p:spPr>
          <a:xfrm>
            <a:off x="8972550" y="3474720"/>
            <a:ext cx="2576322" cy="292608"/>
          </a:xfrm>
          <a:prstGeom prst="rect">
            <a:avLst/>
          </a:prstGeom>
          <a:noFill/>
        </p:spPr>
        <p:txBody>
          <a:bodyPr wrap="square" lIns="0" tIns="0" rIns="0" bIns="0" anchor="t">
            <a:spAutoFit/>
          </a:bodyPr>
          <a:lstStyle/>
          <a:p>
            <a:pPr algn="l"/>
            <a:r>
              <a:rPr sz="1500" b="1" i="0">
                <a:solidFill>
                  <a:srgbClr val="211D71"/>
                </a:solidFill>
                <a:latin typeface="Arial"/>
              </a:rPr>
              <a:t>First mover</a:t>
            </a:r>
          </a:p>
        </p:txBody>
      </p:sp>
      <p:sp>
        <p:nvSpPr>
          <p:cNvPr id="19" name="TextBox 18"/>
          <p:cNvSpPr txBox="1"/>
          <p:nvPr/>
        </p:nvSpPr>
        <p:spPr>
          <a:xfrm>
            <a:off x="8972550" y="3803904"/>
            <a:ext cx="2576322" cy="914400"/>
          </a:xfrm>
          <a:prstGeom prst="rect">
            <a:avLst/>
          </a:prstGeom>
          <a:noFill/>
        </p:spPr>
        <p:txBody>
          <a:bodyPr wrap="square" lIns="0" tIns="0" rIns="0" bIns="0" anchor="t">
            <a:spAutoFit/>
          </a:bodyPr>
          <a:lstStyle/>
          <a:p>
            <a:pPr algn="l">
              <a:lnSpc>
                <a:spcPts val="1700"/>
              </a:lnSpc>
            </a:pPr>
            <a:r>
              <a:rPr sz="1250" b="0" i="0">
                <a:solidFill>
                  <a:srgbClr val="22223B"/>
                </a:solidFill>
                <a:latin typeface="Arial"/>
              </a:rPr>
              <a:t>Being early compounds. Late costs you today and every later month too.</a:t>
            </a:r>
          </a:p>
        </p:txBody>
      </p:sp>
      <p:sp>
        <p:nvSpPr>
          <p:cNvPr id="20" name="TextBox 19"/>
          <p:cNvSpPr txBox="1"/>
          <p:nvPr/>
        </p:nvSpPr>
        <p:spPr>
          <a:xfrm>
            <a:off x="640080" y="4727448"/>
            <a:ext cx="10908792" cy="237744"/>
          </a:xfrm>
          <a:prstGeom prst="rect">
            <a:avLst/>
          </a:prstGeom>
          <a:noFill/>
        </p:spPr>
        <p:txBody>
          <a:bodyPr wrap="square" lIns="0" tIns="0" rIns="0" bIns="0" anchor="t">
            <a:spAutoFit/>
          </a:bodyPr>
          <a:lstStyle/>
          <a:p>
            <a:pPr algn="l"/>
            <a:r>
              <a:rPr sz="1100" b="0" i="0">
                <a:solidFill>
                  <a:srgbClr val="5F6178"/>
                </a:solidFill>
                <a:latin typeface="Arial"/>
              </a:rPr>
              <a:t>Up = value you can still capture.   Across = months of waiting.</a:t>
            </a:r>
          </a:p>
        </p:txBody>
      </p:sp>
      <p:sp>
        <p:nvSpPr>
          <p:cNvPr id="21" name="Rounded Rectangle 20"/>
          <p:cNvSpPr/>
          <p:nvPr/>
        </p:nvSpPr>
        <p:spPr>
          <a:xfrm>
            <a:off x="640080" y="5093208"/>
            <a:ext cx="10908792" cy="868680"/>
          </a:xfrm>
          <a:prstGeom prst="roundRect">
            <a:avLst>
              <a:gd name="adj" fmla="val 5500"/>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68680" y="5129784"/>
            <a:ext cx="10451592" cy="795528"/>
          </a:xfrm>
          <a:prstGeom prst="rect">
            <a:avLst/>
          </a:prstGeom>
          <a:noFill/>
        </p:spPr>
        <p:txBody>
          <a:bodyPr wrap="square" lIns="0" tIns="0" rIns="0" bIns="0" anchor="ctr">
            <a:spAutoFit/>
          </a:bodyPr>
          <a:lstStyle/>
          <a:p>
            <a:pPr algn="l"/>
            <a:r>
              <a:rPr sz="1350" b="0" i="0">
                <a:solidFill>
                  <a:srgbClr val="FFFFFF"/>
                </a:solidFill>
                <a:latin typeface="Arial"/>
              </a:rPr>
              <a:t>The cliff edge is the dangerous one. A compliance item costs you nothing today, so a score based on today's number puts it LAST. That is how legal work ends up late. Book those backwards from the deadline first, then use CD3 on whatever time is left.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74320"/>
            <a:ext cx="10908792" cy="237744"/>
          </a:xfrm>
          <a:prstGeom prst="rect">
            <a:avLst/>
          </a:prstGeom>
          <a:noFill/>
        </p:spPr>
        <p:txBody>
          <a:bodyPr wrap="square" lIns="0" tIns="0" rIns="0" bIns="0" anchor="t">
            <a:spAutoFit/>
          </a:bodyPr>
          <a:lstStyle/>
          <a:p>
            <a:pPr algn="l"/>
            <a:r>
              <a:rPr sz="1000" b="1" i="0" spc="140">
                <a:solidFill>
                  <a:srgbClr val="A9740A"/>
                </a:solidFill>
                <a:latin typeface="Arial"/>
              </a:rPr>
              <a:t>COST OF DELAY  ·  WSJF</a:t>
            </a:r>
          </a:p>
        </p:txBody>
      </p:sp>
      <p:sp>
        <p:nvSpPr>
          <p:cNvPr id="3" name="TextBox 2"/>
          <p:cNvSpPr txBox="1"/>
          <p:nvPr/>
        </p:nvSpPr>
        <p:spPr>
          <a:xfrm>
            <a:off x="640080" y="548640"/>
            <a:ext cx="8229600" cy="640080"/>
          </a:xfrm>
          <a:prstGeom prst="rect">
            <a:avLst/>
          </a:prstGeom>
          <a:noFill/>
        </p:spPr>
        <p:txBody>
          <a:bodyPr wrap="square" lIns="0" tIns="0" rIns="0" bIns="0" anchor="t">
            <a:spAutoFit/>
          </a:bodyPr>
          <a:lstStyle/>
          <a:p>
            <a:pPr algn="l"/>
            <a:r>
              <a:rPr sz="2400" b="1" i="0">
                <a:solidFill>
                  <a:srgbClr val="211D71"/>
                </a:solidFill>
                <a:latin typeface="Arial"/>
              </a:rPr>
              <a:t>If nobody will give you a rupee figure</a:t>
            </a:r>
          </a:p>
        </p:txBody>
      </p:sp>
      <p:sp>
        <p:nvSpPr>
          <p:cNvPr id="4" name="TextBox 3"/>
          <p:cNvSpPr txBox="1"/>
          <p:nvPr/>
        </p:nvSpPr>
        <p:spPr>
          <a:xfrm>
            <a:off x="640080" y="1572768"/>
            <a:ext cx="10908792" cy="310896"/>
          </a:xfrm>
          <a:prstGeom prst="rect">
            <a:avLst/>
          </a:prstGeom>
          <a:noFill/>
        </p:spPr>
        <p:txBody>
          <a:bodyPr wrap="square" lIns="0" tIns="0" rIns="0" bIns="0" anchor="t">
            <a:spAutoFit/>
          </a:bodyPr>
          <a:lstStyle/>
          <a:p>
            <a:pPr algn="l"/>
            <a:r>
              <a:rPr sz="1400" b="0" i="0">
                <a:solidFill>
                  <a:srgbClr val="22223B"/>
                </a:solidFill>
                <a:latin typeface="Arial"/>
              </a:rPr>
              <a:t>Plenty of organisations will not commit to "this loses ₹8 lakh a week". There is a version that needs no money at all.</a:t>
            </a:r>
          </a:p>
        </p:txBody>
      </p:sp>
      <p:sp>
        <p:nvSpPr>
          <p:cNvPr id="5" name="Rounded Rectangle 4"/>
          <p:cNvSpPr/>
          <p:nvPr/>
        </p:nvSpPr>
        <p:spPr>
          <a:xfrm>
            <a:off x="640080" y="1938528"/>
            <a:ext cx="10908792" cy="1051560"/>
          </a:xfrm>
          <a:prstGeom prst="roundRect">
            <a:avLst>
              <a:gd name="adj" fmla="val 5500"/>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938528"/>
            <a:ext cx="10908792" cy="1051560"/>
          </a:xfrm>
          <a:prstGeom prst="rect">
            <a:avLst/>
          </a:prstGeom>
          <a:noFill/>
        </p:spPr>
        <p:txBody>
          <a:bodyPr wrap="square" lIns="0" tIns="0" rIns="0" bIns="0" anchor="ctr">
            <a:spAutoFit/>
          </a:bodyPr>
          <a:lstStyle/>
          <a:p>
            <a:pPr algn="ctr"/>
            <a:r>
              <a:rPr sz="2100" b="1" i="0">
                <a:solidFill>
                  <a:srgbClr val="FCB017"/>
                </a:solidFill>
                <a:latin typeface="Arial"/>
              </a:rPr>
              <a:t>( value  +  urgency  +  risk it removes )   ÷   size of the job</a:t>
            </a:r>
          </a:p>
        </p:txBody>
      </p:sp>
      <p:sp>
        <p:nvSpPr>
          <p:cNvPr id="7" name="TextBox 6"/>
          <p:cNvSpPr txBox="1"/>
          <p:nvPr/>
        </p:nvSpPr>
        <p:spPr>
          <a:xfrm>
            <a:off x="640080" y="3127248"/>
            <a:ext cx="10908792" cy="457200"/>
          </a:xfrm>
          <a:prstGeom prst="rect">
            <a:avLst/>
          </a:prstGeom>
          <a:noFill/>
        </p:spPr>
        <p:txBody>
          <a:bodyPr wrap="square" lIns="0" tIns="0" rIns="0" bIns="0" anchor="t">
            <a:spAutoFit/>
          </a:bodyPr>
          <a:lstStyle/>
          <a:p>
            <a:pPr algn="l">
              <a:lnSpc>
                <a:spcPts val="1900"/>
              </a:lnSpc>
            </a:pPr>
            <a:r>
              <a:rPr sz="1350" b="0" i="0">
                <a:solidFill>
                  <a:srgbClr val="5F6178"/>
                </a:solidFill>
                <a:latin typeface="Arial"/>
              </a:rPr>
              <a:t>Score each part 1, 2, 3, 5, 8 or 13 — relative to the smallest item on the list. Same shape as CD3, no finance meeting required. Its formal name is WSJF, Weighted Shortest Job First.</a:t>
            </a:r>
          </a:p>
        </p:txBody>
      </p:sp>
      <p:graphicFrame>
        <p:nvGraphicFramePr>
          <p:cNvPr id="8" name="Table 7"/>
          <p:cNvGraphicFramePr>
            <a:graphicFrameLocks noGrp="1"/>
          </p:cNvGraphicFramePr>
          <p:nvPr/>
        </p:nvGraphicFramePr>
        <p:xfrm>
          <a:off x="640080" y="3675887"/>
          <a:ext cx="10908792" cy="2286000"/>
        </p:xfrm>
        <a:graphic>
          <a:graphicData uri="http://schemas.openxmlformats.org/drawingml/2006/table">
            <a:tbl>
              <a:tblPr>
                <a:tableStyleId>{5C22544A-7EE6-4342-B048-85BDC9FD1C3A}</a:tableStyleId>
              </a:tblPr>
              <a:tblGrid>
                <a:gridCol w="192024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782312">
                  <a:extLst>
                    <a:ext uri="{9D8B030D-6E8A-4147-A177-3AD203B41FA5}">
                      <a16:colId xmlns:a16="http://schemas.microsoft.com/office/drawing/2014/main" val="20002"/>
                    </a:ext>
                  </a:extLst>
                </a:gridCol>
              </a:tblGrid>
              <a:tr h="457200">
                <a:tc>
                  <a:txBody>
                    <a:bodyPr/>
                    <a:lstStyle/>
                    <a:p>
                      <a:pPr algn="l"/>
                      <a:endParaRPr/>
                    </a:p>
                  </a:txBody>
                  <a:tcPr marL="82296" marR="82296" marT="36576" marB="36576" anchor="ctr">
                    <a:solidFill>
                      <a:srgbClr val="211D71"/>
                    </a:solidFill>
                  </a:tcPr>
                </a:tc>
                <a:tc>
                  <a:txBody>
                    <a:bodyPr/>
                    <a:lstStyle/>
                    <a:p>
                      <a:pPr algn="l"/>
                      <a:r>
                        <a:rPr sz="1250" b="1">
                          <a:solidFill>
                            <a:srgbClr val="FFFFFF"/>
                          </a:solidFill>
                          <a:latin typeface="Arial"/>
                        </a:rPr>
                        <a:t>CD3</a:t>
                      </a:r>
                    </a:p>
                  </a:txBody>
                  <a:tcPr marL="82296" marR="82296" marT="36576" marB="36576" anchor="ctr">
                    <a:solidFill>
                      <a:srgbClr val="211D71"/>
                    </a:solidFill>
                  </a:tcPr>
                </a:tc>
                <a:tc>
                  <a:txBody>
                    <a:bodyPr/>
                    <a:lstStyle/>
                    <a:p>
                      <a:pPr algn="l"/>
                      <a:r>
                        <a:rPr sz="1250" b="1">
                          <a:solidFill>
                            <a:srgbClr val="FFFFFF"/>
                          </a:solidFill>
                          <a:latin typeface="Arial"/>
                        </a:rPr>
                        <a:t>WSJF</a:t>
                      </a:r>
                    </a:p>
                  </a:txBody>
                  <a:tcPr marL="82296" marR="82296" marT="36576" marB="36576" anchor="ctr">
                    <a:solidFill>
                      <a:srgbClr val="211D71"/>
                    </a:solidFill>
                  </a:tcPr>
                </a:tc>
                <a:extLst>
                  <a:ext uri="{0D108BD9-81ED-4DB2-BD59-A6C34878D82A}">
                    <a16:rowId xmlns:a16="http://schemas.microsoft.com/office/drawing/2014/main" val="10000"/>
                  </a:ext>
                </a:extLst>
              </a:tr>
              <a:tr h="457200">
                <a:tc>
                  <a:txBody>
                    <a:bodyPr/>
                    <a:lstStyle/>
                    <a:p>
                      <a:pPr algn="l"/>
                      <a:r>
                        <a:rPr sz="1300" b="1">
                          <a:solidFill>
                            <a:srgbClr val="22223B"/>
                          </a:solidFill>
                          <a:latin typeface="Arial"/>
                        </a:rPr>
                        <a:t>What you need</a:t>
                      </a:r>
                    </a:p>
                  </a:txBody>
                  <a:tcPr marL="82296" marR="82296" marT="36576" marB="36576" anchor="ctr">
                    <a:solidFill>
                      <a:srgbClr val="F3F4FA"/>
                    </a:solidFill>
                  </a:tcPr>
                </a:tc>
                <a:tc>
                  <a:txBody>
                    <a:bodyPr/>
                    <a:lstStyle/>
                    <a:p>
                      <a:pPr algn="l"/>
                      <a:r>
                        <a:rPr sz="1300" b="0">
                          <a:solidFill>
                            <a:srgbClr val="22223B"/>
                          </a:solidFill>
                          <a:latin typeface="Arial"/>
                        </a:rPr>
                        <a:t>Real money figures and a duration</a:t>
                      </a:r>
                    </a:p>
                  </a:txBody>
                  <a:tcPr marL="82296" marR="82296" marT="36576" marB="36576" anchor="ctr">
                    <a:solidFill>
                      <a:srgbClr val="F3F4FA"/>
                    </a:solidFill>
                  </a:tcPr>
                </a:tc>
                <a:tc>
                  <a:txBody>
                    <a:bodyPr/>
                    <a:lstStyle/>
                    <a:p>
                      <a:pPr algn="l"/>
                      <a:r>
                        <a:rPr sz="1300" b="0">
                          <a:solidFill>
                            <a:srgbClr val="22223B"/>
                          </a:solidFill>
                          <a:latin typeface="Arial"/>
                        </a:rPr>
                        <a:t>A room, an hour and a list of items</a:t>
                      </a:r>
                    </a:p>
                  </a:txBody>
                  <a:tcPr marL="82296" marR="82296" marT="36576" marB="36576" anchor="ctr">
                    <a:solidFill>
                      <a:srgbClr val="F3F4FA"/>
                    </a:solidFill>
                  </a:tcPr>
                </a:tc>
                <a:extLst>
                  <a:ext uri="{0D108BD9-81ED-4DB2-BD59-A6C34878D82A}">
                    <a16:rowId xmlns:a16="http://schemas.microsoft.com/office/drawing/2014/main" val="10001"/>
                  </a:ext>
                </a:extLst>
              </a:tr>
              <a:tr h="457200">
                <a:tc>
                  <a:txBody>
                    <a:bodyPr/>
                    <a:lstStyle/>
                    <a:p>
                      <a:pPr algn="l"/>
                      <a:r>
                        <a:rPr sz="1300" b="1">
                          <a:solidFill>
                            <a:srgbClr val="22223B"/>
                          </a:solidFill>
                          <a:latin typeface="Arial"/>
                        </a:rPr>
                        <a:t>How you score</a:t>
                      </a:r>
                    </a:p>
                  </a:txBody>
                  <a:tcPr marL="82296" marR="82296" marT="36576" marB="36576" anchor="ctr">
                    <a:solidFill>
                      <a:srgbClr val="FFFFFF"/>
                    </a:solidFill>
                  </a:tcPr>
                </a:tc>
                <a:tc>
                  <a:txBody>
                    <a:bodyPr/>
                    <a:lstStyle/>
                    <a:p>
                      <a:pPr algn="l"/>
                      <a:r>
                        <a:rPr sz="1300" b="0">
                          <a:solidFill>
                            <a:srgbClr val="22223B"/>
                          </a:solidFill>
                          <a:latin typeface="Arial"/>
                        </a:rPr>
                        <a:t>Rupees per week ÷ weeks</a:t>
                      </a:r>
                    </a:p>
                  </a:txBody>
                  <a:tcPr marL="82296" marR="82296" marT="36576" marB="36576" anchor="ctr">
                    <a:solidFill>
                      <a:srgbClr val="FFFFFF"/>
                    </a:solidFill>
                  </a:tcPr>
                </a:tc>
                <a:tc>
                  <a:txBody>
                    <a:bodyPr/>
                    <a:lstStyle/>
                    <a:p>
                      <a:pPr algn="l"/>
                      <a:r>
                        <a:rPr sz="1300" b="0">
                          <a:solidFill>
                            <a:srgbClr val="22223B"/>
                          </a:solidFill>
                          <a:latin typeface="Arial"/>
                        </a:rPr>
                        <a:t>Relative points ÷ relative size</a:t>
                      </a:r>
                    </a:p>
                  </a:txBody>
                  <a:tcPr marL="82296" marR="82296" marT="36576" marB="36576" anchor="ctr">
                    <a:solidFill>
                      <a:srgbClr val="FFFFFF"/>
                    </a:solidFill>
                  </a:tcPr>
                </a:tc>
                <a:extLst>
                  <a:ext uri="{0D108BD9-81ED-4DB2-BD59-A6C34878D82A}">
                    <a16:rowId xmlns:a16="http://schemas.microsoft.com/office/drawing/2014/main" val="10002"/>
                  </a:ext>
                </a:extLst>
              </a:tr>
              <a:tr h="457200">
                <a:tc>
                  <a:txBody>
                    <a:bodyPr/>
                    <a:lstStyle/>
                    <a:p>
                      <a:pPr algn="l"/>
                      <a:r>
                        <a:rPr sz="1300" b="1">
                          <a:solidFill>
                            <a:srgbClr val="22223B"/>
                          </a:solidFill>
                          <a:latin typeface="Arial"/>
                        </a:rPr>
                        <a:t>Good for</a:t>
                      </a:r>
                    </a:p>
                  </a:txBody>
                  <a:tcPr marL="82296" marR="82296" marT="36576" marB="36576" anchor="ctr">
                    <a:solidFill>
                      <a:srgbClr val="F3F4FA"/>
                    </a:solidFill>
                  </a:tcPr>
                </a:tc>
                <a:tc>
                  <a:txBody>
                    <a:bodyPr/>
                    <a:lstStyle/>
                    <a:p>
                      <a:pPr algn="l"/>
                      <a:r>
                        <a:rPr sz="1300" b="0">
                          <a:solidFill>
                            <a:srgbClr val="22223B"/>
                          </a:solidFill>
                          <a:latin typeface="Arial"/>
                        </a:rPr>
                        <a:t>The top few items, and anything you must justify to finance</a:t>
                      </a:r>
                    </a:p>
                  </a:txBody>
                  <a:tcPr marL="82296" marR="82296" marT="36576" marB="36576" anchor="ctr">
                    <a:solidFill>
                      <a:srgbClr val="F3F4FA"/>
                    </a:solidFill>
                  </a:tcPr>
                </a:tc>
                <a:tc>
                  <a:txBody>
                    <a:bodyPr/>
                    <a:lstStyle/>
                    <a:p>
                      <a:pPr algn="l"/>
                      <a:r>
                        <a:rPr sz="1300" b="0">
                          <a:solidFill>
                            <a:srgbClr val="22223B"/>
                          </a:solidFill>
                          <a:latin typeface="Arial"/>
                        </a:rPr>
                        <a:t>Ranking a whole backlog quickly</a:t>
                      </a:r>
                    </a:p>
                  </a:txBody>
                  <a:tcPr marL="82296" marR="82296" marT="36576" marB="36576" anchor="ctr">
                    <a:solidFill>
                      <a:srgbClr val="F3F4FA"/>
                    </a:solidFill>
                  </a:tcPr>
                </a:tc>
                <a:extLst>
                  <a:ext uri="{0D108BD9-81ED-4DB2-BD59-A6C34878D82A}">
                    <a16:rowId xmlns:a16="http://schemas.microsoft.com/office/drawing/2014/main" val="10003"/>
                  </a:ext>
                </a:extLst>
              </a:tr>
              <a:tr h="457200">
                <a:tc>
                  <a:txBody>
                    <a:bodyPr/>
                    <a:lstStyle/>
                    <a:p>
                      <a:pPr algn="l"/>
                      <a:r>
                        <a:rPr sz="1300" b="1">
                          <a:solidFill>
                            <a:srgbClr val="22223B"/>
                          </a:solidFill>
                          <a:latin typeface="Arial"/>
                        </a:rPr>
                        <a:t>Watch out</a:t>
                      </a:r>
                    </a:p>
                  </a:txBody>
                  <a:tcPr marL="82296" marR="82296" marT="36576" marB="36576" anchor="ctr">
                    <a:solidFill>
                      <a:srgbClr val="FFFFFF"/>
                    </a:solidFill>
                  </a:tcPr>
                </a:tc>
                <a:tc>
                  <a:txBody>
                    <a:bodyPr/>
                    <a:lstStyle/>
                    <a:p>
                      <a:pPr algn="l"/>
                      <a:r>
                        <a:rPr sz="1300" b="0">
                          <a:solidFill>
                            <a:srgbClr val="22223B"/>
                          </a:solidFill>
                          <a:latin typeface="Arial"/>
                        </a:rPr>
                        <a:t>Precise-looking numbers that were guessed</a:t>
                      </a:r>
                    </a:p>
                  </a:txBody>
                  <a:tcPr marL="82296" marR="82296" marT="36576" marB="36576" anchor="ctr">
                    <a:solidFill>
                      <a:srgbClr val="FFFFFF"/>
                    </a:solidFill>
                  </a:tcPr>
                </a:tc>
                <a:tc>
                  <a:txBody>
                    <a:bodyPr/>
                    <a:lstStyle/>
                    <a:p>
                      <a:pPr algn="l"/>
                      <a:r>
                        <a:rPr sz="1300" b="0">
                          <a:solidFill>
                            <a:srgbClr val="22223B"/>
                          </a:solidFill>
                          <a:latin typeface="Arial"/>
                        </a:rPr>
                        <a:t>Scores only compare within one session — not across quarters</a:t>
                      </a:r>
                    </a:p>
                  </a:txBody>
                  <a:tcPr marL="82296" marR="82296" marT="36576" marB="36576" anchor="ctr">
                    <a:solidFill>
                      <a:srgbClr val="FFFFFF"/>
                    </a:solidFill>
                  </a:tcPr>
                </a:tc>
                <a:extLst>
                  <a:ext uri="{0D108BD9-81ED-4DB2-BD59-A6C34878D82A}">
                    <a16:rowId xmlns:a16="http://schemas.microsoft.com/office/drawing/2014/main" val="10004"/>
                  </a:ext>
                </a:extLst>
              </a:tr>
            </a:tbl>
          </a:graphicData>
        </a:graphic>
      </p:graphicFrame>
      <p:sp>
        <p:nvSpPr>
          <p:cNvPr id="9" name="Rounded Rectangle 8"/>
          <p:cNvSpPr/>
          <p:nvPr/>
        </p:nvSpPr>
        <p:spPr>
          <a:xfrm>
            <a:off x="640080" y="5641848"/>
            <a:ext cx="10908792" cy="640080"/>
          </a:xfrm>
          <a:prstGeom prst="roundRect">
            <a:avLst>
              <a:gd name="adj" fmla="val 5500"/>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5678424"/>
            <a:ext cx="10451592" cy="566928"/>
          </a:xfrm>
          <a:prstGeom prst="rect">
            <a:avLst/>
          </a:prstGeom>
          <a:noFill/>
        </p:spPr>
        <p:txBody>
          <a:bodyPr wrap="square" lIns="0" tIns="0" rIns="0" bIns="0" anchor="ctr">
            <a:spAutoFit/>
          </a:bodyPr>
          <a:lstStyle/>
          <a:p>
            <a:pPr algn="l"/>
            <a:r>
              <a:rPr sz="1350" b="1" i="0">
                <a:solidFill>
                  <a:srgbClr val="FFFFFF"/>
                </a:solidFill>
                <a:latin typeface="Arial"/>
              </a:rPr>
              <a:t>In practice: rank everything roughly with WSJF, then work out real money only for the top five.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74320"/>
            <a:ext cx="10908792" cy="237744"/>
          </a:xfrm>
          <a:prstGeom prst="rect">
            <a:avLst/>
          </a:prstGeom>
          <a:noFill/>
        </p:spPr>
        <p:txBody>
          <a:bodyPr wrap="square" lIns="0" tIns="0" rIns="0" bIns="0" anchor="t">
            <a:spAutoFit/>
          </a:bodyPr>
          <a:lstStyle/>
          <a:p>
            <a:pPr algn="l"/>
            <a:r>
              <a:rPr sz="1000" b="1" i="0" spc="140">
                <a:solidFill>
                  <a:srgbClr val="A9740A"/>
                </a:solidFill>
                <a:latin typeface="Arial"/>
              </a:rPr>
              <a:t>GROUP WORK  ·  45–53 MIN  ·  GROUPS OF 4</a:t>
            </a:r>
          </a:p>
        </p:txBody>
      </p:sp>
      <p:sp>
        <p:nvSpPr>
          <p:cNvPr id="3" name="TextBox 2"/>
          <p:cNvSpPr txBox="1"/>
          <p:nvPr/>
        </p:nvSpPr>
        <p:spPr>
          <a:xfrm>
            <a:off x="640080" y="548640"/>
            <a:ext cx="8229600" cy="640080"/>
          </a:xfrm>
          <a:prstGeom prst="rect">
            <a:avLst/>
          </a:prstGeom>
          <a:noFill/>
        </p:spPr>
        <p:txBody>
          <a:bodyPr wrap="square" lIns="0" tIns="0" rIns="0" bIns="0" anchor="t">
            <a:spAutoFit/>
          </a:bodyPr>
          <a:lstStyle/>
          <a:p>
            <a:pPr algn="l"/>
            <a:r>
              <a:rPr sz="2400" b="1" i="0">
                <a:solidFill>
                  <a:srgbClr val="211D71"/>
                </a:solidFill>
                <a:latin typeface="Arial"/>
              </a:rPr>
              <a:t>Your turn — put four features in order</a:t>
            </a:r>
          </a:p>
        </p:txBody>
      </p:sp>
      <p:sp>
        <p:nvSpPr>
          <p:cNvPr id="4" name="TextBox 3"/>
          <p:cNvSpPr txBox="1"/>
          <p:nvPr/>
        </p:nvSpPr>
        <p:spPr>
          <a:xfrm>
            <a:off x="640080" y="1572768"/>
            <a:ext cx="10908792" cy="292608"/>
          </a:xfrm>
          <a:prstGeom prst="rect">
            <a:avLst/>
          </a:prstGeom>
          <a:noFill/>
        </p:spPr>
        <p:txBody>
          <a:bodyPr wrap="square" lIns="0" tIns="0" rIns="0" bIns="0" anchor="t">
            <a:spAutoFit/>
          </a:bodyPr>
          <a:lstStyle/>
          <a:p>
            <a:pPr algn="l"/>
            <a:r>
              <a:rPr sz="1400" b="0" i="0">
                <a:solidFill>
                  <a:srgbClr val="22223B"/>
                </a:solidFill>
                <a:latin typeface="Arial"/>
              </a:rPr>
              <a:t>One team. Four features. They must be done one after another. All money figures are ₹ lakh per week.</a:t>
            </a:r>
          </a:p>
        </p:txBody>
      </p:sp>
      <p:graphicFrame>
        <p:nvGraphicFramePr>
          <p:cNvPr id="5" name="Table 4"/>
          <p:cNvGraphicFramePr>
            <a:graphicFrameLocks noGrp="1"/>
          </p:cNvGraphicFramePr>
          <p:nvPr/>
        </p:nvGraphicFramePr>
        <p:xfrm>
          <a:off x="640080" y="1938528"/>
          <a:ext cx="6766560" cy="2286000"/>
        </p:xfrm>
        <a:graphic>
          <a:graphicData uri="http://schemas.openxmlformats.org/drawingml/2006/table">
            <a:tbl>
              <a:tblPr>
                <a:tableStyleId>{5C22544A-7EE6-4342-B048-85BDC9FD1C3A}</a:tableStyleId>
              </a:tblPr>
              <a:tblGrid>
                <a:gridCol w="292608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tblGrid>
              <a:tr h="457200">
                <a:tc>
                  <a:txBody>
                    <a:bodyPr/>
                    <a:lstStyle/>
                    <a:p>
                      <a:pPr algn="ctr"/>
                      <a:r>
                        <a:rPr sz="1300" b="1">
                          <a:solidFill>
                            <a:srgbClr val="FFFFFF"/>
                          </a:solidFill>
                          <a:latin typeface="Arial"/>
                        </a:rPr>
                        <a:t>Feature</a:t>
                      </a:r>
                    </a:p>
                  </a:txBody>
                  <a:tcPr marL="82296" marR="82296" marT="36576" marB="36576" anchor="ctr">
                    <a:solidFill>
                      <a:srgbClr val="211D71"/>
                    </a:solidFill>
                  </a:tcPr>
                </a:tc>
                <a:tc>
                  <a:txBody>
                    <a:bodyPr/>
                    <a:lstStyle/>
                    <a:p>
                      <a:pPr algn="ctr"/>
                      <a:r>
                        <a:rPr sz="1300" b="1">
                          <a:solidFill>
                            <a:srgbClr val="FFFFFF"/>
                          </a:solidFill>
                          <a:latin typeface="Arial"/>
                        </a:rPr>
                        <a:t>Loses per week</a:t>
                      </a:r>
                    </a:p>
                  </a:txBody>
                  <a:tcPr marL="82296" marR="82296" marT="36576" marB="36576" anchor="ctr">
                    <a:solidFill>
                      <a:srgbClr val="211D71"/>
                    </a:solidFill>
                  </a:tcPr>
                </a:tc>
                <a:tc>
                  <a:txBody>
                    <a:bodyPr/>
                    <a:lstStyle/>
                    <a:p>
                      <a:pPr algn="ctr"/>
                      <a:r>
                        <a:rPr sz="1300" b="1">
                          <a:solidFill>
                            <a:srgbClr val="FFFFFF"/>
                          </a:solidFill>
                          <a:latin typeface="Arial"/>
                        </a:rPr>
                        <a:t>Takes</a:t>
                      </a:r>
                    </a:p>
                  </a:txBody>
                  <a:tcPr marL="82296" marR="82296" marT="36576" marB="36576" anchor="ctr">
                    <a:solidFill>
                      <a:srgbClr val="211D71"/>
                    </a:solidFill>
                  </a:tcPr>
                </a:tc>
                <a:tc>
                  <a:txBody>
                    <a:bodyPr/>
                    <a:lstStyle/>
                    <a:p>
                      <a:pPr algn="ctr"/>
                      <a:r>
                        <a:rPr sz="1300" b="1">
                          <a:solidFill>
                            <a:srgbClr val="FFFFFF"/>
                          </a:solidFill>
                          <a:latin typeface="Arial"/>
                        </a:rPr>
                        <a:t>Score</a:t>
                      </a:r>
                    </a:p>
                  </a:txBody>
                  <a:tcPr marL="82296" marR="82296" marT="36576" marB="36576" anchor="ctr">
                    <a:solidFill>
                      <a:srgbClr val="211D71"/>
                    </a:solidFill>
                  </a:tcPr>
                </a:tc>
                <a:extLst>
                  <a:ext uri="{0D108BD9-81ED-4DB2-BD59-A6C34878D82A}">
                    <a16:rowId xmlns:a16="http://schemas.microsoft.com/office/drawing/2014/main" val="10000"/>
                  </a:ext>
                </a:extLst>
              </a:tr>
              <a:tr h="457200">
                <a:tc>
                  <a:txBody>
                    <a:bodyPr/>
                    <a:lstStyle/>
                    <a:p>
                      <a:pPr algn="l"/>
                      <a:r>
                        <a:rPr sz="1350" b="1">
                          <a:solidFill>
                            <a:srgbClr val="22223B"/>
                          </a:solidFill>
                          <a:latin typeface="Arial"/>
                        </a:rPr>
                        <a:t>A   Pay by QR code</a:t>
                      </a:r>
                    </a:p>
                  </a:txBody>
                  <a:tcPr marL="82296" marR="82296" marT="36576" marB="36576" anchor="ctr">
                    <a:solidFill>
                      <a:srgbClr val="F3F4FA"/>
                    </a:solidFill>
                  </a:tcPr>
                </a:tc>
                <a:tc>
                  <a:txBody>
                    <a:bodyPr/>
                    <a:lstStyle/>
                    <a:p>
                      <a:pPr algn="ctr"/>
                      <a:r>
                        <a:rPr sz="1350" b="0">
                          <a:solidFill>
                            <a:srgbClr val="22223B"/>
                          </a:solidFill>
                          <a:latin typeface="Arial"/>
                        </a:rPr>
                        <a:t>₹10</a:t>
                      </a:r>
                    </a:p>
                  </a:txBody>
                  <a:tcPr marL="82296" marR="82296" marT="36576" marB="36576" anchor="ctr">
                    <a:solidFill>
                      <a:srgbClr val="F3F4FA"/>
                    </a:solidFill>
                  </a:tcPr>
                </a:tc>
                <a:tc>
                  <a:txBody>
                    <a:bodyPr/>
                    <a:lstStyle/>
                    <a:p>
                      <a:pPr algn="ctr"/>
                      <a:r>
                        <a:rPr sz="1350" b="0">
                          <a:solidFill>
                            <a:srgbClr val="22223B"/>
                          </a:solidFill>
                          <a:latin typeface="Arial"/>
                        </a:rPr>
                        <a:t>2 weeks</a:t>
                      </a:r>
                    </a:p>
                  </a:txBody>
                  <a:tcPr marL="82296" marR="82296" marT="36576" marB="36576" anchor="ctr">
                    <a:solidFill>
                      <a:srgbClr val="F3F4FA"/>
                    </a:solidFill>
                  </a:tcPr>
                </a:tc>
                <a:tc>
                  <a:txBody>
                    <a:bodyPr/>
                    <a:lstStyle/>
                    <a:p>
                      <a:pPr algn="ctr"/>
                      <a:r>
                        <a:rPr sz="1350" b="0">
                          <a:solidFill>
                            <a:srgbClr val="22223B"/>
                          </a:solidFill>
                          <a:latin typeface="Arial"/>
                        </a:rPr>
                        <a:t>?</a:t>
                      </a:r>
                    </a:p>
                  </a:txBody>
                  <a:tcPr marL="82296" marR="82296" marT="36576" marB="36576" anchor="ctr">
                    <a:solidFill>
                      <a:srgbClr val="FEF0D3"/>
                    </a:solidFill>
                  </a:tcPr>
                </a:tc>
                <a:extLst>
                  <a:ext uri="{0D108BD9-81ED-4DB2-BD59-A6C34878D82A}">
                    <a16:rowId xmlns:a16="http://schemas.microsoft.com/office/drawing/2014/main" val="10001"/>
                  </a:ext>
                </a:extLst>
              </a:tr>
              <a:tr h="457200">
                <a:tc>
                  <a:txBody>
                    <a:bodyPr/>
                    <a:lstStyle/>
                    <a:p>
                      <a:pPr algn="l"/>
                      <a:r>
                        <a:rPr sz="1350" b="1">
                          <a:solidFill>
                            <a:srgbClr val="22223B"/>
                          </a:solidFill>
                          <a:latin typeface="Arial"/>
                        </a:rPr>
                        <a:t>B   New rule from the regulator</a:t>
                      </a:r>
                    </a:p>
                  </a:txBody>
                  <a:tcPr marL="82296" marR="82296" marT="36576" marB="36576" anchor="ctr">
                    <a:solidFill>
                      <a:srgbClr val="FFFFFF"/>
                    </a:solidFill>
                  </a:tcPr>
                </a:tc>
                <a:tc>
                  <a:txBody>
                    <a:bodyPr/>
                    <a:lstStyle/>
                    <a:p>
                      <a:pPr algn="ctr"/>
                      <a:r>
                        <a:rPr sz="1350" b="0">
                          <a:solidFill>
                            <a:srgbClr val="22223B"/>
                          </a:solidFill>
                          <a:latin typeface="Arial"/>
                        </a:rPr>
                        <a:t>₹12</a:t>
                      </a:r>
                    </a:p>
                  </a:txBody>
                  <a:tcPr marL="82296" marR="82296" marT="36576" marB="36576" anchor="ctr">
                    <a:solidFill>
                      <a:srgbClr val="FFFFFF"/>
                    </a:solidFill>
                  </a:tcPr>
                </a:tc>
                <a:tc>
                  <a:txBody>
                    <a:bodyPr/>
                    <a:lstStyle/>
                    <a:p>
                      <a:pPr algn="ctr"/>
                      <a:r>
                        <a:rPr sz="1350" b="0">
                          <a:solidFill>
                            <a:srgbClr val="22223B"/>
                          </a:solidFill>
                          <a:latin typeface="Arial"/>
                        </a:rPr>
                        <a:t>4 weeks</a:t>
                      </a:r>
                    </a:p>
                  </a:txBody>
                  <a:tcPr marL="82296" marR="82296" marT="36576" marB="36576" anchor="ctr">
                    <a:solidFill>
                      <a:srgbClr val="FFFFFF"/>
                    </a:solidFill>
                  </a:tcPr>
                </a:tc>
                <a:tc>
                  <a:txBody>
                    <a:bodyPr/>
                    <a:lstStyle/>
                    <a:p>
                      <a:pPr algn="ctr"/>
                      <a:r>
                        <a:rPr sz="1350" b="0">
                          <a:solidFill>
                            <a:srgbClr val="22223B"/>
                          </a:solidFill>
                          <a:latin typeface="Arial"/>
                        </a:rPr>
                        <a:t>?</a:t>
                      </a:r>
                    </a:p>
                  </a:txBody>
                  <a:tcPr marL="82296" marR="82296" marT="36576" marB="36576" anchor="ctr">
                    <a:solidFill>
                      <a:srgbClr val="FEF0D3"/>
                    </a:solidFill>
                  </a:tcPr>
                </a:tc>
                <a:extLst>
                  <a:ext uri="{0D108BD9-81ED-4DB2-BD59-A6C34878D82A}">
                    <a16:rowId xmlns:a16="http://schemas.microsoft.com/office/drawing/2014/main" val="10002"/>
                  </a:ext>
                </a:extLst>
              </a:tr>
              <a:tr h="457200">
                <a:tc>
                  <a:txBody>
                    <a:bodyPr/>
                    <a:lstStyle/>
                    <a:p>
                      <a:pPr algn="l"/>
                      <a:r>
                        <a:rPr sz="1350" b="1">
                          <a:solidFill>
                            <a:srgbClr val="22223B"/>
                          </a:solidFill>
                          <a:latin typeface="Arial"/>
                        </a:rPr>
                        <a:t>C   Refund a failed payment</a:t>
                      </a:r>
                    </a:p>
                  </a:txBody>
                  <a:tcPr marL="82296" marR="82296" marT="36576" marB="36576" anchor="ctr">
                    <a:solidFill>
                      <a:srgbClr val="F3F4FA"/>
                    </a:solidFill>
                  </a:tcPr>
                </a:tc>
                <a:tc>
                  <a:txBody>
                    <a:bodyPr/>
                    <a:lstStyle/>
                    <a:p>
                      <a:pPr algn="ctr"/>
                      <a:r>
                        <a:rPr sz="1350" b="0">
                          <a:solidFill>
                            <a:srgbClr val="22223B"/>
                          </a:solidFill>
                          <a:latin typeface="Arial"/>
                        </a:rPr>
                        <a:t>₹8</a:t>
                      </a:r>
                    </a:p>
                  </a:txBody>
                  <a:tcPr marL="82296" marR="82296" marT="36576" marB="36576" anchor="ctr">
                    <a:solidFill>
                      <a:srgbClr val="F3F4FA"/>
                    </a:solidFill>
                  </a:tcPr>
                </a:tc>
                <a:tc>
                  <a:txBody>
                    <a:bodyPr/>
                    <a:lstStyle/>
                    <a:p>
                      <a:pPr algn="ctr"/>
                      <a:r>
                        <a:rPr sz="1350" b="0">
                          <a:solidFill>
                            <a:srgbClr val="22223B"/>
                          </a:solidFill>
                          <a:latin typeface="Arial"/>
                        </a:rPr>
                        <a:t>4 weeks</a:t>
                      </a:r>
                    </a:p>
                  </a:txBody>
                  <a:tcPr marL="82296" marR="82296" marT="36576" marB="36576" anchor="ctr">
                    <a:solidFill>
                      <a:srgbClr val="F3F4FA"/>
                    </a:solidFill>
                  </a:tcPr>
                </a:tc>
                <a:tc>
                  <a:txBody>
                    <a:bodyPr/>
                    <a:lstStyle/>
                    <a:p>
                      <a:pPr algn="ctr"/>
                      <a:r>
                        <a:rPr sz="1350" b="0">
                          <a:solidFill>
                            <a:srgbClr val="22223B"/>
                          </a:solidFill>
                          <a:latin typeface="Arial"/>
                        </a:rPr>
                        <a:t>?</a:t>
                      </a:r>
                    </a:p>
                  </a:txBody>
                  <a:tcPr marL="82296" marR="82296" marT="36576" marB="36576" anchor="ctr">
                    <a:solidFill>
                      <a:srgbClr val="FEF0D3"/>
                    </a:solidFill>
                  </a:tcPr>
                </a:tc>
                <a:extLst>
                  <a:ext uri="{0D108BD9-81ED-4DB2-BD59-A6C34878D82A}">
                    <a16:rowId xmlns:a16="http://schemas.microsoft.com/office/drawing/2014/main" val="10003"/>
                  </a:ext>
                </a:extLst>
              </a:tr>
              <a:tr h="457200">
                <a:tc>
                  <a:txBody>
                    <a:bodyPr/>
                    <a:lstStyle/>
                    <a:p>
                      <a:pPr algn="l"/>
                      <a:r>
                        <a:rPr sz="1350" b="1">
                          <a:solidFill>
                            <a:srgbClr val="22223B"/>
                          </a:solidFill>
                          <a:latin typeface="Arial"/>
                        </a:rPr>
                        <a:t>D   Dark mode</a:t>
                      </a:r>
                    </a:p>
                  </a:txBody>
                  <a:tcPr marL="82296" marR="82296" marT="36576" marB="36576" anchor="ctr">
                    <a:solidFill>
                      <a:srgbClr val="FFFFFF"/>
                    </a:solidFill>
                  </a:tcPr>
                </a:tc>
                <a:tc>
                  <a:txBody>
                    <a:bodyPr/>
                    <a:lstStyle/>
                    <a:p>
                      <a:pPr algn="ctr"/>
                      <a:r>
                        <a:rPr sz="1350" b="0">
                          <a:solidFill>
                            <a:srgbClr val="22223B"/>
                          </a:solidFill>
                          <a:latin typeface="Arial"/>
                        </a:rPr>
                        <a:t>₹2</a:t>
                      </a:r>
                    </a:p>
                  </a:txBody>
                  <a:tcPr marL="82296" marR="82296" marT="36576" marB="36576" anchor="ctr">
                    <a:solidFill>
                      <a:srgbClr val="FFFFFF"/>
                    </a:solidFill>
                  </a:tcPr>
                </a:tc>
                <a:tc>
                  <a:txBody>
                    <a:bodyPr/>
                    <a:lstStyle/>
                    <a:p>
                      <a:pPr algn="ctr"/>
                      <a:r>
                        <a:rPr sz="1350" b="0">
                          <a:solidFill>
                            <a:srgbClr val="22223B"/>
                          </a:solidFill>
                          <a:latin typeface="Arial"/>
                        </a:rPr>
                        <a:t>2 weeks</a:t>
                      </a:r>
                    </a:p>
                  </a:txBody>
                  <a:tcPr marL="82296" marR="82296" marT="36576" marB="36576" anchor="ctr">
                    <a:solidFill>
                      <a:srgbClr val="FFFFFF"/>
                    </a:solidFill>
                  </a:tcPr>
                </a:tc>
                <a:tc>
                  <a:txBody>
                    <a:bodyPr/>
                    <a:lstStyle/>
                    <a:p>
                      <a:pPr algn="ctr"/>
                      <a:r>
                        <a:rPr sz="1350" b="0">
                          <a:solidFill>
                            <a:srgbClr val="22223B"/>
                          </a:solidFill>
                          <a:latin typeface="Arial"/>
                        </a:rPr>
                        <a:t>?</a:t>
                      </a:r>
                    </a:p>
                  </a:txBody>
                  <a:tcPr marL="82296" marR="82296" marT="36576" marB="36576" anchor="ctr">
                    <a:solidFill>
                      <a:srgbClr val="FEF0D3"/>
                    </a:solidFill>
                  </a:tcPr>
                </a:tc>
                <a:extLst>
                  <a:ext uri="{0D108BD9-81ED-4DB2-BD59-A6C34878D82A}">
                    <a16:rowId xmlns:a16="http://schemas.microsoft.com/office/drawing/2014/main" val="10004"/>
                  </a:ext>
                </a:extLst>
              </a:tr>
            </a:tbl>
          </a:graphicData>
        </a:graphic>
      </p:graphicFrame>
      <p:sp>
        <p:nvSpPr>
          <p:cNvPr id="6" name="Rounded Rectangle 5"/>
          <p:cNvSpPr/>
          <p:nvPr/>
        </p:nvSpPr>
        <p:spPr>
          <a:xfrm>
            <a:off x="7680960" y="1938528"/>
            <a:ext cx="3931920" cy="228600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909560" y="2093976"/>
            <a:ext cx="3474720" cy="274320"/>
          </a:xfrm>
          <a:prstGeom prst="rect">
            <a:avLst/>
          </a:prstGeom>
          <a:noFill/>
        </p:spPr>
        <p:txBody>
          <a:bodyPr wrap="square" lIns="0" tIns="0" rIns="0" bIns="0" anchor="t">
            <a:spAutoFit/>
          </a:bodyPr>
          <a:lstStyle/>
          <a:p>
            <a:pPr algn="l"/>
            <a:r>
              <a:rPr sz="1400" b="1" i="0">
                <a:solidFill>
                  <a:srgbClr val="211D71"/>
                </a:solidFill>
                <a:latin typeface="Arial"/>
              </a:rPr>
              <a:t>Answer three things</a:t>
            </a:r>
          </a:p>
        </p:txBody>
      </p:sp>
      <p:sp>
        <p:nvSpPr>
          <p:cNvPr id="8" name="TextBox 7"/>
          <p:cNvSpPr txBox="1"/>
          <p:nvPr/>
        </p:nvSpPr>
        <p:spPr>
          <a:xfrm>
            <a:off x="7909560" y="2459736"/>
            <a:ext cx="3474720" cy="1645920"/>
          </a:xfrm>
          <a:prstGeom prst="rect">
            <a:avLst/>
          </a:prstGeom>
          <a:noFill/>
        </p:spPr>
        <p:txBody>
          <a:bodyPr wrap="square" lIns="0" tIns="0" rIns="0" bIns="0">
            <a:spAutoFit/>
          </a:bodyPr>
          <a:lstStyle/>
          <a:p>
            <a:pPr marL="173736" indent="-173736">
              <a:lnSpc>
                <a:spcPts val="2200"/>
              </a:lnSpc>
              <a:spcAft>
                <a:spcPts val="1000"/>
              </a:spcAft>
              <a:buChar char="•"/>
            </a:pPr>
            <a:r>
              <a:rPr sz="1300" b="0">
                <a:solidFill>
                  <a:srgbClr val="22223B"/>
                </a:solidFill>
                <a:latin typeface="Arial"/>
              </a:rPr>
              <a:t>Work out each score. What is the order?</a:t>
            </a:r>
          </a:p>
          <a:p>
            <a:pPr marL="173736" indent="-173736">
              <a:lnSpc>
                <a:spcPts val="2200"/>
              </a:lnSpc>
              <a:spcAft>
                <a:spcPts val="1000"/>
              </a:spcAft>
              <a:buChar char="•"/>
            </a:pPr>
            <a:r>
              <a:rPr sz="1300" b="0">
                <a:solidFill>
                  <a:srgbClr val="22223B"/>
                </a:solidFill>
                <a:latin typeface="Arial"/>
              </a:rPr>
              <a:t>How much do you lose in total in that order?</a:t>
            </a:r>
          </a:p>
          <a:p>
            <a:pPr marL="173736" indent="-173736">
              <a:lnSpc>
                <a:spcPts val="2200"/>
              </a:lnSpc>
              <a:spcAft>
                <a:spcPts val="1000"/>
              </a:spcAft>
              <a:buChar char="•"/>
            </a:pPr>
            <a:r>
              <a:rPr sz="1300" b="0">
                <a:solidFill>
                  <a:srgbClr val="22223B"/>
                </a:solidFill>
                <a:latin typeface="Arial"/>
              </a:rPr>
              <a:t>B is a legal deadline in week 10. Does your order still work?</a:t>
            </a:r>
          </a:p>
        </p:txBody>
      </p:sp>
      <p:sp>
        <p:nvSpPr>
          <p:cNvPr id="9" name="Rounded Rectangle 8"/>
          <p:cNvSpPr/>
          <p:nvPr/>
        </p:nvSpPr>
        <p:spPr>
          <a:xfrm>
            <a:off x="640080" y="4453128"/>
            <a:ext cx="10908792" cy="1417320"/>
          </a:xfrm>
          <a:prstGeom prst="roundRect">
            <a:avLst>
              <a:gd name="adj" fmla="val 5500"/>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4590288"/>
            <a:ext cx="5486400" cy="256032"/>
          </a:xfrm>
          <a:prstGeom prst="rect">
            <a:avLst/>
          </a:prstGeom>
          <a:noFill/>
        </p:spPr>
        <p:txBody>
          <a:bodyPr wrap="square" lIns="0" tIns="0" rIns="0" bIns="0" anchor="t">
            <a:spAutoFit/>
          </a:bodyPr>
          <a:lstStyle/>
          <a:p>
            <a:pPr algn="l"/>
            <a:r>
              <a:rPr sz="1400" b="1" i="0">
                <a:solidFill>
                  <a:srgbClr val="FCB017"/>
                </a:solidFill>
                <a:latin typeface="Arial"/>
              </a:rPr>
              <a:t>How to count the total</a:t>
            </a:r>
          </a:p>
        </p:txBody>
      </p:sp>
      <p:sp>
        <p:nvSpPr>
          <p:cNvPr id="11" name="TextBox 10"/>
          <p:cNvSpPr txBox="1"/>
          <p:nvPr/>
        </p:nvSpPr>
        <p:spPr>
          <a:xfrm>
            <a:off x="914400" y="4892040"/>
            <a:ext cx="10360152" cy="868680"/>
          </a:xfrm>
          <a:prstGeom prst="rect">
            <a:avLst/>
          </a:prstGeom>
          <a:noFill/>
        </p:spPr>
        <p:txBody>
          <a:bodyPr wrap="square" lIns="0" tIns="0" rIns="0" bIns="0" anchor="t">
            <a:spAutoFit/>
          </a:bodyPr>
          <a:lstStyle/>
          <a:p>
            <a:pPr algn="l">
              <a:lnSpc>
                <a:spcPts val="2400"/>
              </a:lnSpc>
            </a:pPr>
            <a:r>
              <a:rPr sz="1450" b="0" i="0">
                <a:solidFill>
                  <a:srgbClr val="FFFFFF"/>
                </a:solidFill>
                <a:latin typeface="Arial"/>
              </a:rPr>
              <a:t>A feature keeps losing money until the week it is finished.</a:t>
            </a:r>
          </a:p>
          <a:p>
            <a:pPr algn="l">
              <a:lnSpc>
                <a:spcPts val="2400"/>
              </a:lnSpc>
            </a:pPr>
            <a:r>
              <a:rPr sz="1450" b="0" i="0">
                <a:solidFill>
                  <a:srgbClr val="FFFFFF"/>
                </a:solidFill>
                <a:latin typeface="Arial"/>
              </a:rPr>
              <a:t>So for each one:  money per week  ×  the week it finishes.  Then add them all up.</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74320"/>
            <a:ext cx="10908792" cy="237744"/>
          </a:xfrm>
          <a:prstGeom prst="rect">
            <a:avLst/>
          </a:prstGeom>
          <a:noFill/>
        </p:spPr>
        <p:txBody>
          <a:bodyPr wrap="square" lIns="0" tIns="0" rIns="0" bIns="0" anchor="t">
            <a:spAutoFit/>
          </a:bodyPr>
          <a:lstStyle/>
          <a:p>
            <a:pPr algn="l"/>
            <a:r>
              <a:rPr sz="1000" b="1" i="0" spc="140">
                <a:solidFill>
                  <a:srgbClr val="A9740A"/>
                </a:solidFill>
                <a:latin typeface="Arial"/>
              </a:rPr>
              <a:t>CASE STUDY</a:t>
            </a:r>
          </a:p>
        </p:txBody>
      </p:sp>
      <p:sp>
        <p:nvSpPr>
          <p:cNvPr id="3" name="TextBox 2"/>
          <p:cNvSpPr txBox="1"/>
          <p:nvPr/>
        </p:nvSpPr>
        <p:spPr>
          <a:xfrm>
            <a:off x="640080" y="548640"/>
            <a:ext cx="8229600" cy="640080"/>
          </a:xfrm>
          <a:prstGeom prst="rect">
            <a:avLst/>
          </a:prstGeom>
          <a:noFill/>
        </p:spPr>
        <p:txBody>
          <a:bodyPr wrap="square" lIns="0" tIns="0" rIns="0" bIns="0" anchor="t">
            <a:spAutoFit/>
          </a:bodyPr>
          <a:lstStyle/>
          <a:p>
            <a:pPr algn="l"/>
            <a:r>
              <a:rPr sz="2400" b="1" i="0">
                <a:solidFill>
                  <a:srgbClr val="211D71"/>
                </a:solidFill>
                <a:latin typeface="Arial"/>
              </a:rPr>
              <a:t>Step 1 — work out each score</a:t>
            </a:r>
          </a:p>
        </p:txBody>
      </p:sp>
      <p:graphicFrame>
        <p:nvGraphicFramePr>
          <p:cNvPr id="4" name="Table 3"/>
          <p:cNvGraphicFramePr>
            <a:graphicFrameLocks noGrp="1"/>
          </p:cNvGraphicFramePr>
          <p:nvPr/>
        </p:nvGraphicFramePr>
        <p:xfrm>
          <a:off x="640080" y="1664207"/>
          <a:ext cx="10908792" cy="2651760"/>
        </p:xfrm>
        <a:graphic>
          <a:graphicData uri="http://schemas.openxmlformats.org/drawingml/2006/table">
            <a:tbl>
              <a:tblPr>
                <a:tableStyleId>{5C22544A-7EE6-4342-B048-85BDC9FD1C3A}</a:tableStyleId>
              </a:tblPr>
              <a:tblGrid>
                <a:gridCol w="356616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gridCol w="1673352">
                  <a:extLst>
                    <a:ext uri="{9D8B030D-6E8A-4147-A177-3AD203B41FA5}">
                      <a16:colId xmlns:a16="http://schemas.microsoft.com/office/drawing/2014/main" val="20004"/>
                    </a:ext>
                  </a:extLst>
                </a:gridCol>
              </a:tblGrid>
              <a:tr h="530352">
                <a:tc>
                  <a:txBody>
                    <a:bodyPr/>
                    <a:lstStyle/>
                    <a:p>
                      <a:pPr algn="ctr"/>
                      <a:r>
                        <a:rPr sz="1300" b="1">
                          <a:solidFill>
                            <a:srgbClr val="FFFFFF"/>
                          </a:solidFill>
                          <a:latin typeface="Arial"/>
                        </a:rPr>
                        <a:t>Feature</a:t>
                      </a:r>
                    </a:p>
                  </a:txBody>
                  <a:tcPr marL="82296" marR="82296" marT="36576" marB="36576" anchor="ctr">
                    <a:solidFill>
                      <a:srgbClr val="211D71"/>
                    </a:solidFill>
                  </a:tcPr>
                </a:tc>
                <a:tc>
                  <a:txBody>
                    <a:bodyPr/>
                    <a:lstStyle/>
                    <a:p>
                      <a:pPr algn="ctr"/>
                      <a:r>
                        <a:rPr sz="1300" b="1">
                          <a:solidFill>
                            <a:srgbClr val="FFFFFF"/>
                          </a:solidFill>
                          <a:latin typeface="Arial"/>
                        </a:rPr>
                        <a:t>Loses per week</a:t>
                      </a:r>
                    </a:p>
                  </a:txBody>
                  <a:tcPr marL="82296" marR="82296" marT="36576" marB="36576" anchor="ctr">
                    <a:solidFill>
                      <a:srgbClr val="211D71"/>
                    </a:solidFill>
                  </a:tcPr>
                </a:tc>
                <a:tc>
                  <a:txBody>
                    <a:bodyPr/>
                    <a:lstStyle/>
                    <a:p>
                      <a:pPr algn="ctr"/>
                      <a:r>
                        <a:rPr sz="1300" b="1">
                          <a:solidFill>
                            <a:srgbClr val="FFFFFF"/>
                          </a:solidFill>
                          <a:latin typeface="Arial"/>
                        </a:rPr>
                        <a:t>Takes</a:t>
                      </a:r>
                    </a:p>
                  </a:txBody>
                  <a:tcPr marL="82296" marR="82296" marT="36576" marB="36576" anchor="ctr">
                    <a:solidFill>
                      <a:srgbClr val="211D71"/>
                    </a:solidFill>
                  </a:tcPr>
                </a:tc>
                <a:tc>
                  <a:txBody>
                    <a:bodyPr/>
                    <a:lstStyle/>
                    <a:p>
                      <a:pPr algn="ctr"/>
                      <a:r>
                        <a:rPr sz="1300" b="1">
                          <a:solidFill>
                            <a:srgbClr val="FFFFFF"/>
                          </a:solidFill>
                          <a:latin typeface="Arial"/>
                        </a:rPr>
                        <a:t>Score  =  loss ÷ weeks</a:t>
                      </a:r>
                    </a:p>
                  </a:txBody>
                  <a:tcPr marL="82296" marR="82296" marT="36576" marB="36576" anchor="ctr">
                    <a:solidFill>
                      <a:srgbClr val="211D71"/>
                    </a:solidFill>
                  </a:tcPr>
                </a:tc>
                <a:tc>
                  <a:txBody>
                    <a:bodyPr/>
                    <a:lstStyle/>
                    <a:p>
                      <a:pPr algn="ctr"/>
                      <a:r>
                        <a:rPr sz="1300" b="1">
                          <a:solidFill>
                            <a:srgbClr val="FFFFFF"/>
                          </a:solidFill>
                          <a:latin typeface="Arial"/>
                        </a:rPr>
                        <a:t>Order</a:t>
                      </a:r>
                    </a:p>
                  </a:txBody>
                  <a:tcPr marL="82296" marR="82296" marT="36576" marB="36576" anchor="ctr">
                    <a:solidFill>
                      <a:srgbClr val="211D71"/>
                    </a:solidFill>
                  </a:tcPr>
                </a:tc>
                <a:extLst>
                  <a:ext uri="{0D108BD9-81ED-4DB2-BD59-A6C34878D82A}">
                    <a16:rowId xmlns:a16="http://schemas.microsoft.com/office/drawing/2014/main" val="10000"/>
                  </a:ext>
                </a:extLst>
              </a:tr>
              <a:tr h="530352">
                <a:tc>
                  <a:txBody>
                    <a:bodyPr/>
                    <a:lstStyle/>
                    <a:p>
                      <a:pPr algn="l"/>
                      <a:r>
                        <a:rPr sz="1400" b="0">
                          <a:solidFill>
                            <a:srgbClr val="22223B"/>
                          </a:solidFill>
                          <a:latin typeface="Arial"/>
                        </a:rPr>
                        <a:t>A   Pay by QR code</a:t>
                      </a:r>
                    </a:p>
                  </a:txBody>
                  <a:tcPr marL="82296" marR="82296" marT="36576" marB="36576" anchor="ctr">
                    <a:solidFill>
                      <a:srgbClr val="F3F4FA"/>
                    </a:solidFill>
                  </a:tcPr>
                </a:tc>
                <a:tc>
                  <a:txBody>
                    <a:bodyPr/>
                    <a:lstStyle/>
                    <a:p>
                      <a:pPr algn="ctr"/>
                      <a:r>
                        <a:rPr sz="1400" b="0">
                          <a:solidFill>
                            <a:srgbClr val="22223B"/>
                          </a:solidFill>
                          <a:latin typeface="Arial"/>
                        </a:rPr>
                        <a:t>₹10</a:t>
                      </a:r>
                    </a:p>
                  </a:txBody>
                  <a:tcPr marL="82296" marR="82296" marT="36576" marB="36576" anchor="ctr">
                    <a:solidFill>
                      <a:srgbClr val="F3F4FA"/>
                    </a:solidFill>
                  </a:tcPr>
                </a:tc>
                <a:tc>
                  <a:txBody>
                    <a:bodyPr/>
                    <a:lstStyle/>
                    <a:p>
                      <a:pPr algn="ctr"/>
                      <a:r>
                        <a:rPr sz="1400" b="0">
                          <a:solidFill>
                            <a:srgbClr val="22223B"/>
                          </a:solidFill>
                          <a:latin typeface="Arial"/>
                        </a:rPr>
                        <a:t>2 weeks</a:t>
                      </a:r>
                    </a:p>
                  </a:txBody>
                  <a:tcPr marL="82296" marR="82296" marT="36576" marB="36576" anchor="ctr">
                    <a:solidFill>
                      <a:srgbClr val="F3F4FA"/>
                    </a:solidFill>
                  </a:tcPr>
                </a:tc>
                <a:tc>
                  <a:txBody>
                    <a:bodyPr/>
                    <a:lstStyle/>
                    <a:p>
                      <a:pPr algn="ctr"/>
                      <a:r>
                        <a:rPr sz="1400" b="1">
                          <a:solidFill>
                            <a:srgbClr val="22223B"/>
                          </a:solidFill>
                          <a:latin typeface="Arial"/>
                        </a:rPr>
                        <a:t>10 ÷ 2  =  5</a:t>
                      </a:r>
                    </a:p>
                  </a:txBody>
                  <a:tcPr marL="82296" marR="82296" marT="36576" marB="36576" anchor="ctr">
                    <a:solidFill>
                      <a:srgbClr val="F3F4FA"/>
                    </a:solidFill>
                  </a:tcPr>
                </a:tc>
                <a:tc>
                  <a:txBody>
                    <a:bodyPr/>
                    <a:lstStyle/>
                    <a:p>
                      <a:pPr algn="ctr"/>
                      <a:r>
                        <a:rPr sz="1400" b="1">
                          <a:solidFill>
                            <a:srgbClr val="E31C24"/>
                          </a:solidFill>
                          <a:latin typeface="Arial"/>
                        </a:rPr>
                        <a:t>1st</a:t>
                      </a:r>
                    </a:p>
                  </a:txBody>
                  <a:tcPr marL="82296" marR="82296" marT="36576" marB="36576" anchor="ctr">
                    <a:solidFill>
                      <a:srgbClr val="F3F4FA"/>
                    </a:solidFill>
                  </a:tcPr>
                </a:tc>
                <a:extLst>
                  <a:ext uri="{0D108BD9-81ED-4DB2-BD59-A6C34878D82A}">
                    <a16:rowId xmlns:a16="http://schemas.microsoft.com/office/drawing/2014/main" val="10001"/>
                  </a:ext>
                </a:extLst>
              </a:tr>
              <a:tr h="530352">
                <a:tc>
                  <a:txBody>
                    <a:bodyPr/>
                    <a:lstStyle/>
                    <a:p>
                      <a:pPr algn="l"/>
                      <a:r>
                        <a:rPr sz="1400" b="0">
                          <a:solidFill>
                            <a:srgbClr val="22223B"/>
                          </a:solidFill>
                          <a:latin typeface="Arial"/>
                        </a:rPr>
                        <a:t>B   New rule from the regulator</a:t>
                      </a:r>
                    </a:p>
                  </a:txBody>
                  <a:tcPr marL="82296" marR="82296" marT="36576" marB="36576" anchor="ctr">
                    <a:solidFill>
                      <a:srgbClr val="FFFFFF"/>
                    </a:solidFill>
                  </a:tcPr>
                </a:tc>
                <a:tc>
                  <a:txBody>
                    <a:bodyPr/>
                    <a:lstStyle/>
                    <a:p>
                      <a:pPr algn="ctr"/>
                      <a:r>
                        <a:rPr sz="1400" b="0">
                          <a:solidFill>
                            <a:srgbClr val="22223B"/>
                          </a:solidFill>
                          <a:latin typeface="Arial"/>
                        </a:rPr>
                        <a:t>₹12</a:t>
                      </a:r>
                    </a:p>
                  </a:txBody>
                  <a:tcPr marL="82296" marR="82296" marT="36576" marB="36576" anchor="ctr">
                    <a:solidFill>
                      <a:srgbClr val="FFFFFF"/>
                    </a:solidFill>
                  </a:tcPr>
                </a:tc>
                <a:tc>
                  <a:txBody>
                    <a:bodyPr/>
                    <a:lstStyle/>
                    <a:p>
                      <a:pPr algn="ctr"/>
                      <a:r>
                        <a:rPr sz="1400" b="0">
                          <a:solidFill>
                            <a:srgbClr val="22223B"/>
                          </a:solidFill>
                          <a:latin typeface="Arial"/>
                        </a:rPr>
                        <a:t>4 weeks</a:t>
                      </a:r>
                    </a:p>
                  </a:txBody>
                  <a:tcPr marL="82296" marR="82296" marT="36576" marB="36576" anchor="ctr">
                    <a:solidFill>
                      <a:srgbClr val="FFFFFF"/>
                    </a:solidFill>
                  </a:tcPr>
                </a:tc>
                <a:tc>
                  <a:txBody>
                    <a:bodyPr/>
                    <a:lstStyle/>
                    <a:p>
                      <a:pPr algn="ctr"/>
                      <a:r>
                        <a:rPr sz="1400" b="1">
                          <a:solidFill>
                            <a:srgbClr val="22223B"/>
                          </a:solidFill>
                          <a:latin typeface="Arial"/>
                        </a:rPr>
                        <a:t>12 ÷ 4  =  3</a:t>
                      </a:r>
                    </a:p>
                  </a:txBody>
                  <a:tcPr marL="82296" marR="82296" marT="36576" marB="36576" anchor="ctr">
                    <a:solidFill>
                      <a:srgbClr val="FFFFFF"/>
                    </a:solidFill>
                  </a:tcPr>
                </a:tc>
                <a:tc>
                  <a:txBody>
                    <a:bodyPr/>
                    <a:lstStyle/>
                    <a:p>
                      <a:pPr algn="ctr"/>
                      <a:r>
                        <a:rPr sz="1400" b="1">
                          <a:solidFill>
                            <a:srgbClr val="22223B"/>
                          </a:solidFill>
                          <a:latin typeface="Arial"/>
                        </a:rPr>
                        <a:t>2nd</a:t>
                      </a:r>
                    </a:p>
                  </a:txBody>
                  <a:tcPr marL="82296" marR="82296" marT="36576" marB="36576" anchor="ctr">
                    <a:solidFill>
                      <a:srgbClr val="FFFFFF"/>
                    </a:solidFill>
                  </a:tcPr>
                </a:tc>
                <a:extLst>
                  <a:ext uri="{0D108BD9-81ED-4DB2-BD59-A6C34878D82A}">
                    <a16:rowId xmlns:a16="http://schemas.microsoft.com/office/drawing/2014/main" val="10002"/>
                  </a:ext>
                </a:extLst>
              </a:tr>
              <a:tr h="530352">
                <a:tc>
                  <a:txBody>
                    <a:bodyPr/>
                    <a:lstStyle/>
                    <a:p>
                      <a:pPr algn="l"/>
                      <a:r>
                        <a:rPr sz="1400" b="0">
                          <a:solidFill>
                            <a:srgbClr val="22223B"/>
                          </a:solidFill>
                          <a:latin typeface="Arial"/>
                        </a:rPr>
                        <a:t>C   Refund a failed payment</a:t>
                      </a:r>
                    </a:p>
                  </a:txBody>
                  <a:tcPr marL="82296" marR="82296" marT="36576" marB="36576" anchor="ctr">
                    <a:solidFill>
                      <a:srgbClr val="F3F4FA"/>
                    </a:solidFill>
                  </a:tcPr>
                </a:tc>
                <a:tc>
                  <a:txBody>
                    <a:bodyPr/>
                    <a:lstStyle/>
                    <a:p>
                      <a:pPr algn="ctr"/>
                      <a:r>
                        <a:rPr sz="1400" b="0">
                          <a:solidFill>
                            <a:srgbClr val="22223B"/>
                          </a:solidFill>
                          <a:latin typeface="Arial"/>
                        </a:rPr>
                        <a:t>₹8</a:t>
                      </a:r>
                    </a:p>
                  </a:txBody>
                  <a:tcPr marL="82296" marR="82296" marT="36576" marB="36576" anchor="ctr">
                    <a:solidFill>
                      <a:srgbClr val="F3F4FA"/>
                    </a:solidFill>
                  </a:tcPr>
                </a:tc>
                <a:tc>
                  <a:txBody>
                    <a:bodyPr/>
                    <a:lstStyle/>
                    <a:p>
                      <a:pPr algn="ctr"/>
                      <a:r>
                        <a:rPr sz="1400" b="0">
                          <a:solidFill>
                            <a:srgbClr val="22223B"/>
                          </a:solidFill>
                          <a:latin typeface="Arial"/>
                        </a:rPr>
                        <a:t>4 weeks</a:t>
                      </a:r>
                    </a:p>
                  </a:txBody>
                  <a:tcPr marL="82296" marR="82296" marT="36576" marB="36576" anchor="ctr">
                    <a:solidFill>
                      <a:srgbClr val="F3F4FA"/>
                    </a:solidFill>
                  </a:tcPr>
                </a:tc>
                <a:tc>
                  <a:txBody>
                    <a:bodyPr/>
                    <a:lstStyle/>
                    <a:p>
                      <a:pPr algn="ctr"/>
                      <a:r>
                        <a:rPr sz="1400" b="1">
                          <a:solidFill>
                            <a:srgbClr val="22223B"/>
                          </a:solidFill>
                          <a:latin typeface="Arial"/>
                        </a:rPr>
                        <a:t>8 ÷ 4  =  2</a:t>
                      </a:r>
                    </a:p>
                  </a:txBody>
                  <a:tcPr marL="82296" marR="82296" marT="36576" marB="36576" anchor="ctr">
                    <a:solidFill>
                      <a:srgbClr val="F3F4FA"/>
                    </a:solidFill>
                  </a:tcPr>
                </a:tc>
                <a:tc>
                  <a:txBody>
                    <a:bodyPr/>
                    <a:lstStyle/>
                    <a:p>
                      <a:pPr algn="ctr"/>
                      <a:r>
                        <a:rPr sz="1400" b="1">
                          <a:solidFill>
                            <a:srgbClr val="22223B"/>
                          </a:solidFill>
                          <a:latin typeface="Arial"/>
                        </a:rPr>
                        <a:t>3rd</a:t>
                      </a:r>
                    </a:p>
                  </a:txBody>
                  <a:tcPr marL="82296" marR="82296" marT="36576" marB="36576" anchor="ctr">
                    <a:solidFill>
                      <a:srgbClr val="F3F4FA"/>
                    </a:solidFill>
                  </a:tcPr>
                </a:tc>
                <a:extLst>
                  <a:ext uri="{0D108BD9-81ED-4DB2-BD59-A6C34878D82A}">
                    <a16:rowId xmlns:a16="http://schemas.microsoft.com/office/drawing/2014/main" val="10003"/>
                  </a:ext>
                </a:extLst>
              </a:tr>
              <a:tr h="530352">
                <a:tc>
                  <a:txBody>
                    <a:bodyPr/>
                    <a:lstStyle/>
                    <a:p>
                      <a:pPr algn="l"/>
                      <a:r>
                        <a:rPr sz="1400" b="0">
                          <a:solidFill>
                            <a:srgbClr val="22223B"/>
                          </a:solidFill>
                          <a:latin typeface="Arial"/>
                        </a:rPr>
                        <a:t>D   Dark mode</a:t>
                      </a:r>
                    </a:p>
                  </a:txBody>
                  <a:tcPr marL="82296" marR="82296" marT="36576" marB="36576" anchor="ctr">
                    <a:solidFill>
                      <a:srgbClr val="FFFFFF"/>
                    </a:solidFill>
                  </a:tcPr>
                </a:tc>
                <a:tc>
                  <a:txBody>
                    <a:bodyPr/>
                    <a:lstStyle/>
                    <a:p>
                      <a:pPr algn="ctr"/>
                      <a:r>
                        <a:rPr sz="1400" b="0">
                          <a:solidFill>
                            <a:srgbClr val="22223B"/>
                          </a:solidFill>
                          <a:latin typeface="Arial"/>
                        </a:rPr>
                        <a:t>₹2</a:t>
                      </a:r>
                    </a:p>
                  </a:txBody>
                  <a:tcPr marL="82296" marR="82296" marT="36576" marB="36576" anchor="ctr">
                    <a:solidFill>
                      <a:srgbClr val="FFFFFF"/>
                    </a:solidFill>
                  </a:tcPr>
                </a:tc>
                <a:tc>
                  <a:txBody>
                    <a:bodyPr/>
                    <a:lstStyle/>
                    <a:p>
                      <a:pPr algn="ctr"/>
                      <a:r>
                        <a:rPr sz="1400" b="0">
                          <a:solidFill>
                            <a:srgbClr val="22223B"/>
                          </a:solidFill>
                          <a:latin typeface="Arial"/>
                        </a:rPr>
                        <a:t>2 weeks</a:t>
                      </a:r>
                    </a:p>
                  </a:txBody>
                  <a:tcPr marL="82296" marR="82296" marT="36576" marB="36576" anchor="ctr">
                    <a:solidFill>
                      <a:srgbClr val="FFFFFF"/>
                    </a:solidFill>
                  </a:tcPr>
                </a:tc>
                <a:tc>
                  <a:txBody>
                    <a:bodyPr/>
                    <a:lstStyle/>
                    <a:p>
                      <a:pPr algn="ctr"/>
                      <a:r>
                        <a:rPr sz="1400" b="1">
                          <a:solidFill>
                            <a:srgbClr val="22223B"/>
                          </a:solidFill>
                          <a:latin typeface="Arial"/>
                        </a:rPr>
                        <a:t>2 ÷ 2  =  1</a:t>
                      </a:r>
                    </a:p>
                  </a:txBody>
                  <a:tcPr marL="82296" marR="82296" marT="36576" marB="36576" anchor="ctr">
                    <a:solidFill>
                      <a:srgbClr val="FFFFFF"/>
                    </a:solidFill>
                  </a:tcPr>
                </a:tc>
                <a:tc>
                  <a:txBody>
                    <a:bodyPr/>
                    <a:lstStyle/>
                    <a:p>
                      <a:pPr algn="ctr"/>
                      <a:r>
                        <a:rPr sz="1400" b="1">
                          <a:solidFill>
                            <a:srgbClr val="22223B"/>
                          </a:solidFill>
                          <a:latin typeface="Arial"/>
                        </a:rPr>
                        <a:t>4th</a:t>
                      </a:r>
                    </a:p>
                  </a:txBody>
                  <a:tcPr marL="82296" marR="82296" marT="36576" marB="36576" anchor="ctr">
                    <a:solidFill>
                      <a:srgbClr val="FFFFFF"/>
                    </a:solidFill>
                  </a:tcPr>
                </a:tc>
                <a:extLst>
                  <a:ext uri="{0D108BD9-81ED-4DB2-BD59-A6C34878D82A}">
                    <a16:rowId xmlns:a16="http://schemas.microsoft.com/office/drawing/2014/main" val="10004"/>
                  </a:ext>
                </a:extLst>
              </a:tr>
            </a:tbl>
          </a:graphicData>
        </a:graphic>
      </p:graphicFrame>
      <p:sp>
        <p:nvSpPr>
          <p:cNvPr id="5" name="Rounded Rectangle 4"/>
          <p:cNvSpPr/>
          <p:nvPr/>
        </p:nvSpPr>
        <p:spPr>
          <a:xfrm>
            <a:off x="640080" y="3950208"/>
            <a:ext cx="10908792" cy="868680"/>
          </a:xfrm>
          <a:prstGeom prst="roundRect">
            <a:avLst>
              <a:gd name="adj" fmla="val 5500"/>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3950208"/>
            <a:ext cx="10908792" cy="868680"/>
          </a:xfrm>
          <a:prstGeom prst="rect">
            <a:avLst/>
          </a:prstGeom>
          <a:noFill/>
        </p:spPr>
        <p:txBody>
          <a:bodyPr wrap="square" lIns="0" tIns="0" rIns="0" bIns="0" anchor="ctr">
            <a:spAutoFit/>
          </a:bodyPr>
          <a:lstStyle/>
          <a:p>
            <a:pPr algn="ctr"/>
            <a:r>
              <a:rPr sz="2500" b="1" i="0">
                <a:solidFill>
                  <a:srgbClr val="FCB017"/>
                </a:solidFill>
                <a:latin typeface="Arial"/>
              </a:rPr>
              <a:t>Order:    A   →   B   →   C   →   D</a:t>
            </a:r>
          </a:p>
        </p:txBody>
      </p:sp>
      <p:sp>
        <p:nvSpPr>
          <p:cNvPr id="7" name="Rounded Rectangle 6"/>
          <p:cNvSpPr/>
          <p:nvPr/>
        </p:nvSpPr>
        <p:spPr>
          <a:xfrm>
            <a:off x="640080" y="4956048"/>
            <a:ext cx="5335524" cy="128016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9536" y="5138928"/>
            <a:ext cx="4896612" cy="310896"/>
          </a:xfrm>
          <a:prstGeom prst="rect">
            <a:avLst/>
          </a:prstGeom>
          <a:noFill/>
        </p:spPr>
        <p:txBody>
          <a:bodyPr wrap="square" lIns="0" tIns="0" rIns="0" bIns="0" anchor="t">
            <a:spAutoFit/>
          </a:bodyPr>
          <a:lstStyle/>
          <a:p>
            <a:pPr algn="l"/>
            <a:r>
              <a:rPr sz="1400" b="1" i="0">
                <a:solidFill>
                  <a:srgbClr val="211D71"/>
                </a:solidFill>
                <a:latin typeface="Arial"/>
              </a:rPr>
              <a:t>B loses the most, but goes second</a:t>
            </a:r>
          </a:p>
        </p:txBody>
      </p:sp>
      <p:sp>
        <p:nvSpPr>
          <p:cNvPr id="9" name="TextBox 8"/>
          <p:cNvSpPr txBox="1"/>
          <p:nvPr/>
        </p:nvSpPr>
        <p:spPr>
          <a:xfrm>
            <a:off x="859536" y="5504688"/>
            <a:ext cx="4896612" cy="585215"/>
          </a:xfrm>
          <a:prstGeom prst="rect">
            <a:avLst/>
          </a:prstGeom>
          <a:noFill/>
        </p:spPr>
        <p:txBody>
          <a:bodyPr wrap="square" lIns="0" tIns="0" rIns="0" bIns="0" anchor="t">
            <a:spAutoFit/>
          </a:bodyPr>
          <a:lstStyle/>
          <a:p>
            <a:pPr algn="l">
              <a:lnSpc>
                <a:spcPts val="1700"/>
              </a:lnSpc>
            </a:pPr>
            <a:r>
              <a:rPr sz="1300" b="0" i="0">
                <a:solidFill>
                  <a:srgbClr val="22223B"/>
                </a:solidFill>
                <a:latin typeface="Arial"/>
              </a:rPr>
              <a:t>₹12 a week is the biggest number on the table. It still waits, because it takes twice as long as A.</a:t>
            </a:r>
          </a:p>
        </p:txBody>
      </p:sp>
      <p:sp>
        <p:nvSpPr>
          <p:cNvPr id="10" name="Rounded Rectangle 9"/>
          <p:cNvSpPr/>
          <p:nvPr/>
        </p:nvSpPr>
        <p:spPr>
          <a:xfrm>
            <a:off x="6213348" y="4956048"/>
            <a:ext cx="5335524" cy="128016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32804" y="5138928"/>
            <a:ext cx="4896612" cy="310896"/>
          </a:xfrm>
          <a:prstGeom prst="rect">
            <a:avLst/>
          </a:prstGeom>
          <a:noFill/>
        </p:spPr>
        <p:txBody>
          <a:bodyPr wrap="square" lIns="0" tIns="0" rIns="0" bIns="0" anchor="t">
            <a:spAutoFit/>
          </a:bodyPr>
          <a:lstStyle/>
          <a:p>
            <a:pPr algn="l"/>
            <a:r>
              <a:rPr sz="1400" b="1" i="0">
                <a:solidFill>
                  <a:srgbClr val="211D71"/>
                </a:solidFill>
                <a:latin typeface="Arial"/>
              </a:rPr>
              <a:t>D is quick, but goes last</a:t>
            </a:r>
          </a:p>
        </p:txBody>
      </p:sp>
      <p:sp>
        <p:nvSpPr>
          <p:cNvPr id="12" name="TextBox 11"/>
          <p:cNvSpPr txBox="1"/>
          <p:nvPr/>
        </p:nvSpPr>
        <p:spPr>
          <a:xfrm>
            <a:off x="6432804" y="5504688"/>
            <a:ext cx="4896612" cy="585215"/>
          </a:xfrm>
          <a:prstGeom prst="rect">
            <a:avLst/>
          </a:prstGeom>
          <a:noFill/>
        </p:spPr>
        <p:txBody>
          <a:bodyPr wrap="square" lIns="0" tIns="0" rIns="0" bIns="0" anchor="t">
            <a:spAutoFit/>
          </a:bodyPr>
          <a:lstStyle/>
          <a:p>
            <a:pPr algn="l">
              <a:lnSpc>
                <a:spcPts val="1700"/>
              </a:lnSpc>
            </a:pPr>
            <a:r>
              <a:rPr sz="1300" b="0" i="0">
                <a:solidFill>
                  <a:srgbClr val="22223B"/>
                </a:solidFill>
                <a:latin typeface="Arial"/>
              </a:rPr>
              <a:t>Two weeks is the joint-fastest job here. Being fast is not a reason to go first if nobody is losing much.</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74320"/>
            <a:ext cx="10908792" cy="237744"/>
          </a:xfrm>
          <a:prstGeom prst="rect">
            <a:avLst/>
          </a:prstGeom>
          <a:noFill/>
        </p:spPr>
        <p:txBody>
          <a:bodyPr wrap="square" lIns="0" tIns="0" rIns="0" bIns="0" anchor="t">
            <a:spAutoFit/>
          </a:bodyPr>
          <a:lstStyle/>
          <a:p>
            <a:pPr algn="l"/>
            <a:r>
              <a:rPr sz="1000" b="1" i="0" spc="140">
                <a:solidFill>
                  <a:srgbClr val="A9740A"/>
                </a:solidFill>
                <a:latin typeface="Arial"/>
              </a:rPr>
              <a:t>CASE STUDY</a:t>
            </a:r>
          </a:p>
        </p:txBody>
      </p:sp>
      <p:sp>
        <p:nvSpPr>
          <p:cNvPr id="3" name="TextBox 2"/>
          <p:cNvSpPr txBox="1"/>
          <p:nvPr/>
        </p:nvSpPr>
        <p:spPr>
          <a:xfrm>
            <a:off x="640080" y="548640"/>
            <a:ext cx="8229600" cy="640080"/>
          </a:xfrm>
          <a:prstGeom prst="rect">
            <a:avLst/>
          </a:prstGeom>
          <a:noFill/>
        </p:spPr>
        <p:txBody>
          <a:bodyPr wrap="square" lIns="0" tIns="0" rIns="0" bIns="0" anchor="t">
            <a:spAutoFit/>
          </a:bodyPr>
          <a:lstStyle/>
          <a:p>
            <a:pPr algn="l"/>
            <a:r>
              <a:rPr sz="2400" b="1" i="0">
                <a:solidFill>
                  <a:srgbClr val="211D71"/>
                </a:solidFill>
                <a:latin typeface="Arial"/>
              </a:rPr>
              <a:t>Step 2 — count what each order costs</a:t>
            </a:r>
          </a:p>
        </p:txBody>
      </p:sp>
      <p:sp>
        <p:nvSpPr>
          <p:cNvPr id="4" name="Rounded Rectangle 3"/>
          <p:cNvSpPr/>
          <p:nvPr/>
        </p:nvSpPr>
        <p:spPr>
          <a:xfrm>
            <a:off x="640080" y="1572768"/>
            <a:ext cx="5349240" cy="2514600"/>
          </a:xfrm>
          <a:prstGeom prst="roundRect">
            <a:avLst>
              <a:gd name="adj" fmla="val 5500"/>
            </a:avLst>
          </a:prstGeom>
          <a:solidFill>
            <a:srgbClr val="E8F5EE"/>
          </a:solidFill>
          <a:ln w="15875">
            <a:solidFill>
              <a:srgbClr val="1E7A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719072"/>
            <a:ext cx="4800600" cy="274320"/>
          </a:xfrm>
          <a:prstGeom prst="rect">
            <a:avLst/>
          </a:prstGeom>
          <a:noFill/>
        </p:spPr>
        <p:txBody>
          <a:bodyPr wrap="square" lIns="0" tIns="0" rIns="0" bIns="0" anchor="t">
            <a:spAutoFit/>
          </a:bodyPr>
          <a:lstStyle/>
          <a:p>
            <a:pPr algn="l"/>
            <a:r>
              <a:rPr sz="1450" b="1" i="0">
                <a:solidFill>
                  <a:srgbClr val="1E7A4C"/>
                </a:solidFill>
                <a:latin typeface="Arial"/>
              </a:rPr>
              <a:t>Our order:  A → B → C → D</a:t>
            </a:r>
          </a:p>
        </p:txBody>
      </p:sp>
      <p:sp>
        <p:nvSpPr>
          <p:cNvPr id="6" name="TextBox 5"/>
          <p:cNvSpPr txBox="1"/>
          <p:nvPr/>
        </p:nvSpPr>
        <p:spPr>
          <a:xfrm>
            <a:off x="914400" y="2075688"/>
            <a:ext cx="4800600" cy="1874519"/>
          </a:xfrm>
          <a:prstGeom prst="rect">
            <a:avLst/>
          </a:prstGeom>
          <a:noFill/>
        </p:spPr>
        <p:txBody>
          <a:bodyPr wrap="square" lIns="0" tIns="0" rIns="0" bIns="0" anchor="t">
            <a:spAutoFit/>
          </a:bodyPr>
          <a:lstStyle/>
          <a:p>
            <a:pPr algn="l">
              <a:lnSpc>
                <a:spcPts val="2500"/>
              </a:lnSpc>
            </a:pPr>
            <a:r>
              <a:rPr sz="1450" b="0" i="0">
                <a:solidFill>
                  <a:srgbClr val="22223B"/>
                </a:solidFill>
                <a:latin typeface="Arial"/>
              </a:rPr>
              <a:t>A finishes week 2   →   10 × 2  =  20</a:t>
            </a:r>
          </a:p>
          <a:p>
            <a:pPr algn="l">
              <a:lnSpc>
                <a:spcPts val="2500"/>
              </a:lnSpc>
            </a:pPr>
            <a:r>
              <a:rPr sz="1450" b="0" i="0">
                <a:solidFill>
                  <a:srgbClr val="22223B"/>
                </a:solidFill>
                <a:latin typeface="Arial"/>
              </a:rPr>
              <a:t>B finishes week 6   →   12 × 6  =  72</a:t>
            </a:r>
          </a:p>
          <a:p>
            <a:pPr algn="l">
              <a:lnSpc>
                <a:spcPts val="2500"/>
              </a:lnSpc>
            </a:pPr>
            <a:r>
              <a:rPr sz="1450" b="0" i="0">
                <a:solidFill>
                  <a:srgbClr val="22223B"/>
                </a:solidFill>
                <a:latin typeface="Arial"/>
              </a:rPr>
              <a:t>C finishes week 10  →   8 × 10  =  80</a:t>
            </a:r>
          </a:p>
          <a:p>
            <a:pPr algn="l">
              <a:lnSpc>
                <a:spcPts val="2500"/>
              </a:lnSpc>
            </a:pPr>
            <a:r>
              <a:rPr sz="1450" b="0" i="0">
                <a:solidFill>
                  <a:srgbClr val="22223B"/>
                </a:solidFill>
                <a:latin typeface="Arial"/>
              </a:rPr>
              <a:t>D finishes week 12  →   2 × 12  =  24</a:t>
            </a:r>
          </a:p>
          <a:p>
            <a:pPr algn="l">
              <a:lnSpc>
                <a:spcPts val="2500"/>
              </a:lnSpc>
            </a:pPr>
            <a:r>
              <a:rPr sz="1450" b="1" i="0">
                <a:solidFill>
                  <a:srgbClr val="1E7A4C"/>
                </a:solidFill>
                <a:latin typeface="Arial"/>
              </a:rPr>
              <a:t>Total lost  =  ₹196 lakh</a:t>
            </a:r>
          </a:p>
        </p:txBody>
      </p:sp>
      <p:sp>
        <p:nvSpPr>
          <p:cNvPr id="7" name="Rounded Rectangle 6"/>
          <p:cNvSpPr/>
          <p:nvPr/>
        </p:nvSpPr>
        <p:spPr>
          <a:xfrm>
            <a:off x="6263640" y="1572768"/>
            <a:ext cx="5349240" cy="2514600"/>
          </a:xfrm>
          <a:prstGeom prst="roundRect">
            <a:avLst>
              <a:gd name="adj" fmla="val 5500"/>
            </a:avLst>
          </a:prstGeom>
          <a:solidFill>
            <a:srgbClr val="FBE9E9"/>
          </a:solidFill>
          <a:ln w="15875">
            <a:solidFill>
              <a:srgbClr val="E31C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37960" y="1719072"/>
            <a:ext cx="4800600" cy="274320"/>
          </a:xfrm>
          <a:prstGeom prst="rect">
            <a:avLst/>
          </a:prstGeom>
          <a:noFill/>
        </p:spPr>
        <p:txBody>
          <a:bodyPr wrap="square" lIns="0" tIns="0" rIns="0" bIns="0" anchor="t">
            <a:spAutoFit/>
          </a:bodyPr>
          <a:lstStyle/>
          <a:p>
            <a:pPr algn="l"/>
            <a:r>
              <a:rPr sz="1450" b="1" i="0">
                <a:solidFill>
                  <a:srgbClr val="E31C24"/>
                </a:solidFill>
                <a:latin typeface="Arial"/>
              </a:rPr>
              <a:t>Gut feel:  biggest loss first,  B → A → C → D</a:t>
            </a:r>
          </a:p>
        </p:txBody>
      </p:sp>
      <p:sp>
        <p:nvSpPr>
          <p:cNvPr id="9" name="TextBox 8"/>
          <p:cNvSpPr txBox="1"/>
          <p:nvPr/>
        </p:nvSpPr>
        <p:spPr>
          <a:xfrm>
            <a:off x="6537960" y="2075688"/>
            <a:ext cx="4800600" cy="1874519"/>
          </a:xfrm>
          <a:prstGeom prst="rect">
            <a:avLst/>
          </a:prstGeom>
          <a:noFill/>
        </p:spPr>
        <p:txBody>
          <a:bodyPr wrap="square" lIns="0" tIns="0" rIns="0" bIns="0" anchor="t">
            <a:spAutoFit/>
          </a:bodyPr>
          <a:lstStyle/>
          <a:p>
            <a:pPr algn="l">
              <a:lnSpc>
                <a:spcPts val="2500"/>
              </a:lnSpc>
            </a:pPr>
            <a:r>
              <a:rPr sz="1450" b="0" i="0">
                <a:solidFill>
                  <a:srgbClr val="22223B"/>
                </a:solidFill>
                <a:latin typeface="Arial"/>
              </a:rPr>
              <a:t>B finishes week 4   →   12 × 4  =  48</a:t>
            </a:r>
          </a:p>
          <a:p>
            <a:pPr algn="l">
              <a:lnSpc>
                <a:spcPts val="2500"/>
              </a:lnSpc>
            </a:pPr>
            <a:r>
              <a:rPr sz="1450" b="0" i="0">
                <a:solidFill>
                  <a:srgbClr val="22223B"/>
                </a:solidFill>
                <a:latin typeface="Arial"/>
              </a:rPr>
              <a:t>A finishes week 6   →   10 × 6  =  60</a:t>
            </a:r>
          </a:p>
          <a:p>
            <a:pPr algn="l">
              <a:lnSpc>
                <a:spcPts val="2500"/>
              </a:lnSpc>
            </a:pPr>
            <a:r>
              <a:rPr sz="1450" b="0" i="0">
                <a:solidFill>
                  <a:srgbClr val="22223B"/>
                </a:solidFill>
                <a:latin typeface="Arial"/>
              </a:rPr>
              <a:t>C finishes week 10  →   8 × 10  =  80</a:t>
            </a:r>
          </a:p>
          <a:p>
            <a:pPr algn="l">
              <a:lnSpc>
                <a:spcPts val="2500"/>
              </a:lnSpc>
            </a:pPr>
            <a:r>
              <a:rPr sz="1450" b="0" i="0">
                <a:solidFill>
                  <a:srgbClr val="22223B"/>
                </a:solidFill>
                <a:latin typeface="Arial"/>
              </a:rPr>
              <a:t>D finishes week 12  →   2 × 12  =  24</a:t>
            </a:r>
          </a:p>
          <a:p>
            <a:pPr algn="l">
              <a:lnSpc>
                <a:spcPts val="2500"/>
              </a:lnSpc>
            </a:pPr>
            <a:r>
              <a:rPr sz="1450" b="1" i="0">
                <a:solidFill>
                  <a:srgbClr val="E31C24"/>
                </a:solidFill>
                <a:latin typeface="Arial"/>
              </a:rPr>
              <a:t>Total lost  =  ₹212 lakh</a:t>
            </a:r>
          </a:p>
        </p:txBody>
      </p:sp>
      <p:graphicFrame>
        <p:nvGraphicFramePr>
          <p:cNvPr id="10" name="Chart 9"/>
          <p:cNvGraphicFramePr>
            <a:graphicFrameLocks noGrp="1"/>
          </p:cNvGraphicFramePr>
          <p:nvPr/>
        </p:nvGraphicFramePr>
        <p:xfrm>
          <a:off x="640080" y="4133088"/>
          <a:ext cx="6858000" cy="2148840"/>
        </p:xfrm>
        <a:graphic>
          <a:graphicData uri="http://schemas.openxmlformats.org/drawingml/2006/chart">
            <c:chart xmlns:c="http://schemas.openxmlformats.org/drawingml/2006/chart" xmlns:r="http://schemas.openxmlformats.org/officeDocument/2006/relationships" r:id="rId3"/>
          </a:graphicData>
        </a:graphic>
      </p:graphicFrame>
      <p:sp>
        <p:nvSpPr>
          <p:cNvPr id="11" name="Rounded Rectangle 10"/>
          <p:cNvSpPr/>
          <p:nvPr/>
        </p:nvSpPr>
        <p:spPr>
          <a:xfrm>
            <a:off x="7772400" y="4178808"/>
            <a:ext cx="3840480" cy="621792"/>
          </a:xfrm>
          <a:prstGeom prst="roundRect">
            <a:avLst>
              <a:gd name="adj" fmla="val 5500"/>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909560" y="4178808"/>
            <a:ext cx="1097280" cy="621792"/>
          </a:xfrm>
          <a:prstGeom prst="rect">
            <a:avLst/>
          </a:prstGeom>
          <a:noFill/>
        </p:spPr>
        <p:txBody>
          <a:bodyPr wrap="square" lIns="0" tIns="0" rIns="0" bIns="0" anchor="ctr">
            <a:spAutoFit/>
          </a:bodyPr>
          <a:lstStyle/>
          <a:p>
            <a:pPr algn="l"/>
            <a:r>
              <a:rPr sz="1900" b="1" i="0">
                <a:solidFill>
                  <a:srgbClr val="FCB017"/>
                </a:solidFill>
                <a:latin typeface="Arial"/>
              </a:rPr>
              <a:t>₹16 L</a:t>
            </a:r>
          </a:p>
        </p:txBody>
      </p:sp>
      <p:sp>
        <p:nvSpPr>
          <p:cNvPr id="13" name="TextBox 12"/>
          <p:cNvSpPr txBox="1"/>
          <p:nvPr/>
        </p:nvSpPr>
        <p:spPr>
          <a:xfrm>
            <a:off x="9052559" y="4178808"/>
            <a:ext cx="2468880" cy="621792"/>
          </a:xfrm>
          <a:prstGeom prst="rect">
            <a:avLst/>
          </a:prstGeom>
          <a:noFill/>
        </p:spPr>
        <p:txBody>
          <a:bodyPr wrap="square" lIns="0" tIns="0" rIns="0" bIns="0" anchor="ctr">
            <a:spAutoFit/>
          </a:bodyPr>
          <a:lstStyle/>
          <a:p>
            <a:pPr algn="l">
              <a:lnSpc>
                <a:spcPts val="1400"/>
              </a:lnSpc>
            </a:pPr>
            <a:r>
              <a:rPr sz="1100" b="0" i="0">
                <a:solidFill>
                  <a:srgbClr val="D8DBF0"/>
                </a:solidFill>
                <a:latin typeface="Arial"/>
              </a:rPr>
              <a:t>saved against the instinctive answer</a:t>
            </a:r>
          </a:p>
        </p:txBody>
      </p:sp>
      <p:sp>
        <p:nvSpPr>
          <p:cNvPr id="14" name="Rounded Rectangle 13"/>
          <p:cNvSpPr/>
          <p:nvPr/>
        </p:nvSpPr>
        <p:spPr>
          <a:xfrm>
            <a:off x="7772400" y="4892040"/>
            <a:ext cx="3840480" cy="621792"/>
          </a:xfrm>
          <a:prstGeom prst="roundRect">
            <a:avLst>
              <a:gd name="adj" fmla="val 5500"/>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909560" y="4892040"/>
            <a:ext cx="1097280" cy="621792"/>
          </a:xfrm>
          <a:prstGeom prst="rect">
            <a:avLst/>
          </a:prstGeom>
          <a:noFill/>
        </p:spPr>
        <p:txBody>
          <a:bodyPr wrap="square" lIns="0" tIns="0" rIns="0" bIns="0" anchor="ctr">
            <a:spAutoFit/>
          </a:bodyPr>
          <a:lstStyle/>
          <a:p>
            <a:pPr algn="l"/>
            <a:r>
              <a:rPr sz="1900" b="1" i="0">
                <a:solidFill>
                  <a:srgbClr val="FCB017"/>
                </a:solidFill>
                <a:latin typeface="Arial"/>
              </a:rPr>
              <a:t>₹88 L</a:t>
            </a:r>
          </a:p>
        </p:txBody>
      </p:sp>
      <p:sp>
        <p:nvSpPr>
          <p:cNvPr id="16" name="TextBox 15"/>
          <p:cNvSpPr txBox="1"/>
          <p:nvPr/>
        </p:nvSpPr>
        <p:spPr>
          <a:xfrm>
            <a:off x="9052559" y="4892040"/>
            <a:ext cx="2468880" cy="621792"/>
          </a:xfrm>
          <a:prstGeom prst="rect">
            <a:avLst/>
          </a:prstGeom>
          <a:noFill/>
        </p:spPr>
        <p:txBody>
          <a:bodyPr wrap="square" lIns="0" tIns="0" rIns="0" bIns="0" anchor="ctr">
            <a:spAutoFit/>
          </a:bodyPr>
          <a:lstStyle/>
          <a:p>
            <a:pPr algn="l">
              <a:lnSpc>
                <a:spcPts val="1400"/>
              </a:lnSpc>
            </a:pPr>
            <a:r>
              <a:rPr sz="1100" b="0" i="0">
                <a:solidFill>
                  <a:srgbClr val="D8DBF0"/>
                </a:solidFill>
                <a:latin typeface="Arial"/>
              </a:rPr>
              <a:t>saved against the order they were asked for</a:t>
            </a:r>
          </a:p>
        </p:txBody>
      </p:sp>
      <p:sp>
        <p:nvSpPr>
          <p:cNvPr id="17" name="Rounded Rectangle 16"/>
          <p:cNvSpPr/>
          <p:nvPr/>
        </p:nvSpPr>
        <p:spPr>
          <a:xfrm>
            <a:off x="7772400" y="5605272"/>
            <a:ext cx="3840480" cy="621792"/>
          </a:xfrm>
          <a:prstGeom prst="roundRect">
            <a:avLst>
              <a:gd name="adj" fmla="val 5500"/>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909560" y="5605272"/>
            <a:ext cx="1097280" cy="621792"/>
          </a:xfrm>
          <a:prstGeom prst="rect">
            <a:avLst/>
          </a:prstGeom>
          <a:noFill/>
        </p:spPr>
        <p:txBody>
          <a:bodyPr wrap="square" lIns="0" tIns="0" rIns="0" bIns="0" anchor="ctr">
            <a:spAutoFit/>
          </a:bodyPr>
          <a:lstStyle/>
          <a:p>
            <a:pPr algn="l"/>
            <a:r>
              <a:rPr sz="1900" b="1" i="0">
                <a:solidFill>
                  <a:srgbClr val="FCB017"/>
                </a:solidFill>
                <a:latin typeface="Arial"/>
              </a:rPr>
              <a:t>₹0</a:t>
            </a:r>
          </a:p>
        </p:txBody>
      </p:sp>
      <p:sp>
        <p:nvSpPr>
          <p:cNvPr id="19" name="TextBox 18"/>
          <p:cNvSpPr txBox="1"/>
          <p:nvPr/>
        </p:nvSpPr>
        <p:spPr>
          <a:xfrm>
            <a:off x="9052559" y="5605272"/>
            <a:ext cx="2468880" cy="621792"/>
          </a:xfrm>
          <a:prstGeom prst="rect">
            <a:avLst/>
          </a:prstGeom>
          <a:noFill/>
        </p:spPr>
        <p:txBody>
          <a:bodyPr wrap="square" lIns="0" tIns="0" rIns="0" bIns="0" anchor="ctr">
            <a:spAutoFit/>
          </a:bodyPr>
          <a:lstStyle/>
          <a:p>
            <a:pPr algn="l">
              <a:lnSpc>
                <a:spcPts val="1400"/>
              </a:lnSpc>
            </a:pPr>
            <a:r>
              <a:rPr sz="1100" b="0" i="0">
                <a:solidFill>
                  <a:srgbClr val="D8DBF0"/>
                </a:solidFill>
                <a:latin typeface="Arial"/>
              </a:rPr>
              <a:t>extra spent — same team, same 12 weeks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74320"/>
            <a:ext cx="10908792" cy="237744"/>
          </a:xfrm>
          <a:prstGeom prst="rect">
            <a:avLst/>
          </a:prstGeom>
          <a:noFill/>
        </p:spPr>
        <p:txBody>
          <a:bodyPr wrap="square" lIns="0" tIns="0" rIns="0" bIns="0" anchor="t">
            <a:spAutoFit/>
          </a:bodyPr>
          <a:lstStyle/>
          <a:p>
            <a:pPr algn="l"/>
            <a:r>
              <a:rPr sz="1000" b="1" i="0" spc="140">
                <a:solidFill>
                  <a:srgbClr val="A9740A"/>
                </a:solidFill>
                <a:latin typeface="Arial"/>
              </a:rPr>
              <a:t>CASE STUDY</a:t>
            </a:r>
          </a:p>
        </p:txBody>
      </p:sp>
      <p:sp>
        <p:nvSpPr>
          <p:cNvPr id="3" name="TextBox 2"/>
          <p:cNvSpPr txBox="1"/>
          <p:nvPr/>
        </p:nvSpPr>
        <p:spPr>
          <a:xfrm>
            <a:off x="640080" y="548640"/>
            <a:ext cx="8229600" cy="640080"/>
          </a:xfrm>
          <a:prstGeom prst="rect">
            <a:avLst/>
          </a:prstGeom>
          <a:noFill/>
        </p:spPr>
        <p:txBody>
          <a:bodyPr wrap="square" lIns="0" tIns="0" rIns="0" bIns="0" anchor="t">
            <a:spAutoFit/>
          </a:bodyPr>
          <a:lstStyle/>
          <a:p>
            <a:pPr algn="l"/>
            <a:r>
              <a:rPr sz="2400" b="1" i="0">
                <a:solidFill>
                  <a:srgbClr val="211D71"/>
                </a:solidFill>
                <a:latin typeface="Arial"/>
              </a:rPr>
              <a:t>Step 3 — what about the deadline?</a:t>
            </a:r>
          </a:p>
        </p:txBody>
      </p:sp>
      <p:sp>
        <p:nvSpPr>
          <p:cNvPr id="4" name="TextBox 3"/>
          <p:cNvSpPr txBox="1"/>
          <p:nvPr/>
        </p:nvSpPr>
        <p:spPr>
          <a:xfrm>
            <a:off x="640080" y="1572768"/>
            <a:ext cx="10908792" cy="310896"/>
          </a:xfrm>
          <a:prstGeom prst="rect">
            <a:avLst/>
          </a:prstGeom>
          <a:noFill/>
        </p:spPr>
        <p:txBody>
          <a:bodyPr wrap="square" lIns="0" tIns="0" rIns="0" bIns="0" anchor="t">
            <a:spAutoFit/>
          </a:bodyPr>
          <a:lstStyle/>
          <a:p>
            <a:pPr algn="l"/>
            <a:r>
              <a:rPr sz="1500" b="0" i="0">
                <a:solidFill>
                  <a:srgbClr val="22223B"/>
                </a:solidFill>
                <a:latin typeface="Arial"/>
              </a:rPr>
              <a:t>B is a rule from the regulator with a hard date in week 10. Does A → B → C → D still work?</a:t>
            </a:r>
          </a:p>
        </p:txBody>
      </p:sp>
      <p:sp>
        <p:nvSpPr>
          <p:cNvPr id="5" name="Rounded Rectangle 4"/>
          <p:cNvSpPr/>
          <p:nvPr/>
        </p:nvSpPr>
        <p:spPr>
          <a:xfrm>
            <a:off x="640080" y="1984248"/>
            <a:ext cx="5271516" cy="2286000"/>
          </a:xfrm>
          <a:prstGeom prst="roundRect">
            <a:avLst>
              <a:gd name="adj" fmla="val 5500"/>
            </a:avLst>
          </a:prstGeom>
          <a:solidFill>
            <a:srgbClr val="E8F5EE"/>
          </a:solidFill>
          <a:ln w="15875">
            <a:solidFill>
              <a:srgbClr val="1E7A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96112" y="2167128"/>
            <a:ext cx="4759452" cy="347472"/>
          </a:xfrm>
          <a:prstGeom prst="rect">
            <a:avLst/>
          </a:prstGeom>
          <a:noFill/>
        </p:spPr>
        <p:txBody>
          <a:bodyPr wrap="square" lIns="0" tIns="0" rIns="0" bIns="0" anchor="t">
            <a:spAutoFit/>
          </a:bodyPr>
          <a:lstStyle/>
          <a:p>
            <a:pPr algn="l"/>
            <a:r>
              <a:rPr sz="1600" b="1" i="0">
                <a:solidFill>
                  <a:srgbClr val="1E7A4C"/>
                </a:solidFill>
                <a:latin typeface="Arial"/>
              </a:rPr>
              <a:t>✓   Yes — this time</a:t>
            </a:r>
          </a:p>
        </p:txBody>
      </p:sp>
      <p:sp>
        <p:nvSpPr>
          <p:cNvPr id="7" name="TextBox 6"/>
          <p:cNvSpPr txBox="1"/>
          <p:nvPr/>
        </p:nvSpPr>
        <p:spPr>
          <a:xfrm>
            <a:off x="896112" y="2642615"/>
            <a:ext cx="4759452" cy="1444752"/>
          </a:xfrm>
          <a:prstGeom prst="rect">
            <a:avLst/>
          </a:prstGeom>
          <a:noFill/>
        </p:spPr>
        <p:txBody>
          <a:bodyPr wrap="square" lIns="0" tIns="0" rIns="0" bIns="0">
            <a:spAutoFit/>
          </a:bodyPr>
          <a:lstStyle/>
          <a:p>
            <a:pPr marL="173736" indent="-173736">
              <a:lnSpc>
                <a:spcPts val="1900"/>
              </a:lnSpc>
              <a:spcAft>
                <a:spcPts val="1000"/>
              </a:spcAft>
              <a:buChar char="•"/>
            </a:pPr>
            <a:r>
              <a:rPr sz="1400" b="0">
                <a:solidFill>
                  <a:srgbClr val="22223B"/>
                </a:solidFill>
                <a:latin typeface="Arial"/>
              </a:rPr>
              <a:t>In our order, B finishes in week 6.</a:t>
            </a:r>
          </a:p>
          <a:p>
            <a:pPr marL="173736" indent="-173736">
              <a:lnSpc>
                <a:spcPts val="1900"/>
              </a:lnSpc>
              <a:spcAft>
                <a:spcPts val="1000"/>
              </a:spcAft>
              <a:buChar char="•"/>
            </a:pPr>
            <a:r>
              <a:rPr sz="1400" b="0">
                <a:solidFill>
                  <a:srgbClr val="22223B"/>
                </a:solidFill>
                <a:latin typeface="Arial"/>
              </a:rPr>
              <a:t>That is four weeks before the deadline.</a:t>
            </a:r>
          </a:p>
          <a:p>
            <a:pPr marL="173736" indent="-173736">
              <a:lnSpc>
                <a:spcPts val="1900"/>
              </a:lnSpc>
              <a:spcAft>
                <a:spcPts val="1000"/>
              </a:spcAft>
              <a:buChar char="•"/>
            </a:pPr>
            <a:r>
              <a:rPr sz="1400" b="0">
                <a:solidFill>
                  <a:srgbClr val="22223B"/>
                </a:solidFill>
                <a:latin typeface="Arial"/>
              </a:rPr>
              <a:t>So the cheapest order also happens to be legal.</a:t>
            </a:r>
          </a:p>
          <a:p>
            <a:pPr marL="173736" indent="-173736">
              <a:lnSpc>
                <a:spcPts val="1900"/>
              </a:lnSpc>
              <a:spcAft>
                <a:spcPts val="1000"/>
              </a:spcAft>
              <a:buChar char="•"/>
            </a:pPr>
            <a:r>
              <a:rPr sz="1400" b="0">
                <a:solidFill>
                  <a:srgbClr val="22223B"/>
                </a:solidFill>
                <a:latin typeface="Arial"/>
              </a:rPr>
              <a:t>Always check. Do not assume there is a conflict.</a:t>
            </a:r>
          </a:p>
        </p:txBody>
      </p:sp>
      <p:sp>
        <p:nvSpPr>
          <p:cNvPr id="8" name="Rounded Rectangle 7"/>
          <p:cNvSpPr/>
          <p:nvPr/>
        </p:nvSpPr>
        <p:spPr>
          <a:xfrm>
            <a:off x="6277356" y="1984248"/>
            <a:ext cx="5271516" cy="2286000"/>
          </a:xfrm>
          <a:prstGeom prst="roundRect">
            <a:avLst>
              <a:gd name="adj" fmla="val 5500"/>
            </a:avLst>
          </a:prstGeom>
          <a:solidFill>
            <a:srgbClr val="FBE9E9"/>
          </a:solidFill>
          <a:ln w="15875">
            <a:solidFill>
              <a:srgbClr val="E31C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33388" y="2167128"/>
            <a:ext cx="4759452" cy="347472"/>
          </a:xfrm>
          <a:prstGeom prst="rect">
            <a:avLst/>
          </a:prstGeom>
          <a:noFill/>
        </p:spPr>
        <p:txBody>
          <a:bodyPr wrap="square" lIns="0" tIns="0" rIns="0" bIns="0" anchor="t">
            <a:spAutoFit/>
          </a:bodyPr>
          <a:lstStyle/>
          <a:p>
            <a:pPr algn="l"/>
            <a:r>
              <a:rPr sz="1600" b="1" i="0">
                <a:solidFill>
                  <a:srgbClr val="E31C24"/>
                </a:solidFill>
                <a:latin typeface="Arial"/>
              </a:rPr>
              <a:t>✗   But it could easily have failed</a:t>
            </a:r>
          </a:p>
        </p:txBody>
      </p:sp>
      <p:sp>
        <p:nvSpPr>
          <p:cNvPr id="10" name="TextBox 9"/>
          <p:cNvSpPr txBox="1"/>
          <p:nvPr/>
        </p:nvSpPr>
        <p:spPr>
          <a:xfrm>
            <a:off x="6533388" y="2642615"/>
            <a:ext cx="4759452" cy="1444752"/>
          </a:xfrm>
          <a:prstGeom prst="rect">
            <a:avLst/>
          </a:prstGeom>
          <a:noFill/>
        </p:spPr>
        <p:txBody>
          <a:bodyPr wrap="square" lIns="0" tIns="0" rIns="0" bIns="0">
            <a:spAutoFit/>
          </a:bodyPr>
          <a:lstStyle/>
          <a:p>
            <a:pPr marL="173736" indent="-173736">
              <a:lnSpc>
                <a:spcPts val="1900"/>
              </a:lnSpc>
              <a:spcAft>
                <a:spcPts val="1000"/>
              </a:spcAft>
              <a:buChar char="•"/>
            </a:pPr>
            <a:r>
              <a:rPr sz="1400" b="0">
                <a:solidFill>
                  <a:srgbClr val="22223B"/>
                </a:solidFill>
                <a:latin typeface="Arial"/>
              </a:rPr>
              <a:t>If the deadline were week 5, B could not finish behind A.</a:t>
            </a:r>
          </a:p>
          <a:p>
            <a:pPr marL="173736" indent="-173736">
              <a:lnSpc>
                <a:spcPts val="1900"/>
              </a:lnSpc>
              <a:spcAft>
                <a:spcPts val="1000"/>
              </a:spcAft>
              <a:buChar char="•"/>
            </a:pPr>
            <a:r>
              <a:rPr sz="1400" b="0">
                <a:solidFill>
                  <a:srgbClr val="22223B"/>
                </a:solidFill>
                <a:latin typeface="Arial"/>
              </a:rPr>
              <a:t>Then the deadline wins and the score does not matter.</a:t>
            </a:r>
          </a:p>
          <a:p>
            <a:pPr marL="173736" indent="-173736">
              <a:lnSpc>
                <a:spcPts val="1900"/>
              </a:lnSpc>
              <a:spcAft>
                <a:spcPts val="1000"/>
              </a:spcAft>
              <a:buChar char="•"/>
            </a:pPr>
            <a:r>
              <a:rPr sz="1400" b="0">
                <a:solidFill>
                  <a:srgbClr val="22223B"/>
                </a:solidFill>
                <a:latin typeface="Arial"/>
              </a:rPr>
              <a:t>Remember: today, a future deadline costs you nothing — so a score would put it LAST.</a:t>
            </a:r>
          </a:p>
        </p:txBody>
      </p:sp>
      <p:sp>
        <p:nvSpPr>
          <p:cNvPr id="11" name="Rounded Rectangle 10"/>
          <p:cNvSpPr/>
          <p:nvPr/>
        </p:nvSpPr>
        <p:spPr>
          <a:xfrm>
            <a:off x="640080" y="4453128"/>
            <a:ext cx="3453384" cy="1691640"/>
          </a:xfrm>
          <a:prstGeom prst="roundRect">
            <a:avLst>
              <a:gd name="adj" fmla="val 5500"/>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59536" y="4636008"/>
            <a:ext cx="457200" cy="457200"/>
          </a:xfrm>
          <a:prstGeom prst="rect">
            <a:avLst/>
          </a:prstGeom>
          <a:noFill/>
        </p:spPr>
        <p:txBody>
          <a:bodyPr wrap="square" lIns="0" tIns="0" rIns="0" bIns="0" anchor="t">
            <a:spAutoFit/>
          </a:bodyPr>
          <a:lstStyle/>
          <a:p>
            <a:pPr algn="l"/>
            <a:r>
              <a:rPr sz="1900" b="1" i="0">
                <a:solidFill>
                  <a:srgbClr val="FCB017"/>
                </a:solidFill>
                <a:latin typeface="Arial"/>
              </a:rPr>
              <a:t>1</a:t>
            </a:r>
          </a:p>
        </p:txBody>
      </p:sp>
      <p:sp>
        <p:nvSpPr>
          <p:cNvPr id="13" name="TextBox 12"/>
          <p:cNvSpPr txBox="1"/>
          <p:nvPr/>
        </p:nvSpPr>
        <p:spPr>
          <a:xfrm>
            <a:off x="859536" y="5138928"/>
            <a:ext cx="3014472" cy="658368"/>
          </a:xfrm>
          <a:prstGeom prst="rect">
            <a:avLst/>
          </a:prstGeom>
          <a:noFill/>
        </p:spPr>
        <p:txBody>
          <a:bodyPr wrap="square" lIns="0" tIns="0" rIns="0" bIns="0" anchor="t">
            <a:spAutoFit/>
          </a:bodyPr>
          <a:lstStyle/>
          <a:p>
            <a:pPr algn="l">
              <a:lnSpc>
                <a:spcPts val="2100"/>
              </a:lnSpc>
            </a:pPr>
            <a:r>
              <a:rPr sz="1600" b="1" i="0">
                <a:solidFill>
                  <a:srgbClr val="FFFFFF"/>
                </a:solidFill>
                <a:latin typeface="Arial"/>
              </a:rPr>
              <a:t>Fix the dates</a:t>
            </a:r>
          </a:p>
        </p:txBody>
      </p:sp>
      <p:sp>
        <p:nvSpPr>
          <p:cNvPr id="14" name="TextBox 13"/>
          <p:cNvSpPr txBox="1"/>
          <p:nvPr/>
        </p:nvSpPr>
        <p:spPr>
          <a:xfrm>
            <a:off x="859536" y="5824728"/>
            <a:ext cx="3014472" cy="173736"/>
          </a:xfrm>
          <a:prstGeom prst="rect">
            <a:avLst/>
          </a:prstGeom>
          <a:noFill/>
        </p:spPr>
        <p:txBody>
          <a:bodyPr wrap="square" lIns="0" tIns="0" rIns="0" bIns="0" anchor="t">
            <a:spAutoFit/>
          </a:bodyPr>
          <a:lstStyle/>
          <a:p>
            <a:pPr algn="l">
              <a:lnSpc>
                <a:spcPts val="1600"/>
              </a:lnSpc>
            </a:pPr>
            <a:r>
              <a:rPr sz="1200" b="0" i="0">
                <a:solidFill>
                  <a:srgbClr val="D8DBF0"/>
                </a:solidFill>
                <a:latin typeface="Arial"/>
              </a:rPr>
              <a:t>Book anything with a deadline or a hard dependency into its slot first.</a:t>
            </a:r>
          </a:p>
        </p:txBody>
      </p:sp>
      <p:sp>
        <p:nvSpPr>
          <p:cNvPr id="15" name="TextBox 14"/>
          <p:cNvSpPr txBox="1"/>
          <p:nvPr/>
        </p:nvSpPr>
        <p:spPr>
          <a:xfrm>
            <a:off x="4111751" y="5152644"/>
            <a:ext cx="237744" cy="292608"/>
          </a:xfrm>
          <a:prstGeom prst="rect">
            <a:avLst/>
          </a:prstGeom>
          <a:noFill/>
        </p:spPr>
        <p:txBody>
          <a:bodyPr wrap="square" lIns="0" tIns="0" rIns="0" bIns="0" anchor="t">
            <a:spAutoFit/>
          </a:bodyPr>
          <a:lstStyle/>
          <a:p>
            <a:pPr algn="ctr"/>
            <a:r>
              <a:rPr sz="1200" b="0" i="0">
                <a:solidFill>
                  <a:srgbClr val="5F6178"/>
                </a:solidFill>
                <a:latin typeface="Arial"/>
              </a:rPr>
              <a:t>▶</a:t>
            </a:r>
          </a:p>
        </p:txBody>
      </p:sp>
      <p:sp>
        <p:nvSpPr>
          <p:cNvPr id="16" name="Rounded Rectangle 15"/>
          <p:cNvSpPr/>
          <p:nvPr/>
        </p:nvSpPr>
        <p:spPr>
          <a:xfrm>
            <a:off x="4367784" y="4453128"/>
            <a:ext cx="3453384" cy="1691640"/>
          </a:xfrm>
          <a:prstGeom prst="roundRect">
            <a:avLst>
              <a:gd name="adj" fmla="val 5500"/>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87240" y="4636008"/>
            <a:ext cx="457200" cy="457200"/>
          </a:xfrm>
          <a:prstGeom prst="rect">
            <a:avLst/>
          </a:prstGeom>
          <a:noFill/>
        </p:spPr>
        <p:txBody>
          <a:bodyPr wrap="square" lIns="0" tIns="0" rIns="0" bIns="0" anchor="t">
            <a:spAutoFit/>
          </a:bodyPr>
          <a:lstStyle/>
          <a:p>
            <a:pPr algn="l"/>
            <a:r>
              <a:rPr sz="1900" b="1" i="0">
                <a:solidFill>
                  <a:srgbClr val="FCB017"/>
                </a:solidFill>
                <a:latin typeface="Arial"/>
              </a:rPr>
              <a:t>2</a:t>
            </a:r>
          </a:p>
        </p:txBody>
      </p:sp>
      <p:sp>
        <p:nvSpPr>
          <p:cNvPr id="18" name="TextBox 17"/>
          <p:cNvSpPr txBox="1"/>
          <p:nvPr/>
        </p:nvSpPr>
        <p:spPr>
          <a:xfrm>
            <a:off x="4587240" y="5138928"/>
            <a:ext cx="3014472" cy="658368"/>
          </a:xfrm>
          <a:prstGeom prst="rect">
            <a:avLst/>
          </a:prstGeom>
          <a:noFill/>
        </p:spPr>
        <p:txBody>
          <a:bodyPr wrap="square" lIns="0" tIns="0" rIns="0" bIns="0" anchor="t">
            <a:spAutoFit/>
          </a:bodyPr>
          <a:lstStyle/>
          <a:p>
            <a:pPr algn="l">
              <a:lnSpc>
                <a:spcPts val="2100"/>
              </a:lnSpc>
            </a:pPr>
            <a:r>
              <a:rPr sz="1600" b="1" i="0">
                <a:solidFill>
                  <a:srgbClr val="FFFFFF"/>
                </a:solidFill>
                <a:latin typeface="Arial"/>
              </a:rPr>
              <a:t>Then score</a:t>
            </a:r>
          </a:p>
        </p:txBody>
      </p:sp>
      <p:sp>
        <p:nvSpPr>
          <p:cNvPr id="19" name="TextBox 18"/>
          <p:cNvSpPr txBox="1"/>
          <p:nvPr/>
        </p:nvSpPr>
        <p:spPr>
          <a:xfrm>
            <a:off x="4587240" y="5824728"/>
            <a:ext cx="3014472" cy="173736"/>
          </a:xfrm>
          <a:prstGeom prst="rect">
            <a:avLst/>
          </a:prstGeom>
          <a:noFill/>
        </p:spPr>
        <p:txBody>
          <a:bodyPr wrap="square" lIns="0" tIns="0" rIns="0" bIns="0" anchor="t">
            <a:spAutoFit/>
          </a:bodyPr>
          <a:lstStyle/>
          <a:p>
            <a:pPr algn="l">
              <a:lnSpc>
                <a:spcPts val="1600"/>
              </a:lnSpc>
            </a:pPr>
            <a:r>
              <a:rPr sz="1200" b="0" i="0">
                <a:solidFill>
                  <a:srgbClr val="D8DBF0"/>
                </a:solidFill>
                <a:latin typeface="Arial"/>
              </a:rPr>
              <a:t>Use CD3 on the time that is left over. That is where the saving lives.</a:t>
            </a:r>
          </a:p>
        </p:txBody>
      </p:sp>
      <p:sp>
        <p:nvSpPr>
          <p:cNvPr id="20" name="TextBox 19"/>
          <p:cNvSpPr txBox="1"/>
          <p:nvPr/>
        </p:nvSpPr>
        <p:spPr>
          <a:xfrm>
            <a:off x="7839456" y="5152644"/>
            <a:ext cx="237744" cy="292608"/>
          </a:xfrm>
          <a:prstGeom prst="rect">
            <a:avLst/>
          </a:prstGeom>
          <a:noFill/>
        </p:spPr>
        <p:txBody>
          <a:bodyPr wrap="square" lIns="0" tIns="0" rIns="0" bIns="0" anchor="t">
            <a:spAutoFit/>
          </a:bodyPr>
          <a:lstStyle/>
          <a:p>
            <a:pPr algn="ctr"/>
            <a:r>
              <a:rPr sz="1200" b="0" i="0">
                <a:solidFill>
                  <a:srgbClr val="5F6178"/>
                </a:solidFill>
                <a:latin typeface="Arial"/>
              </a:rPr>
              <a:t>▶</a:t>
            </a:r>
          </a:p>
        </p:txBody>
      </p:sp>
      <p:sp>
        <p:nvSpPr>
          <p:cNvPr id="21" name="Rounded Rectangle 20"/>
          <p:cNvSpPr/>
          <p:nvPr/>
        </p:nvSpPr>
        <p:spPr>
          <a:xfrm>
            <a:off x="8095488" y="4453128"/>
            <a:ext cx="3453384" cy="1691640"/>
          </a:xfrm>
          <a:prstGeom prst="roundRect">
            <a:avLst>
              <a:gd name="adj" fmla="val 5500"/>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314944" y="4636008"/>
            <a:ext cx="457200" cy="457200"/>
          </a:xfrm>
          <a:prstGeom prst="rect">
            <a:avLst/>
          </a:prstGeom>
          <a:noFill/>
        </p:spPr>
        <p:txBody>
          <a:bodyPr wrap="square" lIns="0" tIns="0" rIns="0" bIns="0" anchor="t">
            <a:spAutoFit/>
          </a:bodyPr>
          <a:lstStyle/>
          <a:p>
            <a:pPr algn="l"/>
            <a:r>
              <a:rPr sz="1900" b="1" i="0">
                <a:solidFill>
                  <a:srgbClr val="FCB017"/>
                </a:solidFill>
                <a:latin typeface="Arial"/>
              </a:rPr>
              <a:t>3</a:t>
            </a:r>
          </a:p>
        </p:txBody>
      </p:sp>
      <p:sp>
        <p:nvSpPr>
          <p:cNvPr id="23" name="TextBox 22"/>
          <p:cNvSpPr txBox="1"/>
          <p:nvPr/>
        </p:nvSpPr>
        <p:spPr>
          <a:xfrm>
            <a:off x="8314944" y="5138928"/>
            <a:ext cx="3014472" cy="658368"/>
          </a:xfrm>
          <a:prstGeom prst="rect">
            <a:avLst/>
          </a:prstGeom>
          <a:noFill/>
        </p:spPr>
        <p:txBody>
          <a:bodyPr wrap="square" lIns="0" tIns="0" rIns="0" bIns="0" anchor="t">
            <a:spAutoFit/>
          </a:bodyPr>
          <a:lstStyle/>
          <a:p>
            <a:pPr algn="l">
              <a:lnSpc>
                <a:spcPts val="2100"/>
              </a:lnSpc>
            </a:pPr>
            <a:r>
              <a:rPr sz="1600" b="1" i="0">
                <a:solidFill>
                  <a:srgbClr val="FFFFFF"/>
                </a:solidFill>
                <a:latin typeface="Arial"/>
              </a:rPr>
              <a:t>Then check again</a:t>
            </a:r>
          </a:p>
        </p:txBody>
      </p:sp>
      <p:sp>
        <p:nvSpPr>
          <p:cNvPr id="24" name="TextBox 23"/>
          <p:cNvSpPr txBox="1"/>
          <p:nvPr/>
        </p:nvSpPr>
        <p:spPr>
          <a:xfrm>
            <a:off x="8314944" y="5824728"/>
            <a:ext cx="3014472" cy="173736"/>
          </a:xfrm>
          <a:prstGeom prst="rect">
            <a:avLst/>
          </a:prstGeom>
          <a:noFill/>
        </p:spPr>
        <p:txBody>
          <a:bodyPr wrap="square" lIns="0" tIns="0" rIns="0" bIns="0" anchor="t">
            <a:spAutoFit/>
          </a:bodyPr>
          <a:lstStyle/>
          <a:p>
            <a:pPr algn="l">
              <a:lnSpc>
                <a:spcPts val="1600"/>
              </a:lnSpc>
            </a:pPr>
            <a:r>
              <a:rPr sz="1200" b="0" i="0">
                <a:solidFill>
                  <a:srgbClr val="D8DBF0"/>
                </a:solidFill>
                <a:latin typeface="Arial"/>
              </a:rPr>
              <a:t>Estimates change. Re-run it every month; an order goes stale fast.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74320"/>
            <a:ext cx="10908792" cy="237744"/>
          </a:xfrm>
          <a:prstGeom prst="rect">
            <a:avLst/>
          </a:prstGeom>
          <a:noFill/>
        </p:spPr>
        <p:txBody>
          <a:bodyPr wrap="square" lIns="0" tIns="0" rIns="0" bIns="0" anchor="t">
            <a:spAutoFit/>
          </a:bodyPr>
          <a:lstStyle/>
          <a:p>
            <a:pPr algn="l"/>
            <a:r>
              <a:rPr sz="1000" b="1" i="0" spc="140">
                <a:solidFill>
                  <a:srgbClr val="A9740A"/>
                </a:solidFill>
                <a:latin typeface="Arial"/>
              </a:rPr>
              <a:t>3 QUESTIONS  ·  90 SECONDS  ·  53–56 MIN</a:t>
            </a:r>
          </a:p>
        </p:txBody>
      </p:sp>
      <p:sp>
        <p:nvSpPr>
          <p:cNvPr id="3" name="TextBox 2"/>
          <p:cNvSpPr txBox="1"/>
          <p:nvPr/>
        </p:nvSpPr>
        <p:spPr>
          <a:xfrm>
            <a:off x="640080" y="548640"/>
            <a:ext cx="8229600" cy="640080"/>
          </a:xfrm>
          <a:prstGeom prst="rect">
            <a:avLst/>
          </a:prstGeom>
          <a:noFill/>
        </p:spPr>
        <p:txBody>
          <a:bodyPr wrap="square" lIns="0" tIns="0" rIns="0" bIns="0" anchor="t">
            <a:spAutoFit/>
          </a:bodyPr>
          <a:lstStyle/>
          <a:p>
            <a:pPr algn="l"/>
            <a:r>
              <a:rPr sz="2400" b="1" i="0">
                <a:solidFill>
                  <a:srgbClr val="211D71"/>
                </a:solidFill>
                <a:latin typeface="Arial"/>
              </a:rPr>
              <a:t>Quiz 2 — Scoring and ordering</a:t>
            </a:r>
          </a:p>
        </p:txBody>
      </p:sp>
      <p:sp>
        <p:nvSpPr>
          <p:cNvPr id="4" name="Rounded Rectangle 3"/>
          <p:cNvSpPr/>
          <p:nvPr/>
        </p:nvSpPr>
        <p:spPr>
          <a:xfrm>
            <a:off x="640080" y="1463040"/>
            <a:ext cx="10908792" cy="658368"/>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536192"/>
            <a:ext cx="10451592" cy="310896"/>
          </a:xfrm>
          <a:prstGeom prst="rect">
            <a:avLst/>
          </a:prstGeom>
          <a:noFill/>
        </p:spPr>
        <p:txBody>
          <a:bodyPr wrap="square" lIns="0" tIns="0" rIns="0" bIns="0" anchor="t">
            <a:spAutoFit/>
          </a:bodyPr>
          <a:lstStyle/>
          <a:p>
            <a:pPr algn="l"/>
            <a:r>
              <a:rPr sz="1450" b="1" i="0">
                <a:solidFill>
                  <a:srgbClr val="211D71"/>
                </a:solidFill>
                <a:latin typeface="Arial"/>
              </a:rPr>
              <a:t>Q1.  Important = 8, Happy = 9. The opportunity score is:</a:t>
            </a:r>
          </a:p>
        </p:txBody>
      </p:sp>
      <p:sp>
        <p:nvSpPr>
          <p:cNvPr id="6" name="TextBox 5"/>
          <p:cNvSpPr txBox="1"/>
          <p:nvPr/>
        </p:nvSpPr>
        <p:spPr>
          <a:xfrm>
            <a:off x="1143000" y="1865376"/>
            <a:ext cx="10177272" cy="237744"/>
          </a:xfrm>
          <a:prstGeom prst="rect">
            <a:avLst/>
          </a:prstGeom>
          <a:noFill/>
        </p:spPr>
        <p:txBody>
          <a:bodyPr wrap="square" lIns="0" tIns="0" rIns="0" bIns="0" anchor="t">
            <a:spAutoFit/>
          </a:bodyPr>
          <a:lstStyle/>
          <a:p>
            <a:pPr algn="l">
              <a:lnSpc>
                <a:spcPts val="1800"/>
              </a:lnSpc>
            </a:pPr>
            <a:r>
              <a:rPr sz="1300" b="0" i="0">
                <a:solidFill>
                  <a:srgbClr val="22223B"/>
                </a:solidFill>
                <a:latin typeface="Arial"/>
              </a:rPr>
              <a:t>(a) 7          (b) 8          (c) 17          (d) −1</a:t>
            </a:r>
          </a:p>
        </p:txBody>
      </p:sp>
      <p:sp>
        <p:nvSpPr>
          <p:cNvPr id="7" name="Rounded Rectangle 6"/>
          <p:cNvSpPr/>
          <p:nvPr/>
        </p:nvSpPr>
        <p:spPr>
          <a:xfrm>
            <a:off x="640080" y="2599944"/>
            <a:ext cx="10908792" cy="137160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2673096"/>
            <a:ext cx="10451592" cy="310896"/>
          </a:xfrm>
          <a:prstGeom prst="rect">
            <a:avLst/>
          </a:prstGeom>
          <a:noFill/>
        </p:spPr>
        <p:txBody>
          <a:bodyPr wrap="square" lIns="0" tIns="0" rIns="0" bIns="0" anchor="t">
            <a:spAutoFit/>
          </a:bodyPr>
          <a:lstStyle/>
          <a:p>
            <a:pPr algn="l"/>
            <a:r>
              <a:rPr sz="1450" b="1" i="0">
                <a:solidFill>
                  <a:srgbClr val="211D71"/>
                </a:solidFill>
                <a:latin typeface="Arial"/>
              </a:rPr>
              <a:t>Q2.  Job P loses ₹10 a week and takes 5 weeks. Job Q loses ₹6 a week and takes 2 weeks. You do:</a:t>
            </a:r>
          </a:p>
        </p:txBody>
      </p:sp>
      <p:sp>
        <p:nvSpPr>
          <p:cNvPr id="9" name="TextBox 8"/>
          <p:cNvSpPr txBox="1"/>
          <p:nvPr/>
        </p:nvSpPr>
        <p:spPr>
          <a:xfrm>
            <a:off x="1143000" y="3002280"/>
            <a:ext cx="10177272" cy="950976"/>
          </a:xfrm>
          <a:prstGeom prst="rect">
            <a:avLst/>
          </a:prstGeom>
          <a:noFill/>
        </p:spPr>
        <p:txBody>
          <a:bodyPr wrap="square" lIns="0" tIns="0" rIns="0" bIns="0" anchor="t">
            <a:spAutoFit/>
          </a:bodyPr>
          <a:lstStyle/>
          <a:p>
            <a:pPr algn="l">
              <a:lnSpc>
                <a:spcPts val="1800"/>
              </a:lnSpc>
            </a:pPr>
            <a:r>
              <a:rPr sz="1300" b="0" i="0">
                <a:solidFill>
                  <a:srgbClr val="22223B"/>
                </a:solidFill>
                <a:latin typeface="Arial"/>
              </a:rPr>
              <a:t>(a) P first — it loses more money each week</a:t>
            </a:r>
          </a:p>
          <a:p>
            <a:pPr algn="l">
              <a:lnSpc>
                <a:spcPts val="1800"/>
              </a:lnSpc>
            </a:pPr>
            <a:r>
              <a:rPr sz="1300" b="0" i="0">
                <a:solidFill>
                  <a:srgbClr val="22223B"/>
                </a:solidFill>
                <a:latin typeface="Arial"/>
              </a:rPr>
              <a:t>(b) Q first — its score is 3, P's is 2</a:t>
            </a:r>
          </a:p>
          <a:p>
            <a:pPr algn="l">
              <a:lnSpc>
                <a:spcPts val="1800"/>
              </a:lnSpc>
            </a:pPr>
            <a:r>
              <a:rPr sz="1300" b="0" i="0">
                <a:solidFill>
                  <a:srgbClr val="22223B"/>
                </a:solidFill>
                <a:latin typeface="Arial"/>
              </a:rPr>
              <a:t>(c) either; the total is the same</a:t>
            </a:r>
          </a:p>
          <a:p>
            <a:pPr algn="l">
              <a:lnSpc>
                <a:spcPts val="1800"/>
              </a:lnSpc>
            </a:pPr>
            <a:r>
              <a:rPr sz="1300" b="0" i="0">
                <a:solidFill>
                  <a:srgbClr val="22223B"/>
                </a:solidFill>
                <a:latin typeface="Arial"/>
              </a:rPr>
              <a:t>(d) P first — always start the long job early</a:t>
            </a:r>
          </a:p>
        </p:txBody>
      </p:sp>
      <p:sp>
        <p:nvSpPr>
          <p:cNvPr id="10" name="Rounded Rectangle 9"/>
          <p:cNvSpPr/>
          <p:nvPr/>
        </p:nvSpPr>
        <p:spPr>
          <a:xfrm>
            <a:off x="640080" y="4450080"/>
            <a:ext cx="10908792" cy="137160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4523232"/>
            <a:ext cx="10451592" cy="310896"/>
          </a:xfrm>
          <a:prstGeom prst="rect">
            <a:avLst/>
          </a:prstGeom>
          <a:noFill/>
        </p:spPr>
        <p:txBody>
          <a:bodyPr wrap="square" lIns="0" tIns="0" rIns="0" bIns="0" anchor="t">
            <a:spAutoFit/>
          </a:bodyPr>
          <a:lstStyle/>
          <a:p>
            <a:pPr algn="l"/>
            <a:r>
              <a:rPr sz="1450" b="1" i="0">
                <a:solidFill>
                  <a:srgbClr val="211D71"/>
                </a:solidFill>
                <a:latin typeface="Arial"/>
              </a:rPr>
              <a:t>Q3.  Why is the size of the job on the bottom of the sum?</a:t>
            </a:r>
          </a:p>
        </p:txBody>
      </p:sp>
      <p:sp>
        <p:nvSpPr>
          <p:cNvPr id="12" name="TextBox 11"/>
          <p:cNvSpPr txBox="1"/>
          <p:nvPr/>
        </p:nvSpPr>
        <p:spPr>
          <a:xfrm>
            <a:off x="1143000" y="4852416"/>
            <a:ext cx="10177272" cy="950976"/>
          </a:xfrm>
          <a:prstGeom prst="rect">
            <a:avLst/>
          </a:prstGeom>
          <a:noFill/>
        </p:spPr>
        <p:txBody>
          <a:bodyPr wrap="square" lIns="0" tIns="0" rIns="0" bIns="0" anchor="t">
            <a:spAutoFit/>
          </a:bodyPr>
          <a:lstStyle/>
          <a:p>
            <a:pPr algn="l">
              <a:lnSpc>
                <a:spcPts val="1800"/>
              </a:lnSpc>
            </a:pPr>
            <a:r>
              <a:rPr sz="1300" b="0" i="0">
                <a:solidFill>
                  <a:srgbClr val="22223B"/>
                </a:solidFill>
                <a:latin typeface="Arial"/>
              </a:rPr>
              <a:t>(a) bigger jobs are worth more</a:t>
            </a:r>
          </a:p>
          <a:p>
            <a:pPr algn="l">
              <a:lnSpc>
                <a:spcPts val="1800"/>
              </a:lnSpc>
            </a:pPr>
            <a:r>
              <a:rPr sz="1300" b="0" i="0">
                <a:solidFill>
                  <a:srgbClr val="22223B"/>
                </a:solidFill>
                <a:latin typeface="Arial"/>
              </a:rPr>
              <a:t>(b) because a long job makes everything behind it wait longer</a:t>
            </a:r>
          </a:p>
          <a:p>
            <a:pPr algn="l">
              <a:lnSpc>
                <a:spcPts val="1800"/>
              </a:lnSpc>
            </a:pPr>
            <a:r>
              <a:rPr sz="1300" b="0" i="0">
                <a:solidFill>
                  <a:srgbClr val="22223B"/>
                </a:solidFill>
                <a:latin typeface="Arial"/>
              </a:rPr>
              <a:t>(c) to turn the score into a percentage</a:t>
            </a:r>
          </a:p>
          <a:p>
            <a:pPr algn="l">
              <a:lnSpc>
                <a:spcPts val="1800"/>
              </a:lnSpc>
            </a:pPr>
            <a:r>
              <a:rPr sz="1300" b="0" i="0">
                <a:solidFill>
                  <a:srgbClr val="22223B"/>
                </a:solidFill>
                <a:latin typeface="Arial"/>
              </a:rPr>
              <a:t>(d) it cancels out the urgency score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74320"/>
            <a:ext cx="10908792" cy="237744"/>
          </a:xfrm>
          <a:prstGeom prst="rect">
            <a:avLst/>
          </a:prstGeom>
          <a:noFill/>
        </p:spPr>
        <p:txBody>
          <a:bodyPr wrap="square" lIns="0" tIns="0" rIns="0" bIns="0" anchor="t">
            <a:spAutoFit/>
          </a:bodyPr>
          <a:lstStyle/>
          <a:p>
            <a:pPr algn="l"/>
            <a:r>
              <a:rPr sz="1000" b="1" i="0" spc="140">
                <a:solidFill>
                  <a:srgbClr val="A9740A"/>
                </a:solidFill>
                <a:latin typeface="Arial"/>
              </a:rPr>
              <a:t>DEBRIEF</a:t>
            </a:r>
          </a:p>
        </p:txBody>
      </p:sp>
      <p:sp>
        <p:nvSpPr>
          <p:cNvPr id="3" name="TextBox 2"/>
          <p:cNvSpPr txBox="1"/>
          <p:nvPr/>
        </p:nvSpPr>
        <p:spPr>
          <a:xfrm>
            <a:off x="640080" y="548640"/>
            <a:ext cx="8229600" cy="640080"/>
          </a:xfrm>
          <a:prstGeom prst="rect">
            <a:avLst/>
          </a:prstGeom>
          <a:noFill/>
        </p:spPr>
        <p:txBody>
          <a:bodyPr wrap="square" lIns="0" tIns="0" rIns="0" bIns="0" anchor="t">
            <a:spAutoFit/>
          </a:bodyPr>
          <a:lstStyle/>
          <a:p>
            <a:pPr algn="l"/>
            <a:r>
              <a:rPr sz="2400" b="1" i="0">
                <a:solidFill>
                  <a:srgbClr val="211D71"/>
                </a:solidFill>
                <a:latin typeface="Arial"/>
              </a:rPr>
              <a:t>Quiz 2 — answers</a:t>
            </a:r>
          </a:p>
        </p:txBody>
      </p:sp>
      <p:sp>
        <p:nvSpPr>
          <p:cNvPr id="4" name="Rounded Rectangle 3"/>
          <p:cNvSpPr/>
          <p:nvPr/>
        </p:nvSpPr>
        <p:spPr>
          <a:xfrm>
            <a:off x="640080" y="1709928"/>
            <a:ext cx="3477768" cy="219456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59536" y="1892807"/>
            <a:ext cx="3038856" cy="310896"/>
          </a:xfrm>
          <a:prstGeom prst="rect">
            <a:avLst/>
          </a:prstGeom>
          <a:noFill/>
        </p:spPr>
        <p:txBody>
          <a:bodyPr wrap="square" lIns="0" tIns="0" rIns="0" bIns="0" anchor="t">
            <a:spAutoFit/>
          </a:bodyPr>
          <a:lstStyle/>
          <a:p>
            <a:pPr algn="l"/>
            <a:r>
              <a:rPr sz="1400" b="1" i="0">
                <a:solidFill>
                  <a:srgbClr val="211D71"/>
                </a:solidFill>
                <a:latin typeface="Arial"/>
              </a:rPr>
              <a:t>Q1  →  (b) 8</a:t>
            </a:r>
          </a:p>
        </p:txBody>
      </p:sp>
      <p:sp>
        <p:nvSpPr>
          <p:cNvPr id="6" name="TextBox 5"/>
          <p:cNvSpPr txBox="1"/>
          <p:nvPr/>
        </p:nvSpPr>
        <p:spPr>
          <a:xfrm>
            <a:off x="859536" y="2258568"/>
            <a:ext cx="3038856" cy="1499616"/>
          </a:xfrm>
          <a:prstGeom prst="rect">
            <a:avLst/>
          </a:prstGeom>
          <a:noFill/>
        </p:spPr>
        <p:txBody>
          <a:bodyPr wrap="square" lIns="0" tIns="0" rIns="0" bIns="0" anchor="t">
            <a:spAutoFit/>
          </a:bodyPr>
          <a:lstStyle/>
          <a:p>
            <a:pPr algn="l">
              <a:lnSpc>
                <a:spcPts val="1700"/>
              </a:lnSpc>
            </a:pPr>
            <a:r>
              <a:rPr sz="1300" b="0" i="0">
                <a:solidFill>
                  <a:srgbClr val="22223B"/>
                </a:solidFill>
                <a:latin typeface="Arial"/>
              </a:rPr>
              <a:t>8 + (8 − 9) would be −1, so we use 0 instead: 8 + 0 = 8. People are happier than the thing is important, so there is no opportunity here.</a:t>
            </a:r>
          </a:p>
        </p:txBody>
      </p:sp>
      <p:sp>
        <p:nvSpPr>
          <p:cNvPr id="7" name="Rounded Rectangle 6"/>
          <p:cNvSpPr/>
          <p:nvPr/>
        </p:nvSpPr>
        <p:spPr>
          <a:xfrm>
            <a:off x="4355592" y="1709928"/>
            <a:ext cx="3477768" cy="219456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5048" y="1892807"/>
            <a:ext cx="3038856" cy="310896"/>
          </a:xfrm>
          <a:prstGeom prst="rect">
            <a:avLst/>
          </a:prstGeom>
          <a:noFill/>
        </p:spPr>
        <p:txBody>
          <a:bodyPr wrap="square" lIns="0" tIns="0" rIns="0" bIns="0" anchor="t">
            <a:spAutoFit/>
          </a:bodyPr>
          <a:lstStyle/>
          <a:p>
            <a:pPr algn="l"/>
            <a:r>
              <a:rPr sz="1400" b="1" i="0">
                <a:solidFill>
                  <a:srgbClr val="211D71"/>
                </a:solidFill>
                <a:latin typeface="Arial"/>
              </a:rPr>
              <a:t>Q2  →  (b) Q first</a:t>
            </a:r>
          </a:p>
        </p:txBody>
      </p:sp>
      <p:sp>
        <p:nvSpPr>
          <p:cNvPr id="9" name="TextBox 8"/>
          <p:cNvSpPr txBox="1"/>
          <p:nvPr/>
        </p:nvSpPr>
        <p:spPr>
          <a:xfrm>
            <a:off x="4575048" y="2258568"/>
            <a:ext cx="3038856" cy="1499616"/>
          </a:xfrm>
          <a:prstGeom prst="rect">
            <a:avLst/>
          </a:prstGeom>
          <a:noFill/>
        </p:spPr>
        <p:txBody>
          <a:bodyPr wrap="square" lIns="0" tIns="0" rIns="0" bIns="0" anchor="t">
            <a:spAutoFit/>
          </a:bodyPr>
          <a:lstStyle/>
          <a:p>
            <a:pPr algn="l">
              <a:lnSpc>
                <a:spcPts val="1700"/>
              </a:lnSpc>
            </a:pPr>
            <a:r>
              <a:rPr sz="1300" b="0" i="0">
                <a:solidFill>
                  <a:srgbClr val="22223B"/>
                </a:solidFill>
                <a:latin typeface="Arial"/>
              </a:rPr>
              <a:t>P scores 10 ÷ 5 = 2. Q scores 6 ÷ 2 = 3. Q first costs ₹82; P first costs ₹92. Losing more per week does not win if you block the queue.</a:t>
            </a:r>
          </a:p>
        </p:txBody>
      </p:sp>
      <p:sp>
        <p:nvSpPr>
          <p:cNvPr id="10" name="Rounded Rectangle 9"/>
          <p:cNvSpPr/>
          <p:nvPr/>
        </p:nvSpPr>
        <p:spPr>
          <a:xfrm>
            <a:off x="8071104" y="1709928"/>
            <a:ext cx="3477768" cy="219456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90560" y="1892807"/>
            <a:ext cx="3038856" cy="310896"/>
          </a:xfrm>
          <a:prstGeom prst="rect">
            <a:avLst/>
          </a:prstGeom>
          <a:noFill/>
        </p:spPr>
        <p:txBody>
          <a:bodyPr wrap="square" lIns="0" tIns="0" rIns="0" bIns="0" anchor="t">
            <a:spAutoFit/>
          </a:bodyPr>
          <a:lstStyle/>
          <a:p>
            <a:pPr algn="l"/>
            <a:r>
              <a:rPr sz="1400" b="1" i="0">
                <a:solidFill>
                  <a:srgbClr val="211D71"/>
                </a:solidFill>
                <a:latin typeface="Arial"/>
              </a:rPr>
              <a:t>Q3  →  (b)</a:t>
            </a:r>
          </a:p>
        </p:txBody>
      </p:sp>
      <p:sp>
        <p:nvSpPr>
          <p:cNvPr id="12" name="TextBox 11"/>
          <p:cNvSpPr txBox="1"/>
          <p:nvPr/>
        </p:nvSpPr>
        <p:spPr>
          <a:xfrm>
            <a:off x="8290560" y="2258568"/>
            <a:ext cx="3038856" cy="1499616"/>
          </a:xfrm>
          <a:prstGeom prst="rect">
            <a:avLst/>
          </a:prstGeom>
          <a:noFill/>
        </p:spPr>
        <p:txBody>
          <a:bodyPr wrap="square" lIns="0" tIns="0" rIns="0" bIns="0" anchor="t">
            <a:spAutoFit/>
          </a:bodyPr>
          <a:lstStyle/>
          <a:p>
            <a:pPr algn="l">
              <a:lnSpc>
                <a:spcPts val="1700"/>
              </a:lnSpc>
            </a:pPr>
            <a:r>
              <a:rPr sz="1300" b="0" i="0">
                <a:solidFill>
                  <a:srgbClr val="22223B"/>
                </a:solidFill>
                <a:latin typeface="Arial"/>
              </a:rPr>
              <a:t>Every job still waiting is losing money while the current one is built. So a long job is expensive for everyone behind it, not just for itself.</a:t>
            </a:r>
          </a:p>
        </p:txBody>
      </p:sp>
      <p:sp>
        <p:nvSpPr>
          <p:cNvPr id="13" name="Rounded Rectangle 12"/>
          <p:cNvSpPr/>
          <p:nvPr/>
        </p:nvSpPr>
        <p:spPr>
          <a:xfrm>
            <a:off x="640080" y="4133088"/>
            <a:ext cx="10908792" cy="868680"/>
          </a:xfrm>
          <a:prstGeom prst="roundRect">
            <a:avLst>
              <a:gd name="adj" fmla="val 5500"/>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68680" y="4169664"/>
            <a:ext cx="10451592" cy="795528"/>
          </a:xfrm>
          <a:prstGeom prst="rect">
            <a:avLst/>
          </a:prstGeom>
          <a:noFill/>
        </p:spPr>
        <p:txBody>
          <a:bodyPr wrap="square" lIns="0" tIns="0" rIns="0" bIns="0" anchor="ctr">
            <a:spAutoFit/>
          </a:bodyPr>
          <a:lstStyle/>
          <a:p>
            <a:pPr algn="l"/>
            <a:r>
              <a:rPr sz="1350" b="0" i="0">
                <a:solidFill>
                  <a:srgbClr val="FFFFFF"/>
                </a:solidFill>
                <a:latin typeface="Arial"/>
              </a:rPr>
              <a:t>Half time. You now have the shape of the work (story map), where the value is (opportunity score) and what order to build it in (Cost of Delay). The rest of the session is where all this gets written down, and what to do when you have no numbers at all.</a:t>
            </a:r>
          </a:p>
        </p:txBody>
      </p:sp>
      <p:sp>
        <p:nvSpPr>
          <p:cNvPr id="15" name="Rounded Rectangle 14"/>
          <p:cNvSpPr/>
          <p:nvPr/>
        </p:nvSpPr>
        <p:spPr>
          <a:xfrm>
            <a:off x="640080" y="5184648"/>
            <a:ext cx="1098296" cy="603504"/>
          </a:xfrm>
          <a:prstGeom prst="roundRect">
            <a:avLst>
              <a:gd name="adj" fmla="val 5500"/>
            </a:avLst>
          </a:prstGeom>
          <a:solidFill>
            <a:srgbClr val="211D71"/>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5184648"/>
            <a:ext cx="1098296" cy="603504"/>
          </a:xfrm>
          <a:prstGeom prst="rect">
            <a:avLst/>
          </a:prstGeom>
          <a:noFill/>
        </p:spPr>
        <p:txBody>
          <a:bodyPr wrap="square" lIns="0" tIns="0" rIns="0" bIns="0" anchor="ctr">
            <a:spAutoFit/>
          </a:bodyPr>
          <a:lstStyle/>
          <a:p>
            <a:pPr algn="ctr"/>
            <a:r>
              <a:rPr sz="950" b="1" i="0">
                <a:solidFill>
                  <a:srgbClr val="FFFFFF"/>
                </a:solidFill>
                <a:latin typeface="Arial"/>
              </a:rPr>
              <a:t>Story map</a:t>
            </a:r>
          </a:p>
        </p:txBody>
      </p:sp>
      <p:sp>
        <p:nvSpPr>
          <p:cNvPr id="17" name="Rounded Rectangle 16"/>
          <p:cNvSpPr/>
          <p:nvPr/>
        </p:nvSpPr>
        <p:spPr>
          <a:xfrm>
            <a:off x="1866392" y="5184648"/>
            <a:ext cx="1098296" cy="603504"/>
          </a:xfrm>
          <a:prstGeom prst="roundRect">
            <a:avLst>
              <a:gd name="adj" fmla="val 5500"/>
            </a:avLst>
          </a:prstGeom>
          <a:solidFill>
            <a:srgbClr val="211D71"/>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866392" y="5184648"/>
            <a:ext cx="1098296" cy="603504"/>
          </a:xfrm>
          <a:prstGeom prst="rect">
            <a:avLst/>
          </a:prstGeom>
          <a:noFill/>
        </p:spPr>
        <p:txBody>
          <a:bodyPr wrap="square" lIns="0" tIns="0" rIns="0" bIns="0" anchor="ctr">
            <a:spAutoFit/>
          </a:bodyPr>
          <a:lstStyle/>
          <a:p>
            <a:pPr algn="ctr"/>
            <a:r>
              <a:rPr sz="950" b="1" i="0">
                <a:solidFill>
                  <a:srgbClr val="FFFFFF"/>
                </a:solidFill>
                <a:latin typeface="Arial"/>
              </a:rPr>
              <a:t>Opportunity</a:t>
            </a:r>
          </a:p>
        </p:txBody>
      </p:sp>
      <p:sp>
        <p:nvSpPr>
          <p:cNvPr id="19" name="Rounded Rectangle 18"/>
          <p:cNvSpPr/>
          <p:nvPr/>
        </p:nvSpPr>
        <p:spPr>
          <a:xfrm>
            <a:off x="3092704" y="5184648"/>
            <a:ext cx="1098296" cy="603504"/>
          </a:xfrm>
          <a:prstGeom prst="roundRect">
            <a:avLst>
              <a:gd name="adj" fmla="val 5500"/>
            </a:avLst>
          </a:prstGeom>
          <a:solidFill>
            <a:srgbClr val="211D71"/>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092704" y="5184648"/>
            <a:ext cx="1098296" cy="603504"/>
          </a:xfrm>
          <a:prstGeom prst="rect">
            <a:avLst/>
          </a:prstGeom>
          <a:noFill/>
        </p:spPr>
        <p:txBody>
          <a:bodyPr wrap="square" lIns="0" tIns="0" rIns="0" bIns="0" anchor="ctr">
            <a:spAutoFit/>
          </a:bodyPr>
          <a:lstStyle/>
          <a:p>
            <a:pPr algn="ctr"/>
            <a:r>
              <a:rPr sz="950" b="1" i="0">
                <a:solidFill>
                  <a:srgbClr val="FFFFFF"/>
                </a:solidFill>
                <a:latin typeface="Arial"/>
              </a:rPr>
              <a:t>Cost of Delay</a:t>
            </a:r>
          </a:p>
        </p:txBody>
      </p:sp>
      <p:sp>
        <p:nvSpPr>
          <p:cNvPr id="21" name="Rounded Rectangle 20"/>
          <p:cNvSpPr/>
          <p:nvPr/>
        </p:nvSpPr>
        <p:spPr>
          <a:xfrm>
            <a:off x="4319016" y="5184648"/>
            <a:ext cx="1098296" cy="603504"/>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319016" y="5184648"/>
            <a:ext cx="1098296" cy="603504"/>
          </a:xfrm>
          <a:prstGeom prst="rect">
            <a:avLst/>
          </a:prstGeom>
          <a:noFill/>
        </p:spPr>
        <p:txBody>
          <a:bodyPr wrap="square" lIns="0" tIns="0" rIns="0" bIns="0" anchor="ctr">
            <a:spAutoFit/>
          </a:bodyPr>
          <a:lstStyle/>
          <a:p>
            <a:pPr algn="ctr"/>
            <a:r>
              <a:rPr sz="950" b="0" i="0">
                <a:solidFill>
                  <a:srgbClr val="5F6178"/>
                </a:solidFill>
                <a:latin typeface="Arial"/>
              </a:rPr>
              <a:t>Backlog &amp; roadmap</a:t>
            </a:r>
          </a:p>
        </p:txBody>
      </p:sp>
      <p:sp>
        <p:nvSpPr>
          <p:cNvPr id="23" name="Rounded Rectangle 22"/>
          <p:cNvSpPr/>
          <p:nvPr/>
        </p:nvSpPr>
        <p:spPr>
          <a:xfrm>
            <a:off x="5545328" y="5184648"/>
            <a:ext cx="1098296" cy="603504"/>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545328" y="5184648"/>
            <a:ext cx="1098296" cy="603504"/>
          </a:xfrm>
          <a:prstGeom prst="rect">
            <a:avLst/>
          </a:prstGeom>
          <a:noFill/>
        </p:spPr>
        <p:txBody>
          <a:bodyPr wrap="square" lIns="0" tIns="0" rIns="0" bIns="0" anchor="ctr">
            <a:spAutoFit/>
          </a:bodyPr>
          <a:lstStyle/>
          <a:p>
            <a:pPr algn="ctr"/>
            <a:r>
              <a:rPr sz="950" b="0" i="0">
                <a:solidFill>
                  <a:srgbClr val="5F6178"/>
                </a:solidFill>
                <a:latin typeface="Arial"/>
              </a:rPr>
              <a:t>Requirements</a:t>
            </a:r>
          </a:p>
        </p:txBody>
      </p:sp>
      <p:sp>
        <p:nvSpPr>
          <p:cNvPr id="25" name="Rounded Rectangle 24"/>
          <p:cNvSpPr/>
          <p:nvPr/>
        </p:nvSpPr>
        <p:spPr>
          <a:xfrm>
            <a:off x="6771640" y="5184648"/>
            <a:ext cx="1098296" cy="603504"/>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771640" y="5184648"/>
            <a:ext cx="1098296" cy="603504"/>
          </a:xfrm>
          <a:prstGeom prst="rect">
            <a:avLst/>
          </a:prstGeom>
          <a:noFill/>
        </p:spPr>
        <p:txBody>
          <a:bodyPr wrap="square" lIns="0" tIns="0" rIns="0" bIns="0" anchor="ctr">
            <a:spAutoFit/>
          </a:bodyPr>
          <a:lstStyle/>
          <a:p>
            <a:pPr algn="ctr"/>
            <a:r>
              <a:rPr sz="950" b="0" i="0">
                <a:solidFill>
                  <a:srgbClr val="5F6178"/>
                </a:solidFill>
                <a:latin typeface="Arial"/>
              </a:rPr>
              <a:t>MoSCoW</a:t>
            </a:r>
          </a:p>
        </p:txBody>
      </p:sp>
      <p:sp>
        <p:nvSpPr>
          <p:cNvPr id="27" name="Rounded Rectangle 26"/>
          <p:cNvSpPr/>
          <p:nvPr/>
        </p:nvSpPr>
        <p:spPr>
          <a:xfrm>
            <a:off x="7997951" y="5184648"/>
            <a:ext cx="1098296" cy="603504"/>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997951" y="5184648"/>
            <a:ext cx="1098296" cy="603504"/>
          </a:xfrm>
          <a:prstGeom prst="rect">
            <a:avLst/>
          </a:prstGeom>
          <a:noFill/>
        </p:spPr>
        <p:txBody>
          <a:bodyPr wrap="square" lIns="0" tIns="0" rIns="0" bIns="0" anchor="ctr">
            <a:spAutoFit/>
          </a:bodyPr>
          <a:lstStyle/>
          <a:p>
            <a:pPr algn="ctr"/>
            <a:r>
              <a:rPr sz="950" b="0" i="0">
                <a:solidFill>
                  <a:srgbClr val="5F6178"/>
                </a:solidFill>
                <a:latin typeface="Arial"/>
              </a:rPr>
              <a:t>Product tree</a:t>
            </a:r>
          </a:p>
        </p:txBody>
      </p:sp>
      <p:sp>
        <p:nvSpPr>
          <p:cNvPr id="29" name="Rounded Rectangle 28"/>
          <p:cNvSpPr/>
          <p:nvPr/>
        </p:nvSpPr>
        <p:spPr>
          <a:xfrm>
            <a:off x="9224264" y="5184648"/>
            <a:ext cx="1098296" cy="603504"/>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224264" y="5184648"/>
            <a:ext cx="1098296" cy="603504"/>
          </a:xfrm>
          <a:prstGeom prst="rect">
            <a:avLst/>
          </a:prstGeom>
          <a:noFill/>
        </p:spPr>
        <p:txBody>
          <a:bodyPr wrap="square" lIns="0" tIns="0" rIns="0" bIns="0" anchor="ctr">
            <a:spAutoFit/>
          </a:bodyPr>
          <a:lstStyle/>
          <a:p>
            <a:pPr algn="ctr"/>
            <a:r>
              <a:rPr sz="950" b="0" i="0">
                <a:solidFill>
                  <a:srgbClr val="5F6178"/>
                </a:solidFill>
                <a:latin typeface="Arial"/>
              </a:rPr>
              <a:t>Buy a feature</a:t>
            </a:r>
          </a:p>
        </p:txBody>
      </p:sp>
      <p:sp>
        <p:nvSpPr>
          <p:cNvPr id="31" name="Rounded Rectangle 30"/>
          <p:cNvSpPr/>
          <p:nvPr/>
        </p:nvSpPr>
        <p:spPr>
          <a:xfrm>
            <a:off x="10450576" y="5184648"/>
            <a:ext cx="1098296" cy="603504"/>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0450576" y="5184648"/>
            <a:ext cx="1098296" cy="603504"/>
          </a:xfrm>
          <a:prstGeom prst="rect">
            <a:avLst/>
          </a:prstGeom>
          <a:noFill/>
        </p:spPr>
        <p:txBody>
          <a:bodyPr wrap="square" lIns="0" tIns="0" rIns="0" bIns="0" anchor="ctr">
            <a:spAutoFit/>
          </a:bodyPr>
          <a:lstStyle/>
          <a:p>
            <a:pPr algn="ctr"/>
            <a:r>
              <a:rPr sz="950" b="0" i="0">
                <a:solidFill>
                  <a:srgbClr val="5F6178"/>
                </a:solidFill>
                <a:latin typeface="Arial"/>
              </a:rPr>
              <a:t>Put together</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19" y="1828800"/>
            <a:ext cx="2194560" cy="1371600"/>
          </a:xfrm>
          <a:prstGeom prst="rect">
            <a:avLst/>
          </a:prstGeom>
          <a:noFill/>
        </p:spPr>
        <p:txBody>
          <a:bodyPr wrap="square" lIns="0" tIns="0" rIns="0" bIns="0" anchor="t">
            <a:spAutoFit/>
          </a:bodyPr>
          <a:lstStyle/>
          <a:p>
            <a:pPr algn="l"/>
            <a:r>
              <a:rPr sz="7600" b="1" i="0">
                <a:solidFill>
                  <a:srgbClr val="B4B8DA"/>
                </a:solidFill>
                <a:latin typeface="Arial"/>
              </a:rPr>
              <a:t>04</a:t>
            </a:r>
          </a:p>
        </p:txBody>
      </p:sp>
      <p:sp>
        <p:nvSpPr>
          <p:cNvPr id="3" name="TextBox 2"/>
          <p:cNvSpPr txBox="1"/>
          <p:nvPr/>
        </p:nvSpPr>
        <p:spPr>
          <a:xfrm>
            <a:off x="731519" y="3017520"/>
            <a:ext cx="10058400" cy="868680"/>
          </a:xfrm>
          <a:prstGeom prst="rect">
            <a:avLst/>
          </a:prstGeom>
          <a:noFill/>
        </p:spPr>
        <p:txBody>
          <a:bodyPr wrap="square" lIns="0" tIns="0" rIns="0" bIns="0" anchor="t">
            <a:spAutoFit/>
          </a:bodyPr>
          <a:lstStyle/>
          <a:p>
            <a:pPr algn="l"/>
            <a:r>
              <a:rPr sz="3600" b="1" i="0">
                <a:solidFill>
                  <a:srgbClr val="211D71"/>
                </a:solidFill>
                <a:latin typeface="Arial"/>
              </a:rPr>
              <a:t>Backlog and Roadmap</a:t>
            </a:r>
          </a:p>
        </p:txBody>
      </p:sp>
      <p:sp>
        <p:nvSpPr>
          <p:cNvPr id="4" name="Rectangle 3"/>
          <p:cNvSpPr/>
          <p:nvPr/>
        </p:nvSpPr>
        <p:spPr>
          <a:xfrm>
            <a:off x="777240" y="3977639"/>
            <a:ext cx="914400" cy="50292"/>
          </a:xfrm>
          <a:prstGeom prst="rect">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691639" y="3977639"/>
            <a:ext cx="914400" cy="50292"/>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606039" y="3977639"/>
            <a:ext cx="914400" cy="50292"/>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19" y="4187952"/>
            <a:ext cx="10058400" cy="457200"/>
          </a:xfrm>
          <a:prstGeom prst="rect">
            <a:avLst/>
          </a:prstGeom>
          <a:noFill/>
        </p:spPr>
        <p:txBody>
          <a:bodyPr wrap="square" lIns="0" tIns="0" rIns="0" bIns="0" anchor="t">
            <a:spAutoFit/>
          </a:bodyPr>
          <a:lstStyle/>
          <a:p>
            <a:pPr algn="l"/>
            <a:r>
              <a:rPr sz="1400" b="0" i="0">
                <a:solidFill>
                  <a:srgbClr val="5F6178"/>
                </a:solidFill>
                <a:latin typeface="Arial"/>
              </a:rPr>
              <a:t>Where all these decisions get written down   ·   56–62 min</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74320"/>
            <a:ext cx="10908792" cy="237744"/>
          </a:xfrm>
          <a:prstGeom prst="rect">
            <a:avLst/>
          </a:prstGeom>
          <a:noFill/>
        </p:spPr>
        <p:txBody>
          <a:bodyPr wrap="square" lIns="0" tIns="0" rIns="0" bIns="0" anchor="t">
            <a:spAutoFit/>
          </a:bodyPr>
          <a:lstStyle/>
          <a:p>
            <a:pPr algn="l"/>
            <a:r>
              <a:rPr sz="1000" b="1" i="0" spc="140">
                <a:solidFill>
                  <a:srgbClr val="A9740A"/>
                </a:solidFill>
                <a:latin typeface="Arial"/>
              </a:rPr>
              <a:t>BACKLOG</a:t>
            </a:r>
          </a:p>
        </p:txBody>
      </p:sp>
      <p:sp>
        <p:nvSpPr>
          <p:cNvPr id="3" name="TextBox 2"/>
          <p:cNvSpPr txBox="1"/>
          <p:nvPr/>
        </p:nvSpPr>
        <p:spPr>
          <a:xfrm>
            <a:off x="640080" y="548640"/>
            <a:ext cx="8229600" cy="640080"/>
          </a:xfrm>
          <a:prstGeom prst="rect">
            <a:avLst/>
          </a:prstGeom>
          <a:noFill/>
        </p:spPr>
        <p:txBody>
          <a:bodyPr wrap="square" lIns="0" tIns="0" rIns="0" bIns="0" anchor="t">
            <a:spAutoFit/>
          </a:bodyPr>
          <a:lstStyle/>
          <a:p>
            <a:pPr algn="l"/>
            <a:r>
              <a:rPr sz="2400" b="1" i="0">
                <a:solidFill>
                  <a:srgbClr val="211D71"/>
                </a:solidFill>
                <a:latin typeface="Arial"/>
              </a:rPr>
              <a:t>A backlog is a queue, not a pile</a:t>
            </a:r>
          </a:p>
        </p:txBody>
      </p:sp>
      <p:sp>
        <p:nvSpPr>
          <p:cNvPr id="4" name="Rounded Rectangle 3"/>
          <p:cNvSpPr/>
          <p:nvPr/>
        </p:nvSpPr>
        <p:spPr>
          <a:xfrm>
            <a:off x="640080" y="1572768"/>
            <a:ext cx="10908792" cy="1234440"/>
          </a:xfrm>
          <a:prstGeom prst="roundRect">
            <a:avLst>
              <a:gd name="adj" fmla="val 5500"/>
            </a:avLst>
          </a:prstGeom>
          <a:solidFill>
            <a:srgbClr val="FEF4DC"/>
          </a:solidFill>
          <a:ln w="15875">
            <a:solidFill>
              <a:srgbClr val="FCB0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719072"/>
            <a:ext cx="10360152" cy="237744"/>
          </a:xfrm>
          <a:prstGeom prst="rect">
            <a:avLst/>
          </a:prstGeom>
          <a:noFill/>
        </p:spPr>
        <p:txBody>
          <a:bodyPr wrap="square" lIns="0" tIns="0" rIns="0" bIns="0" anchor="t">
            <a:spAutoFit/>
          </a:bodyPr>
          <a:lstStyle/>
          <a:p>
            <a:pPr algn="l"/>
            <a:r>
              <a:rPr sz="1000" b="1" i="0" spc="140">
                <a:solidFill>
                  <a:srgbClr val="A9740A"/>
                </a:solidFill>
                <a:latin typeface="Arial"/>
              </a:rPr>
              <a:t>THINK OF IT LIKE THIS</a:t>
            </a:r>
          </a:p>
        </p:txBody>
      </p:sp>
      <p:sp>
        <p:nvSpPr>
          <p:cNvPr id="6" name="TextBox 5"/>
          <p:cNvSpPr txBox="1"/>
          <p:nvPr/>
        </p:nvSpPr>
        <p:spPr>
          <a:xfrm>
            <a:off x="914400" y="1975104"/>
            <a:ext cx="10360152" cy="685800"/>
          </a:xfrm>
          <a:prstGeom prst="rect">
            <a:avLst/>
          </a:prstGeom>
          <a:noFill/>
        </p:spPr>
        <p:txBody>
          <a:bodyPr wrap="square" lIns="0" tIns="0" rIns="0" bIns="0" anchor="t">
            <a:spAutoFit/>
          </a:bodyPr>
          <a:lstStyle/>
          <a:p>
            <a:pPr algn="l">
              <a:lnSpc>
                <a:spcPts val="2400"/>
              </a:lnSpc>
            </a:pPr>
            <a:r>
              <a:rPr sz="1700" b="1" i="0">
                <a:solidFill>
                  <a:srgbClr val="211D71"/>
                </a:solidFill>
                <a:latin typeface="Arial"/>
              </a:rPr>
              <a:t>A queue at a counter: everyone is in one line, and nobody shares a position. A pile is just things on top of other things.</a:t>
            </a:r>
          </a:p>
        </p:txBody>
      </p:sp>
      <p:sp>
        <p:nvSpPr>
          <p:cNvPr id="7" name="Rounded Rectangle 6"/>
          <p:cNvSpPr/>
          <p:nvPr/>
        </p:nvSpPr>
        <p:spPr>
          <a:xfrm>
            <a:off x="640080" y="3035808"/>
            <a:ext cx="5271516" cy="2331720"/>
          </a:xfrm>
          <a:prstGeom prst="roundRect">
            <a:avLst>
              <a:gd name="adj" fmla="val 5500"/>
            </a:avLst>
          </a:prstGeom>
          <a:solidFill>
            <a:srgbClr val="FBE9E9"/>
          </a:solidFill>
          <a:ln w="15875">
            <a:solidFill>
              <a:srgbClr val="E31C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96112" y="3218688"/>
            <a:ext cx="4759452" cy="347472"/>
          </a:xfrm>
          <a:prstGeom prst="rect">
            <a:avLst/>
          </a:prstGeom>
          <a:noFill/>
        </p:spPr>
        <p:txBody>
          <a:bodyPr wrap="square" lIns="0" tIns="0" rIns="0" bIns="0" anchor="t">
            <a:spAutoFit/>
          </a:bodyPr>
          <a:lstStyle/>
          <a:p>
            <a:pPr algn="l"/>
            <a:r>
              <a:rPr sz="1600" b="1" i="0">
                <a:solidFill>
                  <a:srgbClr val="E31C24"/>
                </a:solidFill>
                <a:latin typeface="Arial"/>
              </a:rPr>
              <a:t>✗   A pile</a:t>
            </a:r>
          </a:p>
        </p:txBody>
      </p:sp>
      <p:sp>
        <p:nvSpPr>
          <p:cNvPr id="9" name="TextBox 8"/>
          <p:cNvSpPr txBox="1"/>
          <p:nvPr/>
        </p:nvSpPr>
        <p:spPr>
          <a:xfrm>
            <a:off x="896112" y="3694176"/>
            <a:ext cx="4759452" cy="1490472"/>
          </a:xfrm>
          <a:prstGeom prst="rect">
            <a:avLst/>
          </a:prstGeom>
          <a:noFill/>
        </p:spPr>
        <p:txBody>
          <a:bodyPr wrap="square" lIns="0" tIns="0" rIns="0" bIns="0">
            <a:spAutoFit/>
          </a:bodyPr>
          <a:lstStyle/>
          <a:p>
            <a:pPr marL="173736" indent="-173736">
              <a:lnSpc>
                <a:spcPts val="1900"/>
              </a:lnSpc>
              <a:spcAft>
                <a:spcPts val="1000"/>
              </a:spcAft>
              <a:buChar char="•"/>
            </a:pPr>
            <a:r>
              <a:rPr sz="1400" b="0">
                <a:solidFill>
                  <a:srgbClr val="22223B"/>
                </a:solidFill>
                <a:latin typeface="Arial"/>
              </a:rPr>
              <a:t>800 items, 700 never read again</a:t>
            </a:r>
          </a:p>
          <a:p>
            <a:pPr marL="173736" indent="-173736">
              <a:lnSpc>
                <a:spcPts val="1900"/>
              </a:lnSpc>
              <a:spcAft>
                <a:spcPts val="1000"/>
              </a:spcAft>
              <a:buChar char="•"/>
            </a:pPr>
            <a:r>
              <a:rPr sz="1400" b="0">
                <a:solidFill>
                  <a:srgbClr val="22223B"/>
                </a:solidFill>
                <a:latin typeface="Arial"/>
              </a:rPr>
              <a:t>A "priority" column where everything says High</a:t>
            </a:r>
          </a:p>
          <a:p>
            <a:pPr marL="173736" indent="-173736">
              <a:lnSpc>
                <a:spcPts val="1900"/>
              </a:lnSpc>
              <a:spcAft>
                <a:spcPts val="1000"/>
              </a:spcAft>
              <a:buChar char="•"/>
            </a:pPr>
            <a:r>
              <a:rPr sz="1400" b="0">
                <a:solidFill>
                  <a:srgbClr val="22223B"/>
                </a:solidFill>
                <a:latin typeface="Arial"/>
              </a:rPr>
              <a:t>Nobody can say what comes after the current thing</a:t>
            </a:r>
          </a:p>
          <a:p>
            <a:pPr marL="173736" indent="-173736">
              <a:lnSpc>
                <a:spcPts val="1900"/>
              </a:lnSpc>
              <a:spcAft>
                <a:spcPts val="1000"/>
              </a:spcAft>
              <a:buChar char="•"/>
            </a:pPr>
            <a:r>
              <a:rPr sz="1400" b="0">
                <a:solidFill>
                  <a:srgbClr val="22223B"/>
                </a:solidFill>
                <a:latin typeface="Arial"/>
              </a:rPr>
              <a:t>Every refinement meeting starts by re-reading it</a:t>
            </a:r>
          </a:p>
        </p:txBody>
      </p:sp>
      <p:sp>
        <p:nvSpPr>
          <p:cNvPr id="10" name="Rounded Rectangle 9"/>
          <p:cNvSpPr/>
          <p:nvPr/>
        </p:nvSpPr>
        <p:spPr>
          <a:xfrm>
            <a:off x="6277356" y="3035808"/>
            <a:ext cx="5271516" cy="2331720"/>
          </a:xfrm>
          <a:prstGeom prst="roundRect">
            <a:avLst>
              <a:gd name="adj" fmla="val 5500"/>
            </a:avLst>
          </a:prstGeom>
          <a:solidFill>
            <a:srgbClr val="E8F5EE"/>
          </a:solidFill>
          <a:ln w="15875">
            <a:solidFill>
              <a:srgbClr val="1E7A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33388" y="3218688"/>
            <a:ext cx="4759452" cy="347472"/>
          </a:xfrm>
          <a:prstGeom prst="rect">
            <a:avLst/>
          </a:prstGeom>
          <a:noFill/>
        </p:spPr>
        <p:txBody>
          <a:bodyPr wrap="square" lIns="0" tIns="0" rIns="0" bIns="0" anchor="t">
            <a:spAutoFit/>
          </a:bodyPr>
          <a:lstStyle/>
          <a:p>
            <a:pPr algn="l"/>
            <a:r>
              <a:rPr sz="1600" b="1" i="0">
                <a:solidFill>
                  <a:srgbClr val="1E7A4C"/>
                </a:solidFill>
                <a:latin typeface="Arial"/>
              </a:rPr>
              <a:t>✓   A queue</a:t>
            </a:r>
          </a:p>
        </p:txBody>
      </p:sp>
      <p:sp>
        <p:nvSpPr>
          <p:cNvPr id="12" name="TextBox 11"/>
          <p:cNvSpPr txBox="1"/>
          <p:nvPr/>
        </p:nvSpPr>
        <p:spPr>
          <a:xfrm>
            <a:off x="6533388" y="3694176"/>
            <a:ext cx="4759452" cy="1490472"/>
          </a:xfrm>
          <a:prstGeom prst="rect">
            <a:avLst/>
          </a:prstGeom>
          <a:noFill/>
        </p:spPr>
        <p:txBody>
          <a:bodyPr wrap="square" lIns="0" tIns="0" rIns="0" bIns="0">
            <a:spAutoFit/>
          </a:bodyPr>
          <a:lstStyle/>
          <a:p>
            <a:pPr marL="173736" indent="-173736">
              <a:lnSpc>
                <a:spcPts val="1900"/>
              </a:lnSpc>
              <a:spcAft>
                <a:spcPts val="1000"/>
              </a:spcAft>
              <a:buChar char="•"/>
            </a:pPr>
            <a:r>
              <a:rPr sz="1400" b="0">
                <a:solidFill>
                  <a:srgbClr val="22223B"/>
                </a:solidFill>
                <a:latin typeface="Arial"/>
              </a:rPr>
              <a:t>One list, top to bottom, no ties</a:t>
            </a:r>
          </a:p>
          <a:p>
            <a:pPr marL="173736" indent="-173736">
              <a:lnSpc>
                <a:spcPts val="1900"/>
              </a:lnSpc>
              <a:spcAft>
                <a:spcPts val="1000"/>
              </a:spcAft>
              <a:buChar char="•"/>
            </a:pPr>
            <a:r>
              <a:rPr sz="1400" b="0">
                <a:solidFill>
                  <a:srgbClr val="22223B"/>
                </a:solidFill>
                <a:latin typeface="Arial"/>
              </a:rPr>
              <a:t>The position IS the priority — no extra column</a:t>
            </a:r>
          </a:p>
          <a:p>
            <a:pPr marL="173736" indent="-173736">
              <a:lnSpc>
                <a:spcPts val="1900"/>
              </a:lnSpc>
              <a:spcAft>
                <a:spcPts val="1000"/>
              </a:spcAft>
              <a:buChar char="•"/>
            </a:pPr>
            <a:r>
              <a:rPr sz="1400" b="0">
                <a:solidFill>
                  <a:srgbClr val="22223B"/>
                </a:solidFill>
                <a:latin typeface="Arial"/>
              </a:rPr>
              <a:t>Anyone can point at what is next</a:t>
            </a:r>
          </a:p>
          <a:p>
            <a:pPr marL="173736" indent="-173736">
              <a:lnSpc>
                <a:spcPts val="1900"/>
              </a:lnSpc>
              <a:spcAft>
                <a:spcPts val="1000"/>
              </a:spcAft>
              <a:buChar char="•"/>
            </a:pPr>
            <a:r>
              <a:rPr sz="1400" b="0">
                <a:solidFill>
                  <a:srgbClr val="22223B"/>
                </a:solidFill>
                <a:latin typeface="Arial"/>
              </a:rPr>
              <a:t>Old items are archived, not carried forever</a:t>
            </a:r>
          </a:p>
        </p:txBody>
      </p:sp>
      <p:sp>
        <p:nvSpPr>
          <p:cNvPr id="13" name="Rounded Rectangle 12"/>
          <p:cNvSpPr/>
          <p:nvPr/>
        </p:nvSpPr>
        <p:spPr>
          <a:xfrm>
            <a:off x="640080" y="5550408"/>
            <a:ext cx="10908792" cy="658368"/>
          </a:xfrm>
          <a:prstGeom prst="roundRect">
            <a:avLst>
              <a:gd name="adj" fmla="val 5500"/>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68680" y="5586984"/>
            <a:ext cx="10451592" cy="585216"/>
          </a:xfrm>
          <a:prstGeom prst="rect">
            <a:avLst/>
          </a:prstGeom>
          <a:noFill/>
        </p:spPr>
        <p:txBody>
          <a:bodyPr wrap="square" lIns="0" tIns="0" rIns="0" bIns="0" anchor="ctr">
            <a:spAutoFit/>
          </a:bodyPr>
          <a:lstStyle/>
          <a:p>
            <a:pPr algn="l"/>
            <a:r>
              <a:rPr sz="1350" b="1" i="0">
                <a:solidFill>
                  <a:srgbClr val="FFFFFF"/>
                </a:solidFill>
                <a:latin typeface="Arial"/>
              </a:rPr>
              <a:t>Deleting an item is safe — it stays in the history. Carrying 700 dead items is not safe: it taxes every meeting, forever.</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74320"/>
            <a:ext cx="10908792" cy="237744"/>
          </a:xfrm>
          <a:prstGeom prst="rect">
            <a:avLst/>
          </a:prstGeom>
          <a:noFill/>
        </p:spPr>
        <p:txBody>
          <a:bodyPr wrap="square" lIns="0" tIns="0" rIns="0" bIns="0" anchor="t">
            <a:spAutoFit/>
          </a:bodyPr>
          <a:lstStyle/>
          <a:p>
            <a:pPr algn="l"/>
            <a:r>
              <a:rPr sz="1000" b="1" i="0" spc="140">
                <a:solidFill>
                  <a:srgbClr val="A9740A"/>
                </a:solidFill>
                <a:latin typeface="Arial"/>
              </a:rPr>
              <a:t>BACKLOG</a:t>
            </a:r>
          </a:p>
        </p:txBody>
      </p:sp>
      <p:sp>
        <p:nvSpPr>
          <p:cNvPr id="3" name="TextBox 2"/>
          <p:cNvSpPr txBox="1"/>
          <p:nvPr/>
        </p:nvSpPr>
        <p:spPr>
          <a:xfrm>
            <a:off x="640080" y="548640"/>
            <a:ext cx="8229600" cy="640080"/>
          </a:xfrm>
          <a:prstGeom prst="rect">
            <a:avLst/>
          </a:prstGeom>
          <a:noFill/>
        </p:spPr>
        <p:txBody>
          <a:bodyPr wrap="square" lIns="0" tIns="0" rIns="0" bIns="0" anchor="t">
            <a:spAutoFit/>
          </a:bodyPr>
          <a:lstStyle/>
          <a:p>
            <a:pPr algn="l"/>
            <a:r>
              <a:rPr sz="2400" b="1" i="0">
                <a:solidFill>
                  <a:srgbClr val="211D71"/>
                </a:solidFill>
                <a:latin typeface="Arial"/>
              </a:rPr>
              <a:t>Detail only what is coming soon</a:t>
            </a:r>
          </a:p>
        </p:txBody>
      </p:sp>
      <p:sp>
        <p:nvSpPr>
          <p:cNvPr id="4" name="Rounded Rectangle 3"/>
          <p:cNvSpPr/>
          <p:nvPr/>
        </p:nvSpPr>
        <p:spPr>
          <a:xfrm>
            <a:off x="2194560" y="1664207"/>
            <a:ext cx="3291840" cy="640080"/>
          </a:xfrm>
          <a:prstGeom prst="roundRect">
            <a:avLst>
              <a:gd name="adj" fmla="val 5500"/>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194560" y="1664207"/>
            <a:ext cx="3291840" cy="640080"/>
          </a:xfrm>
          <a:prstGeom prst="rect">
            <a:avLst/>
          </a:prstGeom>
          <a:noFill/>
        </p:spPr>
        <p:txBody>
          <a:bodyPr wrap="square" lIns="0" tIns="0" rIns="0" bIns="0" anchor="ctr">
            <a:spAutoFit/>
          </a:bodyPr>
          <a:lstStyle/>
          <a:p>
            <a:pPr algn="ctr"/>
            <a:r>
              <a:rPr sz="1450" b="1" i="0">
                <a:solidFill>
                  <a:srgbClr val="FFFFFF"/>
                </a:solidFill>
                <a:latin typeface="Arial"/>
              </a:rPr>
              <a:t>This sprint</a:t>
            </a:r>
          </a:p>
        </p:txBody>
      </p:sp>
      <p:sp>
        <p:nvSpPr>
          <p:cNvPr id="6" name="TextBox 5"/>
          <p:cNvSpPr txBox="1"/>
          <p:nvPr/>
        </p:nvSpPr>
        <p:spPr>
          <a:xfrm>
            <a:off x="7589519" y="1691640"/>
            <a:ext cx="4023360" cy="585216"/>
          </a:xfrm>
          <a:prstGeom prst="rect">
            <a:avLst/>
          </a:prstGeom>
          <a:noFill/>
        </p:spPr>
        <p:txBody>
          <a:bodyPr wrap="square" lIns="0" tIns="0" rIns="0" bIns="0" anchor="ctr">
            <a:spAutoFit/>
          </a:bodyPr>
          <a:lstStyle/>
          <a:p>
            <a:pPr algn="l">
              <a:lnSpc>
                <a:spcPts val="1600"/>
              </a:lnSpc>
            </a:pPr>
            <a:r>
              <a:rPr sz="1250" b="0" i="0">
                <a:solidFill>
                  <a:srgbClr val="22223B"/>
                </a:solidFill>
                <a:latin typeface="Arial"/>
              </a:rPr>
              <a:t>Fully written. Acceptance criteria, sized, agreed with the team.</a:t>
            </a:r>
          </a:p>
        </p:txBody>
      </p:sp>
      <p:sp>
        <p:nvSpPr>
          <p:cNvPr id="7" name="Rounded Rectangle 6"/>
          <p:cNvSpPr/>
          <p:nvPr/>
        </p:nvSpPr>
        <p:spPr>
          <a:xfrm>
            <a:off x="2468880" y="2468880"/>
            <a:ext cx="2743200" cy="640080"/>
          </a:xfrm>
          <a:prstGeom prst="roundRect">
            <a:avLst>
              <a:gd name="adj" fmla="val 5500"/>
            </a:avLst>
          </a:prstGeom>
          <a:solidFill>
            <a:srgbClr val="3B3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468880" y="2468880"/>
            <a:ext cx="2743200" cy="640080"/>
          </a:xfrm>
          <a:prstGeom prst="rect">
            <a:avLst/>
          </a:prstGeom>
          <a:noFill/>
        </p:spPr>
        <p:txBody>
          <a:bodyPr wrap="square" lIns="0" tIns="0" rIns="0" bIns="0" anchor="ctr">
            <a:spAutoFit/>
          </a:bodyPr>
          <a:lstStyle/>
          <a:p>
            <a:pPr algn="ctr"/>
            <a:r>
              <a:rPr sz="1450" b="1" i="0">
                <a:solidFill>
                  <a:srgbClr val="FFFFFF"/>
                </a:solidFill>
                <a:latin typeface="Arial"/>
              </a:rPr>
              <a:t>Next month</a:t>
            </a:r>
          </a:p>
        </p:txBody>
      </p:sp>
      <p:sp>
        <p:nvSpPr>
          <p:cNvPr id="9" name="TextBox 8"/>
          <p:cNvSpPr txBox="1"/>
          <p:nvPr/>
        </p:nvSpPr>
        <p:spPr>
          <a:xfrm>
            <a:off x="7589519" y="2496312"/>
            <a:ext cx="4023360" cy="585216"/>
          </a:xfrm>
          <a:prstGeom prst="rect">
            <a:avLst/>
          </a:prstGeom>
          <a:noFill/>
        </p:spPr>
        <p:txBody>
          <a:bodyPr wrap="square" lIns="0" tIns="0" rIns="0" bIns="0" anchor="ctr">
            <a:spAutoFit/>
          </a:bodyPr>
          <a:lstStyle/>
          <a:p>
            <a:pPr algn="l">
              <a:lnSpc>
                <a:spcPts val="1600"/>
              </a:lnSpc>
            </a:pPr>
            <a:r>
              <a:rPr sz="1250" b="0" i="0">
                <a:solidFill>
                  <a:srgbClr val="22223B"/>
                </a:solidFill>
                <a:latin typeface="Arial"/>
              </a:rPr>
              <a:t>A clear story, roughly sized, open questions listed.</a:t>
            </a:r>
          </a:p>
        </p:txBody>
      </p:sp>
      <p:sp>
        <p:nvSpPr>
          <p:cNvPr id="10" name="Rounded Rectangle 9"/>
          <p:cNvSpPr/>
          <p:nvPr/>
        </p:nvSpPr>
        <p:spPr>
          <a:xfrm>
            <a:off x="2743200" y="3273552"/>
            <a:ext cx="2194560" cy="640080"/>
          </a:xfrm>
          <a:prstGeom prst="roundRect">
            <a:avLst>
              <a:gd name="adj" fmla="val 5500"/>
            </a:avLst>
          </a:prstGeom>
          <a:solidFill>
            <a:srgbClr val="6C68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743200" y="3273552"/>
            <a:ext cx="2194560" cy="640080"/>
          </a:xfrm>
          <a:prstGeom prst="rect">
            <a:avLst/>
          </a:prstGeom>
          <a:noFill/>
        </p:spPr>
        <p:txBody>
          <a:bodyPr wrap="square" lIns="0" tIns="0" rIns="0" bIns="0" anchor="ctr">
            <a:spAutoFit/>
          </a:bodyPr>
          <a:lstStyle/>
          <a:p>
            <a:pPr algn="ctr"/>
            <a:r>
              <a:rPr sz="1450" b="1" i="0">
                <a:solidFill>
                  <a:srgbClr val="FFFFFF"/>
                </a:solidFill>
                <a:latin typeface="Arial"/>
              </a:rPr>
              <a:t>This quarter</a:t>
            </a:r>
          </a:p>
        </p:txBody>
      </p:sp>
      <p:sp>
        <p:nvSpPr>
          <p:cNvPr id="12" name="TextBox 11"/>
          <p:cNvSpPr txBox="1"/>
          <p:nvPr/>
        </p:nvSpPr>
        <p:spPr>
          <a:xfrm>
            <a:off x="7589519" y="3300984"/>
            <a:ext cx="4023360" cy="585216"/>
          </a:xfrm>
          <a:prstGeom prst="rect">
            <a:avLst/>
          </a:prstGeom>
          <a:noFill/>
        </p:spPr>
        <p:txBody>
          <a:bodyPr wrap="square" lIns="0" tIns="0" rIns="0" bIns="0" anchor="ctr">
            <a:spAutoFit/>
          </a:bodyPr>
          <a:lstStyle/>
          <a:p>
            <a:pPr algn="l">
              <a:lnSpc>
                <a:spcPts val="1600"/>
              </a:lnSpc>
            </a:pPr>
            <a:r>
              <a:rPr sz="1250" b="0" i="0">
                <a:solidFill>
                  <a:srgbClr val="22223B"/>
                </a:solidFill>
                <a:latin typeface="Arial"/>
              </a:rPr>
              <a:t>A problem statement and a rough size. Solution left open.</a:t>
            </a:r>
          </a:p>
        </p:txBody>
      </p:sp>
      <p:sp>
        <p:nvSpPr>
          <p:cNvPr id="13" name="Rounded Rectangle 12"/>
          <p:cNvSpPr/>
          <p:nvPr/>
        </p:nvSpPr>
        <p:spPr>
          <a:xfrm>
            <a:off x="3017520" y="4078224"/>
            <a:ext cx="1645920" cy="640080"/>
          </a:xfrm>
          <a:prstGeom prst="roundRect">
            <a:avLst>
              <a:gd name="adj" fmla="val 5500"/>
            </a:avLst>
          </a:prstGeom>
          <a:solidFill>
            <a:srgbClr val="A5A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017520" y="4078224"/>
            <a:ext cx="1645920" cy="640080"/>
          </a:xfrm>
          <a:prstGeom prst="rect">
            <a:avLst/>
          </a:prstGeom>
          <a:noFill/>
        </p:spPr>
        <p:txBody>
          <a:bodyPr wrap="square" lIns="0" tIns="0" rIns="0" bIns="0" anchor="ctr">
            <a:spAutoFit/>
          </a:bodyPr>
          <a:lstStyle/>
          <a:p>
            <a:pPr algn="ctr"/>
            <a:r>
              <a:rPr sz="1450" b="1" i="0">
                <a:solidFill>
                  <a:srgbClr val="FFFFFF"/>
                </a:solidFill>
                <a:latin typeface="Arial"/>
              </a:rPr>
              <a:t>Someday</a:t>
            </a:r>
          </a:p>
        </p:txBody>
      </p:sp>
      <p:sp>
        <p:nvSpPr>
          <p:cNvPr id="15" name="TextBox 14"/>
          <p:cNvSpPr txBox="1"/>
          <p:nvPr/>
        </p:nvSpPr>
        <p:spPr>
          <a:xfrm>
            <a:off x="7589519" y="4105656"/>
            <a:ext cx="4023360" cy="585216"/>
          </a:xfrm>
          <a:prstGeom prst="rect">
            <a:avLst/>
          </a:prstGeom>
          <a:noFill/>
        </p:spPr>
        <p:txBody>
          <a:bodyPr wrap="square" lIns="0" tIns="0" rIns="0" bIns="0" anchor="ctr">
            <a:spAutoFit/>
          </a:bodyPr>
          <a:lstStyle/>
          <a:p>
            <a:pPr algn="l">
              <a:lnSpc>
                <a:spcPts val="1600"/>
              </a:lnSpc>
            </a:pPr>
            <a:r>
              <a:rPr sz="1250" b="0" i="0">
                <a:solidFill>
                  <a:srgbClr val="22223B"/>
                </a:solidFill>
                <a:latin typeface="Arial"/>
              </a:rPr>
              <a:t>One line. No estimate at all.</a:t>
            </a:r>
          </a:p>
        </p:txBody>
      </p:sp>
      <p:sp>
        <p:nvSpPr>
          <p:cNvPr id="16" name="Rounded Rectangle 15"/>
          <p:cNvSpPr/>
          <p:nvPr/>
        </p:nvSpPr>
        <p:spPr>
          <a:xfrm>
            <a:off x="640080" y="5001768"/>
            <a:ext cx="10908792" cy="1188720"/>
          </a:xfrm>
          <a:prstGeom prst="roundRect">
            <a:avLst>
              <a:gd name="adj" fmla="val 5500"/>
            </a:avLst>
          </a:prstGeom>
          <a:solidFill>
            <a:srgbClr val="FEF4DC"/>
          </a:solidFill>
          <a:ln w="15875">
            <a:solidFill>
              <a:srgbClr val="FCB0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14400" y="5148072"/>
            <a:ext cx="10360152" cy="237744"/>
          </a:xfrm>
          <a:prstGeom prst="rect">
            <a:avLst/>
          </a:prstGeom>
          <a:noFill/>
        </p:spPr>
        <p:txBody>
          <a:bodyPr wrap="square" lIns="0" tIns="0" rIns="0" bIns="0" anchor="t">
            <a:spAutoFit/>
          </a:bodyPr>
          <a:lstStyle/>
          <a:p>
            <a:pPr algn="l"/>
            <a:r>
              <a:rPr sz="1000" b="1" i="0" spc="140">
                <a:solidFill>
                  <a:srgbClr val="A9740A"/>
                </a:solidFill>
                <a:latin typeface="Arial"/>
              </a:rPr>
              <a:t>THINK OF IT LIKE THIS</a:t>
            </a:r>
          </a:p>
        </p:txBody>
      </p:sp>
      <p:sp>
        <p:nvSpPr>
          <p:cNvPr id="18" name="TextBox 17"/>
          <p:cNvSpPr txBox="1"/>
          <p:nvPr/>
        </p:nvSpPr>
        <p:spPr>
          <a:xfrm>
            <a:off x="914400" y="5404104"/>
            <a:ext cx="10360152" cy="640080"/>
          </a:xfrm>
          <a:prstGeom prst="rect">
            <a:avLst/>
          </a:prstGeom>
          <a:noFill/>
        </p:spPr>
        <p:txBody>
          <a:bodyPr wrap="square" lIns="0" tIns="0" rIns="0" bIns="0" anchor="t">
            <a:spAutoFit/>
          </a:bodyPr>
          <a:lstStyle/>
          <a:p>
            <a:pPr algn="l">
              <a:lnSpc>
                <a:spcPts val="2400"/>
              </a:lnSpc>
            </a:pPr>
            <a:r>
              <a:rPr sz="1500" b="1" i="0">
                <a:solidFill>
                  <a:srgbClr val="211D71"/>
                </a:solidFill>
                <a:latin typeface="Arial"/>
              </a:rPr>
              <a:t>Time spent writing up an item you never build is simply wasted. Most of the bottom of a backlog is never built. So write it up late, just before you need it.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74320"/>
            <a:ext cx="10908792" cy="237744"/>
          </a:xfrm>
          <a:prstGeom prst="rect">
            <a:avLst/>
          </a:prstGeom>
          <a:noFill/>
        </p:spPr>
        <p:txBody>
          <a:bodyPr wrap="square" lIns="0" tIns="0" rIns="0" bIns="0" anchor="t">
            <a:spAutoFit/>
          </a:bodyPr>
          <a:lstStyle/>
          <a:p>
            <a:pPr algn="l"/>
            <a:r>
              <a:rPr sz="1000" b="1" i="0" spc="140">
                <a:solidFill>
                  <a:srgbClr val="A9740A"/>
                </a:solidFill>
                <a:latin typeface="Arial"/>
              </a:rPr>
              <a:t>ROADMAP</a:t>
            </a:r>
          </a:p>
        </p:txBody>
      </p:sp>
      <p:sp>
        <p:nvSpPr>
          <p:cNvPr id="3" name="TextBox 2"/>
          <p:cNvSpPr txBox="1"/>
          <p:nvPr/>
        </p:nvSpPr>
        <p:spPr>
          <a:xfrm>
            <a:off x="640080" y="548640"/>
            <a:ext cx="8229600" cy="640080"/>
          </a:xfrm>
          <a:prstGeom prst="rect">
            <a:avLst/>
          </a:prstGeom>
          <a:noFill/>
        </p:spPr>
        <p:txBody>
          <a:bodyPr wrap="square" lIns="0" tIns="0" rIns="0" bIns="0" anchor="t">
            <a:spAutoFit/>
          </a:bodyPr>
          <a:lstStyle/>
          <a:p>
            <a:pPr algn="l"/>
            <a:r>
              <a:rPr sz="2400" b="1" i="0">
                <a:solidFill>
                  <a:srgbClr val="211D71"/>
                </a:solidFill>
                <a:latin typeface="Arial"/>
              </a:rPr>
              <a:t>A roadmap is not a list of dates</a:t>
            </a:r>
          </a:p>
        </p:txBody>
      </p:sp>
      <p:sp>
        <p:nvSpPr>
          <p:cNvPr id="4" name="Rounded Rectangle 3"/>
          <p:cNvSpPr/>
          <p:nvPr/>
        </p:nvSpPr>
        <p:spPr>
          <a:xfrm>
            <a:off x="640080" y="1618488"/>
            <a:ext cx="5271516" cy="3200400"/>
          </a:xfrm>
          <a:prstGeom prst="roundRect">
            <a:avLst>
              <a:gd name="adj" fmla="val 5500"/>
            </a:avLst>
          </a:prstGeom>
          <a:solidFill>
            <a:srgbClr val="FBE9E9"/>
          </a:solidFill>
          <a:ln w="15875">
            <a:solidFill>
              <a:srgbClr val="E31C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96112" y="1801367"/>
            <a:ext cx="4759452" cy="347472"/>
          </a:xfrm>
          <a:prstGeom prst="rect">
            <a:avLst/>
          </a:prstGeom>
          <a:noFill/>
        </p:spPr>
        <p:txBody>
          <a:bodyPr wrap="square" lIns="0" tIns="0" rIns="0" bIns="0" anchor="t">
            <a:spAutoFit/>
          </a:bodyPr>
          <a:lstStyle/>
          <a:p>
            <a:pPr algn="l"/>
            <a:r>
              <a:rPr sz="1600" b="1" i="0">
                <a:solidFill>
                  <a:srgbClr val="E31C24"/>
                </a:solidFill>
                <a:latin typeface="Arial"/>
              </a:rPr>
              <a:t>✗   Features on dates</a:t>
            </a:r>
          </a:p>
        </p:txBody>
      </p:sp>
      <p:sp>
        <p:nvSpPr>
          <p:cNvPr id="6" name="TextBox 5"/>
          <p:cNvSpPr txBox="1"/>
          <p:nvPr/>
        </p:nvSpPr>
        <p:spPr>
          <a:xfrm>
            <a:off x="896112" y="2276856"/>
            <a:ext cx="4759452" cy="2359152"/>
          </a:xfrm>
          <a:prstGeom prst="rect">
            <a:avLst/>
          </a:prstGeom>
          <a:noFill/>
        </p:spPr>
        <p:txBody>
          <a:bodyPr wrap="square" lIns="0" tIns="0" rIns="0" bIns="0">
            <a:spAutoFit/>
          </a:bodyPr>
          <a:lstStyle/>
          <a:p>
            <a:pPr marL="173736" indent="-173736">
              <a:lnSpc>
                <a:spcPts val="1900"/>
              </a:lnSpc>
              <a:spcAft>
                <a:spcPts val="1000"/>
              </a:spcAft>
              <a:buChar char="•"/>
            </a:pPr>
            <a:r>
              <a:rPr sz="1350" b="0">
                <a:solidFill>
                  <a:srgbClr val="22223B"/>
                </a:solidFill>
                <a:latin typeface="Arial"/>
              </a:rPr>
              <a:t>Q1: QR payments, auto top-up</a:t>
            </a:r>
          </a:p>
          <a:p>
            <a:pPr marL="173736" indent="-173736">
              <a:lnSpc>
                <a:spcPts val="1900"/>
              </a:lnSpc>
              <a:spcAft>
                <a:spcPts val="1000"/>
              </a:spcAft>
              <a:buChar char="•"/>
            </a:pPr>
            <a:r>
              <a:rPr sz="1350" b="0">
                <a:solidFill>
                  <a:srgbClr val="22223B"/>
                </a:solidFill>
                <a:latin typeface="Arial"/>
              </a:rPr>
              <a:t>Q2: credit line, spend analytics</a:t>
            </a:r>
          </a:p>
          <a:p>
            <a:pPr marL="173736" indent="-173736">
              <a:lnSpc>
                <a:spcPts val="1900"/>
              </a:lnSpc>
              <a:spcAft>
                <a:spcPts val="1000"/>
              </a:spcAft>
              <a:buChar char="•"/>
            </a:pPr>
            <a:r>
              <a:rPr sz="1350" b="0">
                <a:solidFill>
                  <a:srgbClr val="22223B"/>
                </a:solidFill>
                <a:latin typeface="Arial"/>
              </a:rPr>
              <a:t>Q3: offline payments, rewards</a:t>
            </a:r>
          </a:p>
          <a:p>
            <a:pPr marL="173736" indent="-173736">
              <a:lnSpc>
                <a:spcPts val="1900"/>
              </a:lnSpc>
              <a:spcAft>
                <a:spcPts val="1000"/>
              </a:spcAft>
              <a:buChar char="•"/>
            </a:pPr>
            <a:r>
              <a:rPr sz="1350" b="0">
                <a:solidFill>
                  <a:srgbClr val="22223B"/>
                </a:solidFill>
                <a:latin typeface="Arial"/>
              </a:rPr>
              <a:t>Every date becomes a promise.</a:t>
            </a:r>
          </a:p>
          <a:p>
            <a:pPr marL="173736" indent="-173736">
              <a:lnSpc>
                <a:spcPts val="1900"/>
              </a:lnSpc>
              <a:spcAft>
                <a:spcPts val="1000"/>
              </a:spcAft>
              <a:buChar char="•"/>
            </a:pPr>
            <a:r>
              <a:rPr sz="1350" b="0">
                <a:solidFill>
                  <a:srgbClr val="22223B"/>
                </a:solidFill>
                <a:latin typeface="Arial"/>
              </a:rPr>
              <a:t>Learning in Q1 that Q3 is pointless is now an argument, not a decision.</a:t>
            </a:r>
          </a:p>
        </p:txBody>
      </p:sp>
      <p:sp>
        <p:nvSpPr>
          <p:cNvPr id="7" name="Rounded Rectangle 6"/>
          <p:cNvSpPr/>
          <p:nvPr/>
        </p:nvSpPr>
        <p:spPr>
          <a:xfrm>
            <a:off x="6277356" y="1618488"/>
            <a:ext cx="5271516" cy="3200400"/>
          </a:xfrm>
          <a:prstGeom prst="roundRect">
            <a:avLst>
              <a:gd name="adj" fmla="val 5500"/>
            </a:avLst>
          </a:prstGeom>
          <a:solidFill>
            <a:srgbClr val="E8F5EE"/>
          </a:solidFill>
          <a:ln w="15875">
            <a:solidFill>
              <a:srgbClr val="1E7A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33388" y="1801367"/>
            <a:ext cx="4759452" cy="347472"/>
          </a:xfrm>
          <a:prstGeom prst="rect">
            <a:avLst/>
          </a:prstGeom>
          <a:noFill/>
        </p:spPr>
        <p:txBody>
          <a:bodyPr wrap="square" lIns="0" tIns="0" rIns="0" bIns="0" anchor="t">
            <a:spAutoFit/>
          </a:bodyPr>
          <a:lstStyle/>
          <a:p>
            <a:pPr algn="l"/>
            <a:r>
              <a:rPr sz="1600" b="1" i="0">
                <a:solidFill>
                  <a:srgbClr val="1E7A4C"/>
                </a:solidFill>
                <a:latin typeface="Arial"/>
              </a:rPr>
              <a:t>✓   Problems worth solving</a:t>
            </a:r>
          </a:p>
        </p:txBody>
      </p:sp>
      <p:sp>
        <p:nvSpPr>
          <p:cNvPr id="9" name="TextBox 8"/>
          <p:cNvSpPr txBox="1"/>
          <p:nvPr/>
        </p:nvSpPr>
        <p:spPr>
          <a:xfrm>
            <a:off x="6533388" y="2276856"/>
            <a:ext cx="4759452" cy="2359152"/>
          </a:xfrm>
          <a:prstGeom prst="rect">
            <a:avLst/>
          </a:prstGeom>
          <a:noFill/>
        </p:spPr>
        <p:txBody>
          <a:bodyPr wrap="square" lIns="0" tIns="0" rIns="0" bIns="0">
            <a:spAutoFit/>
          </a:bodyPr>
          <a:lstStyle/>
          <a:p>
            <a:pPr marL="173736" indent="-173736">
              <a:lnSpc>
                <a:spcPts val="1900"/>
              </a:lnSpc>
              <a:spcAft>
                <a:spcPts val="1000"/>
              </a:spcAft>
              <a:buChar char="•"/>
            </a:pPr>
            <a:r>
              <a:rPr sz="1350" b="0">
                <a:solidFill>
                  <a:srgbClr val="22223B"/>
                </a:solidFill>
                <a:latin typeface="Arial"/>
              </a:rPr>
              <a:t>Now: cut failed payments from 6% to 2%</a:t>
            </a:r>
          </a:p>
          <a:p>
            <a:pPr marL="173736" indent="-173736">
              <a:lnSpc>
                <a:spcPts val="1900"/>
              </a:lnSpc>
              <a:spcAft>
                <a:spcPts val="1000"/>
              </a:spcAft>
              <a:buChar char="•"/>
            </a:pPr>
            <a:r>
              <a:rPr sz="1350" b="0">
                <a:solidFill>
                  <a:srgbClr val="22223B"/>
                </a:solidFill>
                <a:latin typeface="Arial"/>
              </a:rPr>
              <a:t>Next: let students get a wrong transfer back themselves</a:t>
            </a:r>
          </a:p>
          <a:p>
            <a:pPr marL="173736" indent="-173736">
              <a:lnSpc>
                <a:spcPts val="1900"/>
              </a:lnSpc>
              <a:spcAft>
                <a:spcPts val="1000"/>
              </a:spcAft>
              <a:buChar char="•"/>
            </a:pPr>
            <a:r>
              <a:rPr sz="1350" b="0">
                <a:solidFill>
                  <a:srgbClr val="22223B"/>
                </a:solidFill>
                <a:latin typeface="Arial"/>
              </a:rPr>
              <a:t>Later: let students pay with no signal</a:t>
            </a:r>
          </a:p>
          <a:p>
            <a:pPr marL="173736" indent="-173736">
              <a:lnSpc>
                <a:spcPts val="1900"/>
              </a:lnSpc>
              <a:spcAft>
                <a:spcPts val="1000"/>
              </a:spcAft>
              <a:buChar char="•"/>
            </a:pPr>
            <a:r>
              <a:rPr sz="1350" b="0">
                <a:solidFill>
                  <a:srgbClr val="22223B"/>
                </a:solidFill>
                <a:latin typeface="Arial"/>
              </a:rPr>
              <a:t>You commit to the problem, not the solution.</a:t>
            </a:r>
          </a:p>
          <a:p>
            <a:pPr marL="173736" indent="-173736">
              <a:lnSpc>
                <a:spcPts val="1900"/>
              </a:lnSpc>
              <a:spcAft>
                <a:spcPts val="1000"/>
              </a:spcAft>
              <a:buChar char="•"/>
            </a:pPr>
            <a:r>
              <a:rPr sz="1350" b="0">
                <a:solidFill>
                  <a:srgbClr val="22223B"/>
                </a:solidFill>
                <a:latin typeface="Arial"/>
              </a:rPr>
              <a:t>New evidence changes the plan and nobody loses face.</a:t>
            </a:r>
          </a:p>
        </p:txBody>
      </p:sp>
      <p:sp>
        <p:nvSpPr>
          <p:cNvPr id="10" name="Rounded Rectangle 9"/>
          <p:cNvSpPr/>
          <p:nvPr/>
        </p:nvSpPr>
        <p:spPr>
          <a:xfrm>
            <a:off x="640080" y="5001768"/>
            <a:ext cx="10908792" cy="731520"/>
          </a:xfrm>
          <a:prstGeom prst="roundRect">
            <a:avLst>
              <a:gd name="adj" fmla="val 5500"/>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5038344"/>
            <a:ext cx="10451592" cy="658368"/>
          </a:xfrm>
          <a:prstGeom prst="rect">
            <a:avLst/>
          </a:prstGeom>
          <a:noFill/>
        </p:spPr>
        <p:txBody>
          <a:bodyPr wrap="square" lIns="0" tIns="0" rIns="0" bIns="0" anchor="ctr">
            <a:spAutoFit/>
          </a:bodyPr>
          <a:lstStyle/>
          <a:p>
            <a:pPr algn="l"/>
            <a:r>
              <a:rPr sz="1350" b="0" i="0">
                <a:solidFill>
                  <a:srgbClr val="FFFFFF"/>
                </a:solidFill>
                <a:latin typeface="Arial"/>
              </a:rPr>
              <a:t>Dates are not banned. A regulator's deadline or an exam week belongs on the roadmap. What ruins a roadmap is inventing dates for things you have not validated yet.</a:t>
            </a:r>
          </a:p>
        </p:txBody>
      </p:sp>
      <p:sp>
        <p:nvSpPr>
          <p:cNvPr id="12" name="TextBox 11"/>
          <p:cNvSpPr txBox="1"/>
          <p:nvPr/>
        </p:nvSpPr>
        <p:spPr>
          <a:xfrm>
            <a:off x="640080" y="5824728"/>
            <a:ext cx="10908792" cy="411480"/>
          </a:xfrm>
          <a:prstGeom prst="rect">
            <a:avLst/>
          </a:prstGeom>
          <a:noFill/>
        </p:spPr>
        <p:txBody>
          <a:bodyPr wrap="square" lIns="0" tIns="0" rIns="0" bIns="0" anchor="t">
            <a:spAutoFit/>
          </a:bodyPr>
          <a:lstStyle/>
          <a:p>
            <a:pPr algn="ctr"/>
            <a:r>
              <a:rPr sz="1300" b="0" i="1">
                <a:solidFill>
                  <a:srgbClr val="5F6178"/>
                </a:solidFill>
                <a:latin typeface="Arial"/>
              </a:rPr>
              <a:t>If your organisation insists on dates: publish the problems roadmap widely, and keep a rolling six-week delivery plan for the team. Two documents, two audiences.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74320"/>
            <a:ext cx="10908792" cy="237744"/>
          </a:xfrm>
          <a:prstGeom prst="rect">
            <a:avLst/>
          </a:prstGeom>
          <a:noFill/>
        </p:spPr>
        <p:txBody>
          <a:bodyPr wrap="square" lIns="0" tIns="0" rIns="0" bIns="0" anchor="t">
            <a:spAutoFit/>
          </a:bodyPr>
          <a:lstStyle/>
          <a:p>
            <a:pPr algn="l"/>
            <a:r>
              <a:rPr sz="1000" b="1" i="0" spc="140">
                <a:solidFill>
                  <a:srgbClr val="A9740A"/>
                </a:solidFill>
                <a:latin typeface="Arial"/>
              </a:rPr>
              <a:t>ROADMAP</a:t>
            </a:r>
          </a:p>
        </p:txBody>
      </p:sp>
      <p:sp>
        <p:nvSpPr>
          <p:cNvPr id="3" name="TextBox 2"/>
          <p:cNvSpPr txBox="1"/>
          <p:nvPr/>
        </p:nvSpPr>
        <p:spPr>
          <a:xfrm>
            <a:off x="640080" y="548640"/>
            <a:ext cx="8229600" cy="640080"/>
          </a:xfrm>
          <a:prstGeom prst="rect">
            <a:avLst/>
          </a:prstGeom>
          <a:noFill/>
        </p:spPr>
        <p:txBody>
          <a:bodyPr wrap="square" lIns="0" tIns="0" rIns="0" bIns="0" anchor="t">
            <a:spAutoFit/>
          </a:bodyPr>
          <a:lstStyle/>
          <a:p>
            <a:pPr algn="l"/>
            <a:r>
              <a:rPr sz="2400" b="1" i="0">
                <a:solidFill>
                  <a:srgbClr val="211D71"/>
                </a:solidFill>
                <a:latin typeface="Arial"/>
              </a:rPr>
              <a:t>How the three documents fit together</a:t>
            </a:r>
          </a:p>
        </p:txBody>
      </p:sp>
      <p:sp>
        <p:nvSpPr>
          <p:cNvPr id="4" name="Rounded Rectangle 3"/>
          <p:cNvSpPr/>
          <p:nvPr/>
        </p:nvSpPr>
        <p:spPr>
          <a:xfrm>
            <a:off x="640080" y="1709928"/>
            <a:ext cx="3453384" cy="2194560"/>
          </a:xfrm>
          <a:prstGeom prst="roundRect">
            <a:avLst>
              <a:gd name="adj" fmla="val 5500"/>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59536" y="1892807"/>
            <a:ext cx="457200" cy="457200"/>
          </a:xfrm>
          <a:prstGeom prst="rect">
            <a:avLst/>
          </a:prstGeom>
          <a:noFill/>
        </p:spPr>
        <p:txBody>
          <a:bodyPr wrap="square" lIns="0" tIns="0" rIns="0" bIns="0" anchor="t">
            <a:spAutoFit/>
          </a:bodyPr>
          <a:lstStyle/>
          <a:p>
            <a:pPr algn="l"/>
            <a:r>
              <a:rPr sz="1900" b="1" i="0">
                <a:solidFill>
                  <a:srgbClr val="FCB017"/>
                </a:solidFill>
                <a:latin typeface="Arial"/>
              </a:rPr>
              <a:t>1</a:t>
            </a:r>
          </a:p>
        </p:txBody>
      </p:sp>
      <p:sp>
        <p:nvSpPr>
          <p:cNvPr id="6" name="TextBox 5"/>
          <p:cNvSpPr txBox="1"/>
          <p:nvPr/>
        </p:nvSpPr>
        <p:spPr>
          <a:xfrm>
            <a:off x="859536" y="2395728"/>
            <a:ext cx="3014472" cy="658368"/>
          </a:xfrm>
          <a:prstGeom prst="rect">
            <a:avLst/>
          </a:prstGeom>
          <a:noFill/>
        </p:spPr>
        <p:txBody>
          <a:bodyPr wrap="square" lIns="0" tIns="0" rIns="0" bIns="0" anchor="t">
            <a:spAutoFit/>
          </a:bodyPr>
          <a:lstStyle/>
          <a:p>
            <a:pPr algn="l">
              <a:lnSpc>
                <a:spcPts val="2100"/>
              </a:lnSpc>
            </a:pPr>
            <a:r>
              <a:rPr sz="1600" b="1" i="0">
                <a:solidFill>
                  <a:srgbClr val="FFFFFF"/>
                </a:solidFill>
                <a:latin typeface="Arial"/>
              </a:rPr>
              <a:t>Roadmap</a:t>
            </a:r>
          </a:p>
        </p:txBody>
      </p:sp>
      <p:sp>
        <p:nvSpPr>
          <p:cNvPr id="7" name="TextBox 6"/>
          <p:cNvSpPr txBox="1"/>
          <p:nvPr/>
        </p:nvSpPr>
        <p:spPr>
          <a:xfrm>
            <a:off x="859536" y="3081528"/>
            <a:ext cx="3014472" cy="676656"/>
          </a:xfrm>
          <a:prstGeom prst="rect">
            <a:avLst/>
          </a:prstGeom>
          <a:noFill/>
        </p:spPr>
        <p:txBody>
          <a:bodyPr wrap="square" lIns="0" tIns="0" rIns="0" bIns="0" anchor="t">
            <a:spAutoFit/>
          </a:bodyPr>
          <a:lstStyle/>
          <a:p>
            <a:pPr algn="l">
              <a:lnSpc>
                <a:spcPts val="1600"/>
              </a:lnSpc>
            </a:pPr>
            <a:r>
              <a:rPr sz="1200" b="0" i="0">
                <a:solidFill>
                  <a:srgbClr val="D8DBF0"/>
                </a:solidFill>
                <a:latin typeface="Arial"/>
              </a:rPr>
              <a:t>The problems we intend to solve, roughly when. For everyone outside the team. Changes every quarter.</a:t>
            </a:r>
          </a:p>
        </p:txBody>
      </p:sp>
      <p:sp>
        <p:nvSpPr>
          <p:cNvPr id="8" name="TextBox 7"/>
          <p:cNvSpPr txBox="1"/>
          <p:nvPr/>
        </p:nvSpPr>
        <p:spPr>
          <a:xfrm>
            <a:off x="4111751" y="2660904"/>
            <a:ext cx="237744" cy="292608"/>
          </a:xfrm>
          <a:prstGeom prst="rect">
            <a:avLst/>
          </a:prstGeom>
          <a:noFill/>
        </p:spPr>
        <p:txBody>
          <a:bodyPr wrap="square" lIns="0" tIns="0" rIns="0" bIns="0" anchor="t">
            <a:spAutoFit/>
          </a:bodyPr>
          <a:lstStyle/>
          <a:p>
            <a:pPr algn="ctr"/>
            <a:r>
              <a:rPr sz="1200" b="0" i="0">
                <a:solidFill>
                  <a:srgbClr val="5F6178"/>
                </a:solidFill>
                <a:latin typeface="Arial"/>
              </a:rPr>
              <a:t>▶</a:t>
            </a:r>
          </a:p>
        </p:txBody>
      </p:sp>
      <p:sp>
        <p:nvSpPr>
          <p:cNvPr id="9" name="Rounded Rectangle 8"/>
          <p:cNvSpPr/>
          <p:nvPr/>
        </p:nvSpPr>
        <p:spPr>
          <a:xfrm>
            <a:off x="4367784" y="1709928"/>
            <a:ext cx="3453384" cy="2194560"/>
          </a:xfrm>
          <a:prstGeom prst="roundRect">
            <a:avLst>
              <a:gd name="adj" fmla="val 5500"/>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87240" y="1892807"/>
            <a:ext cx="457200" cy="457200"/>
          </a:xfrm>
          <a:prstGeom prst="rect">
            <a:avLst/>
          </a:prstGeom>
          <a:noFill/>
        </p:spPr>
        <p:txBody>
          <a:bodyPr wrap="square" lIns="0" tIns="0" rIns="0" bIns="0" anchor="t">
            <a:spAutoFit/>
          </a:bodyPr>
          <a:lstStyle/>
          <a:p>
            <a:pPr algn="l"/>
            <a:r>
              <a:rPr sz="1900" b="1" i="0">
                <a:solidFill>
                  <a:srgbClr val="FCB017"/>
                </a:solidFill>
                <a:latin typeface="Arial"/>
              </a:rPr>
              <a:t>2</a:t>
            </a:r>
          </a:p>
        </p:txBody>
      </p:sp>
      <p:sp>
        <p:nvSpPr>
          <p:cNvPr id="11" name="TextBox 10"/>
          <p:cNvSpPr txBox="1"/>
          <p:nvPr/>
        </p:nvSpPr>
        <p:spPr>
          <a:xfrm>
            <a:off x="4587240" y="2395728"/>
            <a:ext cx="3014472" cy="658368"/>
          </a:xfrm>
          <a:prstGeom prst="rect">
            <a:avLst/>
          </a:prstGeom>
          <a:noFill/>
        </p:spPr>
        <p:txBody>
          <a:bodyPr wrap="square" lIns="0" tIns="0" rIns="0" bIns="0" anchor="t">
            <a:spAutoFit/>
          </a:bodyPr>
          <a:lstStyle/>
          <a:p>
            <a:pPr algn="l">
              <a:lnSpc>
                <a:spcPts val="2100"/>
              </a:lnSpc>
            </a:pPr>
            <a:r>
              <a:rPr sz="1600" b="1" i="0">
                <a:solidFill>
                  <a:srgbClr val="FFFFFF"/>
                </a:solidFill>
                <a:latin typeface="Arial"/>
              </a:rPr>
              <a:t>Backlog</a:t>
            </a:r>
          </a:p>
        </p:txBody>
      </p:sp>
      <p:sp>
        <p:nvSpPr>
          <p:cNvPr id="12" name="TextBox 11"/>
          <p:cNvSpPr txBox="1"/>
          <p:nvPr/>
        </p:nvSpPr>
        <p:spPr>
          <a:xfrm>
            <a:off x="4587240" y="3081528"/>
            <a:ext cx="3014472" cy="676656"/>
          </a:xfrm>
          <a:prstGeom prst="rect">
            <a:avLst/>
          </a:prstGeom>
          <a:noFill/>
        </p:spPr>
        <p:txBody>
          <a:bodyPr wrap="square" lIns="0" tIns="0" rIns="0" bIns="0" anchor="t">
            <a:spAutoFit/>
          </a:bodyPr>
          <a:lstStyle/>
          <a:p>
            <a:pPr algn="l">
              <a:lnSpc>
                <a:spcPts val="1600"/>
              </a:lnSpc>
            </a:pPr>
            <a:r>
              <a:rPr sz="1200" b="0" i="0">
                <a:solidFill>
                  <a:srgbClr val="D8DBF0"/>
                </a:solidFill>
                <a:latin typeface="Arial"/>
              </a:rPr>
              <a:t>One ordered queue of work that serves those problems. For the team. Changes every week.</a:t>
            </a:r>
          </a:p>
        </p:txBody>
      </p:sp>
      <p:sp>
        <p:nvSpPr>
          <p:cNvPr id="13" name="TextBox 12"/>
          <p:cNvSpPr txBox="1"/>
          <p:nvPr/>
        </p:nvSpPr>
        <p:spPr>
          <a:xfrm>
            <a:off x="7839456" y="2660904"/>
            <a:ext cx="237744" cy="292608"/>
          </a:xfrm>
          <a:prstGeom prst="rect">
            <a:avLst/>
          </a:prstGeom>
          <a:noFill/>
        </p:spPr>
        <p:txBody>
          <a:bodyPr wrap="square" lIns="0" tIns="0" rIns="0" bIns="0" anchor="t">
            <a:spAutoFit/>
          </a:bodyPr>
          <a:lstStyle/>
          <a:p>
            <a:pPr algn="ctr"/>
            <a:r>
              <a:rPr sz="1200" b="0" i="0">
                <a:solidFill>
                  <a:srgbClr val="5F6178"/>
                </a:solidFill>
                <a:latin typeface="Arial"/>
              </a:rPr>
              <a:t>▶</a:t>
            </a:r>
          </a:p>
        </p:txBody>
      </p:sp>
      <p:sp>
        <p:nvSpPr>
          <p:cNvPr id="14" name="Rounded Rectangle 13"/>
          <p:cNvSpPr/>
          <p:nvPr/>
        </p:nvSpPr>
        <p:spPr>
          <a:xfrm>
            <a:off x="8095488" y="1709928"/>
            <a:ext cx="3453384" cy="2194560"/>
          </a:xfrm>
          <a:prstGeom prst="roundRect">
            <a:avLst>
              <a:gd name="adj" fmla="val 5500"/>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14944" y="1892807"/>
            <a:ext cx="457200" cy="457200"/>
          </a:xfrm>
          <a:prstGeom prst="rect">
            <a:avLst/>
          </a:prstGeom>
          <a:noFill/>
        </p:spPr>
        <p:txBody>
          <a:bodyPr wrap="square" lIns="0" tIns="0" rIns="0" bIns="0" anchor="t">
            <a:spAutoFit/>
          </a:bodyPr>
          <a:lstStyle/>
          <a:p>
            <a:pPr algn="l"/>
            <a:r>
              <a:rPr sz="1900" b="1" i="0">
                <a:solidFill>
                  <a:srgbClr val="FCB017"/>
                </a:solidFill>
                <a:latin typeface="Arial"/>
              </a:rPr>
              <a:t>3</a:t>
            </a:r>
          </a:p>
        </p:txBody>
      </p:sp>
      <p:sp>
        <p:nvSpPr>
          <p:cNvPr id="16" name="TextBox 15"/>
          <p:cNvSpPr txBox="1"/>
          <p:nvPr/>
        </p:nvSpPr>
        <p:spPr>
          <a:xfrm>
            <a:off x="8314944" y="2395728"/>
            <a:ext cx="3014472" cy="658368"/>
          </a:xfrm>
          <a:prstGeom prst="rect">
            <a:avLst/>
          </a:prstGeom>
          <a:noFill/>
        </p:spPr>
        <p:txBody>
          <a:bodyPr wrap="square" lIns="0" tIns="0" rIns="0" bIns="0" anchor="t">
            <a:spAutoFit/>
          </a:bodyPr>
          <a:lstStyle/>
          <a:p>
            <a:pPr algn="l">
              <a:lnSpc>
                <a:spcPts val="2100"/>
              </a:lnSpc>
            </a:pPr>
            <a:r>
              <a:rPr sz="1600" b="1" i="0">
                <a:solidFill>
                  <a:srgbClr val="FFFFFF"/>
                </a:solidFill>
                <a:latin typeface="Arial"/>
              </a:rPr>
              <a:t>Sprint plan</a:t>
            </a:r>
          </a:p>
        </p:txBody>
      </p:sp>
      <p:sp>
        <p:nvSpPr>
          <p:cNvPr id="17" name="TextBox 16"/>
          <p:cNvSpPr txBox="1"/>
          <p:nvPr/>
        </p:nvSpPr>
        <p:spPr>
          <a:xfrm>
            <a:off x="8314944" y="3081528"/>
            <a:ext cx="3014472" cy="676656"/>
          </a:xfrm>
          <a:prstGeom prst="rect">
            <a:avLst/>
          </a:prstGeom>
          <a:noFill/>
        </p:spPr>
        <p:txBody>
          <a:bodyPr wrap="square" lIns="0" tIns="0" rIns="0" bIns="0" anchor="t">
            <a:spAutoFit/>
          </a:bodyPr>
          <a:lstStyle/>
          <a:p>
            <a:pPr algn="l">
              <a:lnSpc>
                <a:spcPts val="1600"/>
              </a:lnSpc>
            </a:pPr>
            <a:r>
              <a:rPr sz="1200" b="0" i="0">
                <a:solidFill>
                  <a:srgbClr val="D8DBF0"/>
                </a:solidFill>
                <a:latin typeface="Arial"/>
              </a:rPr>
              <a:t>What we have committed to for the next two weeks. Fixed once agreed.</a:t>
            </a:r>
          </a:p>
        </p:txBody>
      </p:sp>
      <p:sp>
        <p:nvSpPr>
          <p:cNvPr id="18" name="Rounded Rectangle 17"/>
          <p:cNvSpPr/>
          <p:nvPr/>
        </p:nvSpPr>
        <p:spPr>
          <a:xfrm>
            <a:off x="640080" y="4133088"/>
            <a:ext cx="3477768" cy="160020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59536" y="4315968"/>
            <a:ext cx="3038856" cy="310896"/>
          </a:xfrm>
          <a:prstGeom prst="rect">
            <a:avLst/>
          </a:prstGeom>
          <a:noFill/>
        </p:spPr>
        <p:txBody>
          <a:bodyPr wrap="square" lIns="0" tIns="0" rIns="0" bIns="0" anchor="t">
            <a:spAutoFit/>
          </a:bodyPr>
          <a:lstStyle/>
          <a:p>
            <a:pPr algn="l"/>
            <a:r>
              <a:rPr sz="1500" b="1" i="0">
                <a:solidFill>
                  <a:srgbClr val="211D71"/>
                </a:solidFill>
                <a:latin typeface="Arial"/>
              </a:rPr>
              <a:t>Now</a:t>
            </a:r>
          </a:p>
        </p:txBody>
      </p:sp>
      <p:sp>
        <p:nvSpPr>
          <p:cNvPr id="20" name="TextBox 19"/>
          <p:cNvSpPr txBox="1"/>
          <p:nvPr/>
        </p:nvSpPr>
        <p:spPr>
          <a:xfrm>
            <a:off x="859536" y="4681728"/>
            <a:ext cx="3038856" cy="905255"/>
          </a:xfrm>
          <a:prstGeom prst="rect">
            <a:avLst/>
          </a:prstGeom>
          <a:noFill/>
        </p:spPr>
        <p:txBody>
          <a:bodyPr wrap="square" lIns="0" tIns="0" rIns="0" bIns="0" anchor="t">
            <a:spAutoFit/>
          </a:bodyPr>
          <a:lstStyle/>
          <a:p>
            <a:pPr algn="l">
              <a:lnSpc>
                <a:spcPts val="1700"/>
              </a:lnSpc>
            </a:pPr>
            <a:r>
              <a:rPr sz="1300" b="0" i="0">
                <a:solidFill>
                  <a:srgbClr val="22223B"/>
                </a:solidFill>
                <a:latin typeface="Arial"/>
              </a:rPr>
              <a:t>Being worked on. Weeks away. We are fairly sure about this.</a:t>
            </a:r>
          </a:p>
        </p:txBody>
      </p:sp>
      <p:sp>
        <p:nvSpPr>
          <p:cNvPr id="21" name="Rounded Rectangle 20"/>
          <p:cNvSpPr/>
          <p:nvPr/>
        </p:nvSpPr>
        <p:spPr>
          <a:xfrm>
            <a:off x="4355592" y="4133088"/>
            <a:ext cx="3477768" cy="160020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75048" y="4315968"/>
            <a:ext cx="3038856" cy="310896"/>
          </a:xfrm>
          <a:prstGeom prst="rect">
            <a:avLst/>
          </a:prstGeom>
          <a:noFill/>
        </p:spPr>
        <p:txBody>
          <a:bodyPr wrap="square" lIns="0" tIns="0" rIns="0" bIns="0" anchor="t">
            <a:spAutoFit/>
          </a:bodyPr>
          <a:lstStyle/>
          <a:p>
            <a:pPr algn="l"/>
            <a:r>
              <a:rPr sz="1500" b="1" i="0">
                <a:solidFill>
                  <a:srgbClr val="211D71"/>
                </a:solidFill>
                <a:latin typeface="Arial"/>
              </a:rPr>
              <a:t>Next</a:t>
            </a:r>
          </a:p>
        </p:txBody>
      </p:sp>
      <p:sp>
        <p:nvSpPr>
          <p:cNvPr id="23" name="TextBox 22"/>
          <p:cNvSpPr txBox="1"/>
          <p:nvPr/>
        </p:nvSpPr>
        <p:spPr>
          <a:xfrm>
            <a:off x="4575048" y="4681728"/>
            <a:ext cx="3038856" cy="905255"/>
          </a:xfrm>
          <a:prstGeom prst="rect">
            <a:avLst/>
          </a:prstGeom>
          <a:noFill/>
        </p:spPr>
        <p:txBody>
          <a:bodyPr wrap="square" lIns="0" tIns="0" rIns="0" bIns="0" anchor="t">
            <a:spAutoFit/>
          </a:bodyPr>
          <a:lstStyle/>
          <a:p>
            <a:pPr algn="l">
              <a:lnSpc>
                <a:spcPts val="1700"/>
              </a:lnSpc>
            </a:pPr>
            <a:r>
              <a:rPr sz="1300" b="0" i="0">
                <a:solidFill>
                  <a:srgbClr val="22223B"/>
                </a:solidFill>
                <a:latin typeface="Arial"/>
              </a:rPr>
              <a:t>Coming up. A month or two. The problem is clear; the solution is not fixed.</a:t>
            </a:r>
          </a:p>
        </p:txBody>
      </p:sp>
      <p:sp>
        <p:nvSpPr>
          <p:cNvPr id="24" name="Rounded Rectangle 23"/>
          <p:cNvSpPr/>
          <p:nvPr/>
        </p:nvSpPr>
        <p:spPr>
          <a:xfrm>
            <a:off x="8071104" y="4133088"/>
            <a:ext cx="3477768" cy="160020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290560" y="4315968"/>
            <a:ext cx="3038856" cy="310896"/>
          </a:xfrm>
          <a:prstGeom prst="rect">
            <a:avLst/>
          </a:prstGeom>
          <a:noFill/>
        </p:spPr>
        <p:txBody>
          <a:bodyPr wrap="square" lIns="0" tIns="0" rIns="0" bIns="0" anchor="t">
            <a:spAutoFit/>
          </a:bodyPr>
          <a:lstStyle/>
          <a:p>
            <a:pPr algn="l"/>
            <a:r>
              <a:rPr sz="1500" b="1" i="0">
                <a:solidFill>
                  <a:srgbClr val="211D71"/>
                </a:solidFill>
                <a:latin typeface="Arial"/>
              </a:rPr>
              <a:t>Later</a:t>
            </a:r>
          </a:p>
        </p:txBody>
      </p:sp>
      <p:sp>
        <p:nvSpPr>
          <p:cNvPr id="26" name="TextBox 25"/>
          <p:cNvSpPr txBox="1"/>
          <p:nvPr/>
        </p:nvSpPr>
        <p:spPr>
          <a:xfrm>
            <a:off x="8290560" y="4681728"/>
            <a:ext cx="3038856" cy="905255"/>
          </a:xfrm>
          <a:prstGeom prst="rect">
            <a:avLst/>
          </a:prstGeom>
          <a:noFill/>
        </p:spPr>
        <p:txBody>
          <a:bodyPr wrap="square" lIns="0" tIns="0" rIns="0" bIns="0" anchor="t">
            <a:spAutoFit/>
          </a:bodyPr>
          <a:lstStyle/>
          <a:p>
            <a:pPr algn="l">
              <a:lnSpc>
                <a:spcPts val="1700"/>
              </a:lnSpc>
            </a:pPr>
            <a:r>
              <a:rPr sz="1300" b="0" i="0">
                <a:solidFill>
                  <a:srgbClr val="22223B"/>
                </a:solidFill>
                <a:latin typeface="Arial"/>
              </a:rPr>
              <a:t>A direction, not a plan. Confidence is honestly low — say so.</a:t>
            </a:r>
          </a:p>
        </p:txBody>
      </p:sp>
      <p:sp>
        <p:nvSpPr>
          <p:cNvPr id="27" name="Rounded Rectangle 26"/>
          <p:cNvSpPr/>
          <p:nvPr/>
        </p:nvSpPr>
        <p:spPr>
          <a:xfrm>
            <a:off x="640080" y="5641848"/>
            <a:ext cx="10908792" cy="621792"/>
          </a:xfrm>
          <a:prstGeom prst="roundRect">
            <a:avLst>
              <a:gd name="adj" fmla="val 5500"/>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68680" y="5678424"/>
            <a:ext cx="10451592" cy="548640"/>
          </a:xfrm>
          <a:prstGeom prst="rect">
            <a:avLst/>
          </a:prstGeom>
          <a:noFill/>
        </p:spPr>
        <p:txBody>
          <a:bodyPr wrap="square" lIns="0" tIns="0" rIns="0" bIns="0" anchor="ctr">
            <a:spAutoFit/>
          </a:bodyPr>
          <a:lstStyle/>
          <a:p>
            <a:pPr algn="l"/>
            <a:r>
              <a:rPr sz="1350" b="1" i="0">
                <a:solidFill>
                  <a:srgbClr val="FFFFFF"/>
                </a:solidFill>
                <a:latin typeface="Arial"/>
              </a:rPr>
              <a:t>Rule: every item on the roadmap must turn into real backlog items, or it is just decoration.</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19" y="1828800"/>
            <a:ext cx="2194560" cy="1371600"/>
          </a:xfrm>
          <a:prstGeom prst="rect">
            <a:avLst/>
          </a:prstGeom>
          <a:noFill/>
        </p:spPr>
        <p:txBody>
          <a:bodyPr wrap="square" lIns="0" tIns="0" rIns="0" bIns="0" anchor="t">
            <a:spAutoFit/>
          </a:bodyPr>
          <a:lstStyle/>
          <a:p>
            <a:pPr algn="l"/>
            <a:r>
              <a:rPr sz="7600" b="1" i="0">
                <a:solidFill>
                  <a:srgbClr val="B4B8DA"/>
                </a:solidFill>
                <a:latin typeface="Arial"/>
              </a:rPr>
              <a:t>05</a:t>
            </a:r>
          </a:p>
        </p:txBody>
      </p:sp>
      <p:sp>
        <p:nvSpPr>
          <p:cNvPr id="3" name="TextBox 2"/>
          <p:cNvSpPr txBox="1"/>
          <p:nvPr/>
        </p:nvSpPr>
        <p:spPr>
          <a:xfrm>
            <a:off x="731519" y="3017520"/>
            <a:ext cx="10058400" cy="868680"/>
          </a:xfrm>
          <a:prstGeom prst="rect">
            <a:avLst/>
          </a:prstGeom>
          <a:noFill/>
        </p:spPr>
        <p:txBody>
          <a:bodyPr wrap="square" lIns="0" tIns="0" rIns="0" bIns="0" anchor="t">
            <a:spAutoFit/>
          </a:bodyPr>
          <a:lstStyle/>
          <a:p>
            <a:pPr algn="l"/>
            <a:r>
              <a:rPr sz="3600" b="1" i="0">
                <a:solidFill>
                  <a:srgbClr val="211D71"/>
                </a:solidFill>
                <a:latin typeface="Arial"/>
              </a:rPr>
              <a:t>Requirements</a:t>
            </a:r>
          </a:p>
        </p:txBody>
      </p:sp>
      <p:sp>
        <p:nvSpPr>
          <p:cNvPr id="4" name="Rectangle 3"/>
          <p:cNvSpPr/>
          <p:nvPr/>
        </p:nvSpPr>
        <p:spPr>
          <a:xfrm>
            <a:off x="777240" y="3977639"/>
            <a:ext cx="914400" cy="50292"/>
          </a:xfrm>
          <a:prstGeom prst="rect">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691639" y="3977639"/>
            <a:ext cx="914400" cy="50292"/>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606039" y="3977639"/>
            <a:ext cx="914400" cy="50292"/>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19" y="4187952"/>
            <a:ext cx="10058400" cy="457200"/>
          </a:xfrm>
          <a:prstGeom prst="rect">
            <a:avLst/>
          </a:prstGeom>
          <a:noFill/>
        </p:spPr>
        <p:txBody>
          <a:bodyPr wrap="square" lIns="0" tIns="0" rIns="0" bIns="0" anchor="t">
            <a:spAutoFit/>
          </a:bodyPr>
          <a:lstStyle/>
          <a:p>
            <a:pPr algn="l"/>
            <a:r>
              <a:rPr sz="1400" b="0" i="0">
                <a:solidFill>
                  <a:srgbClr val="5F6178"/>
                </a:solidFill>
                <a:latin typeface="Arial"/>
              </a:rPr>
              <a:t>Writing down what actually has to be built   ·   62–67 min</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74320"/>
            <a:ext cx="10908792" cy="237744"/>
          </a:xfrm>
          <a:prstGeom prst="rect">
            <a:avLst/>
          </a:prstGeom>
          <a:noFill/>
        </p:spPr>
        <p:txBody>
          <a:bodyPr wrap="square" lIns="0" tIns="0" rIns="0" bIns="0" anchor="t">
            <a:spAutoFit/>
          </a:bodyPr>
          <a:lstStyle/>
          <a:p>
            <a:pPr algn="l"/>
            <a:r>
              <a:rPr sz="1000" b="1" i="0" spc="140">
                <a:solidFill>
                  <a:srgbClr val="A9740A"/>
                </a:solidFill>
                <a:latin typeface="Arial"/>
              </a:rPr>
              <a:t>REQUIREMENTS</a:t>
            </a:r>
          </a:p>
        </p:txBody>
      </p:sp>
      <p:sp>
        <p:nvSpPr>
          <p:cNvPr id="3" name="TextBox 2"/>
          <p:cNvSpPr txBox="1"/>
          <p:nvPr/>
        </p:nvSpPr>
        <p:spPr>
          <a:xfrm>
            <a:off x="640080" y="548640"/>
            <a:ext cx="8229600" cy="640080"/>
          </a:xfrm>
          <a:prstGeom prst="rect">
            <a:avLst/>
          </a:prstGeom>
          <a:noFill/>
        </p:spPr>
        <p:txBody>
          <a:bodyPr wrap="square" lIns="0" tIns="0" rIns="0" bIns="0" anchor="t">
            <a:spAutoFit/>
          </a:bodyPr>
          <a:lstStyle/>
          <a:p>
            <a:pPr algn="l"/>
            <a:r>
              <a:rPr sz="2400" b="1" i="0">
                <a:solidFill>
                  <a:srgbClr val="211D71"/>
                </a:solidFill>
                <a:latin typeface="Arial"/>
              </a:rPr>
              <a:t>Three kinds of requirement</a:t>
            </a:r>
          </a:p>
        </p:txBody>
      </p:sp>
      <p:sp>
        <p:nvSpPr>
          <p:cNvPr id="4" name="Rounded Rectangle 3"/>
          <p:cNvSpPr/>
          <p:nvPr/>
        </p:nvSpPr>
        <p:spPr>
          <a:xfrm>
            <a:off x="640080" y="1709928"/>
            <a:ext cx="3477768" cy="246888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59536" y="1892807"/>
            <a:ext cx="384048" cy="384048"/>
          </a:xfrm>
          <a:prstGeom prst="ellipse">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59536" y="1892807"/>
            <a:ext cx="384048" cy="384048"/>
          </a:xfrm>
          <a:prstGeom prst="rect">
            <a:avLst/>
          </a:prstGeom>
          <a:noFill/>
        </p:spPr>
        <p:txBody>
          <a:bodyPr wrap="square" lIns="0" tIns="0" rIns="0" bIns="0" anchor="ctr">
            <a:spAutoFit/>
          </a:bodyPr>
          <a:lstStyle/>
          <a:p>
            <a:pPr algn="ctr"/>
            <a:r>
              <a:rPr sz="1400" b="1" i="0">
                <a:solidFill>
                  <a:srgbClr val="FFFFFF"/>
                </a:solidFill>
                <a:latin typeface="Arial"/>
              </a:rPr>
              <a:t>1</a:t>
            </a:r>
          </a:p>
        </p:txBody>
      </p:sp>
      <p:sp>
        <p:nvSpPr>
          <p:cNvPr id="7" name="TextBox 6"/>
          <p:cNvSpPr txBox="1"/>
          <p:nvPr/>
        </p:nvSpPr>
        <p:spPr>
          <a:xfrm>
            <a:off x="1335024" y="1892807"/>
            <a:ext cx="2563368" cy="384048"/>
          </a:xfrm>
          <a:prstGeom prst="rect">
            <a:avLst/>
          </a:prstGeom>
          <a:noFill/>
        </p:spPr>
        <p:txBody>
          <a:bodyPr wrap="square" lIns="0" tIns="0" rIns="0" bIns="0" anchor="ctr">
            <a:spAutoFit/>
          </a:bodyPr>
          <a:lstStyle/>
          <a:p>
            <a:pPr algn="l"/>
            <a:r>
              <a:rPr sz="1400" b="1" i="0">
                <a:solidFill>
                  <a:srgbClr val="211D71"/>
                </a:solidFill>
                <a:latin typeface="Arial"/>
              </a:rPr>
              <a:t>What it does</a:t>
            </a:r>
          </a:p>
        </p:txBody>
      </p:sp>
      <p:sp>
        <p:nvSpPr>
          <p:cNvPr id="8" name="TextBox 7"/>
          <p:cNvSpPr txBox="1"/>
          <p:nvPr/>
        </p:nvSpPr>
        <p:spPr>
          <a:xfrm>
            <a:off x="859536" y="2368296"/>
            <a:ext cx="3038856" cy="1664208"/>
          </a:xfrm>
          <a:prstGeom prst="rect">
            <a:avLst/>
          </a:prstGeom>
          <a:noFill/>
        </p:spPr>
        <p:txBody>
          <a:bodyPr wrap="square" lIns="0" tIns="0" rIns="0" bIns="0" anchor="t">
            <a:spAutoFit/>
          </a:bodyPr>
          <a:lstStyle/>
          <a:p>
            <a:pPr algn="l">
              <a:lnSpc>
                <a:spcPts val="1800"/>
              </a:lnSpc>
            </a:pPr>
            <a:r>
              <a:rPr sz="1300" b="0" i="0">
                <a:solidFill>
                  <a:srgbClr val="22223B"/>
                </a:solidFill>
                <a:latin typeface="Arial"/>
              </a:rPr>
              <a:t>"A student can split a bill with up to eight friends."</a:t>
            </a:r>
          </a:p>
          <a:p>
            <a:pPr algn="l">
              <a:lnSpc>
                <a:spcPts val="1800"/>
              </a:lnSpc>
            </a:pPr>
            <a:endParaRPr sz="1300" b="0" i="0">
              <a:solidFill>
                <a:srgbClr val="22223B"/>
              </a:solidFill>
              <a:latin typeface="Arial"/>
            </a:endParaRPr>
          </a:p>
          <a:p>
            <a:pPr algn="l">
              <a:lnSpc>
                <a:spcPts val="1800"/>
              </a:lnSpc>
            </a:pPr>
            <a:r>
              <a:rPr sz="1300" b="0" i="0">
                <a:solidFill>
                  <a:srgbClr val="22223B"/>
                </a:solidFill>
                <a:latin typeface="Arial"/>
              </a:rPr>
              <a:t>These become user stories. This is the kind everyone remembers.</a:t>
            </a:r>
          </a:p>
        </p:txBody>
      </p:sp>
      <p:sp>
        <p:nvSpPr>
          <p:cNvPr id="9" name="Rounded Rectangle 8"/>
          <p:cNvSpPr/>
          <p:nvPr/>
        </p:nvSpPr>
        <p:spPr>
          <a:xfrm>
            <a:off x="4355592" y="1709928"/>
            <a:ext cx="3477768" cy="246888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4575048" y="1892807"/>
            <a:ext cx="384048" cy="384048"/>
          </a:xfrm>
          <a:prstGeom prst="ellipse">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5048" y="1892807"/>
            <a:ext cx="384048" cy="384048"/>
          </a:xfrm>
          <a:prstGeom prst="rect">
            <a:avLst/>
          </a:prstGeom>
          <a:noFill/>
        </p:spPr>
        <p:txBody>
          <a:bodyPr wrap="square" lIns="0" tIns="0" rIns="0" bIns="0" anchor="ctr">
            <a:spAutoFit/>
          </a:bodyPr>
          <a:lstStyle/>
          <a:p>
            <a:pPr algn="ctr"/>
            <a:r>
              <a:rPr sz="1400" b="1" i="0">
                <a:solidFill>
                  <a:srgbClr val="FFFFFF"/>
                </a:solidFill>
                <a:latin typeface="Arial"/>
              </a:rPr>
              <a:t>2</a:t>
            </a:r>
          </a:p>
        </p:txBody>
      </p:sp>
      <p:sp>
        <p:nvSpPr>
          <p:cNvPr id="12" name="TextBox 11"/>
          <p:cNvSpPr txBox="1"/>
          <p:nvPr/>
        </p:nvSpPr>
        <p:spPr>
          <a:xfrm>
            <a:off x="5050536" y="1892807"/>
            <a:ext cx="2563368" cy="384048"/>
          </a:xfrm>
          <a:prstGeom prst="rect">
            <a:avLst/>
          </a:prstGeom>
          <a:noFill/>
        </p:spPr>
        <p:txBody>
          <a:bodyPr wrap="square" lIns="0" tIns="0" rIns="0" bIns="0" anchor="ctr">
            <a:spAutoFit/>
          </a:bodyPr>
          <a:lstStyle/>
          <a:p>
            <a:pPr algn="l"/>
            <a:r>
              <a:rPr sz="1400" b="1" i="0">
                <a:solidFill>
                  <a:srgbClr val="211D71"/>
                </a:solidFill>
                <a:latin typeface="Arial"/>
              </a:rPr>
              <a:t>How well it does it</a:t>
            </a:r>
          </a:p>
        </p:txBody>
      </p:sp>
      <p:sp>
        <p:nvSpPr>
          <p:cNvPr id="13" name="TextBox 12"/>
          <p:cNvSpPr txBox="1"/>
          <p:nvPr/>
        </p:nvSpPr>
        <p:spPr>
          <a:xfrm>
            <a:off x="4575048" y="2368296"/>
            <a:ext cx="3038856" cy="1664208"/>
          </a:xfrm>
          <a:prstGeom prst="rect">
            <a:avLst/>
          </a:prstGeom>
          <a:noFill/>
        </p:spPr>
        <p:txBody>
          <a:bodyPr wrap="square" lIns="0" tIns="0" rIns="0" bIns="0" anchor="t">
            <a:spAutoFit/>
          </a:bodyPr>
          <a:lstStyle/>
          <a:p>
            <a:pPr algn="l">
              <a:lnSpc>
                <a:spcPts val="1800"/>
              </a:lnSpc>
            </a:pPr>
            <a:r>
              <a:rPr sz="1300" b="0" i="0">
                <a:solidFill>
                  <a:srgbClr val="22223B"/>
                </a:solidFill>
                <a:latin typeface="Arial"/>
              </a:rPr>
              <a:t>"Payment confirms in under 1.5 seconds with 500 people using it at once."</a:t>
            </a:r>
          </a:p>
          <a:p>
            <a:pPr algn="l">
              <a:lnSpc>
                <a:spcPts val="1800"/>
              </a:lnSpc>
            </a:pPr>
            <a:endParaRPr sz="1300" b="0" i="0">
              <a:solidFill>
                <a:srgbClr val="22223B"/>
              </a:solidFill>
              <a:latin typeface="Arial"/>
            </a:endParaRPr>
          </a:p>
          <a:p>
            <a:pPr algn="l">
              <a:lnSpc>
                <a:spcPts val="1800"/>
              </a:lnSpc>
            </a:pPr>
            <a:r>
              <a:rPr sz="1300" b="0" i="0">
                <a:solidFill>
                  <a:srgbClr val="22223B"/>
                </a:solidFill>
                <a:latin typeface="Arial"/>
              </a:rPr>
              <a:t>Speed, uptime, security, privacy, accessibility.</a:t>
            </a:r>
          </a:p>
        </p:txBody>
      </p:sp>
      <p:sp>
        <p:nvSpPr>
          <p:cNvPr id="14" name="Rounded Rectangle 13"/>
          <p:cNvSpPr/>
          <p:nvPr/>
        </p:nvSpPr>
        <p:spPr>
          <a:xfrm>
            <a:off x="8071104" y="1709928"/>
            <a:ext cx="3477768" cy="246888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8290560" y="1892807"/>
            <a:ext cx="384048" cy="384048"/>
          </a:xfrm>
          <a:prstGeom prst="ellipse">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90560" y="1892807"/>
            <a:ext cx="384048" cy="384048"/>
          </a:xfrm>
          <a:prstGeom prst="rect">
            <a:avLst/>
          </a:prstGeom>
          <a:noFill/>
        </p:spPr>
        <p:txBody>
          <a:bodyPr wrap="square" lIns="0" tIns="0" rIns="0" bIns="0" anchor="ctr">
            <a:spAutoFit/>
          </a:bodyPr>
          <a:lstStyle/>
          <a:p>
            <a:pPr algn="ctr"/>
            <a:r>
              <a:rPr sz="1400" b="1" i="0">
                <a:solidFill>
                  <a:srgbClr val="FFFFFF"/>
                </a:solidFill>
                <a:latin typeface="Arial"/>
              </a:rPr>
              <a:t>3</a:t>
            </a:r>
          </a:p>
        </p:txBody>
      </p:sp>
      <p:sp>
        <p:nvSpPr>
          <p:cNvPr id="17" name="TextBox 16"/>
          <p:cNvSpPr txBox="1"/>
          <p:nvPr/>
        </p:nvSpPr>
        <p:spPr>
          <a:xfrm>
            <a:off x="8766048" y="1892807"/>
            <a:ext cx="2563368" cy="384048"/>
          </a:xfrm>
          <a:prstGeom prst="rect">
            <a:avLst/>
          </a:prstGeom>
          <a:noFill/>
        </p:spPr>
        <p:txBody>
          <a:bodyPr wrap="square" lIns="0" tIns="0" rIns="0" bIns="0" anchor="ctr">
            <a:spAutoFit/>
          </a:bodyPr>
          <a:lstStyle/>
          <a:p>
            <a:pPr algn="l"/>
            <a:r>
              <a:rPr sz="1400" b="1" i="0">
                <a:solidFill>
                  <a:srgbClr val="211D71"/>
                </a:solidFill>
                <a:latin typeface="Arial"/>
              </a:rPr>
              <a:t>What you are stuck with</a:t>
            </a:r>
          </a:p>
        </p:txBody>
      </p:sp>
      <p:sp>
        <p:nvSpPr>
          <p:cNvPr id="18" name="TextBox 17"/>
          <p:cNvSpPr txBox="1"/>
          <p:nvPr/>
        </p:nvSpPr>
        <p:spPr>
          <a:xfrm>
            <a:off x="8290560" y="2368296"/>
            <a:ext cx="3038856" cy="1664208"/>
          </a:xfrm>
          <a:prstGeom prst="rect">
            <a:avLst/>
          </a:prstGeom>
          <a:noFill/>
        </p:spPr>
        <p:txBody>
          <a:bodyPr wrap="square" lIns="0" tIns="0" rIns="0" bIns="0" anchor="t">
            <a:spAutoFit/>
          </a:bodyPr>
          <a:lstStyle/>
          <a:p>
            <a:pPr algn="l">
              <a:lnSpc>
                <a:spcPts val="1800"/>
              </a:lnSpc>
            </a:pPr>
            <a:r>
              <a:rPr sz="1300" b="0" i="0">
                <a:solidFill>
                  <a:srgbClr val="22223B"/>
                </a:solidFill>
                <a:latin typeface="Arial"/>
              </a:rPr>
              <a:t>"Data must stay in India." "It must work with the existing banking system."</a:t>
            </a:r>
          </a:p>
          <a:p>
            <a:pPr algn="l">
              <a:lnSpc>
                <a:spcPts val="1800"/>
              </a:lnSpc>
            </a:pPr>
            <a:endParaRPr sz="1300" b="0" i="0">
              <a:solidFill>
                <a:srgbClr val="22223B"/>
              </a:solidFill>
              <a:latin typeface="Arial"/>
            </a:endParaRPr>
          </a:p>
          <a:p>
            <a:pPr algn="l">
              <a:lnSpc>
                <a:spcPts val="1800"/>
              </a:lnSpc>
            </a:pPr>
            <a:r>
              <a:rPr sz="1300" b="0" i="0">
                <a:solidFill>
                  <a:srgbClr val="22223B"/>
                </a:solidFill>
                <a:latin typeface="Arial"/>
              </a:rPr>
              <a:t>Decisions already made for you.</a:t>
            </a:r>
          </a:p>
        </p:txBody>
      </p:sp>
      <p:sp>
        <p:nvSpPr>
          <p:cNvPr id="19" name="Rounded Rectangle 18"/>
          <p:cNvSpPr/>
          <p:nvPr/>
        </p:nvSpPr>
        <p:spPr>
          <a:xfrm>
            <a:off x="640080" y="4453128"/>
            <a:ext cx="10908792" cy="1234440"/>
          </a:xfrm>
          <a:prstGeom prst="roundRect">
            <a:avLst>
              <a:gd name="adj" fmla="val 5500"/>
            </a:avLst>
          </a:prstGeom>
          <a:solidFill>
            <a:srgbClr val="FEF4DC"/>
          </a:solidFill>
          <a:ln w="15875">
            <a:solidFill>
              <a:srgbClr val="FCB0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4400" y="4599432"/>
            <a:ext cx="10360152" cy="237744"/>
          </a:xfrm>
          <a:prstGeom prst="rect">
            <a:avLst/>
          </a:prstGeom>
          <a:noFill/>
        </p:spPr>
        <p:txBody>
          <a:bodyPr wrap="square" lIns="0" tIns="0" rIns="0" bIns="0" anchor="t">
            <a:spAutoFit/>
          </a:bodyPr>
          <a:lstStyle/>
          <a:p>
            <a:pPr algn="l"/>
            <a:r>
              <a:rPr sz="1000" b="1" i="0" spc="140">
                <a:solidFill>
                  <a:srgbClr val="A9740A"/>
                </a:solidFill>
                <a:latin typeface="Arial"/>
              </a:rPr>
              <a:t>THINK OF IT LIKE THIS</a:t>
            </a:r>
          </a:p>
        </p:txBody>
      </p:sp>
      <p:sp>
        <p:nvSpPr>
          <p:cNvPr id="21" name="TextBox 20"/>
          <p:cNvSpPr txBox="1"/>
          <p:nvPr/>
        </p:nvSpPr>
        <p:spPr>
          <a:xfrm>
            <a:off x="914400" y="4855464"/>
            <a:ext cx="10360152" cy="685800"/>
          </a:xfrm>
          <a:prstGeom prst="rect">
            <a:avLst/>
          </a:prstGeom>
          <a:noFill/>
        </p:spPr>
        <p:txBody>
          <a:bodyPr wrap="square" lIns="0" tIns="0" rIns="0" bIns="0" anchor="t">
            <a:spAutoFit/>
          </a:bodyPr>
          <a:lstStyle/>
          <a:p>
            <a:pPr algn="l">
              <a:lnSpc>
                <a:spcPts val="2400"/>
              </a:lnSpc>
            </a:pPr>
            <a:r>
              <a:rPr sz="1500" b="1" i="0">
                <a:solidFill>
                  <a:srgbClr val="211D71"/>
                </a:solidFill>
                <a:latin typeface="Arial"/>
              </a:rPr>
              <a:t>A recipe tells you what to make (kind 1), how it should turn out (kind 2), and that you only have one gas ring (kind 3). All three change what you cook.</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74320"/>
            <a:ext cx="10908792" cy="237744"/>
          </a:xfrm>
          <a:prstGeom prst="rect">
            <a:avLst/>
          </a:prstGeom>
          <a:noFill/>
        </p:spPr>
        <p:txBody>
          <a:bodyPr wrap="square" lIns="0" tIns="0" rIns="0" bIns="0" anchor="t">
            <a:spAutoFit/>
          </a:bodyPr>
          <a:lstStyle/>
          <a:p>
            <a:pPr algn="l"/>
            <a:r>
              <a:rPr sz="1000" b="1" i="0" spc="140">
                <a:solidFill>
                  <a:srgbClr val="A9740A"/>
                </a:solidFill>
                <a:latin typeface="Arial"/>
              </a:rPr>
              <a:t>REQUIREMENTS</a:t>
            </a:r>
          </a:p>
        </p:txBody>
      </p:sp>
      <p:sp>
        <p:nvSpPr>
          <p:cNvPr id="3" name="TextBox 2"/>
          <p:cNvSpPr txBox="1"/>
          <p:nvPr/>
        </p:nvSpPr>
        <p:spPr>
          <a:xfrm>
            <a:off x="640080" y="548640"/>
            <a:ext cx="8229600" cy="640080"/>
          </a:xfrm>
          <a:prstGeom prst="rect">
            <a:avLst/>
          </a:prstGeom>
          <a:noFill/>
        </p:spPr>
        <p:txBody>
          <a:bodyPr wrap="square" lIns="0" tIns="0" rIns="0" bIns="0" anchor="t">
            <a:spAutoFit/>
          </a:bodyPr>
          <a:lstStyle/>
          <a:p>
            <a:pPr algn="l"/>
            <a:r>
              <a:rPr sz="2400" b="1" i="0">
                <a:solidFill>
                  <a:srgbClr val="211D71"/>
                </a:solidFill>
                <a:latin typeface="Arial"/>
              </a:rPr>
              <a:t>"It should be fast" is not a requirement</a:t>
            </a:r>
          </a:p>
        </p:txBody>
      </p:sp>
      <p:sp>
        <p:nvSpPr>
          <p:cNvPr id="4" name="Rounded Rectangle 3"/>
          <p:cNvSpPr/>
          <p:nvPr/>
        </p:nvSpPr>
        <p:spPr>
          <a:xfrm>
            <a:off x="640080" y="1618488"/>
            <a:ext cx="5271516" cy="3017520"/>
          </a:xfrm>
          <a:prstGeom prst="roundRect">
            <a:avLst>
              <a:gd name="adj" fmla="val 5500"/>
            </a:avLst>
          </a:prstGeom>
          <a:solidFill>
            <a:srgbClr val="FBE9E9"/>
          </a:solidFill>
          <a:ln w="15875">
            <a:solidFill>
              <a:srgbClr val="E31C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96112" y="1801367"/>
            <a:ext cx="4759452" cy="347472"/>
          </a:xfrm>
          <a:prstGeom prst="rect">
            <a:avLst/>
          </a:prstGeom>
          <a:noFill/>
        </p:spPr>
        <p:txBody>
          <a:bodyPr wrap="square" lIns="0" tIns="0" rIns="0" bIns="0" anchor="t">
            <a:spAutoFit/>
          </a:bodyPr>
          <a:lstStyle/>
          <a:p>
            <a:pPr algn="l"/>
            <a:r>
              <a:rPr sz="1600" b="1" i="0">
                <a:solidFill>
                  <a:srgbClr val="E31C24"/>
                </a:solidFill>
                <a:latin typeface="Arial"/>
              </a:rPr>
              <a:t>✗   Not testable</a:t>
            </a:r>
          </a:p>
        </p:txBody>
      </p:sp>
      <p:sp>
        <p:nvSpPr>
          <p:cNvPr id="6" name="TextBox 5"/>
          <p:cNvSpPr txBox="1"/>
          <p:nvPr/>
        </p:nvSpPr>
        <p:spPr>
          <a:xfrm>
            <a:off x="896112" y="2276856"/>
            <a:ext cx="4759452" cy="2176272"/>
          </a:xfrm>
          <a:prstGeom prst="rect">
            <a:avLst/>
          </a:prstGeom>
          <a:noFill/>
        </p:spPr>
        <p:txBody>
          <a:bodyPr wrap="square" lIns="0" tIns="0" rIns="0" bIns="0">
            <a:spAutoFit/>
          </a:bodyPr>
          <a:lstStyle/>
          <a:p>
            <a:pPr marL="173736" indent="-173736">
              <a:lnSpc>
                <a:spcPts val="1900"/>
              </a:lnSpc>
              <a:spcAft>
                <a:spcPts val="1000"/>
              </a:spcAft>
              <a:buChar char="•"/>
            </a:pPr>
            <a:r>
              <a:rPr sz="1400" b="0">
                <a:solidFill>
                  <a:srgbClr val="22223B"/>
                </a:solidFill>
                <a:latin typeface="Arial"/>
              </a:rPr>
              <a:t>The app should be fast</a:t>
            </a:r>
          </a:p>
          <a:p>
            <a:pPr marL="173736" indent="-173736">
              <a:lnSpc>
                <a:spcPts val="1900"/>
              </a:lnSpc>
              <a:spcAft>
                <a:spcPts val="1000"/>
              </a:spcAft>
              <a:buChar char="•"/>
            </a:pPr>
            <a:r>
              <a:rPr sz="1400" b="0">
                <a:solidFill>
                  <a:srgbClr val="22223B"/>
                </a:solidFill>
                <a:latin typeface="Arial"/>
              </a:rPr>
              <a:t>It should be secure</a:t>
            </a:r>
          </a:p>
          <a:p>
            <a:pPr marL="173736" indent="-173736">
              <a:lnSpc>
                <a:spcPts val="1900"/>
              </a:lnSpc>
              <a:spcAft>
                <a:spcPts val="1000"/>
              </a:spcAft>
              <a:buChar char="•"/>
            </a:pPr>
            <a:r>
              <a:rPr sz="1400" b="0">
                <a:solidFill>
                  <a:srgbClr val="22223B"/>
                </a:solidFill>
                <a:latin typeface="Arial"/>
              </a:rPr>
              <a:t>It should handle lots of users</a:t>
            </a:r>
          </a:p>
          <a:p>
            <a:pPr marL="173736" indent="-173736">
              <a:lnSpc>
                <a:spcPts val="1900"/>
              </a:lnSpc>
              <a:spcAft>
                <a:spcPts val="1000"/>
              </a:spcAft>
              <a:buChar char="•"/>
            </a:pPr>
            <a:r>
              <a:rPr sz="1400" b="0">
                <a:solidFill>
                  <a:srgbClr val="22223B"/>
                </a:solidFill>
                <a:latin typeface="Arial"/>
              </a:rPr>
              <a:t>Nobody can tell you if this is done or not.</a:t>
            </a:r>
          </a:p>
          <a:p>
            <a:pPr marL="173736" indent="-173736">
              <a:lnSpc>
                <a:spcPts val="1900"/>
              </a:lnSpc>
              <a:spcAft>
                <a:spcPts val="1000"/>
              </a:spcAft>
              <a:buChar char="•"/>
            </a:pPr>
            <a:r>
              <a:rPr sz="1400" b="0">
                <a:solidFill>
                  <a:srgbClr val="22223B"/>
                </a:solidFill>
                <a:latin typeface="Arial"/>
              </a:rPr>
              <a:t>So it never gets built — it just gets discussed.</a:t>
            </a:r>
          </a:p>
        </p:txBody>
      </p:sp>
      <p:sp>
        <p:nvSpPr>
          <p:cNvPr id="7" name="Rounded Rectangle 6"/>
          <p:cNvSpPr/>
          <p:nvPr/>
        </p:nvSpPr>
        <p:spPr>
          <a:xfrm>
            <a:off x="6277356" y="1618488"/>
            <a:ext cx="5271516" cy="3017520"/>
          </a:xfrm>
          <a:prstGeom prst="roundRect">
            <a:avLst>
              <a:gd name="adj" fmla="val 5500"/>
            </a:avLst>
          </a:prstGeom>
          <a:solidFill>
            <a:srgbClr val="E8F5EE"/>
          </a:solidFill>
          <a:ln w="15875">
            <a:solidFill>
              <a:srgbClr val="1E7A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33388" y="1801367"/>
            <a:ext cx="4759452" cy="347472"/>
          </a:xfrm>
          <a:prstGeom prst="rect">
            <a:avLst/>
          </a:prstGeom>
          <a:noFill/>
        </p:spPr>
        <p:txBody>
          <a:bodyPr wrap="square" lIns="0" tIns="0" rIns="0" bIns="0" anchor="t">
            <a:spAutoFit/>
          </a:bodyPr>
          <a:lstStyle/>
          <a:p>
            <a:pPr algn="l"/>
            <a:r>
              <a:rPr sz="1600" b="1" i="0">
                <a:solidFill>
                  <a:srgbClr val="1E7A4C"/>
                </a:solidFill>
                <a:latin typeface="Arial"/>
              </a:rPr>
              <a:t>✓   Testable</a:t>
            </a:r>
          </a:p>
        </p:txBody>
      </p:sp>
      <p:sp>
        <p:nvSpPr>
          <p:cNvPr id="9" name="TextBox 8"/>
          <p:cNvSpPr txBox="1"/>
          <p:nvPr/>
        </p:nvSpPr>
        <p:spPr>
          <a:xfrm>
            <a:off x="6533388" y="2276856"/>
            <a:ext cx="4759452" cy="2176272"/>
          </a:xfrm>
          <a:prstGeom prst="rect">
            <a:avLst/>
          </a:prstGeom>
          <a:noFill/>
        </p:spPr>
        <p:txBody>
          <a:bodyPr wrap="square" lIns="0" tIns="0" rIns="0" bIns="0">
            <a:spAutoFit/>
          </a:bodyPr>
          <a:lstStyle/>
          <a:p>
            <a:pPr marL="173736" indent="-173736">
              <a:lnSpc>
                <a:spcPts val="1900"/>
              </a:lnSpc>
              <a:spcAft>
                <a:spcPts val="1000"/>
              </a:spcAft>
              <a:buChar char="•"/>
            </a:pPr>
            <a:r>
              <a:rPr sz="1400" b="0">
                <a:solidFill>
                  <a:srgbClr val="22223B"/>
                </a:solidFill>
                <a:latin typeface="Arial"/>
              </a:rPr>
              <a:t>Payment confirms in under 1.5 seconds</a:t>
            </a:r>
          </a:p>
          <a:p>
            <a:pPr marL="173736" indent="-173736">
              <a:lnSpc>
                <a:spcPts val="1900"/>
              </a:lnSpc>
              <a:spcAft>
                <a:spcPts val="1000"/>
              </a:spcAft>
              <a:buChar char="•"/>
            </a:pPr>
            <a:r>
              <a:rPr sz="1400" b="0">
                <a:solidFill>
                  <a:srgbClr val="22223B"/>
                </a:solidFill>
                <a:latin typeface="Arial"/>
              </a:rPr>
              <a:t>…with 500 people paying at the same time</a:t>
            </a:r>
          </a:p>
          <a:p>
            <a:pPr marL="173736" indent="-173736">
              <a:lnSpc>
                <a:spcPts val="1900"/>
              </a:lnSpc>
              <a:spcAft>
                <a:spcPts val="1000"/>
              </a:spcAft>
              <a:buChar char="•"/>
            </a:pPr>
            <a:r>
              <a:rPr sz="1400" b="0">
                <a:solidFill>
                  <a:srgbClr val="22223B"/>
                </a:solidFill>
                <a:latin typeface="Arial"/>
              </a:rPr>
              <a:t>…on a 4G connection</a:t>
            </a:r>
          </a:p>
          <a:p>
            <a:pPr marL="173736" indent="-173736">
              <a:lnSpc>
                <a:spcPts val="1900"/>
              </a:lnSpc>
              <a:spcAft>
                <a:spcPts val="1000"/>
              </a:spcAft>
              <a:buChar char="•"/>
            </a:pPr>
            <a:r>
              <a:rPr sz="1400" b="0">
                <a:solidFill>
                  <a:srgbClr val="22223B"/>
                </a:solidFill>
                <a:latin typeface="Arial"/>
              </a:rPr>
              <a:t>Now there is a number you can measure.</a:t>
            </a:r>
          </a:p>
          <a:p>
            <a:pPr marL="173736" indent="-173736">
              <a:lnSpc>
                <a:spcPts val="1900"/>
              </a:lnSpc>
              <a:spcAft>
                <a:spcPts val="1000"/>
              </a:spcAft>
              <a:buChar char="•"/>
            </a:pPr>
            <a:r>
              <a:rPr sz="1400" b="0">
                <a:solidFill>
                  <a:srgbClr val="22223B"/>
                </a:solidFill>
                <a:latin typeface="Arial"/>
              </a:rPr>
              <a:t>Now it can go in the queue like anything else.</a:t>
            </a:r>
          </a:p>
        </p:txBody>
      </p:sp>
      <p:sp>
        <p:nvSpPr>
          <p:cNvPr id="10" name="Rounded Rectangle 9"/>
          <p:cNvSpPr/>
          <p:nvPr/>
        </p:nvSpPr>
        <p:spPr>
          <a:xfrm>
            <a:off x="640080" y="4910328"/>
            <a:ext cx="10908792" cy="822960"/>
          </a:xfrm>
          <a:prstGeom prst="roundRect">
            <a:avLst>
              <a:gd name="adj" fmla="val 5500"/>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4946904"/>
            <a:ext cx="10451592" cy="749808"/>
          </a:xfrm>
          <a:prstGeom prst="rect">
            <a:avLst/>
          </a:prstGeom>
          <a:noFill/>
        </p:spPr>
        <p:txBody>
          <a:bodyPr wrap="square" lIns="0" tIns="0" rIns="0" bIns="0" anchor="ctr">
            <a:spAutoFit/>
          </a:bodyPr>
          <a:lstStyle/>
          <a:p>
            <a:pPr algn="l"/>
            <a:r>
              <a:rPr sz="1350" b="0" i="0">
                <a:solidFill>
                  <a:srgbClr val="FFFFFF"/>
                </a:solidFill>
                <a:latin typeface="Arial"/>
              </a:rPr>
              <a:t>Why this matters for prioritisation: work that is not in the queue is never explicitly deprioritised. It is just never reached — and nobody is responsible for that. Putting it in the list is itself a decision.</a:t>
            </a:r>
          </a:p>
        </p:txBody>
      </p:sp>
      <p:sp>
        <p:nvSpPr>
          <p:cNvPr id="12" name="TextBox 11"/>
          <p:cNvSpPr txBox="1"/>
          <p:nvPr/>
        </p:nvSpPr>
        <p:spPr>
          <a:xfrm>
            <a:off x="640080" y="5852160"/>
            <a:ext cx="10908792" cy="365760"/>
          </a:xfrm>
          <a:prstGeom prst="rect">
            <a:avLst/>
          </a:prstGeom>
          <a:noFill/>
        </p:spPr>
        <p:txBody>
          <a:bodyPr wrap="square" lIns="0" tIns="0" rIns="0" bIns="0" anchor="t">
            <a:spAutoFit/>
          </a:bodyPr>
          <a:lstStyle/>
          <a:p>
            <a:pPr algn="ctr"/>
            <a:r>
              <a:rPr sz="1300" b="0" i="0">
                <a:solidFill>
                  <a:srgbClr val="5F6178"/>
                </a:solidFill>
                <a:latin typeface="Arial"/>
              </a:rPr>
              <a:t>Quality and security work should also get a Cost of Delay. A security fix with a regulator's date behaves exactly like the cliff-edge curve from earlier.</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74320"/>
            <a:ext cx="10908792" cy="237744"/>
          </a:xfrm>
          <a:prstGeom prst="rect">
            <a:avLst/>
          </a:prstGeom>
          <a:noFill/>
        </p:spPr>
        <p:txBody>
          <a:bodyPr wrap="square" lIns="0" tIns="0" rIns="0" bIns="0" anchor="t">
            <a:spAutoFit/>
          </a:bodyPr>
          <a:lstStyle/>
          <a:p>
            <a:pPr algn="l"/>
            <a:r>
              <a:rPr sz="1000" b="1" i="0" spc="140">
                <a:solidFill>
                  <a:srgbClr val="A9740A"/>
                </a:solidFill>
                <a:latin typeface="Arial"/>
              </a:rPr>
              <a:t>REQUIREMENTS</a:t>
            </a:r>
          </a:p>
        </p:txBody>
      </p:sp>
      <p:sp>
        <p:nvSpPr>
          <p:cNvPr id="3" name="TextBox 2"/>
          <p:cNvSpPr txBox="1"/>
          <p:nvPr/>
        </p:nvSpPr>
        <p:spPr>
          <a:xfrm>
            <a:off x="640080" y="548640"/>
            <a:ext cx="8229600" cy="640080"/>
          </a:xfrm>
          <a:prstGeom prst="rect">
            <a:avLst/>
          </a:prstGeom>
          <a:noFill/>
        </p:spPr>
        <p:txBody>
          <a:bodyPr wrap="square" lIns="0" tIns="0" rIns="0" bIns="0" anchor="t">
            <a:spAutoFit/>
          </a:bodyPr>
          <a:lstStyle/>
          <a:p>
            <a:pPr algn="l"/>
            <a:r>
              <a:rPr sz="2400" b="1" i="0">
                <a:solidFill>
                  <a:srgbClr val="211D71"/>
                </a:solidFill>
                <a:latin typeface="Arial"/>
              </a:rPr>
              <a:t>What a good story looks like</a:t>
            </a:r>
          </a:p>
        </p:txBody>
      </p:sp>
      <p:sp>
        <p:nvSpPr>
          <p:cNvPr id="4" name="Rounded Rectangle 3"/>
          <p:cNvSpPr/>
          <p:nvPr/>
        </p:nvSpPr>
        <p:spPr>
          <a:xfrm>
            <a:off x="640080" y="1572768"/>
            <a:ext cx="5349240" cy="384048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737360"/>
            <a:ext cx="4800600" cy="274320"/>
          </a:xfrm>
          <a:prstGeom prst="rect">
            <a:avLst/>
          </a:prstGeom>
          <a:noFill/>
        </p:spPr>
        <p:txBody>
          <a:bodyPr wrap="square" lIns="0" tIns="0" rIns="0" bIns="0" anchor="t">
            <a:spAutoFit/>
          </a:bodyPr>
          <a:lstStyle/>
          <a:p>
            <a:pPr algn="l"/>
            <a:r>
              <a:rPr sz="1500" b="1" i="0">
                <a:solidFill>
                  <a:srgbClr val="211D71"/>
                </a:solidFill>
                <a:latin typeface="Arial"/>
              </a:rPr>
              <a:t>Six quick checks  (INVEST)</a:t>
            </a:r>
          </a:p>
        </p:txBody>
      </p:sp>
      <p:sp>
        <p:nvSpPr>
          <p:cNvPr id="6" name="TextBox 5"/>
          <p:cNvSpPr txBox="1"/>
          <p:nvPr/>
        </p:nvSpPr>
        <p:spPr>
          <a:xfrm>
            <a:off x="914400" y="2121408"/>
            <a:ext cx="4800600" cy="3154680"/>
          </a:xfrm>
          <a:prstGeom prst="rect">
            <a:avLst/>
          </a:prstGeom>
          <a:noFill/>
        </p:spPr>
        <p:txBody>
          <a:bodyPr wrap="square" lIns="0" tIns="0" rIns="0" bIns="0" anchor="t">
            <a:spAutoFit/>
          </a:bodyPr>
          <a:lstStyle/>
          <a:p>
            <a:pPr algn="l">
              <a:lnSpc>
                <a:spcPts val="2700"/>
              </a:lnSpc>
            </a:pPr>
            <a:r>
              <a:rPr sz="1300" b="1" i="0">
                <a:solidFill>
                  <a:srgbClr val="22223B"/>
                </a:solidFill>
                <a:latin typeface="Arial"/>
              </a:rPr>
              <a:t>Independent</a:t>
            </a:r>
            <a:r>
              <a:rPr sz="1300" b="0" i="0">
                <a:solidFill>
                  <a:srgbClr val="22223B"/>
                </a:solidFill>
                <a:latin typeface="Arial"/>
              </a:rPr>
              <a:t> — can be built without waiting for three other things</a:t>
            </a:r>
          </a:p>
          <a:p>
            <a:pPr algn="l">
              <a:lnSpc>
                <a:spcPts val="2700"/>
              </a:lnSpc>
            </a:pPr>
            <a:r>
              <a:rPr sz="1300" b="1" i="0">
                <a:solidFill>
                  <a:srgbClr val="22223B"/>
                </a:solidFill>
                <a:latin typeface="Arial"/>
              </a:rPr>
              <a:t>Negotiable</a:t>
            </a:r>
            <a:r>
              <a:rPr sz="1300" b="0" i="0">
                <a:solidFill>
                  <a:srgbClr val="22223B"/>
                </a:solidFill>
                <a:latin typeface="Arial"/>
              </a:rPr>
              <a:t> — says what is wanted, not exactly how to code it</a:t>
            </a:r>
          </a:p>
          <a:p>
            <a:pPr algn="l">
              <a:lnSpc>
                <a:spcPts val="2700"/>
              </a:lnSpc>
            </a:pPr>
            <a:r>
              <a:rPr sz="1300" b="1" i="0">
                <a:solidFill>
                  <a:srgbClr val="22223B"/>
                </a:solidFill>
                <a:latin typeface="Arial"/>
              </a:rPr>
              <a:t>Valuable</a:t>
            </a:r>
            <a:r>
              <a:rPr sz="1300" b="0" i="0">
                <a:solidFill>
                  <a:srgbClr val="22223B"/>
                </a:solidFill>
                <a:latin typeface="Arial"/>
              </a:rPr>
              <a:t> — somebody is better off afterwards</a:t>
            </a:r>
          </a:p>
          <a:p>
            <a:pPr algn="l">
              <a:lnSpc>
                <a:spcPts val="2700"/>
              </a:lnSpc>
            </a:pPr>
            <a:r>
              <a:rPr sz="1300" b="1" i="0">
                <a:solidFill>
                  <a:srgbClr val="22223B"/>
                </a:solidFill>
                <a:latin typeface="Arial"/>
              </a:rPr>
              <a:t>Estimable</a:t>
            </a:r>
            <a:r>
              <a:rPr sz="1300" b="0" i="0">
                <a:solidFill>
                  <a:srgbClr val="22223B"/>
                </a:solidFill>
                <a:latin typeface="Arial"/>
              </a:rPr>
              <a:t> — the team can guess a size. If not, find out first</a:t>
            </a:r>
          </a:p>
          <a:p>
            <a:pPr algn="l">
              <a:lnSpc>
                <a:spcPts val="2700"/>
              </a:lnSpc>
            </a:pPr>
            <a:r>
              <a:rPr sz="1300" b="1" i="0">
                <a:solidFill>
                  <a:srgbClr val="22223B"/>
                </a:solidFill>
                <a:latin typeface="Arial"/>
              </a:rPr>
              <a:t>Small</a:t>
            </a:r>
            <a:r>
              <a:rPr sz="1300" b="0" i="0">
                <a:solidFill>
                  <a:srgbClr val="22223B"/>
                </a:solidFill>
                <a:latin typeface="Arial"/>
              </a:rPr>
              <a:t> — fits in one sprint, ideally a few days</a:t>
            </a:r>
          </a:p>
          <a:p>
            <a:pPr algn="l">
              <a:lnSpc>
                <a:spcPts val="2700"/>
              </a:lnSpc>
            </a:pPr>
            <a:r>
              <a:rPr sz="1300" b="1" i="0">
                <a:solidFill>
                  <a:srgbClr val="22223B"/>
                </a:solidFill>
                <a:latin typeface="Arial"/>
              </a:rPr>
              <a:t>Testable</a:t>
            </a:r>
            <a:r>
              <a:rPr sz="1300" b="0" i="0">
                <a:solidFill>
                  <a:srgbClr val="22223B"/>
                </a:solidFill>
                <a:latin typeface="Arial"/>
              </a:rPr>
              <a:t> — you can say today how you will know it works</a:t>
            </a:r>
          </a:p>
        </p:txBody>
      </p:sp>
      <p:sp>
        <p:nvSpPr>
          <p:cNvPr id="7" name="Rounded Rectangle 6"/>
          <p:cNvSpPr/>
          <p:nvPr/>
        </p:nvSpPr>
        <p:spPr>
          <a:xfrm>
            <a:off x="6263640" y="1572768"/>
            <a:ext cx="5349240" cy="384048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37960" y="1737360"/>
            <a:ext cx="4800600" cy="274320"/>
          </a:xfrm>
          <a:prstGeom prst="rect">
            <a:avLst/>
          </a:prstGeom>
          <a:noFill/>
        </p:spPr>
        <p:txBody>
          <a:bodyPr wrap="square" lIns="0" tIns="0" rIns="0" bIns="0" anchor="t">
            <a:spAutoFit/>
          </a:bodyPr>
          <a:lstStyle/>
          <a:p>
            <a:pPr algn="l"/>
            <a:r>
              <a:rPr sz="1500" b="1" i="0">
                <a:solidFill>
                  <a:srgbClr val="211D71"/>
                </a:solidFill>
                <a:latin typeface="Arial"/>
              </a:rPr>
              <a:t>How will we know it is done?</a:t>
            </a:r>
          </a:p>
        </p:txBody>
      </p:sp>
      <p:sp>
        <p:nvSpPr>
          <p:cNvPr id="9" name="TextBox 8"/>
          <p:cNvSpPr txBox="1"/>
          <p:nvPr/>
        </p:nvSpPr>
        <p:spPr>
          <a:xfrm>
            <a:off x="6537960" y="2121408"/>
            <a:ext cx="4800600" cy="3154680"/>
          </a:xfrm>
          <a:prstGeom prst="rect">
            <a:avLst/>
          </a:prstGeom>
          <a:noFill/>
        </p:spPr>
        <p:txBody>
          <a:bodyPr wrap="square" lIns="0" tIns="0" rIns="0" bIns="0" anchor="t">
            <a:spAutoFit/>
          </a:bodyPr>
          <a:lstStyle/>
          <a:p>
            <a:pPr algn="l">
              <a:lnSpc>
                <a:spcPts val="2300"/>
              </a:lnSpc>
            </a:pPr>
            <a:r>
              <a:rPr sz="1300" b="1" i="0">
                <a:solidFill>
                  <a:srgbClr val="211D71"/>
                </a:solidFill>
                <a:latin typeface="Arial"/>
              </a:rPr>
              <a:t>The story</a:t>
            </a:r>
          </a:p>
          <a:p>
            <a:pPr algn="l">
              <a:lnSpc>
                <a:spcPts val="2300"/>
              </a:lnSpc>
            </a:pPr>
            <a:r>
              <a:rPr sz="1300" b="0" i="0">
                <a:solidFill>
                  <a:srgbClr val="22223B"/>
                </a:solidFill>
                <a:latin typeface="Arial"/>
              </a:rPr>
              <a:t>As a student I want to split a canteen bill, so I am not chasing friends for cash.</a:t>
            </a:r>
          </a:p>
          <a:p>
            <a:pPr algn="l">
              <a:lnSpc>
                <a:spcPts val="2300"/>
              </a:lnSpc>
            </a:pPr>
            <a:r>
              <a:rPr sz="1300" b="1" i="0">
                <a:solidFill>
                  <a:srgbClr val="A9740A"/>
                </a:solidFill>
                <a:latin typeface="Arial"/>
              </a:rPr>
              <a:t>Given</a:t>
            </a:r>
            <a:r>
              <a:rPr sz="1300" b="0" i="0">
                <a:solidFill>
                  <a:srgbClr val="22223B"/>
                </a:solidFill>
                <a:latin typeface="Arial"/>
              </a:rPr>
              <a:t> I paid ₹800</a:t>
            </a:r>
          </a:p>
          <a:p>
            <a:pPr algn="l">
              <a:lnSpc>
                <a:spcPts val="2300"/>
              </a:lnSpc>
            </a:pPr>
            <a:r>
              <a:rPr sz="1300" b="1" i="0">
                <a:solidFill>
                  <a:srgbClr val="A9740A"/>
                </a:solidFill>
                <a:latin typeface="Arial"/>
              </a:rPr>
              <a:t>When</a:t>
            </a:r>
            <a:r>
              <a:rPr sz="1300" b="0" i="0">
                <a:solidFill>
                  <a:srgbClr val="22223B"/>
                </a:solidFill>
                <a:latin typeface="Arial"/>
              </a:rPr>
              <a:t> I split it between 4 people</a:t>
            </a:r>
          </a:p>
          <a:p>
            <a:pPr algn="l">
              <a:lnSpc>
                <a:spcPts val="2300"/>
              </a:lnSpc>
            </a:pPr>
            <a:r>
              <a:rPr sz="1300" b="1" i="0">
                <a:solidFill>
                  <a:srgbClr val="A9740A"/>
                </a:solidFill>
                <a:latin typeface="Arial"/>
              </a:rPr>
              <a:t>Then</a:t>
            </a:r>
            <a:r>
              <a:rPr sz="1300" b="0" i="0">
                <a:solidFill>
                  <a:srgbClr val="22223B"/>
                </a:solidFill>
                <a:latin typeface="Arial"/>
              </a:rPr>
              <a:t> each of them gets a request for ₹200</a:t>
            </a:r>
          </a:p>
          <a:p>
            <a:pPr algn="l">
              <a:lnSpc>
                <a:spcPts val="2300"/>
              </a:lnSpc>
            </a:pPr>
            <a:r>
              <a:rPr sz="1300" b="1" i="0">
                <a:solidFill>
                  <a:srgbClr val="A9740A"/>
                </a:solidFill>
                <a:latin typeface="Arial"/>
              </a:rPr>
              <a:t>Given</a:t>
            </a:r>
            <a:r>
              <a:rPr sz="1300" b="0" i="0">
                <a:solidFill>
                  <a:srgbClr val="22223B"/>
                </a:solidFill>
                <a:latin typeface="Arial"/>
              </a:rPr>
              <a:t> a request is 7 days old and unpaid</a:t>
            </a:r>
          </a:p>
          <a:p>
            <a:pPr algn="l">
              <a:lnSpc>
                <a:spcPts val="2300"/>
              </a:lnSpc>
            </a:pPr>
            <a:r>
              <a:rPr sz="1300" b="1" i="0">
                <a:solidFill>
                  <a:srgbClr val="A9740A"/>
                </a:solidFill>
                <a:latin typeface="Arial"/>
              </a:rPr>
              <a:t>When</a:t>
            </a:r>
            <a:r>
              <a:rPr sz="1300" b="0" i="0">
                <a:solidFill>
                  <a:srgbClr val="22223B"/>
                </a:solidFill>
                <a:latin typeface="Arial"/>
              </a:rPr>
              <a:t> nobody has acted on it</a:t>
            </a:r>
          </a:p>
          <a:p>
            <a:pPr algn="l">
              <a:lnSpc>
                <a:spcPts val="2300"/>
              </a:lnSpc>
            </a:pPr>
            <a:r>
              <a:rPr sz="1300" b="1" i="0">
                <a:solidFill>
                  <a:srgbClr val="A9740A"/>
                </a:solidFill>
                <a:latin typeface="Arial"/>
              </a:rPr>
              <a:t>Then</a:t>
            </a:r>
            <a:r>
              <a:rPr sz="1300" b="0" i="0">
                <a:solidFill>
                  <a:srgbClr val="22223B"/>
                </a:solidFill>
                <a:latin typeface="Arial"/>
              </a:rPr>
              <a:t> it expires and I am told once</a:t>
            </a:r>
          </a:p>
        </p:txBody>
      </p:sp>
      <p:sp>
        <p:nvSpPr>
          <p:cNvPr id="10" name="Rounded Rectangle 9"/>
          <p:cNvSpPr/>
          <p:nvPr/>
        </p:nvSpPr>
        <p:spPr>
          <a:xfrm>
            <a:off x="640080" y="5550408"/>
            <a:ext cx="10908792" cy="658368"/>
          </a:xfrm>
          <a:prstGeom prst="roundRect">
            <a:avLst>
              <a:gd name="adj" fmla="val 5500"/>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5586984"/>
            <a:ext cx="10451592" cy="585216"/>
          </a:xfrm>
          <a:prstGeom prst="rect">
            <a:avLst/>
          </a:prstGeom>
          <a:noFill/>
        </p:spPr>
        <p:txBody>
          <a:bodyPr wrap="square" lIns="0" tIns="0" rIns="0" bIns="0" anchor="ctr">
            <a:spAutoFit/>
          </a:bodyPr>
          <a:lstStyle/>
          <a:p>
            <a:pPr algn="l"/>
            <a:r>
              <a:rPr sz="1350" b="1" i="0">
                <a:solidFill>
                  <a:srgbClr val="FFFFFF"/>
                </a:solidFill>
                <a:latin typeface="Arial"/>
              </a:rPr>
              <a:t>The card is not the requirement. The card is a reminder to have a conversation. The acceptance criteria are what you agreed in that conversation.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19" y="1828800"/>
            <a:ext cx="2194560" cy="1371600"/>
          </a:xfrm>
          <a:prstGeom prst="rect">
            <a:avLst/>
          </a:prstGeom>
          <a:noFill/>
        </p:spPr>
        <p:txBody>
          <a:bodyPr wrap="square" lIns="0" tIns="0" rIns="0" bIns="0" anchor="t">
            <a:spAutoFit/>
          </a:bodyPr>
          <a:lstStyle/>
          <a:p>
            <a:pPr algn="l"/>
            <a:r>
              <a:rPr sz="7600" b="1" i="0">
                <a:solidFill>
                  <a:srgbClr val="B4B8DA"/>
                </a:solidFill>
                <a:latin typeface="Arial"/>
              </a:rPr>
              <a:t>06</a:t>
            </a:r>
          </a:p>
        </p:txBody>
      </p:sp>
      <p:sp>
        <p:nvSpPr>
          <p:cNvPr id="3" name="TextBox 2"/>
          <p:cNvSpPr txBox="1"/>
          <p:nvPr/>
        </p:nvSpPr>
        <p:spPr>
          <a:xfrm>
            <a:off x="731519" y="3017520"/>
            <a:ext cx="10058400" cy="868680"/>
          </a:xfrm>
          <a:prstGeom prst="rect">
            <a:avLst/>
          </a:prstGeom>
          <a:noFill/>
        </p:spPr>
        <p:txBody>
          <a:bodyPr wrap="square" lIns="0" tIns="0" rIns="0" bIns="0" anchor="t">
            <a:spAutoFit/>
          </a:bodyPr>
          <a:lstStyle/>
          <a:p>
            <a:pPr algn="l"/>
            <a:r>
              <a:rPr sz="3600" b="1" i="0">
                <a:solidFill>
                  <a:srgbClr val="211D71"/>
                </a:solidFill>
                <a:latin typeface="Arial"/>
              </a:rPr>
              <a:t>When you have no numbers</a:t>
            </a:r>
          </a:p>
        </p:txBody>
      </p:sp>
      <p:sp>
        <p:nvSpPr>
          <p:cNvPr id="4" name="Rectangle 3"/>
          <p:cNvSpPr/>
          <p:nvPr/>
        </p:nvSpPr>
        <p:spPr>
          <a:xfrm>
            <a:off x="777240" y="3977639"/>
            <a:ext cx="914400" cy="50292"/>
          </a:xfrm>
          <a:prstGeom prst="rect">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691639" y="3977639"/>
            <a:ext cx="914400" cy="50292"/>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606039" y="3977639"/>
            <a:ext cx="914400" cy="50292"/>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19" y="4187952"/>
            <a:ext cx="10058400" cy="457200"/>
          </a:xfrm>
          <a:prstGeom prst="rect">
            <a:avLst/>
          </a:prstGeom>
          <a:noFill/>
        </p:spPr>
        <p:txBody>
          <a:bodyPr wrap="square" lIns="0" tIns="0" rIns="0" bIns="0" anchor="t">
            <a:spAutoFit/>
          </a:bodyPr>
          <a:lstStyle/>
          <a:p>
            <a:pPr algn="l"/>
            <a:r>
              <a:rPr sz="1400" b="0" i="0">
                <a:solidFill>
                  <a:srgbClr val="5F6178"/>
                </a:solidFill>
                <a:latin typeface="Arial"/>
              </a:rPr>
              <a:t>MoSCoW, the Product Tree and Buy a Feature   ·   67–80 min</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74320"/>
            <a:ext cx="10908792" cy="237744"/>
          </a:xfrm>
          <a:prstGeom prst="rect">
            <a:avLst/>
          </a:prstGeom>
          <a:noFill/>
        </p:spPr>
        <p:txBody>
          <a:bodyPr wrap="square" lIns="0" tIns="0" rIns="0" bIns="0" anchor="t">
            <a:spAutoFit/>
          </a:bodyPr>
          <a:lstStyle/>
          <a:p>
            <a:pPr algn="l"/>
            <a:r>
              <a:rPr sz="1000" b="1" i="0" spc="140">
                <a:solidFill>
                  <a:srgbClr val="A9740A"/>
                </a:solidFill>
                <a:latin typeface="Arial"/>
              </a:rPr>
              <a:t>MOSCOW</a:t>
            </a:r>
          </a:p>
        </p:txBody>
      </p:sp>
      <p:sp>
        <p:nvSpPr>
          <p:cNvPr id="3" name="TextBox 2"/>
          <p:cNvSpPr txBox="1"/>
          <p:nvPr/>
        </p:nvSpPr>
        <p:spPr>
          <a:xfrm>
            <a:off x="640080" y="548640"/>
            <a:ext cx="8229600" cy="640080"/>
          </a:xfrm>
          <a:prstGeom prst="rect">
            <a:avLst/>
          </a:prstGeom>
          <a:noFill/>
        </p:spPr>
        <p:txBody>
          <a:bodyPr wrap="square" lIns="0" tIns="0" rIns="0" bIns="0" anchor="t">
            <a:spAutoFit/>
          </a:bodyPr>
          <a:lstStyle/>
          <a:p>
            <a:pPr algn="l"/>
            <a:r>
              <a:rPr sz="2400" b="1" i="0">
                <a:solidFill>
                  <a:srgbClr val="211D71"/>
                </a:solidFill>
                <a:latin typeface="Arial"/>
              </a:rPr>
              <a:t>MoSCoW — four words for one release</a:t>
            </a:r>
          </a:p>
        </p:txBody>
      </p:sp>
      <p:graphicFrame>
        <p:nvGraphicFramePr>
          <p:cNvPr id="4" name="Table 3"/>
          <p:cNvGraphicFramePr>
            <a:graphicFrameLocks noGrp="1"/>
          </p:cNvGraphicFramePr>
          <p:nvPr/>
        </p:nvGraphicFramePr>
        <p:xfrm>
          <a:off x="640080" y="1664207"/>
          <a:ext cx="10908792" cy="3291840"/>
        </p:xfrm>
        <a:graphic>
          <a:graphicData uri="http://schemas.openxmlformats.org/drawingml/2006/table">
            <a:tbl>
              <a:tblPr>
                <a:tableStyleId>{5C22544A-7EE6-4342-B048-85BDC9FD1C3A}</a:tableStyleId>
              </a:tblPr>
              <a:tblGrid>
                <a:gridCol w="1828800">
                  <a:extLst>
                    <a:ext uri="{9D8B030D-6E8A-4147-A177-3AD203B41FA5}">
                      <a16:colId xmlns:a16="http://schemas.microsoft.com/office/drawing/2014/main" val="20000"/>
                    </a:ext>
                  </a:extLst>
                </a:gridCol>
                <a:gridCol w="4937760">
                  <a:extLst>
                    <a:ext uri="{9D8B030D-6E8A-4147-A177-3AD203B41FA5}">
                      <a16:colId xmlns:a16="http://schemas.microsoft.com/office/drawing/2014/main" val="20001"/>
                    </a:ext>
                  </a:extLst>
                </a:gridCol>
                <a:gridCol w="4142232">
                  <a:extLst>
                    <a:ext uri="{9D8B030D-6E8A-4147-A177-3AD203B41FA5}">
                      <a16:colId xmlns:a16="http://schemas.microsoft.com/office/drawing/2014/main" val="20002"/>
                    </a:ext>
                  </a:extLst>
                </a:gridCol>
              </a:tblGrid>
              <a:tr h="658368">
                <a:tc>
                  <a:txBody>
                    <a:bodyPr/>
                    <a:lstStyle/>
                    <a:p>
                      <a:pPr algn="l"/>
                      <a:endParaRPr/>
                    </a:p>
                  </a:txBody>
                  <a:tcPr marL="82296" marR="82296" marT="36576" marB="36576" anchor="ctr">
                    <a:solidFill>
                      <a:srgbClr val="211D71"/>
                    </a:solidFill>
                  </a:tcPr>
                </a:tc>
                <a:tc>
                  <a:txBody>
                    <a:bodyPr/>
                    <a:lstStyle/>
                    <a:p>
                      <a:pPr algn="l"/>
                      <a:r>
                        <a:rPr sz="1300" b="1">
                          <a:solidFill>
                            <a:srgbClr val="FFFFFF"/>
                          </a:solidFill>
                          <a:latin typeface="Arial"/>
                        </a:rPr>
                        <a:t>What it means</a:t>
                      </a:r>
                    </a:p>
                  </a:txBody>
                  <a:tcPr marL="82296" marR="82296" marT="36576" marB="36576" anchor="ctr">
                    <a:solidFill>
                      <a:srgbClr val="211D71"/>
                    </a:solidFill>
                  </a:tcPr>
                </a:tc>
                <a:tc>
                  <a:txBody>
                    <a:bodyPr/>
                    <a:lstStyle/>
                    <a:p>
                      <a:pPr algn="l"/>
                      <a:r>
                        <a:rPr sz="1300" b="1">
                          <a:solidFill>
                            <a:srgbClr val="FFFFFF"/>
                          </a:solidFill>
                          <a:latin typeface="Arial"/>
                        </a:rPr>
                        <a:t>The question to ask</a:t>
                      </a:r>
                    </a:p>
                  </a:txBody>
                  <a:tcPr marL="82296" marR="82296" marT="36576" marB="36576" anchor="ctr">
                    <a:solidFill>
                      <a:srgbClr val="211D71"/>
                    </a:solidFill>
                  </a:tcPr>
                </a:tc>
                <a:extLst>
                  <a:ext uri="{0D108BD9-81ED-4DB2-BD59-A6C34878D82A}">
                    <a16:rowId xmlns:a16="http://schemas.microsoft.com/office/drawing/2014/main" val="10000"/>
                  </a:ext>
                </a:extLst>
              </a:tr>
              <a:tr h="658368">
                <a:tc>
                  <a:txBody>
                    <a:bodyPr/>
                    <a:lstStyle/>
                    <a:p>
                      <a:pPr algn="l"/>
                      <a:r>
                        <a:rPr sz="1300" b="1">
                          <a:solidFill>
                            <a:srgbClr val="E31C24"/>
                          </a:solidFill>
                          <a:latin typeface="Arial"/>
                        </a:rPr>
                        <a:t>Must have</a:t>
                      </a:r>
                    </a:p>
                  </a:txBody>
                  <a:tcPr marL="82296" marR="82296" marT="36576" marB="36576" anchor="ctr">
                    <a:solidFill>
                      <a:srgbClr val="F3F4FA"/>
                    </a:solidFill>
                  </a:tcPr>
                </a:tc>
                <a:tc>
                  <a:txBody>
                    <a:bodyPr/>
                    <a:lstStyle/>
                    <a:p>
                      <a:pPr algn="l"/>
                      <a:r>
                        <a:rPr sz="1300" b="0">
                          <a:solidFill>
                            <a:srgbClr val="22223B"/>
                          </a:solidFill>
                          <a:latin typeface="Arial"/>
                        </a:rPr>
                        <a:t>Without it, there is no point releasing at all. Or it would be illegal or unsafe.</a:t>
                      </a:r>
                    </a:p>
                  </a:txBody>
                  <a:tcPr marL="82296" marR="82296" marT="36576" marB="36576" anchor="ctr">
                    <a:solidFill>
                      <a:srgbClr val="F3F4FA"/>
                    </a:solidFill>
                  </a:tcPr>
                </a:tc>
                <a:tc>
                  <a:txBody>
                    <a:bodyPr/>
                    <a:lstStyle/>
                    <a:p>
                      <a:pPr algn="l"/>
                      <a:r>
                        <a:rPr sz="1300" b="0">
                          <a:solidFill>
                            <a:srgbClr val="22223B"/>
                          </a:solidFill>
                          <a:latin typeface="Arial"/>
                        </a:rPr>
                        <a:t>"If we ship without this, do we cancel the release?" If no, it is not a Must.</a:t>
                      </a:r>
                    </a:p>
                  </a:txBody>
                  <a:tcPr marL="82296" marR="82296" marT="36576" marB="36576" anchor="ctr">
                    <a:solidFill>
                      <a:srgbClr val="F3F4FA"/>
                    </a:solidFill>
                  </a:tcPr>
                </a:tc>
                <a:extLst>
                  <a:ext uri="{0D108BD9-81ED-4DB2-BD59-A6C34878D82A}">
                    <a16:rowId xmlns:a16="http://schemas.microsoft.com/office/drawing/2014/main" val="10001"/>
                  </a:ext>
                </a:extLst>
              </a:tr>
              <a:tr h="658368">
                <a:tc>
                  <a:txBody>
                    <a:bodyPr/>
                    <a:lstStyle/>
                    <a:p>
                      <a:pPr algn="l"/>
                      <a:r>
                        <a:rPr sz="1300" b="1">
                          <a:solidFill>
                            <a:srgbClr val="22223B"/>
                          </a:solidFill>
                          <a:latin typeface="Arial"/>
                        </a:rPr>
                        <a:t>Should have</a:t>
                      </a:r>
                    </a:p>
                  </a:txBody>
                  <a:tcPr marL="82296" marR="82296" marT="36576" marB="36576" anchor="ctr">
                    <a:solidFill>
                      <a:srgbClr val="FFFFFF"/>
                    </a:solidFill>
                  </a:tcPr>
                </a:tc>
                <a:tc>
                  <a:txBody>
                    <a:bodyPr/>
                    <a:lstStyle/>
                    <a:p>
                      <a:pPr algn="l"/>
                      <a:r>
                        <a:rPr sz="1300" b="0">
                          <a:solidFill>
                            <a:srgbClr val="22223B"/>
                          </a:solidFill>
                          <a:latin typeface="Arial"/>
                        </a:rPr>
                        <a:t>It hurts to leave out, but we could cope — perhaps with a workaround.</a:t>
                      </a:r>
                    </a:p>
                  </a:txBody>
                  <a:tcPr marL="82296" marR="82296" marT="36576" marB="36576" anchor="ctr">
                    <a:solidFill>
                      <a:srgbClr val="FFFFFF"/>
                    </a:solidFill>
                  </a:tcPr>
                </a:tc>
                <a:tc>
                  <a:txBody>
                    <a:bodyPr/>
                    <a:lstStyle/>
                    <a:p>
                      <a:pPr algn="l"/>
                      <a:r>
                        <a:rPr sz="1300" b="0">
                          <a:solidFill>
                            <a:srgbClr val="22223B"/>
                          </a:solidFill>
                          <a:latin typeface="Arial"/>
                        </a:rPr>
                        <a:t>"Could we live without this for one release?" If yes, it is a Should.</a:t>
                      </a:r>
                    </a:p>
                  </a:txBody>
                  <a:tcPr marL="82296" marR="82296" marT="36576" marB="36576" anchor="ctr">
                    <a:solidFill>
                      <a:srgbClr val="FFFFFF"/>
                    </a:solidFill>
                  </a:tcPr>
                </a:tc>
                <a:extLst>
                  <a:ext uri="{0D108BD9-81ED-4DB2-BD59-A6C34878D82A}">
                    <a16:rowId xmlns:a16="http://schemas.microsoft.com/office/drawing/2014/main" val="10002"/>
                  </a:ext>
                </a:extLst>
              </a:tr>
              <a:tr h="658368">
                <a:tc>
                  <a:txBody>
                    <a:bodyPr/>
                    <a:lstStyle/>
                    <a:p>
                      <a:pPr algn="l"/>
                      <a:r>
                        <a:rPr sz="1300" b="1">
                          <a:solidFill>
                            <a:srgbClr val="22223B"/>
                          </a:solidFill>
                          <a:latin typeface="Arial"/>
                        </a:rPr>
                        <a:t>Could have</a:t>
                      </a:r>
                    </a:p>
                  </a:txBody>
                  <a:tcPr marL="82296" marR="82296" marT="36576" marB="36576" anchor="ctr">
                    <a:solidFill>
                      <a:srgbClr val="F3F4FA"/>
                    </a:solidFill>
                  </a:tcPr>
                </a:tc>
                <a:tc>
                  <a:txBody>
                    <a:bodyPr/>
                    <a:lstStyle/>
                    <a:p>
                      <a:pPr algn="l"/>
                      <a:r>
                        <a:rPr sz="1300" b="0">
                          <a:solidFill>
                            <a:srgbClr val="22223B"/>
                          </a:solidFill>
                          <a:latin typeface="Arial"/>
                        </a:rPr>
                        <a:t>Nice. Do it if there is room. This is your safety margin.</a:t>
                      </a:r>
                    </a:p>
                  </a:txBody>
                  <a:tcPr marL="82296" marR="82296" marT="36576" marB="36576" anchor="ctr">
                    <a:solidFill>
                      <a:srgbClr val="F3F4FA"/>
                    </a:solidFill>
                  </a:tcPr>
                </a:tc>
                <a:tc>
                  <a:txBody>
                    <a:bodyPr/>
                    <a:lstStyle/>
                    <a:p>
                      <a:pPr algn="l"/>
                      <a:r>
                        <a:rPr sz="1300" b="0">
                          <a:solidFill>
                            <a:srgbClr val="22223B"/>
                          </a:solidFill>
                          <a:latin typeface="Arial"/>
                        </a:rPr>
                        <a:t>"Would anyone complain if this slipped?" If no, it is a Could.</a:t>
                      </a:r>
                    </a:p>
                  </a:txBody>
                  <a:tcPr marL="82296" marR="82296" marT="36576" marB="36576" anchor="ctr">
                    <a:solidFill>
                      <a:srgbClr val="F3F4FA"/>
                    </a:solidFill>
                  </a:tcPr>
                </a:tc>
                <a:extLst>
                  <a:ext uri="{0D108BD9-81ED-4DB2-BD59-A6C34878D82A}">
                    <a16:rowId xmlns:a16="http://schemas.microsoft.com/office/drawing/2014/main" val="10003"/>
                  </a:ext>
                </a:extLst>
              </a:tr>
              <a:tr h="658368">
                <a:tc>
                  <a:txBody>
                    <a:bodyPr/>
                    <a:lstStyle/>
                    <a:p>
                      <a:pPr algn="l"/>
                      <a:r>
                        <a:rPr sz="1300" b="1">
                          <a:solidFill>
                            <a:srgbClr val="5F6178"/>
                          </a:solidFill>
                          <a:latin typeface="Arial"/>
                        </a:rPr>
                        <a:t>Won't have</a:t>
                      </a:r>
                    </a:p>
                  </a:txBody>
                  <a:tcPr marL="82296" marR="82296" marT="36576" marB="36576" anchor="ctr">
                    <a:solidFill>
                      <a:srgbClr val="FFFFFF"/>
                    </a:solidFill>
                  </a:tcPr>
                </a:tc>
                <a:tc>
                  <a:txBody>
                    <a:bodyPr/>
                    <a:lstStyle/>
                    <a:p>
                      <a:pPr algn="l"/>
                      <a:r>
                        <a:rPr sz="1300" b="0">
                          <a:solidFill>
                            <a:srgbClr val="22223B"/>
                          </a:solidFill>
                          <a:latin typeface="Arial"/>
                        </a:rPr>
                        <a:t>Agreed as out — for this release. Written down so it does not creep back in.</a:t>
                      </a:r>
                    </a:p>
                  </a:txBody>
                  <a:tcPr marL="82296" marR="82296" marT="36576" marB="36576" anchor="ctr">
                    <a:solidFill>
                      <a:srgbClr val="FFFFFF"/>
                    </a:solidFill>
                  </a:tcPr>
                </a:tc>
                <a:tc>
                  <a:txBody>
                    <a:bodyPr/>
                    <a:lstStyle/>
                    <a:p>
                      <a:pPr algn="l"/>
                      <a:r>
                        <a:rPr sz="1300" b="0">
                          <a:solidFill>
                            <a:srgbClr val="22223B"/>
                          </a:solidFill>
                          <a:latin typeface="Arial"/>
                        </a:rPr>
                        <a:t>"Have we told the person who asked, and written it down?"</a:t>
                      </a:r>
                    </a:p>
                  </a:txBody>
                  <a:tcPr marL="82296" marR="82296" marT="36576" marB="36576" anchor="ctr">
                    <a:solidFill>
                      <a:srgbClr val="FFFFFF"/>
                    </a:solidFill>
                  </a:tcPr>
                </a:tc>
                <a:extLst>
                  <a:ext uri="{0D108BD9-81ED-4DB2-BD59-A6C34878D82A}">
                    <a16:rowId xmlns:a16="http://schemas.microsoft.com/office/drawing/2014/main" val="10004"/>
                  </a:ext>
                </a:extLst>
              </a:tr>
            </a:tbl>
          </a:graphicData>
        </a:graphic>
      </p:graphicFrame>
      <p:sp>
        <p:nvSpPr>
          <p:cNvPr id="5" name="Rounded Rectangle 4"/>
          <p:cNvSpPr/>
          <p:nvPr/>
        </p:nvSpPr>
        <p:spPr>
          <a:xfrm>
            <a:off x="640080" y="5093208"/>
            <a:ext cx="10908792" cy="658368"/>
          </a:xfrm>
          <a:prstGeom prst="roundRect">
            <a:avLst>
              <a:gd name="adj" fmla="val 5500"/>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5129784"/>
            <a:ext cx="10451592" cy="585216"/>
          </a:xfrm>
          <a:prstGeom prst="rect">
            <a:avLst/>
          </a:prstGeom>
          <a:noFill/>
        </p:spPr>
        <p:txBody>
          <a:bodyPr wrap="square" lIns="0" tIns="0" rIns="0" bIns="0" anchor="ctr">
            <a:spAutoFit/>
          </a:bodyPr>
          <a:lstStyle/>
          <a:p>
            <a:pPr algn="l"/>
            <a:r>
              <a:rPr sz="1350" b="1" i="0">
                <a:solidFill>
                  <a:srgbClr val="FFFFFF"/>
                </a:solidFill>
                <a:latin typeface="Arial"/>
              </a:rPr>
              <a:t>"Won't have" is the one that earns its keep. It is the only one of the four that actually ends an argument.</a:t>
            </a:r>
          </a:p>
        </p:txBody>
      </p:sp>
      <p:sp>
        <p:nvSpPr>
          <p:cNvPr id="7" name="TextBox 6"/>
          <p:cNvSpPr txBox="1"/>
          <p:nvPr/>
        </p:nvSpPr>
        <p:spPr>
          <a:xfrm>
            <a:off x="640080" y="5888736"/>
            <a:ext cx="10908792" cy="365760"/>
          </a:xfrm>
          <a:prstGeom prst="rect">
            <a:avLst/>
          </a:prstGeom>
          <a:noFill/>
        </p:spPr>
        <p:txBody>
          <a:bodyPr wrap="square" lIns="0" tIns="0" rIns="0" bIns="0" anchor="t">
            <a:spAutoFit/>
          </a:bodyPr>
          <a:lstStyle/>
          <a:p>
            <a:pPr algn="ctr"/>
            <a:r>
              <a:rPr sz="1300" b="0" i="1">
                <a:solidFill>
                  <a:srgbClr val="5F6178"/>
                </a:solidFill>
                <a:latin typeface="Arial"/>
              </a:rPr>
              <a:t>The M in Must stands for the Minimum Usable SubseT — the smallest set that still works as a whole.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74320"/>
            <a:ext cx="10908792" cy="237744"/>
          </a:xfrm>
          <a:prstGeom prst="rect">
            <a:avLst/>
          </a:prstGeom>
          <a:noFill/>
        </p:spPr>
        <p:txBody>
          <a:bodyPr wrap="square" lIns="0" tIns="0" rIns="0" bIns="0" anchor="t">
            <a:spAutoFit/>
          </a:bodyPr>
          <a:lstStyle/>
          <a:p>
            <a:pPr algn="l"/>
            <a:r>
              <a:rPr sz="1000" b="1" i="0" spc="140">
                <a:solidFill>
                  <a:srgbClr val="A9740A"/>
                </a:solidFill>
                <a:latin typeface="Arial"/>
              </a:rPr>
              <a:t>MOSCOW</a:t>
            </a:r>
          </a:p>
        </p:txBody>
      </p:sp>
      <p:sp>
        <p:nvSpPr>
          <p:cNvPr id="3" name="TextBox 2"/>
          <p:cNvSpPr txBox="1"/>
          <p:nvPr/>
        </p:nvSpPr>
        <p:spPr>
          <a:xfrm>
            <a:off x="640080" y="548640"/>
            <a:ext cx="8229600" cy="640080"/>
          </a:xfrm>
          <a:prstGeom prst="rect">
            <a:avLst/>
          </a:prstGeom>
          <a:noFill/>
        </p:spPr>
        <p:txBody>
          <a:bodyPr wrap="square" lIns="0" tIns="0" rIns="0" bIns="0" anchor="t">
            <a:spAutoFit/>
          </a:bodyPr>
          <a:lstStyle/>
          <a:p>
            <a:pPr algn="l"/>
            <a:r>
              <a:rPr sz="2400" b="1" i="0">
                <a:solidFill>
                  <a:srgbClr val="211D71"/>
                </a:solidFill>
                <a:latin typeface="Arial"/>
              </a:rPr>
              <a:t>The rule that makes MoSCoW work</a:t>
            </a:r>
          </a:p>
        </p:txBody>
      </p:sp>
      <p:sp>
        <p:nvSpPr>
          <p:cNvPr id="4" name="Rounded Rectangle 3"/>
          <p:cNvSpPr/>
          <p:nvPr/>
        </p:nvSpPr>
        <p:spPr>
          <a:xfrm>
            <a:off x="640080" y="1572768"/>
            <a:ext cx="10908792" cy="868680"/>
          </a:xfrm>
          <a:prstGeom prst="roundRect">
            <a:avLst>
              <a:gd name="adj" fmla="val 5500"/>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572768"/>
            <a:ext cx="10908792" cy="868680"/>
          </a:xfrm>
          <a:prstGeom prst="rect">
            <a:avLst/>
          </a:prstGeom>
          <a:noFill/>
        </p:spPr>
        <p:txBody>
          <a:bodyPr wrap="square" lIns="0" tIns="0" rIns="0" bIns="0" anchor="ctr">
            <a:spAutoFit/>
          </a:bodyPr>
          <a:lstStyle/>
          <a:p>
            <a:pPr algn="ctr"/>
            <a:r>
              <a:rPr sz="2100" b="1" i="0">
                <a:solidFill>
                  <a:srgbClr val="FCB017"/>
                </a:solidFill>
                <a:latin typeface="Arial"/>
              </a:rPr>
              <a:t>Musts should be no more than 60% of the work in the release</a:t>
            </a:r>
          </a:p>
        </p:txBody>
      </p:sp>
      <p:sp>
        <p:nvSpPr>
          <p:cNvPr id="6" name="Rounded Rectangle 5"/>
          <p:cNvSpPr/>
          <p:nvPr/>
        </p:nvSpPr>
        <p:spPr>
          <a:xfrm>
            <a:off x="640080" y="2578608"/>
            <a:ext cx="10908792" cy="1143000"/>
          </a:xfrm>
          <a:prstGeom prst="roundRect">
            <a:avLst>
              <a:gd name="adj" fmla="val 5500"/>
            </a:avLst>
          </a:prstGeom>
          <a:solidFill>
            <a:srgbClr val="FEF4DC"/>
          </a:solidFill>
          <a:ln w="15875">
            <a:solidFill>
              <a:srgbClr val="FCB0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2724912"/>
            <a:ext cx="10360152" cy="237744"/>
          </a:xfrm>
          <a:prstGeom prst="rect">
            <a:avLst/>
          </a:prstGeom>
          <a:noFill/>
        </p:spPr>
        <p:txBody>
          <a:bodyPr wrap="square" lIns="0" tIns="0" rIns="0" bIns="0" anchor="t">
            <a:spAutoFit/>
          </a:bodyPr>
          <a:lstStyle/>
          <a:p>
            <a:pPr algn="l"/>
            <a:r>
              <a:rPr sz="1000" b="1" i="0" spc="140">
                <a:solidFill>
                  <a:srgbClr val="A9740A"/>
                </a:solidFill>
                <a:latin typeface="Arial"/>
              </a:rPr>
              <a:t>THINK OF IT LIKE THIS</a:t>
            </a:r>
          </a:p>
        </p:txBody>
      </p:sp>
      <p:sp>
        <p:nvSpPr>
          <p:cNvPr id="8" name="TextBox 7"/>
          <p:cNvSpPr txBox="1"/>
          <p:nvPr/>
        </p:nvSpPr>
        <p:spPr>
          <a:xfrm>
            <a:off x="914400" y="2980944"/>
            <a:ext cx="10360152" cy="594360"/>
          </a:xfrm>
          <a:prstGeom prst="rect">
            <a:avLst/>
          </a:prstGeom>
          <a:noFill/>
        </p:spPr>
        <p:txBody>
          <a:bodyPr wrap="square" lIns="0" tIns="0" rIns="0" bIns="0" anchor="t">
            <a:spAutoFit/>
          </a:bodyPr>
          <a:lstStyle/>
          <a:p>
            <a:pPr algn="l">
              <a:lnSpc>
                <a:spcPts val="2400"/>
              </a:lnSpc>
            </a:pPr>
            <a:r>
              <a:rPr sz="1500" b="1" i="0">
                <a:solidFill>
                  <a:srgbClr val="211D71"/>
                </a:solidFill>
                <a:latin typeface="Arial"/>
              </a:rPr>
              <a:t>Packing a suitcase with a weight limit: you pack the essentials to about 60% and leave room, because something always weighs more than you thought.</a:t>
            </a:r>
          </a:p>
        </p:txBody>
      </p:sp>
      <p:sp>
        <p:nvSpPr>
          <p:cNvPr id="9" name="TextBox 8"/>
          <p:cNvSpPr txBox="1"/>
          <p:nvPr/>
        </p:nvSpPr>
        <p:spPr>
          <a:xfrm>
            <a:off x="640080" y="3904488"/>
            <a:ext cx="5349240" cy="274320"/>
          </a:xfrm>
          <a:prstGeom prst="rect">
            <a:avLst/>
          </a:prstGeom>
          <a:noFill/>
        </p:spPr>
        <p:txBody>
          <a:bodyPr wrap="square" lIns="0" tIns="0" rIns="0" bIns="0" anchor="t">
            <a:spAutoFit/>
          </a:bodyPr>
          <a:lstStyle/>
          <a:p>
            <a:pPr algn="l"/>
            <a:r>
              <a:rPr sz="1400" b="1" i="0">
                <a:solidFill>
                  <a:srgbClr val="211D71"/>
                </a:solidFill>
                <a:latin typeface="Arial"/>
              </a:rPr>
              <a:t>A 10-week release</a:t>
            </a:r>
          </a:p>
        </p:txBody>
      </p:sp>
      <p:graphicFrame>
        <p:nvGraphicFramePr>
          <p:cNvPr id="10" name="Table 9"/>
          <p:cNvGraphicFramePr>
            <a:graphicFrameLocks noGrp="1"/>
          </p:cNvGraphicFramePr>
          <p:nvPr/>
        </p:nvGraphicFramePr>
        <p:xfrm>
          <a:off x="640080" y="4224528"/>
          <a:ext cx="5349240" cy="2011680"/>
        </p:xfrm>
        <a:graphic>
          <a:graphicData uri="http://schemas.openxmlformats.org/drawingml/2006/table">
            <a:tbl>
              <a:tblPr>
                <a:tableStyleId>{5C22544A-7EE6-4342-B048-85BDC9FD1C3A}</a:tableStyleId>
              </a:tblPr>
              <a:tblGrid>
                <a:gridCol w="26060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402336">
                <a:tc>
                  <a:txBody>
                    <a:bodyPr/>
                    <a:lstStyle/>
                    <a:p>
                      <a:pPr algn="ctr"/>
                      <a:endParaRPr/>
                    </a:p>
                  </a:txBody>
                  <a:tcPr marL="82296" marR="82296" marT="36576" marB="36576" anchor="ctr">
                    <a:solidFill>
                      <a:srgbClr val="211D71"/>
                    </a:solidFill>
                  </a:tcPr>
                </a:tc>
                <a:tc>
                  <a:txBody>
                    <a:bodyPr/>
                    <a:lstStyle/>
                    <a:p>
                      <a:pPr algn="ctr"/>
                      <a:r>
                        <a:rPr sz="1250" b="1">
                          <a:solidFill>
                            <a:srgbClr val="FFFFFF"/>
                          </a:solidFill>
                          <a:latin typeface="Arial"/>
                        </a:rPr>
                        <a:t>Weeks</a:t>
                      </a:r>
                    </a:p>
                  </a:txBody>
                  <a:tcPr marL="82296" marR="82296" marT="36576" marB="36576" anchor="ctr">
                    <a:solidFill>
                      <a:srgbClr val="211D71"/>
                    </a:solidFill>
                  </a:tcPr>
                </a:tc>
                <a:tc>
                  <a:txBody>
                    <a:bodyPr/>
                    <a:lstStyle/>
                    <a:p>
                      <a:pPr algn="ctr"/>
                      <a:r>
                        <a:rPr sz="1250" b="1">
                          <a:solidFill>
                            <a:srgbClr val="FFFFFF"/>
                          </a:solidFill>
                          <a:latin typeface="Arial"/>
                        </a:rPr>
                        <a:t>Share</a:t>
                      </a:r>
                    </a:p>
                  </a:txBody>
                  <a:tcPr marL="82296" marR="82296" marT="36576" marB="36576" anchor="ctr">
                    <a:solidFill>
                      <a:srgbClr val="211D71"/>
                    </a:solidFill>
                  </a:tcPr>
                </a:tc>
                <a:extLst>
                  <a:ext uri="{0D108BD9-81ED-4DB2-BD59-A6C34878D82A}">
                    <a16:rowId xmlns:a16="http://schemas.microsoft.com/office/drawing/2014/main" val="10000"/>
                  </a:ext>
                </a:extLst>
              </a:tr>
              <a:tr h="402336">
                <a:tc>
                  <a:txBody>
                    <a:bodyPr/>
                    <a:lstStyle/>
                    <a:p>
                      <a:pPr algn="l"/>
                      <a:r>
                        <a:rPr sz="1300" b="1">
                          <a:solidFill>
                            <a:srgbClr val="E31C24"/>
                          </a:solidFill>
                          <a:latin typeface="Arial"/>
                        </a:rPr>
                        <a:t>Must have</a:t>
                      </a:r>
                    </a:p>
                  </a:txBody>
                  <a:tcPr marL="82296" marR="82296" marT="36576" marB="36576" anchor="ctr">
                    <a:solidFill>
                      <a:srgbClr val="F3F4FA"/>
                    </a:solidFill>
                  </a:tcPr>
                </a:tc>
                <a:tc>
                  <a:txBody>
                    <a:bodyPr/>
                    <a:lstStyle/>
                    <a:p>
                      <a:pPr algn="ctr"/>
                      <a:r>
                        <a:rPr sz="1300" b="0">
                          <a:solidFill>
                            <a:srgbClr val="22223B"/>
                          </a:solidFill>
                          <a:latin typeface="Arial"/>
                        </a:rPr>
                        <a:t>6</a:t>
                      </a:r>
                    </a:p>
                  </a:txBody>
                  <a:tcPr marL="82296" marR="82296" marT="36576" marB="36576" anchor="ctr">
                    <a:solidFill>
                      <a:srgbClr val="F3F4FA"/>
                    </a:solidFill>
                  </a:tcPr>
                </a:tc>
                <a:tc>
                  <a:txBody>
                    <a:bodyPr/>
                    <a:lstStyle/>
                    <a:p>
                      <a:pPr algn="ctr"/>
                      <a:r>
                        <a:rPr sz="1300" b="0">
                          <a:solidFill>
                            <a:srgbClr val="22223B"/>
                          </a:solidFill>
                          <a:latin typeface="Arial"/>
                        </a:rPr>
                        <a:t>60%</a:t>
                      </a:r>
                    </a:p>
                  </a:txBody>
                  <a:tcPr marL="82296" marR="82296" marT="36576" marB="36576" anchor="ctr">
                    <a:solidFill>
                      <a:srgbClr val="F3F4FA"/>
                    </a:solidFill>
                  </a:tcPr>
                </a:tc>
                <a:extLst>
                  <a:ext uri="{0D108BD9-81ED-4DB2-BD59-A6C34878D82A}">
                    <a16:rowId xmlns:a16="http://schemas.microsoft.com/office/drawing/2014/main" val="10001"/>
                  </a:ext>
                </a:extLst>
              </a:tr>
              <a:tr h="402336">
                <a:tc>
                  <a:txBody>
                    <a:bodyPr/>
                    <a:lstStyle/>
                    <a:p>
                      <a:pPr algn="l"/>
                      <a:r>
                        <a:rPr sz="1300" b="1">
                          <a:solidFill>
                            <a:srgbClr val="22223B"/>
                          </a:solidFill>
                          <a:latin typeface="Arial"/>
                        </a:rPr>
                        <a:t>Should have</a:t>
                      </a:r>
                    </a:p>
                  </a:txBody>
                  <a:tcPr marL="82296" marR="82296" marT="36576" marB="36576" anchor="ctr">
                    <a:solidFill>
                      <a:srgbClr val="FFFFFF"/>
                    </a:solidFill>
                  </a:tcPr>
                </a:tc>
                <a:tc>
                  <a:txBody>
                    <a:bodyPr/>
                    <a:lstStyle/>
                    <a:p>
                      <a:pPr algn="ctr"/>
                      <a:r>
                        <a:rPr sz="1300" b="0">
                          <a:solidFill>
                            <a:srgbClr val="22223B"/>
                          </a:solidFill>
                          <a:latin typeface="Arial"/>
                        </a:rPr>
                        <a:t>2</a:t>
                      </a:r>
                    </a:p>
                  </a:txBody>
                  <a:tcPr marL="82296" marR="82296" marT="36576" marB="36576" anchor="ctr">
                    <a:solidFill>
                      <a:srgbClr val="FFFFFF"/>
                    </a:solidFill>
                  </a:tcPr>
                </a:tc>
                <a:tc>
                  <a:txBody>
                    <a:bodyPr/>
                    <a:lstStyle/>
                    <a:p>
                      <a:pPr algn="ctr"/>
                      <a:r>
                        <a:rPr sz="1300" b="0">
                          <a:solidFill>
                            <a:srgbClr val="22223B"/>
                          </a:solidFill>
                          <a:latin typeface="Arial"/>
                        </a:rPr>
                        <a:t>20%</a:t>
                      </a:r>
                    </a:p>
                  </a:txBody>
                  <a:tcPr marL="82296" marR="82296" marT="36576" marB="36576" anchor="ctr">
                    <a:solidFill>
                      <a:srgbClr val="FFFFFF"/>
                    </a:solidFill>
                  </a:tcPr>
                </a:tc>
                <a:extLst>
                  <a:ext uri="{0D108BD9-81ED-4DB2-BD59-A6C34878D82A}">
                    <a16:rowId xmlns:a16="http://schemas.microsoft.com/office/drawing/2014/main" val="10002"/>
                  </a:ext>
                </a:extLst>
              </a:tr>
              <a:tr h="402336">
                <a:tc>
                  <a:txBody>
                    <a:bodyPr/>
                    <a:lstStyle/>
                    <a:p>
                      <a:pPr algn="l"/>
                      <a:r>
                        <a:rPr sz="1300" b="1">
                          <a:solidFill>
                            <a:srgbClr val="22223B"/>
                          </a:solidFill>
                          <a:latin typeface="Arial"/>
                        </a:rPr>
                        <a:t>Could have</a:t>
                      </a:r>
                    </a:p>
                  </a:txBody>
                  <a:tcPr marL="82296" marR="82296" marT="36576" marB="36576" anchor="ctr">
                    <a:solidFill>
                      <a:srgbClr val="F3F4FA"/>
                    </a:solidFill>
                  </a:tcPr>
                </a:tc>
                <a:tc>
                  <a:txBody>
                    <a:bodyPr/>
                    <a:lstStyle/>
                    <a:p>
                      <a:pPr algn="ctr"/>
                      <a:r>
                        <a:rPr sz="1300" b="0">
                          <a:solidFill>
                            <a:srgbClr val="22223B"/>
                          </a:solidFill>
                          <a:latin typeface="Arial"/>
                        </a:rPr>
                        <a:t>2</a:t>
                      </a:r>
                    </a:p>
                  </a:txBody>
                  <a:tcPr marL="82296" marR="82296" marT="36576" marB="36576" anchor="ctr">
                    <a:solidFill>
                      <a:srgbClr val="F3F4FA"/>
                    </a:solidFill>
                  </a:tcPr>
                </a:tc>
                <a:tc>
                  <a:txBody>
                    <a:bodyPr/>
                    <a:lstStyle/>
                    <a:p>
                      <a:pPr algn="ctr"/>
                      <a:r>
                        <a:rPr sz="1300" b="0">
                          <a:solidFill>
                            <a:srgbClr val="22223B"/>
                          </a:solidFill>
                          <a:latin typeface="Arial"/>
                        </a:rPr>
                        <a:t>20%</a:t>
                      </a:r>
                    </a:p>
                  </a:txBody>
                  <a:tcPr marL="82296" marR="82296" marT="36576" marB="36576" anchor="ctr">
                    <a:solidFill>
                      <a:srgbClr val="F3F4FA"/>
                    </a:solidFill>
                  </a:tcPr>
                </a:tc>
                <a:extLst>
                  <a:ext uri="{0D108BD9-81ED-4DB2-BD59-A6C34878D82A}">
                    <a16:rowId xmlns:a16="http://schemas.microsoft.com/office/drawing/2014/main" val="10003"/>
                  </a:ext>
                </a:extLst>
              </a:tr>
              <a:tr h="402336">
                <a:tc>
                  <a:txBody>
                    <a:bodyPr/>
                    <a:lstStyle/>
                    <a:p>
                      <a:pPr algn="l"/>
                      <a:r>
                        <a:rPr sz="1300" b="1">
                          <a:solidFill>
                            <a:srgbClr val="22223B"/>
                          </a:solidFill>
                          <a:latin typeface="Arial"/>
                        </a:rPr>
                        <a:t>Total</a:t>
                      </a:r>
                    </a:p>
                  </a:txBody>
                  <a:tcPr marL="82296" marR="82296" marT="36576" marB="36576" anchor="ctr">
                    <a:solidFill>
                      <a:srgbClr val="FFFFFF"/>
                    </a:solidFill>
                  </a:tcPr>
                </a:tc>
                <a:tc>
                  <a:txBody>
                    <a:bodyPr/>
                    <a:lstStyle/>
                    <a:p>
                      <a:pPr algn="ctr"/>
                      <a:r>
                        <a:rPr sz="1300" b="1">
                          <a:solidFill>
                            <a:srgbClr val="22223B"/>
                          </a:solidFill>
                          <a:latin typeface="Arial"/>
                        </a:rPr>
                        <a:t>10</a:t>
                      </a:r>
                    </a:p>
                  </a:txBody>
                  <a:tcPr marL="82296" marR="82296" marT="36576" marB="36576" anchor="ctr">
                    <a:solidFill>
                      <a:srgbClr val="FFFFFF"/>
                    </a:solidFill>
                  </a:tcPr>
                </a:tc>
                <a:tc>
                  <a:txBody>
                    <a:bodyPr/>
                    <a:lstStyle/>
                    <a:p>
                      <a:pPr algn="ctr"/>
                      <a:r>
                        <a:rPr sz="1300" b="1">
                          <a:solidFill>
                            <a:srgbClr val="22223B"/>
                          </a:solidFill>
                          <a:latin typeface="Arial"/>
                        </a:rPr>
                        <a:t>100%</a:t>
                      </a:r>
                    </a:p>
                  </a:txBody>
                  <a:tcPr marL="82296" marR="82296" marT="36576" marB="36576" anchor="ctr">
                    <a:solidFill>
                      <a:srgbClr val="FFFFFF"/>
                    </a:solidFill>
                  </a:tcPr>
                </a:tc>
                <a:extLst>
                  <a:ext uri="{0D108BD9-81ED-4DB2-BD59-A6C34878D82A}">
                    <a16:rowId xmlns:a16="http://schemas.microsoft.com/office/drawing/2014/main" val="10004"/>
                  </a:ext>
                </a:extLst>
              </a:tr>
            </a:tbl>
          </a:graphicData>
        </a:graphic>
      </p:graphicFrame>
      <p:sp>
        <p:nvSpPr>
          <p:cNvPr id="11" name="Rounded Rectangle 10"/>
          <p:cNvSpPr/>
          <p:nvPr/>
        </p:nvSpPr>
        <p:spPr>
          <a:xfrm>
            <a:off x="6263640" y="3858768"/>
            <a:ext cx="5349240" cy="2377440"/>
          </a:xfrm>
          <a:prstGeom prst="roundRect">
            <a:avLst>
              <a:gd name="adj" fmla="val 5500"/>
            </a:avLst>
          </a:prstGeom>
          <a:solidFill>
            <a:srgbClr val="E8F5EE"/>
          </a:solidFill>
          <a:ln w="15875">
            <a:solidFill>
              <a:srgbClr val="1E7A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37960" y="3995928"/>
            <a:ext cx="4800600" cy="274320"/>
          </a:xfrm>
          <a:prstGeom prst="rect">
            <a:avLst/>
          </a:prstGeom>
          <a:noFill/>
        </p:spPr>
        <p:txBody>
          <a:bodyPr wrap="square" lIns="0" tIns="0" rIns="0" bIns="0" anchor="t">
            <a:spAutoFit/>
          </a:bodyPr>
          <a:lstStyle/>
          <a:p>
            <a:pPr algn="l"/>
            <a:r>
              <a:rPr sz="1400" b="1" i="0">
                <a:solidFill>
                  <a:srgbClr val="1E7A4C"/>
                </a:solidFill>
                <a:latin typeface="Arial"/>
              </a:rPr>
              <a:t>Now the Musts run 25% over</a:t>
            </a:r>
          </a:p>
        </p:txBody>
      </p:sp>
      <p:sp>
        <p:nvSpPr>
          <p:cNvPr id="13" name="TextBox 12"/>
          <p:cNvSpPr txBox="1"/>
          <p:nvPr/>
        </p:nvSpPr>
        <p:spPr>
          <a:xfrm>
            <a:off x="6537960" y="4315968"/>
            <a:ext cx="4800600" cy="1828800"/>
          </a:xfrm>
          <a:prstGeom prst="rect">
            <a:avLst/>
          </a:prstGeom>
          <a:noFill/>
        </p:spPr>
        <p:txBody>
          <a:bodyPr wrap="square" lIns="0" tIns="0" rIns="0" bIns="0" anchor="t">
            <a:spAutoFit/>
          </a:bodyPr>
          <a:lstStyle/>
          <a:p>
            <a:pPr algn="l">
              <a:lnSpc>
                <a:spcPts val="2000"/>
              </a:lnSpc>
            </a:pPr>
            <a:r>
              <a:rPr sz="1250" b="0" i="0">
                <a:solidFill>
                  <a:srgbClr val="22223B"/>
                </a:solidFill>
                <a:latin typeface="Arial"/>
              </a:rPr>
              <a:t>6 weeks becomes 7.5 weeks.</a:t>
            </a:r>
          </a:p>
          <a:p>
            <a:pPr algn="l">
              <a:lnSpc>
                <a:spcPts val="2000"/>
              </a:lnSpc>
            </a:pPr>
            <a:r>
              <a:rPr sz="1250" b="0" i="0">
                <a:solidFill>
                  <a:srgbClr val="22223B"/>
                </a:solidFill>
                <a:latin typeface="Arial"/>
              </a:rPr>
              <a:t>Drop all the Coulds  →  7.5 + 2 = 9.5 weeks.</a:t>
            </a:r>
          </a:p>
          <a:p>
            <a:pPr algn="l">
              <a:lnSpc>
                <a:spcPts val="2000"/>
              </a:lnSpc>
            </a:pPr>
            <a:r>
              <a:rPr sz="1250" b="1" i="0">
                <a:solidFill>
                  <a:srgbClr val="1E7A4C"/>
                </a:solidFill>
                <a:latin typeface="Arial"/>
              </a:rPr>
              <a:t>Still inside 10. You deliver everything you promised.</a:t>
            </a:r>
          </a:p>
          <a:p>
            <a:pPr algn="l">
              <a:lnSpc>
                <a:spcPts val="2000"/>
              </a:lnSpc>
            </a:pPr>
            <a:r>
              <a:rPr sz="1250" b="0" i="0">
                <a:solidFill>
                  <a:srgbClr val="E31C24"/>
                </a:solidFill>
                <a:latin typeface="Arial"/>
              </a:rPr>
              <a:t>But if Musts had been 8 weeks: 8 × 1.25 = 10 weeks exactly. Nothing left to give up, and the next slip breaks a promise.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74320"/>
            <a:ext cx="10908792" cy="237744"/>
          </a:xfrm>
          <a:prstGeom prst="rect">
            <a:avLst/>
          </a:prstGeom>
          <a:noFill/>
        </p:spPr>
        <p:txBody>
          <a:bodyPr wrap="square" lIns="0" tIns="0" rIns="0" bIns="0" anchor="t">
            <a:spAutoFit/>
          </a:bodyPr>
          <a:lstStyle/>
          <a:p>
            <a:pPr algn="l"/>
            <a:r>
              <a:rPr sz="1000" b="1" i="0" spc="140">
                <a:solidFill>
                  <a:srgbClr val="A9740A"/>
                </a:solidFill>
                <a:latin typeface="Arial"/>
              </a:rPr>
              <a:t>A GAME TO PLAY WITH CUSTOMERS</a:t>
            </a:r>
          </a:p>
        </p:txBody>
      </p:sp>
      <p:sp>
        <p:nvSpPr>
          <p:cNvPr id="3" name="TextBox 2"/>
          <p:cNvSpPr txBox="1"/>
          <p:nvPr/>
        </p:nvSpPr>
        <p:spPr>
          <a:xfrm>
            <a:off x="640080" y="548640"/>
            <a:ext cx="8229600" cy="640080"/>
          </a:xfrm>
          <a:prstGeom prst="rect">
            <a:avLst/>
          </a:prstGeom>
          <a:noFill/>
        </p:spPr>
        <p:txBody>
          <a:bodyPr wrap="square" lIns="0" tIns="0" rIns="0" bIns="0" anchor="t">
            <a:spAutoFit/>
          </a:bodyPr>
          <a:lstStyle/>
          <a:p>
            <a:pPr algn="l"/>
            <a:r>
              <a:rPr sz="2400" b="1" i="0">
                <a:solidFill>
                  <a:srgbClr val="211D71"/>
                </a:solidFill>
                <a:latin typeface="Arial"/>
              </a:rPr>
              <a:t>Prune the Product Tree</a:t>
            </a:r>
          </a:p>
        </p:txBody>
      </p:sp>
      <p:sp>
        <p:nvSpPr>
          <p:cNvPr id="4" name="Rounded Rectangle 3"/>
          <p:cNvSpPr/>
          <p:nvPr/>
        </p:nvSpPr>
        <p:spPr>
          <a:xfrm>
            <a:off x="640080" y="1572768"/>
            <a:ext cx="5029200" cy="3749039"/>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828799" y="2340864"/>
            <a:ext cx="1188720" cy="960120"/>
          </a:xfrm>
          <a:prstGeom prst="ellipse">
            <a:avLst/>
          </a:prstGeom>
          <a:solidFill>
            <a:srgbClr val="3E8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3063239" y="2340864"/>
            <a:ext cx="1188720" cy="960120"/>
          </a:xfrm>
          <a:prstGeom prst="ellipse">
            <a:avLst/>
          </a:prstGeom>
          <a:solidFill>
            <a:srgbClr val="3E8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2057400" y="1828800"/>
            <a:ext cx="1051560" cy="914400"/>
          </a:xfrm>
          <a:prstGeom prst="ellipse">
            <a:avLst/>
          </a:prstGeom>
          <a:solidFill>
            <a:srgbClr val="3E8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2926079" y="1828800"/>
            <a:ext cx="1051560" cy="914400"/>
          </a:xfrm>
          <a:prstGeom prst="ellipse">
            <a:avLst/>
          </a:prstGeom>
          <a:solidFill>
            <a:srgbClr val="3E8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2286000" y="1682495"/>
            <a:ext cx="1508760" cy="1097280"/>
          </a:xfrm>
          <a:prstGeom prst="ellipse">
            <a:avLst/>
          </a:prstGeom>
          <a:solidFill>
            <a:srgbClr val="4FA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 name="Connector 9"/>
          <p:cNvCxnSpPr/>
          <p:nvPr/>
        </p:nvCxnSpPr>
        <p:spPr>
          <a:xfrm flipH="1" flipV="1">
            <a:off x="2359152" y="2715768"/>
            <a:ext cx="658368" cy="502920"/>
          </a:xfrm>
          <a:prstGeom prst="line">
            <a:avLst/>
          </a:prstGeom>
          <a:ln w="50800">
            <a:solidFill>
              <a:srgbClr val="8A6A4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3017520" y="2715768"/>
            <a:ext cx="658367" cy="502920"/>
          </a:xfrm>
          <a:prstGeom prst="line">
            <a:avLst/>
          </a:prstGeom>
          <a:ln w="50800">
            <a:solidFill>
              <a:srgbClr val="8A6A46"/>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2862072" y="2715768"/>
            <a:ext cx="310896" cy="1508760"/>
          </a:xfrm>
          <a:prstGeom prst="rect">
            <a:avLst/>
          </a:prstGeom>
          <a:solidFill>
            <a:srgbClr val="8A6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3" name="Connector 12"/>
          <p:cNvCxnSpPr/>
          <p:nvPr/>
        </p:nvCxnSpPr>
        <p:spPr>
          <a:xfrm flipH="1">
            <a:off x="1828799" y="4206240"/>
            <a:ext cx="1188721" cy="530352"/>
          </a:xfrm>
          <a:prstGeom prst="line">
            <a:avLst/>
          </a:prstGeom>
          <a:ln w="31750">
            <a:solidFill>
              <a:srgbClr val="A88357"/>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2304287" y="4206240"/>
            <a:ext cx="713233" cy="676656"/>
          </a:xfrm>
          <a:prstGeom prst="line">
            <a:avLst/>
          </a:prstGeom>
          <a:ln w="31750">
            <a:solidFill>
              <a:srgbClr val="A88357"/>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779776" y="4206240"/>
            <a:ext cx="237744" cy="749808"/>
          </a:xfrm>
          <a:prstGeom prst="line">
            <a:avLst/>
          </a:prstGeom>
          <a:ln w="31750">
            <a:solidFill>
              <a:srgbClr val="A88357"/>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017520" y="4206240"/>
            <a:ext cx="237743" cy="749808"/>
          </a:xfrm>
          <a:prstGeom prst="line">
            <a:avLst/>
          </a:prstGeom>
          <a:ln w="31750">
            <a:solidFill>
              <a:srgbClr val="A88357"/>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017520" y="4206240"/>
            <a:ext cx="713232" cy="676656"/>
          </a:xfrm>
          <a:prstGeom prst="line">
            <a:avLst/>
          </a:prstGeom>
          <a:ln w="31750">
            <a:solidFill>
              <a:srgbClr val="A88357"/>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017520" y="4206240"/>
            <a:ext cx="1188720" cy="530352"/>
          </a:xfrm>
          <a:prstGeom prst="line">
            <a:avLst/>
          </a:prstGeom>
          <a:ln w="31750">
            <a:solidFill>
              <a:srgbClr val="A8835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1719072" y="2505456"/>
            <a:ext cx="713232" cy="237744"/>
          </a:xfrm>
          <a:prstGeom prst="roundRect">
            <a:avLst>
              <a:gd name="adj" fmla="val 5500"/>
            </a:avLst>
          </a:prstGeom>
          <a:solidFill>
            <a:srgbClr val="FCB017"/>
          </a:solidFill>
          <a:ln w="12700">
            <a:solidFill>
              <a:srgbClr val="C98D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2450591" y="2157984"/>
            <a:ext cx="713232" cy="237744"/>
          </a:xfrm>
          <a:prstGeom prst="roundRect">
            <a:avLst>
              <a:gd name="adj" fmla="val 5500"/>
            </a:avLst>
          </a:prstGeom>
          <a:solidFill>
            <a:srgbClr val="FCB017"/>
          </a:solidFill>
          <a:ln w="12700">
            <a:solidFill>
              <a:srgbClr val="C98D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3401568" y="2432304"/>
            <a:ext cx="713232" cy="237744"/>
          </a:xfrm>
          <a:prstGeom prst="roundRect">
            <a:avLst>
              <a:gd name="adj" fmla="val 5500"/>
            </a:avLst>
          </a:prstGeom>
          <a:solidFill>
            <a:srgbClr val="FCB017"/>
          </a:solidFill>
          <a:ln w="12700">
            <a:solidFill>
              <a:srgbClr val="C98D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3035808" y="1773936"/>
            <a:ext cx="713232" cy="237744"/>
          </a:xfrm>
          <a:prstGeom prst="roundRect">
            <a:avLst>
              <a:gd name="adj" fmla="val 5500"/>
            </a:avLst>
          </a:prstGeom>
          <a:solidFill>
            <a:srgbClr val="FCB017"/>
          </a:solidFill>
          <a:ln w="12700">
            <a:solidFill>
              <a:srgbClr val="C98D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2011679" y="1810512"/>
            <a:ext cx="713232" cy="237744"/>
          </a:xfrm>
          <a:prstGeom prst="roundRect">
            <a:avLst>
              <a:gd name="adj" fmla="val 5500"/>
            </a:avLst>
          </a:prstGeom>
          <a:solidFill>
            <a:srgbClr val="FCB017"/>
          </a:solidFill>
          <a:ln w="12700">
            <a:solidFill>
              <a:srgbClr val="C98D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68680" y="4937760"/>
            <a:ext cx="4572000" cy="274320"/>
          </a:xfrm>
          <a:prstGeom prst="rect">
            <a:avLst/>
          </a:prstGeom>
          <a:noFill/>
        </p:spPr>
        <p:txBody>
          <a:bodyPr wrap="square" lIns="0" tIns="0" rIns="0" bIns="0" anchor="t">
            <a:spAutoFit/>
          </a:bodyPr>
          <a:lstStyle/>
          <a:p>
            <a:pPr algn="ctr"/>
            <a:r>
              <a:rPr sz="1100" b="1" i="0">
                <a:solidFill>
                  <a:srgbClr val="8A6A46"/>
                </a:solidFill>
                <a:latin typeface="Arial"/>
              </a:rPr>
              <a:t>Roots — the support and plumbing behind it all</a:t>
            </a:r>
          </a:p>
        </p:txBody>
      </p:sp>
      <p:graphicFrame>
        <p:nvGraphicFramePr>
          <p:cNvPr id="25" name="Table 24"/>
          <p:cNvGraphicFramePr>
            <a:graphicFrameLocks noGrp="1"/>
          </p:cNvGraphicFramePr>
          <p:nvPr/>
        </p:nvGraphicFramePr>
        <p:xfrm>
          <a:off x="5943600" y="1572768"/>
          <a:ext cx="5669280" cy="3566160"/>
        </p:xfrm>
        <a:graphic>
          <a:graphicData uri="http://schemas.openxmlformats.org/drawingml/2006/table">
            <a:tbl>
              <a:tblPr>
                <a:tableStyleId>{5C22544A-7EE6-4342-B048-85BDC9FD1C3A}</a:tableStyleId>
              </a:tblPr>
              <a:tblGrid>
                <a:gridCol w="173736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tblGrid>
              <a:tr h="713232">
                <a:tc>
                  <a:txBody>
                    <a:bodyPr/>
                    <a:lstStyle/>
                    <a:p>
                      <a:pPr algn="l"/>
                      <a:r>
                        <a:rPr sz="1300" b="1">
                          <a:solidFill>
                            <a:srgbClr val="FFFFFF"/>
                          </a:solidFill>
                          <a:latin typeface="Arial"/>
                        </a:rPr>
                        <a:t>Part of the tree</a:t>
                      </a:r>
                    </a:p>
                  </a:txBody>
                  <a:tcPr marL="82296" marR="82296" marT="36576" marB="36576" anchor="ctr">
                    <a:solidFill>
                      <a:srgbClr val="211D71"/>
                    </a:solidFill>
                  </a:tcPr>
                </a:tc>
                <a:tc>
                  <a:txBody>
                    <a:bodyPr/>
                    <a:lstStyle/>
                    <a:p>
                      <a:pPr algn="l"/>
                      <a:r>
                        <a:rPr sz="1300" b="1">
                          <a:solidFill>
                            <a:srgbClr val="FFFFFF"/>
                          </a:solidFill>
                          <a:latin typeface="Arial"/>
                        </a:rPr>
                        <a:t>What it stands for</a:t>
                      </a:r>
                    </a:p>
                  </a:txBody>
                  <a:tcPr marL="82296" marR="82296" marT="36576" marB="36576" anchor="ctr">
                    <a:solidFill>
                      <a:srgbClr val="211D71"/>
                    </a:solidFill>
                  </a:tcPr>
                </a:tc>
                <a:extLst>
                  <a:ext uri="{0D108BD9-81ED-4DB2-BD59-A6C34878D82A}">
                    <a16:rowId xmlns:a16="http://schemas.microsoft.com/office/drawing/2014/main" val="10000"/>
                  </a:ext>
                </a:extLst>
              </a:tr>
              <a:tr h="713232">
                <a:tc>
                  <a:txBody>
                    <a:bodyPr/>
                    <a:lstStyle/>
                    <a:p>
                      <a:pPr algn="l"/>
                      <a:r>
                        <a:rPr sz="1300" b="1">
                          <a:solidFill>
                            <a:srgbClr val="22223B"/>
                          </a:solidFill>
                          <a:latin typeface="Arial"/>
                        </a:rPr>
                        <a:t>Trunk</a:t>
                      </a:r>
                    </a:p>
                  </a:txBody>
                  <a:tcPr marL="82296" marR="82296" marT="36576" marB="36576" anchor="ctr">
                    <a:solidFill>
                      <a:srgbClr val="F3F4FA"/>
                    </a:solidFill>
                  </a:tcPr>
                </a:tc>
                <a:tc>
                  <a:txBody>
                    <a:bodyPr/>
                    <a:lstStyle/>
                    <a:p>
                      <a:pPr algn="l"/>
                      <a:r>
                        <a:rPr sz="1300" b="0">
                          <a:solidFill>
                            <a:srgbClr val="22223B"/>
                          </a:solidFill>
                          <a:latin typeface="Arial"/>
                        </a:rPr>
                        <a:t>The main parts of the product you already have</a:t>
                      </a:r>
                    </a:p>
                  </a:txBody>
                  <a:tcPr marL="82296" marR="82296" marT="36576" marB="36576" anchor="ctr">
                    <a:solidFill>
                      <a:srgbClr val="F3F4FA"/>
                    </a:solidFill>
                  </a:tcPr>
                </a:tc>
                <a:extLst>
                  <a:ext uri="{0D108BD9-81ED-4DB2-BD59-A6C34878D82A}">
                    <a16:rowId xmlns:a16="http://schemas.microsoft.com/office/drawing/2014/main" val="10001"/>
                  </a:ext>
                </a:extLst>
              </a:tr>
              <a:tr h="713232">
                <a:tc>
                  <a:txBody>
                    <a:bodyPr/>
                    <a:lstStyle/>
                    <a:p>
                      <a:pPr algn="l"/>
                      <a:r>
                        <a:rPr sz="1300" b="1">
                          <a:solidFill>
                            <a:srgbClr val="22223B"/>
                          </a:solidFill>
                          <a:latin typeface="Arial"/>
                        </a:rPr>
                        <a:t>Branches</a:t>
                      </a:r>
                    </a:p>
                  </a:txBody>
                  <a:tcPr marL="82296" marR="82296" marT="36576" marB="36576" anchor="ctr">
                    <a:solidFill>
                      <a:srgbClr val="FFFFFF"/>
                    </a:solidFill>
                  </a:tcPr>
                </a:tc>
                <a:tc>
                  <a:txBody>
                    <a:bodyPr/>
                    <a:lstStyle/>
                    <a:p>
                      <a:pPr algn="l"/>
                      <a:r>
                        <a:rPr sz="1300" b="0">
                          <a:solidFill>
                            <a:srgbClr val="22223B"/>
                          </a:solidFill>
                          <a:latin typeface="Arial"/>
                        </a:rPr>
                        <a:t>What you shipped in the last release</a:t>
                      </a:r>
                    </a:p>
                  </a:txBody>
                  <a:tcPr marL="82296" marR="82296" marT="36576" marB="36576" anchor="ctr">
                    <a:solidFill>
                      <a:srgbClr val="FFFFFF"/>
                    </a:solidFill>
                  </a:tcPr>
                </a:tc>
                <a:extLst>
                  <a:ext uri="{0D108BD9-81ED-4DB2-BD59-A6C34878D82A}">
                    <a16:rowId xmlns:a16="http://schemas.microsoft.com/office/drawing/2014/main" val="10002"/>
                  </a:ext>
                </a:extLst>
              </a:tr>
              <a:tr h="713232">
                <a:tc>
                  <a:txBody>
                    <a:bodyPr/>
                    <a:lstStyle/>
                    <a:p>
                      <a:pPr algn="l"/>
                      <a:r>
                        <a:rPr sz="1300" b="1">
                          <a:solidFill>
                            <a:srgbClr val="22223B"/>
                          </a:solidFill>
                          <a:latin typeface="Arial"/>
                        </a:rPr>
                        <a:t>Leaves</a:t>
                      </a:r>
                    </a:p>
                  </a:txBody>
                  <a:tcPr marL="82296" marR="82296" marT="36576" marB="36576" anchor="ctr">
                    <a:solidFill>
                      <a:srgbClr val="F3F4FA"/>
                    </a:solidFill>
                  </a:tcPr>
                </a:tc>
                <a:tc>
                  <a:txBody>
                    <a:bodyPr/>
                    <a:lstStyle/>
                    <a:p>
                      <a:pPr algn="l"/>
                      <a:r>
                        <a:rPr sz="1300" b="0">
                          <a:solidFill>
                            <a:srgbClr val="22223B"/>
                          </a:solidFill>
                          <a:latin typeface="Arial"/>
                        </a:rPr>
                        <a:t>New ideas, written on cards. Customers pin them where they want the tree to grow</a:t>
                      </a:r>
                    </a:p>
                  </a:txBody>
                  <a:tcPr marL="82296" marR="82296" marT="36576" marB="36576" anchor="ctr">
                    <a:solidFill>
                      <a:srgbClr val="F3F4FA"/>
                    </a:solidFill>
                  </a:tcPr>
                </a:tc>
                <a:extLst>
                  <a:ext uri="{0D108BD9-81ED-4DB2-BD59-A6C34878D82A}">
                    <a16:rowId xmlns:a16="http://schemas.microsoft.com/office/drawing/2014/main" val="10003"/>
                  </a:ext>
                </a:extLst>
              </a:tr>
              <a:tr h="713232">
                <a:tc>
                  <a:txBody>
                    <a:bodyPr/>
                    <a:lstStyle/>
                    <a:p>
                      <a:pPr algn="l"/>
                      <a:r>
                        <a:rPr sz="1300" b="1">
                          <a:solidFill>
                            <a:srgbClr val="22223B"/>
                          </a:solidFill>
                          <a:latin typeface="Arial"/>
                        </a:rPr>
                        <a:t>Roots</a:t>
                      </a:r>
                    </a:p>
                  </a:txBody>
                  <a:tcPr marL="82296" marR="82296" marT="36576" marB="36576" anchor="ctr">
                    <a:solidFill>
                      <a:srgbClr val="FFFFFF"/>
                    </a:solidFill>
                  </a:tcPr>
                </a:tc>
                <a:tc>
                  <a:txBody>
                    <a:bodyPr/>
                    <a:lstStyle/>
                    <a:p>
                      <a:pPr algn="l"/>
                      <a:r>
                        <a:rPr sz="1300" b="0">
                          <a:solidFill>
                            <a:srgbClr val="22223B"/>
                          </a:solidFill>
                          <a:latin typeface="Arial"/>
                        </a:rPr>
                        <a:t>Support, infrastructure, customer care. The rule: roots must reach as wide as the branches</a:t>
                      </a:r>
                    </a:p>
                  </a:txBody>
                  <a:tcPr marL="82296" marR="82296" marT="36576" marB="36576" anchor="ctr">
                    <a:solidFill>
                      <a:srgbClr val="FFFFFF"/>
                    </a:solidFill>
                  </a:tcPr>
                </a:tc>
                <a:extLst>
                  <a:ext uri="{0D108BD9-81ED-4DB2-BD59-A6C34878D82A}">
                    <a16:rowId xmlns:a16="http://schemas.microsoft.com/office/drawing/2014/main" val="10004"/>
                  </a:ext>
                </a:extLst>
              </a:tr>
            </a:tbl>
          </a:graphicData>
        </a:graphic>
      </p:graphicFrame>
      <p:sp>
        <p:nvSpPr>
          <p:cNvPr id="26" name="Rounded Rectangle 25"/>
          <p:cNvSpPr/>
          <p:nvPr/>
        </p:nvSpPr>
        <p:spPr>
          <a:xfrm>
            <a:off x="640080" y="5504688"/>
            <a:ext cx="10908792" cy="685800"/>
          </a:xfrm>
          <a:prstGeom prst="roundRect">
            <a:avLst>
              <a:gd name="adj" fmla="val 5500"/>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68680" y="5541264"/>
            <a:ext cx="10451592" cy="612648"/>
          </a:xfrm>
          <a:prstGeom prst="rect">
            <a:avLst/>
          </a:prstGeom>
          <a:noFill/>
        </p:spPr>
        <p:txBody>
          <a:bodyPr wrap="square" lIns="0" tIns="0" rIns="0" bIns="0" anchor="ctr">
            <a:spAutoFit/>
          </a:bodyPr>
          <a:lstStyle/>
          <a:p>
            <a:pPr algn="l"/>
            <a:r>
              <a:rPr sz="1350" b="1" i="0">
                <a:solidFill>
                  <a:srgbClr val="FFFFFF"/>
                </a:solidFill>
                <a:latin typeface="Arial"/>
              </a:rPr>
              <a:t>Why it works: a picture shows lopsided investment instantly. Ten leaves on one branch and nothing on the roots is something nobody needs explained.</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74320"/>
            <a:ext cx="10908792" cy="237744"/>
          </a:xfrm>
          <a:prstGeom prst="rect">
            <a:avLst/>
          </a:prstGeom>
          <a:noFill/>
        </p:spPr>
        <p:txBody>
          <a:bodyPr wrap="square" lIns="0" tIns="0" rIns="0" bIns="0" anchor="t">
            <a:spAutoFit/>
          </a:bodyPr>
          <a:lstStyle/>
          <a:p>
            <a:pPr algn="l"/>
            <a:r>
              <a:rPr sz="1000" b="1" i="0" spc="140">
                <a:solidFill>
                  <a:srgbClr val="A9740A"/>
                </a:solidFill>
                <a:latin typeface="Arial"/>
              </a:rPr>
              <a:t>PRODUCT TREE</a:t>
            </a:r>
          </a:p>
        </p:txBody>
      </p:sp>
      <p:sp>
        <p:nvSpPr>
          <p:cNvPr id="3" name="TextBox 2"/>
          <p:cNvSpPr txBox="1"/>
          <p:nvPr/>
        </p:nvSpPr>
        <p:spPr>
          <a:xfrm>
            <a:off x="640080" y="548640"/>
            <a:ext cx="8229600" cy="640080"/>
          </a:xfrm>
          <a:prstGeom prst="rect">
            <a:avLst/>
          </a:prstGeom>
          <a:noFill/>
        </p:spPr>
        <p:txBody>
          <a:bodyPr wrap="square" lIns="0" tIns="0" rIns="0" bIns="0" anchor="t">
            <a:spAutoFit/>
          </a:bodyPr>
          <a:lstStyle/>
          <a:p>
            <a:pPr algn="l"/>
            <a:r>
              <a:rPr sz="2400" b="1" i="0">
                <a:solidFill>
                  <a:srgbClr val="211D71"/>
                </a:solidFill>
                <a:latin typeface="Arial"/>
              </a:rPr>
              <a:t>Running the tree in 45 minutes</a:t>
            </a:r>
          </a:p>
        </p:txBody>
      </p:sp>
      <p:sp>
        <p:nvSpPr>
          <p:cNvPr id="4" name="Rounded Rectangle 3"/>
          <p:cNvSpPr/>
          <p:nvPr/>
        </p:nvSpPr>
        <p:spPr>
          <a:xfrm>
            <a:off x="640080" y="1709928"/>
            <a:ext cx="2521458" cy="2468880"/>
          </a:xfrm>
          <a:prstGeom prst="roundRect">
            <a:avLst>
              <a:gd name="adj" fmla="val 5500"/>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59536" y="1892807"/>
            <a:ext cx="457200" cy="457200"/>
          </a:xfrm>
          <a:prstGeom prst="rect">
            <a:avLst/>
          </a:prstGeom>
          <a:noFill/>
        </p:spPr>
        <p:txBody>
          <a:bodyPr wrap="square" lIns="0" tIns="0" rIns="0" bIns="0" anchor="t">
            <a:spAutoFit/>
          </a:bodyPr>
          <a:lstStyle/>
          <a:p>
            <a:pPr algn="l"/>
            <a:r>
              <a:rPr sz="1900" b="1" i="0">
                <a:solidFill>
                  <a:srgbClr val="FCB017"/>
                </a:solidFill>
                <a:latin typeface="Arial"/>
              </a:rPr>
              <a:t>1</a:t>
            </a:r>
          </a:p>
        </p:txBody>
      </p:sp>
      <p:sp>
        <p:nvSpPr>
          <p:cNvPr id="6" name="TextBox 5"/>
          <p:cNvSpPr txBox="1"/>
          <p:nvPr/>
        </p:nvSpPr>
        <p:spPr>
          <a:xfrm>
            <a:off x="859536" y="2395728"/>
            <a:ext cx="2082545" cy="658368"/>
          </a:xfrm>
          <a:prstGeom prst="rect">
            <a:avLst/>
          </a:prstGeom>
          <a:noFill/>
        </p:spPr>
        <p:txBody>
          <a:bodyPr wrap="square" lIns="0" tIns="0" rIns="0" bIns="0" anchor="t">
            <a:spAutoFit/>
          </a:bodyPr>
          <a:lstStyle/>
          <a:p>
            <a:pPr algn="l">
              <a:lnSpc>
                <a:spcPts val="2100"/>
              </a:lnSpc>
            </a:pPr>
            <a:r>
              <a:rPr sz="1600" b="1" i="0">
                <a:solidFill>
                  <a:srgbClr val="FFFFFF"/>
                </a:solidFill>
                <a:latin typeface="Arial"/>
              </a:rPr>
              <a:t>Prepare</a:t>
            </a:r>
          </a:p>
        </p:txBody>
      </p:sp>
      <p:sp>
        <p:nvSpPr>
          <p:cNvPr id="7" name="TextBox 6"/>
          <p:cNvSpPr txBox="1"/>
          <p:nvPr/>
        </p:nvSpPr>
        <p:spPr>
          <a:xfrm>
            <a:off x="859536" y="3081528"/>
            <a:ext cx="2082545" cy="950976"/>
          </a:xfrm>
          <a:prstGeom prst="rect">
            <a:avLst/>
          </a:prstGeom>
          <a:noFill/>
        </p:spPr>
        <p:txBody>
          <a:bodyPr wrap="square" lIns="0" tIns="0" rIns="0" bIns="0" anchor="t">
            <a:spAutoFit/>
          </a:bodyPr>
          <a:lstStyle/>
          <a:p>
            <a:pPr algn="l">
              <a:lnSpc>
                <a:spcPts val="1600"/>
              </a:lnSpc>
            </a:pPr>
            <a:r>
              <a:rPr sz="1200" b="0" i="0">
                <a:solidFill>
                  <a:srgbClr val="D8DBF0"/>
                </a:solidFill>
                <a:latin typeface="Arial"/>
              </a:rPr>
              <a:t>A big drawn tree, feature cards cut as leaves, and blank cards so people can add their own. 6 to 12 people, ideally real customers.</a:t>
            </a:r>
          </a:p>
        </p:txBody>
      </p:sp>
      <p:sp>
        <p:nvSpPr>
          <p:cNvPr id="8" name="TextBox 7"/>
          <p:cNvSpPr txBox="1"/>
          <p:nvPr/>
        </p:nvSpPr>
        <p:spPr>
          <a:xfrm>
            <a:off x="3179825" y="2798064"/>
            <a:ext cx="237744" cy="292608"/>
          </a:xfrm>
          <a:prstGeom prst="rect">
            <a:avLst/>
          </a:prstGeom>
          <a:noFill/>
        </p:spPr>
        <p:txBody>
          <a:bodyPr wrap="square" lIns="0" tIns="0" rIns="0" bIns="0" anchor="t">
            <a:spAutoFit/>
          </a:bodyPr>
          <a:lstStyle/>
          <a:p>
            <a:pPr algn="ctr"/>
            <a:r>
              <a:rPr sz="1200" b="0" i="0">
                <a:solidFill>
                  <a:srgbClr val="5F6178"/>
                </a:solidFill>
                <a:latin typeface="Arial"/>
              </a:rPr>
              <a:t>▶</a:t>
            </a:r>
          </a:p>
        </p:txBody>
      </p:sp>
      <p:sp>
        <p:nvSpPr>
          <p:cNvPr id="9" name="Rounded Rectangle 8"/>
          <p:cNvSpPr/>
          <p:nvPr/>
        </p:nvSpPr>
        <p:spPr>
          <a:xfrm>
            <a:off x="3435857" y="1709928"/>
            <a:ext cx="2521458" cy="2468880"/>
          </a:xfrm>
          <a:prstGeom prst="roundRect">
            <a:avLst>
              <a:gd name="adj" fmla="val 5500"/>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5313" y="1892807"/>
            <a:ext cx="457200" cy="457200"/>
          </a:xfrm>
          <a:prstGeom prst="rect">
            <a:avLst/>
          </a:prstGeom>
          <a:noFill/>
        </p:spPr>
        <p:txBody>
          <a:bodyPr wrap="square" lIns="0" tIns="0" rIns="0" bIns="0" anchor="t">
            <a:spAutoFit/>
          </a:bodyPr>
          <a:lstStyle/>
          <a:p>
            <a:pPr algn="l"/>
            <a:r>
              <a:rPr sz="1900" b="1" i="0">
                <a:solidFill>
                  <a:srgbClr val="FCB017"/>
                </a:solidFill>
                <a:latin typeface="Arial"/>
              </a:rPr>
              <a:t>2</a:t>
            </a:r>
          </a:p>
        </p:txBody>
      </p:sp>
      <p:sp>
        <p:nvSpPr>
          <p:cNvPr id="11" name="TextBox 10"/>
          <p:cNvSpPr txBox="1"/>
          <p:nvPr/>
        </p:nvSpPr>
        <p:spPr>
          <a:xfrm>
            <a:off x="3655313" y="2395728"/>
            <a:ext cx="2082545" cy="658368"/>
          </a:xfrm>
          <a:prstGeom prst="rect">
            <a:avLst/>
          </a:prstGeom>
          <a:noFill/>
        </p:spPr>
        <p:txBody>
          <a:bodyPr wrap="square" lIns="0" tIns="0" rIns="0" bIns="0" anchor="t">
            <a:spAutoFit/>
          </a:bodyPr>
          <a:lstStyle/>
          <a:p>
            <a:pPr algn="l">
              <a:lnSpc>
                <a:spcPts val="2100"/>
              </a:lnSpc>
            </a:pPr>
            <a:r>
              <a:rPr sz="1600" b="1" i="0">
                <a:solidFill>
                  <a:srgbClr val="FFFFFF"/>
                </a:solidFill>
                <a:latin typeface="Arial"/>
              </a:rPr>
              <a:t>Explain, then stop</a:t>
            </a:r>
          </a:p>
        </p:txBody>
      </p:sp>
      <p:sp>
        <p:nvSpPr>
          <p:cNvPr id="12" name="TextBox 11"/>
          <p:cNvSpPr txBox="1"/>
          <p:nvPr/>
        </p:nvSpPr>
        <p:spPr>
          <a:xfrm>
            <a:off x="3655313" y="3081528"/>
            <a:ext cx="2082545" cy="950976"/>
          </a:xfrm>
          <a:prstGeom prst="rect">
            <a:avLst/>
          </a:prstGeom>
          <a:noFill/>
        </p:spPr>
        <p:txBody>
          <a:bodyPr wrap="square" lIns="0" tIns="0" rIns="0" bIns="0" anchor="t">
            <a:spAutoFit/>
          </a:bodyPr>
          <a:lstStyle/>
          <a:p>
            <a:pPr algn="l">
              <a:lnSpc>
                <a:spcPts val="1600"/>
              </a:lnSpc>
            </a:pPr>
            <a:r>
              <a:rPr sz="1200" b="0" i="0">
                <a:solidFill>
                  <a:srgbClr val="D8DBF0"/>
                </a:solidFill>
                <a:latin typeface="Arial"/>
              </a:rPr>
              <a:t>Two minutes on what trunk, branches, leaves and roots mean. Then get out of the way — over-explaining leads the group.</a:t>
            </a:r>
          </a:p>
        </p:txBody>
      </p:sp>
      <p:sp>
        <p:nvSpPr>
          <p:cNvPr id="13" name="TextBox 12"/>
          <p:cNvSpPr txBox="1"/>
          <p:nvPr/>
        </p:nvSpPr>
        <p:spPr>
          <a:xfrm>
            <a:off x="5975603" y="2798064"/>
            <a:ext cx="237744" cy="292608"/>
          </a:xfrm>
          <a:prstGeom prst="rect">
            <a:avLst/>
          </a:prstGeom>
          <a:noFill/>
        </p:spPr>
        <p:txBody>
          <a:bodyPr wrap="square" lIns="0" tIns="0" rIns="0" bIns="0" anchor="t">
            <a:spAutoFit/>
          </a:bodyPr>
          <a:lstStyle/>
          <a:p>
            <a:pPr algn="ctr"/>
            <a:r>
              <a:rPr sz="1200" b="0" i="0">
                <a:solidFill>
                  <a:srgbClr val="5F6178"/>
                </a:solidFill>
                <a:latin typeface="Arial"/>
              </a:rPr>
              <a:t>▶</a:t>
            </a:r>
          </a:p>
        </p:txBody>
      </p:sp>
      <p:sp>
        <p:nvSpPr>
          <p:cNvPr id="14" name="Rounded Rectangle 13"/>
          <p:cNvSpPr/>
          <p:nvPr/>
        </p:nvSpPr>
        <p:spPr>
          <a:xfrm>
            <a:off x="6231636" y="1709928"/>
            <a:ext cx="2521458" cy="2468880"/>
          </a:xfrm>
          <a:prstGeom prst="roundRect">
            <a:avLst>
              <a:gd name="adj" fmla="val 5500"/>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51092" y="1892807"/>
            <a:ext cx="457200" cy="457200"/>
          </a:xfrm>
          <a:prstGeom prst="rect">
            <a:avLst/>
          </a:prstGeom>
          <a:noFill/>
        </p:spPr>
        <p:txBody>
          <a:bodyPr wrap="square" lIns="0" tIns="0" rIns="0" bIns="0" anchor="t">
            <a:spAutoFit/>
          </a:bodyPr>
          <a:lstStyle/>
          <a:p>
            <a:pPr algn="l"/>
            <a:r>
              <a:rPr sz="1900" b="1" i="0">
                <a:solidFill>
                  <a:srgbClr val="FCB017"/>
                </a:solidFill>
                <a:latin typeface="Arial"/>
              </a:rPr>
              <a:t>3</a:t>
            </a:r>
          </a:p>
        </p:txBody>
      </p:sp>
      <p:sp>
        <p:nvSpPr>
          <p:cNvPr id="16" name="TextBox 15"/>
          <p:cNvSpPr txBox="1"/>
          <p:nvPr/>
        </p:nvSpPr>
        <p:spPr>
          <a:xfrm>
            <a:off x="6451092" y="2395728"/>
            <a:ext cx="2082545" cy="658368"/>
          </a:xfrm>
          <a:prstGeom prst="rect">
            <a:avLst/>
          </a:prstGeom>
          <a:noFill/>
        </p:spPr>
        <p:txBody>
          <a:bodyPr wrap="square" lIns="0" tIns="0" rIns="0" bIns="0" anchor="t">
            <a:spAutoFit/>
          </a:bodyPr>
          <a:lstStyle/>
          <a:p>
            <a:pPr algn="l">
              <a:lnSpc>
                <a:spcPts val="2100"/>
              </a:lnSpc>
            </a:pPr>
            <a:r>
              <a:rPr sz="1600" b="1" i="0">
                <a:solidFill>
                  <a:srgbClr val="FFFFFF"/>
                </a:solidFill>
                <a:latin typeface="Arial"/>
              </a:rPr>
              <a:t>Let them pin and argue</a:t>
            </a:r>
          </a:p>
        </p:txBody>
      </p:sp>
      <p:sp>
        <p:nvSpPr>
          <p:cNvPr id="17" name="TextBox 16"/>
          <p:cNvSpPr txBox="1"/>
          <p:nvPr/>
        </p:nvSpPr>
        <p:spPr>
          <a:xfrm>
            <a:off x="6451092" y="3081528"/>
            <a:ext cx="2082545" cy="950976"/>
          </a:xfrm>
          <a:prstGeom prst="rect">
            <a:avLst/>
          </a:prstGeom>
          <a:noFill/>
        </p:spPr>
        <p:txBody>
          <a:bodyPr wrap="square" lIns="0" tIns="0" rIns="0" bIns="0" anchor="t">
            <a:spAutoFit/>
          </a:bodyPr>
          <a:lstStyle/>
          <a:p>
            <a:pPr algn="l">
              <a:lnSpc>
                <a:spcPts val="1600"/>
              </a:lnSpc>
            </a:pPr>
            <a:r>
              <a:rPr sz="1200" b="0" i="0">
                <a:solidFill>
                  <a:srgbClr val="D8DBF0"/>
                </a:solidFill>
                <a:latin typeface="Arial"/>
              </a:rPr>
              <a:t>The talking while they place cards is the real data. Have someone whose only job is writing down what people say.</a:t>
            </a:r>
          </a:p>
        </p:txBody>
      </p:sp>
      <p:sp>
        <p:nvSpPr>
          <p:cNvPr id="18" name="TextBox 17"/>
          <p:cNvSpPr txBox="1"/>
          <p:nvPr/>
        </p:nvSpPr>
        <p:spPr>
          <a:xfrm>
            <a:off x="8771382" y="2798064"/>
            <a:ext cx="237744" cy="292608"/>
          </a:xfrm>
          <a:prstGeom prst="rect">
            <a:avLst/>
          </a:prstGeom>
          <a:noFill/>
        </p:spPr>
        <p:txBody>
          <a:bodyPr wrap="square" lIns="0" tIns="0" rIns="0" bIns="0" anchor="t">
            <a:spAutoFit/>
          </a:bodyPr>
          <a:lstStyle/>
          <a:p>
            <a:pPr algn="ctr"/>
            <a:r>
              <a:rPr sz="1200" b="0" i="0">
                <a:solidFill>
                  <a:srgbClr val="5F6178"/>
                </a:solidFill>
                <a:latin typeface="Arial"/>
              </a:rPr>
              <a:t>▶</a:t>
            </a:r>
          </a:p>
        </p:txBody>
      </p:sp>
      <p:sp>
        <p:nvSpPr>
          <p:cNvPr id="19" name="Rounded Rectangle 18"/>
          <p:cNvSpPr/>
          <p:nvPr/>
        </p:nvSpPr>
        <p:spPr>
          <a:xfrm>
            <a:off x="9027413" y="1709928"/>
            <a:ext cx="2521458" cy="2468880"/>
          </a:xfrm>
          <a:prstGeom prst="roundRect">
            <a:avLst>
              <a:gd name="adj" fmla="val 5500"/>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246869" y="1892807"/>
            <a:ext cx="457200" cy="457200"/>
          </a:xfrm>
          <a:prstGeom prst="rect">
            <a:avLst/>
          </a:prstGeom>
          <a:noFill/>
        </p:spPr>
        <p:txBody>
          <a:bodyPr wrap="square" lIns="0" tIns="0" rIns="0" bIns="0" anchor="t">
            <a:spAutoFit/>
          </a:bodyPr>
          <a:lstStyle/>
          <a:p>
            <a:pPr algn="l"/>
            <a:r>
              <a:rPr sz="1900" b="1" i="0">
                <a:solidFill>
                  <a:srgbClr val="FCB017"/>
                </a:solidFill>
                <a:latin typeface="Arial"/>
              </a:rPr>
              <a:t>4</a:t>
            </a:r>
          </a:p>
        </p:txBody>
      </p:sp>
      <p:sp>
        <p:nvSpPr>
          <p:cNvPr id="21" name="TextBox 20"/>
          <p:cNvSpPr txBox="1"/>
          <p:nvPr/>
        </p:nvSpPr>
        <p:spPr>
          <a:xfrm>
            <a:off x="9246869" y="2395728"/>
            <a:ext cx="2082545" cy="658368"/>
          </a:xfrm>
          <a:prstGeom prst="rect">
            <a:avLst/>
          </a:prstGeom>
          <a:noFill/>
        </p:spPr>
        <p:txBody>
          <a:bodyPr wrap="square" lIns="0" tIns="0" rIns="0" bIns="0" anchor="t">
            <a:spAutoFit/>
          </a:bodyPr>
          <a:lstStyle/>
          <a:p>
            <a:pPr algn="l">
              <a:lnSpc>
                <a:spcPts val="2100"/>
              </a:lnSpc>
            </a:pPr>
            <a:r>
              <a:rPr sz="1600" b="1" i="0">
                <a:solidFill>
                  <a:srgbClr val="FFFFFF"/>
                </a:solidFill>
                <a:latin typeface="Arial"/>
              </a:rPr>
              <a:t>Read the shape</a:t>
            </a:r>
          </a:p>
        </p:txBody>
      </p:sp>
      <p:sp>
        <p:nvSpPr>
          <p:cNvPr id="22" name="TextBox 21"/>
          <p:cNvSpPr txBox="1"/>
          <p:nvPr/>
        </p:nvSpPr>
        <p:spPr>
          <a:xfrm>
            <a:off x="9246869" y="3081528"/>
            <a:ext cx="2082545" cy="950976"/>
          </a:xfrm>
          <a:prstGeom prst="rect">
            <a:avLst/>
          </a:prstGeom>
          <a:noFill/>
        </p:spPr>
        <p:txBody>
          <a:bodyPr wrap="square" lIns="0" tIns="0" rIns="0" bIns="0" anchor="t">
            <a:spAutoFit/>
          </a:bodyPr>
          <a:lstStyle/>
          <a:p>
            <a:pPr algn="l">
              <a:lnSpc>
                <a:spcPts val="1600"/>
              </a:lnSpc>
            </a:pPr>
            <a:r>
              <a:rPr sz="1200" b="0" i="0">
                <a:solidFill>
                  <a:srgbClr val="D8DBF0"/>
                </a:solidFill>
                <a:latin typeface="Arial"/>
              </a:rPr>
              <a:t>Is the growth balanced? Is one branch taking everything? Are the roots keeping up? Which old branch did nobody defend?</a:t>
            </a:r>
          </a:p>
        </p:txBody>
      </p:sp>
      <p:sp>
        <p:nvSpPr>
          <p:cNvPr id="23" name="Rounded Rectangle 22"/>
          <p:cNvSpPr/>
          <p:nvPr/>
        </p:nvSpPr>
        <p:spPr>
          <a:xfrm>
            <a:off x="640080" y="4407408"/>
            <a:ext cx="3477768" cy="160020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59536" y="4590288"/>
            <a:ext cx="3038856" cy="310896"/>
          </a:xfrm>
          <a:prstGeom prst="rect">
            <a:avLst/>
          </a:prstGeom>
          <a:noFill/>
        </p:spPr>
        <p:txBody>
          <a:bodyPr wrap="square" lIns="0" tIns="0" rIns="0" bIns="0" anchor="t">
            <a:spAutoFit/>
          </a:bodyPr>
          <a:lstStyle/>
          <a:p>
            <a:pPr algn="l"/>
            <a:r>
              <a:rPr sz="1400" b="1" i="0">
                <a:solidFill>
                  <a:srgbClr val="211D71"/>
                </a:solidFill>
                <a:latin typeface="Arial"/>
              </a:rPr>
              <a:t>What you get</a:t>
            </a:r>
          </a:p>
        </p:txBody>
      </p:sp>
      <p:sp>
        <p:nvSpPr>
          <p:cNvPr id="25" name="TextBox 24"/>
          <p:cNvSpPr txBox="1"/>
          <p:nvPr/>
        </p:nvSpPr>
        <p:spPr>
          <a:xfrm>
            <a:off x="859536" y="4956048"/>
            <a:ext cx="3038856" cy="905255"/>
          </a:xfrm>
          <a:prstGeom prst="rect">
            <a:avLst/>
          </a:prstGeom>
          <a:noFill/>
        </p:spPr>
        <p:txBody>
          <a:bodyPr wrap="square" lIns="0" tIns="0" rIns="0" bIns="0" anchor="t">
            <a:spAutoFit/>
          </a:bodyPr>
          <a:lstStyle/>
          <a:p>
            <a:pPr algn="l">
              <a:lnSpc>
                <a:spcPts val="1700"/>
              </a:lnSpc>
            </a:pPr>
            <a:r>
              <a:rPr sz="1300" b="0" i="0">
                <a:solidFill>
                  <a:srgbClr val="22223B"/>
                </a:solidFill>
                <a:latin typeface="Arial"/>
              </a:rPr>
              <a:t>Where customers want you to grow, and why — in their own words. From people who would never fill in a form.</a:t>
            </a:r>
          </a:p>
        </p:txBody>
      </p:sp>
      <p:sp>
        <p:nvSpPr>
          <p:cNvPr id="26" name="Rounded Rectangle 25"/>
          <p:cNvSpPr/>
          <p:nvPr/>
        </p:nvSpPr>
        <p:spPr>
          <a:xfrm>
            <a:off x="4355592" y="4407408"/>
            <a:ext cx="3477768" cy="160020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575048" y="4590288"/>
            <a:ext cx="3038856" cy="310896"/>
          </a:xfrm>
          <a:prstGeom prst="rect">
            <a:avLst/>
          </a:prstGeom>
          <a:noFill/>
        </p:spPr>
        <p:txBody>
          <a:bodyPr wrap="square" lIns="0" tIns="0" rIns="0" bIns="0" anchor="t">
            <a:spAutoFit/>
          </a:bodyPr>
          <a:lstStyle/>
          <a:p>
            <a:pPr algn="l"/>
            <a:r>
              <a:rPr sz="1400" b="1" i="0">
                <a:solidFill>
                  <a:srgbClr val="211D71"/>
                </a:solidFill>
                <a:latin typeface="Arial"/>
              </a:rPr>
              <a:t>What you do not get</a:t>
            </a:r>
          </a:p>
        </p:txBody>
      </p:sp>
      <p:sp>
        <p:nvSpPr>
          <p:cNvPr id="28" name="TextBox 27"/>
          <p:cNvSpPr txBox="1"/>
          <p:nvPr/>
        </p:nvSpPr>
        <p:spPr>
          <a:xfrm>
            <a:off x="4575048" y="4956048"/>
            <a:ext cx="3038856" cy="905255"/>
          </a:xfrm>
          <a:prstGeom prst="rect">
            <a:avLst/>
          </a:prstGeom>
          <a:noFill/>
        </p:spPr>
        <p:txBody>
          <a:bodyPr wrap="square" lIns="0" tIns="0" rIns="0" bIns="0" anchor="t">
            <a:spAutoFit/>
          </a:bodyPr>
          <a:lstStyle/>
          <a:p>
            <a:pPr algn="l">
              <a:lnSpc>
                <a:spcPts val="1700"/>
              </a:lnSpc>
            </a:pPr>
            <a:r>
              <a:rPr sz="1300" b="0" i="0">
                <a:solidFill>
                  <a:srgbClr val="22223B"/>
                </a:solidFill>
                <a:latin typeface="Arial"/>
              </a:rPr>
              <a:t>Any sense of cost or effort. This is an input to a decision, not the decision.</a:t>
            </a:r>
          </a:p>
        </p:txBody>
      </p:sp>
      <p:sp>
        <p:nvSpPr>
          <p:cNvPr id="29" name="Rounded Rectangle 28"/>
          <p:cNvSpPr/>
          <p:nvPr/>
        </p:nvSpPr>
        <p:spPr>
          <a:xfrm>
            <a:off x="8071104" y="4407408"/>
            <a:ext cx="3477768" cy="160020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290560" y="4590288"/>
            <a:ext cx="3038856" cy="310896"/>
          </a:xfrm>
          <a:prstGeom prst="rect">
            <a:avLst/>
          </a:prstGeom>
          <a:noFill/>
        </p:spPr>
        <p:txBody>
          <a:bodyPr wrap="square" lIns="0" tIns="0" rIns="0" bIns="0" anchor="t">
            <a:spAutoFit/>
          </a:bodyPr>
          <a:lstStyle/>
          <a:p>
            <a:pPr algn="l"/>
            <a:r>
              <a:rPr sz="1400" b="1" i="0">
                <a:solidFill>
                  <a:srgbClr val="211D71"/>
                </a:solidFill>
                <a:latin typeface="Arial"/>
              </a:rPr>
              <a:t>The best finding</a:t>
            </a:r>
          </a:p>
        </p:txBody>
      </p:sp>
      <p:sp>
        <p:nvSpPr>
          <p:cNvPr id="31" name="TextBox 30"/>
          <p:cNvSpPr txBox="1"/>
          <p:nvPr/>
        </p:nvSpPr>
        <p:spPr>
          <a:xfrm>
            <a:off x="8290560" y="4956048"/>
            <a:ext cx="3038856" cy="905255"/>
          </a:xfrm>
          <a:prstGeom prst="rect">
            <a:avLst/>
          </a:prstGeom>
          <a:noFill/>
        </p:spPr>
        <p:txBody>
          <a:bodyPr wrap="square" lIns="0" tIns="0" rIns="0" bIns="0" anchor="t">
            <a:spAutoFit/>
          </a:bodyPr>
          <a:lstStyle/>
          <a:p>
            <a:pPr algn="l">
              <a:lnSpc>
                <a:spcPts val="1700"/>
              </a:lnSpc>
            </a:pPr>
            <a:r>
              <a:rPr sz="1300" b="0" i="0">
                <a:solidFill>
                  <a:srgbClr val="22223B"/>
                </a:solidFill>
                <a:latin typeface="Arial"/>
              </a:rPr>
              <a:t>The branch nobody defended. That is often a candidate for switching off.</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74320"/>
            <a:ext cx="10908792" cy="237744"/>
          </a:xfrm>
          <a:prstGeom prst="rect">
            <a:avLst/>
          </a:prstGeom>
          <a:noFill/>
        </p:spPr>
        <p:txBody>
          <a:bodyPr wrap="square" lIns="0" tIns="0" rIns="0" bIns="0" anchor="t">
            <a:spAutoFit/>
          </a:bodyPr>
          <a:lstStyle/>
          <a:p>
            <a:pPr algn="l"/>
            <a:r>
              <a:rPr sz="1000" b="1" i="0" spc="140">
                <a:solidFill>
                  <a:srgbClr val="A9740A"/>
                </a:solidFill>
                <a:latin typeface="Arial"/>
              </a:rPr>
              <a:t>A GAME TO PLAY WITH STAKEHOLDERS</a:t>
            </a:r>
          </a:p>
        </p:txBody>
      </p:sp>
      <p:sp>
        <p:nvSpPr>
          <p:cNvPr id="3" name="TextBox 2"/>
          <p:cNvSpPr txBox="1"/>
          <p:nvPr/>
        </p:nvSpPr>
        <p:spPr>
          <a:xfrm>
            <a:off x="640080" y="548640"/>
            <a:ext cx="8229600" cy="640080"/>
          </a:xfrm>
          <a:prstGeom prst="rect">
            <a:avLst/>
          </a:prstGeom>
          <a:noFill/>
        </p:spPr>
        <p:txBody>
          <a:bodyPr wrap="square" lIns="0" tIns="0" rIns="0" bIns="0" anchor="t">
            <a:spAutoFit/>
          </a:bodyPr>
          <a:lstStyle/>
          <a:p>
            <a:pPr algn="l"/>
            <a:r>
              <a:rPr sz="2400" b="1" i="0">
                <a:solidFill>
                  <a:srgbClr val="211D71"/>
                </a:solidFill>
                <a:latin typeface="Arial"/>
              </a:rPr>
              <a:t>Buy a Feature</a:t>
            </a:r>
          </a:p>
        </p:txBody>
      </p:sp>
      <p:sp>
        <p:nvSpPr>
          <p:cNvPr id="4" name="Rounded Rectangle 3"/>
          <p:cNvSpPr/>
          <p:nvPr/>
        </p:nvSpPr>
        <p:spPr>
          <a:xfrm>
            <a:off x="640080" y="1572768"/>
            <a:ext cx="10908792" cy="1234440"/>
          </a:xfrm>
          <a:prstGeom prst="roundRect">
            <a:avLst>
              <a:gd name="adj" fmla="val 5500"/>
            </a:avLst>
          </a:prstGeom>
          <a:solidFill>
            <a:srgbClr val="FEF4DC"/>
          </a:solidFill>
          <a:ln w="15875">
            <a:solidFill>
              <a:srgbClr val="FCB0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719072"/>
            <a:ext cx="10360152" cy="237744"/>
          </a:xfrm>
          <a:prstGeom prst="rect">
            <a:avLst/>
          </a:prstGeom>
          <a:noFill/>
        </p:spPr>
        <p:txBody>
          <a:bodyPr wrap="square" lIns="0" tIns="0" rIns="0" bIns="0" anchor="t">
            <a:spAutoFit/>
          </a:bodyPr>
          <a:lstStyle/>
          <a:p>
            <a:pPr algn="l"/>
            <a:r>
              <a:rPr sz="1000" b="1" i="0" spc="140">
                <a:solidFill>
                  <a:srgbClr val="A9740A"/>
                </a:solidFill>
                <a:latin typeface="Arial"/>
              </a:rPr>
              <a:t>THINK OF IT LIKE THIS</a:t>
            </a:r>
          </a:p>
        </p:txBody>
      </p:sp>
      <p:sp>
        <p:nvSpPr>
          <p:cNvPr id="6" name="TextBox 5"/>
          <p:cNvSpPr txBox="1"/>
          <p:nvPr/>
        </p:nvSpPr>
        <p:spPr>
          <a:xfrm>
            <a:off x="914400" y="1975104"/>
            <a:ext cx="10360152" cy="685800"/>
          </a:xfrm>
          <a:prstGeom prst="rect">
            <a:avLst/>
          </a:prstGeom>
          <a:noFill/>
        </p:spPr>
        <p:txBody>
          <a:bodyPr wrap="square" lIns="0" tIns="0" rIns="0" bIns="0" anchor="t">
            <a:spAutoFit/>
          </a:bodyPr>
          <a:lstStyle/>
          <a:p>
            <a:pPr algn="l">
              <a:lnSpc>
                <a:spcPts val="2400"/>
              </a:lnSpc>
            </a:pPr>
            <a:r>
              <a:rPr sz="1700" b="1" i="0">
                <a:solidFill>
                  <a:srgbClr val="211D71"/>
                </a:solidFill>
                <a:latin typeface="Arial"/>
              </a:rPr>
              <a:t>Give people money instead of a survey. Asking "what would you like?" gets you everything. Asking "what will you spend on?" gets you the truth.</a:t>
            </a:r>
          </a:p>
        </p:txBody>
      </p:sp>
      <p:sp>
        <p:nvSpPr>
          <p:cNvPr id="7" name="Rounded Rectangle 6"/>
          <p:cNvSpPr/>
          <p:nvPr/>
        </p:nvSpPr>
        <p:spPr>
          <a:xfrm>
            <a:off x="640080" y="3035808"/>
            <a:ext cx="2548890" cy="196596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59536" y="3218688"/>
            <a:ext cx="384048" cy="384048"/>
          </a:xfrm>
          <a:prstGeom prst="ellipse">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9536" y="3218688"/>
            <a:ext cx="384048" cy="384048"/>
          </a:xfrm>
          <a:prstGeom prst="rect">
            <a:avLst/>
          </a:prstGeom>
          <a:noFill/>
        </p:spPr>
        <p:txBody>
          <a:bodyPr wrap="square" lIns="0" tIns="0" rIns="0" bIns="0" anchor="ctr">
            <a:spAutoFit/>
          </a:bodyPr>
          <a:lstStyle/>
          <a:p>
            <a:pPr algn="ctr"/>
            <a:r>
              <a:rPr sz="1400" b="1" i="0">
                <a:solidFill>
                  <a:srgbClr val="FFFFFF"/>
                </a:solidFill>
                <a:latin typeface="Arial"/>
              </a:rPr>
              <a:t>1</a:t>
            </a:r>
          </a:p>
        </p:txBody>
      </p:sp>
      <p:sp>
        <p:nvSpPr>
          <p:cNvPr id="10" name="TextBox 9"/>
          <p:cNvSpPr txBox="1"/>
          <p:nvPr/>
        </p:nvSpPr>
        <p:spPr>
          <a:xfrm>
            <a:off x="1335024" y="3218688"/>
            <a:ext cx="1634490" cy="384048"/>
          </a:xfrm>
          <a:prstGeom prst="rect">
            <a:avLst/>
          </a:prstGeom>
          <a:noFill/>
        </p:spPr>
        <p:txBody>
          <a:bodyPr wrap="square" lIns="0" tIns="0" rIns="0" bIns="0" anchor="ctr">
            <a:spAutoFit/>
          </a:bodyPr>
          <a:lstStyle/>
          <a:p>
            <a:pPr algn="l"/>
            <a:r>
              <a:rPr sz="1400" b="1" i="0">
                <a:solidFill>
                  <a:srgbClr val="211D71"/>
                </a:solidFill>
                <a:latin typeface="Arial"/>
              </a:rPr>
              <a:t>Put a price on everything</a:t>
            </a:r>
          </a:p>
        </p:txBody>
      </p:sp>
      <p:sp>
        <p:nvSpPr>
          <p:cNvPr id="11" name="TextBox 10"/>
          <p:cNvSpPr txBox="1"/>
          <p:nvPr/>
        </p:nvSpPr>
        <p:spPr>
          <a:xfrm>
            <a:off x="859536" y="3694176"/>
            <a:ext cx="2109978" cy="1161287"/>
          </a:xfrm>
          <a:prstGeom prst="rect">
            <a:avLst/>
          </a:prstGeom>
          <a:noFill/>
        </p:spPr>
        <p:txBody>
          <a:bodyPr wrap="square" lIns="0" tIns="0" rIns="0" bIns="0" anchor="t">
            <a:spAutoFit/>
          </a:bodyPr>
          <a:lstStyle/>
          <a:p>
            <a:pPr algn="l">
              <a:lnSpc>
                <a:spcPts val="1700"/>
              </a:lnSpc>
            </a:pPr>
            <a:r>
              <a:rPr sz="1250" b="0" i="0">
                <a:solidFill>
                  <a:srgbClr val="22223B"/>
                </a:solidFill>
                <a:latin typeface="Arial"/>
              </a:rPr>
              <a:t>Price by roughly how much it costs you to build. They supply the value; the price supplies the limit.</a:t>
            </a:r>
          </a:p>
        </p:txBody>
      </p:sp>
      <p:sp>
        <p:nvSpPr>
          <p:cNvPr id="12" name="Rounded Rectangle 11"/>
          <p:cNvSpPr/>
          <p:nvPr/>
        </p:nvSpPr>
        <p:spPr>
          <a:xfrm>
            <a:off x="3426714" y="3035808"/>
            <a:ext cx="2548890" cy="196596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3646170" y="3218688"/>
            <a:ext cx="384048" cy="384048"/>
          </a:xfrm>
          <a:prstGeom prst="ellipse">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46170" y="3218688"/>
            <a:ext cx="384048" cy="384048"/>
          </a:xfrm>
          <a:prstGeom prst="rect">
            <a:avLst/>
          </a:prstGeom>
          <a:noFill/>
        </p:spPr>
        <p:txBody>
          <a:bodyPr wrap="square" lIns="0" tIns="0" rIns="0" bIns="0" anchor="ctr">
            <a:spAutoFit/>
          </a:bodyPr>
          <a:lstStyle/>
          <a:p>
            <a:pPr algn="ctr"/>
            <a:r>
              <a:rPr sz="1400" b="1" i="0">
                <a:solidFill>
                  <a:srgbClr val="FFFFFF"/>
                </a:solidFill>
                <a:latin typeface="Arial"/>
              </a:rPr>
              <a:t>2</a:t>
            </a:r>
          </a:p>
        </p:txBody>
      </p:sp>
      <p:sp>
        <p:nvSpPr>
          <p:cNvPr id="15" name="TextBox 14"/>
          <p:cNvSpPr txBox="1"/>
          <p:nvPr/>
        </p:nvSpPr>
        <p:spPr>
          <a:xfrm>
            <a:off x="4121658" y="3218688"/>
            <a:ext cx="1634490" cy="384048"/>
          </a:xfrm>
          <a:prstGeom prst="rect">
            <a:avLst/>
          </a:prstGeom>
          <a:noFill/>
        </p:spPr>
        <p:txBody>
          <a:bodyPr wrap="square" lIns="0" tIns="0" rIns="0" bIns="0" anchor="ctr">
            <a:spAutoFit/>
          </a:bodyPr>
          <a:lstStyle/>
          <a:p>
            <a:pPr algn="l"/>
            <a:r>
              <a:rPr sz="1400" b="1" i="0">
                <a:solidFill>
                  <a:srgbClr val="211D71"/>
                </a:solidFill>
                <a:latin typeface="Arial"/>
              </a:rPr>
              <a:t>Give each person too little</a:t>
            </a:r>
          </a:p>
        </p:txBody>
      </p:sp>
      <p:sp>
        <p:nvSpPr>
          <p:cNvPr id="16" name="TextBox 15"/>
          <p:cNvSpPr txBox="1"/>
          <p:nvPr/>
        </p:nvSpPr>
        <p:spPr>
          <a:xfrm>
            <a:off x="3646170" y="3694176"/>
            <a:ext cx="2109978" cy="1161287"/>
          </a:xfrm>
          <a:prstGeom prst="rect">
            <a:avLst/>
          </a:prstGeom>
          <a:noFill/>
        </p:spPr>
        <p:txBody>
          <a:bodyPr wrap="square" lIns="0" tIns="0" rIns="0" bIns="0" anchor="t">
            <a:spAutoFit/>
          </a:bodyPr>
          <a:lstStyle/>
          <a:p>
            <a:pPr algn="l">
              <a:lnSpc>
                <a:spcPts val="1700"/>
              </a:lnSpc>
            </a:pPr>
            <a:r>
              <a:rPr sz="1250" b="0" i="0">
                <a:solidFill>
                  <a:srgbClr val="22223B"/>
                </a:solidFill>
                <a:latin typeface="Arial"/>
              </a:rPr>
              <a:t>Nobody should be able to buy their favourite alone. The shortage is the whole mechanism.</a:t>
            </a:r>
          </a:p>
        </p:txBody>
      </p:sp>
      <p:sp>
        <p:nvSpPr>
          <p:cNvPr id="17" name="Rounded Rectangle 16"/>
          <p:cNvSpPr/>
          <p:nvPr/>
        </p:nvSpPr>
        <p:spPr>
          <a:xfrm>
            <a:off x="6213348" y="3035808"/>
            <a:ext cx="2548890" cy="196596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6432804" y="3218688"/>
            <a:ext cx="384048" cy="384048"/>
          </a:xfrm>
          <a:prstGeom prst="ellipse">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32804" y="3218688"/>
            <a:ext cx="384048" cy="384048"/>
          </a:xfrm>
          <a:prstGeom prst="rect">
            <a:avLst/>
          </a:prstGeom>
          <a:noFill/>
        </p:spPr>
        <p:txBody>
          <a:bodyPr wrap="square" lIns="0" tIns="0" rIns="0" bIns="0" anchor="ctr">
            <a:spAutoFit/>
          </a:bodyPr>
          <a:lstStyle/>
          <a:p>
            <a:pPr algn="ctr"/>
            <a:r>
              <a:rPr sz="1400" b="1" i="0">
                <a:solidFill>
                  <a:srgbClr val="FFFFFF"/>
                </a:solidFill>
                <a:latin typeface="Arial"/>
              </a:rPr>
              <a:t>3</a:t>
            </a:r>
          </a:p>
        </p:txBody>
      </p:sp>
      <p:sp>
        <p:nvSpPr>
          <p:cNvPr id="20" name="TextBox 19"/>
          <p:cNvSpPr txBox="1"/>
          <p:nvPr/>
        </p:nvSpPr>
        <p:spPr>
          <a:xfrm>
            <a:off x="6908292" y="3218688"/>
            <a:ext cx="1634490" cy="384048"/>
          </a:xfrm>
          <a:prstGeom prst="rect">
            <a:avLst/>
          </a:prstGeom>
          <a:noFill/>
        </p:spPr>
        <p:txBody>
          <a:bodyPr wrap="square" lIns="0" tIns="0" rIns="0" bIns="0" anchor="ctr">
            <a:spAutoFit/>
          </a:bodyPr>
          <a:lstStyle/>
          <a:p>
            <a:pPr algn="l"/>
            <a:r>
              <a:rPr sz="1400" b="1" i="0">
                <a:solidFill>
                  <a:srgbClr val="211D71"/>
                </a:solidFill>
                <a:latin typeface="Arial"/>
              </a:rPr>
              <a:t>Total money ≈ ⅓ of total price</a:t>
            </a:r>
          </a:p>
        </p:txBody>
      </p:sp>
      <p:sp>
        <p:nvSpPr>
          <p:cNvPr id="21" name="TextBox 20"/>
          <p:cNvSpPr txBox="1"/>
          <p:nvPr/>
        </p:nvSpPr>
        <p:spPr>
          <a:xfrm>
            <a:off x="6432804" y="3694176"/>
            <a:ext cx="2109978" cy="1161287"/>
          </a:xfrm>
          <a:prstGeom prst="rect">
            <a:avLst/>
          </a:prstGeom>
          <a:noFill/>
        </p:spPr>
        <p:txBody>
          <a:bodyPr wrap="square" lIns="0" tIns="0" rIns="0" bIns="0" anchor="t">
            <a:spAutoFit/>
          </a:bodyPr>
          <a:lstStyle/>
          <a:p>
            <a:pPr algn="l">
              <a:lnSpc>
                <a:spcPts val="1700"/>
              </a:lnSpc>
            </a:pPr>
            <a:r>
              <a:rPr sz="1250" b="0" i="0">
                <a:solidFill>
                  <a:srgbClr val="22223B"/>
                </a:solidFill>
                <a:latin typeface="Arial"/>
              </a:rPr>
              <a:t>Enough to buy about a third of the board. Too much and everyone buys everything.</a:t>
            </a:r>
          </a:p>
        </p:txBody>
      </p:sp>
      <p:sp>
        <p:nvSpPr>
          <p:cNvPr id="22" name="Rounded Rectangle 21"/>
          <p:cNvSpPr/>
          <p:nvPr/>
        </p:nvSpPr>
        <p:spPr>
          <a:xfrm>
            <a:off x="8999982" y="3035808"/>
            <a:ext cx="2548890" cy="196596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9219438" y="3218688"/>
            <a:ext cx="384048" cy="384048"/>
          </a:xfrm>
          <a:prstGeom prst="ellipse">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219438" y="3218688"/>
            <a:ext cx="384048" cy="384048"/>
          </a:xfrm>
          <a:prstGeom prst="rect">
            <a:avLst/>
          </a:prstGeom>
          <a:noFill/>
        </p:spPr>
        <p:txBody>
          <a:bodyPr wrap="square" lIns="0" tIns="0" rIns="0" bIns="0" anchor="ctr">
            <a:spAutoFit/>
          </a:bodyPr>
          <a:lstStyle/>
          <a:p>
            <a:pPr algn="ctr"/>
            <a:r>
              <a:rPr sz="1400" b="1" i="0">
                <a:solidFill>
                  <a:srgbClr val="FFFFFF"/>
                </a:solidFill>
                <a:latin typeface="Arial"/>
              </a:rPr>
              <a:t>4</a:t>
            </a:r>
          </a:p>
        </p:txBody>
      </p:sp>
      <p:sp>
        <p:nvSpPr>
          <p:cNvPr id="25" name="TextBox 24"/>
          <p:cNvSpPr txBox="1"/>
          <p:nvPr/>
        </p:nvSpPr>
        <p:spPr>
          <a:xfrm>
            <a:off x="9694926" y="3218688"/>
            <a:ext cx="1634490" cy="384048"/>
          </a:xfrm>
          <a:prstGeom prst="rect">
            <a:avLst/>
          </a:prstGeom>
          <a:noFill/>
        </p:spPr>
        <p:txBody>
          <a:bodyPr wrap="square" lIns="0" tIns="0" rIns="0" bIns="0" anchor="ctr">
            <a:spAutoFit/>
          </a:bodyPr>
          <a:lstStyle/>
          <a:p>
            <a:pPr algn="l"/>
            <a:r>
              <a:rPr sz="1400" b="1" i="0">
                <a:solidFill>
                  <a:srgbClr val="211D71"/>
                </a:solidFill>
                <a:latin typeface="Arial"/>
              </a:rPr>
              <a:t>Make two things unaffordable</a:t>
            </a:r>
          </a:p>
        </p:txBody>
      </p:sp>
      <p:sp>
        <p:nvSpPr>
          <p:cNvPr id="26" name="TextBox 25"/>
          <p:cNvSpPr txBox="1"/>
          <p:nvPr/>
        </p:nvSpPr>
        <p:spPr>
          <a:xfrm>
            <a:off x="9219438" y="3694176"/>
            <a:ext cx="2109978" cy="1161287"/>
          </a:xfrm>
          <a:prstGeom prst="rect">
            <a:avLst/>
          </a:prstGeom>
          <a:noFill/>
        </p:spPr>
        <p:txBody>
          <a:bodyPr wrap="square" lIns="0" tIns="0" rIns="0" bIns="0" anchor="t">
            <a:spAutoFit/>
          </a:bodyPr>
          <a:lstStyle/>
          <a:p>
            <a:pPr algn="l">
              <a:lnSpc>
                <a:spcPts val="1700"/>
              </a:lnSpc>
            </a:pPr>
            <a:r>
              <a:rPr sz="1250" b="0" i="0">
                <a:solidFill>
                  <a:srgbClr val="22223B"/>
                </a:solidFill>
                <a:latin typeface="Arial"/>
              </a:rPr>
              <a:t>Price a couple above any single budget, so people have to team up. Watching who teams up is the finding.</a:t>
            </a:r>
          </a:p>
        </p:txBody>
      </p:sp>
      <p:sp>
        <p:nvSpPr>
          <p:cNvPr id="27" name="Rounded Rectangle 26"/>
          <p:cNvSpPr/>
          <p:nvPr/>
        </p:nvSpPr>
        <p:spPr>
          <a:xfrm>
            <a:off x="640080" y="5184648"/>
            <a:ext cx="10908792" cy="658368"/>
          </a:xfrm>
          <a:prstGeom prst="roundRect">
            <a:avLst>
              <a:gd name="adj" fmla="val 5500"/>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68680" y="5221224"/>
            <a:ext cx="10451592" cy="585216"/>
          </a:xfrm>
          <a:prstGeom prst="rect">
            <a:avLst/>
          </a:prstGeom>
          <a:noFill/>
        </p:spPr>
        <p:txBody>
          <a:bodyPr wrap="square" lIns="0" tIns="0" rIns="0" bIns="0" anchor="ctr">
            <a:spAutoFit/>
          </a:bodyPr>
          <a:lstStyle/>
          <a:p>
            <a:pPr algn="l"/>
            <a:r>
              <a:rPr sz="1350" b="1" i="0">
                <a:solidFill>
                  <a:srgbClr val="FFFFFF"/>
                </a:solidFill>
                <a:latin typeface="Arial"/>
              </a:rPr>
              <a:t>Then say nothing. Who lobbies whom, what gets given up, and what nobody will club together for — that is your answer.</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74320"/>
            <a:ext cx="10908792" cy="237744"/>
          </a:xfrm>
          <a:prstGeom prst="rect">
            <a:avLst/>
          </a:prstGeom>
          <a:noFill/>
        </p:spPr>
        <p:txBody>
          <a:bodyPr wrap="square" lIns="0" tIns="0" rIns="0" bIns="0" anchor="t">
            <a:spAutoFit/>
          </a:bodyPr>
          <a:lstStyle/>
          <a:p>
            <a:pPr algn="l"/>
            <a:r>
              <a:rPr sz="1000" b="1" i="0" spc="140">
                <a:solidFill>
                  <a:srgbClr val="A9740A"/>
                </a:solidFill>
                <a:latin typeface="Arial"/>
              </a:rPr>
              <a:t>BUY A FEATURE  ·  CAMPUSPAY</a:t>
            </a:r>
          </a:p>
        </p:txBody>
      </p:sp>
      <p:sp>
        <p:nvSpPr>
          <p:cNvPr id="3" name="TextBox 2"/>
          <p:cNvSpPr txBox="1"/>
          <p:nvPr/>
        </p:nvSpPr>
        <p:spPr>
          <a:xfrm>
            <a:off x="640080" y="548640"/>
            <a:ext cx="8229600" cy="640080"/>
          </a:xfrm>
          <a:prstGeom prst="rect">
            <a:avLst/>
          </a:prstGeom>
          <a:noFill/>
        </p:spPr>
        <p:txBody>
          <a:bodyPr wrap="square" lIns="0" tIns="0" rIns="0" bIns="0" anchor="t">
            <a:spAutoFit/>
          </a:bodyPr>
          <a:lstStyle/>
          <a:p>
            <a:pPr algn="l"/>
            <a:r>
              <a:rPr sz="2400" b="1" i="0">
                <a:solidFill>
                  <a:srgbClr val="211D71"/>
                </a:solidFill>
                <a:latin typeface="Arial"/>
              </a:rPr>
              <a:t>Buy a Feature — one round</a:t>
            </a:r>
          </a:p>
        </p:txBody>
      </p:sp>
      <p:sp>
        <p:nvSpPr>
          <p:cNvPr id="4" name="TextBox 3"/>
          <p:cNvSpPr txBox="1"/>
          <p:nvPr/>
        </p:nvSpPr>
        <p:spPr>
          <a:xfrm>
            <a:off x="640080" y="1572768"/>
            <a:ext cx="10908792" cy="274320"/>
          </a:xfrm>
          <a:prstGeom prst="rect">
            <a:avLst/>
          </a:prstGeom>
          <a:noFill/>
        </p:spPr>
        <p:txBody>
          <a:bodyPr wrap="square" lIns="0" tIns="0" rIns="0" bIns="0" anchor="t">
            <a:spAutoFit/>
          </a:bodyPr>
          <a:lstStyle/>
          <a:p>
            <a:pPr algn="l"/>
            <a:r>
              <a:rPr sz="1400" b="0" i="0">
                <a:solidFill>
                  <a:srgbClr val="22223B"/>
                </a:solidFill>
                <a:latin typeface="Arial"/>
              </a:rPr>
              <a:t>Five people. ₹100 each, so ₹500 for the group. Everything on the board adds up to ₹1,500.</a:t>
            </a:r>
          </a:p>
        </p:txBody>
      </p:sp>
      <p:graphicFrame>
        <p:nvGraphicFramePr>
          <p:cNvPr id="5" name="Table 4"/>
          <p:cNvGraphicFramePr>
            <a:graphicFrameLocks noGrp="1"/>
          </p:cNvGraphicFramePr>
          <p:nvPr/>
        </p:nvGraphicFramePr>
        <p:xfrm>
          <a:off x="640080" y="1892807"/>
          <a:ext cx="10908792" cy="2816352"/>
        </p:xfrm>
        <a:graphic>
          <a:graphicData uri="http://schemas.openxmlformats.org/drawingml/2006/table">
            <a:tbl>
              <a:tblPr>
                <a:tableStyleId>{5C22544A-7EE6-4342-B048-85BDC9FD1C3A}</a:tableStyleId>
              </a:tblPr>
              <a:tblGrid>
                <a:gridCol w="27432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5971032">
                  <a:extLst>
                    <a:ext uri="{9D8B030D-6E8A-4147-A177-3AD203B41FA5}">
                      <a16:colId xmlns:a16="http://schemas.microsoft.com/office/drawing/2014/main" val="20003"/>
                    </a:ext>
                  </a:extLst>
                </a:gridCol>
              </a:tblGrid>
              <a:tr h="402336">
                <a:tc>
                  <a:txBody>
                    <a:bodyPr/>
                    <a:lstStyle/>
                    <a:p>
                      <a:pPr algn="l"/>
                      <a:r>
                        <a:rPr sz="1250" b="1">
                          <a:solidFill>
                            <a:srgbClr val="FFFFFF"/>
                          </a:solidFill>
                          <a:latin typeface="Arial"/>
                        </a:rPr>
                        <a:t>Feature</a:t>
                      </a:r>
                    </a:p>
                  </a:txBody>
                  <a:tcPr marL="82296" marR="82296" marT="36576" marB="36576" anchor="ctr">
                    <a:solidFill>
                      <a:srgbClr val="211D71"/>
                    </a:solidFill>
                  </a:tcPr>
                </a:tc>
                <a:tc>
                  <a:txBody>
                    <a:bodyPr/>
                    <a:lstStyle/>
                    <a:p>
                      <a:pPr algn="l"/>
                      <a:r>
                        <a:rPr sz="1250" b="1">
                          <a:solidFill>
                            <a:srgbClr val="FFFFFF"/>
                          </a:solidFill>
                          <a:latin typeface="Arial"/>
                        </a:rPr>
                        <a:t>Price</a:t>
                      </a:r>
                    </a:p>
                  </a:txBody>
                  <a:tcPr marL="82296" marR="82296" marT="36576" marB="36576" anchor="ctr">
                    <a:solidFill>
                      <a:srgbClr val="211D71"/>
                    </a:solidFill>
                  </a:tcPr>
                </a:tc>
                <a:tc>
                  <a:txBody>
                    <a:bodyPr/>
                    <a:lstStyle/>
                    <a:p>
                      <a:pPr algn="l"/>
                      <a:r>
                        <a:rPr sz="1250" b="1">
                          <a:solidFill>
                            <a:srgbClr val="FFFFFF"/>
                          </a:solidFill>
                          <a:latin typeface="Arial"/>
                        </a:rPr>
                        <a:t>Bought?</a:t>
                      </a:r>
                    </a:p>
                  </a:txBody>
                  <a:tcPr marL="82296" marR="82296" marT="36576" marB="36576" anchor="ctr">
                    <a:solidFill>
                      <a:srgbClr val="211D71"/>
                    </a:solidFill>
                  </a:tcPr>
                </a:tc>
                <a:tc>
                  <a:txBody>
                    <a:bodyPr/>
                    <a:lstStyle/>
                    <a:p>
                      <a:pPr algn="l"/>
                      <a:r>
                        <a:rPr sz="1250" b="1">
                          <a:solidFill>
                            <a:srgbClr val="FFFFFF"/>
                          </a:solidFill>
                          <a:latin typeface="Arial"/>
                        </a:rPr>
                        <a:t>What happened</a:t>
                      </a:r>
                    </a:p>
                  </a:txBody>
                  <a:tcPr marL="82296" marR="82296" marT="36576" marB="36576" anchor="ctr">
                    <a:solidFill>
                      <a:srgbClr val="211D71"/>
                    </a:solidFill>
                  </a:tcPr>
                </a:tc>
                <a:extLst>
                  <a:ext uri="{0D108BD9-81ED-4DB2-BD59-A6C34878D82A}">
                    <a16:rowId xmlns:a16="http://schemas.microsoft.com/office/drawing/2014/main" val="10000"/>
                  </a:ext>
                </a:extLst>
              </a:tr>
              <a:tr h="402336">
                <a:tc>
                  <a:txBody>
                    <a:bodyPr/>
                    <a:lstStyle/>
                    <a:p>
                      <a:pPr algn="l"/>
                      <a:r>
                        <a:rPr sz="1250" b="0">
                          <a:solidFill>
                            <a:srgbClr val="22223B"/>
                          </a:solidFill>
                          <a:latin typeface="Arial"/>
                        </a:rPr>
                        <a:t>Refund a failed payment</a:t>
                      </a:r>
                    </a:p>
                  </a:txBody>
                  <a:tcPr marL="82296" marR="82296" marT="36576" marB="36576" anchor="ctr">
                    <a:solidFill>
                      <a:srgbClr val="F3F4FA"/>
                    </a:solidFill>
                  </a:tcPr>
                </a:tc>
                <a:tc>
                  <a:txBody>
                    <a:bodyPr/>
                    <a:lstStyle/>
                    <a:p>
                      <a:pPr algn="l"/>
                      <a:r>
                        <a:rPr sz="1250" b="0">
                          <a:solidFill>
                            <a:srgbClr val="22223B"/>
                          </a:solidFill>
                          <a:latin typeface="Arial"/>
                        </a:rPr>
                        <a:t>₹250</a:t>
                      </a:r>
                    </a:p>
                  </a:txBody>
                  <a:tcPr marL="82296" marR="82296" marT="36576" marB="36576" anchor="ctr">
                    <a:solidFill>
                      <a:srgbClr val="F3F4FA"/>
                    </a:solidFill>
                  </a:tcPr>
                </a:tc>
                <a:tc>
                  <a:txBody>
                    <a:bodyPr/>
                    <a:lstStyle/>
                    <a:p>
                      <a:pPr algn="l"/>
                      <a:r>
                        <a:rPr sz="1250" b="1">
                          <a:solidFill>
                            <a:srgbClr val="1E7A4C"/>
                          </a:solidFill>
                          <a:latin typeface="Arial"/>
                        </a:rPr>
                        <a:t>✓ Yes</a:t>
                      </a:r>
                    </a:p>
                  </a:txBody>
                  <a:tcPr marL="82296" marR="82296" marT="36576" marB="36576" anchor="ctr">
                    <a:solidFill>
                      <a:srgbClr val="F3F4FA"/>
                    </a:solidFill>
                  </a:tcPr>
                </a:tc>
                <a:tc>
                  <a:txBody>
                    <a:bodyPr/>
                    <a:lstStyle/>
                    <a:p>
                      <a:pPr algn="l"/>
                      <a:r>
                        <a:rPr sz="1250" b="0">
                          <a:solidFill>
                            <a:srgbClr val="22223B"/>
                          </a:solidFill>
                          <a:latin typeface="Arial"/>
                        </a:rPr>
                        <a:t>Four of the five clubbed together. Nobody could afford it alone</a:t>
                      </a:r>
                    </a:p>
                  </a:txBody>
                  <a:tcPr marL="82296" marR="82296" marT="36576" marB="36576" anchor="ctr">
                    <a:solidFill>
                      <a:srgbClr val="F3F4FA"/>
                    </a:solidFill>
                  </a:tcPr>
                </a:tc>
                <a:extLst>
                  <a:ext uri="{0D108BD9-81ED-4DB2-BD59-A6C34878D82A}">
                    <a16:rowId xmlns:a16="http://schemas.microsoft.com/office/drawing/2014/main" val="10001"/>
                  </a:ext>
                </a:extLst>
              </a:tr>
              <a:tr h="402336">
                <a:tc>
                  <a:txBody>
                    <a:bodyPr/>
                    <a:lstStyle/>
                    <a:p>
                      <a:pPr algn="l"/>
                      <a:r>
                        <a:rPr sz="1250" b="0">
                          <a:solidFill>
                            <a:srgbClr val="22223B"/>
                          </a:solidFill>
                          <a:latin typeface="Arial"/>
                        </a:rPr>
                        <a:t>Split a bill</a:t>
                      </a:r>
                    </a:p>
                  </a:txBody>
                  <a:tcPr marL="82296" marR="82296" marT="36576" marB="36576" anchor="ctr">
                    <a:solidFill>
                      <a:srgbClr val="FFFFFF"/>
                    </a:solidFill>
                  </a:tcPr>
                </a:tc>
                <a:tc>
                  <a:txBody>
                    <a:bodyPr/>
                    <a:lstStyle/>
                    <a:p>
                      <a:pPr algn="l"/>
                      <a:r>
                        <a:rPr sz="1250" b="0">
                          <a:solidFill>
                            <a:srgbClr val="22223B"/>
                          </a:solidFill>
                          <a:latin typeface="Arial"/>
                        </a:rPr>
                        <a:t>₹150</a:t>
                      </a:r>
                    </a:p>
                  </a:txBody>
                  <a:tcPr marL="82296" marR="82296" marT="36576" marB="36576" anchor="ctr">
                    <a:solidFill>
                      <a:srgbClr val="FFFFFF"/>
                    </a:solidFill>
                  </a:tcPr>
                </a:tc>
                <a:tc>
                  <a:txBody>
                    <a:bodyPr/>
                    <a:lstStyle/>
                    <a:p>
                      <a:pPr algn="l"/>
                      <a:r>
                        <a:rPr sz="1250" b="1">
                          <a:solidFill>
                            <a:srgbClr val="1E7A4C"/>
                          </a:solidFill>
                          <a:latin typeface="Arial"/>
                        </a:rPr>
                        <a:t>✓ Yes</a:t>
                      </a:r>
                    </a:p>
                  </a:txBody>
                  <a:tcPr marL="82296" marR="82296" marT="36576" marB="36576" anchor="ctr">
                    <a:solidFill>
                      <a:srgbClr val="FFFFFF"/>
                    </a:solidFill>
                  </a:tcPr>
                </a:tc>
                <a:tc>
                  <a:txBody>
                    <a:bodyPr/>
                    <a:lstStyle/>
                    <a:p>
                      <a:pPr algn="l"/>
                      <a:r>
                        <a:rPr sz="1250" b="0">
                          <a:solidFill>
                            <a:srgbClr val="22223B"/>
                          </a:solidFill>
                          <a:latin typeface="Arial"/>
                        </a:rPr>
                        <a:t>Two people paid for it, and gave up analytics to do so</a:t>
                      </a:r>
                    </a:p>
                  </a:txBody>
                  <a:tcPr marL="82296" marR="82296" marT="36576" marB="36576" anchor="ctr">
                    <a:solidFill>
                      <a:srgbClr val="FFFFFF"/>
                    </a:solidFill>
                  </a:tcPr>
                </a:tc>
                <a:extLst>
                  <a:ext uri="{0D108BD9-81ED-4DB2-BD59-A6C34878D82A}">
                    <a16:rowId xmlns:a16="http://schemas.microsoft.com/office/drawing/2014/main" val="10002"/>
                  </a:ext>
                </a:extLst>
              </a:tr>
              <a:tr h="402336">
                <a:tc>
                  <a:txBody>
                    <a:bodyPr/>
                    <a:lstStyle/>
                    <a:p>
                      <a:pPr algn="l"/>
                      <a:r>
                        <a:rPr sz="1250" b="0">
                          <a:solidFill>
                            <a:srgbClr val="22223B"/>
                          </a:solidFill>
                          <a:latin typeface="Arial"/>
                        </a:rPr>
                        <a:t>Offers nearby</a:t>
                      </a:r>
                    </a:p>
                  </a:txBody>
                  <a:tcPr marL="82296" marR="82296" marT="36576" marB="36576" anchor="ctr">
                    <a:solidFill>
                      <a:srgbClr val="F3F4FA"/>
                    </a:solidFill>
                  </a:tcPr>
                </a:tc>
                <a:tc>
                  <a:txBody>
                    <a:bodyPr/>
                    <a:lstStyle/>
                    <a:p>
                      <a:pPr algn="l"/>
                      <a:r>
                        <a:rPr sz="1250" b="0">
                          <a:solidFill>
                            <a:srgbClr val="22223B"/>
                          </a:solidFill>
                          <a:latin typeface="Arial"/>
                        </a:rPr>
                        <a:t>₹100</a:t>
                      </a:r>
                    </a:p>
                  </a:txBody>
                  <a:tcPr marL="82296" marR="82296" marT="36576" marB="36576" anchor="ctr">
                    <a:solidFill>
                      <a:srgbClr val="F3F4FA"/>
                    </a:solidFill>
                  </a:tcPr>
                </a:tc>
                <a:tc>
                  <a:txBody>
                    <a:bodyPr/>
                    <a:lstStyle/>
                    <a:p>
                      <a:pPr algn="l"/>
                      <a:r>
                        <a:rPr sz="1250" b="1">
                          <a:solidFill>
                            <a:srgbClr val="1E7A4C"/>
                          </a:solidFill>
                          <a:latin typeface="Arial"/>
                        </a:rPr>
                        <a:t>✓ Yes</a:t>
                      </a:r>
                    </a:p>
                  </a:txBody>
                  <a:tcPr marL="82296" marR="82296" marT="36576" marB="36576" anchor="ctr">
                    <a:solidFill>
                      <a:srgbClr val="F3F4FA"/>
                    </a:solidFill>
                  </a:tcPr>
                </a:tc>
                <a:tc>
                  <a:txBody>
                    <a:bodyPr/>
                    <a:lstStyle/>
                    <a:p>
                      <a:pPr algn="l"/>
                      <a:r>
                        <a:rPr sz="1250" b="0">
                          <a:solidFill>
                            <a:srgbClr val="22223B"/>
                          </a:solidFill>
                          <a:latin typeface="Arial"/>
                        </a:rPr>
                        <a:t>The last ₹100, once the arguing was over</a:t>
                      </a:r>
                    </a:p>
                  </a:txBody>
                  <a:tcPr marL="82296" marR="82296" marT="36576" marB="36576" anchor="ctr">
                    <a:solidFill>
                      <a:srgbClr val="F3F4FA"/>
                    </a:solidFill>
                  </a:tcPr>
                </a:tc>
                <a:extLst>
                  <a:ext uri="{0D108BD9-81ED-4DB2-BD59-A6C34878D82A}">
                    <a16:rowId xmlns:a16="http://schemas.microsoft.com/office/drawing/2014/main" val="10003"/>
                  </a:ext>
                </a:extLst>
              </a:tr>
              <a:tr h="402336">
                <a:tc>
                  <a:txBody>
                    <a:bodyPr/>
                    <a:lstStyle/>
                    <a:p>
                      <a:pPr algn="l"/>
                      <a:r>
                        <a:rPr sz="1250" b="0">
                          <a:solidFill>
                            <a:srgbClr val="22223B"/>
                          </a:solidFill>
                          <a:latin typeface="Arial"/>
                        </a:rPr>
                        <a:t>Offline payments</a:t>
                      </a:r>
                    </a:p>
                  </a:txBody>
                  <a:tcPr marL="82296" marR="82296" marT="36576" marB="36576" anchor="ctr">
                    <a:solidFill>
                      <a:srgbClr val="FFFFFF"/>
                    </a:solidFill>
                  </a:tcPr>
                </a:tc>
                <a:tc>
                  <a:txBody>
                    <a:bodyPr/>
                    <a:lstStyle/>
                    <a:p>
                      <a:pPr algn="l"/>
                      <a:r>
                        <a:rPr sz="1250" b="0">
                          <a:solidFill>
                            <a:srgbClr val="22223B"/>
                          </a:solidFill>
                          <a:latin typeface="Arial"/>
                        </a:rPr>
                        <a:t>₹300</a:t>
                      </a:r>
                    </a:p>
                  </a:txBody>
                  <a:tcPr marL="82296" marR="82296" marT="36576" marB="36576" anchor="ctr">
                    <a:solidFill>
                      <a:srgbClr val="FFFFFF"/>
                    </a:solidFill>
                  </a:tcPr>
                </a:tc>
                <a:tc>
                  <a:txBody>
                    <a:bodyPr/>
                    <a:lstStyle/>
                    <a:p>
                      <a:pPr algn="l"/>
                      <a:r>
                        <a:rPr sz="1250" b="0">
                          <a:solidFill>
                            <a:srgbClr val="5F6178"/>
                          </a:solidFill>
                          <a:latin typeface="Arial"/>
                        </a:rPr>
                        <a:t>✗</a:t>
                      </a:r>
                    </a:p>
                  </a:txBody>
                  <a:tcPr marL="82296" marR="82296" marT="36576" marB="36576" anchor="ctr">
                    <a:solidFill>
                      <a:srgbClr val="FFFFFF"/>
                    </a:solidFill>
                  </a:tcPr>
                </a:tc>
                <a:tc>
                  <a:txBody>
                    <a:bodyPr/>
                    <a:lstStyle/>
                    <a:p>
                      <a:pPr algn="l"/>
                      <a:r>
                        <a:rPr sz="1250" b="0">
                          <a:solidFill>
                            <a:srgbClr val="22223B"/>
                          </a:solidFill>
                          <a:latin typeface="Arial"/>
                        </a:rPr>
                        <a:t>Everyone wanted it. Nobody could afford it</a:t>
                      </a:r>
                    </a:p>
                  </a:txBody>
                  <a:tcPr marL="82296" marR="82296" marT="36576" marB="36576" anchor="ctr">
                    <a:solidFill>
                      <a:srgbClr val="FFFFFF"/>
                    </a:solidFill>
                  </a:tcPr>
                </a:tc>
                <a:extLst>
                  <a:ext uri="{0D108BD9-81ED-4DB2-BD59-A6C34878D82A}">
                    <a16:rowId xmlns:a16="http://schemas.microsoft.com/office/drawing/2014/main" val="10004"/>
                  </a:ext>
                </a:extLst>
              </a:tr>
              <a:tr h="402336">
                <a:tc>
                  <a:txBody>
                    <a:bodyPr/>
                    <a:lstStyle/>
                    <a:p>
                      <a:pPr algn="l"/>
                      <a:r>
                        <a:rPr sz="1250" b="0">
                          <a:solidFill>
                            <a:srgbClr val="22223B"/>
                          </a:solidFill>
                          <a:latin typeface="Arial"/>
                        </a:rPr>
                        <a:t>Spend analytics</a:t>
                      </a:r>
                    </a:p>
                  </a:txBody>
                  <a:tcPr marL="82296" marR="82296" marT="36576" marB="36576" anchor="ctr">
                    <a:solidFill>
                      <a:srgbClr val="F3F4FA"/>
                    </a:solidFill>
                  </a:tcPr>
                </a:tc>
                <a:tc>
                  <a:txBody>
                    <a:bodyPr/>
                    <a:lstStyle/>
                    <a:p>
                      <a:pPr algn="l"/>
                      <a:r>
                        <a:rPr sz="1250" b="0">
                          <a:solidFill>
                            <a:srgbClr val="22223B"/>
                          </a:solidFill>
                          <a:latin typeface="Arial"/>
                        </a:rPr>
                        <a:t>₹200</a:t>
                      </a:r>
                    </a:p>
                  </a:txBody>
                  <a:tcPr marL="82296" marR="82296" marT="36576" marB="36576" anchor="ctr">
                    <a:solidFill>
                      <a:srgbClr val="F3F4FA"/>
                    </a:solidFill>
                  </a:tcPr>
                </a:tc>
                <a:tc>
                  <a:txBody>
                    <a:bodyPr/>
                    <a:lstStyle/>
                    <a:p>
                      <a:pPr algn="l"/>
                      <a:r>
                        <a:rPr sz="1250" b="0">
                          <a:solidFill>
                            <a:srgbClr val="5F6178"/>
                          </a:solidFill>
                          <a:latin typeface="Arial"/>
                        </a:rPr>
                        <a:t>✗</a:t>
                      </a:r>
                    </a:p>
                  </a:txBody>
                  <a:tcPr marL="82296" marR="82296" marT="36576" marB="36576" anchor="ctr">
                    <a:solidFill>
                      <a:srgbClr val="F3F4FA"/>
                    </a:solidFill>
                  </a:tcPr>
                </a:tc>
                <a:tc>
                  <a:txBody>
                    <a:bodyPr/>
                    <a:lstStyle/>
                    <a:p>
                      <a:pPr algn="l"/>
                      <a:r>
                        <a:rPr sz="1250" b="0">
                          <a:solidFill>
                            <a:srgbClr val="22223B"/>
                          </a:solidFill>
                          <a:latin typeface="Arial"/>
                        </a:rPr>
                        <a:t>Given up twice — loudly asked for, first to go</a:t>
                      </a:r>
                    </a:p>
                  </a:txBody>
                  <a:tcPr marL="82296" marR="82296" marT="36576" marB="36576" anchor="ctr">
                    <a:solidFill>
                      <a:srgbClr val="F3F4FA"/>
                    </a:solidFill>
                  </a:tcPr>
                </a:tc>
                <a:extLst>
                  <a:ext uri="{0D108BD9-81ED-4DB2-BD59-A6C34878D82A}">
                    <a16:rowId xmlns:a16="http://schemas.microsoft.com/office/drawing/2014/main" val="10005"/>
                  </a:ext>
                </a:extLst>
              </a:tr>
              <a:tr h="402336">
                <a:tc>
                  <a:txBody>
                    <a:bodyPr/>
                    <a:lstStyle/>
                    <a:p>
                      <a:pPr algn="l"/>
                      <a:r>
                        <a:rPr sz="1250" b="0">
                          <a:solidFill>
                            <a:srgbClr val="22223B"/>
                          </a:solidFill>
                          <a:latin typeface="Arial"/>
                        </a:rPr>
                        <a:t>Dark mode</a:t>
                      </a:r>
                    </a:p>
                  </a:txBody>
                  <a:tcPr marL="82296" marR="82296" marT="36576" marB="36576" anchor="ctr">
                    <a:solidFill>
                      <a:srgbClr val="FFFFFF"/>
                    </a:solidFill>
                  </a:tcPr>
                </a:tc>
                <a:tc>
                  <a:txBody>
                    <a:bodyPr/>
                    <a:lstStyle/>
                    <a:p>
                      <a:pPr algn="l"/>
                      <a:r>
                        <a:rPr sz="1250" b="0">
                          <a:solidFill>
                            <a:srgbClr val="22223B"/>
                          </a:solidFill>
                          <a:latin typeface="Arial"/>
                        </a:rPr>
                        <a:t>₹50</a:t>
                      </a:r>
                    </a:p>
                  </a:txBody>
                  <a:tcPr marL="82296" marR="82296" marT="36576" marB="36576" anchor="ctr">
                    <a:solidFill>
                      <a:srgbClr val="FFFFFF"/>
                    </a:solidFill>
                  </a:tcPr>
                </a:tc>
                <a:tc>
                  <a:txBody>
                    <a:bodyPr/>
                    <a:lstStyle/>
                    <a:p>
                      <a:pPr algn="l"/>
                      <a:r>
                        <a:rPr sz="1250" b="0">
                          <a:solidFill>
                            <a:srgbClr val="5F6178"/>
                          </a:solidFill>
                          <a:latin typeface="Arial"/>
                        </a:rPr>
                        <a:t>✗</a:t>
                      </a:r>
                    </a:p>
                  </a:txBody>
                  <a:tcPr marL="82296" marR="82296" marT="36576" marB="36576" anchor="ctr">
                    <a:solidFill>
                      <a:srgbClr val="FFFFFF"/>
                    </a:solidFill>
                  </a:tcPr>
                </a:tc>
                <a:tc>
                  <a:txBody>
                    <a:bodyPr/>
                    <a:lstStyle/>
                    <a:p>
                      <a:pPr algn="l"/>
                      <a:r>
                        <a:rPr sz="1250" b="0">
                          <a:solidFill>
                            <a:srgbClr val="22223B"/>
                          </a:solidFill>
                          <a:latin typeface="Arial"/>
                        </a:rPr>
                        <a:t>The cheapest thing there. Nobody spent ₹50 on it</a:t>
                      </a:r>
                    </a:p>
                  </a:txBody>
                  <a:tcPr marL="82296" marR="82296" marT="36576" marB="36576" anchor="ctr">
                    <a:solidFill>
                      <a:srgbClr val="FFFFFF"/>
                    </a:solidFill>
                  </a:tcPr>
                </a:tc>
                <a:extLst>
                  <a:ext uri="{0D108BD9-81ED-4DB2-BD59-A6C34878D82A}">
                    <a16:rowId xmlns:a16="http://schemas.microsoft.com/office/drawing/2014/main" val="10006"/>
                  </a:ext>
                </a:extLst>
              </a:tr>
            </a:tbl>
          </a:graphicData>
        </a:graphic>
      </p:graphicFrame>
      <p:sp>
        <p:nvSpPr>
          <p:cNvPr id="6" name="Rounded Rectangle 5"/>
          <p:cNvSpPr/>
          <p:nvPr/>
        </p:nvSpPr>
        <p:spPr>
          <a:xfrm>
            <a:off x="640080" y="4864608"/>
            <a:ext cx="3477768" cy="1188720"/>
          </a:xfrm>
          <a:prstGeom prst="roundRect">
            <a:avLst>
              <a:gd name="adj" fmla="val 5500"/>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68096" y="5010912"/>
            <a:ext cx="3221736" cy="621792"/>
          </a:xfrm>
          <a:prstGeom prst="rect">
            <a:avLst/>
          </a:prstGeom>
          <a:noFill/>
        </p:spPr>
        <p:txBody>
          <a:bodyPr wrap="square" lIns="0" tIns="0" rIns="0" bIns="0" anchor="ctr">
            <a:spAutoFit/>
          </a:bodyPr>
          <a:lstStyle/>
          <a:p>
            <a:pPr algn="ctr"/>
            <a:r>
              <a:rPr sz="2100" b="1" i="0">
                <a:solidFill>
                  <a:srgbClr val="FCB017"/>
                </a:solidFill>
                <a:latin typeface="Arial"/>
              </a:rPr>
              <a:t>₹500</a:t>
            </a:r>
          </a:p>
        </p:txBody>
      </p:sp>
      <p:sp>
        <p:nvSpPr>
          <p:cNvPr id="8" name="TextBox 7"/>
          <p:cNvSpPr txBox="1"/>
          <p:nvPr/>
        </p:nvSpPr>
        <p:spPr>
          <a:xfrm>
            <a:off x="768096" y="5650992"/>
            <a:ext cx="3221736" cy="292608"/>
          </a:xfrm>
          <a:prstGeom prst="rect">
            <a:avLst/>
          </a:prstGeom>
          <a:noFill/>
        </p:spPr>
        <p:txBody>
          <a:bodyPr wrap="square" lIns="0" tIns="0" rIns="0" bIns="0" anchor="t">
            <a:spAutoFit/>
          </a:bodyPr>
          <a:lstStyle/>
          <a:p>
            <a:pPr algn="ctr">
              <a:lnSpc>
                <a:spcPts val="1500"/>
              </a:lnSpc>
            </a:pPr>
            <a:r>
              <a:rPr sz="1150" b="0" i="0">
                <a:solidFill>
                  <a:srgbClr val="D8DBF0"/>
                </a:solidFill>
                <a:latin typeface="Arial"/>
              </a:rPr>
              <a:t>Spent: 250 + 150 + 100, with nothing left over</a:t>
            </a:r>
          </a:p>
        </p:txBody>
      </p:sp>
      <p:sp>
        <p:nvSpPr>
          <p:cNvPr id="9" name="Rounded Rectangle 8"/>
          <p:cNvSpPr/>
          <p:nvPr/>
        </p:nvSpPr>
        <p:spPr>
          <a:xfrm>
            <a:off x="4355592" y="4864608"/>
            <a:ext cx="3477768" cy="1188720"/>
          </a:xfrm>
          <a:prstGeom prst="roundRect">
            <a:avLst>
              <a:gd name="adj" fmla="val 5500"/>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483608" y="5010912"/>
            <a:ext cx="3221736" cy="621792"/>
          </a:xfrm>
          <a:prstGeom prst="rect">
            <a:avLst/>
          </a:prstGeom>
          <a:noFill/>
        </p:spPr>
        <p:txBody>
          <a:bodyPr wrap="square" lIns="0" tIns="0" rIns="0" bIns="0" anchor="ctr">
            <a:spAutoFit/>
          </a:bodyPr>
          <a:lstStyle/>
          <a:p>
            <a:pPr algn="ctr"/>
            <a:r>
              <a:rPr sz="2100" b="1" i="0">
                <a:solidFill>
                  <a:srgbClr val="FFFFFF"/>
                </a:solidFill>
                <a:latin typeface="Arial"/>
              </a:rPr>
              <a:t>Analytics</a:t>
            </a:r>
          </a:p>
        </p:txBody>
      </p:sp>
      <p:sp>
        <p:nvSpPr>
          <p:cNvPr id="11" name="TextBox 10"/>
          <p:cNvSpPr txBox="1"/>
          <p:nvPr/>
        </p:nvSpPr>
        <p:spPr>
          <a:xfrm>
            <a:off x="4483608" y="5650992"/>
            <a:ext cx="3221736" cy="292608"/>
          </a:xfrm>
          <a:prstGeom prst="rect">
            <a:avLst/>
          </a:prstGeom>
          <a:noFill/>
        </p:spPr>
        <p:txBody>
          <a:bodyPr wrap="square" lIns="0" tIns="0" rIns="0" bIns="0" anchor="t">
            <a:spAutoFit/>
          </a:bodyPr>
          <a:lstStyle/>
          <a:p>
            <a:pPr algn="ctr">
              <a:lnSpc>
                <a:spcPts val="1500"/>
              </a:lnSpc>
            </a:pPr>
            <a:r>
              <a:rPr sz="1150" b="0" i="0">
                <a:solidFill>
                  <a:srgbClr val="FBD5D5"/>
                </a:solidFill>
                <a:latin typeface="Arial"/>
              </a:rPr>
              <a:t>Asked for constantly. First thing given up when it cost money</a:t>
            </a:r>
          </a:p>
        </p:txBody>
      </p:sp>
      <p:sp>
        <p:nvSpPr>
          <p:cNvPr id="12" name="Rounded Rectangle 11"/>
          <p:cNvSpPr/>
          <p:nvPr/>
        </p:nvSpPr>
        <p:spPr>
          <a:xfrm>
            <a:off x="8071104" y="4864608"/>
            <a:ext cx="3477768" cy="1188720"/>
          </a:xfrm>
          <a:prstGeom prst="roundRect">
            <a:avLst>
              <a:gd name="adj" fmla="val 5500"/>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199120" y="5010912"/>
            <a:ext cx="3221736" cy="621792"/>
          </a:xfrm>
          <a:prstGeom prst="rect">
            <a:avLst/>
          </a:prstGeom>
          <a:noFill/>
        </p:spPr>
        <p:txBody>
          <a:bodyPr wrap="square" lIns="0" tIns="0" rIns="0" bIns="0" anchor="ctr">
            <a:spAutoFit/>
          </a:bodyPr>
          <a:lstStyle/>
          <a:p>
            <a:pPr algn="ctr"/>
            <a:r>
              <a:rPr sz="2100" b="1" i="0">
                <a:solidFill>
                  <a:srgbClr val="FCB017"/>
                </a:solidFill>
                <a:latin typeface="Arial"/>
              </a:rPr>
              <a:t>Dark mode</a:t>
            </a:r>
          </a:p>
        </p:txBody>
      </p:sp>
      <p:sp>
        <p:nvSpPr>
          <p:cNvPr id="14" name="TextBox 13"/>
          <p:cNvSpPr txBox="1"/>
          <p:nvPr/>
        </p:nvSpPr>
        <p:spPr>
          <a:xfrm>
            <a:off x="8199120" y="5650992"/>
            <a:ext cx="3221736" cy="292608"/>
          </a:xfrm>
          <a:prstGeom prst="rect">
            <a:avLst/>
          </a:prstGeom>
          <a:noFill/>
        </p:spPr>
        <p:txBody>
          <a:bodyPr wrap="square" lIns="0" tIns="0" rIns="0" bIns="0" anchor="t">
            <a:spAutoFit/>
          </a:bodyPr>
          <a:lstStyle/>
          <a:p>
            <a:pPr algn="ctr">
              <a:lnSpc>
                <a:spcPts val="1500"/>
              </a:lnSpc>
            </a:pPr>
            <a:r>
              <a:rPr sz="1150" b="0" i="0">
                <a:solidFill>
                  <a:srgbClr val="D8DBF0"/>
                </a:solidFill>
                <a:latin typeface="Arial"/>
              </a:rPr>
              <a:t>Cheap is not the same as wanted</a:t>
            </a:r>
          </a:p>
        </p:txBody>
      </p:sp>
      <p:sp>
        <p:nvSpPr>
          <p:cNvPr id="15" name="TextBox 14"/>
          <p:cNvSpPr txBox="1"/>
          <p:nvPr/>
        </p:nvSpPr>
        <p:spPr>
          <a:xfrm>
            <a:off x="640080" y="6144768"/>
            <a:ext cx="10908792" cy="274320"/>
          </a:xfrm>
          <a:prstGeom prst="rect">
            <a:avLst/>
          </a:prstGeom>
          <a:noFill/>
        </p:spPr>
        <p:txBody>
          <a:bodyPr wrap="square" lIns="0" tIns="0" rIns="0" bIns="0" anchor="t">
            <a:spAutoFit/>
          </a:bodyPr>
          <a:lstStyle/>
          <a:p>
            <a:pPr algn="ctr"/>
            <a:r>
              <a:rPr sz="1200" b="0" i="1">
                <a:solidFill>
                  <a:srgbClr val="5F6178"/>
                </a:solidFill>
                <a:latin typeface="Arial"/>
              </a:rPr>
              <a:t>One group of five is a signal, not a market. Run it three or four times with different groups before you act on it.</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19" y="1828800"/>
            <a:ext cx="2194560" cy="1371600"/>
          </a:xfrm>
          <a:prstGeom prst="rect">
            <a:avLst/>
          </a:prstGeom>
          <a:noFill/>
        </p:spPr>
        <p:txBody>
          <a:bodyPr wrap="square" lIns="0" tIns="0" rIns="0" bIns="0" anchor="t">
            <a:spAutoFit/>
          </a:bodyPr>
          <a:lstStyle/>
          <a:p>
            <a:pPr algn="l"/>
            <a:r>
              <a:rPr sz="7600" b="1" i="0">
                <a:solidFill>
                  <a:srgbClr val="B4B8DA"/>
                </a:solidFill>
                <a:latin typeface="Arial"/>
              </a:rPr>
              <a:t>07</a:t>
            </a:r>
          </a:p>
        </p:txBody>
      </p:sp>
      <p:sp>
        <p:nvSpPr>
          <p:cNvPr id="3" name="TextBox 2"/>
          <p:cNvSpPr txBox="1"/>
          <p:nvPr/>
        </p:nvSpPr>
        <p:spPr>
          <a:xfrm>
            <a:off x="731519" y="3017520"/>
            <a:ext cx="10058400" cy="868680"/>
          </a:xfrm>
          <a:prstGeom prst="rect">
            <a:avLst/>
          </a:prstGeom>
          <a:noFill/>
        </p:spPr>
        <p:txBody>
          <a:bodyPr wrap="square" lIns="0" tIns="0" rIns="0" bIns="0" anchor="t">
            <a:spAutoFit/>
          </a:bodyPr>
          <a:lstStyle/>
          <a:p>
            <a:pPr algn="l"/>
            <a:r>
              <a:rPr sz="3600" b="1" i="0">
                <a:solidFill>
                  <a:srgbClr val="211D71"/>
                </a:solidFill>
                <a:latin typeface="Arial"/>
              </a:rPr>
              <a:t>Putting it all together</a:t>
            </a:r>
          </a:p>
        </p:txBody>
      </p:sp>
      <p:sp>
        <p:nvSpPr>
          <p:cNvPr id="4" name="Rectangle 3"/>
          <p:cNvSpPr/>
          <p:nvPr/>
        </p:nvSpPr>
        <p:spPr>
          <a:xfrm>
            <a:off x="777240" y="3977639"/>
            <a:ext cx="914400" cy="50292"/>
          </a:xfrm>
          <a:prstGeom prst="rect">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691639" y="3977639"/>
            <a:ext cx="914400" cy="50292"/>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606039" y="3977639"/>
            <a:ext cx="914400" cy="50292"/>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19" y="4187952"/>
            <a:ext cx="10058400" cy="457200"/>
          </a:xfrm>
          <a:prstGeom prst="rect">
            <a:avLst/>
          </a:prstGeom>
          <a:noFill/>
        </p:spPr>
        <p:txBody>
          <a:bodyPr wrap="square" lIns="0" tIns="0" rIns="0" bIns="0" anchor="t">
            <a:spAutoFit/>
          </a:bodyPr>
          <a:lstStyle/>
          <a:p>
            <a:pPr algn="l"/>
            <a:r>
              <a:rPr sz="1400" b="0" i="0">
                <a:solidFill>
                  <a:srgbClr val="5F6178"/>
                </a:solidFill>
                <a:latin typeface="Arial"/>
              </a:rPr>
              <a:t>Which tool, and in what order   ·   80–85 min</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74320"/>
            <a:ext cx="10908792" cy="237744"/>
          </a:xfrm>
          <a:prstGeom prst="rect">
            <a:avLst/>
          </a:prstGeom>
          <a:noFill/>
        </p:spPr>
        <p:txBody>
          <a:bodyPr wrap="square" lIns="0" tIns="0" rIns="0" bIns="0" anchor="t">
            <a:spAutoFit/>
          </a:bodyPr>
          <a:lstStyle/>
          <a:p>
            <a:pPr algn="l"/>
            <a:r>
              <a:rPr sz="1000" b="1" i="0" spc="140">
                <a:solidFill>
                  <a:srgbClr val="A9740A"/>
                </a:solidFill>
                <a:latin typeface="Arial"/>
              </a:rPr>
              <a:t>PUTTING IT TOGETHER</a:t>
            </a:r>
          </a:p>
        </p:txBody>
      </p:sp>
      <p:sp>
        <p:nvSpPr>
          <p:cNvPr id="3" name="TextBox 2"/>
          <p:cNvSpPr txBox="1"/>
          <p:nvPr/>
        </p:nvSpPr>
        <p:spPr>
          <a:xfrm>
            <a:off x="640080" y="548640"/>
            <a:ext cx="8229600" cy="640080"/>
          </a:xfrm>
          <a:prstGeom prst="rect">
            <a:avLst/>
          </a:prstGeom>
          <a:noFill/>
        </p:spPr>
        <p:txBody>
          <a:bodyPr wrap="square" lIns="0" tIns="0" rIns="0" bIns="0" anchor="t">
            <a:spAutoFit/>
          </a:bodyPr>
          <a:lstStyle/>
          <a:p>
            <a:pPr algn="l"/>
            <a:r>
              <a:rPr sz="2400" b="1" i="0">
                <a:solidFill>
                  <a:srgbClr val="211D71"/>
                </a:solidFill>
                <a:latin typeface="Arial"/>
              </a:rPr>
              <a:t>Which tool, and when</a:t>
            </a:r>
          </a:p>
        </p:txBody>
      </p:sp>
      <p:graphicFrame>
        <p:nvGraphicFramePr>
          <p:cNvPr id="4" name="Table 3"/>
          <p:cNvGraphicFramePr>
            <a:graphicFrameLocks noGrp="1"/>
          </p:cNvGraphicFramePr>
          <p:nvPr/>
        </p:nvGraphicFramePr>
        <p:xfrm>
          <a:off x="640080" y="1709928"/>
          <a:ext cx="10908792" cy="3364992"/>
        </p:xfrm>
        <a:graphic>
          <a:graphicData uri="http://schemas.openxmlformats.org/drawingml/2006/table">
            <a:tbl>
              <a:tblPr>
                <a:tableStyleId>{5C22544A-7EE6-4342-B048-85BDC9FD1C3A}</a:tableStyleId>
              </a:tblPr>
              <a:tblGrid>
                <a:gridCol w="219456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2039112">
                  <a:extLst>
                    <a:ext uri="{9D8B030D-6E8A-4147-A177-3AD203B41FA5}">
                      <a16:colId xmlns:a16="http://schemas.microsoft.com/office/drawing/2014/main" val="20003"/>
                    </a:ext>
                  </a:extLst>
                </a:gridCol>
              </a:tblGrid>
              <a:tr h="420624">
                <a:tc>
                  <a:txBody>
                    <a:bodyPr/>
                    <a:lstStyle/>
                    <a:p>
                      <a:pPr algn="l"/>
                      <a:r>
                        <a:rPr sz="1250" b="1">
                          <a:solidFill>
                            <a:srgbClr val="FFFFFF"/>
                          </a:solidFill>
                          <a:latin typeface="Arial"/>
                        </a:rPr>
                        <a:t>Tool</a:t>
                      </a:r>
                    </a:p>
                  </a:txBody>
                  <a:tcPr marL="82296" marR="82296" marT="36576" marB="36576" anchor="ctr">
                    <a:solidFill>
                      <a:srgbClr val="211D71"/>
                    </a:solidFill>
                  </a:tcPr>
                </a:tc>
                <a:tc>
                  <a:txBody>
                    <a:bodyPr/>
                    <a:lstStyle/>
                    <a:p>
                      <a:pPr algn="l"/>
                      <a:r>
                        <a:rPr sz="1250" b="1">
                          <a:solidFill>
                            <a:srgbClr val="FFFFFF"/>
                          </a:solidFill>
                          <a:latin typeface="Arial"/>
                        </a:rPr>
                        <a:t>Use it when</a:t>
                      </a:r>
                    </a:p>
                  </a:txBody>
                  <a:tcPr marL="82296" marR="82296" marT="36576" marB="36576" anchor="ctr">
                    <a:solidFill>
                      <a:srgbClr val="211D71"/>
                    </a:solidFill>
                  </a:tcPr>
                </a:tc>
                <a:tc>
                  <a:txBody>
                    <a:bodyPr/>
                    <a:lstStyle/>
                    <a:p>
                      <a:pPr algn="l"/>
                      <a:r>
                        <a:rPr sz="1250" b="1">
                          <a:solidFill>
                            <a:srgbClr val="FFFFFF"/>
                          </a:solidFill>
                          <a:latin typeface="Arial"/>
                        </a:rPr>
                        <a:t>Do not use it when</a:t>
                      </a:r>
                    </a:p>
                  </a:txBody>
                  <a:tcPr marL="82296" marR="82296" marT="36576" marB="36576" anchor="ctr">
                    <a:solidFill>
                      <a:srgbClr val="211D71"/>
                    </a:solidFill>
                  </a:tcPr>
                </a:tc>
                <a:tc>
                  <a:txBody>
                    <a:bodyPr/>
                    <a:lstStyle/>
                    <a:p>
                      <a:pPr algn="l"/>
                      <a:r>
                        <a:rPr sz="1250" b="1">
                          <a:solidFill>
                            <a:srgbClr val="FFFFFF"/>
                          </a:solidFill>
                          <a:latin typeface="Arial"/>
                        </a:rPr>
                        <a:t>You get</a:t>
                      </a:r>
                    </a:p>
                  </a:txBody>
                  <a:tcPr marL="82296" marR="82296" marT="36576" marB="36576" anchor="ctr">
                    <a:solidFill>
                      <a:srgbClr val="211D71"/>
                    </a:solidFill>
                  </a:tcPr>
                </a:tc>
                <a:extLst>
                  <a:ext uri="{0D108BD9-81ED-4DB2-BD59-A6C34878D82A}">
                    <a16:rowId xmlns:a16="http://schemas.microsoft.com/office/drawing/2014/main" val="10000"/>
                  </a:ext>
                </a:extLst>
              </a:tr>
              <a:tr h="420624">
                <a:tc>
                  <a:txBody>
                    <a:bodyPr/>
                    <a:lstStyle/>
                    <a:p>
                      <a:pPr algn="l"/>
                      <a:r>
                        <a:rPr sz="1250" b="1">
                          <a:solidFill>
                            <a:srgbClr val="22223B"/>
                          </a:solidFill>
                          <a:latin typeface="Arial"/>
                        </a:rPr>
                        <a:t>Story map</a:t>
                      </a:r>
                    </a:p>
                  </a:txBody>
                  <a:tcPr marL="82296" marR="82296" marT="36576" marB="36576" anchor="ctr">
                    <a:solidFill>
                      <a:srgbClr val="F3F4FA"/>
                    </a:solidFill>
                  </a:tcPr>
                </a:tc>
                <a:tc>
                  <a:txBody>
                    <a:bodyPr/>
                    <a:lstStyle/>
                    <a:p>
                      <a:pPr algn="l"/>
                      <a:r>
                        <a:rPr sz="1250" b="0">
                          <a:solidFill>
                            <a:srgbClr val="22223B"/>
                          </a:solidFill>
                          <a:latin typeface="Arial"/>
                        </a:rPr>
                        <a:t>You are planning a release</a:t>
                      </a:r>
                    </a:p>
                  </a:txBody>
                  <a:tcPr marL="82296" marR="82296" marT="36576" marB="36576" anchor="ctr">
                    <a:solidFill>
                      <a:srgbClr val="F3F4FA"/>
                    </a:solidFill>
                  </a:tcPr>
                </a:tc>
                <a:tc>
                  <a:txBody>
                    <a:bodyPr/>
                    <a:lstStyle/>
                    <a:p>
                      <a:pPr algn="l"/>
                      <a:r>
                        <a:rPr sz="1250" b="0">
                          <a:solidFill>
                            <a:srgbClr val="22223B"/>
                          </a:solidFill>
                          <a:latin typeface="Arial"/>
                        </a:rPr>
                        <a:t>Never — it always comes first</a:t>
                      </a:r>
                    </a:p>
                  </a:txBody>
                  <a:tcPr marL="82296" marR="82296" marT="36576" marB="36576" anchor="ctr">
                    <a:solidFill>
                      <a:srgbClr val="F3F4FA"/>
                    </a:solidFill>
                  </a:tcPr>
                </a:tc>
                <a:tc>
                  <a:txBody>
                    <a:bodyPr/>
                    <a:lstStyle/>
                    <a:p>
                      <a:pPr algn="l"/>
                      <a:r>
                        <a:rPr sz="1250" b="0">
                          <a:solidFill>
                            <a:srgbClr val="22223B"/>
                          </a:solidFill>
                          <a:latin typeface="Arial"/>
                        </a:rPr>
                        <a:t>Shape and a first release</a:t>
                      </a:r>
                    </a:p>
                  </a:txBody>
                  <a:tcPr marL="82296" marR="82296" marT="36576" marB="36576" anchor="ctr">
                    <a:solidFill>
                      <a:srgbClr val="F3F4FA"/>
                    </a:solidFill>
                  </a:tcPr>
                </a:tc>
                <a:extLst>
                  <a:ext uri="{0D108BD9-81ED-4DB2-BD59-A6C34878D82A}">
                    <a16:rowId xmlns:a16="http://schemas.microsoft.com/office/drawing/2014/main" val="10001"/>
                  </a:ext>
                </a:extLst>
              </a:tr>
              <a:tr h="420624">
                <a:tc>
                  <a:txBody>
                    <a:bodyPr/>
                    <a:lstStyle/>
                    <a:p>
                      <a:pPr algn="l"/>
                      <a:r>
                        <a:rPr sz="1250" b="1">
                          <a:solidFill>
                            <a:srgbClr val="22223B"/>
                          </a:solidFill>
                          <a:latin typeface="Arial"/>
                        </a:rPr>
                        <a:t>Opportunity score</a:t>
                      </a:r>
                    </a:p>
                  </a:txBody>
                  <a:tcPr marL="82296" marR="82296" marT="36576" marB="36576" anchor="ctr">
                    <a:solidFill>
                      <a:srgbClr val="FFFFFF"/>
                    </a:solidFill>
                  </a:tcPr>
                </a:tc>
                <a:tc>
                  <a:txBody>
                    <a:bodyPr/>
                    <a:lstStyle/>
                    <a:p>
                      <a:pPr algn="l"/>
                      <a:r>
                        <a:rPr sz="1250" b="0">
                          <a:solidFill>
                            <a:srgbClr val="22223B"/>
                          </a:solidFill>
                          <a:latin typeface="Arial"/>
                        </a:rPr>
                        <a:t>You can survey 60+ real users</a:t>
                      </a:r>
                    </a:p>
                  </a:txBody>
                  <a:tcPr marL="82296" marR="82296" marT="36576" marB="36576" anchor="ctr">
                    <a:solidFill>
                      <a:srgbClr val="FFFFFF"/>
                    </a:solidFill>
                  </a:tcPr>
                </a:tc>
                <a:tc>
                  <a:txBody>
                    <a:bodyPr/>
                    <a:lstStyle/>
                    <a:p>
                      <a:pPr algn="l"/>
                      <a:r>
                        <a:rPr sz="1250" b="0">
                          <a:solidFill>
                            <a:srgbClr val="22223B"/>
                          </a:solidFill>
                          <a:latin typeface="Arial"/>
                        </a:rPr>
                        <a:t>You have no users to ask yet</a:t>
                      </a:r>
                    </a:p>
                  </a:txBody>
                  <a:tcPr marL="82296" marR="82296" marT="36576" marB="36576" anchor="ctr">
                    <a:solidFill>
                      <a:srgbClr val="FFFFFF"/>
                    </a:solidFill>
                  </a:tcPr>
                </a:tc>
                <a:tc>
                  <a:txBody>
                    <a:bodyPr/>
                    <a:lstStyle/>
                    <a:p>
                      <a:pPr algn="l"/>
                      <a:r>
                        <a:rPr sz="1250" b="0">
                          <a:solidFill>
                            <a:srgbClr val="22223B"/>
                          </a:solidFill>
                          <a:latin typeface="Arial"/>
                        </a:rPr>
                        <a:t>Which problems to solve</a:t>
                      </a:r>
                    </a:p>
                  </a:txBody>
                  <a:tcPr marL="82296" marR="82296" marT="36576" marB="36576" anchor="ctr">
                    <a:solidFill>
                      <a:srgbClr val="FFFFFF"/>
                    </a:solidFill>
                  </a:tcPr>
                </a:tc>
                <a:extLst>
                  <a:ext uri="{0D108BD9-81ED-4DB2-BD59-A6C34878D82A}">
                    <a16:rowId xmlns:a16="http://schemas.microsoft.com/office/drawing/2014/main" val="10002"/>
                  </a:ext>
                </a:extLst>
              </a:tr>
              <a:tr h="420624">
                <a:tc>
                  <a:txBody>
                    <a:bodyPr/>
                    <a:lstStyle/>
                    <a:p>
                      <a:pPr algn="l"/>
                      <a:r>
                        <a:rPr sz="1250" b="1">
                          <a:solidFill>
                            <a:srgbClr val="22223B"/>
                          </a:solidFill>
                          <a:latin typeface="Arial"/>
                        </a:rPr>
                        <a:t>Cost of Delay</a:t>
                      </a:r>
                    </a:p>
                  </a:txBody>
                  <a:tcPr marL="82296" marR="82296" marT="36576" marB="36576" anchor="ctr">
                    <a:solidFill>
                      <a:srgbClr val="F3F4FA"/>
                    </a:solidFill>
                  </a:tcPr>
                </a:tc>
                <a:tc>
                  <a:txBody>
                    <a:bodyPr/>
                    <a:lstStyle/>
                    <a:p>
                      <a:pPr algn="l"/>
                      <a:r>
                        <a:rPr sz="1250" b="0">
                          <a:solidFill>
                            <a:srgbClr val="22223B"/>
                          </a:solidFill>
                          <a:latin typeface="Arial"/>
                        </a:rPr>
                        <a:t>You can estimate money and time</a:t>
                      </a:r>
                    </a:p>
                  </a:txBody>
                  <a:tcPr marL="82296" marR="82296" marT="36576" marB="36576" anchor="ctr">
                    <a:solidFill>
                      <a:srgbClr val="F3F4FA"/>
                    </a:solidFill>
                  </a:tcPr>
                </a:tc>
                <a:tc>
                  <a:txBody>
                    <a:bodyPr/>
                    <a:lstStyle/>
                    <a:p>
                      <a:pPr algn="l"/>
                      <a:r>
                        <a:rPr sz="1250" b="0">
                          <a:solidFill>
                            <a:srgbClr val="22223B"/>
                          </a:solidFill>
                          <a:latin typeface="Arial"/>
                        </a:rPr>
                        <a:t>Nobody will name a figure</a:t>
                      </a:r>
                    </a:p>
                  </a:txBody>
                  <a:tcPr marL="82296" marR="82296" marT="36576" marB="36576" anchor="ctr">
                    <a:solidFill>
                      <a:srgbClr val="F3F4FA"/>
                    </a:solidFill>
                  </a:tcPr>
                </a:tc>
                <a:tc>
                  <a:txBody>
                    <a:bodyPr/>
                    <a:lstStyle/>
                    <a:p>
                      <a:pPr algn="l"/>
                      <a:r>
                        <a:rPr sz="1250" b="0">
                          <a:solidFill>
                            <a:srgbClr val="22223B"/>
                          </a:solidFill>
                          <a:latin typeface="Arial"/>
                        </a:rPr>
                        <a:t>The cheapest order</a:t>
                      </a:r>
                    </a:p>
                  </a:txBody>
                  <a:tcPr marL="82296" marR="82296" marT="36576" marB="36576" anchor="ctr">
                    <a:solidFill>
                      <a:srgbClr val="F3F4FA"/>
                    </a:solidFill>
                  </a:tcPr>
                </a:tc>
                <a:extLst>
                  <a:ext uri="{0D108BD9-81ED-4DB2-BD59-A6C34878D82A}">
                    <a16:rowId xmlns:a16="http://schemas.microsoft.com/office/drawing/2014/main" val="10003"/>
                  </a:ext>
                </a:extLst>
              </a:tr>
              <a:tr h="420624">
                <a:tc>
                  <a:txBody>
                    <a:bodyPr/>
                    <a:lstStyle/>
                    <a:p>
                      <a:pPr algn="l"/>
                      <a:r>
                        <a:rPr sz="1250" b="1">
                          <a:solidFill>
                            <a:srgbClr val="22223B"/>
                          </a:solidFill>
                          <a:latin typeface="Arial"/>
                        </a:rPr>
                        <a:t>WSJF</a:t>
                      </a:r>
                    </a:p>
                  </a:txBody>
                  <a:tcPr marL="82296" marR="82296" marT="36576" marB="36576" anchor="ctr">
                    <a:solidFill>
                      <a:srgbClr val="FFFFFF"/>
                    </a:solidFill>
                  </a:tcPr>
                </a:tc>
                <a:tc>
                  <a:txBody>
                    <a:bodyPr/>
                    <a:lstStyle/>
                    <a:p>
                      <a:pPr algn="l"/>
                      <a:r>
                        <a:rPr sz="1250" b="0">
                          <a:solidFill>
                            <a:srgbClr val="22223B"/>
                          </a:solidFill>
                          <a:latin typeface="Arial"/>
                        </a:rPr>
                        <a:t>You have a room and an hour</a:t>
                      </a:r>
                    </a:p>
                  </a:txBody>
                  <a:tcPr marL="82296" marR="82296" marT="36576" marB="36576" anchor="ctr">
                    <a:solidFill>
                      <a:srgbClr val="FFFFFF"/>
                    </a:solidFill>
                  </a:tcPr>
                </a:tc>
                <a:tc>
                  <a:txBody>
                    <a:bodyPr/>
                    <a:lstStyle/>
                    <a:p>
                      <a:pPr algn="l"/>
                      <a:r>
                        <a:rPr sz="1250" b="0">
                          <a:solidFill>
                            <a:srgbClr val="22223B"/>
                          </a:solidFill>
                          <a:latin typeface="Arial"/>
                        </a:rPr>
                        <a:t>Items differ wildly in size</a:t>
                      </a:r>
                    </a:p>
                  </a:txBody>
                  <a:tcPr marL="82296" marR="82296" marT="36576" marB="36576" anchor="ctr">
                    <a:solidFill>
                      <a:srgbClr val="FFFFFF"/>
                    </a:solidFill>
                  </a:tcPr>
                </a:tc>
                <a:tc>
                  <a:txBody>
                    <a:bodyPr/>
                    <a:lstStyle/>
                    <a:p>
                      <a:pPr algn="l"/>
                      <a:r>
                        <a:rPr sz="1250" b="0">
                          <a:solidFill>
                            <a:srgbClr val="22223B"/>
                          </a:solidFill>
                          <a:latin typeface="Arial"/>
                        </a:rPr>
                        <a:t>A quick relative order</a:t>
                      </a:r>
                    </a:p>
                  </a:txBody>
                  <a:tcPr marL="82296" marR="82296" marT="36576" marB="36576" anchor="ctr">
                    <a:solidFill>
                      <a:srgbClr val="FFFFFF"/>
                    </a:solidFill>
                  </a:tcPr>
                </a:tc>
                <a:extLst>
                  <a:ext uri="{0D108BD9-81ED-4DB2-BD59-A6C34878D82A}">
                    <a16:rowId xmlns:a16="http://schemas.microsoft.com/office/drawing/2014/main" val="10004"/>
                  </a:ext>
                </a:extLst>
              </a:tr>
              <a:tr h="420624">
                <a:tc>
                  <a:txBody>
                    <a:bodyPr/>
                    <a:lstStyle/>
                    <a:p>
                      <a:pPr algn="l"/>
                      <a:r>
                        <a:rPr sz="1250" b="1">
                          <a:solidFill>
                            <a:srgbClr val="22223B"/>
                          </a:solidFill>
                          <a:latin typeface="Arial"/>
                        </a:rPr>
                        <a:t>MoSCoW</a:t>
                      </a:r>
                    </a:p>
                  </a:txBody>
                  <a:tcPr marL="82296" marR="82296" marT="36576" marB="36576" anchor="ctr">
                    <a:solidFill>
                      <a:srgbClr val="F3F4FA"/>
                    </a:solidFill>
                  </a:tcPr>
                </a:tc>
                <a:tc>
                  <a:txBody>
                    <a:bodyPr/>
                    <a:lstStyle/>
                    <a:p>
                      <a:pPr algn="l"/>
                      <a:r>
                        <a:rPr sz="1250" b="0">
                          <a:solidFill>
                            <a:srgbClr val="22223B"/>
                          </a:solidFill>
                          <a:latin typeface="Arial"/>
                        </a:rPr>
                        <a:t>You have a fixed deadline</a:t>
                      </a:r>
                    </a:p>
                  </a:txBody>
                  <a:tcPr marL="82296" marR="82296" marT="36576" marB="36576" anchor="ctr">
                    <a:solidFill>
                      <a:srgbClr val="F3F4FA"/>
                    </a:solidFill>
                  </a:tcPr>
                </a:tc>
                <a:tc>
                  <a:txBody>
                    <a:bodyPr/>
                    <a:lstStyle/>
                    <a:p>
                      <a:pPr algn="l"/>
                      <a:r>
                        <a:rPr sz="1250" b="0">
                          <a:solidFill>
                            <a:srgbClr val="22223B"/>
                          </a:solidFill>
                          <a:latin typeface="Arial"/>
                        </a:rPr>
                        <a:t>There is no deadline to fit</a:t>
                      </a:r>
                    </a:p>
                  </a:txBody>
                  <a:tcPr marL="82296" marR="82296" marT="36576" marB="36576" anchor="ctr">
                    <a:solidFill>
                      <a:srgbClr val="F3F4FA"/>
                    </a:solidFill>
                  </a:tcPr>
                </a:tc>
                <a:tc>
                  <a:txBody>
                    <a:bodyPr/>
                    <a:lstStyle/>
                    <a:p>
                      <a:pPr algn="l"/>
                      <a:r>
                        <a:rPr sz="1250" b="0">
                          <a:solidFill>
                            <a:srgbClr val="22223B"/>
                          </a:solidFill>
                          <a:latin typeface="Arial"/>
                        </a:rPr>
                        <a:t>An agreed, bounded scope</a:t>
                      </a:r>
                    </a:p>
                  </a:txBody>
                  <a:tcPr marL="82296" marR="82296" marT="36576" marB="36576" anchor="ctr">
                    <a:solidFill>
                      <a:srgbClr val="F3F4FA"/>
                    </a:solidFill>
                  </a:tcPr>
                </a:tc>
                <a:extLst>
                  <a:ext uri="{0D108BD9-81ED-4DB2-BD59-A6C34878D82A}">
                    <a16:rowId xmlns:a16="http://schemas.microsoft.com/office/drawing/2014/main" val="10005"/>
                  </a:ext>
                </a:extLst>
              </a:tr>
              <a:tr h="420624">
                <a:tc>
                  <a:txBody>
                    <a:bodyPr/>
                    <a:lstStyle/>
                    <a:p>
                      <a:pPr algn="l"/>
                      <a:r>
                        <a:rPr sz="1250" b="1">
                          <a:solidFill>
                            <a:srgbClr val="22223B"/>
                          </a:solidFill>
                          <a:latin typeface="Arial"/>
                        </a:rPr>
                        <a:t>Product Tree</a:t>
                      </a:r>
                    </a:p>
                  </a:txBody>
                  <a:tcPr marL="82296" marR="82296" marT="36576" marB="36576" anchor="ctr">
                    <a:solidFill>
                      <a:srgbClr val="FFFFFF"/>
                    </a:solidFill>
                  </a:tcPr>
                </a:tc>
                <a:tc>
                  <a:txBody>
                    <a:bodyPr/>
                    <a:lstStyle/>
                    <a:p>
                      <a:pPr algn="l"/>
                      <a:r>
                        <a:rPr sz="1250" b="0">
                          <a:solidFill>
                            <a:srgbClr val="22223B"/>
                          </a:solidFill>
                          <a:latin typeface="Arial"/>
                        </a:rPr>
                        <a:t>Customers cannot rank, but can point</a:t>
                      </a:r>
                    </a:p>
                  </a:txBody>
                  <a:tcPr marL="82296" marR="82296" marT="36576" marB="36576" anchor="ctr">
                    <a:solidFill>
                      <a:srgbClr val="FFFFFF"/>
                    </a:solidFill>
                  </a:tcPr>
                </a:tc>
                <a:tc>
                  <a:txBody>
                    <a:bodyPr/>
                    <a:lstStyle/>
                    <a:p>
                      <a:pPr algn="l"/>
                      <a:r>
                        <a:rPr sz="1250" b="0">
                          <a:solidFill>
                            <a:srgbClr val="22223B"/>
                          </a:solidFill>
                          <a:latin typeface="Arial"/>
                        </a:rPr>
                        <a:t>You need cost in the answer</a:t>
                      </a:r>
                    </a:p>
                  </a:txBody>
                  <a:tcPr marL="82296" marR="82296" marT="36576" marB="36576" anchor="ctr">
                    <a:solidFill>
                      <a:srgbClr val="FFFFFF"/>
                    </a:solidFill>
                  </a:tcPr>
                </a:tc>
                <a:tc>
                  <a:txBody>
                    <a:bodyPr/>
                    <a:lstStyle/>
                    <a:p>
                      <a:pPr algn="l"/>
                      <a:r>
                        <a:rPr sz="1250" b="0">
                          <a:solidFill>
                            <a:srgbClr val="22223B"/>
                          </a:solidFill>
                          <a:latin typeface="Arial"/>
                        </a:rPr>
                        <a:t>Direction and emphasis</a:t>
                      </a:r>
                    </a:p>
                  </a:txBody>
                  <a:tcPr marL="82296" marR="82296" marT="36576" marB="36576" anchor="ctr">
                    <a:solidFill>
                      <a:srgbClr val="FFFFFF"/>
                    </a:solidFill>
                  </a:tcPr>
                </a:tc>
                <a:extLst>
                  <a:ext uri="{0D108BD9-81ED-4DB2-BD59-A6C34878D82A}">
                    <a16:rowId xmlns:a16="http://schemas.microsoft.com/office/drawing/2014/main" val="10006"/>
                  </a:ext>
                </a:extLst>
              </a:tr>
              <a:tr h="420624">
                <a:tc>
                  <a:txBody>
                    <a:bodyPr/>
                    <a:lstStyle/>
                    <a:p>
                      <a:pPr algn="l"/>
                      <a:r>
                        <a:rPr sz="1250" b="1">
                          <a:solidFill>
                            <a:srgbClr val="22223B"/>
                          </a:solidFill>
                          <a:latin typeface="Arial"/>
                        </a:rPr>
                        <a:t>Buy a Feature</a:t>
                      </a:r>
                    </a:p>
                  </a:txBody>
                  <a:tcPr marL="82296" marR="82296" marT="36576" marB="36576" anchor="ctr">
                    <a:solidFill>
                      <a:srgbClr val="F3F4FA"/>
                    </a:solidFill>
                  </a:tcPr>
                </a:tc>
                <a:tc>
                  <a:txBody>
                    <a:bodyPr/>
                    <a:lstStyle/>
                    <a:p>
                      <a:pPr algn="l"/>
                      <a:r>
                        <a:rPr sz="1250" b="0">
                          <a:solidFill>
                            <a:srgbClr val="22223B"/>
                          </a:solidFill>
                          <a:latin typeface="Arial"/>
                        </a:rPr>
                        <a:t>Everyone says everything matters</a:t>
                      </a:r>
                    </a:p>
                  </a:txBody>
                  <a:tcPr marL="82296" marR="82296" marT="36576" marB="36576" anchor="ctr">
                    <a:solidFill>
                      <a:srgbClr val="F3F4FA"/>
                    </a:solidFill>
                  </a:tcPr>
                </a:tc>
                <a:tc>
                  <a:txBody>
                    <a:bodyPr/>
                    <a:lstStyle/>
                    <a:p>
                      <a:pPr algn="l"/>
                      <a:r>
                        <a:rPr sz="1250" b="0">
                          <a:solidFill>
                            <a:srgbClr val="22223B"/>
                          </a:solidFill>
                          <a:latin typeface="Arial"/>
                        </a:rPr>
                        <a:t>Fewer than four people</a:t>
                      </a:r>
                    </a:p>
                  </a:txBody>
                  <a:tcPr marL="82296" marR="82296" marT="36576" marB="36576" anchor="ctr">
                    <a:solidFill>
                      <a:srgbClr val="F3F4FA"/>
                    </a:solidFill>
                  </a:tcPr>
                </a:tc>
                <a:tc>
                  <a:txBody>
                    <a:bodyPr/>
                    <a:lstStyle/>
                    <a:p>
                      <a:pPr algn="l"/>
                      <a:r>
                        <a:rPr sz="1250" b="0">
                          <a:solidFill>
                            <a:srgbClr val="22223B"/>
                          </a:solidFill>
                          <a:latin typeface="Arial"/>
                        </a:rPr>
                        <a:t>What they will pay for</a:t>
                      </a:r>
                    </a:p>
                  </a:txBody>
                  <a:tcPr marL="82296" marR="82296" marT="36576" marB="36576" anchor="ctr">
                    <a:solidFill>
                      <a:srgbClr val="F3F4FA"/>
                    </a:solidFill>
                  </a:tcPr>
                </a:tc>
                <a:extLst>
                  <a:ext uri="{0D108BD9-81ED-4DB2-BD59-A6C34878D82A}">
                    <a16:rowId xmlns:a16="http://schemas.microsoft.com/office/drawing/2014/main" val="10007"/>
                  </a:ext>
                </a:extLst>
              </a:tr>
            </a:tbl>
          </a:graphicData>
        </a:graphic>
      </p:graphicFrame>
      <p:sp>
        <p:nvSpPr>
          <p:cNvPr id="5" name="Rounded Rectangle 4"/>
          <p:cNvSpPr/>
          <p:nvPr/>
        </p:nvSpPr>
        <p:spPr>
          <a:xfrm>
            <a:off x="640080" y="5321808"/>
            <a:ext cx="10908792" cy="713232"/>
          </a:xfrm>
          <a:prstGeom prst="roundRect">
            <a:avLst>
              <a:gd name="adj" fmla="val 5500"/>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5358384"/>
            <a:ext cx="10451592" cy="640080"/>
          </a:xfrm>
          <a:prstGeom prst="rect">
            <a:avLst/>
          </a:prstGeom>
          <a:noFill/>
        </p:spPr>
        <p:txBody>
          <a:bodyPr wrap="square" lIns="0" tIns="0" rIns="0" bIns="0" anchor="ctr">
            <a:spAutoFit/>
          </a:bodyPr>
          <a:lstStyle/>
          <a:p>
            <a:pPr algn="l"/>
            <a:r>
              <a:rPr sz="1350" b="1" i="0">
                <a:solidFill>
                  <a:srgbClr val="FFFFFF"/>
                </a:solidFill>
                <a:latin typeface="Arial"/>
              </a:rPr>
              <a:t>No single tool gives you the answer. Each one is strong exactly where another is blind — so the skill is combining them, not choosing between them.</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74320"/>
            <a:ext cx="10908792" cy="237744"/>
          </a:xfrm>
          <a:prstGeom prst="rect">
            <a:avLst/>
          </a:prstGeom>
          <a:noFill/>
        </p:spPr>
        <p:txBody>
          <a:bodyPr wrap="square" lIns="0" tIns="0" rIns="0" bIns="0" anchor="t">
            <a:spAutoFit/>
          </a:bodyPr>
          <a:lstStyle/>
          <a:p>
            <a:pPr algn="l"/>
            <a:r>
              <a:rPr sz="1000" b="1" i="0" spc="140">
                <a:solidFill>
                  <a:srgbClr val="A9740A"/>
                </a:solidFill>
                <a:latin typeface="Arial"/>
              </a:rPr>
              <a:t>PUTTING IT TOGETHER</a:t>
            </a:r>
          </a:p>
        </p:txBody>
      </p:sp>
      <p:sp>
        <p:nvSpPr>
          <p:cNvPr id="3" name="TextBox 2"/>
          <p:cNvSpPr txBox="1"/>
          <p:nvPr/>
        </p:nvSpPr>
        <p:spPr>
          <a:xfrm>
            <a:off x="640080" y="548640"/>
            <a:ext cx="8229600" cy="640080"/>
          </a:xfrm>
          <a:prstGeom prst="rect">
            <a:avLst/>
          </a:prstGeom>
          <a:noFill/>
        </p:spPr>
        <p:txBody>
          <a:bodyPr wrap="square" lIns="0" tIns="0" rIns="0" bIns="0" anchor="t">
            <a:spAutoFit/>
          </a:bodyPr>
          <a:lstStyle/>
          <a:p>
            <a:pPr algn="l"/>
            <a:r>
              <a:rPr sz="2400" b="1" i="0">
                <a:solidFill>
                  <a:srgbClr val="211D71"/>
                </a:solidFill>
                <a:latin typeface="Arial"/>
              </a:rPr>
              <a:t>A recipe you can use on Monday</a:t>
            </a:r>
          </a:p>
        </p:txBody>
      </p:sp>
      <p:sp>
        <p:nvSpPr>
          <p:cNvPr id="4" name="Rounded Rectangle 3"/>
          <p:cNvSpPr/>
          <p:nvPr/>
        </p:nvSpPr>
        <p:spPr>
          <a:xfrm>
            <a:off x="640080" y="1755648"/>
            <a:ext cx="2521458" cy="2468880"/>
          </a:xfrm>
          <a:prstGeom prst="roundRect">
            <a:avLst>
              <a:gd name="adj" fmla="val 5500"/>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59536" y="1938528"/>
            <a:ext cx="457200" cy="457200"/>
          </a:xfrm>
          <a:prstGeom prst="rect">
            <a:avLst/>
          </a:prstGeom>
          <a:noFill/>
        </p:spPr>
        <p:txBody>
          <a:bodyPr wrap="square" lIns="0" tIns="0" rIns="0" bIns="0" anchor="t">
            <a:spAutoFit/>
          </a:bodyPr>
          <a:lstStyle/>
          <a:p>
            <a:pPr algn="l"/>
            <a:r>
              <a:rPr sz="1900" b="1" i="0">
                <a:solidFill>
                  <a:srgbClr val="FCB017"/>
                </a:solidFill>
                <a:latin typeface="Arial"/>
              </a:rPr>
              <a:t>1</a:t>
            </a:r>
          </a:p>
        </p:txBody>
      </p:sp>
      <p:sp>
        <p:nvSpPr>
          <p:cNvPr id="6" name="TextBox 5"/>
          <p:cNvSpPr txBox="1"/>
          <p:nvPr/>
        </p:nvSpPr>
        <p:spPr>
          <a:xfrm>
            <a:off x="859536" y="2441448"/>
            <a:ext cx="2082545" cy="658368"/>
          </a:xfrm>
          <a:prstGeom prst="rect">
            <a:avLst/>
          </a:prstGeom>
          <a:noFill/>
        </p:spPr>
        <p:txBody>
          <a:bodyPr wrap="square" lIns="0" tIns="0" rIns="0" bIns="0" anchor="t">
            <a:spAutoFit/>
          </a:bodyPr>
          <a:lstStyle/>
          <a:p>
            <a:pPr algn="l">
              <a:lnSpc>
                <a:spcPts val="2100"/>
              </a:lnSpc>
            </a:pPr>
            <a:r>
              <a:rPr sz="1600" b="1" i="0">
                <a:solidFill>
                  <a:srgbClr val="FFFFFF"/>
                </a:solidFill>
                <a:latin typeface="Arial"/>
              </a:rPr>
              <a:t>Filter</a:t>
            </a:r>
          </a:p>
        </p:txBody>
      </p:sp>
      <p:sp>
        <p:nvSpPr>
          <p:cNvPr id="7" name="TextBox 6"/>
          <p:cNvSpPr txBox="1"/>
          <p:nvPr/>
        </p:nvSpPr>
        <p:spPr>
          <a:xfrm>
            <a:off x="859536" y="3127248"/>
            <a:ext cx="2082545" cy="950976"/>
          </a:xfrm>
          <a:prstGeom prst="rect">
            <a:avLst/>
          </a:prstGeom>
          <a:noFill/>
        </p:spPr>
        <p:txBody>
          <a:bodyPr wrap="square" lIns="0" tIns="0" rIns="0" bIns="0" anchor="t">
            <a:spAutoFit/>
          </a:bodyPr>
          <a:lstStyle/>
          <a:p>
            <a:pPr algn="l">
              <a:lnSpc>
                <a:spcPts val="1600"/>
              </a:lnSpc>
            </a:pPr>
            <a:r>
              <a:rPr sz="1200" b="0" i="0">
                <a:solidFill>
                  <a:srgbClr val="D8DBF0"/>
                </a:solidFill>
                <a:latin typeface="Arial"/>
              </a:rPr>
              <a:t>Does it help a problem on our roadmap? If not, say no — politely, with a reason. This throws out more than any score.</a:t>
            </a:r>
          </a:p>
        </p:txBody>
      </p:sp>
      <p:sp>
        <p:nvSpPr>
          <p:cNvPr id="8" name="TextBox 7"/>
          <p:cNvSpPr txBox="1"/>
          <p:nvPr/>
        </p:nvSpPr>
        <p:spPr>
          <a:xfrm>
            <a:off x="3179825" y="2843784"/>
            <a:ext cx="237744" cy="292608"/>
          </a:xfrm>
          <a:prstGeom prst="rect">
            <a:avLst/>
          </a:prstGeom>
          <a:noFill/>
        </p:spPr>
        <p:txBody>
          <a:bodyPr wrap="square" lIns="0" tIns="0" rIns="0" bIns="0" anchor="t">
            <a:spAutoFit/>
          </a:bodyPr>
          <a:lstStyle/>
          <a:p>
            <a:pPr algn="ctr"/>
            <a:r>
              <a:rPr sz="1200" b="0" i="0">
                <a:solidFill>
                  <a:srgbClr val="5F6178"/>
                </a:solidFill>
                <a:latin typeface="Arial"/>
              </a:rPr>
              <a:t>▶</a:t>
            </a:r>
          </a:p>
        </p:txBody>
      </p:sp>
      <p:sp>
        <p:nvSpPr>
          <p:cNvPr id="9" name="Rounded Rectangle 8"/>
          <p:cNvSpPr/>
          <p:nvPr/>
        </p:nvSpPr>
        <p:spPr>
          <a:xfrm>
            <a:off x="3435857" y="1755648"/>
            <a:ext cx="2521458" cy="2468880"/>
          </a:xfrm>
          <a:prstGeom prst="roundRect">
            <a:avLst>
              <a:gd name="adj" fmla="val 5500"/>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5313" y="1938528"/>
            <a:ext cx="457200" cy="457200"/>
          </a:xfrm>
          <a:prstGeom prst="rect">
            <a:avLst/>
          </a:prstGeom>
          <a:noFill/>
        </p:spPr>
        <p:txBody>
          <a:bodyPr wrap="square" lIns="0" tIns="0" rIns="0" bIns="0" anchor="t">
            <a:spAutoFit/>
          </a:bodyPr>
          <a:lstStyle/>
          <a:p>
            <a:pPr algn="l"/>
            <a:r>
              <a:rPr sz="1900" b="1" i="0">
                <a:solidFill>
                  <a:srgbClr val="FCB017"/>
                </a:solidFill>
                <a:latin typeface="Arial"/>
              </a:rPr>
              <a:t>2</a:t>
            </a:r>
          </a:p>
        </p:txBody>
      </p:sp>
      <p:sp>
        <p:nvSpPr>
          <p:cNvPr id="11" name="TextBox 10"/>
          <p:cNvSpPr txBox="1"/>
          <p:nvPr/>
        </p:nvSpPr>
        <p:spPr>
          <a:xfrm>
            <a:off x="3655313" y="2441448"/>
            <a:ext cx="2082545" cy="658368"/>
          </a:xfrm>
          <a:prstGeom prst="rect">
            <a:avLst/>
          </a:prstGeom>
          <a:noFill/>
        </p:spPr>
        <p:txBody>
          <a:bodyPr wrap="square" lIns="0" tIns="0" rIns="0" bIns="0" anchor="t">
            <a:spAutoFit/>
          </a:bodyPr>
          <a:lstStyle/>
          <a:p>
            <a:pPr algn="l">
              <a:lnSpc>
                <a:spcPts val="2100"/>
              </a:lnSpc>
            </a:pPr>
            <a:r>
              <a:rPr sz="1600" b="1" i="0">
                <a:solidFill>
                  <a:srgbClr val="FFFFFF"/>
                </a:solidFill>
                <a:latin typeface="Arial"/>
              </a:rPr>
              <a:t>Shape</a:t>
            </a:r>
          </a:p>
        </p:txBody>
      </p:sp>
      <p:sp>
        <p:nvSpPr>
          <p:cNvPr id="12" name="TextBox 11"/>
          <p:cNvSpPr txBox="1"/>
          <p:nvPr/>
        </p:nvSpPr>
        <p:spPr>
          <a:xfrm>
            <a:off x="3655313" y="3127248"/>
            <a:ext cx="2082545" cy="950976"/>
          </a:xfrm>
          <a:prstGeom prst="rect">
            <a:avLst/>
          </a:prstGeom>
          <a:noFill/>
        </p:spPr>
        <p:txBody>
          <a:bodyPr wrap="square" lIns="0" tIns="0" rIns="0" bIns="0" anchor="t">
            <a:spAutoFit/>
          </a:bodyPr>
          <a:lstStyle/>
          <a:p>
            <a:pPr algn="l">
              <a:lnSpc>
                <a:spcPts val="1600"/>
              </a:lnSpc>
            </a:pPr>
            <a:r>
              <a:rPr sz="1200" b="0" i="0">
                <a:solidFill>
                  <a:srgbClr val="D8DBF0"/>
                </a:solidFill>
                <a:latin typeface="Arial"/>
              </a:rPr>
              <a:t>Story-map it. Understand the journey and where the natural cuts are, before attaching any number.</a:t>
            </a:r>
          </a:p>
        </p:txBody>
      </p:sp>
      <p:sp>
        <p:nvSpPr>
          <p:cNvPr id="13" name="TextBox 12"/>
          <p:cNvSpPr txBox="1"/>
          <p:nvPr/>
        </p:nvSpPr>
        <p:spPr>
          <a:xfrm>
            <a:off x="5975603" y="2843784"/>
            <a:ext cx="237744" cy="292608"/>
          </a:xfrm>
          <a:prstGeom prst="rect">
            <a:avLst/>
          </a:prstGeom>
          <a:noFill/>
        </p:spPr>
        <p:txBody>
          <a:bodyPr wrap="square" lIns="0" tIns="0" rIns="0" bIns="0" anchor="t">
            <a:spAutoFit/>
          </a:bodyPr>
          <a:lstStyle/>
          <a:p>
            <a:pPr algn="ctr"/>
            <a:r>
              <a:rPr sz="1200" b="0" i="0">
                <a:solidFill>
                  <a:srgbClr val="5F6178"/>
                </a:solidFill>
                <a:latin typeface="Arial"/>
              </a:rPr>
              <a:t>▶</a:t>
            </a:r>
          </a:p>
        </p:txBody>
      </p:sp>
      <p:sp>
        <p:nvSpPr>
          <p:cNvPr id="14" name="Rounded Rectangle 13"/>
          <p:cNvSpPr/>
          <p:nvPr/>
        </p:nvSpPr>
        <p:spPr>
          <a:xfrm>
            <a:off x="6231636" y="1755648"/>
            <a:ext cx="2521458" cy="2468880"/>
          </a:xfrm>
          <a:prstGeom prst="roundRect">
            <a:avLst>
              <a:gd name="adj" fmla="val 5500"/>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51092" y="1938528"/>
            <a:ext cx="457200" cy="457200"/>
          </a:xfrm>
          <a:prstGeom prst="rect">
            <a:avLst/>
          </a:prstGeom>
          <a:noFill/>
        </p:spPr>
        <p:txBody>
          <a:bodyPr wrap="square" lIns="0" tIns="0" rIns="0" bIns="0" anchor="t">
            <a:spAutoFit/>
          </a:bodyPr>
          <a:lstStyle/>
          <a:p>
            <a:pPr algn="l"/>
            <a:r>
              <a:rPr sz="1900" b="1" i="0">
                <a:solidFill>
                  <a:srgbClr val="FCB017"/>
                </a:solidFill>
                <a:latin typeface="Arial"/>
              </a:rPr>
              <a:t>3</a:t>
            </a:r>
          </a:p>
        </p:txBody>
      </p:sp>
      <p:sp>
        <p:nvSpPr>
          <p:cNvPr id="16" name="TextBox 15"/>
          <p:cNvSpPr txBox="1"/>
          <p:nvPr/>
        </p:nvSpPr>
        <p:spPr>
          <a:xfrm>
            <a:off x="6451092" y="2441448"/>
            <a:ext cx="2082545" cy="658368"/>
          </a:xfrm>
          <a:prstGeom prst="rect">
            <a:avLst/>
          </a:prstGeom>
          <a:noFill/>
        </p:spPr>
        <p:txBody>
          <a:bodyPr wrap="square" lIns="0" tIns="0" rIns="0" bIns="0" anchor="t">
            <a:spAutoFit/>
          </a:bodyPr>
          <a:lstStyle/>
          <a:p>
            <a:pPr algn="l">
              <a:lnSpc>
                <a:spcPts val="2100"/>
              </a:lnSpc>
            </a:pPr>
            <a:r>
              <a:rPr sz="1600" b="1" i="0">
                <a:solidFill>
                  <a:srgbClr val="FFFFFF"/>
                </a:solidFill>
                <a:latin typeface="Arial"/>
              </a:rPr>
              <a:t>Score</a:t>
            </a:r>
          </a:p>
        </p:txBody>
      </p:sp>
      <p:sp>
        <p:nvSpPr>
          <p:cNvPr id="17" name="TextBox 16"/>
          <p:cNvSpPr txBox="1"/>
          <p:nvPr/>
        </p:nvSpPr>
        <p:spPr>
          <a:xfrm>
            <a:off x="6451092" y="3127248"/>
            <a:ext cx="2082545" cy="950976"/>
          </a:xfrm>
          <a:prstGeom prst="rect">
            <a:avLst/>
          </a:prstGeom>
          <a:noFill/>
        </p:spPr>
        <p:txBody>
          <a:bodyPr wrap="square" lIns="0" tIns="0" rIns="0" bIns="0" anchor="t">
            <a:spAutoFit/>
          </a:bodyPr>
          <a:lstStyle/>
          <a:p>
            <a:pPr algn="l">
              <a:lnSpc>
                <a:spcPts val="1600"/>
              </a:lnSpc>
            </a:pPr>
            <a:r>
              <a:rPr sz="1200" b="0" i="0">
                <a:solidFill>
                  <a:srgbClr val="D8DBF0"/>
                </a:solidFill>
                <a:latin typeface="Arial"/>
              </a:rPr>
              <a:t>Opportunity score for which problems. CD3 or WSJF for the order. Score the top twenty only.</a:t>
            </a:r>
          </a:p>
        </p:txBody>
      </p:sp>
      <p:sp>
        <p:nvSpPr>
          <p:cNvPr id="18" name="TextBox 17"/>
          <p:cNvSpPr txBox="1"/>
          <p:nvPr/>
        </p:nvSpPr>
        <p:spPr>
          <a:xfrm>
            <a:off x="8771382" y="2843784"/>
            <a:ext cx="237744" cy="292608"/>
          </a:xfrm>
          <a:prstGeom prst="rect">
            <a:avLst/>
          </a:prstGeom>
          <a:noFill/>
        </p:spPr>
        <p:txBody>
          <a:bodyPr wrap="square" lIns="0" tIns="0" rIns="0" bIns="0" anchor="t">
            <a:spAutoFit/>
          </a:bodyPr>
          <a:lstStyle/>
          <a:p>
            <a:pPr algn="ctr"/>
            <a:r>
              <a:rPr sz="1200" b="0" i="0">
                <a:solidFill>
                  <a:srgbClr val="5F6178"/>
                </a:solidFill>
                <a:latin typeface="Arial"/>
              </a:rPr>
              <a:t>▶</a:t>
            </a:r>
          </a:p>
        </p:txBody>
      </p:sp>
      <p:sp>
        <p:nvSpPr>
          <p:cNvPr id="19" name="Rounded Rectangle 18"/>
          <p:cNvSpPr/>
          <p:nvPr/>
        </p:nvSpPr>
        <p:spPr>
          <a:xfrm>
            <a:off x="9027413" y="1755648"/>
            <a:ext cx="2521458" cy="2468880"/>
          </a:xfrm>
          <a:prstGeom prst="roundRect">
            <a:avLst>
              <a:gd name="adj" fmla="val 5500"/>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246869" y="1938528"/>
            <a:ext cx="457200" cy="457200"/>
          </a:xfrm>
          <a:prstGeom prst="rect">
            <a:avLst/>
          </a:prstGeom>
          <a:noFill/>
        </p:spPr>
        <p:txBody>
          <a:bodyPr wrap="square" lIns="0" tIns="0" rIns="0" bIns="0" anchor="t">
            <a:spAutoFit/>
          </a:bodyPr>
          <a:lstStyle/>
          <a:p>
            <a:pPr algn="l"/>
            <a:r>
              <a:rPr sz="1900" b="1" i="0">
                <a:solidFill>
                  <a:srgbClr val="FCB017"/>
                </a:solidFill>
                <a:latin typeface="Arial"/>
              </a:rPr>
              <a:t>4</a:t>
            </a:r>
          </a:p>
        </p:txBody>
      </p:sp>
      <p:sp>
        <p:nvSpPr>
          <p:cNvPr id="21" name="TextBox 20"/>
          <p:cNvSpPr txBox="1"/>
          <p:nvPr/>
        </p:nvSpPr>
        <p:spPr>
          <a:xfrm>
            <a:off x="9246869" y="2441448"/>
            <a:ext cx="2082545" cy="658368"/>
          </a:xfrm>
          <a:prstGeom prst="rect">
            <a:avLst/>
          </a:prstGeom>
          <a:noFill/>
        </p:spPr>
        <p:txBody>
          <a:bodyPr wrap="square" lIns="0" tIns="0" rIns="0" bIns="0" anchor="t">
            <a:spAutoFit/>
          </a:bodyPr>
          <a:lstStyle/>
          <a:p>
            <a:pPr algn="l">
              <a:lnSpc>
                <a:spcPts val="2100"/>
              </a:lnSpc>
            </a:pPr>
            <a:r>
              <a:rPr sz="1600" b="1" i="0">
                <a:solidFill>
                  <a:srgbClr val="FFFFFF"/>
                </a:solidFill>
                <a:latin typeface="Arial"/>
              </a:rPr>
              <a:t>Agree</a:t>
            </a:r>
          </a:p>
        </p:txBody>
      </p:sp>
      <p:sp>
        <p:nvSpPr>
          <p:cNvPr id="22" name="TextBox 21"/>
          <p:cNvSpPr txBox="1"/>
          <p:nvPr/>
        </p:nvSpPr>
        <p:spPr>
          <a:xfrm>
            <a:off x="9246869" y="3127248"/>
            <a:ext cx="2082545" cy="950976"/>
          </a:xfrm>
          <a:prstGeom prst="rect">
            <a:avLst/>
          </a:prstGeom>
          <a:noFill/>
        </p:spPr>
        <p:txBody>
          <a:bodyPr wrap="square" lIns="0" tIns="0" rIns="0" bIns="0" anchor="t">
            <a:spAutoFit/>
          </a:bodyPr>
          <a:lstStyle/>
          <a:p>
            <a:pPr algn="l">
              <a:lnSpc>
                <a:spcPts val="1600"/>
              </a:lnSpc>
            </a:pPr>
            <a:r>
              <a:rPr sz="1200" b="0" i="0">
                <a:solidFill>
                  <a:srgbClr val="D8DBF0"/>
                </a:solidFill>
                <a:latin typeface="Arial"/>
              </a:rPr>
              <a:t>MoSCoW it against the deadline with the business. Play a game if they are deadlocked. Then write down the Won't-haves.</a:t>
            </a:r>
          </a:p>
        </p:txBody>
      </p:sp>
      <p:sp>
        <p:nvSpPr>
          <p:cNvPr id="23" name="Rounded Rectangle 22"/>
          <p:cNvSpPr/>
          <p:nvPr/>
        </p:nvSpPr>
        <p:spPr>
          <a:xfrm>
            <a:off x="640080" y="4453128"/>
            <a:ext cx="3477768" cy="160020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59536" y="4636008"/>
            <a:ext cx="3038856" cy="310896"/>
          </a:xfrm>
          <a:prstGeom prst="rect">
            <a:avLst/>
          </a:prstGeom>
          <a:noFill/>
        </p:spPr>
        <p:txBody>
          <a:bodyPr wrap="square" lIns="0" tIns="0" rIns="0" bIns="0" anchor="t">
            <a:spAutoFit/>
          </a:bodyPr>
          <a:lstStyle/>
          <a:p>
            <a:pPr algn="l"/>
            <a:r>
              <a:rPr sz="1400" b="1" i="0">
                <a:solidFill>
                  <a:srgbClr val="211D71"/>
                </a:solidFill>
                <a:latin typeface="Arial"/>
              </a:rPr>
              <a:t>Write the recipe down</a:t>
            </a:r>
          </a:p>
        </p:txBody>
      </p:sp>
      <p:sp>
        <p:nvSpPr>
          <p:cNvPr id="25" name="TextBox 24"/>
          <p:cNvSpPr txBox="1"/>
          <p:nvPr/>
        </p:nvSpPr>
        <p:spPr>
          <a:xfrm>
            <a:off x="859536" y="5001768"/>
            <a:ext cx="3038856" cy="905255"/>
          </a:xfrm>
          <a:prstGeom prst="rect">
            <a:avLst/>
          </a:prstGeom>
          <a:noFill/>
        </p:spPr>
        <p:txBody>
          <a:bodyPr wrap="square" lIns="0" tIns="0" rIns="0" bIns="0" anchor="t">
            <a:spAutoFit/>
          </a:bodyPr>
          <a:lstStyle/>
          <a:p>
            <a:pPr algn="l">
              <a:lnSpc>
                <a:spcPts val="1700"/>
              </a:lnSpc>
            </a:pPr>
            <a:r>
              <a:rPr sz="1300" b="0" i="0">
                <a:solidFill>
                  <a:srgbClr val="22223B"/>
                </a:solidFill>
                <a:latin typeface="Arial"/>
              </a:rPr>
              <a:t>A published rule can be argued with on its merits. An unwritten one can only be argued with by rank.</a:t>
            </a:r>
          </a:p>
        </p:txBody>
      </p:sp>
      <p:sp>
        <p:nvSpPr>
          <p:cNvPr id="26" name="Rounded Rectangle 25"/>
          <p:cNvSpPr/>
          <p:nvPr/>
        </p:nvSpPr>
        <p:spPr>
          <a:xfrm>
            <a:off x="4355592" y="4453128"/>
            <a:ext cx="3477768" cy="160020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575048" y="4636008"/>
            <a:ext cx="3038856" cy="310896"/>
          </a:xfrm>
          <a:prstGeom prst="rect">
            <a:avLst/>
          </a:prstGeom>
          <a:noFill/>
        </p:spPr>
        <p:txBody>
          <a:bodyPr wrap="square" lIns="0" tIns="0" rIns="0" bIns="0" anchor="t">
            <a:spAutoFit/>
          </a:bodyPr>
          <a:lstStyle/>
          <a:p>
            <a:pPr algn="l"/>
            <a:r>
              <a:rPr sz="1400" b="1" i="0">
                <a:solidFill>
                  <a:srgbClr val="211D71"/>
                </a:solidFill>
                <a:latin typeface="Arial"/>
              </a:rPr>
              <a:t>Re-run it regularly</a:t>
            </a:r>
          </a:p>
        </p:txBody>
      </p:sp>
      <p:sp>
        <p:nvSpPr>
          <p:cNvPr id="28" name="TextBox 27"/>
          <p:cNvSpPr txBox="1"/>
          <p:nvPr/>
        </p:nvSpPr>
        <p:spPr>
          <a:xfrm>
            <a:off x="4575048" y="5001768"/>
            <a:ext cx="3038856" cy="905255"/>
          </a:xfrm>
          <a:prstGeom prst="rect">
            <a:avLst/>
          </a:prstGeom>
          <a:noFill/>
        </p:spPr>
        <p:txBody>
          <a:bodyPr wrap="square" lIns="0" tIns="0" rIns="0" bIns="0" anchor="t">
            <a:spAutoFit/>
          </a:bodyPr>
          <a:lstStyle/>
          <a:p>
            <a:pPr algn="l">
              <a:lnSpc>
                <a:spcPts val="1700"/>
              </a:lnSpc>
            </a:pPr>
            <a:r>
              <a:rPr sz="1300" b="0" i="0">
                <a:solidFill>
                  <a:srgbClr val="22223B"/>
                </a:solidFill>
                <a:latin typeface="Arial"/>
              </a:rPr>
              <a:t>Monthly for the top of the backlog, quarterly for the roadmap. An order goes stale in weeks.</a:t>
            </a:r>
          </a:p>
        </p:txBody>
      </p:sp>
      <p:sp>
        <p:nvSpPr>
          <p:cNvPr id="29" name="Rounded Rectangle 28"/>
          <p:cNvSpPr/>
          <p:nvPr/>
        </p:nvSpPr>
        <p:spPr>
          <a:xfrm>
            <a:off x="8071104" y="4453128"/>
            <a:ext cx="3477768" cy="160020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290560" y="4636008"/>
            <a:ext cx="3038856" cy="310896"/>
          </a:xfrm>
          <a:prstGeom prst="rect">
            <a:avLst/>
          </a:prstGeom>
          <a:noFill/>
        </p:spPr>
        <p:txBody>
          <a:bodyPr wrap="square" lIns="0" tIns="0" rIns="0" bIns="0" anchor="t">
            <a:spAutoFit/>
          </a:bodyPr>
          <a:lstStyle/>
          <a:p>
            <a:pPr algn="l"/>
            <a:r>
              <a:rPr sz="1400" b="1" i="0">
                <a:solidFill>
                  <a:srgbClr val="211D71"/>
                </a:solidFill>
                <a:latin typeface="Arial"/>
              </a:rPr>
              <a:t>Keep an override log</a:t>
            </a:r>
          </a:p>
        </p:txBody>
      </p:sp>
      <p:sp>
        <p:nvSpPr>
          <p:cNvPr id="31" name="TextBox 30"/>
          <p:cNvSpPr txBox="1"/>
          <p:nvPr/>
        </p:nvSpPr>
        <p:spPr>
          <a:xfrm>
            <a:off x="8290560" y="5001768"/>
            <a:ext cx="3038856" cy="905255"/>
          </a:xfrm>
          <a:prstGeom prst="rect">
            <a:avLst/>
          </a:prstGeom>
          <a:noFill/>
        </p:spPr>
        <p:txBody>
          <a:bodyPr wrap="square" lIns="0" tIns="0" rIns="0" bIns="0" anchor="t">
            <a:spAutoFit/>
          </a:bodyPr>
          <a:lstStyle/>
          <a:p>
            <a:pPr algn="l">
              <a:lnSpc>
                <a:spcPts val="1700"/>
              </a:lnSpc>
            </a:pPr>
            <a:r>
              <a:rPr sz="1300" b="0" i="0">
                <a:solidFill>
                  <a:srgbClr val="22223B"/>
                </a:solidFill>
                <a:latin typeface="Arial"/>
              </a:rPr>
              <a:t>Sometimes judgement should beat the score. Write down when it did and why — that log tells you what your model is missing.</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74320"/>
            <a:ext cx="10908792" cy="237744"/>
          </a:xfrm>
          <a:prstGeom prst="rect">
            <a:avLst/>
          </a:prstGeom>
          <a:noFill/>
        </p:spPr>
        <p:txBody>
          <a:bodyPr wrap="square" lIns="0" tIns="0" rIns="0" bIns="0" anchor="t">
            <a:spAutoFit/>
          </a:bodyPr>
          <a:lstStyle/>
          <a:p>
            <a:pPr algn="l"/>
            <a:r>
              <a:rPr sz="1000" b="1" i="0" spc="140">
                <a:solidFill>
                  <a:srgbClr val="A9740A"/>
                </a:solidFill>
                <a:latin typeface="Arial"/>
              </a:rPr>
              <a:t>PUTTING IT TOGETHER</a:t>
            </a:r>
          </a:p>
        </p:txBody>
      </p:sp>
      <p:sp>
        <p:nvSpPr>
          <p:cNvPr id="3" name="TextBox 2"/>
          <p:cNvSpPr txBox="1"/>
          <p:nvPr/>
        </p:nvSpPr>
        <p:spPr>
          <a:xfrm>
            <a:off x="640080" y="548640"/>
            <a:ext cx="8229600" cy="640080"/>
          </a:xfrm>
          <a:prstGeom prst="rect">
            <a:avLst/>
          </a:prstGeom>
          <a:noFill/>
        </p:spPr>
        <p:txBody>
          <a:bodyPr wrap="square" lIns="0" tIns="0" rIns="0" bIns="0" anchor="t">
            <a:spAutoFit/>
          </a:bodyPr>
          <a:lstStyle/>
          <a:p>
            <a:pPr algn="l"/>
            <a:r>
              <a:rPr sz="2400" b="1" i="0">
                <a:solidFill>
                  <a:srgbClr val="211D71"/>
                </a:solidFill>
                <a:latin typeface="Arial"/>
              </a:rPr>
              <a:t>Four traps to watch for</a:t>
            </a:r>
          </a:p>
        </p:txBody>
      </p:sp>
      <p:sp>
        <p:nvSpPr>
          <p:cNvPr id="4" name="Rounded Rectangle 3"/>
          <p:cNvSpPr/>
          <p:nvPr/>
        </p:nvSpPr>
        <p:spPr>
          <a:xfrm>
            <a:off x="640080" y="1709928"/>
            <a:ext cx="2548890" cy="274320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59536" y="1892807"/>
            <a:ext cx="384048" cy="384048"/>
          </a:xfrm>
          <a:prstGeom prst="ellipse">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59536" y="1892807"/>
            <a:ext cx="384048" cy="384048"/>
          </a:xfrm>
          <a:prstGeom prst="rect">
            <a:avLst/>
          </a:prstGeom>
          <a:noFill/>
        </p:spPr>
        <p:txBody>
          <a:bodyPr wrap="square" lIns="0" tIns="0" rIns="0" bIns="0" anchor="ctr">
            <a:spAutoFit/>
          </a:bodyPr>
          <a:lstStyle/>
          <a:p>
            <a:pPr algn="ctr"/>
            <a:r>
              <a:rPr sz="1400" b="1" i="0">
                <a:solidFill>
                  <a:srgbClr val="FFFFFF"/>
                </a:solidFill>
                <a:latin typeface="Arial"/>
              </a:rPr>
              <a:t>1</a:t>
            </a:r>
          </a:p>
        </p:txBody>
      </p:sp>
      <p:sp>
        <p:nvSpPr>
          <p:cNvPr id="7" name="TextBox 6"/>
          <p:cNvSpPr txBox="1"/>
          <p:nvPr/>
        </p:nvSpPr>
        <p:spPr>
          <a:xfrm>
            <a:off x="1335024" y="1892807"/>
            <a:ext cx="1634490" cy="384048"/>
          </a:xfrm>
          <a:prstGeom prst="rect">
            <a:avLst/>
          </a:prstGeom>
          <a:noFill/>
        </p:spPr>
        <p:txBody>
          <a:bodyPr wrap="square" lIns="0" tIns="0" rIns="0" bIns="0" anchor="ctr">
            <a:spAutoFit/>
          </a:bodyPr>
          <a:lstStyle/>
          <a:p>
            <a:pPr algn="l"/>
            <a:r>
              <a:rPr sz="1400" b="1" i="0">
                <a:solidFill>
                  <a:srgbClr val="211D71"/>
                </a:solidFill>
                <a:latin typeface="Arial"/>
              </a:rPr>
              <a:t>The loudest voice wins</a:t>
            </a:r>
          </a:p>
        </p:txBody>
      </p:sp>
      <p:sp>
        <p:nvSpPr>
          <p:cNvPr id="8" name="TextBox 7"/>
          <p:cNvSpPr txBox="1"/>
          <p:nvPr/>
        </p:nvSpPr>
        <p:spPr>
          <a:xfrm>
            <a:off x="859536" y="2368296"/>
            <a:ext cx="2109978" cy="1938528"/>
          </a:xfrm>
          <a:prstGeom prst="rect">
            <a:avLst/>
          </a:prstGeom>
          <a:noFill/>
        </p:spPr>
        <p:txBody>
          <a:bodyPr wrap="square" lIns="0" tIns="0" rIns="0" bIns="0" anchor="t">
            <a:spAutoFit/>
          </a:bodyPr>
          <a:lstStyle/>
          <a:p>
            <a:pPr algn="l">
              <a:lnSpc>
                <a:spcPts val="1700"/>
              </a:lnSpc>
            </a:pPr>
            <a:r>
              <a:rPr sz="1200" b="0" i="0">
                <a:solidFill>
                  <a:srgbClr val="22223B"/>
                </a:solidFill>
                <a:latin typeface="Arial"/>
              </a:rPr>
              <a:t>The senior person quietly overrules the score, so the model lives on the slide and dies in the room.</a:t>
            </a:r>
          </a:p>
          <a:p>
            <a:pPr algn="l">
              <a:lnSpc>
                <a:spcPts val="1700"/>
              </a:lnSpc>
            </a:pPr>
            <a:endParaRPr sz="1200" b="0" i="0">
              <a:solidFill>
                <a:srgbClr val="22223B"/>
              </a:solidFill>
              <a:latin typeface="Arial"/>
            </a:endParaRPr>
          </a:p>
          <a:p>
            <a:pPr algn="l">
              <a:lnSpc>
                <a:spcPts val="1700"/>
              </a:lnSpc>
            </a:pPr>
            <a:r>
              <a:rPr sz="1200" b="0" i="0">
                <a:solidFill>
                  <a:srgbClr val="22223B"/>
                </a:solidFill>
                <a:latin typeface="Arial"/>
              </a:rPr>
              <a:t>Fix: write down every override, in public.</a:t>
            </a:r>
          </a:p>
        </p:txBody>
      </p:sp>
      <p:sp>
        <p:nvSpPr>
          <p:cNvPr id="9" name="Rounded Rectangle 8"/>
          <p:cNvSpPr/>
          <p:nvPr/>
        </p:nvSpPr>
        <p:spPr>
          <a:xfrm>
            <a:off x="3426714" y="1709928"/>
            <a:ext cx="2548890" cy="274320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646170" y="1892807"/>
            <a:ext cx="384048" cy="384048"/>
          </a:xfrm>
          <a:prstGeom prst="ellipse">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46170" y="1892807"/>
            <a:ext cx="384048" cy="384048"/>
          </a:xfrm>
          <a:prstGeom prst="rect">
            <a:avLst/>
          </a:prstGeom>
          <a:noFill/>
        </p:spPr>
        <p:txBody>
          <a:bodyPr wrap="square" lIns="0" tIns="0" rIns="0" bIns="0" anchor="ctr">
            <a:spAutoFit/>
          </a:bodyPr>
          <a:lstStyle/>
          <a:p>
            <a:pPr algn="ctr"/>
            <a:r>
              <a:rPr sz="1400" b="1" i="0">
                <a:solidFill>
                  <a:srgbClr val="FFFFFF"/>
                </a:solidFill>
                <a:latin typeface="Arial"/>
              </a:rPr>
              <a:t>2</a:t>
            </a:r>
          </a:p>
        </p:txBody>
      </p:sp>
      <p:sp>
        <p:nvSpPr>
          <p:cNvPr id="12" name="TextBox 11"/>
          <p:cNvSpPr txBox="1"/>
          <p:nvPr/>
        </p:nvSpPr>
        <p:spPr>
          <a:xfrm>
            <a:off x="4121658" y="1892807"/>
            <a:ext cx="1634490" cy="384048"/>
          </a:xfrm>
          <a:prstGeom prst="rect">
            <a:avLst/>
          </a:prstGeom>
          <a:noFill/>
        </p:spPr>
        <p:txBody>
          <a:bodyPr wrap="square" lIns="0" tIns="0" rIns="0" bIns="0" anchor="ctr">
            <a:spAutoFit/>
          </a:bodyPr>
          <a:lstStyle/>
          <a:p>
            <a:pPr algn="l"/>
            <a:r>
              <a:rPr sz="1400" b="1" i="0">
                <a:solidFill>
                  <a:srgbClr val="211D71"/>
                </a:solidFill>
                <a:latin typeface="Arial"/>
              </a:rPr>
              <a:t>Numbers written backwards</a:t>
            </a:r>
          </a:p>
        </p:txBody>
      </p:sp>
      <p:sp>
        <p:nvSpPr>
          <p:cNvPr id="13" name="TextBox 12"/>
          <p:cNvSpPr txBox="1"/>
          <p:nvPr/>
        </p:nvSpPr>
        <p:spPr>
          <a:xfrm>
            <a:off x="3646170" y="2368296"/>
            <a:ext cx="2109978" cy="1938528"/>
          </a:xfrm>
          <a:prstGeom prst="rect">
            <a:avLst/>
          </a:prstGeom>
          <a:noFill/>
        </p:spPr>
        <p:txBody>
          <a:bodyPr wrap="square" lIns="0" tIns="0" rIns="0" bIns="0" anchor="t">
            <a:spAutoFit/>
          </a:bodyPr>
          <a:lstStyle/>
          <a:p>
            <a:pPr algn="l">
              <a:lnSpc>
                <a:spcPts val="1700"/>
              </a:lnSpc>
            </a:pPr>
            <a:r>
              <a:rPr sz="1200" b="0" i="0">
                <a:solidFill>
                  <a:srgbClr val="22223B"/>
                </a:solidFill>
                <a:latin typeface="Arial"/>
              </a:rPr>
              <a:t>Scores invented afterwards to justify a decision already taken.</a:t>
            </a:r>
          </a:p>
          <a:p>
            <a:pPr algn="l">
              <a:lnSpc>
                <a:spcPts val="1700"/>
              </a:lnSpc>
            </a:pPr>
            <a:endParaRPr sz="1200" b="0" i="0">
              <a:solidFill>
                <a:srgbClr val="22223B"/>
              </a:solidFill>
              <a:latin typeface="Arial"/>
            </a:endParaRPr>
          </a:p>
          <a:p>
            <a:pPr algn="l">
              <a:lnSpc>
                <a:spcPts val="1700"/>
              </a:lnSpc>
            </a:pPr>
            <a:r>
              <a:rPr sz="1200" b="0" i="0">
                <a:solidFill>
                  <a:srgbClr val="22223B"/>
                </a:solidFill>
                <a:latin typeface="Arial"/>
              </a:rPr>
              <a:t>Fix: score before the discussion, and never let a person score their own item alone.</a:t>
            </a:r>
          </a:p>
        </p:txBody>
      </p:sp>
      <p:sp>
        <p:nvSpPr>
          <p:cNvPr id="14" name="Rounded Rectangle 13"/>
          <p:cNvSpPr/>
          <p:nvPr/>
        </p:nvSpPr>
        <p:spPr>
          <a:xfrm>
            <a:off x="6213348" y="1709928"/>
            <a:ext cx="2548890" cy="274320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432804" y="1892807"/>
            <a:ext cx="384048" cy="384048"/>
          </a:xfrm>
          <a:prstGeom prst="ellipse">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32804" y="1892807"/>
            <a:ext cx="384048" cy="384048"/>
          </a:xfrm>
          <a:prstGeom prst="rect">
            <a:avLst/>
          </a:prstGeom>
          <a:noFill/>
        </p:spPr>
        <p:txBody>
          <a:bodyPr wrap="square" lIns="0" tIns="0" rIns="0" bIns="0" anchor="ctr">
            <a:spAutoFit/>
          </a:bodyPr>
          <a:lstStyle/>
          <a:p>
            <a:pPr algn="ctr"/>
            <a:r>
              <a:rPr sz="1400" b="1" i="0">
                <a:solidFill>
                  <a:srgbClr val="FFFFFF"/>
                </a:solidFill>
                <a:latin typeface="Arial"/>
              </a:rPr>
              <a:t>3</a:t>
            </a:r>
          </a:p>
        </p:txBody>
      </p:sp>
      <p:sp>
        <p:nvSpPr>
          <p:cNvPr id="17" name="TextBox 16"/>
          <p:cNvSpPr txBox="1"/>
          <p:nvPr/>
        </p:nvSpPr>
        <p:spPr>
          <a:xfrm>
            <a:off x="6908292" y="1892807"/>
            <a:ext cx="1634490" cy="384048"/>
          </a:xfrm>
          <a:prstGeom prst="rect">
            <a:avLst/>
          </a:prstGeom>
          <a:noFill/>
        </p:spPr>
        <p:txBody>
          <a:bodyPr wrap="square" lIns="0" tIns="0" rIns="0" bIns="0" anchor="ctr">
            <a:spAutoFit/>
          </a:bodyPr>
          <a:lstStyle/>
          <a:p>
            <a:pPr algn="l"/>
            <a:r>
              <a:rPr sz="1400" b="1" i="0">
                <a:solidFill>
                  <a:srgbClr val="211D71"/>
                </a:solidFill>
                <a:latin typeface="Arial"/>
              </a:rPr>
              <a:t>Everything is a Must</a:t>
            </a:r>
          </a:p>
        </p:txBody>
      </p:sp>
      <p:sp>
        <p:nvSpPr>
          <p:cNvPr id="18" name="TextBox 17"/>
          <p:cNvSpPr txBox="1"/>
          <p:nvPr/>
        </p:nvSpPr>
        <p:spPr>
          <a:xfrm>
            <a:off x="6432804" y="2368296"/>
            <a:ext cx="2109978" cy="1938528"/>
          </a:xfrm>
          <a:prstGeom prst="rect">
            <a:avLst/>
          </a:prstGeom>
          <a:noFill/>
        </p:spPr>
        <p:txBody>
          <a:bodyPr wrap="square" lIns="0" tIns="0" rIns="0" bIns="0" anchor="t">
            <a:spAutoFit/>
          </a:bodyPr>
          <a:lstStyle/>
          <a:p>
            <a:pPr algn="l">
              <a:lnSpc>
                <a:spcPts val="1700"/>
              </a:lnSpc>
            </a:pPr>
            <a:r>
              <a:rPr sz="1200" b="0" i="0">
                <a:solidFill>
                  <a:srgbClr val="22223B"/>
                </a:solidFill>
                <a:latin typeface="Arial"/>
              </a:rPr>
              <a:t>So nothing is prioritised and there is no safety margin left at all.</a:t>
            </a:r>
          </a:p>
          <a:p>
            <a:pPr algn="l">
              <a:lnSpc>
                <a:spcPts val="1700"/>
              </a:lnSpc>
            </a:pPr>
            <a:endParaRPr sz="1200" b="0" i="0">
              <a:solidFill>
                <a:srgbClr val="22223B"/>
              </a:solidFill>
              <a:latin typeface="Arial"/>
            </a:endParaRPr>
          </a:p>
          <a:p>
            <a:pPr algn="l">
              <a:lnSpc>
                <a:spcPts val="1700"/>
              </a:lnSpc>
            </a:pPr>
            <a:r>
              <a:rPr sz="1200" b="0" i="0">
                <a:solidFill>
                  <a:srgbClr val="22223B"/>
                </a:solidFill>
                <a:latin typeface="Arial"/>
              </a:rPr>
              <a:t>Fix: show the 60% line on the wall and let the arithmetic argue.</a:t>
            </a:r>
          </a:p>
        </p:txBody>
      </p:sp>
      <p:sp>
        <p:nvSpPr>
          <p:cNvPr id="19" name="Rounded Rectangle 18"/>
          <p:cNvSpPr/>
          <p:nvPr/>
        </p:nvSpPr>
        <p:spPr>
          <a:xfrm>
            <a:off x="8999982" y="1709928"/>
            <a:ext cx="2548890" cy="274320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9219438" y="1892807"/>
            <a:ext cx="384048" cy="384048"/>
          </a:xfrm>
          <a:prstGeom prst="ellipse">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219438" y="1892807"/>
            <a:ext cx="384048" cy="384048"/>
          </a:xfrm>
          <a:prstGeom prst="rect">
            <a:avLst/>
          </a:prstGeom>
          <a:noFill/>
        </p:spPr>
        <p:txBody>
          <a:bodyPr wrap="square" lIns="0" tIns="0" rIns="0" bIns="0" anchor="ctr">
            <a:spAutoFit/>
          </a:bodyPr>
          <a:lstStyle/>
          <a:p>
            <a:pPr algn="ctr"/>
            <a:r>
              <a:rPr sz="1400" b="1" i="0">
                <a:solidFill>
                  <a:srgbClr val="FFFFFF"/>
                </a:solidFill>
                <a:latin typeface="Arial"/>
              </a:rPr>
              <a:t>4</a:t>
            </a:r>
          </a:p>
        </p:txBody>
      </p:sp>
      <p:sp>
        <p:nvSpPr>
          <p:cNvPr id="22" name="TextBox 21"/>
          <p:cNvSpPr txBox="1"/>
          <p:nvPr/>
        </p:nvSpPr>
        <p:spPr>
          <a:xfrm>
            <a:off x="9694926" y="1892807"/>
            <a:ext cx="1634490" cy="384048"/>
          </a:xfrm>
          <a:prstGeom prst="rect">
            <a:avLst/>
          </a:prstGeom>
          <a:noFill/>
        </p:spPr>
        <p:txBody>
          <a:bodyPr wrap="square" lIns="0" tIns="0" rIns="0" bIns="0" anchor="ctr">
            <a:spAutoFit/>
          </a:bodyPr>
          <a:lstStyle/>
          <a:p>
            <a:pPr algn="l"/>
            <a:r>
              <a:rPr sz="1400" b="1" i="0">
                <a:solidFill>
                  <a:srgbClr val="211D71"/>
                </a:solidFill>
                <a:latin typeface="Arial"/>
              </a:rPr>
              <a:t>Ranking features, not problems</a:t>
            </a:r>
          </a:p>
        </p:txBody>
      </p:sp>
      <p:sp>
        <p:nvSpPr>
          <p:cNvPr id="23" name="TextBox 22"/>
          <p:cNvSpPr txBox="1"/>
          <p:nvPr/>
        </p:nvSpPr>
        <p:spPr>
          <a:xfrm>
            <a:off x="9219438" y="2368296"/>
            <a:ext cx="2109978" cy="1938528"/>
          </a:xfrm>
          <a:prstGeom prst="rect">
            <a:avLst/>
          </a:prstGeom>
          <a:noFill/>
        </p:spPr>
        <p:txBody>
          <a:bodyPr wrap="square" lIns="0" tIns="0" rIns="0" bIns="0" anchor="t">
            <a:spAutoFit/>
          </a:bodyPr>
          <a:lstStyle/>
          <a:p>
            <a:pPr algn="l">
              <a:lnSpc>
                <a:spcPts val="1700"/>
              </a:lnSpc>
            </a:pPr>
            <a:r>
              <a:rPr sz="1200" b="0" i="0">
                <a:solidFill>
                  <a:srgbClr val="22223B"/>
                </a:solidFill>
                <a:latin typeface="Arial"/>
              </a:rPr>
              <a:t>Nothing can ever be shown to be wrong, because nothing was measurable.</a:t>
            </a:r>
          </a:p>
          <a:p>
            <a:pPr algn="l">
              <a:lnSpc>
                <a:spcPts val="1700"/>
              </a:lnSpc>
            </a:pPr>
            <a:endParaRPr sz="1200" b="0" i="0">
              <a:solidFill>
                <a:srgbClr val="22223B"/>
              </a:solidFill>
              <a:latin typeface="Arial"/>
            </a:endParaRPr>
          </a:p>
          <a:p>
            <a:pPr algn="l">
              <a:lnSpc>
                <a:spcPts val="1700"/>
              </a:lnSpc>
            </a:pPr>
            <a:r>
              <a:rPr sz="1200" b="0" i="0">
                <a:solidFill>
                  <a:srgbClr val="22223B"/>
                </a:solidFill>
                <a:latin typeface="Arial"/>
              </a:rPr>
              <a:t>Fix: step 1 — every item names a problem and a number.</a:t>
            </a:r>
          </a:p>
        </p:txBody>
      </p:sp>
      <p:sp>
        <p:nvSpPr>
          <p:cNvPr id="24" name="Rounded Rectangle 23"/>
          <p:cNvSpPr/>
          <p:nvPr/>
        </p:nvSpPr>
        <p:spPr>
          <a:xfrm>
            <a:off x="640080" y="4727448"/>
            <a:ext cx="10908792" cy="685800"/>
          </a:xfrm>
          <a:prstGeom prst="roundRect">
            <a:avLst>
              <a:gd name="adj" fmla="val 5500"/>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68680" y="4764024"/>
            <a:ext cx="10451592" cy="612648"/>
          </a:xfrm>
          <a:prstGeom prst="rect">
            <a:avLst/>
          </a:prstGeom>
          <a:noFill/>
        </p:spPr>
        <p:txBody>
          <a:bodyPr wrap="square" lIns="0" tIns="0" rIns="0" bIns="0" anchor="ctr">
            <a:spAutoFit/>
          </a:bodyPr>
          <a:lstStyle/>
          <a:p>
            <a:pPr algn="l"/>
            <a:r>
              <a:rPr sz="1350" b="1" i="0">
                <a:solidFill>
                  <a:srgbClr val="FFFFFF"/>
                </a:solidFill>
                <a:latin typeface="Arial"/>
              </a:rPr>
              <a:t>Notice all four are about people, not arithmetic. The sums in this session are the easy part.</a:t>
            </a:r>
          </a:p>
        </p:txBody>
      </p:sp>
      <p:sp>
        <p:nvSpPr>
          <p:cNvPr id="26" name="TextBox 25"/>
          <p:cNvSpPr txBox="1"/>
          <p:nvPr/>
        </p:nvSpPr>
        <p:spPr>
          <a:xfrm>
            <a:off x="640080" y="5596128"/>
            <a:ext cx="10908792" cy="365760"/>
          </a:xfrm>
          <a:prstGeom prst="rect">
            <a:avLst/>
          </a:prstGeom>
          <a:noFill/>
        </p:spPr>
        <p:txBody>
          <a:bodyPr wrap="square" lIns="0" tIns="0" rIns="0" bIns="0" anchor="t">
            <a:spAutoFit/>
          </a:bodyPr>
          <a:lstStyle/>
          <a:p>
            <a:pPr algn="ctr"/>
            <a:r>
              <a:rPr sz="1400" b="0" i="1">
                <a:solidFill>
                  <a:srgbClr val="5F6178"/>
                </a:solidFill>
                <a:latin typeface="Arial"/>
              </a:rPr>
              <a:t>Ask yourself: which of these four happens in your team?</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74320"/>
            <a:ext cx="10908792" cy="237744"/>
          </a:xfrm>
          <a:prstGeom prst="rect">
            <a:avLst/>
          </a:prstGeom>
          <a:noFill/>
        </p:spPr>
        <p:txBody>
          <a:bodyPr wrap="square" lIns="0" tIns="0" rIns="0" bIns="0" anchor="t">
            <a:spAutoFit/>
          </a:bodyPr>
          <a:lstStyle/>
          <a:p>
            <a:pPr algn="l"/>
            <a:r>
              <a:rPr sz="1000" b="1" i="0" spc="140">
                <a:solidFill>
                  <a:srgbClr val="A9740A"/>
                </a:solidFill>
                <a:latin typeface="Arial"/>
              </a:rPr>
              <a:t>4 QUESTIONS  ·  2 MINUTES  ·  85–90 MIN</a:t>
            </a:r>
          </a:p>
        </p:txBody>
      </p:sp>
      <p:sp>
        <p:nvSpPr>
          <p:cNvPr id="3" name="TextBox 2"/>
          <p:cNvSpPr txBox="1"/>
          <p:nvPr/>
        </p:nvSpPr>
        <p:spPr>
          <a:xfrm>
            <a:off x="640080" y="548640"/>
            <a:ext cx="8229600" cy="640080"/>
          </a:xfrm>
          <a:prstGeom prst="rect">
            <a:avLst/>
          </a:prstGeom>
          <a:noFill/>
        </p:spPr>
        <p:txBody>
          <a:bodyPr wrap="square" lIns="0" tIns="0" rIns="0" bIns="0" anchor="t">
            <a:spAutoFit/>
          </a:bodyPr>
          <a:lstStyle/>
          <a:p>
            <a:pPr algn="l"/>
            <a:r>
              <a:rPr sz="2400" b="1" i="0">
                <a:solidFill>
                  <a:srgbClr val="211D71"/>
                </a:solidFill>
                <a:latin typeface="Arial"/>
              </a:rPr>
              <a:t>Quiz 3 — the last four</a:t>
            </a:r>
          </a:p>
        </p:txBody>
      </p:sp>
      <p:sp>
        <p:nvSpPr>
          <p:cNvPr id="4" name="Rounded Rectangle 3"/>
          <p:cNvSpPr/>
          <p:nvPr/>
        </p:nvSpPr>
        <p:spPr>
          <a:xfrm>
            <a:off x="640080" y="1463040"/>
            <a:ext cx="10908792" cy="658368"/>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536192"/>
            <a:ext cx="10451592" cy="310896"/>
          </a:xfrm>
          <a:prstGeom prst="rect">
            <a:avLst/>
          </a:prstGeom>
          <a:noFill/>
        </p:spPr>
        <p:txBody>
          <a:bodyPr wrap="square" lIns="0" tIns="0" rIns="0" bIns="0" anchor="t">
            <a:spAutoFit/>
          </a:bodyPr>
          <a:lstStyle/>
          <a:p>
            <a:pPr algn="l"/>
            <a:r>
              <a:rPr sz="1450" b="1" i="0">
                <a:solidFill>
                  <a:srgbClr val="211D71"/>
                </a:solidFill>
                <a:latin typeface="Arial"/>
              </a:rPr>
              <a:t>Q1.  Musts should be no more than what share of the work in a release?</a:t>
            </a:r>
          </a:p>
        </p:txBody>
      </p:sp>
      <p:sp>
        <p:nvSpPr>
          <p:cNvPr id="6" name="TextBox 5"/>
          <p:cNvSpPr txBox="1"/>
          <p:nvPr/>
        </p:nvSpPr>
        <p:spPr>
          <a:xfrm>
            <a:off x="1143000" y="1865376"/>
            <a:ext cx="10177272" cy="237744"/>
          </a:xfrm>
          <a:prstGeom prst="rect">
            <a:avLst/>
          </a:prstGeom>
          <a:noFill/>
        </p:spPr>
        <p:txBody>
          <a:bodyPr wrap="square" lIns="0" tIns="0" rIns="0" bIns="0" anchor="t">
            <a:spAutoFit/>
          </a:bodyPr>
          <a:lstStyle/>
          <a:p>
            <a:pPr algn="l">
              <a:lnSpc>
                <a:spcPts val="1800"/>
              </a:lnSpc>
            </a:pPr>
            <a:r>
              <a:rPr sz="1300" b="0" i="0">
                <a:solidFill>
                  <a:srgbClr val="22223B"/>
                </a:solidFill>
                <a:latin typeface="Arial"/>
              </a:rPr>
              <a:t>(a) 20%          (b) 40%          (c) 60%          (d) 80%</a:t>
            </a:r>
          </a:p>
        </p:txBody>
      </p:sp>
      <p:sp>
        <p:nvSpPr>
          <p:cNvPr id="7" name="Rounded Rectangle 6"/>
          <p:cNvSpPr/>
          <p:nvPr/>
        </p:nvSpPr>
        <p:spPr>
          <a:xfrm>
            <a:off x="640080" y="2343150"/>
            <a:ext cx="10908792" cy="658368"/>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2416302"/>
            <a:ext cx="10451592" cy="310896"/>
          </a:xfrm>
          <a:prstGeom prst="rect">
            <a:avLst/>
          </a:prstGeom>
          <a:noFill/>
        </p:spPr>
        <p:txBody>
          <a:bodyPr wrap="square" lIns="0" tIns="0" rIns="0" bIns="0" anchor="t">
            <a:spAutoFit/>
          </a:bodyPr>
          <a:lstStyle/>
          <a:p>
            <a:pPr algn="l"/>
            <a:r>
              <a:rPr sz="1450" b="1" i="0">
                <a:solidFill>
                  <a:srgbClr val="211D71"/>
                </a:solidFill>
                <a:latin typeface="Arial"/>
              </a:rPr>
              <a:t>Q2.  In Prune the Product Tree, the roots stand for:</a:t>
            </a:r>
          </a:p>
        </p:txBody>
      </p:sp>
      <p:sp>
        <p:nvSpPr>
          <p:cNvPr id="9" name="TextBox 8"/>
          <p:cNvSpPr txBox="1"/>
          <p:nvPr/>
        </p:nvSpPr>
        <p:spPr>
          <a:xfrm>
            <a:off x="1143000" y="2745486"/>
            <a:ext cx="10177272" cy="237744"/>
          </a:xfrm>
          <a:prstGeom prst="rect">
            <a:avLst/>
          </a:prstGeom>
          <a:noFill/>
        </p:spPr>
        <p:txBody>
          <a:bodyPr wrap="square" lIns="0" tIns="0" rIns="0" bIns="0" anchor="t">
            <a:spAutoFit/>
          </a:bodyPr>
          <a:lstStyle/>
          <a:p>
            <a:pPr algn="l">
              <a:lnSpc>
                <a:spcPts val="1800"/>
              </a:lnSpc>
            </a:pPr>
            <a:r>
              <a:rPr sz="1300" b="0" i="0">
                <a:solidFill>
                  <a:srgbClr val="22223B"/>
                </a:solidFill>
                <a:latin typeface="Arial"/>
              </a:rPr>
              <a:t>(a) old code     (b) support, infrastructure and customer care     (c) the least important features     (d) the founders</a:t>
            </a:r>
          </a:p>
        </p:txBody>
      </p:sp>
      <p:sp>
        <p:nvSpPr>
          <p:cNvPr id="10" name="Rounded Rectangle 9"/>
          <p:cNvSpPr/>
          <p:nvPr/>
        </p:nvSpPr>
        <p:spPr>
          <a:xfrm>
            <a:off x="640080" y="3223260"/>
            <a:ext cx="10908792" cy="137160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3296412"/>
            <a:ext cx="10451592" cy="310896"/>
          </a:xfrm>
          <a:prstGeom prst="rect">
            <a:avLst/>
          </a:prstGeom>
          <a:noFill/>
        </p:spPr>
        <p:txBody>
          <a:bodyPr wrap="square" lIns="0" tIns="0" rIns="0" bIns="0" anchor="t">
            <a:spAutoFit/>
          </a:bodyPr>
          <a:lstStyle/>
          <a:p>
            <a:pPr algn="l"/>
            <a:r>
              <a:rPr sz="1450" b="1" i="0">
                <a:solidFill>
                  <a:srgbClr val="211D71"/>
                </a:solidFill>
                <a:latin typeface="Arial"/>
              </a:rPr>
              <a:t>Q3.  Why are some features priced above any one person's budget in Buy a Feature?</a:t>
            </a:r>
          </a:p>
        </p:txBody>
      </p:sp>
      <p:sp>
        <p:nvSpPr>
          <p:cNvPr id="12" name="TextBox 11"/>
          <p:cNvSpPr txBox="1"/>
          <p:nvPr/>
        </p:nvSpPr>
        <p:spPr>
          <a:xfrm>
            <a:off x="1143000" y="3625596"/>
            <a:ext cx="10177272" cy="950976"/>
          </a:xfrm>
          <a:prstGeom prst="rect">
            <a:avLst/>
          </a:prstGeom>
          <a:noFill/>
        </p:spPr>
        <p:txBody>
          <a:bodyPr wrap="square" lIns="0" tIns="0" rIns="0" bIns="0" anchor="t">
            <a:spAutoFit/>
          </a:bodyPr>
          <a:lstStyle/>
          <a:p>
            <a:pPr algn="l">
              <a:lnSpc>
                <a:spcPts val="1800"/>
              </a:lnSpc>
            </a:pPr>
            <a:r>
              <a:rPr sz="1300" b="0" i="0">
                <a:solidFill>
                  <a:srgbClr val="22223B"/>
                </a:solidFill>
                <a:latin typeface="Arial"/>
              </a:rPr>
              <a:t>(a) to collect more play money</a:t>
            </a:r>
          </a:p>
          <a:p>
            <a:pPr algn="l">
              <a:lnSpc>
                <a:spcPts val="1800"/>
              </a:lnSpc>
            </a:pPr>
            <a:r>
              <a:rPr sz="1300" b="0" i="0">
                <a:solidFill>
                  <a:srgbClr val="22223B"/>
                </a:solidFill>
                <a:latin typeface="Arial"/>
              </a:rPr>
              <a:t>(b) so people have to team up, which shows you what they really share</a:t>
            </a:r>
          </a:p>
          <a:p>
            <a:pPr algn="l">
              <a:lnSpc>
                <a:spcPts val="1800"/>
              </a:lnSpc>
            </a:pPr>
            <a:r>
              <a:rPr sz="1300" b="0" i="0">
                <a:solidFill>
                  <a:srgbClr val="22223B"/>
                </a:solidFill>
                <a:latin typeface="Arial"/>
              </a:rPr>
              <a:t>(c) to put people off expensive things</a:t>
            </a:r>
          </a:p>
          <a:p>
            <a:pPr algn="l">
              <a:lnSpc>
                <a:spcPts val="1800"/>
              </a:lnSpc>
            </a:pPr>
            <a:r>
              <a:rPr sz="1300" b="0" i="0">
                <a:solidFill>
                  <a:srgbClr val="22223B"/>
                </a:solidFill>
                <a:latin typeface="Arial"/>
              </a:rPr>
              <a:t>(d) to test their arithmetic</a:t>
            </a:r>
          </a:p>
        </p:txBody>
      </p:sp>
      <p:sp>
        <p:nvSpPr>
          <p:cNvPr id="13" name="Rounded Rectangle 12"/>
          <p:cNvSpPr/>
          <p:nvPr/>
        </p:nvSpPr>
        <p:spPr>
          <a:xfrm>
            <a:off x="640080" y="4816602"/>
            <a:ext cx="10908792" cy="137160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68680" y="4889753"/>
            <a:ext cx="10451592" cy="310896"/>
          </a:xfrm>
          <a:prstGeom prst="rect">
            <a:avLst/>
          </a:prstGeom>
          <a:noFill/>
        </p:spPr>
        <p:txBody>
          <a:bodyPr wrap="square" lIns="0" tIns="0" rIns="0" bIns="0" anchor="t">
            <a:spAutoFit/>
          </a:bodyPr>
          <a:lstStyle/>
          <a:p>
            <a:pPr algn="l"/>
            <a:r>
              <a:rPr sz="1450" b="1" i="0">
                <a:solidFill>
                  <a:srgbClr val="211D71"/>
                </a:solidFill>
                <a:latin typeface="Arial"/>
              </a:rPr>
              <a:t>Q4.  A roadmap listing features against dates for four quarters mostly fails because:</a:t>
            </a:r>
          </a:p>
        </p:txBody>
      </p:sp>
      <p:sp>
        <p:nvSpPr>
          <p:cNvPr id="15" name="TextBox 14"/>
          <p:cNvSpPr txBox="1"/>
          <p:nvPr/>
        </p:nvSpPr>
        <p:spPr>
          <a:xfrm>
            <a:off x="1143000" y="5218938"/>
            <a:ext cx="10177272" cy="950976"/>
          </a:xfrm>
          <a:prstGeom prst="rect">
            <a:avLst/>
          </a:prstGeom>
          <a:noFill/>
        </p:spPr>
        <p:txBody>
          <a:bodyPr wrap="square" lIns="0" tIns="0" rIns="0" bIns="0" anchor="t">
            <a:spAutoFit/>
          </a:bodyPr>
          <a:lstStyle/>
          <a:p>
            <a:pPr algn="l">
              <a:lnSpc>
                <a:spcPts val="1800"/>
              </a:lnSpc>
            </a:pPr>
            <a:r>
              <a:rPr sz="1300" b="0" i="0">
                <a:solidFill>
                  <a:srgbClr val="22223B"/>
                </a:solidFill>
                <a:latin typeface="Arial"/>
              </a:rPr>
              <a:t>(a) dates are hard to estimate</a:t>
            </a:r>
          </a:p>
          <a:p>
            <a:pPr algn="l">
              <a:lnSpc>
                <a:spcPts val="1800"/>
              </a:lnSpc>
            </a:pPr>
            <a:r>
              <a:rPr sz="1300" b="0" i="0">
                <a:solidFill>
                  <a:srgbClr val="22223B"/>
                </a:solidFill>
                <a:latin typeface="Arial"/>
              </a:rPr>
              <a:t>(b) it promises solutions and dates before you have learned whether they are right</a:t>
            </a:r>
          </a:p>
          <a:p>
            <a:pPr algn="l">
              <a:lnSpc>
                <a:spcPts val="1800"/>
              </a:lnSpc>
            </a:pPr>
            <a:r>
              <a:rPr sz="1300" b="0" i="0">
                <a:solidFill>
                  <a:srgbClr val="22223B"/>
                </a:solidFill>
                <a:latin typeface="Arial"/>
              </a:rPr>
              <a:t>(c) people dislike tables</a:t>
            </a:r>
          </a:p>
          <a:p>
            <a:pPr algn="l">
              <a:lnSpc>
                <a:spcPts val="1800"/>
              </a:lnSpc>
            </a:pPr>
            <a:r>
              <a:rPr sz="1300" b="0" i="0">
                <a:solidFill>
                  <a:srgbClr val="22223B"/>
                </a:solidFill>
                <a:latin typeface="Arial"/>
              </a:rPr>
              <a:t>(d) it cannot be shared easily</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74320"/>
            <a:ext cx="10908792" cy="237744"/>
          </a:xfrm>
          <a:prstGeom prst="rect">
            <a:avLst/>
          </a:prstGeom>
          <a:noFill/>
        </p:spPr>
        <p:txBody>
          <a:bodyPr wrap="square" lIns="0" tIns="0" rIns="0" bIns="0" anchor="t">
            <a:spAutoFit/>
          </a:bodyPr>
          <a:lstStyle/>
          <a:p>
            <a:pPr algn="l"/>
            <a:r>
              <a:rPr sz="1000" b="1" i="0" spc="140">
                <a:solidFill>
                  <a:srgbClr val="A9740A"/>
                </a:solidFill>
                <a:latin typeface="Arial"/>
              </a:rPr>
              <a:t>WRAP-UP</a:t>
            </a:r>
          </a:p>
        </p:txBody>
      </p:sp>
      <p:sp>
        <p:nvSpPr>
          <p:cNvPr id="3" name="TextBox 2"/>
          <p:cNvSpPr txBox="1"/>
          <p:nvPr/>
        </p:nvSpPr>
        <p:spPr>
          <a:xfrm>
            <a:off x="640080" y="548640"/>
            <a:ext cx="8229600" cy="640080"/>
          </a:xfrm>
          <a:prstGeom prst="rect">
            <a:avLst/>
          </a:prstGeom>
          <a:noFill/>
        </p:spPr>
        <p:txBody>
          <a:bodyPr wrap="square" lIns="0" tIns="0" rIns="0" bIns="0" anchor="t">
            <a:spAutoFit/>
          </a:bodyPr>
          <a:lstStyle/>
          <a:p>
            <a:pPr algn="l"/>
            <a:r>
              <a:rPr sz="2400" b="1" i="0">
                <a:solidFill>
                  <a:srgbClr val="211D71"/>
                </a:solidFill>
                <a:latin typeface="Arial"/>
              </a:rPr>
              <a:t>Answers, and six things to remember</a:t>
            </a:r>
          </a:p>
        </p:txBody>
      </p:sp>
      <p:sp>
        <p:nvSpPr>
          <p:cNvPr id="4" name="Rounded Rectangle 3"/>
          <p:cNvSpPr/>
          <p:nvPr/>
        </p:nvSpPr>
        <p:spPr>
          <a:xfrm>
            <a:off x="640080" y="1572768"/>
            <a:ext cx="4937760" cy="160020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96112" y="1691640"/>
            <a:ext cx="4480560" cy="256032"/>
          </a:xfrm>
          <a:prstGeom prst="rect">
            <a:avLst/>
          </a:prstGeom>
          <a:noFill/>
        </p:spPr>
        <p:txBody>
          <a:bodyPr wrap="square" lIns="0" tIns="0" rIns="0" bIns="0" anchor="t">
            <a:spAutoFit/>
          </a:bodyPr>
          <a:lstStyle/>
          <a:p>
            <a:pPr algn="l"/>
            <a:r>
              <a:rPr sz="1350" b="1" i="0">
                <a:solidFill>
                  <a:srgbClr val="211D71"/>
                </a:solidFill>
                <a:latin typeface="Arial"/>
              </a:rPr>
              <a:t>Answers</a:t>
            </a:r>
          </a:p>
        </p:txBody>
      </p:sp>
      <p:sp>
        <p:nvSpPr>
          <p:cNvPr id="6" name="TextBox 5"/>
          <p:cNvSpPr txBox="1"/>
          <p:nvPr/>
        </p:nvSpPr>
        <p:spPr>
          <a:xfrm>
            <a:off x="896112" y="2002536"/>
            <a:ext cx="4480560" cy="1097280"/>
          </a:xfrm>
          <a:prstGeom prst="rect">
            <a:avLst/>
          </a:prstGeom>
          <a:noFill/>
        </p:spPr>
        <p:txBody>
          <a:bodyPr wrap="square" lIns="0" tIns="0" rIns="0" bIns="0" anchor="t">
            <a:spAutoFit/>
          </a:bodyPr>
          <a:lstStyle/>
          <a:p>
            <a:pPr algn="l">
              <a:lnSpc>
                <a:spcPts val="1900"/>
              </a:lnSpc>
            </a:pPr>
            <a:r>
              <a:rPr sz="1200" b="1" i="0">
                <a:solidFill>
                  <a:srgbClr val="22223B"/>
                </a:solidFill>
                <a:latin typeface="Arial"/>
              </a:rPr>
              <a:t>Q1  →  (c) 60%</a:t>
            </a:r>
          </a:p>
          <a:p>
            <a:pPr algn="l">
              <a:lnSpc>
                <a:spcPts val="1900"/>
              </a:lnSpc>
            </a:pPr>
            <a:r>
              <a:rPr sz="1200" b="1" i="0">
                <a:solidFill>
                  <a:srgbClr val="22223B"/>
                </a:solidFill>
                <a:latin typeface="Arial"/>
              </a:rPr>
              <a:t>Q2  →  (b) support and customer care</a:t>
            </a:r>
          </a:p>
          <a:p>
            <a:pPr algn="l">
              <a:lnSpc>
                <a:spcPts val="1900"/>
              </a:lnSpc>
            </a:pPr>
            <a:r>
              <a:rPr sz="1200" b="1" i="0">
                <a:solidFill>
                  <a:srgbClr val="22223B"/>
                </a:solidFill>
                <a:latin typeface="Arial"/>
              </a:rPr>
              <a:t>Q3  →  (b) so people have to team up</a:t>
            </a:r>
          </a:p>
          <a:p>
            <a:pPr algn="l">
              <a:lnSpc>
                <a:spcPts val="1900"/>
              </a:lnSpc>
            </a:pPr>
            <a:r>
              <a:rPr sz="1200" b="1" i="0">
                <a:solidFill>
                  <a:srgbClr val="22223B"/>
                </a:solidFill>
                <a:latin typeface="Arial"/>
              </a:rPr>
              <a:t>Q4  →  (b) it promises before you have learned</a:t>
            </a:r>
          </a:p>
        </p:txBody>
      </p:sp>
      <p:sp>
        <p:nvSpPr>
          <p:cNvPr id="7" name="Rounded Rectangle 6"/>
          <p:cNvSpPr/>
          <p:nvPr/>
        </p:nvSpPr>
        <p:spPr>
          <a:xfrm>
            <a:off x="5852160" y="1572768"/>
            <a:ext cx="5760720" cy="1600200"/>
          </a:xfrm>
          <a:prstGeom prst="roundRect">
            <a:avLst>
              <a:gd name="adj" fmla="val 5500"/>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108192" y="1691640"/>
            <a:ext cx="5303520" cy="256032"/>
          </a:xfrm>
          <a:prstGeom prst="rect">
            <a:avLst/>
          </a:prstGeom>
          <a:noFill/>
        </p:spPr>
        <p:txBody>
          <a:bodyPr wrap="square" lIns="0" tIns="0" rIns="0" bIns="0" anchor="t">
            <a:spAutoFit/>
          </a:bodyPr>
          <a:lstStyle/>
          <a:p>
            <a:pPr algn="l"/>
            <a:r>
              <a:rPr sz="1350" b="1" i="0">
                <a:solidFill>
                  <a:srgbClr val="FCB017"/>
                </a:solidFill>
                <a:latin typeface="Arial"/>
              </a:rPr>
              <a:t>If you remember one thing</a:t>
            </a:r>
          </a:p>
        </p:txBody>
      </p:sp>
      <p:sp>
        <p:nvSpPr>
          <p:cNvPr id="9" name="TextBox 8"/>
          <p:cNvSpPr txBox="1"/>
          <p:nvPr/>
        </p:nvSpPr>
        <p:spPr>
          <a:xfrm>
            <a:off x="6108192" y="2002536"/>
            <a:ext cx="5303520" cy="1097280"/>
          </a:xfrm>
          <a:prstGeom prst="rect">
            <a:avLst/>
          </a:prstGeom>
          <a:noFill/>
        </p:spPr>
        <p:txBody>
          <a:bodyPr wrap="square" lIns="0" tIns="0" rIns="0" bIns="0" anchor="t">
            <a:spAutoFit/>
          </a:bodyPr>
          <a:lstStyle/>
          <a:p>
            <a:pPr algn="l">
              <a:lnSpc>
                <a:spcPts val="2100"/>
              </a:lnSpc>
            </a:pPr>
            <a:r>
              <a:rPr sz="1400" b="0" i="0">
                <a:solidFill>
                  <a:srgbClr val="FFFFFF"/>
                </a:solidFill>
                <a:latin typeface="Arial"/>
              </a:rPr>
              <a:t>Prioritising is not picking what is valuable — it is all valuable. It is picking what is valuable for the time you actually have, and being able to show your working.</a:t>
            </a:r>
          </a:p>
        </p:txBody>
      </p:sp>
      <p:sp>
        <p:nvSpPr>
          <p:cNvPr id="10" name="Rounded Rectangle 9"/>
          <p:cNvSpPr/>
          <p:nvPr/>
        </p:nvSpPr>
        <p:spPr>
          <a:xfrm>
            <a:off x="640080" y="3355848"/>
            <a:ext cx="3489960" cy="1316736"/>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859536" y="3538728"/>
            <a:ext cx="384048" cy="384048"/>
          </a:xfrm>
          <a:prstGeom prst="ellipse">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59536" y="3538728"/>
            <a:ext cx="384048" cy="384048"/>
          </a:xfrm>
          <a:prstGeom prst="rect">
            <a:avLst/>
          </a:prstGeom>
          <a:noFill/>
        </p:spPr>
        <p:txBody>
          <a:bodyPr wrap="square" lIns="0" tIns="0" rIns="0" bIns="0" anchor="ctr">
            <a:spAutoFit/>
          </a:bodyPr>
          <a:lstStyle/>
          <a:p>
            <a:pPr algn="ctr"/>
            <a:r>
              <a:rPr sz="1400" b="1" i="0">
                <a:solidFill>
                  <a:srgbClr val="FFFFFF"/>
                </a:solidFill>
                <a:latin typeface="Arial"/>
              </a:rPr>
              <a:t>1</a:t>
            </a:r>
          </a:p>
        </p:txBody>
      </p:sp>
      <p:sp>
        <p:nvSpPr>
          <p:cNvPr id="13" name="TextBox 12"/>
          <p:cNvSpPr txBox="1"/>
          <p:nvPr/>
        </p:nvSpPr>
        <p:spPr>
          <a:xfrm>
            <a:off x="1335024" y="3538728"/>
            <a:ext cx="2575560" cy="384048"/>
          </a:xfrm>
          <a:prstGeom prst="rect">
            <a:avLst/>
          </a:prstGeom>
          <a:noFill/>
        </p:spPr>
        <p:txBody>
          <a:bodyPr wrap="square" lIns="0" tIns="0" rIns="0" bIns="0" anchor="ctr">
            <a:spAutoFit/>
          </a:bodyPr>
          <a:lstStyle/>
          <a:p>
            <a:pPr algn="l"/>
            <a:r>
              <a:rPr sz="1350" b="1" i="0">
                <a:solidFill>
                  <a:srgbClr val="211D71"/>
                </a:solidFill>
                <a:latin typeface="Arial"/>
              </a:rPr>
              <a:t>Map before you score</a:t>
            </a:r>
          </a:p>
        </p:txBody>
      </p:sp>
      <p:sp>
        <p:nvSpPr>
          <p:cNvPr id="14" name="TextBox 13"/>
          <p:cNvSpPr txBox="1"/>
          <p:nvPr/>
        </p:nvSpPr>
        <p:spPr>
          <a:xfrm>
            <a:off x="859536" y="4014215"/>
            <a:ext cx="3051048" cy="512064"/>
          </a:xfrm>
          <a:prstGeom prst="rect">
            <a:avLst/>
          </a:prstGeom>
          <a:noFill/>
        </p:spPr>
        <p:txBody>
          <a:bodyPr wrap="square" lIns="0" tIns="0" rIns="0" bIns="0" anchor="t">
            <a:spAutoFit/>
          </a:bodyPr>
          <a:lstStyle/>
          <a:p>
            <a:pPr algn="l">
              <a:lnSpc>
                <a:spcPts val="1700"/>
              </a:lnSpc>
            </a:pPr>
            <a:r>
              <a:rPr sz="1150" b="0" i="0">
                <a:solidFill>
                  <a:srgbClr val="22223B"/>
                </a:solidFill>
                <a:latin typeface="Arial"/>
              </a:rPr>
              <a:t>Understand the journey first. Scoring an un-mapped backlog just ranks the wrong things precisely.</a:t>
            </a:r>
          </a:p>
        </p:txBody>
      </p:sp>
      <p:sp>
        <p:nvSpPr>
          <p:cNvPr id="15" name="Rounded Rectangle 14"/>
          <p:cNvSpPr/>
          <p:nvPr/>
        </p:nvSpPr>
        <p:spPr>
          <a:xfrm>
            <a:off x="4349496" y="3355848"/>
            <a:ext cx="3489960" cy="1316736"/>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4568952" y="3538728"/>
            <a:ext cx="384048" cy="384048"/>
          </a:xfrm>
          <a:prstGeom prst="ellipse">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68952" y="3538728"/>
            <a:ext cx="384048" cy="384048"/>
          </a:xfrm>
          <a:prstGeom prst="rect">
            <a:avLst/>
          </a:prstGeom>
          <a:noFill/>
        </p:spPr>
        <p:txBody>
          <a:bodyPr wrap="square" lIns="0" tIns="0" rIns="0" bIns="0" anchor="ctr">
            <a:spAutoFit/>
          </a:bodyPr>
          <a:lstStyle/>
          <a:p>
            <a:pPr algn="ctr"/>
            <a:r>
              <a:rPr sz="1400" b="1" i="0">
                <a:solidFill>
                  <a:srgbClr val="FFFFFF"/>
                </a:solidFill>
                <a:latin typeface="Arial"/>
              </a:rPr>
              <a:t>2</a:t>
            </a:r>
          </a:p>
        </p:txBody>
      </p:sp>
      <p:sp>
        <p:nvSpPr>
          <p:cNvPr id="18" name="TextBox 17"/>
          <p:cNvSpPr txBox="1"/>
          <p:nvPr/>
        </p:nvSpPr>
        <p:spPr>
          <a:xfrm>
            <a:off x="5044440" y="3538728"/>
            <a:ext cx="2575560" cy="384048"/>
          </a:xfrm>
          <a:prstGeom prst="rect">
            <a:avLst/>
          </a:prstGeom>
          <a:noFill/>
        </p:spPr>
        <p:txBody>
          <a:bodyPr wrap="square" lIns="0" tIns="0" rIns="0" bIns="0" anchor="ctr">
            <a:spAutoFit/>
          </a:bodyPr>
          <a:lstStyle/>
          <a:p>
            <a:pPr algn="l"/>
            <a:r>
              <a:rPr sz="1350" b="1" i="0">
                <a:solidFill>
                  <a:srgbClr val="211D71"/>
                </a:solidFill>
                <a:latin typeface="Arial"/>
              </a:rPr>
              <a:t>Ask about problems</a:t>
            </a:r>
          </a:p>
        </p:txBody>
      </p:sp>
      <p:sp>
        <p:nvSpPr>
          <p:cNvPr id="19" name="TextBox 18"/>
          <p:cNvSpPr txBox="1"/>
          <p:nvPr/>
        </p:nvSpPr>
        <p:spPr>
          <a:xfrm>
            <a:off x="4568952" y="4014215"/>
            <a:ext cx="3051048" cy="512064"/>
          </a:xfrm>
          <a:prstGeom prst="rect">
            <a:avLst/>
          </a:prstGeom>
          <a:noFill/>
        </p:spPr>
        <p:txBody>
          <a:bodyPr wrap="square" lIns="0" tIns="0" rIns="0" bIns="0" anchor="t">
            <a:spAutoFit/>
          </a:bodyPr>
          <a:lstStyle/>
          <a:p>
            <a:pPr algn="l">
              <a:lnSpc>
                <a:spcPts val="1700"/>
              </a:lnSpc>
            </a:pPr>
            <a:r>
              <a:rPr sz="1150" b="0" i="0">
                <a:solidFill>
                  <a:srgbClr val="22223B"/>
                </a:solidFill>
                <a:latin typeface="Arial"/>
              </a:rPr>
              <a:t>Important plus how unhappy people are. Never ask them to rate your idea.</a:t>
            </a:r>
          </a:p>
        </p:txBody>
      </p:sp>
      <p:sp>
        <p:nvSpPr>
          <p:cNvPr id="20" name="Rounded Rectangle 19"/>
          <p:cNvSpPr/>
          <p:nvPr/>
        </p:nvSpPr>
        <p:spPr>
          <a:xfrm>
            <a:off x="8058911" y="3355848"/>
            <a:ext cx="3489960" cy="1316736"/>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8278367" y="3538728"/>
            <a:ext cx="384048" cy="384048"/>
          </a:xfrm>
          <a:prstGeom prst="ellipse">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78367" y="3538728"/>
            <a:ext cx="384048" cy="384048"/>
          </a:xfrm>
          <a:prstGeom prst="rect">
            <a:avLst/>
          </a:prstGeom>
          <a:noFill/>
        </p:spPr>
        <p:txBody>
          <a:bodyPr wrap="square" lIns="0" tIns="0" rIns="0" bIns="0" anchor="ctr">
            <a:spAutoFit/>
          </a:bodyPr>
          <a:lstStyle/>
          <a:p>
            <a:pPr algn="ctr"/>
            <a:r>
              <a:rPr sz="1400" b="1" i="0">
                <a:solidFill>
                  <a:srgbClr val="FFFFFF"/>
                </a:solidFill>
                <a:latin typeface="Arial"/>
              </a:rPr>
              <a:t>3</a:t>
            </a:r>
          </a:p>
        </p:txBody>
      </p:sp>
      <p:sp>
        <p:nvSpPr>
          <p:cNvPr id="23" name="TextBox 22"/>
          <p:cNvSpPr txBox="1"/>
          <p:nvPr/>
        </p:nvSpPr>
        <p:spPr>
          <a:xfrm>
            <a:off x="8753856" y="3538728"/>
            <a:ext cx="2575560" cy="384048"/>
          </a:xfrm>
          <a:prstGeom prst="rect">
            <a:avLst/>
          </a:prstGeom>
          <a:noFill/>
        </p:spPr>
        <p:txBody>
          <a:bodyPr wrap="square" lIns="0" tIns="0" rIns="0" bIns="0" anchor="ctr">
            <a:spAutoFit/>
          </a:bodyPr>
          <a:lstStyle/>
          <a:p>
            <a:pPr algn="l"/>
            <a:r>
              <a:rPr sz="1350" b="1" i="0">
                <a:solidFill>
                  <a:srgbClr val="211D71"/>
                </a:solidFill>
                <a:latin typeface="Arial"/>
              </a:rPr>
              <a:t>Divide by duration</a:t>
            </a:r>
          </a:p>
        </p:txBody>
      </p:sp>
      <p:sp>
        <p:nvSpPr>
          <p:cNvPr id="24" name="TextBox 23"/>
          <p:cNvSpPr txBox="1"/>
          <p:nvPr/>
        </p:nvSpPr>
        <p:spPr>
          <a:xfrm>
            <a:off x="8278367" y="4014215"/>
            <a:ext cx="3051048" cy="512064"/>
          </a:xfrm>
          <a:prstGeom prst="rect">
            <a:avLst/>
          </a:prstGeom>
          <a:noFill/>
        </p:spPr>
        <p:txBody>
          <a:bodyPr wrap="square" lIns="0" tIns="0" rIns="0" bIns="0" anchor="t">
            <a:spAutoFit/>
          </a:bodyPr>
          <a:lstStyle/>
          <a:p>
            <a:pPr algn="l">
              <a:lnSpc>
                <a:spcPts val="1700"/>
              </a:lnSpc>
            </a:pPr>
            <a:r>
              <a:rPr sz="1150" b="0" i="0">
                <a:solidFill>
                  <a:srgbClr val="22223B"/>
                </a:solidFill>
                <a:latin typeface="Arial"/>
              </a:rPr>
              <a:t>Money lost per week ÷ weeks of work. The biggest loss does not automatically go first.</a:t>
            </a:r>
          </a:p>
        </p:txBody>
      </p:sp>
      <p:sp>
        <p:nvSpPr>
          <p:cNvPr id="25" name="Rounded Rectangle 24"/>
          <p:cNvSpPr/>
          <p:nvPr/>
        </p:nvSpPr>
        <p:spPr>
          <a:xfrm>
            <a:off x="640080" y="4892040"/>
            <a:ext cx="3489960" cy="1316736"/>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859536" y="5074920"/>
            <a:ext cx="384048" cy="384048"/>
          </a:xfrm>
          <a:prstGeom prst="ellipse">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59536" y="5074920"/>
            <a:ext cx="384048" cy="384048"/>
          </a:xfrm>
          <a:prstGeom prst="rect">
            <a:avLst/>
          </a:prstGeom>
          <a:noFill/>
        </p:spPr>
        <p:txBody>
          <a:bodyPr wrap="square" lIns="0" tIns="0" rIns="0" bIns="0" anchor="ctr">
            <a:spAutoFit/>
          </a:bodyPr>
          <a:lstStyle/>
          <a:p>
            <a:pPr algn="ctr"/>
            <a:r>
              <a:rPr sz="1400" b="1" i="0">
                <a:solidFill>
                  <a:srgbClr val="FFFFFF"/>
                </a:solidFill>
                <a:latin typeface="Arial"/>
              </a:rPr>
              <a:t>4</a:t>
            </a:r>
          </a:p>
        </p:txBody>
      </p:sp>
      <p:sp>
        <p:nvSpPr>
          <p:cNvPr id="28" name="TextBox 27"/>
          <p:cNvSpPr txBox="1"/>
          <p:nvPr/>
        </p:nvSpPr>
        <p:spPr>
          <a:xfrm>
            <a:off x="1335024" y="5074920"/>
            <a:ext cx="2575560" cy="384048"/>
          </a:xfrm>
          <a:prstGeom prst="rect">
            <a:avLst/>
          </a:prstGeom>
          <a:noFill/>
        </p:spPr>
        <p:txBody>
          <a:bodyPr wrap="square" lIns="0" tIns="0" rIns="0" bIns="0" anchor="ctr">
            <a:spAutoFit/>
          </a:bodyPr>
          <a:lstStyle/>
          <a:p>
            <a:pPr algn="l"/>
            <a:r>
              <a:rPr sz="1350" b="1" i="0">
                <a:solidFill>
                  <a:srgbClr val="211D71"/>
                </a:solidFill>
                <a:latin typeface="Arial"/>
              </a:rPr>
              <a:t>Leave 40% spare</a:t>
            </a:r>
          </a:p>
        </p:txBody>
      </p:sp>
      <p:sp>
        <p:nvSpPr>
          <p:cNvPr id="29" name="TextBox 28"/>
          <p:cNvSpPr txBox="1"/>
          <p:nvPr/>
        </p:nvSpPr>
        <p:spPr>
          <a:xfrm>
            <a:off x="859536" y="5550407"/>
            <a:ext cx="3051048" cy="512064"/>
          </a:xfrm>
          <a:prstGeom prst="rect">
            <a:avLst/>
          </a:prstGeom>
          <a:noFill/>
        </p:spPr>
        <p:txBody>
          <a:bodyPr wrap="square" lIns="0" tIns="0" rIns="0" bIns="0" anchor="t">
            <a:spAutoFit/>
          </a:bodyPr>
          <a:lstStyle/>
          <a:p>
            <a:pPr algn="l">
              <a:lnSpc>
                <a:spcPts val="1700"/>
              </a:lnSpc>
            </a:pPr>
            <a:r>
              <a:rPr sz="1150" b="0" i="0">
                <a:solidFill>
                  <a:srgbClr val="22223B"/>
                </a:solidFill>
                <a:latin typeface="Arial"/>
              </a:rPr>
              <a:t>Musts at 60%, Coulds as your safety margin. A plan with no margin is a wish.</a:t>
            </a:r>
          </a:p>
        </p:txBody>
      </p:sp>
      <p:sp>
        <p:nvSpPr>
          <p:cNvPr id="30" name="Rounded Rectangle 29"/>
          <p:cNvSpPr/>
          <p:nvPr/>
        </p:nvSpPr>
        <p:spPr>
          <a:xfrm>
            <a:off x="4349496" y="4892040"/>
            <a:ext cx="3489960" cy="1316736"/>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4568952" y="5074920"/>
            <a:ext cx="384048" cy="384048"/>
          </a:xfrm>
          <a:prstGeom prst="ellipse">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568952" y="5074920"/>
            <a:ext cx="384048" cy="384048"/>
          </a:xfrm>
          <a:prstGeom prst="rect">
            <a:avLst/>
          </a:prstGeom>
          <a:noFill/>
        </p:spPr>
        <p:txBody>
          <a:bodyPr wrap="square" lIns="0" tIns="0" rIns="0" bIns="0" anchor="ctr">
            <a:spAutoFit/>
          </a:bodyPr>
          <a:lstStyle/>
          <a:p>
            <a:pPr algn="ctr"/>
            <a:r>
              <a:rPr sz="1400" b="1" i="0">
                <a:solidFill>
                  <a:srgbClr val="FFFFFF"/>
                </a:solidFill>
                <a:latin typeface="Arial"/>
              </a:rPr>
              <a:t>5</a:t>
            </a:r>
          </a:p>
        </p:txBody>
      </p:sp>
      <p:sp>
        <p:nvSpPr>
          <p:cNvPr id="33" name="TextBox 32"/>
          <p:cNvSpPr txBox="1"/>
          <p:nvPr/>
        </p:nvSpPr>
        <p:spPr>
          <a:xfrm>
            <a:off x="5044440" y="5074920"/>
            <a:ext cx="2575560" cy="384048"/>
          </a:xfrm>
          <a:prstGeom prst="rect">
            <a:avLst/>
          </a:prstGeom>
          <a:noFill/>
        </p:spPr>
        <p:txBody>
          <a:bodyPr wrap="square" lIns="0" tIns="0" rIns="0" bIns="0" anchor="ctr">
            <a:spAutoFit/>
          </a:bodyPr>
          <a:lstStyle/>
          <a:p>
            <a:pPr algn="l"/>
            <a:r>
              <a:rPr sz="1350" b="1" i="0">
                <a:solidFill>
                  <a:srgbClr val="211D71"/>
                </a:solidFill>
                <a:latin typeface="Arial"/>
              </a:rPr>
              <a:t>Make people trade</a:t>
            </a:r>
          </a:p>
        </p:txBody>
      </p:sp>
      <p:sp>
        <p:nvSpPr>
          <p:cNvPr id="34" name="TextBox 33"/>
          <p:cNvSpPr txBox="1"/>
          <p:nvPr/>
        </p:nvSpPr>
        <p:spPr>
          <a:xfrm>
            <a:off x="4568952" y="5550407"/>
            <a:ext cx="3051048" cy="512064"/>
          </a:xfrm>
          <a:prstGeom prst="rect">
            <a:avLst/>
          </a:prstGeom>
          <a:noFill/>
        </p:spPr>
        <p:txBody>
          <a:bodyPr wrap="square" lIns="0" tIns="0" rIns="0" bIns="0" anchor="t">
            <a:spAutoFit/>
          </a:bodyPr>
          <a:lstStyle/>
          <a:p>
            <a:pPr algn="l">
              <a:lnSpc>
                <a:spcPts val="1700"/>
              </a:lnSpc>
            </a:pPr>
            <a:r>
              <a:rPr sz="1150" b="0" i="0">
                <a:solidFill>
                  <a:srgbClr val="22223B"/>
                </a:solidFill>
                <a:latin typeface="Arial"/>
              </a:rPr>
              <a:t>A game with limited money tells you in 20 minutes what a survey never will.</a:t>
            </a:r>
          </a:p>
        </p:txBody>
      </p:sp>
      <p:sp>
        <p:nvSpPr>
          <p:cNvPr id="35" name="Rounded Rectangle 34"/>
          <p:cNvSpPr/>
          <p:nvPr/>
        </p:nvSpPr>
        <p:spPr>
          <a:xfrm>
            <a:off x="8058911" y="4892040"/>
            <a:ext cx="3489960" cy="1316736"/>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8278367" y="5074920"/>
            <a:ext cx="384048" cy="384048"/>
          </a:xfrm>
          <a:prstGeom prst="ellipse">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278367" y="5074920"/>
            <a:ext cx="384048" cy="384048"/>
          </a:xfrm>
          <a:prstGeom prst="rect">
            <a:avLst/>
          </a:prstGeom>
          <a:noFill/>
        </p:spPr>
        <p:txBody>
          <a:bodyPr wrap="square" lIns="0" tIns="0" rIns="0" bIns="0" anchor="ctr">
            <a:spAutoFit/>
          </a:bodyPr>
          <a:lstStyle/>
          <a:p>
            <a:pPr algn="ctr"/>
            <a:r>
              <a:rPr sz="1400" b="1" i="0">
                <a:solidFill>
                  <a:srgbClr val="FFFFFF"/>
                </a:solidFill>
                <a:latin typeface="Arial"/>
              </a:rPr>
              <a:t>6</a:t>
            </a:r>
          </a:p>
        </p:txBody>
      </p:sp>
      <p:sp>
        <p:nvSpPr>
          <p:cNvPr id="38" name="TextBox 37"/>
          <p:cNvSpPr txBox="1"/>
          <p:nvPr/>
        </p:nvSpPr>
        <p:spPr>
          <a:xfrm>
            <a:off x="8753856" y="5074920"/>
            <a:ext cx="2575560" cy="384048"/>
          </a:xfrm>
          <a:prstGeom prst="rect">
            <a:avLst/>
          </a:prstGeom>
          <a:noFill/>
        </p:spPr>
        <p:txBody>
          <a:bodyPr wrap="square" lIns="0" tIns="0" rIns="0" bIns="0" anchor="ctr">
            <a:spAutoFit/>
          </a:bodyPr>
          <a:lstStyle/>
          <a:p>
            <a:pPr algn="l"/>
            <a:r>
              <a:rPr sz="1350" b="1" i="0">
                <a:solidFill>
                  <a:srgbClr val="211D71"/>
                </a:solidFill>
                <a:latin typeface="Arial"/>
              </a:rPr>
              <a:t>Write the rule down</a:t>
            </a:r>
          </a:p>
        </p:txBody>
      </p:sp>
      <p:sp>
        <p:nvSpPr>
          <p:cNvPr id="39" name="TextBox 38"/>
          <p:cNvSpPr txBox="1"/>
          <p:nvPr/>
        </p:nvSpPr>
        <p:spPr>
          <a:xfrm>
            <a:off x="8278367" y="5550407"/>
            <a:ext cx="3051048" cy="512064"/>
          </a:xfrm>
          <a:prstGeom prst="rect">
            <a:avLst/>
          </a:prstGeom>
          <a:noFill/>
        </p:spPr>
        <p:txBody>
          <a:bodyPr wrap="square" lIns="0" tIns="0" rIns="0" bIns="0" anchor="t">
            <a:spAutoFit/>
          </a:bodyPr>
          <a:lstStyle/>
          <a:p>
            <a:pPr algn="l">
              <a:lnSpc>
                <a:spcPts val="1700"/>
              </a:lnSpc>
            </a:pPr>
            <a:r>
              <a:rPr sz="1150" b="0" i="0">
                <a:solidFill>
                  <a:srgbClr val="22223B"/>
                </a:solidFill>
                <a:latin typeface="Arial"/>
              </a:rPr>
              <a:t>A published rule survives a change of boss. An unwritten one is just this quarter's politics.</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74320"/>
            <a:ext cx="10908792" cy="237744"/>
          </a:xfrm>
          <a:prstGeom prst="rect">
            <a:avLst/>
          </a:prstGeom>
          <a:noFill/>
        </p:spPr>
        <p:txBody>
          <a:bodyPr wrap="square" lIns="0" tIns="0" rIns="0" bIns="0" anchor="t">
            <a:spAutoFit/>
          </a:bodyPr>
          <a:lstStyle/>
          <a:p>
            <a:pPr algn="l"/>
            <a:r>
              <a:rPr sz="1000" b="1" i="0" spc="140">
                <a:solidFill>
                  <a:srgbClr val="A9740A"/>
                </a:solidFill>
                <a:latin typeface="Arial"/>
              </a:rPr>
              <a:t>WRAP-UP  ·  SUBMIT INDIVIDUALLY</a:t>
            </a:r>
          </a:p>
        </p:txBody>
      </p:sp>
      <p:sp>
        <p:nvSpPr>
          <p:cNvPr id="3" name="TextBox 2"/>
          <p:cNvSpPr txBox="1"/>
          <p:nvPr/>
        </p:nvSpPr>
        <p:spPr>
          <a:xfrm>
            <a:off x="640080" y="548640"/>
            <a:ext cx="8229600" cy="640080"/>
          </a:xfrm>
          <a:prstGeom prst="rect">
            <a:avLst/>
          </a:prstGeom>
          <a:noFill/>
        </p:spPr>
        <p:txBody>
          <a:bodyPr wrap="square" lIns="0" tIns="0" rIns="0" bIns="0" anchor="t">
            <a:spAutoFit/>
          </a:bodyPr>
          <a:lstStyle/>
          <a:p>
            <a:pPr algn="l"/>
            <a:r>
              <a:rPr sz="2400" b="1" i="0">
                <a:solidFill>
                  <a:srgbClr val="211D71"/>
                </a:solidFill>
                <a:latin typeface="Arial"/>
              </a:rPr>
              <a:t>Assignment</a:t>
            </a:r>
          </a:p>
        </p:txBody>
      </p:sp>
      <p:sp>
        <p:nvSpPr>
          <p:cNvPr id="4" name="TextBox 3"/>
          <p:cNvSpPr txBox="1"/>
          <p:nvPr/>
        </p:nvSpPr>
        <p:spPr>
          <a:xfrm>
            <a:off x="640080" y="1527048"/>
            <a:ext cx="10908792" cy="310896"/>
          </a:xfrm>
          <a:prstGeom prst="rect">
            <a:avLst/>
          </a:prstGeom>
          <a:noFill/>
        </p:spPr>
        <p:txBody>
          <a:bodyPr wrap="square" lIns="0" tIns="0" rIns="0" bIns="0" anchor="t">
            <a:spAutoFit/>
          </a:bodyPr>
          <a:lstStyle/>
          <a:p>
            <a:pPr algn="l"/>
            <a:r>
              <a:rPr sz="1400" b="0" i="0">
                <a:solidFill>
                  <a:srgbClr val="22223B"/>
                </a:solidFill>
                <a:latin typeface="Arial"/>
              </a:rPr>
              <a:t>Pick a product you know well — from work, or CampusPay if you prefer. Write down your assumptions; you are marked on those, not on having big numbers.</a:t>
            </a:r>
          </a:p>
        </p:txBody>
      </p:sp>
      <p:graphicFrame>
        <p:nvGraphicFramePr>
          <p:cNvPr id="5" name="Table 4"/>
          <p:cNvGraphicFramePr>
            <a:graphicFrameLocks noGrp="1"/>
          </p:cNvGraphicFramePr>
          <p:nvPr/>
        </p:nvGraphicFramePr>
        <p:xfrm>
          <a:off x="640080" y="1892807"/>
          <a:ext cx="10908791" cy="1828800"/>
        </p:xfrm>
        <a:graphic>
          <a:graphicData uri="http://schemas.openxmlformats.org/drawingml/2006/table">
            <a:tbl>
              <a:tblPr>
                <a:tableStyleId>{5C22544A-7EE6-4342-B048-85BDC9FD1C3A}</a:tableStyleId>
              </a:tblPr>
              <a:tblGrid>
                <a:gridCol w="1554480">
                  <a:extLst>
                    <a:ext uri="{9D8B030D-6E8A-4147-A177-3AD203B41FA5}">
                      <a16:colId xmlns:a16="http://schemas.microsoft.com/office/drawing/2014/main" val="20000"/>
                    </a:ext>
                  </a:extLst>
                </a:gridCol>
                <a:gridCol w="8321040">
                  <a:extLst>
                    <a:ext uri="{9D8B030D-6E8A-4147-A177-3AD203B41FA5}">
                      <a16:colId xmlns:a16="http://schemas.microsoft.com/office/drawing/2014/main" val="20001"/>
                    </a:ext>
                  </a:extLst>
                </a:gridCol>
                <a:gridCol w="1033271">
                  <a:extLst>
                    <a:ext uri="{9D8B030D-6E8A-4147-A177-3AD203B41FA5}">
                      <a16:colId xmlns:a16="http://schemas.microsoft.com/office/drawing/2014/main" val="20002"/>
                    </a:ext>
                  </a:extLst>
                </a:gridCol>
              </a:tblGrid>
              <a:tr h="365760">
                <a:tc>
                  <a:txBody>
                    <a:bodyPr/>
                    <a:lstStyle/>
                    <a:p>
                      <a:pPr algn="l"/>
                      <a:r>
                        <a:rPr sz="1250" b="1">
                          <a:solidFill>
                            <a:srgbClr val="FFFFFF"/>
                          </a:solidFill>
                          <a:latin typeface="Arial"/>
                        </a:rPr>
                        <a:t>Part</a:t>
                      </a:r>
                    </a:p>
                  </a:txBody>
                  <a:tcPr marL="82296" marR="82296" marT="36576" marB="36576" anchor="ctr">
                    <a:solidFill>
                      <a:srgbClr val="211D71"/>
                    </a:solidFill>
                  </a:tcPr>
                </a:tc>
                <a:tc>
                  <a:txBody>
                    <a:bodyPr/>
                    <a:lstStyle/>
                    <a:p>
                      <a:pPr algn="l"/>
                      <a:r>
                        <a:rPr sz="1250" b="1">
                          <a:solidFill>
                            <a:srgbClr val="FFFFFF"/>
                          </a:solidFill>
                          <a:latin typeface="Arial"/>
                        </a:rPr>
                        <a:t>What to do</a:t>
                      </a:r>
                    </a:p>
                  </a:txBody>
                  <a:tcPr marL="82296" marR="82296" marT="36576" marB="36576" anchor="ctr">
                    <a:solidFill>
                      <a:srgbClr val="211D71"/>
                    </a:solidFill>
                  </a:tcPr>
                </a:tc>
                <a:tc>
                  <a:txBody>
                    <a:bodyPr/>
                    <a:lstStyle/>
                    <a:p>
                      <a:pPr algn="l"/>
                      <a:r>
                        <a:rPr sz="1250" b="1">
                          <a:solidFill>
                            <a:srgbClr val="FFFFFF"/>
                          </a:solidFill>
                          <a:latin typeface="Arial"/>
                        </a:rPr>
                        <a:t>Marks</a:t>
                      </a:r>
                    </a:p>
                  </a:txBody>
                  <a:tcPr marL="82296" marR="82296" marT="36576" marB="36576" anchor="ctr">
                    <a:solidFill>
                      <a:srgbClr val="211D71"/>
                    </a:solidFill>
                  </a:tcPr>
                </a:tc>
                <a:extLst>
                  <a:ext uri="{0D108BD9-81ED-4DB2-BD59-A6C34878D82A}">
                    <a16:rowId xmlns:a16="http://schemas.microsoft.com/office/drawing/2014/main" val="10000"/>
                  </a:ext>
                </a:extLst>
              </a:tr>
              <a:tr h="365760">
                <a:tc>
                  <a:txBody>
                    <a:bodyPr/>
                    <a:lstStyle/>
                    <a:p>
                      <a:pPr algn="l"/>
                      <a:r>
                        <a:rPr sz="1200" b="1">
                          <a:solidFill>
                            <a:srgbClr val="22223B"/>
                          </a:solidFill>
                          <a:latin typeface="Arial"/>
                        </a:rPr>
                        <a:t>A   Map it</a:t>
                      </a:r>
                    </a:p>
                  </a:txBody>
                  <a:tcPr marL="82296" marR="82296" marT="36576" marB="36576" anchor="ctr">
                    <a:solidFill>
                      <a:srgbClr val="F3F4FA"/>
                    </a:solidFill>
                  </a:tcPr>
                </a:tc>
                <a:tc>
                  <a:txBody>
                    <a:bodyPr/>
                    <a:lstStyle/>
                    <a:p>
                      <a:pPr algn="l"/>
                      <a:r>
                        <a:rPr sz="1200" b="0">
                          <a:solidFill>
                            <a:srgbClr val="22223B"/>
                          </a:solidFill>
                          <a:latin typeface="Arial"/>
                        </a:rPr>
                        <a:t>Draw a story map: 4+ steps across the top, 25+ cards, ordered inside each column, and two release cuts. In 150 words say why you cut there, and what you would do by hand in release 1.</a:t>
                      </a:r>
                    </a:p>
                  </a:txBody>
                  <a:tcPr marL="82296" marR="82296" marT="36576" marB="36576" anchor="ctr">
                    <a:solidFill>
                      <a:srgbClr val="F3F4FA"/>
                    </a:solidFill>
                  </a:tcPr>
                </a:tc>
                <a:tc>
                  <a:txBody>
                    <a:bodyPr/>
                    <a:lstStyle/>
                    <a:p>
                      <a:pPr algn="ctr"/>
                      <a:r>
                        <a:rPr sz="1200" b="1">
                          <a:solidFill>
                            <a:srgbClr val="22223B"/>
                          </a:solidFill>
                          <a:latin typeface="Arial"/>
                        </a:rPr>
                        <a:t>25%</a:t>
                      </a:r>
                    </a:p>
                  </a:txBody>
                  <a:tcPr marL="82296" marR="82296" marT="36576" marB="36576" anchor="ctr">
                    <a:solidFill>
                      <a:srgbClr val="F3F4FA"/>
                    </a:solidFill>
                  </a:tcPr>
                </a:tc>
                <a:extLst>
                  <a:ext uri="{0D108BD9-81ED-4DB2-BD59-A6C34878D82A}">
                    <a16:rowId xmlns:a16="http://schemas.microsoft.com/office/drawing/2014/main" val="10001"/>
                  </a:ext>
                </a:extLst>
              </a:tr>
              <a:tr h="365760">
                <a:tc>
                  <a:txBody>
                    <a:bodyPr/>
                    <a:lstStyle/>
                    <a:p>
                      <a:pPr algn="l"/>
                      <a:r>
                        <a:rPr sz="1200" b="1">
                          <a:solidFill>
                            <a:srgbClr val="22223B"/>
                          </a:solidFill>
                          <a:latin typeface="Arial"/>
                        </a:rPr>
                        <a:t>B   Score it</a:t>
                      </a:r>
                    </a:p>
                  </a:txBody>
                  <a:tcPr marL="82296" marR="82296" marT="36576" marB="36576" anchor="ctr">
                    <a:solidFill>
                      <a:srgbClr val="FFFFFF"/>
                    </a:solidFill>
                  </a:tcPr>
                </a:tc>
                <a:tc>
                  <a:txBody>
                    <a:bodyPr/>
                    <a:lstStyle/>
                    <a:p>
                      <a:pPr algn="l"/>
                      <a:r>
                        <a:rPr sz="1200" b="0">
                          <a:solidFill>
                            <a:srgbClr val="22223B"/>
                          </a:solidFill>
                          <a:latin typeface="Arial"/>
                        </a:rPr>
                        <a:t>Write 8 problem statements. Ask 15+ people the two questions. Work out the scores, tabulate them, and say which to build and which to leave alone.</a:t>
                      </a:r>
                    </a:p>
                  </a:txBody>
                  <a:tcPr marL="82296" marR="82296" marT="36576" marB="36576" anchor="ctr">
                    <a:solidFill>
                      <a:srgbClr val="FFFFFF"/>
                    </a:solidFill>
                  </a:tcPr>
                </a:tc>
                <a:tc>
                  <a:txBody>
                    <a:bodyPr/>
                    <a:lstStyle/>
                    <a:p>
                      <a:pPr algn="ctr"/>
                      <a:r>
                        <a:rPr sz="1200" b="1">
                          <a:solidFill>
                            <a:srgbClr val="22223B"/>
                          </a:solidFill>
                          <a:latin typeface="Arial"/>
                        </a:rPr>
                        <a:t>30%</a:t>
                      </a:r>
                    </a:p>
                  </a:txBody>
                  <a:tcPr marL="82296" marR="82296" marT="36576" marB="36576" anchor="ctr">
                    <a:solidFill>
                      <a:srgbClr val="FFFFFF"/>
                    </a:solidFill>
                  </a:tcPr>
                </a:tc>
                <a:extLst>
                  <a:ext uri="{0D108BD9-81ED-4DB2-BD59-A6C34878D82A}">
                    <a16:rowId xmlns:a16="http://schemas.microsoft.com/office/drawing/2014/main" val="10002"/>
                  </a:ext>
                </a:extLst>
              </a:tr>
              <a:tr h="365760">
                <a:tc>
                  <a:txBody>
                    <a:bodyPr/>
                    <a:lstStyle/>
                    <a:p>
                      <a:pPr algn="l"/>
                      <a:r>
                        <a:rPr sz="1200" b="1">
                          <a:solidFill>
                            <a:srgbClr val="22223B"/>
                          </a:solidFill>
                          <a:latin typeface="Arial"/>
                        </a:rPr>
                        <a:t>C   Order it</a:t>
                      </a:r>
                    </a:p>
                  </a:txBody>
                  <a:tcPr marL="82296" marR="82296" marT="36576" marB="36576" anchor="ctr">
                    <a:solidFill>
                      <a:srgbClr val="F3F4FA"/>
                    </a:solidFill>
                  </a:tcPr>
                </a:tc>
                <a:tc>
                  <a:txBody>
                    <a:bodyPr/>
                    <a:lstStyle/>
                    <a:p>
                      <a:pPr algn="l"/>
                      <a:r>
                        <a:rPr sz="1200" b="0">
                          <a:solidFill>
                            <a:srgbClr val="22223B"/>
                          </a:solidFill>
                          <a:latin typeface="Arial"/>
                        </a:rPr>
                        <a:t>Take 5 items. Estimate what each loses per week and name its curve. Work out the scores, give your order, and compare the total lost against the order they were requested in. Show the sums.</a:t>
                      </a:r>
                    </a:p>
                  </a:txBody>
                  <a:tcPr marL="82296" marR="82296" marT="36576" marB="36576" anchor="ctr">
                    <a:solidFill>
                      <a:srgbClr val="F3F4FA"/>
                    </a:solidFill>
                  </a:tcPr>
                </a:tc>
                <a:tc>
                  <a:txBody>
                    <a:bodyPr/>
                    <a:lstStyle/>
                    <a:p>
                      <a:pPr algn="ctr"/>
                      <a:r>
                        <a:rPr sz="1200" b="1">
                          <a:solidFill>
                            <a:srgbClr val="22223B"/>
                          </a:solidFill>
                          <a:latin typeface="Arial"/>
                        </a:rPr>
                        <a:t>25%</a:t>
                      </a:r>
                    </a:p>
                  </a:txBody>
                  <a:tcPr marL="82296" marR="82296" marT="36576" marB="36576" anchor="ctr">
                    <a:solidFill>
                      <a:srgbClr val="F3F4FA"/>
                    </a:solidFill>
                  </a:tcPr>
                </a:tc>
                <a:extLst>
                  <a:ext uri="{0D108BD9-81ED-4DB2-BD59-A6C34878D82A}">
                    <a16:rowId xmlns:a16="http://schemas.microsoft.com/office/drawing/2014/main" val="10003"/>
                  </a:ext>
                </a:extLst>
              </a:tr>
              <a:tr h="365760">
                <a:tc>
                  <a:txBody>
                    <a:bodyPr/>
                    <a:lstStyle/>
                    <a:p>
                      <a:pPr algn="l"/>
                      <a:r>
                        <a:rPr sz="1200" b="1">
                          <a:solidFill>
                            <a:srgbClr val="22223B"/>
                          </a:solidFill>
                          <a:latin typeface="Arial"/>
                        </a:rPr>
                        <a:t>D   Argue it</a:t>
                      </a:r>
                    </a:p>
                  </a:txBody>
                  <a:tcPr marL="82296" marR="82296" marT="36576" marB="36576" anchor="ctr">
                    <a:solidFill>
                      <a:srgbClr val="FFFFFF"/>
                    </a:solidFill>
                  </a:tcPr>
                </a:tc>
                <a:tc>
                  <a:txBody>
                    <a:bodyPr/>
                    <a:lstStyle/>
                    <a:p>
                      <a:pPr algn="l"/>
                      <a:r>
                        <a:rPr sz="1200" b="0">
                          <a:solidFill>
                            <a:srgbClr val="22223B"/>
                          </a:solidFill>
                          <a:latin typeface="Arial"/>
                        </a:rPr>
                        <a:t>In 400 words or fewer: which tool you would actually use next quarter, why, what you expect it to change — and what would tell you that you chose wrong.</a:t>
                      </a:r>
                    </a:p>
                  </a:txBody>
                  <a:tcPr marL="82296" marR="82296" marT="36576" marB="36576" anchor="ctr">
                    <a:solidFill>
                      <a:srgbClr val="FFFFFF"/>
                    </a:solidFill>
                  </a:tcPr>
                </a:tc>
                <a:tc>
                  <a:txBody>
                    <a:bodyPr/>
                    <a:lstStyle/>
                    <a:p>
                      <a:pPr algn="ctr"/>
                      <a:r>
                        <a:rPr sz="1200" b="1">
                          <a:solidFill>
                            <a:srgbClr val="22223B"/>
                          </a:solidFill>
                          <a:latin typeface="Arial"/>
                        </a:rPr>
                        <a:t>20%</a:t>
                      </a:r>
                    </a:p>
                  </a:txBody>
                  <a:tcPr marL="82296" marR="82296" marT="36576" marB="36576" anchor="ctr">
                    <a:solidFill>
                      <a:srgbClr val="FFFFFF"/>
                    </a:solidFill>
                  </a:tcPr>
                </a:tc>
                <a:extLst>
                  <a:ext uri="{0D108BD9-81ED-4DB2-BD59-A6C34878D82A}">
                    <a16:rowId xmlns:a16="http://schemas.microsoft.com/office/drawing/2014/main" val="10004"/>
                  </a:ext>
                </a:extLst>
              </a:tr>
            </a:tbl>
          </a:graphicData>
        </a:graphic>
      </p:graphicFrame>
      <p:sp>
        <p:nvSpPr>
          <p:cNvPr id="6" name="Rounded Rectangle 5"/>
          <p:cNvSpPr/>
          <p:nvPr/>
        </p:nvSpPr>
        <p:spPr>
          <a:xfrm>
            <a:off x="640080" y="4407408"/>
            <a:ext cx="3477768" cy="118872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59536" y="4590288"/>
            <a:ext cx="3038856" cy="310896"/>
          </a:xfrm>
          <a:prstGeom prst="rect">
            <a:avLst/>
          </a:prstGeom>
          <a:noFill/>
        </p:spPr>
        <p:txBody>
          <a:bodyPr wrap="square" lIns="0" tIns="0" rIns="0" bIns="0" anchor="t">
            <a:spAutoFit/>
          </a:bodyPr>
          <a:lstStyle/>
          <a:p>
            <a:pPr algn="l"/>
            <a:r>
              <a:rPr sz="1400" b="1" i="0">
                <a:solidFill>
                  <a:srgbClr val="211D71"/>
                </a:solidFill>
                <a:latin typeface="Arial"/>
              </a:rPr>
              <a:t>Start with Part B</a:t>
            </a:r>
          </a:p>
        </p:txBody>
      </p:sp>
      <p:sp>
        <p:nvSpPr>
          <p:cNvPr id="8" name="TextBox 7"/>
          <p:cNvSpPr txBox="1"/>
          <p:nvPr/>
        </p:nvSpPr>
        <p:spPr>
          <a:xfrm>
            <a:off x="859536" y="4956048"/>
            <a:ext cx="3038856" cy="493775"/>
          </a:xfrm>
          <a:prstGeom prst="rect">
            <a:avLst/>
          </a:prstGeom>
          <a:noFill/>
        </p:spPr>
        <p:txBody>
          <a:bodyPr wrap="square" lIns="0" tIns="0" rIns="0" bIns="0" anchor="t">
            <a:spAutoFit/>
          </a:bodyPr>
          <a:lstStyle/>
          <a:p>
            <a:pPr algn="l">
              <a:lnSpc>
                <a:spcPts val="1700"/>
              </a:lnSpc>
            </a:pPr>
            <a:r>
              <a:rPr sz="1200" b="0" i="0">
                <a:solidFill>
                  <a:srgbClr val="22223B"/>
                </a:solidFill>
                <a:latin typeface="Arial"/>
              </a:rPr>
              <a:t>Getting 15 people to answer two questions takes about a week. Start it in the first three days.</a:t>
            </a:r>
          </a:p>
        </p:txBody>
      </p:sp>
      <p:sp>
        <p:nvSpPr>
          <p:cNvPr id="9" name="Rounded Rectangle 8"/>
          <p:cNvSpPr/>
          <p:nvPr/>
        </p:nvSpPr>
        <p:spPr>
          <a:xfrm>
            <a:off x="4355592" y="4407408"/>
            <a:ext cx="3477768" cy="118872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5048" y="4590288"/>
            <a:ext cx="3038856" cy="310896"/>
          </a:xfrm>
          <a:prstGeom prst="rect">
            <a:avLst/>
          </a:prstGeom>
          <a:noFill/>
        </p:spPr>
        <p:txBody>
          <a:bodyPr wrap="square" lIns="0" tIns="0" rIns="0" bIns="0" anchor="t">
            <a:spAutoFit/>
          </a:bodyPr>
          <a:lstStyle/>
          <a:p>
            <a:pPr algn="l"/>
            <a:r>
              <a:rPr sz="1400" b="1" i="0">
                <a:solidFill>
                  <a:srgbClr val="211D71"/>
                </a:solidFill>
                <a:latin typeface="Arial"/>
              </a:rPr>
              <a:t>Show every sum</a:t>
            </a:r>
          </a:p>
        </p:txBody>
      </p:sp>
      <p:sp>
        <p:nvSpPr>
          <p:cNvPr id="11" name="TextBox 10"/>
          <p:cNvSpPr txBox="1"/>
          <p:nvPr/>
        </p:nvSpPr>
        <p:spPr>
          <a:xfrm>
            <a:off x="4575048" y="4956048"/>
            <a:ext cx="3038856" cy="493775"/>
          </a:xfrm>
          <a:prstGeom prst="rect">
            <a:avLst/>
          </a:prstGeom>
          <a:noFill/>
        </p:spPr>
        <p:txBody>
          <a:bodyPr wrap="square" lIns="0" tIns="0" rIns="0" bIns="0" anchor="t">
            <a:spAutoFit/>
          </a:bodyPr>
          <a:lstStyle/>
          <a:p>
            <a:pPr algn="l">
              <a:lnSpc>
                <a:spcPts val="1700"/>
              </a:lnSpc>
            </a:pPr>
            <a:r>
              <a:rPr sz="1200" b="0" i="0">
                <a:solidFill>
                  <a:srgbClr val="22223B"/>
                </a:solidFill>
                <a:latin typeface="Arial"/>
              </a:rPr>
              <a:t>Part C is marked on the working, not the size of the numbers. Made-up figures are fine if you say they are.</a:t>
            </a:r>
          </a:p>
        </p:txBody>
      </p:sp>
      <p:sp>
        <p:nvSpPr>
          <p:cNvPr id="12" name="Rounded Rectangle 11"/>
          <p:cNvSpPr/>
          <p:nvPr/>
        </p:nvSpPr>
        <p:spPr>
          <a:xfrm>
            <a:off x="8071104" y="4407408"/>
            <a:ext cx="3477768" cy="118872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90560" y="4590288"/>
            <a:ext cx="3038856" cy="310896"/>
          </a:xfrm>
          <a:prstGeom prst="rect">
            <a:avLst/>
          </a:prstGeom>
          <a:noFill/>
        </p:spPr>
        <p:txBody>
          <a:bodyPr wrap="square" lIns="0" tIns="0" rIns="0" bIns="0" anchor="t">
            <a:spAutoFit/>
          </a:bodyPr>
          <a:lstStyle/>
          <a:p>
            <a:pPr algn="l"/>
            <a:r>
              <a:rPr sz="1400" b="1" i="0">
                <a:solidFill>
                  <a:srgbClr val="211D71"/>
                </a:solidFill>
                <a:latin typeface="Arial"/>
              </a:rPr>
              <a:t>Part D decides your grade</a:t>
            </a:r>
          </a:p>
        </p:txBody>
      </p:sp>
      <p:sp>
        <p:nvSpPr>
          <p:cNvPr id="14" name="TextBox 13"/>
          <p:cNvSpPr txBox="1"/>
          <p:nvPr/>
        </p:nvSpPr>
        <p:spPr>
          <a:xfrm>
            <a:off x="8290560" y="4956048"/>
            <a:ext cx="3038856" cy="493775"/>
          </a:xfrm>
          <a:prstGeom prst="rect">
            <a:avLst/>
          </a:prstGeom>
          <a:noFill/>
        </p:spPr>
        <p:txBody>
          <a:bodyPr wrap="square" lIns="0" tIns="0" rIns="0" bIns="0" anchor="t">
            <a:spAutoFit/>
          </a:bodyPr>
          <a:lstStyle/>
          <a:p>
            <a:pPr algn="l">
              <a:lnSpc>
                <a:spcPts val="1700"/>
              </a:lnSpc>
            </a:pPr>
            <a:r>
              <a:rPr sz="1200" b="0" i="0">
                <a:solidFill>
                  <a:srgbClr val="22223B"/>
                </a:solidFill>
                <a:latin typeface="Arial"/>
              </a:rPr>
              <a:t>A confident answer with no "what would prove me wrong" is not a good answer.</a:t>
            </a:r>
          </a:p>
        </p:txBody>
      </p:sp>
      <p:sp>
        <p:nvSpPr>
          <p:cNvPr id="15" name="Rounded Rectangle 14"/>
          <p:cNvSpPr/>
          <p:nvPr/>
        </p:nvSpPr>
        <p:spPr>
          <a:xfrm>
            <a:off x="640080" y="5705856"/>
            <a:ext cx="10908792" cy="603504"/>
          </a:xfrm>
          <a:prstGeom prst="roundRect">
            <a:avLst>
              <a:gd name="adj" fmla="val 5500"/>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96112" y="5705856"/>
            <a:ext cx="10396728" cy="603504"/>
          </a:xfrm>
          <a:prstGeom prst="rect">
            <a:avLst/>
          </a:prstGeom>
          <a:noFill/>
        </p:spPr>
        <p:txBody>
          <a:bodyPr wrap="square" lIns="0" tIns="0" rIns="0" bIns="0" anchor="ctr">
            <a:spAutoFit/>
          </a:bodyPr>
          <a:lstStyle/>
          <a:p>
            <a:pPr algn="l"/>
            <a:r>
              <a:rPr sz="1300" b="0" i="0">
                <a:solidFill>
                  <a:srgbClr val="FFFFFF"/>
                </a:solidFill>
                <a:latin typeface="Arial"/>
              </a:rPr>
              <a:t>Submit:  one PDF, 8 pages maximum — photographs of sticky notes are fine.       Deadline:  &lt;faculty to confirm&gt;</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74320"/>
            <a:ext cx="10908792" cy="237744"/>
          </a:xfrm>
          <a:prstGeom prst="rect">
            <a:avLst/>
          </a:prstGeom>
          <a:noFill/>
        </p:spPr>
        <p:txBody>
          <a:bodyPr wrap="square" lIns="0" tIns="0" rIns="0" bIns="0" anchor="t">
            <a:spAutoFit/>
          </a:bodyPr>
          <a:lstStyle/>
          <a:p>
            <a:pPr algn="l"/>
            <a:r>
              <a:rPr sz="1000" b="1" i="0" spc="140">
                <a:solidFill>
                  <a:srgbClr val="A9740A"/>
                </a:solidFill>
                <a:latin typeface="Arial"/>
              </a:rPr>
              <a:t>WRAP-UP</a:t>
            </a:r>
          </a:p>
        </p:txBody>
      </p:sp>
      <p:sp>
        <p:nvSpPr>
          <p:cNvPr id="3" name="TextBox 2"/>
          <p:cNvSpPr txBox="1"/>
          <p:nvPr/>
        </p:nvSpPr>
        <p:spPr>
          <a:xfrm>
            <a:off x="640080" y="548640"/>
            <a:ext cx="8229600" cy="640080"/>
          </a:xfrm>
          <a:prstGeom prst="rect">
            <a:avLst/>
          </a:prstGeom>
          <a:noFill/>
        </p:spPr>
        <p:txBody>
          <a:bodyPr wrap="square" lIns="0" tIns="0" rIns="0" bIns="0" anchor="t">
            <a:spAutoFit/>
          </a:bodyPr>
          <a:lstStyle/>
          <a:p>
            <a:pPr algn="l"/>
            <a:r>
              <a:rPr sz="2400" b="1" i="0">
                <a:solidFill>
                  <a:srgbClr val="211D71"/>
                </a:solidFill>
                <a:latin typeface="Arial"/>
              </a:rPr>
              <a:t>Where all this comes from</a:t>
            </a:r>
          </a:p>
        </p:txBody>
      </p:sp>
      <p:sp>
        <p:nvSpPr>
          <p:cNvPr id="4" name="Rounded Rectangle 3"/>
          <p:cNvSpPr/>
          <p:nvPr/>
        </p:nvSpPr>
        <p:spPr>
          <a:xfrm>
            <a:off x="640080" y="1709928"/>
            <a:ext cx="3477768" cy="310896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59536" y="1892807"/>
            <a:ext cx="3038856" cy="310896"/>
          </a:xfrm>
          <a:prstGeom prst="rect">
            <a:avLst/>
          </a:prstGeom>
          <a:noFill/>
        </p:spPr>
        <p:txBody>
          <a:bodyPr wrap="square" lIns="0" tIns="0" rIns="0" bIns="0" anchor="t">
            <a:spAutoFit/>
          </a:bodyPr>
          <a:lstStyle/>
          <a:p>
            <a:pPr algn="l"/>
            <a:r>
              <a:rPr sz="1400" b="1" i="0">
                <a:solidFill>
                  <a:srgbClr val="211D71"/>
                </a:solidFill>
                <a:latin typeface="Arial"/>
              </a:rPr>
              <a:t>Books</a:t>
            </a:r>
          </a:p>
        </p:txBody>
      </p:sp>
      <p:sp>
        <p:nvSpPr>
          <p:cNvPr id="6" name="TextBox 5"/>
          <p:cNvSpPr txBox="1"/>
          <p:nvPr/>
        </p:nvSpPr>
        <p:spPr>
          <a:xfrm>
            <a:off x="859536" y="2258568"/>
            <a:ext cx="3038856" cy="2414015"/>
          </a:xfrm>
          <a:prstGeom prst="rect">
            <a:avLst/>
          </a:prstGeom>
          <a:noFill/>
        </p:spPr>
        <p:txBody>
          <a:bodyPr wrap="square" lIns="0" tIns="0" rIns="0" bIns="0" anchor="t">
            <a:spAutoFit/>
          </a:bodyPr>
          <a:lstStyle/>
          <a:p>
            <a:pPr algn="l">
              <a:lnSpc>
                <a:spcPts val="1700"/>
              </a:lnSpc>
            </a:pPr>
            <a:r>
              <a:rPr sz="1200" b="0" i="0">
                <a:solidFill>
                  <a:srgbClr val="22223B"/>
                </a:solidFill>
                <a:latin typeface="Arial"/>
              </a:rPr>
              <a:t>Jeff Patton — User Story Mapping (2014)</a:t>
            </a:r>
          </a:p>
          <a:p>
            <a:pPr algn="l">
              <a:lnSpc>
                <a:spcPts val="1700"/>
              </a:lnSpc>
            </a:pPr>
            <a:endParaRPr sz="1200" b="0" i="0">
              <a:solidFill>
                <a:srgbClr val="22223B"/>
              </a:solidFill>
              <a:latin typeface="Arial"/>
            </a:endParaRPr>
          </a:p>
          <a:p>
            <a:pPr algn="l">
              <a:lnSpc>
                <a:spcPts val="1700"/>
              </a:lnSpc>
            </a:pPr>
            <a:r>
              <a:rPr sz="1200" b="0" i="0">
                <a:solidFill>
                  <a:srgbClr val="22223B"/>
                </a:solidFill>
                <a:latin typeface="Arial"/>
              </a:rPr>
              <a:t>Donald Reinertsen — The Principles of Product Development Flow (2009)</a:t>
            </a:r>
          </a:p>
          <a:p>
            <a:pPr algn="l">
              <a:lnSpc>
                <a:spcPts val="1700"/>
              </a:lnSpc>
            </a:pPr>
            <a:endParaRPr sz="1200" b="0" i="0">
              <a:solidFill>
                <a:srgbClr val="22223B"/>
              </a:solidFill>
              <a:latin typeface="Arial"/>
            </a:endParaRPr>
          </a:p>
          <a:p>
            <a:pPr algn="l">
              <a:lnSpc>
                <a:spcPts val="1700"/>
              </a:lnSpc>
            </a:pPr>
            <a:r>
              <a:rPr sz="1200" b="0" i="0">
                <a:solidFill>
                  <a:srgbClr val="22223B"/>
                </a:solidFill>
                <a:latin typeface="Arial"/>
              </a:rPr>
              <a:t>Anthony Ulwick — What Customers Want (2005)</a:t>
            </a:r>
          </a:p>
          <a:p>
            <a:pPr algn="l">
              <a:lnSpc>
                <a:spcPts val="1700"/>
              </a:lnSpc>
            </a:pPr>
            <a:endParaRPr sz="1200" b="0" i="0">
              <a:solidFill>
                <a:srgbClr val="22223B"/>
              </a:solidFill>
              <a:latin typeface="Arial"/>
            </a:endParaRPr>
          </a:p>
          <a:p>
            <a:pPr algn="l">
              <a:lnSpc>
                <a:spcPts val="1700"/>
              </a:lnSpc>
            </a:pPr>
            <a:r>
              <a:rPr sz="1200" b="0" i="0">
                <a:solidFill>
                  <a:srgbClr val="22223B"/>
                </a:solidFill>
                <a:latin typeface="Arial"/>
              </a:rPr>
              <a:t>Luke Hohmann — Innovation Games (2006)</a:t>
            </a:r>
          </a:p>
          <a:p>
            <a:pPr algn="l">
              <a:lnSpc>
                <a:spcPts val="1700"/>
              </a:lnSpc>
            </a:pPr>
            <a:endParaRPr sz="1200" b="0" i="0">
              <a:solidFill>
                <a:srgbClr val="22223B"/>
              </a:solidFill>
              <a:latin typeface="Arial"/>
            </a:endParaRPr>
          </a:p>
          <a:p>
            <a:pPr algn="l">
              <a:lnSpc>
                <a:spcPts val="1700"/>
              </a:lnSpc>
            </a:pPr>
            <a:r>
              <a:rPr sz="1200" b="0" i="0">
                <a:solidFill>
                  <a:srgbClr val="22223B"/>
                </a:solidFill>
                <a:latin typeface="Arial"/>
              </a:rPr>
              <a:t>Roman Pichler — Strategize (2016)</a:t>
            </a:r>
          </a:p>
        </p:txBody>
      </p:sp>
      <p:sp>
        <p:nvSpPr>
          <p:cNvPr id="7" name="Rounded Rectangle 6"/>
          <p:cNvSpPr/>
          <p:nvPr/>
        </p:nvSpPr>
        <p:spPr>
          <a:xfrm>
            <a:off x="4355592" y="1709928"/>
            <a:ext cx="3477768" cy="310896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5048" y="1892807"/>
            <a:ext cx="3038856" cy="310896"/>
          </a:xfrm>
          <a:prstGeom prst="rect">
            <a:avLst/>
          </a:prstGeom>
          <a:noFill/>
        </p:spPr>
        <p:txBody>
          <a:bodyPr wrap="square" lIns="0" tIns="0" rIns="0" bIns="0" anchor="t">
            <a:spAutoFit/>
          </a:bodyPr>
          <a:lstStyle/>
          <a:p>
            <a:pPr algn="l"/>
            <a:r>
              <a:rPr sz="1400" b="1" i="0">
                <a:solidFill>
                  <a:srgbClr val="211D71"/>
                </a:solidFill>
                <a:latin typeface="Arial"/>
              </a:rPr>
              <a:t>Standards</a:t>
            </a:r>
          </a:p>
        </p:txBody>
      </p:sp>
      <p:sp>
        <p:nvSpPr>
          <p:cNvPr id="9" name="TextBox 8"/>
          <p:cNvSpPr txBox="1"/>
          <p:nvPr/>
        </p:nvSpPr>
        <p:spPr>
          <a:xfrm>
            <a:off x="4575048" y="2258568"/>
            <a:ext cx="3038856" cy="2414015"/>
          </a:xfrm>
          <a:prstGeom prst="rect">
            <a:avLst/>
          </a:prstGeom>
          <a:noFill/>
        </p:spPr>
        <p:txBody>
          <a:bodyPr wrap="square" lIns="0" tIns="0" rIns="0" bIns="0" anchor="t">
            <a:spAutoFit/>
          </a:bodyPr>
          <a:lstStyle/>
          <a:p>
            <a:pPr algn="l">
              <a:lnSpc>
                <a:spcPts val="1700"/>
              </a:lnSpc>
            </a:pPr>
            <a:r>
              <a:rPr sz="1200" b="0" i="0">
                <a:solidFill>
                  <a:srgbClr val="22223B"/>
                </a:solidFill>
                <a:latin typeface="Arial"/>
              </a:rPr>
              <a:t>Agile Business Consortium — DSDM MoSCoW: the four definitions and the 60% / 20% guidance</a:t>
            </a:r>
          </a:p>
          <a:p>
            <a:pPr algn="l">
              <a:lnSpc>
                <a:spcPts val="1700"/>
              </a:lnSpc>
            </a:pPr>
            <a:endParaRPr sz="1200" b="0" i="0">
              <a:solidFill>
                <a:srgbClr val="22223B"/>
              </a:solidFill>
              <a:latin typeface="Arial"/>
            </a:endParaRPr>
          </a:p>
          <a:p>
            <a:pPr algn="l">
              <a:lnSpc>
                <a:spcPts val="1700"/>
              </a:lnSpc>
            </a:pPr>
            <a:r>
              <a:rPr sz="1200" b="0" i="0">
                <a:solidFill>
                  <a:srgbClr val="22223B"/>
                </a:solidFill>
                <a:latin typeface="Arial"/>
              </a:rPr>
              <a:t>Scaled Agile Framework — WSJF: the three-part top line and Fibonacci sizing</a:t>
            </a:r>
          </a:p>
          <a:p>
            <a:pPr algn="l">
              <a:lnSpc>
                <a:spcPts val="1700"/>
              </a:lnSpc>
            </a:pPr>
            <a:endParaRPr sz="1200" b="0" i="0">
              <a:solidFill>
                <a:srgbClr val="22223B"/>
              </a:solidFill>
              <a:latin typeface="Arial"/>
            </a:endParaRPr>
          </a:p>
          <a:p>
            <a:pPr algn="l">
              <a:lnSpc>
                <a:spcPts val="1700"/>
              </a:lnSpc>
            </a:pPr>
            <a:r>
              <a:rPr sz="1200" b="0" i="0">
                <a:solidFill>
                  <a:srgbClr val="22223B"/>
                </a:solidFill>
                <a:latin typeface="Arial"/>
              </a:rPr>
              <a:t>Scrum Guide — the backlog as one ordered list</a:t>
            </a:r>
          </a:p>
        </p:txBody>
      </p:sp>
      <p:sp>
        <p:nvSpPr>
          <p:cNvPr id="10" name="Rounded Rectangle 9"/>
          <p:cNvSpPr/>
          <p:nvPr/>
        </p:nvSpPr>
        <p:spPr>
          <a:xfrm>
            <a:off x="8071104" y="1709928"/>
            <a:ext cx="3477768" cy="3108960"/>
          </a:xfrm>
          <a:prstGeom prst="roundRect">
            <a:avLst>
              <a:gd name="adj" fmla="val 5500"/>
            </a:avLst>
          </a:prstGeom>
          <a:solidFill>
            <a:srgbClr val="F3F4FA"/>
          </a:solidFill>
          <a:ln w="12700">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90560" y="1892807"/>
            <a:ext cx="3038856" cy="310896"/>
          </a:xfrm>
          <a:prstGeom prst="rect">
            <a:avLst/>
          </a:prstGeom>
          <a:noFill/>
        </p:spPr>
        <p:txBody>
          <a:bodyPr wrap="square" lIns="0" tIns="0" rIns="0" bIns="0" anchor="t">
            <a:spAutoFit/>
          </a:bodyPr>
          <a:lstStyle/>
          <a:p>
            <a:pPr algn="l"/>
            <a:r>
              <a:rPr sz="1400" b="1" i="0">
                <a:solidFill>
                  <a:srgbClr val="211D71"/>
                </a:solidFill>
                <a:latin typeface="Arial"/>
              </a:rPr>
              <a:t>Also worth knowing</a:t>
            </a:r>
          </a:p>
        </p:txBody>
      </p:sp>
      <p:sp>
        <p:nvSpPr>
          <p:cNvPr id="12" name="TextBox 11"/>
          <p:cNvSpPr txBox="1"/>
          <p:nvPr/>
        </p:nvSpPr>
        <p:spPr>
          <a:xfrm>
            <a:off x="8290560" y="2258568"/>
            <a:ext cx="3038856" cy="2414015"/>
          </a:xfrm>
          <a:prstGeom prst="rect">
            <a:avLst/>
          </a:prstGeom>
          <a:noFill/>
        </p:spPr>
        <p:txBody>
          <a:bodyPr wrap="square" lIns="0" tIns="0" rIns="0" bIns="0" anchor="t">
            <a:spAutoFit/>
          </a:bodyPr>
          <a:lstStyle/>
          <a:p>
            <a:pPr algn="l">
              <a:lnSpc>
                <a:spcPts val="1700"/>
              </a:lnSpc>
            </a:pPr>
            <a:r>
              <a:rPr sz="1200" b="0" i="0">
                <a:solidFill>
                  <a:srgbClr val="22223B"/>
                </a:solidFill>
                <a:latin typeface="Arial"/>
              </a:rPr>
              <a:t>RICE — Reach × Impact × Confidence ÷ Effort. Same shape as CD3, used widely in industry</a:t>
            </a:r>
          </a:p>
          <a:p>
            <a:pPr algn="l">
              <a:lnSpc>
                <a:spcPts val="1700"/>
              </a:lnSpc>
            </a:pPr>
            <a:endParaRPr sz="1200" b="0" i="0">
              <a:solidFill>
                <a:srgbClr val="22223B"/>
              </a:solidFill>
              <a:latin typeface="Arial"/>
            </a:endParaRPr>
          </a:p>
          <a:p>
            <a:pPr algn="l">
              <a:lnSpc>
                <a:spcPts val="1700"/>
              </a:lnSpc>
            </a:pPr>
            <a:r>
              <a:rPr sz="1200" b="0" i="0">
                <a:solidFill>
                  <a:srgbClr val="22223B"/>
                </a:solidFill>
                <a:latin typeface="Arial"/>
              </a:rPr>
              <a:t>Kano model — which features must simply be present, and which delight</a:t>
            </a:r>
          </a:p>
          <a:p>
            <a:pPr algn="l">
              <a:lnSpc>
                <a:spcPts val="1700"/>
              </a:lnSpc>
            </a:pPr>
            <a:endParaRPr sz="1200" b="0" i="0">
              <a:solidFill>
                <a:srgbClr val="22223B"/>
              </a:solidFill>
              <a:latin typeface="Arial"/>
            </a:endParaRPr>
          </a:p>
          <a:p>
            <a:pPr algn="l">
              <a:lnSpc>
                <a:spcPts val="1700"/>
              </a:lnSpc>
            </a:pPr>
            <a:r>
              <a:rPr sz="1200" b="0" i="0">
                <a:solidFill>
                  <a:srgbClr val="22223B"/>
                </a:solidFill>
                <a:latin typeface="Arial"/>
              </a:rPr>
              <a:t>The four Cost of Delay curves: slow fade, cliff edge, short window, first mover</a:t>
            </a:r>
          </a:p>
        </p:txBody>
      </p:sp>
      <p:sp>
        <p:nvSpPr>
          <p:cNvPr id="13" name="Rounded Rectangle 12"/>
          <p:cNvSpPr/>
          <p:nvPr/>
        </p:nvSpPr>
        <p:spPr>
          <a:xfrm>
            <a:off x="640080" y="5001768"/>
            <a:ext cx="10908792" cy="731520"/>
          </a:xfrm>
          <a:prstGeom prst="roundRect">
            <a:avLst>
              <a:gd name="adj" fmla="val 5500"/>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68680" y="5038344"/>
            <a:ext cx="10451592" cy="658368"/>
          </a:xfrm>
          <a:prstGeom prst="rect">
            <a:avLst/>
          </a:prstGeom>
          <a:noFill/>
        </p:spPr>
        <p:txBody>
          <a:bodyPr wrap="square" lIns="0" tIns="0" rIns="0" bIns="0" anchor="ctr">
            <a:spAutoFit/>
          </a:bodyPr>
          <a:lstStyle/>
          <a:p>
            <a:pPr algn="l"/>
            <a:r>
              <a:rPr sz="1350" b="0" i="1">
                <a:solidFill>
                  <a:srgbClr val="FFFFFF"/>
                </a:solidFill>
                <a:latin typeface="Arial"/>
              </a:rPr>
              <a:t>All the money figures in today's examples were made up for teaching. The formulas and the 60% rule are as published above — check them before quoting them in your assignment.</a:t>
            </a:r>
          </a:p>
        </p:txBody>
      </p:sp>
      <p:sp>
        <p:nvSpPr>
          <p:cNvPr id="15" name="TextBox 14"/>
          <p:cNvSpPr txBox="1"/>
          <p:nvPr/>
        </p:nvSpPr>
        <p:spPr>
          <a:xfrm>
            <a:off x="640080" y="5870448"/>
            <a:ext cx="10908792" cy="274320"/>
          </a:xfrm>
          <a:prstGeom prst="rect">
            <a:avLst/>
          </a:prstGeom>
          <a:noFill/>
        </p:spPr>
        <p:txBody>
          <a:bodyPr wrap="square" lIns="0" tIns="0" rIns="0" bIns="0" anchor="t">
            <a:spAutoFit/>
          </a:bodyPr>
          <a:lstStyle/>
          <a:p>
            <a:pPr algn="l"/>
            <a:r>
              <a:rPr sz="1100" b="0" i="0">
                <a:solidFill>
                  <a:srgbClr val="5F6178"/>
                </a:solidFill>
                <a:latin typeface="Arial"/>
              </a:rPr>
              <a:t>Checked against current published guidance in September 2026.</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19" y="2331720"/>
            <a:ext cx="10058400" cy="868680"/>
          </a:xfrm>
          <a:prstGeom prst="rect">
            <a:avLst/>
          </a:prstGeom>
          <a:noFill/>
        </p:spPr>
        <p:txBody>
          <a:bodyPr wrap="square" lIns="0" tIns="0" rIns="0" bIns="0" anchor="t">
            <a:spAutoFit/>
          </a:bodyPr>
          <a:lstStyle/>
          <a:p>
            <a:pPr algn="l"/>
            <a:r>
              <a:rPr sz="3600" b="1" i="0">
                <a:solidFill>
                  <a:srgbClr val="211D71"/>
                </a:solidFill>
                <a:latin typeface="Arial"/>
              </a:rPr>
              <a:t>Questions</a:t>
            </a:r>
          </a:p>
        </p:txBody>
      </p:sp>
      <p:sp>
        <p:nvSpPr>
          <p:cNvPr id="3" name="Rectangle 2"/>
          <p:cNvSpPr/>
          <p:nvPr/>
        </p:nvSpPr>
        <p:spPr>
          <a:xfrm>
            <a:off x="777240" y="3291840"/>
            <a:ext cx="914400" cy="50292"/>
          </a:xfrm>
          <a:prstGeom prst="rect">
            <a:avLst/>
          </a:prstGeom>
          <a:solidFill>
            <a:srgbClr val="211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691639" y="3291840"/>
            <a:ext cx="914400" cy="50292"/>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2606039" y="3291840"/>
            <a:ext cx="914400" cy="50292"/>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19" y="3611880"/>
            <a:ext cx="7772400" cy="1188720"/>
          </a:xfrm>
          <a:prstGeom prst="rect">
            <a:avLst/>
          </a:prstGeom>
          <a:noFill/>
        </p:spPr>
        <p:txBody>
          <a:bodyPr wrap="square" lIns="0" tIns="0" rIns="0" bIns="0" anchor="t">
            <a:spAutoFit/>
          </a:bodyPr>
          <a:lstStyle/>
          <a:p>
            <a:pPr algn="l">
              <a:lnSpc>
                <a:spcPts val="2600"/>
              </a:lnSpc>
            </a:pPr>
            <a:r>
              <a:rPr sz="1400" b="0" i="0">
                <a:solidFill>
                  <a:srgbClr val="5F6178"/>
                </a:solidFill>
                <a:latin typeface="Arial"/>
              </a:rPr>
              <a:t>Next session:  </a:t>
            </a:r>
            <a:r>
              <a:rPr sz="1400" b="1" i="0">
                <a:solidFill>
                  <a:srgbClr val="22223B"/>
                </a:solidFill>
                <a:latin typeface="Arial"/>
              </a:rPr>
              <a:t>&lt;topic&gt;</a:t>
            </a:r>
          </a:p>
          <a:p>
            <a:pPr algn="l">
              <a:lnSpc>
                <a:spcPts val="2600"/>
              </a:lnSpc>
            </a:pPr>
            <a:r>
              <a:rPr sz="1400" b="0" i="0">
                <a:solidFill>
                  <a:srgbClr val="5F6178"/>
                </a:solidFill>
                <a:latin typeface="Arial"/>
              </a:rPr>
              <a:t>Office hours:  </a:t>
            </a:r>
            <a:r>
              <a:rPr sz="1400" b="1" i="0">
                <a:solidFill>
                  <a:srgbClr val="22223B"/>
                </a:solidFill>
                <a:latin typeface="Arial"/>
              </a:rPr>
              <a:t>&lt;day and time&gt;</a:t>
            </a:r>
          </a:p>
          <a:p>
            <a:pPr algn="l">
              <a:lnSpc>
                <a:spcPts val="2600"/>
              </a:lnSpc>
            </a:pPr>
            <a:r>
              <a:rPr sz="1400" b="0" i="0">
                <a:solidFill>
                  <a:srgbClr val="5F6178"/>
                </a:solidFill>
                <a:latin typeface="Arial"/>
              </a:rPr>
              <a:t>Email:  </a:t>
            </a:r>
            <a:r>
              <a:rPr sz="1400" b="1" i="0">
                <a:solidFill>
                  <a:srgbClr val="22223B"/>
                </a:solidFill>
                <a:latin typeface="Arial"/>
              </a:rPr>
              <a:t>&lt;faculty email&gt;</a:t>
            </a:r>
          </a:p>
        </p:txBody>
      </p:sp>
      <p:sp>
        <p:nvSpPr>
          <p:cNvPr id="7" name="TextBox 6"/>
          <p:cNvSpPr txBox="1"/>
          <p:nvPr/>
        </p:nvSpPr>
        <p:spPr>
          <a:xfrm>
            <a:off x="731519" y="4983480"/>
            <a:ext cx="7772400" cy="548640"/>
          </a:xfrm>
          <a:prstGeom prst="rect">
            <a:avLst/>
          </a:prstGeom>
          <a:noFill/>
        </p:spPr>
        <p:txBody>
          <a:bodyPr wrap="square" lIns="0" tIns="0" rIns="0" bIns="0" anchor="t">
            <a:spAutoFit/>
          </a:bodyPr>
          <a:lstStyle/>
          <a:p>
            <a:pPr algn="l">
              <a:lnSpc>
                <a:spcPts val="2000"/>
              </a:lnSpc>
            </a:pPr>
            <a:r>
              <a:rPr sz="1350" b="0" i="1">
                <a:solidFill>
                  <a:srgbClr val="5F6178"/>
                </a:solidFill>
                <a:latin typeface="Arial"/>
              </a:rPr>
              <a:t>Start Part B first — getting fifteen people to answer two questions takes longer than the maths does.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heme3">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3" id="{571C6C8C-9BB8-4C94-B9E1-0E734FF6606A}" vid="{578348C1-D9CB-4F53-A5AE-F1D4384D57DC}"/>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507BA72441AEE45A3CAE1ADD5070980" ma:contentTypeVersion="7" ma:contentTypeDescription="Create a new document." ma:contentTypeScope="" ma:versionID="257639c9bae52cceea61322fecbfd23b">
  <xsd:schema xmlns:xsd="http://www.w3.org/2001/XMLSchema" xmlns:xs="http://www.w3.org/2001/XMLSchema" xmlns:p="http://schemas.microsoft.com/office/2006/metadata/properties" xmlns:ns2="2723f1bc-7802-4c44-b827-a549654b530e" targetNamespace="http://schemas.microsoft.com/office/2006/metadata/properties" ma:root="true" ma:fieldsID="146ed545e40a9bf03aef0bb26930a53e" ns2:_="">
    <xsd:import namespace="2723f1bc-7802-4c44-b827-a549654b530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723f1bc-7802-4c44-b827-a549654b530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7BCAB83-BD47-449B-B66A-7A3B5BBD1A90}"/>
</file>

<file path=customXml/itemProps2.xml><?xml version="1.0" encoding="utf-8"?>
<ds:datastoreItem xmlns:ds="http://schemas.openxmlformats.org/officeDocument/2006/customXml" ds:itemID="{9C197306-6F03-4453-B404-BBC760E42357}"/>
</file>

<file path=customXml/itemProps3.xml><?xml version="1.0" encoding="utf-8"?>
<ds:datastoreItem xmlns:ds="http://schemas.openxmlformats.org/officeDocument/2006/customXml" ds:itemID="{28B4EDEA-CE2B-4AF8-8894-CF5EFC91E6DD}"/>
</file>

<file path=docProps/app.xml><?xml version="1.0" encoding="utf-8"?>
<Properties xmlns="http://schemas.openxmlformats.org/officeDocument/2006/extended-properties" xmlns:vt="http://schemas.openxmlformats.org/officeDocument/2006/docPropsVTypes">
  <TotalTime>3041</TotalTime>
  <Words>10099</Words>
  <Application>Microsoft Office PowerPoint</Application>
  <PresentationFormat>Widescreen</PresentationFormat>
  <Paragraphs>1127</Paragraphs>
  <Slides>56</Slides>
  <Notes>56</Notes>
  <HiddenSlides>0</HiddenSlides>
  <MMClips>0</MMClips>
  <ScaleCrop>false</ScaleCrop>
  <HeadingPairs>
    <vt:vector size="6" baseType="variant">
      <vt:variant>
        <vt:lpstr>Fonts Used</vt:lpstr>
      </vt:variant>
      <vt:variant>
        <vt:i4>9</vt:i4>
      </vt:variant>
      <vt:variant>
        <vt:lpstr>Theme</vt:lpstr>
      </vt:variant>
      <vt:variant>
        <vt:i4>4</vt:i4>
      </vt:variant>
      <vt:variant>
        <vt:lpstr>Slide Titles</vt:lpstr>
      </vt:variant>
      <vt:variant>
        <vt:i4>56</vt:i4>
      </vt:variant>
    </vt:vector>
  </HeadingPairs>
  <TitlesOfParts>
    <vt:vector size="69" baseType="lpstr">
      <vt:lpstr>Arial</vt:lpstr>
      <vt:lpstr>Arial MT</vt:lpstr>
      <vt:lpstr>Calibri</vt:lpstr>
      <vt:lpstr>Calibri Light</vt:lpstr>
      <vt:lpstr>Cambria</vt:lpstr>
      <vt:lpstr>Helvetica</vt:lpstr>
      <vt:lpstr>Helvetica Light</vt:lpstr>
      <vt:lpstr>Helvetica Neue</vt:lpstr>
      <vt:lpstr>Tahoma</vt:lpstr>
      <vt:lpstr>Office Theme</vt:lpstr>
      <vt:lpstr>2_Office Theme</vt:lpstr>
      <vt:lpstr>3_Office Theme</vt:lpstr>
      <vt:lpstr>Theme3</vt:lpstr>
      <vt:lpstr>Product Roadmap and Prioritisation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Statistical Methods</dc:title>
  <dc:creator>ISM Team</dc:creator>
  <cp:lastModifiedBy>Madhu Venkat</cp:lastModifiedBy>
  <cp:revision>287</cp:revision>
  <dcterms:created xsi:type="dcterms:W3CDTF">2025-05-22T16:12:05Z</dcterms:created>
  <dcterms:modified xsi:type="dcterms:W3CDTF">2026-09-06T09:29:23Z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0x0101008507BA72441AEE45A3CAE1ADD5070980</vt:lpwstr>
  </property>
</Properties>
</file>