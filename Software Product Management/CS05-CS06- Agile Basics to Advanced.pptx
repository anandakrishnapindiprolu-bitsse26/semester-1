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presentation.xml" ContentType="application/vnd.openxmlformats-officedocument.presentationml.presentation.main+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34.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79.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339" r:id="rId36"/>
    <p:sldId id="340"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15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customXml" Target="../customXml/item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3.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172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(60 sec). Set the contract for the session:
"This is not a certification course. Nobody leaves here a Certified Scrum Master. What you will leave with is a working vocabulary, a clear view of why we do each thing, and one change you are going to make in your own team."
Two ground rules, say them out loud:
1. Every example in this deck comes from hospitality software — our world. If an example doesn't match your team, say so, we'll adapt it live.
2. Activities are not optional. Half of this session is you talking, not me. If you sit out the exercises you get about a third of the value.
Room setup: tables of 4-5, mixed engineering and product on every table. Ask people to move NOW if the tables are single-discipline — cross-functional tables make every exercise better.
Have ready: sticky notes, markers, a visible timer.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(60 sec). Don't read the slide. Say:
"The shape is deliberate. Foundations first because the mechanics only make sense if you know what problem they solve. Then Scrum, because that's what most of our teams claim to run. Then the two things teams get wrong most often — estimation and metrics. Then the advanced material, and finally your own team."
Flag the pace honestly: "We are moving fast. If something needs more depth, put it on the parking lot sheet at the back and I'll follow up rather than derail the session."
Put up a physical parking lot flipchart now.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"Before any mechanics, we need to agree on the problem. If you don't believe there's a problem, every ceremony we discuss today will feel like overhead — and you'd be 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(2.5 min). This is a real RBS loss from August. Handle it without blame — name no individuals.
"This is not a story about bad engineers or lazy support. Every person in that chain did something defensible. It's a story about a feedback loop that took six months to close, in a market where the customer's patience was about six weeks."
The teaching point: Agile is fundamentally a set of practices for shortening the distance between 'someone needs something' and 'we know whether we got it right'. Every ceremony we discuss today exists to compress that distance.
Ask the room, don't answer it yourself: "How many of you are sitting on a customer question right now that's older than a month?" Let the hands go up. Let it land. Move 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(2.5 min). Frame this as physics, not incompetence.
Card 1 — the cone of uncertainty. Early estimates on novel work are routinely off by 4x in either direction. That is not a skill problem; it's an information problem. Plan-driven delivery asks for the commitment at the point of maximum ignorance.
Card 2 — pull the Residency example forward: 79 pending points, 46 closed, 33 open. No specification process would have produced that list up front. It came from usage.
Card 3 — this is the one engineers feel most. Ask: "Who has been on a project where integration was scheduled for the last three weeks?" Nervous laughter is the expected response.
Card 4 — the money point for any managers in the room. Cost accrues linearly; value arrives as a step function at the end. Agile changes the shape of that curve.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(2.5 min). The single most important line on this slide is the first row on each side — the inversion of the iron triangle.
"Both approaches fix two of the three constraints and flex the third. Plan-driven fixes scope. Agile fixes time and cost, and flexes scope. Neither one is magic, and neither one gets you more for less. The question is only which variable you'd rather have move."
Be honest about where plan-driven is right: regulatory compliance work with a statutory deadline and a fixed legal scope, hardware with long lead times, contractual fixed-scope commitments we've already signed. Don't oversell.
Then: "Look at the right-hand column and ask yourself honestly which column your team is actually in — not which column the process document says." That question is the setup for Exercise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This slide is the intellectual core of the whole session — slow down here.
"Empiricism means you make decisions based on what is observed, not what was planned. Everything else today — sprints, standups, reviews, retros, burndowns — is machinery for producing transparency, forcing inspection, and enabling adaptation. If you ever can't remember why a ceremony exists, ask which of these three it serves. If the answer is none, kill the ceremony."
The adaptation point deserves emphasis: most teams that struggle are actually doing transparency and inspection acceptably. They hold the retro. They just don't change anything as a result. Sprint after sprint the same three items come up. That is inspection without adaptation, and it is worse than no retro at all, because it teaches the team that speaking up is pointless.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Close section 1 with accountability in both directions.
"I want you to be sceptical customers of Agile. If we run all the ceremonies for six months and time-to-first-value hasn't moved, and risks are still showing up at the end, and change is still a fight — then we are doing ceremonies, not Agile, and you should say so loudly."
Note what is NOT on this list, deliberately: 'the team goes faster'. Agile does not make developers type faster. It reduces waste — work that was built and not needed, rework from late discovery, delay from handoffs. If someone in the room expects a velocity miracle, correct that expectation now rather than in month three.
Transition to Exercise 1: "Five minutes. Your own work, both columns."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"Section 1 was the problem. This section is the response that seventeen people wrote in 2001, which every framework you've heard of descends from."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(2.5 min).
Give one concrete anchor per value so they aren't abstract:
1. Individuals and interactions — our TFS scope disputes were not caused by tooling. They were caused by 'in scope' meaning different things to different people, unspoken. No tool fixes that; a conversation does.
2. Working software — 'the demo isn't quite ready, but the design document is complete' is a sentence we should be uncomfortable saying.
3. Customer collaboration — the Residency 79-point list only exists because the customer was in the room reviewing the product. That is collaboration producing better information than any contract would have.
4. Responding to change — the DinePlan SMS request from TFS arrived mid-flight. The Agile question isn't 'is this in scope' but 'is this the most valuable thing we could do next, and what drops if we take it'.
Give the historical context briefly — it lands better than people expect. These were seventeen people who had independently arrived at similar conclusions from Scrum, XP, DSDM, Crystal, FDD. They agreed on this and disagreed on almost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This slide prevents about half the arguments you'll otherwise have in the next six months. Spend the full two minutes.
Say it plainly: "Anyone who tells you Agile means no documentation has not read the Manifesto. The line about valuing the items on the right is in the original text, immediately after the four values. It is not a later softening."
For our context specifically — RBS sells to hotel groups and enterprise F&amp;B operators. They will have procurement, security questionnaires, SLAs, and audit requirements. Being Agile does not exempt us from any of that. The TFS contract review is a live example: we need those documents, and we need them to be good.
The real question to teach: "Is this document helping us deliver, or is it a substitute for delivering?" A Definition of Done is a document that helps. A 40-page requirements specification signed nine months before the first line of code is a substitute.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Don't read twelve principles aloud — you'll lose the room. Take one from each group and make it bite.
A — "Working software is the primary measure of progress." Ask: what do our status reports actually measure? Percentage complete? Tickets moved? Those are proxies, and proxies get gamed.
B — "Welcome changing requirements, even late in development." This is the most radical sentence in the document and most organisations quietly ignore it. It's only survivable if your architecture and test coverage make change cheap — which is why principle group D exists.
C — "Self-organising teams." Not unmanaged. Self-organising means the team decides HOW, the Product Owner decides WHAT, leadership decides WHY. Confusing those three causes most of the friction people blame on Agile.
D — "Simplicity: the art of maximising the amount of work not done." The most valuable and least practised principle in this deck. Every feature we don't build is a feature we don't maintain, don't support, and don't migrate.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(2.5 min). This is the slide people photograph. Give them time.
Work left to right on two or three rows only — don't grind through all six.
The standup row: "If the Scrum Master is off sick and the standup gets cancelled, is that a relief? If yes, it was a status meeting."
The Done row is the one with the sharpest teeth for us. Our GRT printing defect this month was found and fixed properly — root cause, validation, retry logic, code review, then QA. That is what Done should mean. If we'd shipped at 'dev complete' the customer would have found it.
The velocity row is a promise you make to the room and must keep: "Nobody in this building should be comparing team velocities. I'll come back to why in section 8."
Be careful not to make the left column sound like a moral failure. Most teams land there through drift and pressure, not laziness. The useful question is 'which row are we closest to, and which one row do we fix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(1.5 min). Fast — one line each, then move to the quiz.
Water-Scrum-fall is the single most common failure in enterprise software and we are not immune. The tell: a 'hardening sprint' or 'stabilisation phase' before every release.
Backlog as landfill — ask how many items are in their backlog right now. If anyone says a number above 200, that backlog is not being used for decisions.
Sprint as deadline generator — the tell is carry-over. If most sprints end with items rolling forward, the sprint boundary has stopped meaning anything.
Scrum Master as project manager — for RBS specifically, be careful here. Several people in the room may hold a title that includes 'manager' and do genuinely useful coordination. The point is not that coordination is bad; it's that a team which cannot organise its own work has not been allowed to develop that capability.
Transition: "Five questions. Shout the answers, no hands needed."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(5 min). Run it out loud and fast — this is energy management as much as assessment, and we're 30 minutes in.
Format: read the question, take answers from the room, confirm, move. About 30 seconds per question, then 90 seconds on the answers slide. Do not let question 3 turn into a ten-minute debate — it's designed to provoke and you must cap it.
If the room is quiet, nominate tables: "Table 3, question 2."
Question 5 is the hardest and the best. If nobody gets it, that's fine — the answer is the one people never remember.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(90 sec of the 5). Move briskly.
Question 3 is the one worth twenty extra seconds: "Ceremonies are observable, agility is not. You cannot tell from a calendar whether a team is Agile. You can tell from whether anything changes as a result of what they learn."
Question 5 — if someone answered 'customer collaboration' argue gently against it: a customer asking for something IS collaboration. The failure was building it without validating that the need was general. That's simplicity, and it's the principle almost nobody names.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"Agile is a mindset. Frameworks are attempts to make that mindset operational. There are several because there are several different problems."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(2.5 min).
Key framing up front: "These are not competitors and you do not have to pick one religion. The most effective teams I've seen run Scrum's cadence, Kanban's WIP limits and XP's engineering practices simultaneously. The labels matter far less than the mechanics."
Scrum — note it is deliberately incomplete. The Scrum Guide is about 13 pages and says almost nothing about how to write code. That is intentional and it's also why Scrum-without-XP teams often stall around sprint 8: the ceremony is there but the engineering can't keep up with the cadence.
Kanban — the most underrated option in our organisation. Several RBS teams are support and escalation driven. Forcing a two-week sprint commitment onto a team that gets a P1 escalation twice a week is a recipe for a failed sprint every sprint.
XP — where the practices that actually make change cheap live. Come back to this in section 9 with DevOps.
Lean — the ancestor. Toyota Production System via Mary and Tom Poppendieck.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Walk the loop once, then make the two points people miss.
Point one — the sprint is a container, not a phase. Inside it, analysis, design, build and test all happen. It is not a mini-waterfall with analysis in week one and testing in week two. If your sprint has testing crammed into the last two days, you have built a small waterfall.
Point two — the loop has no gaps. New sprint starts the day the old one ends. Teams that leave a 'planning day' between sprints are usually compensating for a backlog that wasn't ready.
Don't go deep on roles or events here — section 4 covers them properly in twelve minutes. This is orientation only.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The honest comparison matters because our organisation contains both kinds of work and we currently try to run all of it the same way.
Call out the mid-sprint change row specifically. Scrum protects focus by discouraging mid-sprint change. That protection is valuable — and it is also exactly why Scrum breaks for a support team. If a hotel's PMS is down, nobody is telling the customer to wait for the sprint boundary. Kanban is not a lesser framework for those teams; it is the correct one.
The forecasting row is worth flagging forward: Kanban's cycle time percentiles are, in my experience, a more honest forecasting tool than velocity. Section 8 covers both.
Practical advice to give: "Scrumban is a real and respectable answer. Sprint cadence and retros from Scrum, WIP limits and pull from Kanban. Several of our teams should probably be running exactly that."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Engineers in the room will engage hardest here — this is where their craft lives.
The crucial connection to make: "Every one of these exists to reduce the cost of change. Agile asks you to welcome change late in development. That request is irresponsible unless changing the code is cheap and safe. XP is how it becomes cheap and safe."
For RBS specifically, name where this bites. Our WinCloud weekly review flagged a code-review backlog and resourcing pressure on senior reviewers. Pairing and collective ownership are direct responses to exactly that problem — they turn review from a queue into a conversation that happens during the work.
Don't oversell pairing to a room that has never done it. Say: "Try it for one story, not for a quarter. Most people who hate the idea change their mind after one session; some don't, and that's data too."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(1.5 min). Land this hard because it's the practical takeaway of section 3.
"The most common mistake is choosing a framework to signal maturity rather than to solve a problem. 'We should do SAFe because we're a serious company' is not a diagnosis."
Give them the diagnostic question: "What symptom are you trying to fix? Then pick the thing that addresses that symptom."
If someone asks about SAFe directly — answer honestly and briefly. It solves real coordination problems at genuine scale and it carries substantial process overhead. Most organisations adopting it don't have the scale problem it solves. We'll touch it in section 9; park it until then.
Transition: "Five minutes on a real transformation."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(5 min). This case is a composite drawn from several real transformations, sized to look like us deliberately.
The crucial question is the first one, and it's the one you must make sure gets answered: they automated tests first because everything else depends on it. Monthly releases with a manual regression suite means either you don't test or you don't release. The sequence is not arbitrary.
Question 2 is the trap most organisations fall into — reorganise first because it's visible and feels decisive. A reorg without the engineering foundation gives you six teams that each still can't release safely, plus the disruption cost of the reorg.
Question 3 for RBS: expect people to name the Product Owner authority point. That's the right answer and it's a leadership problem, not a team problem. Don't dodge it if it comes up — acknowledge it and note it for section 10.
Question 4: push for something genuinely startable. 'Separate the escalation work onto its own board with a WIP limit' is achievable in a month. 'Automate the whole regression suite' is not.
Timing discipline: at 3 minutes, call it. Take two tables, 45 seconds each.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(2 min). Use whatever the tables gave you and map it onto these four.
The timeline point in the punch line is important for expectation-setting with any leaders in the room. Eighteen months of consistent effort, not a workshop and a tooling purchase.
If you're running behind at this point in the session — and you may be, we're around the 45-minute mark — this debrief can be compressed to the punch line alone.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"This is the longest section because most of our teams claim to run Scrum, and precision here prevents a lot of argument later. Everything I'm about to say is from the 2020 Scrum Guide — thirteen pages, free, worth reading tonight."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(3 min). Be precise here — vagueness in this section causes months of friction.
Product Owner — the most commonly broken accountability in enterprise software. Two failure modes: (a) the PO is a proxy with no real authority, so every decision escalates and the team stalls; (b) the PO is a committee, so the backlog order changes depending on who spoke last. For RBS: our POs often have real product knowledge but limited authority to say no to a Managing Director or a large customer. Name that honestly — it's a leadership fix, not a PO fix.
Scrum Master — the accountability people most often misunderstand as junior project management. Say clearly: "If your Scrum Master is assigning your tasks, you don't have a Scrum Master, you have a project manager with a new business card." Also acknowledge the reality: at our size, one person often carries both. That's workable if they know which hat they're wearing at any moment.
Developers — the 2020 Guide's most useful change. 'Developers' means everyone building the increment. Your tester is a Developer. Your UX designer is a Developer. This kills the 'dev team versus QA' split that produces mini-waterfalls inside sprints.
Note what's absent: no tech lead, no architect, no manager in Scrum. Those roles can exist in your organisation; Scrum simply doesn't define them.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(3.5 min). Give each event about 40 seconds, with one sharp point each.
Sprint — consistent length is what makes velocity meaningful. Teams that flex sprint length to fit the work have destroyed their own forecasting instrument.
Planning — the Sprint Goal is the part everyone skips and it's the part that matters. A goal is 'hotel front desk can complete a walk-in check-in without leaving the screen'. A goal is NOT 'finish tickets 341 through 349'. The goal is what lets the team make sensible trade-offs mid-sprint when reality intervenes.
Daily Scrum — the timebox is 15 minutes and it is not negotiable. The three-questions format is no longer prescribed by the Guide; any format that produces a re-plan is fine. The test: could an observer tell from the standup what the team will do today that's different from what they planned yesterday?
Review — this is where we're weakest as an organisation. A review with no working software to inspect is a status meeting with slides. Insist on the product being on screen and being driven.
Retro — 90 minutes for a two-week sprint sounds generous and teams routinely cut it to 20 minutes. That's how you get the same three complaints for six months.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(2.5 min).
The commitments are the 2020 Guide's best addition. Without them each artifact is just a list and can drift indefinitely.
Product Goal — one at a time. If you have five concurrent product goals you have no product goal. Common problem for us: a roadmap driven by whichever customer is loudest this month produces a permanent absence of a Product Goal.
Sprint Backlog — it belongs to the Developers. Nobody outside the team adds to it mid-sprint. If a Managing Director wants something inserted, the conversation is with the Product Owner about what comes out. That's not bureaucracy; it's the only way a sprint goal survives.
Increment — the sentence to emphasise: work that doesn't meet the Definition of Done is not part of the Increment, cannot be presented at the Review, and doesn't count toward velocity. No partial credit. This is the discipline that makes 'done' mean something.
Segue: "Which brings us to what Done actually means."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(3 min). This is the highest-value slide in section 4. Do not rush it.
"The Definition of Done is the single most powerful lever a team has over its own quality, and it's usually the least discussed. It is not a checklist for bureaucracy's sake. It is the contract that says: when we say done, this is what you are entitled to assume."
Use the GRT printing defect as the worked example — it's fresh and everyone knows it. Root cause identified, fix built with validation and retry, peer reviewed, handed to QA before it went near a customer. That is a DoD being honoured. If we'd stopped at 'code complete', the customer would have found it and we'd be having a different conversation.
The strictness question always comes up: "Isn't this slow?" Answer honestly: "It's slower per item and dramatically faster per release. The time you don't spend on a DoD, you spend in a stabilisation phase, at worse timing, under more pressure, with the customer watching."
Practical advice: build the DoD as a team, write it somewhere visible, and revisit it in the retro. Start with what you can actually honour today and tighten it every few sprints. A DoD nobody meets is worse than a modest one everybody meets.
Transition: "Six minutes. Build a team."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(6 min). The most substantial exercise in the session — protect its time.
Setup (30 sec): "This setup is realistic, not a straw man. I've seen every one of these arrangements in real companies, including this one. Your job is diagnosis, then prescription."
Circulate and listen. Nearly every table finds the tester problem first because it's the most visible. Push them toward the harder ones — the missing Product Owner and the fractional developers.
If a table finishes early, give them the extension: "Two of the eight hotels want conflicting behaviour on web check-in. Who decides, and how?" That drives straight at Product Owner authority.
At 4 minutes, hard stop. Take two tables. Do not take six.
Watch the tone — if the room starts describing real named RBS setups, that's healthy engagement but redirect to the scenario before it becomes a grievance session.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(2 min of the 6). Lead with whatever the tables found; only fill gaps from the slide.
If nobody spotted the missing Product Owner, that is itself the most important finding of the session — say so. It means the accountability is genuinely invisible to us, which explains a lot about how work gets prioritised here.
The fractional-people point is worth one extra sentence because it's the one leadership resists most: "A developer split across two products is not delivering half to each. Context switching costs are real and the usual estimate is 20-40% loss. You are getting roughly 30% to each, and neither team can forecast."
End on the DoD because it's the one thing every table can act on next week without anyone's permission.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have a team and a cadence. Now — what actually goes into the sprint, and how do we describe it so that what gets built is what was wanted?"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Ron Jeffries' 3 C's, and the most useful framing of stories there is.
Make the anti-pattern explicit because it's ours: "The failure mode is treating a story as a small specification. Someone writes a detailed story, hands it to a developer, and expects the right thing to emerge with no discussion. That's a document handoff with a story-shaped template on top, and it produces exactly the scope arguments we've had on TFS — where 'in scope' meant different things to different people and nobody found out until delivery."
The conversation is not overhead. It is the requirements process. The card is just what reminds you to have it.
If someone objects that they can't get the PO's time for conversations on every story — that is a real and serious impediment, and it's exactly the kind of thing a Scrum Master should be escalating.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Spend most of the time on the weak/strong contrast — read both aloud, they land better spoken.
The 'so that' point deserves a story of its own: "When a story's 'so that' is missing or circular — 'so that I can use the feature' — that's a signal to stop and ask the Product Owner what decision or outcome this serves. Perhaps a third of the time, the conversation reveals a cheaper way to get the same outcome. That is the simplicity principle from section 2 doing real work."
The last row prevents a genuinely wasteful argument. Teams spend real time contorting infrastructure work into user-story format. It adds nothing. Give them permission to stop.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Don't recite all six — pick three and go deeper.
Independent is the one teams most often violate and it hurts most. If story B can't start until story A finishes, your sprint has a critical path and any slip cascades. Vertical slicing is the fix: build a thin slice through every layer rather than 'the database layer' then 'the API' then 'the UI'.
Small is the highest-leverage constraint. Large stories hide uncertainty and are almost always more complex than they look. The half-capacity heuristic is a good rule for a team that's still learning to slice.
Testable is your bridge to acceptance criteria on the next slide. "If you can't say how you'd prove it works, you're going to argue about it at the Sprint Review with a customer watching."
If you're running short on time, INVEST is the safest slide in section 5 to cut to 45 seconds.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The format is Given (context) / When (action) / Then (observable outcome). Its value is that each criterion is directly executable as a test — by a person or by automation.
The two rows on the right that matter most are the last two — the unhappy paths. Say this explicitly: "Notice that half these criteria are failure cases. That is deliberate. Most production defects live in the paths nobody wrote criteria for. If all your acceptance criteria describe the happy path, you have specified about a third of the work."
Who writes them? Best answer: the three amigos — Product Owner, a developer and a tester, together, before the sprint. It takes fifteen minutes per story and eliminates most review-day disputes.
Common question: "do we need this level of detail for everything?" No. Small, well-understood, low-risk changes need less. The criteria should scale with risk and ambiguity.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The footnote is the point of the whole slide — deliver it deliberately.
"When everything is marked High Priority, the Product Owner has avoided the decision and pushed it down to whoever picks up work next. A single ordered list makes it impossible to duck: something has to be first, and something has to be second."
Refinement — 10% of capacity, roughly. Not a two-hour meeting on Friday afternoon that everyone dreads. Little and often. The goal is that Sprint Planning is short because the top of the backlog is already understood.
DEEP is a useful acronym if they want one: Detailed appropriately, Estimated, Emergent, Prioritised.
Pruning — give explicit permission here: "Deleting a backlog item is not losing information. If it matters, it will come back, and it will come back better described. Carrying four hundred items you'll never build costs real time in every refinement session."
Transition: "Five minutes. Write some stories."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(5 min).
Setup (20 sec): "This is a real shape of request — vague, ambitious, with a deadline attached and a compliance complication buried in the middle. Your job is to turn it into work."
What to watch for while circulating:
- Horizontal slicing ('build the database', 'build the API'). Redirect: "Which of those could a guest use on its own?"
- Stories that are really epics — 'as a guest I want to check in on my phone' is the whole request restated.
- Tables that miss the ID-rules-by-state complication. That's the highest-risk part of the request and it's easy to skim past.
The last task — the question they'd ask — is the one to prize. Best answers: "which properties, and which states, for the first release?" or "what does 'handle ID' mean — capture, verify, or store?" or "what happens today when a guest arrives having checked in?" Naming the right question is a more valuable skill than writing a tidy story.
Take ONE table at 4 minutes. Read their story out, then ask the room: "Does that pass INVEST?"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(60 sec). Use the tables' stories if they're good — they often are. This slide is your safety net.
The two points to make regardless of what they produced:
1. Story 3 — the front-desk view. Most tables write guest-facing stories only and miss the operational side entirely. "The GM literally asked for it and it's still the most commonly missed story. Watch for that pattern in your own backlogs: we write for the end user and forget the staff who have to operate around them."
2. Story 4 and the question — the per-state ID rules are the risk. Making them a separate, visible story is how you avoid discovering the complexity in week three of a one-month commitment.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"We know the events exist. This section is about running them so they produce something, because a badly run ceremony is worse than no ceremony — it costs the time and teaches the team that the time was wasted."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Walk the two weeks once, then make two points.
Point one — refinement appears in the middle, deliberately. It is not a separate meeting bolted on. Teams that skip refinement have painful, long planning sessions, because they're doing the analysis at the worst possible moment.
Point two — the review and retro on the same day, in that order, is deliberate. Feedback from the review is fresh input to the retro conversation.
Name the anti-pattern before someone else does: the stabilisation or hardening sprint. "If you need a sprint at the end to make the previous sprints shippable, then the previous sprints weren't producing increments and your Definition of Done isn't real. That's not a scheduling problem; it's a DoD problem."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The Sprint Goal is the part to press hardest. Test it live if you dare: "Can anyone here state their current sprint goal without looking it up?" The silence is usually instructive and makes the point better than the slide can.
Give them the quality bar for a goal:
- Good: "A guest can complete web check-in end to end on a phone, for our pilot property."
- Not a goal: "Complete tickets WIN-341 through WIN-352."
The difference: the first tells you what to cut when day seven goes wrong. The second gives you no basis for any decision at all.
On capacity — be specific about our context. If two of your four developers carry production support, your capacity is not four. Teams that plan at nominal capacity fail every sprint and then conclude Agile doesn't work.
On 'the Developers select' — this is the row that gets challenged. Hold it. If the team can't decline work, the sprint commitment is fiction and everyone knows it.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The last row is the diagnostic and it's the one to leave them with. "Ask your team privately: if I cancelled standup for a week, would you be relieved or would you miss it? The answer tells you which column you're in, and it's more honest than anything you'd get by asking in the meeting."
The 2020 Scrum Guide dropped the three questions as a prescription. Any format that produces a re-plan is fine. Some good alternatives: walk the board right to left, focusing on what's closest to Done; or ask only 'what is stopping the Sprint Goal today'.
On problem-solving in the standup — this is the most common time sink. The fix is a facilitation habit, not a rule: "Good — Kavi and Balaji, take that after. Who's next?" Then actually make sure it happens.
On who attends: managers and stakeholders may observe. They should not speak. If a manager's presence turns it into a report, they should stop attending — and someone has to be willing to say that.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Be direct that this is an organisational weakness for us.
"Our Residency review surfaced 79 points — 46 closed, 33 open. That is what a real review produces. Compare it to a review where we present four slides, everyone says 'looks good', and we discover in UAT that the workflow doesn't match how the property actually operates."
The realistic-data point is worth pressing. A demo against three seeded records proves nothing about a 130-room property doing night audit. Our Feathers demo covered five properties' worth of concerns precisely because the conversation was grounded in their real operation.
On 'reactions, not approval' — approval questions get you politeness. Usage questions get you information. Give them the phrasing to steal: "Walk me through how you'd do this on a busy Saturday morning."
On adapting the backlog in the room — if the PO takes notes and disappears, the stakeholders learn that the review is a formality. Change something visibly, while they watch.</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Card 3 and card 4 are the ones that change behaviour. Everything else is technique.
On card 3: "The improvement goes into the Sprint Backlog. It is sized, it is visible, someone owns it, and it competes with feature work honestly. An improvement that lives only in retro notes is a wish."
On card 4: "Start every retro with the last action item. Did we do it? What changed? This single habit is the difference between a retro that compounds and a retro that's a complaint box."
On safety — for RBS this matters given hierarchy. If a Managing Director is in the retro, people will not say what they think. Be honest about that: leadership presence in a team retro almost always reduces the quality of the conversation, regardless of intent.
Transition: "Five minutes. A sprint that went wrong."</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(5 min). The best-designed activity in the deck — every symptom is real and traceable to something we do.
The trap is that most tables will name the escalations as the root cause. Push back hard: "Escalations are a permanent feature of a hospitality software business. A process that only works when nothing goes wrong is not a process. The root cause is that the sprint was planned as if escalations don't happen."
The deeper root cause, and the answer you're steering toward: there was no Sprint Goal. Nine stories with no unifying goal means when capacity vanished, the team had no basis for deciding what to protect. They spread the remaining effort across everything and finished nothing. Seven stories at 90% is worth exactly as much as zero stories.
The day 6 answer: the moment the second escalation landed, the team should have gone to the Product Owner, said 'we've lost roughly 40% of capacity', and re-scoped to the two or three stories that serve the goal. That conversation is not failure. Not having it is.
Other findings to reward if tables get there: the 25-minute planning (a symptom of no refinement), the cross-office dependency discovered mid-sprint rather than in refinement, and the absent Product Owner.
At 3 minutes, hard stop.</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(2 min).
The inventory framing in row 3 is the one people remember: "Seven stories at 90% complete is not 90% of seven stories' value. It is zero. Partially built software is inventory — it costs money to hold, it goes stale as the code around it changes, and it delivers nothing until it's finished. This is why WIP limits exist, and it's why finishing beats starting."
If you're behind schedule, this debrief can compress to rows 1 and 3 only.
Transition: "Which brings us to how we size and order the work in the first place."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"Two topics that generate more heat than any other in Agile. I'll try to be useful rather than dogmatic about both."</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Row 2 is the one to dwell on because it reframes the whole activity: "The most valuable minute in planning poker is the one after the cards come down and the numbers don't match. A 2 and a 13 on the same story means two people are imagining different work. Finding that out before the sprint is worth far more than any number."
Row 4 is a commitment you should make out loud to the room: "If estimates get used to compare teams or appraise individuals, they will become negotiations, and you will have destroyed your own forecasting ability. I'll come back to this in metrics."
If someone raises #NoEstimates — engage briefly and fairly. Counting stories and using throughput can forecast as well as points for mature teams with consistently small stories. It is a legitimate position, not heresy. But it needs disciplined slicing, and it's not where a team new to this should start.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Make the relative-size idea concrete with something non-software: "You can't accurately say how long it takes to walk to the office. You can say with confidence that it's about three times as far as the coffee shop. Humans are poor at absolute estimation and quite good at comparison. Story points exploit that."
The Fibonacci point is worth explaining rather than asserting: the gaps widen because our confidence drops as size grows. The difference between 1 and 2 is meaningful. The difference between 20 and 21 is imaginary — so we don't offer it as an option.
Be honest about the failure mode: "Many teams quietly convert points to hours — 'a point is half a day'. Once you do that you have hours with extra steps, and you've reintroduced everything in the left column."
Give the practical starting method: pick one recently completed, well-understood, medium story. Call it a 3. Estimate everything else relative to it. That reference story is the team's yardstick.</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Anchoring in step 1 is not a theoretical concern — it's the single biggest cause of useless estimation sessions. If the tech lead says 'this feels like a 5' before the cards come out, you will get a room full of 5s and learn nothing.
Step 4 is where the value is; steps 1-3 exist to produce step 4. Make sure the room understands that convergence is not the goal — shared understanding is. A team that converges instantly on every story either has very well-refined stories or isn't thinking.
The footnote is practical protection. Estimation sessions that run two hours are a symptom of unrefined stories, and the fix is refinement, not a longer meeting.
On who votes: everyone who will do the work. Not the Product Owner, not the Scrum Master, not a manager. They may ask questions; they don't hold cards.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Don't teach all four as equals. Say plainly: "If you take one thing from this slide, take cost of delay. It's the only one that makes the conversation rational when three stakeholders each want to be first."
On MoSCoW's failure mode — it's ours. When everything is a Must, the method has been used to avoid a decision rather than make one. Enforce a cap: no more than 60% of the release scope may be Must.
On WSJF — mention it because people will have heard of it and will ask. It's genuinely useful for defending an ordering with numbers to a sceptical stakeholder. It's also easy to game by manipulating the job size input. Use it as a conversation structure, not an oracle.
RBS-specific point worth making: "Our prioritisation problem is rarely a lack of technique. It's that requests arrive through many channels — a customer email, a sales commitment, an escalation, a Managing Director's judgement — and never meet each other on one ordered list. No method fixes that. One backlog and one Product Owner does."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Make this concrete with our own material: "The dashboard integration for that 130-room property had a cost of delay we never calculated. If someone had asked in month one 'what does another month of not answering this cost us?', the honest answer was 'possibly the account'. It never got asked, so the request competed against roadmap items on the basis of who was in the room."
Row 3 matters for engineering credibility. Technical work — the regression suite, the API rate limiting, the database cleanup — always loses to features when the only lens is customer-visible value. Cost of delay lets you argue it properly: "every month we delay this, we spend N days on manual regression and carry the risk of an escaped defect." That's an argument a business person can weigh.
Transition: "Five minutes. Estimate and order a real-looking backlog."</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(5 min).
Setup (20 sec): "There is no single right answer. I'm interested in your reasoning and in what you argue about."
The designed tensions:
- D (regression automation) is the one that always loses. It has no customer name attached and the highest long-term value. Watch whether any table protects it.
- E is the trap: one GM, one demo, no evidence of general need. It's the simplicity principle from section 2, live.
- A and F both have real urgency but very different consequences — a recurring defect on an existing account versus a blocked new signing.
- B has a signed contract behind it, which usually means it wins regardless of merit. Worth naming.
The last question — what did you argue about — is the most valuable. Arguments are where the estimate disagreements and the value disagreements live.
At 3 minutes, take two tables and compare their orderings. If they differ, that's the lesson: reasonable people order differently, which is exactly why a single Product Owner with authority is necessary.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(2 min).
Lead with row 3 — it's the point of the whole exercise: "Item D loses in almost every room I've run this in. It's the highest-compounding item on the list and it has no customer name attached, so it can never win an urgency argument. If you don't deliberately protect capacity for this kind of work — say 15-20% of every sprint — it will never get done, and in two years you'll be the team that can't release safely."
Row 4 connects back to Quiz 1 and to the simplicity principle. Repetition across the session is deliberate; call it out.
The punch line matters: don't let anyone leave thinking there's a correct answer key. The skill is defensible reasoning, not the ordering.</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"Short section, high stakes. Metrics done badly cause more damage than no metrics at all, because they actively corrupt the data you were trying to collect."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If there are managers in the room, this is the slide to say slowly and mean.
"I am going to ask leadership for a specific commitment: do not compare team velocities, and do not set velocity targets. Not because it's unkind, but because it destroys the instrument. A team whose velocity is being watched will inflate estimates within two sprints — not dishonestly, just gradually and rationally. Then you have lost your only forecasting tool and gained no information."
The positive framing to offer leadership, so this doesn't read as 'don't measure us': "Ask us about predictability — did we deliver what we said we would? Ask about cycle time — how long from commitment to customer? Ask about escaped defects. Ask about time to first value. Those are outcome metrics and they're much harder to game because they're visible to the customer."
That exchange — team metrics stay with the team, outcome metrics go up — is a fair deal and worth proposing explicitly.</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Abuse 1 is the most common and the most damaging. Anchor it: "If Team A calls their reference story a 3 and Team B calls the same story a 5, then Team B's velocity is 1.6 times Team A's for identical work. Comparing them isn't slightly unfair — it's arithmetic nonsense."
Abuse 4 gets pushback. Hold it: "Partial credit sounds fair and it destroys the signal. The number exists to forecast when things will be finished. Unfinished work tells you nothing about that."
Give them the legitimate use, so the section isn't purely prohibitive: "Velocity is 42 ± 8 over the last five sprints. This epic is about 200 points. So four to six sprints, and I'll narrow that as we learn." That's an honest forecast with an honest range, and it's genuinely useful to a customer conversation.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(1.5 min). Move quickly — this is the least important slide in the section.
The flat-then-cliff shape is the one to name, because it's the most common and the most diagnostic: "It means nothing reached Done until the end, which almost always means testing is bunched at the back of the sprint. That's the mini-waterfall we discussed in section 3, showing up in a chart."
The burn-up recommendation is worth thirty seconds: it plots completed work and total scope as two separate lines, so scope creep is visible rather than hidden inside a flattening burndown. For customer-facing conversations it's much harder to misread.
The last point on the right is the honest one: "If nobody looks at the burndown, stop making it. An unread chart is pure waste, and maintaining it teaches the team that we value artifacts over information."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(1.5 min).
Little's Law is the highest-value idea in section 8. Make it concrete: "If your team has 12 items in progress and completes 4 a week, average cycle time is 3 weeks. Cut WIP to 6 and, with throughput unchanged, cycle time halves to a week and a half. Nobody worked harder. You just stopped starting things."
The percentile point on cycle time is practically useful and rarely taught: "Averages hide the tail, and the tail is what customers experience and remember. '85% of support items close within 6 days' is a service commitment you can actually make and monitor."
For our support and escalation teams specifically, flow metrics are more appropriate than velocity in every respect. That connects back to the framework-selection guidance in section 3.
Transition: "Four questions, then the advanced material."</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 min). Fast — this is the deal-closer with leadership.
"These four are what I'd take to a board. They're customer-visible, they're hard to game, and they measure the thing we actually care about. Velocity, burndown and WIP stay with the team."
The sandbagging point on predictability usually raises an eyebrow and is worth the extra sentence: "A team hitting 100% of its commitment every sprint is not a high performer. It's a team that has learned to commit to less than it can do, because the consequence of missing is worse than the consequence of under-committing. That's a culture signal, not a delivery signal."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(4 min, tight). Read, take answers, confirm, move. Roughly 30 seconds each, then 90 seconds on answers.
Question 1 is a trick and most rooms fall for it initially. Let them.
Question 3 is arithmetic — give them fifteen seconds of silence to work it out. Someone will get 3 weeks.
Question 4 is a callback to section 6. If the room answers it crisply, your section 6 landed.</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(90 sec).
Question 3 is the one to spend an extra fifteen seconds on because it's genuinely actionable: "This is the cheapest performance improvement available to any team in this room, and it costs nothing. Stop starting. Start finishing."
If you're running behind — and by now you may well be, we should be around the 95-minute mark — this is a good place to skip the commentary and just read the answers.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"Everything so far is team-level. This section is what happens when you get that right and the constraint moves somewhere else — usually to the organisation around the team."</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"This is the single highest-leverage structural change available to most organisations, and it's a funding decision, not a team decision. Which is why it's in the advanced section — the team cannot make it on their own."
The compounding point is the persuasive one: "A stable team that has owned WinCloud front office for two years knows the edge cases, the customers, the data quirks and the history. Dissolve it and reassemble a different team for the next project and you pay for all of that learning again. Team formation isn't free — Tuckman's forming-storming-norming is roughly three months of reduced output every time."
The 'you build it, you run it' row is worth a sentence for us specifically: when the team that builds a feature also fields its escalations, the feedback loop on quality closes in days rather than never. That directly addresses the pattern behind our WinCloud customer loss.
Be realistic: our organisation has genuine project-shaped commercial commitments — customer-funded builds with fixed dates. The advice isn't to abolish projects; it's to keep teams stable and let projects flow through them.</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The fourth row is the one to press for RBS: "Ask yourselves — for the last five features we shipped, do we know how many customers use them? For most organisations the honest answer is no. And without that, every prioritisation conversation is opinion."
This is a direct callback to Quiz 1 question 5 and Exercise 4's item E. The through-line of this whole session is: building things is the easy part; knowing what's worth building is the hard part.
Practical suggestion they can act on: "For your next three features, define before you build what usage would count as success, and go and look four weeks after release. Just three. You'll learn more from that than from any process change we've discussed today."</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Be balanced — people have strong feelings and some may have SAFe certifications.
Card 1 is the one that matters: "Before you buy a scaling framework, map your dependencies for one quarter. Where does work stop and wait for another team? Often two or three specific dependencies cause most of the delay, and re-cutting one team boundary removes them entirely. That's a week of analysis versus an eighteen-month framework rollout."
On SAFe, be fair rather than fashionable: it is genuinely used successfully in large regulated enterprises. It also carries heavy overhead, and organisations adopting it below about ten teams typically pay the cost without having the problem. State that as a judgement, not a fact.
For RBS: we have teams across Chennai, Singapore, Indonesia and UAE working on connected products — WinCloud, DinePlan, HashOne. The cross-office dependency in Case Study 2 was a real pattern. Our scaling problem is dependency and timezone coordination, not a lack of a framework. That's worth saying plainly.</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The footnote is the finding worth arguing for, because it contradicts most people's intuition: "Everyone assumes a speed-versus-safety trade-off. The DORA data across tens of thousands of respondents says the opposite — the teams deploying most frequently also have the lowest change failure rates and recover fastest. It's not a trade-off, it's a capability. Small, frequent, automated, well-tested changes are both faster and safer than large infrequent ones."
Connect to Case Study 1: they automated the regression suite before anything else, and that's precisely what let deployment frequency rise without failure rate rising with it.
For us: our TFS infrastructure discussions covered load balancing, recovery time objectives and monitoring. Time to restore service is a DORA metric and it is also a contractual commitment we're negotiating. Those two conversations are the same conversation, and it helps to see them that way.
Don't go deeper — this could be its own two-hour session. Offer to run it if there's appetite.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Aimed squarely at the commercial reality of this business.
"Nobody in this room can tell a hotel group 'we'll deliver something, sometime'. The Agile answer is not to pretend commitments don't exist. It's to be honest about which variable moves."
Row 3 is the most practical for us: "If the date is genuinely fixed — a hotel opening, a compliance deadline, a season — then commit to the date, protect the Definition of Done, and negotiate scope. What you must never do is commit to date, scope and quality simultaneously. One of them gives, and if you haven't chosen which, quality gives silently."
Row 4 connects to the Manifesto discussion in section 2 and to our live TFS work: the fix for scope disputes is more explicit written exclusions with customer sign-off, before development starts. That is not un-Agile. Customer collaboration means shared clarity, not vagueness.
Transition: "Five minutes. A big organisation with a big problem."</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(5 min). The most senior-level thinking in the session; the advanced part of 'basics to advanced'.
The framing to reward: a framework would add coordination machinery on top of problems that should be removed rather than coordinated. 40% of stories blocked on other teams is a team-boundary problem. Two teams owning one service is an ownership problem. A broken shared integration environment is an engineering problem. None of the three is fixed by adopting SAFe, and all three get more expensive to fix once you've layered a framework over them.
The misaligned sprint boundaries is the deliberate red herring — it's the most visible symptom and the least important. If a table leads with it, ask what it would actually cost them if it stayed misaligned. Usually: very little.
The strongest answers attack the shared environment first, because it's blocking everyone and it's fixable with engineering rather than politics.
The last question is the one to leave time for. Leadership must stop injecting work directly into teams, must fund the engineering investment, and must accept that team re-boundarying will slow things for a quarter. If nobody says any of that, say it yourself.
At 3 minutes, take two tables.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(2 min).
The punch line is the takeaway of the entire advanced section.
If leadership is in the room, add the honest caveat: "None of this is an argument against ever using a scaling framework. It's an argument against using one as a substitute for fixing dependencies and engineering capability. If you fix those and still have coordination problems across twelve teams, then yes — go and look at LeSS or SAFe properly."</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"Last section. Everything up to here was general. This is about us, and about what you personally do next week."</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(1.5 min). Read each question, then pause for two or three seconds. The silence does the work.
"I'm not asking for hands and I don't want the answers. I want you to notice which ones made you uncomfortable, because that's your list."
The last question is the sharpest and it's aimed at leadership as much as at teams. Deliver it without softening. In an organisation where a Managing Director can put work directly into a team, the Product Owner accountability is nominal — and everyone in the room knows whether that's true here.
If you sense the room is willing, take one voluntary answer on any question. Don't push.</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(1.5 min).
Failure 1 deserves the strongest warning: "This is the worst outcome available to us, worse than not trying. You pay the full cost of the ceremonies, get none of the benefit, and burn the credibility of the idea. Then for the next five years, whenever someone proposes something, people say 'we tried Agile, it didn't work'."
Failure 2 is the honest one to acknowledge in front of leadership. Teams frequently get blamed for friction that is entirely structural — you cannot be responsive inside an annual budget cycle and a fixed-scope contract, no matter how well you run standups.
Failure 4 connects back to Case Study 1's eighteen months. Repetition is deliberate.
Keep this brisk — the useful material is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(2 min). The most practically useful slide in the section — this is what people will actually take away.
"Notice what isn't here. No reorganisation. No new tooling. No certification. No permission needed from anyone above you. Every one of these four is inside a team's own control, and together they address the four things that most reliably distinguish a team that's really Agile from one that's performing Agile."
The sequence is deliberate and worth explaining: Done first, because it defines quality and everything downstream depends on it. Sprint Goal second, because it makes trade-offs possible. Real software in front of a real user third, because that's where the feedback loop from section 1 actually closes. Retro loop last, because by then the team has enough change under its belt to believe improvement is real.
Offer support: "If your team wants to do this and hits an obstacle you can't move, that's exactly what I'm here for. Come and find me."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(1.5 min). Say this directly to whoever the most senior person in the room is — not aggressively, but without hedging. This is the slide you were hired to deliver.
Row 1 is the highest-leverage single change available to this organisation, and it's the hardest, because injecting work directly is fast, feels responsive to customers, and is genuinely well-intentioned every single time.
Row 3 connects to Exercise 4 item D: "You saw it in the exercise — the regression automation lost. It will lose every time, in every room, because it has no customer name attached. It only happens if leadership ring-fences capacity for it."
Row 5 is the expectation-setting close. "If we're not prepared to give this eighteen months, we should be honest that we're not doing it, rather than doing it badly and concluding it doesn't work."</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(1.5 min). Personalised, concrete, and small enough that nobody can claim it's impossible.
Go around the room by role if the group is small enough — ask two or three people to say their one thing out loud. Spoken commitments are kept more often than silent ones, and it takes ninety seconds.
Card 4 is aimed at the leaders and it's a small, specific, testable ask. Not 'transform your leadership style' — just 'route the next one through the PO'. Small asks get honoured; grand ones get admired and ignored.
Transition to the final exercise: "Five minutes, and then you're done."</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(5 min). The session's closing act — give it its full time even if you're behind. This is where intent becomes commitment.
Why individual rather than table: transformation plans written by committee belong to nobody. Each person needs their own.
The pairing at 3 minutes matters — saying it out loud to one person makes it real, and their questions will sharpen it.
While they write, circulate and push on specificity. 'Improve communication' is not a plan. 'Write a Definition of Done with the team in the first retro of September and put it on the wall' is a plan.
The fifth prompt — who you'll tell on Monday — is the most important and easiest to skip. A commitment shared with a named person survives. One kept in a notebook doesn't.
Collect nothing. Ask them to photograph their sheet. Offer: "Send me yours if you want a second pair of eyes, or if you want help with the leadership ask."</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(1 min of the 5).
Take two or three volunteers to read their symptom and their leadership ask only — not the whole plan. Thirty seconds each.
The punch line is a real instruction: genuinely ask them to open their calendars and set the reminder now, in the room. It takes fifteen seconds and it roughly doubles the chance any of this survives contact with next week.
If a leader is present and someone reads out a good, precise ask — see whether you can get an answer on the spot. A yes in the room is worth more than the entire session.</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(60 sec).
Don't summarise the session — they were there. Close on the commitment instead.
"Two hours doesn't make anyone Agile. What it can do is give you a shared vocabulary and one specific thing to change. The sheet in your hand is the only part of today with any chance of surviving the week. Do the one thing."
Thank the room, specifically for the exercises rather than for attending — the quality of the case study discussions is the honest measure of whether it worked.
Admin before people leave:
- Photograph the parking lot flipchart; commit to answering the items and give a date
- Deck will be circulated with the speaker notes intact
- Offer follow-up: a deeper session on DevOps and DORA, or on facilitating retrospectives, if there's appetite
Stay for ten minutes afterwards. The most useful conversations of the day happen then.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PLANNING NOTE — not for display during the session.
The outline as briefed totals 147 minutes of teaching and activities, before any opening, transitions, or close. Realistically a 2-hour session supports about 110 minutes of content plus 10 minutes of overhead.
Three honest options:
1. RUN 150 MINUTES. Ask for 2.5 hours. Best outcome if you can get the time — the content genuinely needs it and the activities are where the value is.
2. RUN 120 AS TWO SESSIONS. Sections 1-6 in session one, 7-10 in session two. Strongly preferred if this is a real capability-building effort rather than an awareness session. The natural break is after Case Study 2.
3. CUT TO FIT. Use the compressed column, then drop Case Study 1, Quiz 1, and trim sections 3 and 9. You land at roughly 120 including opening and close.
What NOT to cut, in priority order: the Final Exercise, Exercise 2, Case Study 2, and section 4. Those four carry most of the session's value. Cutting activities to preserve slides is the most common facilitation mistake and it inverts the value of the session — the slides are the cheap part.</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BITS 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EA1C9F-BEB6-CA0B-D6F7-4A0637860C0A}"/>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4" name="Rectangle 3">
            <a:extLst>
              <a:ext uri="{FF2B5EF4-FFF2-40B4-BE49-F238E27FC236}">
                <a16:creationId xmlns:a16="http://schemas.microsoft.com/office/drawing/2014/main" id="{CADA72E6-68DE-D42C-8E21-937CDFCA863A}"/>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5" name="Rectangle 4">
            <a:extLst>
              <a:ext uri="{FF2B5EF4-FFF2-40B4-BE49-F238E27FC236}">
                <a16:creationId xmlns:a16="http://schemas.microsoft.com/office/drawing/2014/main" id="{9058C517-81E1-8B28-9B81-51A07D1A71F6}"/>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2CFA26EF-F88D-6168-C59A-FF3390DE2C02}"/>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8" name="Picture 10" descr="BITS_university_logo_whitevert.png">
            <a:extLst>
              <a:ext uri="{FF2B5EF4-FFF2-40B4-BE49-F238E27FC236}">
                <a16:creationId xmlns:a16="http://schemas.microsoft.com/office/drawing/2014/main" id="{AC430C8B-923B-4B5B-3308-D7606A5BC546}"/>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596A23DA-81ED-1EE1-27E5-092356CAE9CF}"/>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9C33295B-A0DA-C271-9429-F2E421FEA788}"/>
              </a:ext>
            </a:extLst>
          </p:cNvPr>
          <p:cNvSpPr txBox="1">
            <a:spLocks noChangeArrowheads="1"/>
          </p:cNvSpPr>
          <p:nvPr userDrawn="1"/>
        </p:nvSpPr>
        <p:spPr bwMode="auto">
          <a:xfrm>
            <a:off x="203200" y="5667376"/>
            <a:ext cx="2540000" cy="276225"/>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46347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ITS 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7868F-1983-1119-7C17-94BD0A8426A3}"/>
              </a:ext>
            </a:extLst>
          </p:cNvPr>
          <p:cNvSpPr txBox="1">
            <a:spLocks noChangeArrowheads="1"/>
          </p:cNvSpPr>
          <p:nvPr userDrawn="1"/>
        </p:nvSpPr>
        <p:spPr bwMode="auto">
          <a:xfrm>
            <a:off x="4368800" y="6596064"/>
            <a:ext cx="78232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89D272C-8B88-F7C0-551F-E9FAA384707E}"/>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EC819667-99EA-96EE-DD91-AD8D3AC0BE67}"/>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6FC9DF5-663B-00A2-73DA-05FA06DD967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3BB87CC0-0560-D45F-AB57-024F9824BD5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8" name="Picture 11" descr="Picture 7.png">
            <a:extLst>
              <a:ext uri="{FF2B5EF4-FFF2-40B4-BE49-F238E27FC236}">
                <a16:creationId xmlns:a16="http://schemas.microsoft.com/office/drawing/2014/main" id="{971CB67F-28CE-4F50-1C50-8988676256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3CC2C6D1-29E3-A40B-FE22-C14091590DA3}"/>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A4584775-D5FF-688C-EFE7-6F52E0C6EB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7B45312-51FA-FF58-730D-97E9C19F79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55DDC51-FEE6-5D5B-CB84-9554480FF7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a:extLst>
              <a:ext uri="{FF2B5EF4-FFF2-40B4-BE49-F238E27FC236}">
                <a16:creationId xmlns:a16="http://schemas.microsoft.com/office/drawing/2014/main" id="{6FECCDE8-71B7-B144-22DA-EEB1CEABDEF4}"/>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97140FD7-856C-E598-20FF-A09D5710135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9EFC119-B4EF-83A7-EA1A-76A895713F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C127F66E-4A58-6A67-1592-333717431D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43623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userDrawn="1">
  <p:cSld name="BITS Section Header">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7868F-1983-1119-7C17-94BD0A8426A3}"/>
              </a:ext>
            </a:extLst>
          </p:cNvPr>
          <p:cNvSpPr txBox="1">
            <a:spLocks noChangeArrowheads="1"/>
          </p:cNvSpPr>
          <p:nvPr userDrawn="1"/>
        </p:nvSpPr>
        <p:spPr bwMode="auto">
          <a:xfrm>
            <a:off x="4368800" y="6596064"/>
            <a:ext cx="78232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89D272C-8B88-F7C0-551F-E9FAA384707E}"/>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EC819667-99EA-96EE-DD91-AD8D3AC0BE67}"/>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6FC9DF5-663B-00A2-73DA-05FA06DD967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3BB87CC0-0560-D45F-AB57-024F9824BD5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8" name="Picture 11" descr="Picture 7.png">
            <a:extLst>
              <a:ext uri="{FF2B5EF4-FFF2-40B4-BE49-F238E27FC236}">
                <a16:creationId xmlns:a16="http://schemas.microsoft.com/office/drawing/2014/main" id="{971CB67F-28CE-4F50-1C50-8988676256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3CC2C6D1-29E3-A40B-FE22-C14091590DA3}"/>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A4584775-D5FF-688C-EFE7-6F52E0C6EB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7B45312-51FA-FF58-730D-97E9C19F79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55DDC51-FEE6-5D5B-CB84-9554480FF7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a:extLst>
              <a:ext uri="{FF2B5EF4-FFF2-40B4-BE49-F238E27FC236}">
                <a16:creationId xmlns:a16="http://schemas.microsoft.com/office/drawing/2014/main" id="{6FECCDE8-71B7-B144-22DA-EEB1CEABDEF4}"/>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97140FD7-856C-E598-20FF-A09D5710135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9EFC119-B4EF-83A7-EA1A-76A895713F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C127F66E-4A58-6A67-1592-333717431D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40" name="Section Title"/>
          <p:cNvSpPr>
            <a:spLocks noGrp="1"/>
          </p:cNvSpPr>
          <p:nvPr>
            <p:ph sz="quarter" idx="10"/>
          </p:nvPr>
        </p:nvSpPr>
        <p:spPr>
          <a:xfrm>
            <a:off x="406400" y="2438400"/>
            <a:ext cx="1097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41" name="Section Text"/>
          <p:cNvSpPr>
            <a:spLocks noGrp="1"/>
          </p:cNvSpPr>
          <p:nvPr>
            <p:ph idx="1"/>
          </p:nvPr>
        </p:nvSpPr>
        <p:spPr>
          <a:xfrm>
            <a:off x="406400" y="3657600"/>
            <a:ext cx="10972800" cy="1219200"/>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1143623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userDrawn="1">
  <p:cSld name="BITS Two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7868F-1983-1119-7C17-94BD0A8426A3}"/>
              </a:ext>
            </a:extLst>
          </p:cNvPr>
          <p:cNvSpPr txBox="1">
            <a:spLocks noChangeArrowheads="1"/>
          </p:cNvSpPr>
          <p:nvPr userDrawn="1"/>
        </p:nvSpPr>
        <p:spPr bwMode="auto">
          <a:xfrm>
            <a:off x="4368800" y="6596064"/>
            <a:ext cx="78232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89D272C-8B88-F7C0-551F-E9FAA384707E}"/>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EC819667-99EA-96EE-DD91-AD8D3AC0BE67}"/>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6FC9DF5-663B-00A2-73DA-05FA06DD967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3BB87CC0-0560-D45F-AB57-024F9824BD5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8" name="Picture 11" descr="Picture 7.png">
            <a:extLst>
              <a:ext uri="{FF2B5EF4-FFF2-40B4-BE49-F238E27FC236}">
                <a16:creationId xmlns:a16="http://schemas.microsoft.com/office/drawing/2014/main" id="{971CB67F-28CE-4F50-1C50-8988676256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3CC2C6D1-29E3-A40B-FE22-C14091590DA3}"/>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A4584775-D5FF-688C-EFE7-6F52E0C6EB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7B45312-51FA-FF58-730D-97E9C19F79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55DDC51-FEE6-5D5B-CB84-9554480FF7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a:extLst>
              <a:ext uri="{FF2B5EF4-FFF2-40B4-BE49-F238E27FC236}">
                <a16:creationId xmlns:a16="http://schemas.microsoft.com/office/drawing/2014/main" id="{6FECCDE8-71B7-B144-22DA-EEB1CEABDEF4}"/>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97140FD7-856C-E598-20FF-A09D5710135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9EFC119-B4EF-83A7-EA1A-76A895713F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C127F66E-4A58-6A67-1592-333717431D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40" name="Title"/>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41" name="Content Left"/>
          <p:cNvSpPr>
            <a:spLocks noGrp="1"/>
          </p:cNvSpPr>
          <p:nvPr>
            <p:ph idx="1"/>
          </p:nvPr>
        </p:nvSpPr>
        <p:spPr>
          <a:xfrm>
            <a:off x="406400" y="1493838"/>
            <a:ext cx="53340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2" name="Content Right"/>
          <p:cNvSpPr>
            <a:spLocks noGrp="1"/>
          </p:cNvSpPr>
          <p:nvPr>
            <p:ph idx="2"/>
          </p:nvPr>
        </p:nvSpPr>
        <p:spPr>
          <a:xfrm>
            <a:off x="6248400" y="1493838"/>
            <a:ext cx="53340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1143623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userDrawn="1">
  <p:cSld name="BITS Comparison">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7868F-1983-1119-7C17-94BD0A8426A3}"/>
              </a:ext>
            </a:extLst>
          </p:cNvPr>
          <p:cNvSpPr txBox="1">
            <a:spLocks noChangeArrowheads="1"/>
          </p:cNvSpPr>
          <p:nvPr userDrawn="1"/>
        </p:nvSpPr>
        <p:spPr bwMode="auto">
          <a:xfrm>
            <a:off x="4368800" y="6596064"/>
            <a:ext cx="78232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89D272C-8B88-F7C0-551F-E9FAA384707E}"/>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EC819667-99EA-96EE-DD91-AD8D3AC0BE67}"/>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6FC9DF5-663B-00A2-73DA-05FA06DD967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3BB87CC0-0560-D45F-AB57-024F9824BD5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8" name="Picture 11" descr="Picture 7.png">
            <a:extLst>
              <a:ext uri="{FF2B5EF4-FFF2-40B4-BE49-F238E27FC236}">
                <a16:creationId xmlns:a16="http://schemas.microsoft.com/office/drawing/2014/main" id="{971CB67F-28CE-4F50-1C50-8988676256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3CC2C6D1-29E3-A40B-FE22-C14091590DA3}"/>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A4584775-D5FF-688C-EFE7-6F52E0C6EB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7B45312-51FA-FF58-730D-97E9C19F79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55DDC51-FEE6-5D5B-CB84-9554480FF7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a:extLst>
              <a:ext uri="{FF2B5EF4-FFF2-40B4-BE49-F238E27FC236}">
                <a16:creationId xmlns:a16="http://schemas.microsoft.com/office/drawing/2014/main" id="{6FECCDE8-71B7-B144-22DA-EEB1CEABDEF4}"/>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97140FD7-856C-E598-20FF-A09D5710135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9EFC119-B4EF-83A7-EA1A-76A895713F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C127F66E-4A58-6A67-1592-333717431D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40" name="Title"/>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41" name="Heading Left"/>
          <p:cNvSpPr>
            <a:spLocks noGrp="1"/>
          </p:cNvSpPr>
          <p:nvPr>
            <p:ph idx="1"/>
          </p:nvPr>
        </p:nvSpPr>
        <p:spPr>
          <a:xfrm>
            <a:off x="406400" y="1493838"/>
            <a:ext cx="5334000" cy="533400"/>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2" name="Content Left"/>
          <p:cNvSpPr>
            <a:spLocks noGrp="1"/>
          </p:cNvSpPr>
          <p:nvPr>
            <p:ph idx="2"/>
          </p:nvPr>
        </p:nvSpPr>
        <p:spPr>
          <a:xfrm>
            <a:off x="406400" y="2065338"/>
            <a:ext cx="5334000" cy="39544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3" name="Heading Right"/>
          <p:cNvSpPr>
            <a:spLocks noGrp="1"/>
          </p:cNvSpPr>
          <p:nvPr>
            <p:ph idx="3"/>
          </p:nvPr>
        </p:nvSpPr>
        <p:spPr>
          <a:xfrm>
            <a:off x="6248400" y="1493838"/>
            <a:ext cx="5334000" cy="533400"/>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4" name="Content Right"/>
          <p:cNvSpPr>
            <a:spLocks noGrp="1"/>
          </p:cNvSpPr>
          <p:nvPr>
            <p:ph idx="4"/>
          </p:nvPr>
        </p:nvSpPr>
        <p:spPr>
          <a:xfrm>
            <a:off x="6248400" y="2065338"/>
            <a:ext cx="5334000" cy="39544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1143623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userDrawn="1">
  <p:cSld name="BITS Title Only">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7868F-1983-1119-7C17-94BD0A8426A3}"/>
              </a:ext>
            </a:extLst>
          </p:cNvPr>
          <p:cNvSpPr txBox="1">
            <a:spLocks noChangeArrowheads="1"/>
          </p:cNvSpPr>
          <p:nvPr userDrawn="1"/>
        </p:nvSpPr>
        <p:spPr bwMode="auto">
          <a:xfrm>
            <a:off x="4368800" y="6596064"/>
            <a:ext cx="78232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89D272C-8B88-F7C0-551F-E9FAA384707E}"/>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EC819667-99EA-96EE-DD91-AD8D3AC0BE67}"/>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6FC9DF5-663B-00A2-73DA-05FA06DD967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3BB87CC0-0560-D45F-AB57-024F9824BD5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8" name="Picture 11" descr="Picture 7.png">
            <a:extLst>
              <a:ext uri="{FF2B5EF4-FFF2-40B4-BE49-F238E27FC236}">
                <a16:creationId xmlns:a16="http://schemas.microsoft.com/office/drawing/2014/main" id="{971CB67F-28CE-4F50-1C50-8988676256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3CC2C6D1-29E3-A40B-FE22-C14091590DA3}"/>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A4584775-D5FF-688C-EFE7-6F52E0C6EB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7B45312-51FA-FF58-730D-97E9C19F79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55DDC51-FEE6-5D5B-CB84-9554480FF7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a:extLst>
              <a:ext uri="{FF2B5EF4-FFF2-40B4-BE49-F238E27FC236}">
                <a16:creationId xmlns:a16="http://schemas.microsoft.com/office/drawing/2014/main" id="{6FECCDE8-71B7-B144-22DA-EEB1CEABDEF4}"/>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97140FD7-856C-E598-20FF-A09D5710135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9EFC119-B4EF-83A7-EA1A-76A895713F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C127F66E-4A58-6A67-1592-333717431D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40" name="Title"/>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43623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userDrawn="1">
  <p:cSld name="BITS Blank">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7868F-1983-1119-7C17-94BD0A8426A3}"/>
              </a:ext>
            </a:extLst>
          </p:cNvPr>
          <p:cNvSpPr txBox="1">
            <a:spLocks noChangeArrowheads="1"/>
          </p:cNvSpPr>
          <p:nvPr userDrawn="1"/>
        </p:nvSpPr>
        <p:spPr bwMode="auto">
          <a:xfrm>
            <a:off x="4368800" y="6596064"/>
            <a:ext cx="7823200" cy="261937"/>
          </a:xfrm>
          <a:prstGeom prst="rect">
            <a:avLst/>
          </a:prstGeom>
          <a:noFill/>
          <a:ln>
            <a:noFill/>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4" name="Group 11">
            <a:extLst>
              <a:ext uri="{FF2B5EF4-FFF2-40B4-BE49-F238E27FC236}">
                <a16:creationId xmlns:a16="http://schemas.microsoft.com/office/drawing/2014/main" id="{989D272C-8B88-F7C0-551F-E9FAA384707E}"/>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EC819667-99EA-96EE-DD91-AD8D3AC0BE67}"/>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6FC9DF5-663B-00A2-73DA-05FA06DD967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3BB87CC0-0560-D45F-AB57-024F9824BD5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8" name="Picture 11" descr="Picture 7.png">
            <a:extLst>
              <a:ext uri="{FF2B5EF4-FFF2-40B4-BE49-F238E27FC236}">
                <a16:creationId xmlns:a16="http://schemas.microsoft.com/office/drawing/2014/main" id="{971CB67F-28CE-4F50-1C50-8988676256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3CC2C6D1-29E3-A40B-FE22-C14091590DA3}"/>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A4584775-D5FF-688C-EFE7-6F52E0C6EB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7B45312-51FA-FF58-730D-97E9C19F79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55DDC51-FEE6-5D5B-CB84-9554480FF7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a:extLst>
              <a:ext uri="{FF2B5EF4-FFF2-40B4-BE49-F238E27FC236}">
                <a16:creationId xmlns:a16="http://schemas.microsoft.com/office/drawing/2014/main" id="{6FECCDE8-71B7-B144-22DA-EEB1CEABDEF4}"/>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97140FD7-856C-E598-20FF-A09D5710135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9EFC119-B4EF-83A7-EA1A-76A895713F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C127F66E-4A58-6A67-1592-333717431D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Tree>
    <p:extLst>
      <p:ext uri="{BB962C8B-B14F-4D97-AF65-F5344CB8AC3E}">
        <p14:creationId xmlns:p14="http://schemas.microsoft.com/office/powerpoint/2010/main" val="1143623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userDrawn="1">
  <p:cSld name="BITS Section Header Dark">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7868F-1983-1119-7C17-94BD0A8426A3}"/>
              </a:ext>
            </a:extLst>
          </p:cNvPr>
          <p:cNvSpPr txBox="1">
            <a:spLocks noChangeArrowheads="1"/>
          </p:cNvSpPr>
          <p:nvPr userDrawn="1"/>
        </p:nvSpPr>
        <p:spPr bwMode="auto">
          <a:xfrm>
            <a:off x="4368800" y="6596064"/>
            <a:ext cx="7823200" cy="261937"/>
          </a:xfrm>
          <a:prstGeom prst="rect">
            <a:avLst/>
          </a:prstGeom>
          <a:noFill/>
          <a:ln>
            <a:noFill/>
          </a:ln>
        </p:spPr>
        <p:txBody>
          <a:bodyPr>
            <a:spAutoFit/>
          </a:bodyPr>
          <a:lstStyle>
            <a:lvl1pPr>
              <a:defRPr>
                <a:solidFill>
                  <a:srgbClr val="FFFFFF"/>
                </a:solidFill>
                <a:latin typeface="Arial" panose="020B0604020202020204" pitchFamily="34" charset="0"/>
                <a:cs typeface="Arial" panose="020B0604020202020204" pitchFamily="34" charset="0"/>
              </a:defRPr>
            </a:lvl1pPr>
            <a:lvl2pPr marL="742950" indent="-285750">
              <a:defRPr>
                <a:solidFill>
                  <a:srgbClr val="FFFFFF"/>
                </a:solidFill>
                <a:latin typeface="Arial" panose="020B0604020202020204" pitchFamily="34" charset="0"/>
                <a:cs typeface="Arial" panose="020B0604020202020204" pitchFamily="34" charset="0"/>
              </a:defRPr>
            </a:lvl2pPr>
            <a:lvl3pPr marL="1143000" indent="-228600">
              <a:defRPr>
                <a:solidFill>
                  <a:srgbClr val="FFFFFF"/>
                </a:solidFill>
                <a:latin typeface="Arial" panose="020B0604020202020204" pitchFamily="34" charset="0"/>
                <a:cs typeface="Arial" panose="020B0604020202020204" pitchFamily="34" charset="0"/>
              </a:defRPr>
            </a:lvl3pPr>
            <a:lvl4pPr marL="1600200" indent="-228600">
              <a:defRPr>
                <a:solidFill>
                  <a:srgbClr val="FFFFFF"/>
                </a:solidFill>
                <a:latin typeface="Arial" panose="020B0604020202020204" pitchFamily="34" charset="0"/>
                <a:cs typeface="Arial" panose="020B0604020202020204" pitchFamily="34" charset="0"/>
              </a:defRPr>
            </a:lvl4pPr>
            <a:lvl5pPr marL="2057400" indent="-228600">
              <a:defRPr>
                <a:solidFill>
                  <a:srgbClr val="FFFFFF"/>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FFFFFF"/>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FFFFFF"/>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FFFFFF"/>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FFFFFF"/>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FFFFFF"/>
                </a:solidFill>
              </a:rPr>
              <a:t>BITS </a:t>
            </a:r>
            <a:r>
              <a:rPr lang="en-US" altLang="en-US" sz="1100">
                <a:solidFill>
                  <a:srgbClr val="FFFFFF"/>
                </a:solidFill>
              </a:rPr>
              <a:t>Pilani, Pilani Campus</a:t>
            </a:r>
          </a:p>
        </p:txBody>
      </p:sp>
      <p:grpSp>
        <p:nvGrpSpPr>
          <p:cNvPr id="4" name="Group 11">
            <a:extLst>
              <a:ext uri="{FF2B5EF4-FFF2-40B4-BE49-F238E27FC236}">
                <a16:creationId xmlns:a16="http://schemas.microsoft.com/office/drawing/2014/main" id="{989D272C-8B88-F7C0-551F-E9FAA384707E}"/>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EC819667-99EA-96EE-DD91-AD8D3AC0BE67}"/>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86FC9DF5-663B-00A2-73DA-05FA06DD967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3BB87CC0-0560-D45F-AB57-024F9824BD54}"/>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8" name="Picture 11" descr="Picture 7.png">
            <a:extLst>
              <a:ext uri="{FF2B5EF4-FFF2-40B4-BE49-F238E27FC236}">
                <a16:creationId xmlns:a16="http://schemas.microsoft.com/office/drawing/2014/main" id="{971CB67F-28CE-4F50-1C50-89886762560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3CC2C6D1-29E3-A40B-FE22-C14091590DA3}"/>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A4584775-D5FF-688C-EFE7-6F52E0C6EB9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a:extLst>
                <a:ext uri="{FF2B5EF4-FFF2-40B4-BE49-F238E27FC236}">
                  <a16:creationId xmlns:a16="http://schemas.microsoft.com/office/drawing/2014/main" id="{F7B45312-51FA-FF58-730D-97E9C19F79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55DDC51-FEE6-5D5B-CB84-9554480FF73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3" name="Group 22">
            <a:extLst>
              <a:ext uri="{FF2B5EF4-FFF2-40B4-BE49-F238E27FC236}">
                <a16:creationId xmlns:a16="http://schemas.microsoft.com/office/drawing/2014/main" id="{6FECCDE8-71B7-B144-22DA-EEB1CEABDEF4}"/>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97140FD7-856C-E598-20FF-A09D5710135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5" name="Rectangle 14">
              <a:extLst>
                <a:ext uri="{FF2B5EF4-FFF2-40B4-BE49-F238E27FC236}">
                  <a16:creationId xmlns:a16="http://schemas.microsoft.com/office/drawing/2014/main" id="{C9EFC119-B4EF-83A7-EA1A-76A895713F2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C127F66E-4A58-6A67-1592-333717431D4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40" name="Section Title"/>
          <p:cNvSpPr>
            <a:spLocks noGrp="1"/>
          </p:cNvSpPr>
          <p:nvPr>
            <p:ph sz="quarter" idx="10"/>
          </p:nvPr>
        </p:nvSpPr>
        <p:spPr>
          <a:xfrm>
            <a:off x="406400" y="2438400"/>
            <a:ext cx="1097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41" name="Section Text"/>
          <p:cNvSpPr>
            <a:spLocks noGrp="1"/>
          </p:cNvSpPr>
          <p:nvPr>
            <p:ph idx="1"/>
          </p:nvPr>
        </p:nvSpPr>
        <p:spPr>
          <a:xfrm>
            <a:off x="406400" y="3657600"/>
            <a:ext cx="10972800" cy="1219200"/>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Tree>
    <p:extLst>
      <p:ext uri="{BB962C8B-B14F-4D97-AF65-F5344CB8AC3E}">
        <p14:creationId xmlns:p14="http://schemas.microsoft.com/office/powerpoint/2010/main" val="1143623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471AEA-D709-0CE5-B744-3B2054EC57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0566A6-F60A-51DF-AB1E-C62A98B6A2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8EA262-4B2E-CD00-1F95-CB60E51E10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76CA33-C0EB-49AF-A1E8-048F4E697C3E}" type="datetimeFigureOut">
              <a:rPr lang="en-IN" smtClean="0"/>
              <a:t>06-09-2026</a:t>
            </a:fld>
            <a:endParaRPr lang="en-IN"/>
          </a:p>
        </p:txBody>
      </p:sp>
      <p:sp>
        <p:nvSpPr>
          <p:cNvPr id="5" name="Footer Placeholder 4">
            <a:extLst>
              <a:ext uri="{FF2B5EF4-FFF2-40B4-BE49-F238E27FC236}">
                <a16:creationId xmlns:a16="http://schemas.microsoft.com/office/drawing/2014/main" id="{42CA4FB3-B5C7-66BB-639A-EB3D414EE1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FD92BF5-C9E1-DBD9-5AF2-2CCB8E35CA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3B880A-110C-4ADD-B184-C15601EC413A}" type="slidenum">
              <a:rPr lang="en-IN" smtClean="0"/>
              <a:t>‹#›</a:t>
            </a:fld>
            <a:endParaRPr lang="en-IN"/>
          </a:p>
        </p:txBody>
      </p:sp>
    </p:spTree>
    <p:extLst>
      <p:ext uri="{BB962C8B-B14F-4D97-AF65-F5344CB8AC3E}">
        <p14:creationId xmlns:p14="http://schemas.microsoft.com/office/powerpoint/2010/main" val="2667593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2"/>
          <p:cNvSpPr/>
          <p:nvPr/>
        </p:nvSpPr>
        <p:spPr>
          <a:xfrm>
            <a:off x="3355848" y="3547872"/>
            <a:ext cx="8321040" cy="274320"/>
          </a:xfrm>
          <a:prstGeom prst="rect">
            <a:avLst/>
          </a:prstGeom>
          <a:noFill/>
          <a:ln/>
        </p:spPr>
        <p:txBody>
          <a:bodyPr wrap="square" lIns="0" tIns="0" rIns="0" bIns="0" rtlCol="0" anchor="ctr"/>
          <a:lstStyle/>
          <a:p>
            <a:pPr marL="0" indent="0">
              <a:buNone/>
            </a:pPr>
            <a:endParaRPr lang="en-US" sz="1200" dirty="0"/>
          </a:p>
        </p:txBody>
      </p:sp>
      <p:sp>
        <p:nvSpPr>
          <p:cNvPr id="5" name="Text 3"/>
          <p:cNvSpPr/>
          <p:nvPr/>
        </p:nvSpPr>
        <p:spPr>
          <a:xfrm>
            <a:off x="3355848" y="3803904"/>
            <a:ext cx="8412480" cy="786384"/>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entury Gothic" pitchFamily="34" charset="0"/>
                <a:ea typeface="Century Gothic" pitchFamily="34" charset="-122"/>
                <a:cs typeface="Century Gothic" pitchFamily="34" charset="-120"/>
              </a:rPr>
              <a:t>Introduction to Agile Development </a:t>
            </a:r>
            <a:endParaRPr lang="en-US" sz="3600" dirty="0"/>
          </a:p>
        </p:txBody>
      </p:sp>
      <p:sp>
        <p:nvSpPr>
          <p:cNvPr id="6" name="Text 4"/>
          <p:cNvSpPr/>
          <p:nvPr/>
        </p:nvSpPr>
        <p:spPr>
          <a:xfrm>
            <a:off x="3355848" y="4562856"/>
            <a:ext cx="8229600" cy="566928"/>
          </a:xfrm>
          <a:prstGeom prst="rect">
            <a:avLst/>
          </a:prstGeom>
          <a:noFill/>
          <a:ln/>
        </p:spPr>
        <p:txBody>
          <a:bodyPr wrap="square" lIns="0" tIns="0" rIns="0" bIns="0" rtlCol="0" anchor="ctr"/>
          <a:lstStyle/>
          <a:p>
            <a:pPr marL="0" indent="0">
              <a:lnSpc>
                <a:spcPct val="130000"/>
              </a:lnSpc>
              <a:buNone/>
            </a:pPr>
            <a:endParaRPr lang="en-US" sz="1600" dirty="0"/>
          </a:p>
        </p:txBody>
      </p:sp>
      <p:sp>
        <p:nvSpPr>
          <p:cNvPr id="7" name="Shape 5"/>
          <p:cNvSpPr/>
          <p:nvPr/>
        </p:nvSpPr>
        <p:spPr>
          <a:xfrm>
            <a:off x="3355848" y="5285232"/>
            <a:ext cx="2212848" cy="658368"/>
          </a:xfrm>
          <a:prstGeom prst="roundRect">
            <a:avLst>
              <a:gd name="adj" fmla="val 13889"/>
            </a:avLst>
          </a:prstGeom>
          <a:solidFill>
            <a:srgbClr val="26276B"/>
          </a:solidFill>
          <a:ln/>
        </p:spPr>
        <p:txBody>
          <a:bodyPr/>
          <a:lstStyle/>
          <a:p>
            <a:endParaRPr lang="en-IN"/>
          </a:p>
        </p:txBody>
      </p:sp>
      <p:sp>
        <p:nvSpPr>
          <p:cNvPr id="8" name="Text 6"/>
          <p:cNvSpPr/>
          <p:nvPr/>
        </p:nvSpPr>
        <p:spPr>
          <a:xfrm>
            <a:off x="3493008" y="5376672"/>
            <a:ext cx="2011680" cy="219456"/>
          </a:xfrm>
          <a:prstGeom prst="rect">
            <a:avLst/>
          </a:prstGeom>
          <a:noFill/>
          <a:ln/>
        </p:spPr>
        <p:txBody>
          <a:bodyPr wrap="square" lIns="0" tIns="0" rIns="0" bIns="0" rtlCol="0" anchor="ctr"/>
          <a:lstStyle/>
          <a:p>
            <a:pPr marL="0" indent="0">
              <a:buNone/>
            </a:pPr>
            <a:r>
              <a:rPr lang="en-US" sz="900" b="1" kern="0" spc="150" dirty="0">
                <a:solidFill>
                  <a:srgbClr val="63E7A4"/>
                </a:solidFill>
                <a:latin typeface="Century Gothic" pitchFamily="34" charset="0"/>
                <a:ea typeface="Century Gothic" pitchFamily="34" charset="-122"/>
                <a:cs typeface="Century Gothic" pitchFamily="34" charset="-120"/>
              </a:rPr>
              <a:t>DURATION</a:t>
            </a:r>
            <a:endParaRPr lang="en-US" sz="900" dirty="0"/>
          </a:p>
        </p:txBody>
      </p:sp>
      <p:sp>
        <p:nvSpPr>
          <p:cNvPr id="9" name="Text 7"/>
          <p:cNvSpPr/>
          <p:nvPr/>
        </p:nvSpPr>
        <p:spPr>
          <a:xfrm>
            <a:off x="3493008" y="5614416"/>
            <a:ext cx="2011680" cy="274320"/>
          </a:xfrm>
          <a:prstGeom prst="rect">
            <a:avLst/>
          </a:prstGeom>
          <a:noFill/>
          <a:ln/>
        </p:spPr>
        <p:txBody>
          <a:bodyPr wrap="square" lIns="0" tIns="0" rIns="0" bIns="0" rtlCol="0" anchor="ctr"/>
          <a:lstStyle/>
          <a:p>
            <a:pPr marL="0" indent="0">
              <a:buNone/>
            </a:pPr>
            <a:r>
              <a:rPr lang="en-US" sz="1300" b="1" dirty="0">
                <a:solidFill>
                  <a:srgbClr val="FFFFFF"/>
                </a:solidFill>
                <a:latin typeface="Century Gothic" pitchFamily="34" charset="0"/>
                <a:ea typeface="Century Gothic" pitchFamily="34" charset="-122"/>
                <a:cs typeface="Century Gothic" pitchFamily="34" charset="-120"/>
              </a:rPr>
              <a:t>2 hours</a:t>
            </a:r>
            <a:endParaRPr lang="en-US" sz="1300" dirty="0"/>
          </a:p>
        </p:txBody>
      </p:sp>
      <p:sp>
        <p:nvSpPr>
          <p:cNvPr id="10" name="Shape 8"/>
          <p:cNvSpPr/>
          <p:nvPr/>
        </p:nvSpPr>
        <p:spPr>
          <a:xfrm>
            <a:off x="5751576" y="5285232"/>
            <a:ext cx="2212848" cy="658368"/>
          </a:xfrm>
          <a:prstGeom prst="roundRect">
            <a:avLst>
              <a:gd name="adj" fmla="val 13889"/>
            </a:avLst>
          </a:prstGeom>
          <a:solidFill>
            <a:srgbClr val="26276B"/>
          </a:solidFill>
          <a:ln/>
        </p:spPr>
        <p:txBody>
          <a:bodyPr/>
          <a:lstStyle/>
          <a:p>
            <a:endParaRPr lang="en-IN"/>
          </a:p>
        </p:txBody>
      </p:sp>
      <p:sp>
        <p:nvSpPr>
          <p:cNvPr id="11" name="Text 9"/>
          <p:cNvSpPr/>
          <p:nvPr/>
        </p:nvSpPr>
        <p:spPr>
          <a:xfrm>
            <a:off x="5888736" y="5376672"/>
            <a:ext cx="2011680" cy="219456"/>
          </a:xfrm>
          <a:prstGeom prst="rect">
            <a:avLst/>
          </a:prstGeom>
          <a:noFill/>
          <a:ln/>
        </p:spPr>
        <p:txBody>
          <a:bodyPr wrap="square" lIns="0" tIns="0" rIns="0" bIns="0" rtlCol="0" anchor="ctr"/>
          <a:lstStyle/>
          <a:p>
            <a:pPr marL="0" indent="0">
              <a:buNone/>
            </a:pPr>
            <a:r>
              <a:rPr lang="en-US" sz="900" b="1" kern="0" spc="150" dirty="0">
                <a:solidFill>
                  <a:srgbClr val="63E7A4"/>
                </a:solidFill>
                <a:latin typeface="Century Gothic" pitchFamily="34" charset="0"/>
                <a:ea typeface="Century Gothic" pitchFamily="34" charset="-122"/>
                <a:cs typeface="Century Gothic" pitchFamily="34" charset="-120"/>
              </a:rPr>
              <a:t>FORMAT</a:t>
            </a:r>
            <a:endParaRPr lang="en-US" sz="900" dirty="0"/>
          </a:p>
        </p:txBody>
      </p:sp>
      <p:sp>
        <p:nvSpPr>
          <p:cNvPr id="12" name="Text 10"/>
          <p:cNvSpPr/>
          <p:nvPr/>
        </p:nvSpPr>
        <p:spPr>
          <a:xfrm>
            <a:off x="5888736" y="5614416"/>
            <a:ext cx="2011680" cy="274320"/>
          </a:xfrm>
          <a:prstGeom prst="rect">
            <a:avLst/>
          </a:prstGeom>
          <a:noFill/>
          <a:ln/>
        </p:spPr>
        <p:txBody>
          <a:bodyPr wrap="square" lIns="0" tIns="0" rIns="0" bIns="0" rtlCol="0" anchor="ctr"/>
          <a:lstStyle/>
          <a:p>
            <a:pPr marL="0" indent="0">
              <a:buNone/>
            </a:pPr>
            <a:r>
              <a:rPr lang="en-US" sz="1300" b="1" dirty="0">
                <a:solidFill>
                  <a:srgbClr val="FFFFFF"/>
                </a:solidFill>
                <a:latin typeface="Century Gothic" pitchFamily="34" charset="0"/>
                <a:ea typeface="Century Gothic" pitchFamily="34" charset="-122"/>
                <a:cs typeface="Century Gothic" pitchFamily="34" charset="-120"/>
              </a:rPr>
              <a:t>Workshop</a:t>
            </a:r>
            <a:endParaRPr lang="en-US" sz="1300" dirty="0"/>
          </a:p>
        </p:txBody>
      </p:sp>
      <p:sp>
        <p:nvSpPr>
          <p:cNvPr id="13" name="Shape 11"/>
          <p:cNvSpPr/>
          <p:nvPr/>
        </p:nvSpPr>
        <p:spPr>
          <a:xfrm>
            <a:off x="8147304" y="5285232"/>
            <a:ext cx="2212848" cy="658368"/>
          </a:xfrm>
          <a:prstGeom prst="roundRect">
            <a:avLst>
              <a:gd name="adj" fmla="val 13889"/>
            </a:avLst>
          </a:prstGeom>
          <a:solidFill>
            <a:srgbClr val="26276B"/>
          </a:solidFill>
          <a:ln/>
        </p:spPr>
        <p:txBody>
          <a:bodyPr/>
          <a:lstStyle/>
          <a:p>
            <a:endParaRPr lang="en-IN"/>
          </a:p>
        </p:txBody>
      </p:sp>
      <p:sp>
        <p:nvSpPr>
          <p:cNvPr id="14" name="Text 12"/>
          <p:cNvSpPr/>
          <p:nvPr/>
        </p:nvSpPr>
        <p:spPr>
          <a:xfrm>
            <a:off x="8284464" y="5376672"/>
            <a:ext cx="2011680" cy="219456"/>
          </a:xfrm>
          <a:prstGeom prst="rect">
            <a:avLst/>
          </a:prstGeom>
          <a:noFill/>
          <a:ln/>
        </p:spPr>
        <p:txBody>
          <a:bodyPr wrap="square" lIns="0" tIns="0" rIns="0" bIns="0" rtlCol="0" anchor="ctr"/>
          <a:lstStyle/>
          <a:p>
            <a:pPr marL="0" indent="0">
              <a:buNone/>
            </a:pPr>
            <a:r>
              <a:rPr lang="en-US" sz="900" b="1" kern="0" spc="150" dirty="0">
                <a:solidFill>
                  <a:srgbClr val="63E7A4"/>
                </a:solidFill>
                <a:latin typeface="Century Gothic" pitchFamily="34" charset="0"/>
                <a:ea typeface="Century Gothic" pitchFamily="34" charset="-122"/>
                <a:cs typeface="Century Gothic" pitchFamily="34" charset="-120"/>
              </a:rPr>
              <a:t>AUDIENCE</a:t>
            </a:r>
            <a:endParaRPr lang="en-US" sz="900" dirty="0"/>
          </a:p>
        </p:txBody>
      </p:sp>
      <p:sp>
        <p:nvSpPr>
          <p:cNvPr id="15" name="Text 13"/>
          <p:cNvSpPr/>
          <p:nvPr/>
        </p:nvSpPr>
        <p:spPr>
          <a:xfrm>
            <a:off x="8284464" y="5614416"/>
            <a:ext cx="2011680" cy="274320"/>
          </a:xfrm>
          <a:prstGeom prst="rect">
            <a:avLst/>
          </a:prstGeom>
          <a:noFill/>
          <a:ln/>
        </p:spPr>
        <p:txBody>
          <a:bodyPr wrap="square" lIns="0" tIns="0" rIns="0" bIns="0" rtlCol="0" anchor="ctr"/>
          <a:lstStyle/>
          <a:p>
            <a:pPr marL="0" indent="0">
              <a:buNone/>
            </a:pPr>
            <a:r>
              <a:rPr lang="en-US" sz="1300" b="1" dirty="0">
                <a:solidFill>
                  <a:srgbClr val="FFFFFF"/>
                </a:solidFill>
                <a:latin typeface="Century Gothic" pitchFamily="34" charset="0"/>
                <a:ea typeface="Century Gothic" pitchFamily="34" charset="-122"/>
                <a:cs typeface="Century Gothic" pitchFamily="34" charset="-120"/>
              </a:rPr>
              <a:t>Eng + Product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Agenda</a:t>
            </a:r>
            <a:endParaRPr lang="en-US" sz="300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Sections 1–3 · Foundations</a:t>
            </a:r>
            <a:endParaRPr lang="en-US" sz="1550" dirty="0"/>
          </a:p>
        </p:txBody>
      </p:sp>
      <p:sp>
        <p:nvSpPr>
          <p:cNvPr id="8" name="Text 6"/>
          <p:cNvSpPr/>
          <p:nvPr/>
        </p:nvSpPr>
        <p:spPr>
          <a:xfrm>
            <a:off x="1170432" y="2624328"/>
            <a:ext cx="10241280" cy="292608"/>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Why Agile exists, what the mindset actually says, and which framework fits which problem.</a:t>
            </a:r>
            <a:endParaRPr lang="en-US" sz="1150" dirty="0"/>
          </a:p>
        </p:txBody>
      </p:sp>
      <p:sp>
        <p:nvSpPr>
          <p:cNvPr id="9" name="Shape 7"/>
          <p:cNvSpPr/>
          <p:nvPr/>
        </p:nvSpPr>
        <p:spPr>
          <a:xfrm>
            <a:off x="566928" y="3127248"/>
            <a:ext cx="402336" cy="402336"/>
          </a:xfrm>
          <a:prstGeom prst="ellipse">
            <a:avLst/>
          </a:prstGeom>
          <a:solidFill>
            <a:srgbClr val="63E7A4"/>
          </a:solidFill>
          <a:ln/>
        </p:spPr>
        <p:txBody>
          <a:bodyPr/>
          <a:lstStyle/>
          <a:p>
            <a:endParaRPr lang="en-IN"/>
          </a:p>
        </p:txBody>
      </p:sp>
      <p:sp>
        <p:nvSpPr>
          <p:cNvPr id="10" name="Text 8"/>
          <p:cNvSpPr/>
          <p:nvPr/>
        </p:nvSpPr>
        <p:spPr>
          <a:xfrm>
            <a:off x="566928" y="312724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072384"/>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Sections 4–6 · Scrum in practice</a:t>
            </a:r>
            <a:endParaRPr lang="en-US" sz="1550" dirty="0"/>
          </a:p>
        </p:txBody>
      </p:sp>
      <p:sp>
        <p:nvSpPr>
          <p:cNvPr id="12" name="Text 10"/>
          <p:cNvSpPr/>
          <p:nvPr/>
        </p:nvSpPr>
        <p:spPr>
          <a:xfrm>
            <a:off x="1170432" y="3383280"/>
            <a:ext cx="10241280" cy="292608"/>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Roles, events, artifacts, user stories, and how a sprint really runs when it runs well.</a:t>
            </a:r>
            <a:endParaRPr lang="en-US" sz="1150" dirty="0"/>
          </a:p>
        </p:txBody>
      </p:sp>
      <p:sp>
        <p:nvSpPr>
          <p:cNvPr id="13" name="Shape 11"/>
          <p:cNvSpPr/>
          <p:nvPr/>
        </p:nvSpPr>
        <p:spPr>
          <a:xfrm>
            <a:off x="566928" y="3886200"/>
            <a:ext cx="402336" cy="402336"/>
          </a:xfrm>
          <a:prstGeom prst="ellipse">
            <a:avLst/>
          </a:prstGeom>
          <a:solidFill>
            <a:srgbClr val="63E7A4"/>
          </a:solidFill>
          <a:ln/>
        </p:spPr>
        <p:txBody>
          <a:bodyPr/>
          <a:lstStyle/>
          <a:p>
            <a:endParaRPr lang="en-IN"/>
          </a:p>
        </p:txBody>
      </p:sp>
      <p:sp>
        <p:nvSpPr>
          <p:cNvPr id="14" name="Text 12"/>
          <p:cNvSpPr/>
          <p:nvPr/>
        </p:nvSpPr>
        <p:spPr>
          <a:xfrm>
            <a:off x="566928" y="388620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3831336"/>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Sections 7–8 · Estimating and measuring</a:t>
            </a:r>
            <a:endParaRPr lang="en-US" sz="1550" dirty="0"/>
          </a:p>
        </p:txBody>
      </p:sp>
      <p:sp>
        <p:nvSpPr>
          <p:cNvPr id="16" name="Text 14"/>
          <p:cNvSpPr/>
          <p:nvPr/>
        </p:nvSpPr>
        <p:spPr>
          <a:xfrm>
            <a:off x="1170432" y="4142232"/>
            <a:ext cx="10241280" cy="292608"/>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Story points, prioritisation, and the metrics that inform rather than judge.</a:t>
            </a:r>
            <a:endParaRPr lang="en-US" sz="1150" dirty="0"/>
          </a:p>
        </p:txBody>
      </p:sp>
      <p:sp>
        <p:nvSpPr>
          <p:cNvPr id="17" name="Shape 15"/>
          <p:cNvSpPr/>
          <p:nvPr/>
        </p:nvSpPr>
        <p:spPr>
          <a:xfrm>
            <a:off x="566928" y="4645152"/>
            <a:ext cx="402336" cy="402336"/>
          </a:xfrm>
          <a:prstGeom prst="ellipse">
            <a:avLst/>
          </a:prstGeom>
          <a:solidFill>
            <a:srgbClr val="63E7A4"/>
          </a:solidFill>
          <a:ln/>
        </p:spPr>
        <p:txBody>
          <a:bodyPr/>
          <a:lstStyle/>
          <a:p>
            <a:endParaRPr lang="en-IN"/>
          </a:p>
        </p:txBody>
      </p:sp>
      <p:sp>
        <p:nvSpPr>
          <p:cNvPr id="18" name="Text 16"/>
          <p:cNvSpPr/>
          <p:nvPr/>
        </p:nvSpPr>
        <p:spPr>
          <a:xfrm>
            <a:off x="566928" y="464515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590288"/>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Sections 9–10 · Advanced and applied</a:t>
            </a:r>
            <a:endParaRPr lang="en-US" sz="1550" dirty="0"/>
          </a:p>
        </p:txBody>
      </p:sp>
      <p:sp>
        <p:nvSpPr>
          <p:cNvPr id="20" name="Text 18"/>
          <p:cNvSpPr/>
          <p:nvPr/>
        </p:nvSpPr>
        <p:spPr>
          <a:xfrm>
            <a:off x="1170432" y="4901184"/>
            <a:ext cx="10241280" cy="292608"/>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Product thinking, scaling, DevOps — then what you change in your own team on Monday.</a:t>
            </a:r>
            <a:endParaRPr lang="en-US" sz="11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AGILE: BASICS TO ADVANCED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01</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Why Agile?</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The business problem Agile was invented to solve — and what it costs us when we don't solve it.</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10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 · WHY AGILE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The cost of a slow feedback loop</a:t>
            </a:r>
            <a:endParaRPr lang="en-US" sz="3000" dirty="0"/>
          </a:p>
        </p:txBody>
      </p:sp>
      <p:sp>
        <p:nvSpPr>
          <p:cNvPr id="4" name="Shape 2"/>
          <p:cNvSpPr/>
          <p:nvPr/>
        </p:nvSpPr>
        <p:spPr>
          <a:xfrm>
            <a:off x="548640" y="1874520"/>
            <a:ext cx="4709160" cy="4023360"/>
          </a:xfrm>
          <a:prstGeom prst="roundRect">
            <a:avLst>
              <a:gd name="adj" fmla="val 1364"/>
            </a:avLst>
          </a:prstGeom>
          <a:solidFill>
            <a:srgbClr val="003352"/>
          </a:solidFill>
          <a:ln/>
        </p:spPr>
        <p:txBody>
          <a:bodyPr/>
          <a:lstStyle/>
          <a:p>
            <a:endParaRPr lang="en-IN"/>
          </a:p>
        </p:txBody>
      </p:sp>
      <p:sp>
        <p:nvSpPr>
          <p:cNvPr id="5" name="Text 3"/>
          <p:cNvSpPr/>
          <p:nvPr/>
        </p:nvSpPr>
        <p:spPr>
          <a:xfrm>
            <a:off x="868680" y="2148840"/>
            <a:ext cx="4069080" cy="1600200"/>
          </a:xfrm>
          <a:prstGeom prst="rect">
            <a:avLst/>
          </a:prstGeom>
          <a:noFill/>
          <a:ln/>
        </p:spPr>
        <p:txBody>
          <a:bodyPr wrap="square" lIns="0" tIns="0" rIns="0" bIns="0" rtlCol="0" anchor="ctr"/>
          <a:lstStyle/>
          <a:p>
            <a:pPr marL="0" indent="0">
              <a:lnSpc>
                <a:spcPct val="100000"/>
              </a:lnSpc>
              <a:buNone/>
            </a:pPr>
            <a:r>
              <a:rPr lang="en-US" sz="5000" b="1" dirty="0">
                <a:solidFill>
                  <a:srgbClr val="63E7A4"/>
                </a:solidFill>
                <a:latin typeface="Century Gothic" pitchFamily="34" charset="0"/>
                <a:ea typeface="Century Gothic" pitchFamily="34" charset="-122"/>
                <a:cs typeface="Century Gothic" pitchFamily="34" charset="-120"/>
              </a:rPr>
              <a:t>6 months</a:t>
            </a:r>
            <a:endParaRPr lang="en-US" sz="5000" dirty="0"/>
          </a:p>
        </p:txBody>
      </p:sp>
      <p:sp>
        <p:nvSpPr>
          <p:cNvPr id="6" name="Text 4"/>
          <p:cNvSpPr/>
          <p:nvPr/>
        </p:nvSpPr>
        <p:spPr>
          <a:xfrm>
            <a:off x="868680" y="3858768"/>
            <a:ext cx="4069080" cy="1810512"/>
          </a:xfrm>
          <a:prstGeom prst="rect">
            <a:avLst/>
          </a:prstGeom>
          <a:noFill/>
          <a:ln/>
        </p:spPr>
        <p:txBody>
          <a:bodyPr wrap="square" lIns="0" tIns="0" rIns="0" bIns="0" rtlCol="0" anchor="t"/>
          <a:lstStyle/>
          <a:p>
            <a:pPr marL="0" indent="0">
              <a:lnSpc>
                <a:spcPct val="128000"/>
              </a:lnSpc>
              <a:buNone/>
            </a:pPr>
            <a:r>
              <a:rPr lang="en-US" sz="1350" dirty="0">
                <a:solidFill>
                  <a:srgbClr val="FFFFFF"/>
                </a:solidFill>
                <a:latin typeface="Century Gothic" pitchFamily="34" charset="0"/>
                <a:ea typeface="Century Gothic" pitchFamily="34" charset="-122"/>
                <a:cs typeface="Century Gothic" pitchFamily="34" charset="-120"/>
              </a:rPr>
              <a:t>of silence on an integration request — after which a 130-room property left our PMS for a competitor. The software worked. The feedback loop didn't.</a:t>
            </a:r>
            <a:endParaRPr lang="en-US" sz="1350" dirty="0"/>
          </a:p>
        </p:txBody>
      </p:sp>
      <p:sp>
        <p:nvSpPr>
          <p:cNvPr id="7" name="Shape 5"/>
          <p:cNvSpPr/>
          <p:nvPr/>
        </p:nvSpPr>
        <p:spPr>
          <a:xfrm>
            <a:off x="5669280" y="1975104"/>
            <a:ext cx="402336" cy="402336"/>
          </a:xfrm>
          <a:prstGeom prst="ellipse">
            <a:avLst/>
          </a:prstGeom>
          <a:solidFill>
            <a:srgbClr val="63E7A4"/>
          </a:solidFill>
          <a:ln/>
        </p:spPr>
        <p:txBody>
          <a:bodyPr/>
          <a:lstStyle/>
          <a:p>
            <a:endParaRPr lang="en-IN"/>
          </a:p>
        </p:txBody>
      </p:sp>
      <p:sp>
        <p:nvSpPr>
          <p:cNvPr id="8" name="Text 6"/>
          <p:cNvSpPr/>
          <p:nvPr/>
        </p:nvSpPr>
        <p:spPr>
          <a:xfrm>
            <a:off x="5669280" y="197510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9" name="Text 7"/>
          <p:cNvSpPr/>
          <p:nvPr/>
        </p:nvSpPr>
        <p:spPr>
          <a:xfrm>
            <a:off x="6272784" y="1920240"/>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The request was reasonable</a:t>
            </a:r>
            <a:endParaRPr lang="en-US" sz="1550" dirty="0"/>
          </a:p>
        </p:txBody>
      </p:sp>
      <p:sp>
        <p:nvSpPr>
          <p:cNvPr id="10" name="Text 8"/>
          <p:cNvSpPr/>
          <p:nvPr/>
        </p:nvSpPr>
        <p:spPr>
          <a:xfrm>
            <a:off x="6272784" y="2231136"/>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A group property asked for dashboard data via API. The answer at the time was 'not available, we'll share via a drive'. Then nothing.</a:t>
            </a:r>
            <a:endParaRPr lang="en-US" sz="1250" dirty="0"/>
          </a:p>
        </p:txBody>
      </p:sp>
      <p:sp>
        <p:nvSpPr>
          <p:cNvPr id="11" name="Shape 9"/>
          <p:cNvSpPr/>
          <p:nvPr/>
        </p:nvSpPr>
        <p:spPr>
          <a:xfrm>
            <a:off x="5669280" y="3294888"/>
            <a:ext cx="402336" cy="402336"/>
          </a:xfrm>
          <a:prstGeom prst="ellipse">
            <a:avLst/>
          </a:prstGeom>
          <a:solidFill>
            <a:srgbClr val="63E7A4"/>
          </a:solidFill>
          <a:ln/>
        </p:spPr>
        <p:txBody>
          <a:bodyPr/>
          <a:lstStyle/>
          <a:p>
            <a:endParaRPr lang="en-IN"/>
          </a:p>
        </p:txBody>
      </p:sp>
      <p:sp>
        <p:nvSpPr>
          <p:cNvPr id="12" name="Text 10"/>
          <p:cNvSpPr/>
          <p:nvPr/>
        </p:nvSpPr>
        <p:spPr>
          <a:xfrm>
            <a:off x="5669280" y="329488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272784" y="3240024"/>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Nobody owned the follow-up</a:t>
            </a:r>
            <a:endParaRPr lang="en-US" sz="1550" dirty="0"/>
          </a:p>
        </p:txBody>
      </p:sp>
      <p:sp>
        <p:nvSpPr>
          <p:cNvPr id="14" name="Text 12"/>
          <p:cNvSpPr/>
          <p:nvPr/>
        </p:nvSpPr>
        <p:spPr>
          <a:xfrm>
            <a:off x="6272784" y="3550920"/>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Engineering owned the capability. Support owned the customer. Between them, the question fell into a gap for six months.</a:t>
            </a:r>
            <a:endParaRPr lang="en-US" sz="1250" dirty="0"/>
          </a:p>
        </p:txBody>
      </p:sp>
      <p:sp>
        <p:nvSpPr>
          <p:cNvPr id="15" name="Shape 13"/>
          <p:cNvSpPr/>
          <p:nvPr/>
        </p:nvSpPr>
        <p:spPr>
          <a:xfrm>
            <a:off x="5669280" y="4614672"/>
            <a:ext cx="402336" cy="402336"/>
          </a:xfrm>
          <a:prstGeom prst="ellipse">
            <a:avLst/>
          </a:prstGeom>
          <a:solidFill>
            <a:srgbClr val="63E7A4"/>
          </a:solidFill>
          <a:ln/>
        </p:spPr>
        <p:txBody>
          <a:bodyPr/>
          <a:lstStyle/>
          <a:p>
            <a:endParaRPr lang="en-IN"/>
          </a:p>
        </p:txBody>
      </p:sp>
      <p:sp>
        <p:nvSpPr>
          <p:cNvPr id="16" name="Text 14"/>
          <p:cNvSpPr/>
          <p:nvPr/>
        </p:nvSpPr>
        <p:spPr>
          <a:xfrm>
            <a:off x="5669280" y="461467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6272784" y="4559808"/>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By the time we could deliver, they had gone</a:t>
            </a:r>
            <a:endParaRPr lang="en-US" sz="1550" dirty="0"/>
          </a:p>
        </p:txBody>
      </p:sp>
      <p:sp>
        <p:nvSpPr>
          <p:cNvPr id="18" name="Text 16"/>
          <p:cNvSpPr/>
          <p:nvPr/>
        </p:nvSpPr>
        <p:spPr>
          <a:xfrm>
            <a:off x="6272784" y="4870704"/>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The API was eventually built. The customer had already selected, bought and implemented a replacement.</a:t>
            </a:r>
            <a:endParaRPr lang="en-US" sz="1250" dirty="0"/>
          </a:p>
        </p:txBody>
      </p:sp>
      <p:sp>
        <p:nvSpPr>
          <p:cNvPr id="19" name="Text 17"/>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a:t>
            </a:r>
            <a:endParaRPr lang="en-US" sz="900" dirty="0"/>
          </a:p>
        </p:txBody>
      </p:sp>
      <p:sp>
        <p:nvSpPr>
          <p:cNvPr id="20" name="Text 18"/>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 · WHY AGILE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 · WHY AGILE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Why plan-driven delivery breaks</a:t>
            </a:r>
            <a:endParaRPr lang="en-US" sz="3000" dirty="0"/>
          </a:p>
        </p:txBody>
      </p:sp>
      <p:sp>
        <p:nvSpPr>
          <p:cNvPr id="4" name="Shape 2"/>
          <p:cNvSpPr/>
          <p:nvPr/>
        </p:nvSpPr>
        <p:spPr>
          <a:xfrm>
            <a:off x="548640" y="1847088"/>
            <a:ext cx="5399532" cy="1865376"/>
          </a:xfrm>
          <a:prstGeom prst="roundRect">
            <a:avLst>
              <a:gd name="adj" fmla="val 2941"/>
            </a:avLst>
          </a:prstGeom>
          <a:solidFill>
            <a:srgbClr val="003352"/>
          </a:solidFill>
          <a:ln/>
        </p:spPr>
        <p:txBody>
          <a:bodyPr/>
          <a:lstStyle/>
          <a:p>
            <a:endParaRPr lang="en-IN"/>
          </a:p>
        </p:txBody>
      </p:sp>
      <p:sp>
        <p:nvSpPr>
          <p:cNvPr id="5" name="Shape 3"/>
          <p:cNvSpPr/>
          <p:nvPr/>
        </p:nvSpPr>
        <p:spPr>
          <a:xfrm>
            <a:off x="804672" y="2103120"/>
            <a:ext cx="365760" cy="365760"/>
          </a:xfrm>
          <a:prstGeom prst="ellipse">
            <a:avLst/>
          </a:prstGeom>
          <a:solidFill>
            <a:srgbClr val="63E7A4"/>
          </a:solidFill>
          <a:ln/>
        </p:spPr>
        <p:txBody>
          <a:bodyPr/>
          <a:lstStyle/>
          <a:p>
            <a:endParaRPr lang="en-IN"/>
          </a:p>
        </p:txBody>
      </p:sp>
      <p:sp>
        <p:nvSpPr>
          <p:cNvPr id="6" name="Text 4"/>
          <p:cNvSpPr/>
          <p:nvPr/>
        </p:nvSpPr>
        <p:spPr>
          <a:xfrm>
            <a:off x="804672" y="2103120"/>
            <a:ext cx="365760" cy="365760"/>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298448" y="2084832"/>
            <a:ext cx="4393692" cy="402336"/>
          </a:xfrm>
          <a:prstGeom prst="rect">
            <a:avLst/>
          </a:prstGeom>
          <a:noFill/>
          <a:ln/>
        </p:spPr>
        <p:txBody>
          <a:bodyPr wrap="square" lIns="0" tIns="0" rIns="0" bIns="0" rtlCol="0" anchor="ctr"/>
          <a:lstStyle/>
          <a:p>
            <a:pPr marL="0" indent="0">
              <a:buNone/>
            </a:pPr>
            <a:r>
              <a:rPr lang="en-US" sz="1450" b="1" dirty="0">
                <a:solidFill>
                  <a:srgbClr val="FFFFFF"/>
                </a:solidFill>
                <a:latin typeface="Century Gothic" pitchFamily="34" charset="0"/>
                <a:ea typeface="Century Gothic" pitchFamily="34" charset="-122"/>
                <a:cs typeface="Century Gothic" pitchFamily="34" charset="-120"/>
              </a:rPr>
              <a:t>We are worst at estimating at the exact moment we commit</a:t>
            </a:r>
            <a:endParaRPr lang="en-US" sz="1450" dirty="0"/>
          </a:p>
        </p:txBody>
      </p:sp>
      <p:sp>
        <p:nvSpPr>
          <p:cNvPr id="8" name="Text 6"/>
          <p:cNvSpPr/>
          <p:nvPr/>
        </p:nvSpPr>
        <p:spPr>
          <a:xfrm>
            <a:off x="804672" y="2578608"/>
            <a:ext cx="4887468" cy="841248"/>
          </a:xfrm>
          <a:prstGeom prst="rect">
            <a:avLst/>
          </a:prstGeom>
          <a:noFill/>
          <a:ln/>
        </p:spPr>
        <p:txBody>
          <a:bodyPr wrap="square" lIns="0" tIns="0" rIns="0" bIns="0" rtlCol="0" anchor="t"/>
          <a:lstStyle/>
          <a:p>
            <a:pPr marL="0" indent="0">
              <a:lnSpc>
                <a:spcPct val="122000"/>
              </a:lnSpc>
              <a:buNone/>
            </a:pPr>
            <a:r>
              <a:rPr lang="en-US" sz="1150" dirty="0">
                <a:solidFill>
                  <a:srgbClr val="C7DCE8"/>
                </a:solidFill>
                <a:latin typeface="Century Gothic" pitchFamily="34" charset="0"/>
                <a:ea typeface="Century Gothic" pitchFamily="34" charset="-122"/>
                <a:cs typeface="Century Gothic" pitchFamily="34" charset="-120"/>
              </a:rPr>
              <a:t>A plan written at kickoff is written when we know the least about the problem. We then treat that number as a promise for the next nine months.</a:t>
            </a:r>
            <a:endParaRPr lang="en-US" sz="1150" dirty="0"/>
          </a:p>
        </p:txBody>
      </p:sp>
      <p:sp>
        <p:nvSpPr>
          <p:cNvPr id="9" name="Shape 7"/>
          <p:cNvSpPr/>
          <p:nvPr/>
        </p:nvSpPr>
        <p:spPr>
          <a:xfrm>
            <a:off x="6240780" y="1847088"/>
            <a:ext cx="5399532" cy="1865376"/>
          </a:xfrm>
          <a:prstGeom prst="roundRect">
            <a:avLst>
              <a:gd name="adj" fmla="val 2941"/>
            </a:avLst>
          </a:prstGeom>
          <a:solidFill>
            <a:srgbClr val="F4F7F9"/>
          </a:solidFill>
          <a:ln/>
        </p:spPr>
        <p:txBody>
          <a:bodyPr/>
          <a:lstStyle/>
          <a:p>
            <a:endParaRPr lang="en-IN"/>
          </a:p>
        </p:txBody>
      </p:sp>
      <p:sp>
        <p:nvSpPr>
          <p:cNvPr id="10" name="Shape 8"/>
          <p:cNvSpPr/>
          <p:nvPr/>
        </p:nvSpPr>
        <p:spPr>
          <a:xfrm>
            <a:off x="6496812" y="2103120"/>
            <a:ext cx="365760" cy="365760"/>
          </a:xfrm>
          <a:prstGeom prst="ellipse">
            <a:avLst/>
          </a:prstGeom>
          <a:solidFill>
            <a:srgbClr val="003352"/>
          </a:solidFill>
          <a:ln/>
        </p:spPr>
        <p:txBody>
          <a:bodyPr/>
          <a:lstStyle/>
          <a:p>
            <a:endParaRPr lang="en-IN"/>
          </a:p>
        </p:txBody>
      </p:sp>
      <p:sp>
        <p:nvSpPr>
          <p:cNvPr id="11" name="Text 9"/>
          <p:cNvSpPr/>
          <p:nvPr/>
        </p:nvSpPr>
        <p:spPr>
          <a:xfrm>
            <a:off x="6496812"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2" name="Text 10"/>
          <p:cNvSpPr/>
          <p:nvPr/>
        </p:nvSpPr>
        <p:spPr>
          <a:xfrm>
            <a:off x="6990588" y="2084832"/>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Requirements are not discovered up front</a:t>
            </a:r>
            <a:endParaRPr lang="en-US" sz="1450" dirty="0"/>
          </a:p>
        </p:txBody>
      </p:sp>
      <p:sp>
        <p:nvSpPr>
          <p:cNvPr id="13" name="Text 11"/>
          <p:cNvSpPr/>
          <p:nvPr/>
        </p:nvSpPr>
        <p:spPr>
          <a:xfrm>
            <a:off x="6496812" y="2578608"/>
            <a:ext cx="4887468" cy="841248"/>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Customers learn what they want by using something. The Residency review surfaced 79 points — most of them only visible once real people used real screens.</a:t>
            </a:r>
            <a:endParaRPr lang="en-US" sz="1150" dirty="0"/>
          </a:p>
        </p:txBody>
      </p:sp>
      <p:sp>
        <p:nvSpPr>
          <p:cNvPr id="14" name="Shape 12"/>
          <p:cNvSpPr/>
          <p:nvPr/>
        </p:nvSpPr>
        <p:spPr>
          <a:xfrm>
            <a:off x="548640" y="3986784"/>
            <a:ext cx="5399532" cy="1865376"/>
          </a:xfrm>
          <a:prstGeom prst="roundRect">
            <a:avLst>
              <a:gd name="adj" fmla="val 2941"/>
            </a:avLst>
          </a:prstGeom>
          <a:solidFill>
            <a:srgbClr val="F4F7F9"/>
          </a:solidFill>
          <a:ln/>
        </p:spPr>
        <p:txBody>
          <a:bodyPr/>
          <a:lstStyle/>
          <a:p>
            <a:endParaRPr lang="en-IN"/>
          </a:p>
        </p:txBody>
      </p:sp>
      <p:sp>
        <p:nvSpPr>
          <p:cNvPr id="15" name="Shape 13"/>
          <p:cNvSpPr/>
          <p:nvPr/>
        </p:nvSpPr>
        <p:spPr>
          <a:xfrm>
            <a:off x="804672" y="4242816"/>
            <a:ext cx="365760" cy="365760"/>
          </a:xfrm>
          <a:prstGeom prst="ellipse">
            <a:avLst/>
          </a:prstGeom>
          <a:solidFill>
            <a:srgbClr val="003352"/>
          </a:solidFill>
          <a:ln/>
        </p:spPr>
        <p:txBody>
          <a:bodyPr/>
          <a:lstStyle/>
          <a:p>
            <a:endParaRPr lang="en-IN"/>
          </a:p>
        </p:txBody>
      </p:sp>
      <p:sp>
        <p:nvSpPr>
          <p:cNvPr id="16" name="Text 14"/>
          <p:cNvSpPr/>
          <p:nvPr/>
        </p:nvSpPr>
        <p:spPr>
          <a:xfrm>
            <a:off x="804672" y="424281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1298448" y="4224528"/>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Integration risk hides until the end</a:t>
            </a:r>
            <a:endParaRPr lang="en-US" sz="1450" dirty="0"/>
          </a:p>
        </p:txBody>
      </p:sp>
      <p:sp>
        <p:nvSpPr>
          <p:cNvPr id="18" name="Text 16"/>
          <p:cNvSpPr/>
          <p:nvPr/>
        </p:nvSpPr>
        <p:spPr>
          <a:xfrm>
            <a:off x="804672" y="4718304"/>
            <a:ext cx="4887468" cy="841248"/>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Big-bang integration puts the scariest work last, where there is no schedule left to absorb it.</a:t>
            </a:r>
            <a:endParaRPr lang="en-US" sz="1150" dirty="0"/>
          </a:p>
        </p:txBody>
      </p:sp>
      <p:sp>
        <p:nvSpPr>
          <p:cNvPr id="19" name="Shape 17"/>
          <p:cNvSpPr/>
          <p:nvPr/>
        </p:nvSpPr>
        <p:spPr>
          <a:xfrm>
            <a:off x="6240780" y="3986784"/>
            <a:ext cx="5399532" cy="1865376"/>
          </a:xfrm>
          <a:prstGeom prst="roundRect">
            <a:avLst>
              <a:gd name="adj" fmla="val 2941"/>
            </a:avLst>
          </a:prstGeom>
          <a:solidFill>
            <a:srgbClr val="F4F7F9"/>
          </a:solidFill>
          <a:ln/>
        </p:spPr>
        <p:txBody>
          <a:bodyPr/>
          <a:lstStyle/>
          <a:p>
            <a:endParaRPr lang="en-IN"/>
          </a:p>
        </p:txBody>
      </p:sp>
      <p:sp>
        <p:nvSpPr>
          <p:cNvPr id="20" name="Shape 18"/>
          <p:cNvSpPr/>
          <p:nvPr/>
        </p:nvSpPr>
        <p:spPr>
          <a:xfrm>
            <a:off x="6496812" y="4242816"/>
            <a:ext cx="365760" cy="365760"/>
          </a:xfrm>
          <a:prstGeom prst="ellipse">
            <a:avLst/>
          </a:prstGeom>
          <a:solidFill>
            <a:srgbClr val="003352"/>
          </a:solidFill>
          <a:ln/>
        </p:spPr>
        <p:txBody>
          <a:bodyPr/>
          <a:lstStyle/>
          <a:p>
            <a:endParaRPr lang="en-IN"/>
          </a:p>
        </p:txBody>
      </p:sp>
      <p:sp>
        <p:nvSpPr>
          <p:cNvPr id="21" name="Text 19"/>
          <p:cNvSpPr/>
          <p:nvPr/>
        </p:nvSpPr>
        <p:spPr>
          <a:xfrm>
            <a:off x="6496812" y="424281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2" name="Text 20"/>
          <p:cNvSpPr/>
          <p:nvPr/>
        </p:nvSpPr>
        <p:spPr>
          <a:xfrm>
            <a:off x="6990588" y="4224528"/>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Value arrives only at the finish line</a:t>
            </a:r>
            <a:endParaRPr lang="en-US" sz="1450" dirty="0"/>
          </a:p>
        </p:txBody>
      </p:sp>
      <p:sp>
        <p:nvSpPr>
          <p:cNvPr id="23" name="Text 21"/>
          <p:cNvSpPr/>
          <p:nvPr/>
        </p:nvSpPr>
        <p:spPr>
          <a:xfrm>
            <a:off x="6496812" y="4718304"/>
            <a:ext cx="4887468" cy="841248"/>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If a nine-month project delivers nothing usable until month nine, we carry nine months of cost and zero months of learning.</a:t>
            </a:r>
            <a:endParaRPr lang="en-US" sz="1150" dirty="0"/>
          </a:p>
        </p:txBody>
      </p:sp>
      <p:sp>
        <p:nvSpPr>
          <p:cNvPr id="24" name="Text 2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a:t>
            </a:r>
            <a:endParaRPr lang="en-US" sz="900" dirty="0"/>
          </a:p>
        </p:txBody>
      </p:sp>
      <p:sp>
        <p:nvSpPr>
          <p:cNvPr id="25" name="Text 2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 · WHY AGILE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 · WHY AGILE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The shift, in one picture</a:t>
            </a:r>
            <a:endParaRPr lang="en-US" sz="30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Plan-driven</a:t>
            </a:r>
            <a:endParaRPr lang="en-US" sz="1900" dirty="0"/>
          </a:p>
        </p:txBody>
      </p:sp>
      <p:sp>
        <p:nvSpPr>
          <p:cNvPr id="6" name="Text 4"/>
          <p:cNvSpPr/>
          <p:nvPr/>
        </p:nvSpPr>
        <p:spPr>
          <a:xfrm>
            <a:off x="932688" y="2542032"/>
            <a:ext cx="4626864" cy="329184"/>
          </a:xfrm>
          <a:prstGeom prst="rect">
            <a:avLst/>
          </a:prstGeom>
          <a:noFill/>
          <a:ln/>
        </p:spPr>
        <p:txBody>
          <a:bodyPr wrap="square" lIns="0" tIns="0" rIns="0" bIns="0" rtlCol="0" anchor="ctr"/>
          <a:lstStyle/>
          <a:p>
            <a:pPr marL="0" indent="0">
              <a:buNone/>
            </a:pPr>
            <a:r>
              <a:rPr lang="en-US" sz="1150" i="1" dirty="0">
                <a:solidFill>
                  <a:srgbClr val="7A8C99"/>
                </a:solidFill>
                <a:latin typeface="Century Gothic" pitchFamily="34" charset="0"/>
                <a:ea typeface="Century Gothic" pitchFamily="34" charset="-122"/>
                <a:cs typeface="Century Gothic" pitchFamily="34" charset="-120"/>
              </a:rPr>
              <a:t>Optimises for predictability of plan</a:t>
            </a:r>
            <a:endParaRPr lang="en-US" sz="1150" dirty="0"/>
          </a:p>
        </p:txBody>
      </p:sp>
      <p:sp>
        <p:nvSpPr>
          <p:cNvPr id="7" name="Text 5"/>
          <p:cNvSpPr/>
          <p:nvPr/>
        </p:nvSpPr>
        <p:spPr>
          <a:xfrm>
            <a:off x="932688"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Scope fixed; time and cost flex</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One long feedback loop, closed at the end</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Change is an exception, handled by a control board</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Progress measured by phase completion — 'design is 100% done'</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Quality verified in a test phase after build</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Success = we delivered what the document said</a:t>
            </a:r>
            <a:endParaRPr lang="en-US" sz="1250" dirty="0"/>
          </a:p>
        </p:txBody>
      </p:sp>
      <p:sp>
        <p:nvSpPr>
          <p:cNvPr id="8" name="Shape 6"/>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9" name="Text 7"/>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Agile</a:t>
            </a:r>
            <a:endParaRPr lang="en-US" sz="1900" dirty="0"/>
          </a:p>
        </p:txBody>
      </p:sp>
      <p:sp>
        <p:nvSpPr>
          <p:cNvPr id="10" name="Text 8"/>
          <p:cNvSpPr/>
          <p:nvPr/>
        </p:nvSpPr>
        <p:spPr>
          <a:xfrm>
            <a:off x="6629400" y="2542032"/>
            <a:ext cx="4626864" cy="329184"/>
          </a:xfrm>
          <a:prstGeom prst="rect">
            <a:avLst/>
          </a:prstGeom>
          <a:noFill/>
          <a:ln/>
        </p:spPr>
        <p:txBody>
          <a:bodyPr wrap="square" lIns="0" tIns="0" rIns="0" bIns="0" rtlCol="0" anchor="ctr"/>
          <a:lstStyle/>
          <a:p>
            <a:pPr marL="0" indent="0">
              <a:buNone/>
            </a:pPr>
            <a:r>
              <a:rPr lang="en-US" sz="1150" i="1" dirty="0">
                <a:solidFill>
                  <a:srgbClr val="8FB3C6"/>
                </a:solidFill>
                <a:latin typeface="Century Gothic" pitchFamily="34" charset="0"/>
                <a:ea typeface="Century Gothic" pitchFamily="34" charset="-122"/>
                <a:cs typeface="Century Gothic" pitchFamily="34" charset="-120"/>
              </a:rPr>
              <a:t>Optimises for responsiveness to reality</a:t>
            </a:r>
            <a:endParaRPr lang="en-US" sz="1150" dirty="0"/>
          </a:p>
        </p:txBody>
      </p:sp>
      <p:sp>
        <p:nvSpPr>
          <p:cNvPr id="11" name="Text 9"/>
          <p:cNvSpPr/>
          <p:nvPr/>
        </p:nvSpPr>
        <p:spPr>
          <a:xfrm>
            <a:off x="6629400"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Time and cost fixed; scope flexes</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Many short loops, each closed in days or weeks</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Change is expected, and it is the point</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Progress measured by working software in a user's hands</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Quality built in continuously — done means done</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Success = the customer got an outcome they wanted</a:t>
            </a:r>
            <a:endParaRPr lang="en-US" sz="1250" dirty="0"/>
          </a:p>
        </p:txBody>
      </p:sp>
      <p:sp>
        <p:nvSpPr>
          <p:cNvPr id="12" name="Text 1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a:t>
            </a:r>
            <a:endParaRPr lang="en-US" sz="900" dirty="0"/>
          </a:p>
        </p:txBody>
      </p:sp>
      <p:sp>
        <p:nvSpPr>
          <p:cNvPr id="13" name="Text 1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 · WHY AGILE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 · WHY AGILE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What Agile actually is</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Agile is not a process. It is empirical process control — the same idea used to run any system too complex to predict.</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Transparency</a:t>
            </a:r>
            <a:endParaRPr lang="en-US" sz="1550" dirty="0"/>
          </a:p>
        </p:txBody>
      </p:sp>
      <p:sp>
        <p:nvSpPr>
          <p:cNvPr id="8" name="Text 6"/>
          <p:cNvSpPr/>
          <p:nvPr/>
        </p:nvSpPr>
        <p:spPr>
          <a:xfrm>
            <a:off x="1170432" y="2624328"/>
            <a:ext cx="10241280" cy="704088"/>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The real state of the work is visible to everyone who needs it — not a status summary someone assembled for a meeting. If the board says 'in progress' for nine days, we have no transparency.</a:t>
            </a:r>
            <a:endParaRPr lang="en-US" sz="1250" dirty="0"/>
          </a:p>
        </p:txBody>
      </p:sp>
      <p:sp>
        <p:nvSpPr>
          <p:cNvPr id="9" name="Shape 7"/>
          <p:cNvSpPr/>
          <p:nvPr/>
        </p:nvSpPr>
        <p:spPr>
          <a:xfrm>
            <a:off x="566928" y="3538728"/>
            <a:ext cx="402336" cy="402336"/>
          </a:xfrm>
          <a:prstGeom prst="ellipse">
            <a:avLst/>
          </a:prstGeom>
          <a:solidFill>
            <a:srgbClr val="63E7A4"/>
          </a:solidFill>
          <a:ln/>
        </p:spPr>
        <p:txBody>
          <a:bodyPr/>
          <a:lstStyle/>
          <a:p>
            <a:endParaRPr lang="en-IN"/>
          </a:p>
        </p:txBody>
      </p:sp>
      <p:sp>
        <p:nvSpPr>
          <p:cNvPr id="10" name="Text 8"/>
          <p:cNvSpPr/>
          <p:nvPr/>
        </p:nvSpPr>
        <p:spPr>
          <a:xfrm>
            <a:off x="566928" y="353872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483864"/>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Inspection</a:t>
            </a:r>
            <a:endParaRPr lang="en-US" sz="1550" dirty="0"/>
          </a:p>
        </p:txBody>
      </p:sp>
      <p:sp>
        <p:nvSpPr>
          <p:cNvPr id="12" name="Text 10"/>
          <p:cNvSpPr/>
          <p:nvPr/>
        </p:nvSpPr>
        <p:spPr>
          <a:xfrm>
            <a:off x="1170432" y="3794760"/>
            <a:ext cx="10241280" cy="704088"/>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We look at the actual product and the actual way we work, frequently enough to catch drift while it's cheap. Inspection without a real increment to inspect is theatre.</a:t>
            </a:r>
            <a:endParaRPr lang="en-US" sz="1250" dirty="0"/>
          </a:p>
        </p:txBody>
      </p:sp>
      <p:sp>
        <p:nvSpPr>
          <p:cNvPr id="13" name="Shape 11"/>
          <p:cNvSpPr/>
          <p:nvPr/>
        </p:nvSpPr>
        <p:spPr>
          <a:xfrm>
            <a:off x="566928" y="4709160"/>
            <a:ext cx="402336" cy="402336"/>
          </a:xfrm>
          <a:prstGeom prst="ellipse">
            <a:avLst/>
          </a:prstGeom>
          <a:solidFill>
            <a:srgbClr val="63E7A4"/>
          </a:solidFill>
          <a:ln/>
        </p:spPr>
        <p:txBody>
          <a:bodyPr/>
          <a:lstStyle/>
          <a:p>
            <a:endParaRPr lang="en-IN"/>
          </a:p>
        </p:txBody>
      </p:sp>
      <p:sp>
        <p:nvSpPr>
          <p:cNvPr id="14" name="Text 12"/>
          <p:cNvSpPr/>
          <p:nvPr/>
        </p:nvSpPr>
        <p:spPr>
          <a:xfrm>
            <a:off x="566928" y="470916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654296"/>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Adaptation</a:t>
            </a:r>
            <a:endParaRPr lang="en-US" sz="1550" dirty="0"/>
          </a:p>
        </p:txBody>
      </p:sp>
      <p:sp>
        <p:nvSpPr>
          <p:cNvPr id="16" name="Text 14"/>
          <p:cNvSpPr/>
          <p:nvPr/>
        </p:nvSpPr>
        <p:spPr>
          <a:xfrm>
            <a:off x="1170432" y="4965192"/>
            <a:ext cx="10241280" cy="704088"/>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When inspection shows we're off, we change something — the product, the plan, or the process. Inspection with no adaptation is the most common failure in this room.</a:t>
            </a:r>
            <a:endParaRPr lang="en-US" sz="1250" dirty="0"/>
          </a:p>
        </p:txBody>
      </p:sp>
      <p:sp>
        <p:nvSpPr>
          <p:cNvPr id="17" name="Text 15"/>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a:t>
            </a:r>
            <a:endParaRPr lang="en-US" sz="900" dirty="0"/>
          </a:p>
        </p:txBody>
      </p:sp>
      <p:sp>
        <p:nvSpPr>
          <p:cNvPr id="18" name="Text 16"/>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 · WHY AGILE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 · WHY AGILE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What we should expect to get out of it</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These are the outcomes to hold Agile accountable for. If we're not getting them, the problem is our implementation, not the idea.</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A</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Shorter time to first value</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The customer gets something usable in weeks, not at the end. Partial value beats complete promises.</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B</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Risk surfaces early, while it's cheap</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Integration, performance and usability risks appear in sprint 2, not in the month before go-live.</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C</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Fewer expensive surprises</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 wrong assumption costs one sprint of work instead of six months of it.</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D</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Change stops being a fight</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New information is absorbed at the next sprint boundary instead of triggering a change-control battle.</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8</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 · WHY AGILE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02</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The Agile Mindset</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The Manifesto and its principles — what they actually say, and what people wrongly think they say.</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10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6–10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2 · MINDSET</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The Agile Manifesto — four values</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Written in February 2001 by seventeen practitioners at Snowbird, Utah. Sixty-eight words. Still the whole foundation.</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Individuals and interactions</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over processes and tools. A good team with a poor process beats a poor team with an excellent one, every time.</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Working software</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over comprehensive documentation. The only honest measure of progress is something that runs and does the job.</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Customer collaboration</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over contract negotiation. Sitting on the same side of the table as the customer, not across it.</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Responding to change</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over following a plan. The plan is a hypothesis. New information beats an old plan.</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12</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2 · MINDSET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2 · MINDSET</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The most misread word in Agile</a:t>
            </a:r>
            <a:endParaRPr lang="en-US" sz="3000" dirty="0"/>
          </a:p>
        </p:txBody>
      </p:sp>
      <p:sp>
        <p:nvSpPr>
          <p:cNvPr id="4" name="Shape 2"/>
          <p:cNvSpPr/>
          <p:nvPr/>
        </p:nvSpPr>
        <p:spPr>
          <a:xfrm>
            <a:off x="548640" y="1874520"/>
            <a:ext cx="4709160" cy="4023360"/>
          </a:xfrm>
          <a:prstGeom prst="roundRect">
            <a:avLst>
              <a:gd name="adj" fmla="val 1364"/>
            </a:avLst>
          </a:prstGeom>
          <a:solidFill>
            <a:srgbClr val="003352"/>
          </a:solidFill>
          <a:ln/>
        </p:spPr>
        <p:txBody>
          <a:bodyPr/>
          <a:lstStyle/>
          <a:p>
            <a:endParaRPr lang="en-IN"/>
          </a:p>
        </p:txBody>
      </p:sp>
      <p:sp>
        <p:nvSpPr>
          <p:cNvPr id="5" name="Text 3"/>
          <p:cNvSpPr/>
          <p:nvPr/>
        </p:nvSpPr>
        <p:spPr>
          <a:xfrm>
            <a:off x="868680" y="2148840"/>
            <a:ext cx="4069080" cy="1600200"/>
          </a:xfrm>
          <a:prstGeom prst="rect">
            <a:avLst/>
          </a:prstGeom>
          <a:noFill/>
          <a:ln/>
        </p:spPr>
        <p:txBody>
          <a:bodyPr wrap="square" lIns="0" tIns="0" rIns="0" bIns="0" rtlCol="0" anchor="ctr"/>
          <a:lstStyle/>
          <a:p>
            <a:pPr marL="0" indent="0">
              <a:lnSpc>
                <a:spcPct val="100000"/>
              </a:lnSpc>
              <a:buNone/>
            </a:pPr>
            <a:r>
              <a:rPr lang="en-US" sz="5400" b="1" dirty="0">
                <a:solidFill>
                  <a:srgbClr val="63E7A4"/>
                </a:solidFill>
                <a:latin typeface="Century Gothic" pitchFamily="34" charset="0"/>
                <a:ea typeface="Century Gothic" pitchFamily="34" charset="-122"/>
                <a:cs typeface="Century Gothic" pitchFamily="34" charset="-120"/>
              </a:rPr>
              <a:t>“over”</a:t>
            </a:r>
            <a:endParaRPr lang="en-US" sz="5400" dirty="0"/>
          </a:p>
        </p:txBody>
      </p:sp>
      <p:sp>
        <p:nvSpPr>
          <p:cNvPr id="6" name="Text 4"/>
          <p:cNvSpPr/>
          <p:nvPr/>
        </p:nvSpPr>
        <p:spPr>
          <a:xfrm>
            <a:off x="868680" y="3858768"/>
            <a:ext cx="4069080" cy="1810512"/>
          </a:xfrm>
          <a:prstGeom prst="rect">
            <a:avLst/>
          </a:prstGeom>
          <a:noFill/>
          <a:ln/>
        </p:spPr>
        <p:txBody>
          <a:bodyPr wrap="square" lIns="0" tIns="0" rIns="0" bIns="0" rtlCol="0" anchor="t"/>
          <a:lstStyle/>
          <a:p>
            <a:pPr marL="0" indent="0">
              <a:lnSpc>
                <a:spcPct val="128000"/>
              </a:lnSpc>
              <a:buNone/>
            </a:pPr>
            <a:r>
              <a:rPr lang="en-US" sz="1350" dirty="0">
                <a:solidFill>
                  <a:srgbClr val="FFFFFF"/>
                </a:solidFill>
                <a:latin typeface="Century Gothic" pitchFamily="34" charset="0"/>
                <a:ea typeface="Century Gothic" pitchFamily="34" charset="-122"/>
                <a:cs typeface="Century Gothic" pitchFamily="34" charset="-120"/>
              </a:rPr>
              <a:t>“That is, while there is value in the items on the right, we value the items on the left more.” — the sentence that immediately follows the four values, and the one everyone skips.</a:t>
            </a:r>
            <a:endParaRPr lang="en-US" sz="1350" dirty="0"/>
          </a:p>
        </p:txBody>
      </p:sp>
      <p:sp>
        <p:nvSpPr>
          <p:cNvPr id="7" name="Shape 5"/>
          <p:cNvSpPr/>
          <p:nvPr/>
        </p:nvSpPr>
        <p:spPr>
          <a:xfrm>
            <a:off x="5669280" y="1975104"/>
            <a:ext cx="402336" cy="402336"/>
          </a:xfrm>
          <a:prstGeom prst="ellipse">
            <a:avLst/>
          </a:prstGeom>
          <a:solidFill>
            <a:srgbClr val="63E7A4"/>
          </a:solidFill>
          <a:ln/>
        </p:spPr>
        <p:txBody>
          <a:bodyPr/>
          <a:lstStyle/>
          <a:p>
            <a:endParaRPr lang="en-IN"/>
          </a:p>
        </p:txBody>
      </p:sp>
      <p:sp>
        <p:nvSpPr>
          <p:cNvPr id="8" name="Text 6"/>
          <p:cNvSpPr/>
          <p:nvPr/>
        </p:nvSpPr>
        <p:spPr>
          <a:xfrm>
            <a:off x="5669280" y="197510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9" name="Text 7"/>
          <p:cNvSpPr/>
          <p:nvPr/>
        </p:nvSpPr>
        <p:spPr>
          <a:xfrm>
            <a:off x="6272784" y="1920240"/>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It is a preference, not a rejection</a:t>
            </a:r>
            <a:endParaRPr lang="en-US" sz="1550" dirty="0"/>
          </a:p>
        </p:txBody>
      </p:sp>
      <p:sp>
        <p:nvSpPr>
          <p:cNvPr id="10" name="Text 8"/>
          <p:cNvSpPr/>
          <p:nvPr/>
        </p:nvSpPr>
        <p:spPr>
          <a:xfrm>
            <a:off x="6272784" y="2231136"/>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Agile does not say documentation is bad. It says a working increment tells you more than a document describing one.</a:t>
            </a:r>
            <a:endParaRPr lang="en-US" sz="1250" dirty="0"/>
          </a:p>
        </p:txBody>
      </p:sp>
      <p:sp>
        <p:nvSpPr>
          <p:cNvPr id="11" name="Shape 9"/>
          <p:cNvSpPr/>
          <p:nvPr/>
        </p:nvSpPr>
        <p:spPr>
          <a:xfrm>
            <a:off x="5669280" y="3294888"/>
            <a:ext cx="402336" cy="402336"/>
          </a:xfrm>
          <a:prstGeom prst="ellipse">
            <a:avLst/>
          </a:prstGeom>
          <a:solidFill>
            <a:srgbClr val="63E7A4"/>
          </a:solidFill>
          <a:ln/>
        </p:spPr>
        <p:txBody>
          <a:bodyPr/>
          <a:lstStyle/>
          <a:p>
            <a:endParaRPr lang="en-IN"/>
          </a:p>
        </p:txBody>
      </p:sp>
      <p:sp>
        <p:nvSpPr>
          <p:cNvPr id="12" name="Text 10"/>
          <p:cNvSpPr/>
          <p:nvPr/>
        </p:nvSpPr>
        <p:spPr>
          <a:xfrm>
            <a:off x="5669280" y="329488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272784" y="3240024"/>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We still write documents, plans and contracts</a:t>
            </a:r>
            <a:endParaRPr lang="en-US" sz="1550" dirty="0"/>
          </a:p>
        </p:txBody>
      </p:sp>
      <p:sp>
        <p:nvSpPr>
          <p:cNvPr id="14" name="Text 12"/>
          <p:cNvSpPr/>
          <p:nvPr/>
        </p:nvSpPr>
        <p:spPr>
          <a:xfrm>
            <a:off x="6272784" y="3550920"/>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Our enterprise customers require them. Our auditors require them. The question is how much, and whether they are serving delivery or replacing it.</a:t>
            </a:r>
            <a:endParaRPr lang="en-US" sz="1250" dirty="0"/>
          </a:p>
        </p:txBody>
      </p:sp>
      <p:sp>
        <p:nvSpPr>
          <p:cNvPr id="15" name="Shape 13"/>
          <p:cNvSpPr/>
          <p:nvPr/>
        </p:nvSpPr>
        <p:spPr>
          <a:xfrm>
            <a:off x="5669280" y="4614672"/>
            <a:ext cx="402336" cy="402336"/>
          </a:xfrm>
          <a:prstGeom prst="ellipse">
            <a:avLst/>
          </a:prstGeom>
          <a:solidFill>
            <a:srgbClr val="63E7A4"/>
          </a:solidFill>
          <a:ln/>
        </p:spPr>
        <p:txBody>
          <a:bodyPr/>
          <a:lstStyle/>
          <a:p>
            <a:endParaRPr lang="en-IN"/>
          </a:p>
        </p:txBody>
      </p:sp>
      <p:sp>
        <p:nvSpPr>
          <p:cNvPr id="16" name="Text 14"/>
          <p:cNvSpPr/>
          <p:nvPr/>
        </p:nvSpPr>
        <p:spPr>
          <a:xfrm>
            <a:off x="5669280" y="461467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6272784" y="4559808"/>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The failure mode runs both ways</a:t>
            </a:r>
            <a:endParaRPr lang="en-US" sz="1550" dirty="0"/>
          </a:p>
        </p:txBody>
      </p:sp>
      <p:sp>
        <p:nvSpPr>
          <p:cNvPr id="18" name="Text 16"/>
          <p:cNvSpPr/>
          <p:nvPr/>
        </p:nvSpPr>
        <p:spPr>
          <a:xfrm>
            <a:off x="6272784" y="4870704"/>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'We're Agile so we don't document' is as wrong as 'we can't start until the spec is signed'. Both are people avoiding judgement.</a:t>
            </a:r>
            <a:endParaRPr lang="en-US" sz="1250" dirty="0"/>
          </a:p>
        </p:txBody>
      </p:sp>
      <p:sp>
        <p:nvSpPr>
          <p:cNvPr id="19" name="Text 17"/>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13</a:t>
            </a:r>
            <a:endParaRPr lang="en-US" sz="900" dirty="0"/>
          </a:p>
        </p:txBody>
      </p:sp>
      <p:sp>
        <p:nvSpPr>
          <p:cNvPr id="20" name="Text 18"/>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2 · MINDSET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2 · MINDSET</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Twelve principles, four themes</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 Manifesto has twelve supporting principles. Grouping them makes them usable — nobody remembers a list of twelve.</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A</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Deliver value continuously</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Early and continuous delivery of valuable software · Deliver frequently, weeks rather than months · Working software is the primary measure of progress.</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B</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Welcome change</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Welcome changing requirements, even late · Harness change for the customer's competitive advantage · Business and developers work together daily.</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C</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Build around people</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Motivated individuals, given environment and support and trust · Face-to-face conversation is the most effective channel · Self-organising teams produce the best architectures.</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D</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Sustain and simplify</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Sustainable pace indefinitely · Technical excellence and good design enhance agility · Simplicity — maximising work not done · Regular reflection and tuning.</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14</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2 · MINDSET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2 · MINDSET</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Doing Agile vs being Agile</a:t>
            </a:r>
            <a:endParaRPr lang="en-US" sz="30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Doing Agile</a:t>
            </a:r>
            <a:endParaRPr lang="en-US" sz="1900" dirty="0"/>
          </a:p>
        </p:txBody>
      </p:sp>
      <p:sp>
        <p:nvSpPr>
          <p:cNvPr id="6" name="Text 4"/>
          <p:cNvSpPr/>
          <p:nvPr/>
        </p:nvSpPr>
        <p:spPr>
          <a:xfrm>
            <a:off x="932688" y="2542032"/>
            <a:ext cx="4626864" cy="329184"/>
          </a:xfrm>
          <a:prstGeom prst="rect">
            <a:avLst/>
          </a:prstGeom>
          <a:noFill/>
          <a:ln/>
        </p:spPr>
        <p:txBody>
          <a:bodyPr wrap="square" lIns="0" tIns="0" rIns="0" bIns="0" rtlCol="0" anchor="ctr"/>
          <a:lstStyle/>
          <a:p>
            <a:pPr marL="0" indent="0">
              <a:buNone/>
            </a:pPr>
            <a:r>
              <a:rPr lang="en-US" sz="1150" i="1" dirty="0">
                <a:solidFill>
                  <a:srgbClr val="7A8C99"/>
                </a:solidFill>
                <a:latin typeface="Century Gothic" pitchFamily="34" charset="0"/>
                <a:ea typeface="Century Gothic" pitchFamily="34" charset="-122"/>
                <a:cs typeface="Century Gothic" pitchFamily="34" charset="-120"/>
              </a:rPr>
              <a:t>The ceremonies are running</a:t>
            </a:r>
            <a:endParaRPr lang="en-US" sz="1150" dirty="0"/>
          </a:p>
        </p:txBody>
      </p:sp>
      <p:sp>
        <p:nvSpPr>
          <p:cNvPr id="7" name="Text 5"/>
          <p:cNvSpPr/>
          <p:nvPr/>
        </p:nvSpPr>
        <p:spPr>
          <a:xfrm>
            <a:off x="932688"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Standup is a status report to the manager</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Sprint is a container for whatever was already assigned</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The backlog is an unordered wish-dump nobody prunes</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Retro action items are recorded and never done</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'Done' means dev-complete; testing happens later</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Velocity is reported upward as a productivity score</a:t>
            </a:r>
            <a:endParaRPr lang="en-US" sz="1250" dirty="0"/>
          </a:p>
        </p:txBody>
      </p:sp>
      <p:sp>
        <p:nvSpPr>
          <p:cNvPr id="8" name="Shape 6"/>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9" name="Text 7"/>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Being Agile</a:t>
            </a:r>
            <a:endParaRPr lang="en-US" sz="1900" dirty="0"/>
          </a:p>
        </p:txBody>
      </p:sp>
      <p:sp>
        <p:nvSpPr>
          <p:cNvPr id="10" name="Text 8"/>
          <p:cNvSpPr/>
          <p:nvPr/>
        </p:nvSpPr>
        <p:spPr>
          <a:xfrm>
            <a:off x="6629400" y="2542032"/>
            <a:ext cx="4626864" cy="329184"/>
          </a:xfrm>
          <a:prstGeom prst="rect">
            <a:avLst/>
          </a:prstGeom>
          <a:noFill/>
          <a:ln/>
        </p:spPr>
        <p:txBody>
          <a:bodyPr wrap="square" lIns="0" tIns="0" rIns="0" bIns="0" rtlCol="0" anchor="ctr"/>
          <a:lstStyle/>
          <a:p>
            <a:pPr marL="0" indent="0">
              <a:buNone/>
            </a:pPr>
            <a:r>
              <a:rPr lang="en-US" sz="1150" i="1" dirty="0">
                <a:solidFill>
                  <a:srgbClr val="8FB3C6"/>
                </a:solidFill>
                <a:latin typeface="Century Gothic" pitchFamily="34" charset="0"/>
                <a:ea typeface="Century Gothic" pitchFamily="34" charset="-122"/>
                <a:cs typeface="Century Gothic" pitchFamily="34" charset="-120"/>
              </a:rPr>
              <a:t>The loops are actually closing</a:t>
            </a:r>
            <a:endParaRPr lang="en-US" sz="1150" dirty="0"/>
          </a:p>
        </p:txBody>
      </p:sp>
      <p:sp>
        <p:nvSpPr>
          <p:cNvPr id="11" name="Text 9"/>
          <p:cNvSpPr/>
          <p:nvPr/>
        </p:nvSpPr>
        <p:spPr>
          <a:xfrm>
            <a:off x="6629400"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Standup is the team re-planning its own day</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Sprint has a goal the team can state without reading it</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The backlog is ordered, and the top of it is ready</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One retro action enters the next sprint backlog as real work</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'Done' means shippable, and the team enforces it</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Velocity is used by the team to forecast, and by nobody else</a:t>
            </a:r>
            <a:endParaRPr lang="en-US" sz="1250" dirty="0"/>
          </a:p>
        </p:txBody>
      </p:sp>
      <p:sp>
        <p:nvSpPr>
          <p:cNvPr id="12" name="Text 1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15</a:t>
            </a:r>
            <a:endParaRPr lang="en-US" sz="900" dirty="0"/>
          </a:p>
        </p:txBody>
      </p:sp>
      <p:sp>
        <p:nvSpPr>
          <p:cNvPr id="13" name="Text 1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2 · MINDSET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2 · MINDSET</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Four anti-patterns worth naming</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Named things get fixed. Unnamed things get tolerated.</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Water-Scrum-fall</a:t>
            </a:r>
            <a:endParaRPr lang="en-US" sz="1550" dirty="0"/>
          </a:p>
        </p:txBody>
      </p:sp>
      <p:sp>
        <p:nvSpPr>
          <p:cNvPr id="8" name="Text 6"/>
          <p:cNvSpPr/>
          <p:nvPr/>
        </p:nvSpPr>
        <p:spPr>
          <a:xfrm>
            <a:off x="1170432" y="262432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Big up-front design, sprints in the middle, a long test-and-release phase at the end. All the ceremony cost of Agile with none of the feedback benefit.</a:t>
            </a:r>
            <a:endParaRPr lang="en-US" sz="1250" dirty="0"/>
          </a:p>
        </p:txBody>
      </p:sp>
      <p:sp>
        <p:nvSpPr>
          <p:cNvPr id="9" name="Shape 7"/>
          <p:cNvSpPr/>
          <p:nvPr/>
        </p:nvSpPr>
        <p:spPr>
          <a:xfrm>
            <a:off x="566928" y="3259836"/>
            <a:ext cx="402336" cy="402336"/>
          </a:xfrm>
          <a:prstGeom prst="ellipse">
            <a:avLst/>
          </a:prstGeom>
          <a:solidFill>
            <a:srgbClr val="63E7A4"/>
          </a:solidFill>
          <a:ln/>
        </p:spPr>
        <p:txBody>
          <a:bodyPr/>
          <a:lstStyle/>
          <a:p>
            <a:endParaRPr lang="en-IN"/>
          </a:p>
        </p:txBody>
      </p:sp>
      <p:sp>
        <p:nvSpPr>
          <p:cNvPr id="10" name="Text 8"/>
          <p:cNvSpPr/>
          <p:nvPr/>
        </p:nvSpPr>
        <p:spPr>
          <a:xfrm>
            <a:off x="566928" y="325983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20497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The backlog as a landfill</a:t>
            </a:r>
            <a:endParaRPr lang="en-US" sz="1550" dirty="0"/>
          </a:p>
        </p:txBody>
      </p:sp>
      <p:sp>
        <p:nvSpPr>
          <p:cNvPr id="12" name="Text 10"/>
          <p:cNvSpPr/>
          <p:nvPr/>
        </p:nvSpPr>
        <p:spPr>
          <a:xfrm>
            <a:off x="1170432" y="351586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Every request ever made, none of it ordered, 400 items deep. Nobody can find anything, so priorities get set in corridors instead.</a:t>
            </a:r>
            <a:endParaRPr lang="en-US" sz="1250" dirty="0"/>
          </a:p>
        </p:txBody>
      </p:sp>
      <p:sp>
        <p:nvSpPr>
          <p:cNvPr id="13" name="Shape 11"/>
          <p:cNvSpPr/>
          <p:nvPr/>
        </p:nvSpPr>
        <p:spPr>
          <a:xfrm>
            <a:off x="566928" y="4151376"/>
            <a:ext cx="402336" cy="402336"/>
          </a:xfrm>
          <a:prstGeom prst="ellipse">
            <a:avLst/>
          </a:prstGeom>
          <a:solidFill>
            <a:srgbClr val="63E7A4"/>
          </a:solidFill>
          <a:ln/>
        </p:spPr>
        <p:txBody>
          <a:bodyPr/>
          <a:lstStyle/>
          <a:p>
            <a:endParaRPr lang="en-IN"/>
          </a:p>
        </p:txBody>
      </p:sp>
      <p:sp>
        <p:nvSpPr>
          <p:cNvPr id="14" name="Text 12"/>
          <p:cNvSpPr/>
          <p:nvPr/>
        </p:nvSpPr>
        <p:spPr>
          <a:xfrm>
            <a:off x="566928" y="415137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09651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Sprint as a deadline generator</a:t>
            </a:r>
            <a:endParaRPr lang="en-US" sz="1550" dirty="0"/>
          </a:p>
        </p:txBody>
      </p:sp>
      <p:sp>
        <p:nvSpPr>
          <p:cNvPr id="16" name="Text 14"/>
          <p:cNvSpPr/>
          <p:nvPr/>
        </p:nvSpPr>
        <p:spPr>
          <a:xfrm>
            <a:off x="1170432" y="440740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Work is pushed into sprints by whoever shouted loudest, the team never gets to say no, and unfinished work rolls forward indefinitely.</a:t>
            </a:r>
            <a:endParaRPr lang="en-US" sz="1250" dirty="0"/>
          </a:p>
        </p:txBody>
      </p:sp>
      <p:sp>
        <p:nvSpPr>
          <p:cNvPr id="17" name="Shape 15"/>
          <p:cNvSpPr/>
          <p:nvPr/>
        </p:nvSpPr>
        <p:spPr>
          <a:xfrm>
            <a:off x="566928" y="5042916"/>
            <a:ext cx="402336" cy="402336"/>
          </a:xfrm>
          <a:prstGeom prst="ellipse">
            <a:avLst/>
          </a:prstGeom>
          <a:solidFill>
            <a:srgbClr val="63E7A4"/>
          </a:solidFill>
          <a:ln/>
        </p:spPr>
        <p:txBody>
          <a:bodyPr/>
          <a:lstStyle/>
          <a:p>
            <a:endParaRPr lang="en-IN"/>
          </a:p>
        </p:txBody>
      </p:sp>
      <p:sp>
        <p:nvSpPr>
          <p:cNvPr id="18" name="Text 16"/>
          <p:cNvSpPr/>
          <p:nvPr/>
        </p:nvSpPr>
        <p:spPr>
          <a:xfrm>
            <a:off x="566928" y="50429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98805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The Scrum Master as a project manager</a:t>
            </a:r>
            <a:endParaRPr lang="en-US" sz="1550" dirty="0"/>
          </a:p>
        </p:txBody>
      </p:sp>
      <p:sp>
        <p:nvSpPr>
          <p:cNvPr id="20" name="Text 18"/>
          <p:cNvSpPr/>
          <p:nvPr/>
        </p:nvSpPr>
        <p:spPr>
          <a:xfrm>
            <a:off x="1170432" y="529894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Assigning tasks, chasing status, reporting up. The accountability is to coach the team and remove obstacles — not to run it.</a:t>
            </a:r>
            <a:endParaRPr lang="en-US" sz="12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16</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2 · MINDSET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QUIZ 1</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5 min</a:t>
            </a:r>
            <a:endParaRPr lang="en-US" sz="1250" dirty="0"/>
          </a:p>
        </p:txBody>
      </p:sp>
      <p:sp>
        <p:nvSpPr>
          <p:cNvPr id="5" name="Text 3"/>
          <p:cNvSpPr/>
          <p:nvPr/>
        </p:nvSpPr>
        <p:spPr>
          <a:xfrm>
            <a:off x="548640" y="731520"/>
            <a:ext cx="9235440" cy="658368"/>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Agile fundamentals</a:t>
            </a:r>
            <a:endParaRPr lang="en-US" sz="2900" dirty="0"/>
          </a:p>
        </p:txBody>
      </p:sp>
      <p:sp>
        <p:nvSpPr>
          <p:cNvPr id="6" name="Shape 4"/>
          <p:cNvSpPr/>
          <p:nvPr/>
        </p:nvSpPr>
        <p:spPr>
          <a:xfrm>
            <a:off x="548640" y="1572768"/>
            <a:ext cx="11091672" cy="722376"/>
          </a:xfrm>
          <a:prstGeom prst="roundRect">
            <a:avLst>
              <a:gd name="adj" fmla="val 7595"/>
            </a:avLst>
          </a:prstGeom>
          <a:solidFill>
            <a:srgbClr val="FFFFFF"/>
          </a:solidFill>
          <a:ln/>
        </p:spPr>
        <p:txBody>
          <a:bodyPr/>
          <a:lstStyle/>
          <a:p>
            <a:endParaRPr lang="en-IN"/>
          </a:p>
        </p:txBody>
      </p:sp>
      <p:sp>
        <p:nvSpPr>
          <p:cNvPr id="7" name="Shape 5"/>
          <p:cNvSpPr/>
          <p:nvPr/>
        </p:nvSpPr>
        <p:spPr>
          <a:xfrm>
            <a:off x="841248" y="1741932"/>
            <a:ext cx="384048" cy="384048"/>
          </a:xfrm>
          <a:prstGeom prst="ellipse">
            <a:avLst/>
          </a:prstGeom>
          <a:solidFill>
            <a:srgbClr val="63E7A4"/>
          </a:solidFill>
          <a:ln/>
        </p:spPr>
        <p:txBody>
          <a:bodyPr/>
          <a:lstStyle/>
          <a:p>
            <a:endParaRPr lang="en-IN"/>
          </a:p>
        </p:txBody>
      </p:sp>
      <p:sp>
        <p:nvSpPr>
          <p:cNvPr id="8" name="Text 6"/>
          <p:cNvSpPr/>
          <p:nvPr/>
        </p:nvSpPr>
        <p:spPr>
          <a:xfrm>
            <a:off x="841248" y="1741932"/>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9" name="Text 7"/>
          <p:cNvSpPr/>
          <p:nvPr/>
        </p:nvSpPr>
        <p:spPr>
          <a:xfrm>
            <a:off x="1444752" y="1682496"/>
            <a:ext cx="9966960" cy="502920"/>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True or false: the Agile Manifesto says we should not write documentation.</a:t>
            </a:r>
            <a:endParaRPr lang="en-US" sz="1300" dirty="0"/>
          </a:p>
        </p:txBody>
      </p:sp>
      <p:sp>
        <p:nvSpPr>
          <p:cNvPr id="10" name="Shape 8"/>
          <p:cNvSpPr/>
          <p:nvPr/>
        </p:nvSpPr>
        <p:spPr>
          <a:xfrm>
            <a:off x="548640" y="2496312"/>
            <a:ext cx="11091672" cy="722376"/>
          </a:xfrm>
          <a:prstGeom prst="roundRect">
            <a:avLst>
              <a:gd name="adj" fmla="val 7595"/>
            </a:avLst>
          </a:prstGeom>
          <a:solidFill>
            <a:srgbClr val="FFFFFF"/>
          </a:solidFill>
          <a:ln/>
        </p:spPr>
        <p:txBody>
          <a:bodyPr/>
          <a:lstStyle/>
          <a:p>
            <a:endParaRPr lang="en-IN"/>
          </a:p>
        </p:txBody>
      </p:sp>
      <p:sp>
        <p:nvSpPr>
          <p:cNvPr id="11" name="Shape 9"/>
          <p:cNvSpPr/>
          <p:nvPr/>
        </p:nvSpPr>
        <p:spPr>
          <a:xfrm>
            <a:off x="841248" y="2665476"/>
            <a:ext cx="384048" cy="384048"/>
          </a:xfrm>
          <a:prstGeom prst="ellipse">
            <a:avLst/>
          </a:prstGeom>
          <a:solidFill>
            <a:srgbClr val="63E7A4"/>
          </a:solidFill>
          <a:ln/>
        </p:spPr>
        <p:txBody>
          <a:bodyPr/>
          <a:lstStyle/>
          <a:p>
            <a:endParaRPr lang="en-IN"/>
          </a:p>
        </p:txBody>
      </p:sp>
      <p:sp>
        <p:nvSpPr>
          <p:cNvPr id="12" name="Text 10"/>
          <p:cNvSpPr/>
          <p:nvPr/>
        </p:nvSpPr>
        <p:spPr>
          <a:xfrm>
            <a:off x="841248" y="2665476"/>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1444752" y="2606040"/>
            <a:ext cx="9966960" cy="502920"/>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The Manifesto values responding to change over following a plan. Does that mean Agile teams don't plan?</a:t>
            </a:r>
            <a:endParaRPr lang="en-US" sz="1300" dirty="0"/>
          </a:p>
        </p:txBody>
      </p:sp>
      <p:sp>
        <p:nvSpPr>
          <p:cNvPr id="14" name="Shape 12"/>
          <p:cNvSpPr/>
          <p:nvPr/>
        </p:nvSpPr>
        <p:spPr>
          <a:xfrm>
            <a:off x="548640" y="3419856"/>
            <a:ext cx="11091672" cy="722376"/>
          </a:xfrm>
          <a:prstGeom prst="roundRect">
            <a:avLst>
              <a:gd name="adj" fmla="val 7595"/>
            </a:avLst>
          </a:prstGeom>
          <a:solidFill>
            <a:srgbClr val="FFFFFF"/>
          </a:solidFill>
          <a:ln/>
        </p:spPr>
        <p:txBody>
          <a:bodyPr/>
          <a:lstStyle/>
          <a:p>
            <a:endParaRPr lang="en-IN"/>
          </a:p>
        </p:txBody>
      </p:sp>
      <p:sp>
        <p:nvSpPr>
          <p:cNvPr id="15" name="Shape 13"/>
          <p:cNvSpPr/>
          <p:nvPr/>
        </p:nvSpPr>
        <p:spPr>
          <a:xfrm>
            <a:off x="841248" y="3589020"/>
            <a:ext cx="384048" cy="384048"/>
          </a:xfrm>
          <a:prstGeom prst="ellipse">
            <a:avLst/>
          </a:prstGeom>
          <a:solidFill>
            <a:srgbClr val="63E7A4"/>
          </a:solidFill>
          <a:ln/>
        </p:spPr>
        <p:txBody>
          <a:bodyPr/>
          <a:lstStyle/>
          <a:p>
            <a:endParaRPr lang="en-IN"/>
          </a:p>
        </p:txBody>
      </p:sp>
      <p:sp>
        <p:nvSpPr>
          <p:cNvPr id="16" name="Text 14"/>
          <p:cNvSpPr/>
          <p:nvPr/>
        </p:nvSpPr>
        <p:spPr>
          <a:xfrm>
            <a:off x="841248" y="3589020"/>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1444752" y="3529584"/>
            <a:ext cx="9966960" cy="502920"/>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A team holds daily standups, two-week sprints and a retro every fortnight. Is the team Agile?</a:t>
            </a:r>
            <a:endParaRPr lang="en-US" sz="1300" dirty="0"/>
          </a:p>
        </p:txBody>
      </p:sp>
      <p:sp>
        <p:nvSpPr>
          <p:cNvPr id="18" name="Shape 16"/>
          <p:cNvSpPr/>
          <p:nvPr/>
        </p:nvSpPr>
        <p:spPr>
          <a:xfrm>
            <a:off x="548640" y="4343400"/>
            <a:ext cx="11091672" cy="722376"/>
          </a:xfrm>
          <a:prstGeom prst="roundRect">
            <a:avLst>
              <a:gd name="adj" fmla="val 7595"/>
            </a:avLst>
          </a:prstGeom>
          <a:solidFill>
            <a:srgbClr val="FFFFFF"/>
          </a:solidFill>
          <a:ln/>
        </p:spPr>
        <p:txBody>
          <a:bodyPr/>
          <a:lstStyle/>
          <a:p>
            <a:endParaRPr lang="en-IN"/>
          </a:p>
        </p:txBody>
      </p:sp>
      <p:sp>
        <p:nvSpPr>
          <p:cNvPr id="19" name="Shape 17"/>
          <p:cNvSpPr/>
          <p:nvPr/>
        </p:nvSpPr>
        <p:spPr>
          <a:xfrm>
            <a:off x="841248" y="4512564"/>
            <a:ext cx="384048" cy="384048"/>
          </a:xfrm>
          <a:prstGeom prst="ellipse">
            <a:avLst/>
          </a:prstGeom>
          <a:solidFill>
            <a:srgbClr val="63E7A4"/>
          </a:solidFill>
          <a:ln/>
        </p:spPr>
        <p:txBody>
          <a:bodyPr/>
          <a:lstStyle/>
          <a:p>
            <a:endParaRPr lang="en-IN"/>
          </a:p>
        </p:txBody>
      </p:sp>
      <p:sp>
        <p:nvSpPr>
          <p:cNvPr id="20" name="Text 18"/>
          <p:cNvSpPr/>
          <p:nvPr/>
        </p:nvSpPr>
        <p:spPr>
          <a:xfrm>
            <a:off x="841248" y="4512564"/>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1" name="Text 19"/>
          <p:cNvSpPr/>
          <p:nvPr/>
        </p:nvSpPr>
        <p:spPr>
          <a:xfrm>
            <a:off x="1444752" y="4453128"/>
            <a:ext cx="9966960" cy="502920"/>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Empirical process control rests on three pillars. Name them.</a:t>
            </a:r>
            <a:endParaRPr lang="en-US" sz="1300" dirty="0"/>
          </a:p>
        </p:txBody>
      </p:sp>
      <p:sp>
        <p:nvSpPr>
          <p:cNvPr id="22" name="Shape 20"/>
          <p:cNvSpPr/>
          <p:nvPr/>
        </p:nvSpPr>
        <p:spPr>
          <a:xfrm>
            <a:off x="548640" y="5266944"/>
            <a:ext cx="11091672" cy="722376"/>
          </a:xfrm>
          <a:prstGeom prst="roundRect">
            <a:avLst>
              <a:gd name="adj" fmla="val 7595"/>
            </a:avLst>
          </a:prstGeom>
          <a:solidFill>
            <a:srgbClr val="FFFFFF"/>
          </a:solidFill>
          <a:ln/>
        </p:spPr>
        <p:txBody>
          <a:bodyPr/>
          <a:lstStyle/>
          <a:p>
            <a:endParaRPr lang="en-IN"/>
          </a:p>
        </p:txBody>
      </p:sp>
      <p:sp>
        <p:nvSpPr>
          <p:cNvPr id="23" name="Shape 21"/>
          <p:cNvSpPr/>
          <p:nvPr/>
        </p:nvSpPr>
        <p:spPr>
          <a:xfrm>
            <a:off x="841248" y="5436108"/>
            <a:ext cx="384048" cy="384048"/>
          </a:xfrm>
          <a:prstGeom prst="ellipse">
            <a:avLst/>
          </a:prstGeom>
          <a:solidFill>
            <a:srgbClr val="63E7A4"/>
          </a:solidFill>
          <a:ln/>
        </p:spPr>
        <p:txBody>
          <a:bodyPr/>
          <a:lstStyle/>
          <a:p>
            <a:endParaRPr lang="en-IN"/>
          </a:p>
        </p:txBody>
      </p:sp>
      <p:sp>
        <p:nvSpPr>
          <p:cNvPr id="24" name="Text 22"/>
          <p:cNvSpPr/>
          <p:nvPr/>
        </p:nvSpPr>
        <p:spPr>
          <a:xfrm>
            <a:off x="841248" y="5436108"/>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25" name="Text 23"/>
          <p:cNvSpPr/>
          <p:nvPr/>
        </p:nvSpPr>
        <p:spPr>
          <a:xfrm>
            <a:off x="1444752" y="5376672"/>
            <a:ext cx="9966960" cy="502920"/>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Which single principle does 'we added the feature because one customer asked, and nobody has used it since' violate?</a:t>
            </a:r>
            <a:endParaRPr lang="en-US" sz="1300" dirty="0"/>
          </a:p>
        </p:txBody>
      </p:sp>
      <p:sp>
        <p:nvSpPr>
          <p:cNvPr id="26" name="Text 24"/>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17</a:t>
            </a:r>
            <a:endParaRPr lang="en-US" sz="900" dirty="0"/>
          </a:p>
        </p:txBody>
      </p:sp>
      <p:sp>
        <p:nvSpPr>
          <p:cNvPr id="27" name="Text 25"/>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QUIZ 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QUIZ 1 · ANSWERS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Answers and why they matter</a:t>
            </a:r>
            <a:endParaRPr lang="en-US" sz="3000" dirty="0"/>
          </a:p>
        </p:txBody>
      </p:sp>
      <p:sp>
        <p:nvSpPr>
          <p:cNvPr id="4" name="Shape 2"/>
          <p:cNvSpPr/>
          <p:nvPr/>
        </p:nvSpPr>
        <p:spPr>
          <a:xfrm>
            <a:off x="548640" y="1783080"/>
            <a:ext cx="11091672" cy="715061"/>
          </a:xfrm>
          <a:prstGeom prst="roundRect">
            <a:avLst>
              <a:gd name="adj" fmla="val 7673"/>
            </a:avLst>
          </a:prstGeom>
          <a:solidFill>
            <a:srgbClr val="F4F7F9"/>
          </a:solidFill>
          <a:ln/>
        </p:spPr>
        <p:txBody>
          <a:bodyPr/>
          <a:lstStyle/>
          <a:p>
            <a:endParaRPr lang="en-IN"/>
          </a:p>
        </p:txBody>
      </p:sp>
      <p:sp>
        <p:nvSpPr>
          <p:cNvPr id="5" name="Shape 3"/>
          <p:cNvSpPr/>
          <p:nvPr/>
        </p:nvSpPr>
        <p:spPr>
          <a:xfrm>
            <a:off x="841248" y="1948586"/>
            <a:ext cx="384048" cy="384048"/>
          </a:xfrm>
          <a:prstGeom prst="ellipse">
            <a:avLst/>
          </a:prstGeom>
          <a:solidFill>
            <a:srgbClr val="63E7A4"/>
          </a:solidFill>
          <a:ln/>
        </p:spPr>
        <p:txBody>
          <a:bodyPr/>
          <a:lstStyle/>
          <a:p>
            <a:endParaRPr lang="en-IN"/>
          </a:p>
        </p:txBody>
      </p:sp>
      <p:sp>
        <p:nvSpPr>
          <p:cNvPr id="6" name="Text 4"/>
          <p:cNvSpPr/>
          <p:nvPr/>
        </p:nvSpPr>
        <p:spPr>
          <a:xfrm>
            <a:off x="841248" y="1948586"/>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444752" y="1874520"/>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False — it says working software over comprehensive documentation</a:t>
            </a:r>
            <a:endParaRPr lang="en-US" sz="1300" dirty="0"/>
          </a:p>
        </p:txBody>
      </p:sp>
      <p:sp>
        <p:nvSpPr>
          <p:cNvPr id="8" name="Text 6"/>
          <p:cNvSpPr/>
          <p:nvPr/>
        </p:nvSpPr>
        <p:spPr>
          <a:xfrm>
            <a:off x="1444752" y="2148840"/>
            <a:ext cx="9966960" cy="276149"/>
          </a:xfrm>
          <a:prstGeom prst="rect">
            <a:avLst/>
          </a:prstGeom>
          <a:noFill/>
          <a:ln/>
        </p:spPr>
        <p:txBody>
          <a:bodyPr wrap="square" lIns="0" tIns="0" rIns="0" bIns="0" rtlCol="0" anchor="t"/>
          <a:lstStyle/>
          <a:p>
            <a:pPr marL="0" indent="0">
              <a:lnSpc>
                <a:spcPct val="114000"/>
              </a:lnSpc>
              <a:buNone/>
            </a:pPr>
            <a:r>
              <a:rPr lang="en-US" sz="1050" dirty="0">
                <a:solidFill>
                  <a:srgbClr val="3D5060"/>
                </a:solidFill>
                <a:latin typeface="Century Gothic" pitchFamily="34" charset="0"/>
                <a:ea typeface="Century Gothic" pitchFamily="34" charset="-122"/>
                <a:cs typeface="Century Gothic" pitchFamily="34" charset="-120"/>
              </a:rPr>
              <a:t>Documentation that helps you deliver stays; documentation that substitutes for delivering goes.</a:t>
            </a:r>
            <a:endParaRPr lang="en-US" sz="1050" dirty="0"/>
          </a:p>
        </p:txBody>
      </p:sp>
      <p:sp>
        <p:nvSpPr>
          <p:cNvPr id="9" name="Shape 7"/>
          <p:cNvSpPr/>
          <p:nvPr/>
        </p:nvSpPr>
        <p:spPr>
          <a:xfrm>
            <a:off x="548640" y="2644445"/>
            <a:ext cx="11091672" cy="715061"/>
          </a:xfrm>
          <a:prstGeom prst="roundRect">
            <a:avLst>
              <a:gd name="adj" fmla="val 7673"/>
            </a:avLst>
          </a:prstGeom>
          <a:solidFill>
            <a:srgbClr val="F4F7F9"/>
          </a:solidFill>
          <a:ln/>
        </p:spPr>
        <p:txBody>
          <a:bodyPr/>
          <a:lstStyle/>
          <a:p>
            <a:endParaRPr lang="en-IN"/>
          </a:p>
        </p:txBody>
      </p:sp>
      <p:sp>
        <p:nvSpPr>
          <p:cNvPr id="10" name="Shape 8"/>
          <p:cNvSpPr/>
          <p:nvPr/>
        </p:nvSpPr>
        <p:spPr>
          <a:xfrm>
            <a:off x="841248" y="2809951"/>
            <a:ext cx="384048" cy="384048"/>
          </a:xfrm>
          <a:prstGeom prst="ellipse">
            <a:avLst/>
          </a:prstGeom>
          <a:solidFill>
            <a:srgbClr val="63E7A4"/>
          </a:solidFill>
          <a:ln/>
        </p:spPr>
        <p:txBody>
          <a:bodyPr/>
          <a:lstStyle/>
          <a:p>
            <a:endParaRPr lang="en-IN"/>
          </a:p>
        </p:txBody>
      </p:sp>
      <p:sp>
        <p:nvSpPr>
          <p:cNvPr id="11" name="Text 9"/>
          <p:cNvSpPr/>
          <p:nvPr/>
        </p:nvSpPr>
        <p:spPr>
          <a:xfrm>
            <a:off x="841248" y="2809951"/>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2" name="Text 10"/>
          <p:cNvSpPr/>
          <p:nvPr/>
        </p:nvSpPr>
        <p:spPr>
          <a:xfrm>
            <a:off x="1444752" y="2735885"/>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No — Agile teams plan more often, not less</a:t>
            </a:r>
            <a:endParaRPr lang="en-US" sz="1300" dirty="0"/>
          </a:p>
        </p:txBody>
      </p:sp>
      <p:sp>
        <p:nvSpPr>
          <p:cNvPr id="13" name="Text 11"/>
          <p:cNvSpPr/>
          <p:nvPr/>
        </p:nvSpPr>
        <p:spPr>
          <a:xfrm>
            <a:off x="1444752" y="3010205"/>
            <a:ext cx="9966960" cy="276149"/>
          </a:xfrm>
          <a:prstGeom prst="rect">
            <a:avLst/>
          </a:prstGeom>
          <a:noFill/>
          <a:ln/>
        </p:spPr>
        <p:txBody>
          <a:bodyPr wrap="square" lIns="0" tIns="0" rIns="0" bIns="0" rtlCol="0" anchor="t"/>
          <a:lstStyle/>
          <a:p>
            <a:pPr marL="0" indent="0">
              <a:lnSpc>
                <a:spcPct val="114000"/>
              </a:lnSpc>
              <a:buNone/>
            </a:pPr>
            <a:r>
              <a:rPr lang="en-US" sz="1050" dirty="0">
                <a:solidFill>
                  <a:srgbClr val="3D5060"/>
                </a:solidFill>
                <a:latin typeface="Century Gothic" pitchFamily="34" charset="0"/>
                <a:ea typeface="Century Gothic" pitchFamily="34" charset="-122"/>
                <a:cs typeface="Century Gothic" pitchFamily="34" charset="-120"/>
              </a:rPr>
              <a:t>Planning happens every sprint rather than once. What's rejected is treating a plan made at maximum ignorance as a promise.</a:t>
            </a:r>
            <a:endParaRPr lang="en-US" sz="1050" dirty="0"/>
          </a:p>
        </p:txBody>
      </p:sp>
      <p:sp>
        <p:nvSpPr>
          <p:cNvPr id="14" name="Shape 12"/>
          <p:cNvSpPr/>
          <p:nvPr/>
        </p:nvSpPr>
        <p:spPr>
          <a:xfrm>
            <a:off x="548640" y="3505810"/>
            <a:ext cx="11091672" cy="715061"/>
          </a:xfrm>
          <a:prstGeom prst="roundRect">
            <a:avLst>
              <a:gd name="adj" fmla="val 7673"/>
            </a:avLst>
          </a:prstGeom>
          <a:solidFill>
            <a:srgbClr val="F4F7F9"/>
          </a:solidFill>
          <a:ln/>
        </p:spPr>
        <p:txBody>
          <a:bodyPr/>
          <a:lstStyle/>
          <a:p>
            <a:endParaRPr lang="en-IN"/>
          </a:p>
        </p:txBody>
      </p:sp>
      <p:sp>
        <p:nvSpPr>
          <p:cNvPr id="15" name="Shape 13"/>
          <p:cNvSpPr/>
          <p:nvPr/>
        </p:nvSpPr>
        <p:spPr>
          <a:xfrm>
            <a:off x="841248" y="3671316"/>
            <a:ext cx="384048" cy="384048"/>
          </a:xfrm>
          <a:prstGeom prst="ellipse">
            <a:avLst/>
          </a:prstGeom>
          <a:solidFill>
            <a:srgbClr val="63E7A4"/>
          </a:solidFill>
          <a:ln/>
        </p:spPr>
        <p:txBody>
          <a:bodyPr/>
          <a:lstStyle/>
          <a:p>
            <a:endParaRPr lang="en-IN"/>
          </a:p>
        </p:txBody>
      </p:sp>
      <p:sp>
        <p:nvSpPr>
          <p:cNvPr id="16" name="Text 14"/>
          <p:cNvSpPr/>
          <p:nvPr/>
        </p:nvSpPr>
        <p:spPr>
          <a:xfrm>
            <a:off x="841248" y="3671316"/>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1444752" y="3597250"/>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Unknowable from that description</a:t>
            </a:r>
            <a:endParaRPr lang="en-US" sz="1300" dirty="0"/>
          </a:p>
        </p:txBody>
      </p:sp>
      <p:sp>
        <p:nvSpPr>
          <p:cNvPr id="18" name="Text 16"/>
          <p:cNvSpPr/>
          <p:nvPr/>
        </p:nvSpPr>
        <p:spPr>
          <a:xfrm>
            <a:off x="1444752" y="3871570"/>
            <a:ext cx="9966960" cy="276149"/>
          </a:xfrm>
          <a:prstGeom prst="rect">
            <a:avLst/>
          </a:prstGeom>
          <a:noFill/>
          <a:ln/>
        </p:spPr>
        <p:txBody>
          <a:bodyPr wrap="square" lIns="0" tIns="0" rIns="0" bIns="0" rtlCol="0" anchor="t"/>
          <a:lstStyle/>
          <a:p>
            <a:pPr marL="0" indent="0">
              <a:lnSpc>
                <a:spcPct val="114000"/>
              </a:lnSpc>
              <a:buNone/>
            </a:pPr>
            <a:r>
              <a:rPr lang="en-US" sz="1050" dirty="0">
                <a:solidFill>
                  <a:srgbClr val="3D5060"/>
                </a:solidFill>
                <a:latin typeface="Century Gothic" pitchFamily="34" charset="0"/>
                <a:ea typeface="Century Gothic" pitchFamily="34" charset="-122"/>
                <a:cs typeface="Century Gothic" pitchFamily="34" charset="-120"/>
              </a:rPr>
              <a:t>Those are mechanics. Being Agile depends on whether the loops close — real increment, inspection that changes something, value sooner.</a:t>
            </a:r>
            <a:endParaRPr lang="en-US" sz="1050" dirty="0"/>
          </a:p>
        </p:txBody>
      </p:sp>
      <p:sp>
        <p:nvSpPr>
          <p:cNvPr id="19" name="Shape 17"/>
          <p:cNvSpPr/>
          <p:nvPr/>
        </p:nvSpPr>
        <p:spPr>
          <a:xfrm>
            <a:off x="548640" y="4367174"/>
            <a:ext cx="11091672" cy="715061"/>
          </a:xfrm>
          <a:prstGeom prst="roundRect">
            <a:avLst>
              <a:gd name="adj" fmla="val 7673"/>
            </a:avLst>
          </a:prstGeom>
          <a:solidFill>
            <a:srgbClr val="F4F7F9"/>
          </a:solidFill>
          <a:ln/>
        </p:spPr>
        <p:txBody>
          <a:bodyPr/>
          <a:lstStyle/>
          <a:p>
            <a:endParaRPr lang="en-IN"/>
          </a:p>
        </p:txBody>
      </p:sp>
      <p:sp>
        <p:nvSpPr>
          <p:cNvPr id="20" name="Shape 18"/>
          <p:cNvSpPr/>
          <p:nvPr/>
        </p:nvSpPr>
        <p:spPr>
          <a:xfrm>
            <a:off x="841248" y="4532681"/>
            <a:ext cx="384048" cy="384048"/>
          </a:xfrm>
          <a:prstGeom prst="ellipse">
            <a:avLst/>
          </a:prstGeom>
          <a:solidFill>
            <a:srgbClr val="63E7A4"/>
          </a:solidFill>
          <a:ln/>
        </p:spPr>
        <p:txBody>
          <a:bodyPr/>
          <a:lstStyle/>
          <a:p>
            <a:endParaRPr lang="en-IN"/>
          </a:p>
        </p:txBody>
      </p:sp>
      <p:sp>
        <p:nvSpPr>
          <p:cNvPr id="21" name="Text 19"/>
          <p:cNvSpPr/>
          <p:nvPr/>
        </p:nvSpPr>
        <p:spPr>
          <a:xfrm>
            <a:off x="841248" y="4532681"/>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2" name="Text 20"/>
          <p:cNvSpPr/>
          <p:nvPr/>
        </p:nvSpPr>
        <p:spPr>
          <a:xfrm>
            <a:off x="1444752" y="4458614"/>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Transparency, inspection, adaptation</a:t>
            </a:r>
            <a:endParaRPr lang="en-US" sz="1300" dirty="0"/>
          </a:p>
        </p:txBody>
      </p:sp>
      <p:sp>
        <p:nvSpPr>
          <p:cNvPr id="23" name="Text 21"/>
          <p:cNvSpPr/>
          <p:nvPr/>
        </p:nvSpPr>
        <p:spPr>
          <a:xfrm>
            <a:off x="1444752" y="4732934"/>
            <a:ext cx="9966960" cy="276149"/>
          </a:xfrm>
          <a:prstGeom prst="rect">
            <a:avLst/>
          </a:prstGeom>
          <a:noFill/>
          <a:ln/>
        </p:spPr>
        <p:txBody>
          <a:bodyPr wrap="square" lIns="0" tIns="0" rIns="0" bIns="0" rtlCol="0" anchor="t"/>
          <a:lstStyle/>
          <a:p>
            <a:pPr marL="0" indent="0">
              <a:lnSpc>
                <a:spcPct val="114000"/>
              </a:lnSpc>
              <a:buNone/>
            </a:pPr>
            <a:r>
              <a:rPr lang="en-US" sz="1050" dirty="0">
                <a:solidFill>
                  <a:srgbClr val="3D5060"/>
                </a:solidFill>
                <a:latin typeface="Century Gothic" pitchFamily="34" charset="0"/>
                <a:ea typeface="Century Gothic" pitchFamily="34" charset="-122"/>
                <a:cs typeface="Century Gothic" pitchFamily="34" charset="-120"/>
              </a:rPr>
              <a:t>Every practice today serves one of these three. If a practice serves none of them, stop doing it.</a:t>
            </a:r>
            <a:endParaRPr lang="en-US" sz="1050" dirty="0"/>
          </a:p>
        </p:txBody>
      </p:sp>
      <p:sp>
        <p:nvSpPr>
          <p:cNvPr id="24" name="Shape 22"/>
          <p:cNvSpPr/>
          <p:nvPr/>
        </p:nvSpPr>
        <p:spPr>
          <a:xfrm>
            <a:off x="548640" y="5228539"/>
            <a:ext cx="11091672" cy="715061"/>
          </a:xfrm>
          <a:prstGeom prst="roundRect">
            <a:avLst>
              <a:gd name="adj" fmla="val 7673"/>
            </a:avLst>
          </a:prstGeom>
          <a:solidFill>
            <a:srgbClr val="F4F7F9"/>
          </a:solidFill>
          <a:ln/>
        </p:spPr>
        <p:txBody>
          <a:bodyPr/>
          <a:lstStyle/>
          <a:p>
            <a:endParaRPr lang="en-IN"/>
          </a:p>
        </p:txBody>
      </p:sp>
      <p:sp>
        <p:nvSpPr>
          <p:cNvPr id="25" name="Shape 23"/>
          <p:cNvSpPr/>
          <p:nvPr/>
        </p:nvSpPr>
        <p:spPr>
          <a:xfrm>
            <a:off x="841248" y="5394046"/>
            <a:ext cx="384048" cy="384048"/>
          </a:xfrm>
          <a:prstGeom prst="ellipse">
            <a:avLst/>
          </a:prstGeom>
          <a:solidFill>
            <a:srgbClr val="63E7A4"/>
          </a:solidFill>
          <a:ln/>
        </p:spPr>
        <p:txBody>
          <a:bodyPr/>
          <a:lstStyle/>
          <a:p>
            <a:endParaRPr lang="en-IN"/>
          </a:p>
        </p:txBody>
      </p:sp>
      <p:sp>
        <p:nvSpPr>
          <p:cNvPr id="26" name="Text 24"/>
          <p:cNvSpPr/>
          <p:nvPr/>
        </p:nvSpPr>
        <p:spPr>
          <a:xfrm>
            <a:off x="841248" y="5394046"/>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27" name="Text 25"/>
          <p:cNvSpPr/>
          <p:nvPr/>
        </p:nvSpPr>
        <p:spPr>
          <a:xfrm>
            <a:off x="1444752" y="5319979"/>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Simplicity — maximising the amount of work not done</a:t>
            </a:r>
            <a:endParaRPr lang="en-US" sz="1300" dirty="0"/>
          </a:p>
        </p:txBody>
      </p:sp>
      <p:sp>
        <p:nvSpPr>
          <p:cNvPr id="28" name="Text 26"/>
          <p:cNvSpPr/>
          <p:nvPr/>
        </p:nvSpPr>
        <p:spPr>
          <a:xfrm>
            <a:off x="1444752" y="5594299"/>
            <a:ext cx="9966960" cy="276149"/>
          </a:xfrm>
          <a:prstGeom prst="rect">
            <a:avLst/>
          </a:prstGeom>
          <a:noFill/>
          <a:ln/>
        </p:spPr>
        <p:txBody>
          <a:bodyPr wrap="square" lIns="0" tIns="0" rIns="0" bIns="0" rtlCol="0" anchor="t"/>
          <a:lstStyle/>
          <a:p>
            <a:pPr marL="0" indent="0">
              <a:lnSpc>
                <a:spcPct val="114000"/>
              </a:lnSpc>
              <a:buNone/>
            </a:pPr>
            <a:r>
              <a:rPr lang="en-US" sz="1050" dirty="0">
                <a:solidFill>
                  <a:srgbClr val="3D5060"/>
                </a:solidFill>
                <a:latin typeface="Century Gothic" pitchFamily="34" charset="0"/>
                <a:ea typeface="Century Gothic" pitchFamily="34" charset="-122"/>
                <a:cs typeface="Century Gothic" pitchFamily="34" charset="-120"/>
              </a:rPr>
              <a:t>Built is not the same as valuable. Unused features carry maintenance, support and migration cost forever.</a:t>
            </a:r>
            <a:endParaRPr lang="en-US" sz="1050" dirty="0"/>
          </a:p>
        </p:txBody>
      </p:sp>
      <p:sp>
        <p:nvSpPr>
          <p:cNvPr id="29" name="Text 27"/>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18</a:t>
            </a:r>
            <a:endParaRPr lang="en-US" sz="900" dirty="0"/>
          </a:p>
        </p:txBody>
      </p:sp>
      <p:sp>
        <p:nvSpPr>
          <p:cNvPr id="30" name="Text 28"/>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QUIZ 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03</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Agile Frameworks</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Scrum, Kanban, XP and Lean — what each is actually for, and how to choose between them.</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10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11–15</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3 · FRAMEWORKS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The landscape</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A framework gives you a starting structure. It does not give you the answer — that comes from adapting it with evidence.</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Scrum</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Timeboxed iterations with fixed roles, events and artifacts. By far the most widely adopted. Best for feature delivery with a definable goal per sprint.</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Kanban</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Visualise the flow, limit work in progress, manage for cycle time. No prescribed roles or iterations. Best for continuous, interrupt-driven work.</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Extreme Programming (XP)</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Engineering practices: pairing, TDD, continuous integration, refactoring, small releases. The technical half most Scrum adoptions are missing.</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Lean / Lean Software</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Eliminate waste, amplify learning, decide as late as responsibly possible, deliver fast. The thinking behind flow, WIP limits and cost of delay.</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20</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3 · FRAMEWORKS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3 · FRAMEWORKS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Scrum in one picture</a:t>
            </a:r>
            <a:endParaRPr lang="en-US" sz="3000" dirty="0"/>
          </a:p>
        </p:txBody>
      </p:sp>
      <p:sp>
        <p:nvSpPr>
          <p:cNvPr id="4" name="Shape 2"/>
          <p:cNvSpPr/>
          <p:nvPr/>
        </p:nvSpPr>
        <p:spPr>
          <a:xfrm>
            <a:off x="548640" y="2011680"/>
            <a:ext cx="2028139" cy="2926080"/>
          </a:xfrm>
          <a:prstGeom prst="roundRect">
            <a:avLst>
              <a:gd name="adj" fmla="val 2705"/>
            </a:avLst>
          </a:prstGeom>
          <a:solidFill>
            <a:srgbClr val="F4F7F9"/>
          </a:solidFill>
          <a:ln/>
        </p:spPr>
        <p:txBody>
          <a:bodyPr/>
          <a:lstStyle/>
          <a:p>
            <a:endParaRPr lang="en-IN"/>
          </a:p>
        </p:txBody>
      </p:sp>
      <p:sp>
        <p:nvSpPr>
          <p:cNvPr id="5" name="Shape 3"/>
          <p:cNvSpPr/>
          <p:nvPr/>
        </p:nvSpPr>
        <p:spPr>
          <a:xfrm>
            <a:off x="1343254" y="2286000"/>
            <a:ext cx="438912" cy="438912"/>
          </a:xfrm>
          <a:prstGeom prst="ellipse">
            <a:avLst/>
          </a:prstGeom>
          <a:solidFill>
            <a:srgbClr val="63E7A4"/>
          </a:solidFill>
          <a:ln/>
        </p:spPr>
        <p:txBody>
          <a:bodyPr/>
          <a:lstStyle/>
          <a:p>
            <a:endParaRPr lang="en-IN"/>
          </a:p>
        </p:txBody>
      </p:sp>
      <p:sp>
        <p:nvSpPr>
          <p:cNvPr id="6" name="Text 4"/>
          <p:cNvSpPr/>
          <p:nvPr/>
        </p:nvSpPr>
        <p:spPr>
          <a:xfrm>
            <a:off x="1343254"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731520"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Product Backlog</a:t>
            </a:r>
            <a:endParaRPr lang="en-US" sz="1400" dirty="0"/>
          </a:p>
        </p:txBody>
      </p:sp>
      <p:sp>
        <p:nvSpPr>
          <p:cNvPr id="8" name="Text 6"/>
          <p:cNvSpPr/>
          <p:nvPr/>
        </p:nvSpPr>
        <p:spPr>
          <a:xfrm>
            <a:off x="731520"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Ordered list of everything that might be needed. Owned by the Product Owner.</a:t>
            </a:r>
            <a:endParaRPr lang="en-US" sz="1150" dirty="0"/>
          </a:p>
        </p:txBody>
      </p:sp>
      <p:sp>
        <p:nvSpPr>
          <p:cNvPr id="9" name="Text 7"/>
          <p:cNvSpPr/>
          <p:nvPr/>
        </p:nvSpPr>
        <p:spPr>
          <a:xfrm>
            <a:off x="2558491" y="3108960"/>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0" name="Shape 8"/>
          <p:cNvSpPr/>
          <p:nvPr/>
        </p:nvSpPr>
        <p:spPr>
          <a:xfrm>
            <a:off x="2814523" y="2011680"/>
            <a:ext cx="2028139" cy="2926080"/>
          </a:xfrm>
          <a:prstGeom prst="roundRect">
            <a:avLst>
              <a:gd name="adj" fmla="val 2705"/>
            </a:avLst>
          </a:prstGeom>
          <a:solidFill>
            <a:srgbClr val="F4F7F9"/>
          </a:solidFill>
          <a:ln/>
        </p:spPr>
        <p:txBody>
          <a:bodyPr/>
          <a:lstStyle/>
          <a:p>
            <a:endParaRPr lang="en-IN"/>
          </a:p>
        </p:txBody>
      </p:sp>
      <p:sp>
        <p:nvSpPr>
          <p:cNvPr id="11" name="Shape 9"/>
          <p:cNvSpPr/>
          <p:nvPr/>
        </p:nvSpPr>
        <p:spPr>
          <a:xfrm>
            <a:off x="3609137" y="2286000"/>
            <a:ext cx="438912" cy="438912"/>
          </a:xfrm>
          <a:prstGeom prst="ellipse">
            <a:avLst/>
          </a:prstGeom>
          <a:solidFill>
            <a:srgbClr val="63E7A4"/>
          </a:solidFill>
          <a:ln/>
        </p:spPr>
        <p:txBody>
          <a:bodyPr/>
          <a:lstStyle/>
          <a:p>
            <a:endParaRPr lang="en-IN"/>
          </a:p>
        </p:txBody>
      </p:sp>
      <p:sp>
        <p:nvSpPr>
          <p:cNvPr id="12" name="Text 10"/>
          <p:cNvSpPr/>
          <p:nvPr/>
        </p:nvSpPr>
        <p:spPr>
          <a:xfrm>
            <a:off x="3609137"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2997403"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Sprint Planning</a:t>
            </a:r>
            <a:endParaRPr lang="en-US" sz="1400" dirty="0"/>
          </a:p>
        </p:txBody>
      </p:sp>
      <p:sp>
        <p:nvSpPr>
          <p:cNvPr id="14" name="Text 12"/>
          <p:cNvSpPr/>
          <p:nvPr/>
        </p:nvSpPr>
        <p:spPr>
          <a:xfrm>
            <a:off x="2997403"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Team selects work and commits to a Sprint Goal, not a task list.</a:t>
            </a:r>
            <a:endParaRPr lang="en-US" sz="1150" dirty="0"/>
          </a:p>
        </p:txBody>
      </p:sp>
      <p:sp>
        <p:nvSpPr>
          <p:cNvPr id="15" name="Text 13"/>
          <p:cNvSpPr/>
          <p:nvPr/>
        </p:nvSpPr>
        <p:spPr>
          <a:xfrm>
            <a:off x="4824374" y="3108960"/>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6" name="Shape 14"/>
          <p:cNvSpPr/>
          <p:nvPr/>
        </p:nvSpPr>
        <p:spPr>
          <a:xfrm>
            <a:off x="5080406" y="2011680"/>
            <a:ext cx="2028139" cy="2926080"/>
          </a:xfrm>
          <a:prstGeom prst="roundRect">
            <a:avLst>
              <a:gd name="adj" fmla="val 2705"/>
            </a:avLst>
          </a:prstGeom>
          <a:solidFill>
            <a:srgbClr val="F4F7F9"/>
          </a:solidFill>
          <a:ln/>
        </p:spPr>
        <p:txBody>
          <a:bodyPr/>
          <a:lstStyle/>
          <a:p>
            <a:endParaRPr lang="en-IN"/>
          </a:p>
        </p:txBody>
      </p:sp>
      <p:sp>
        <p:nvSpPr>
          <p:cNvPr id="17" name="Shape 15"/>
          <p:cNvSpPr/>
          <p:nvPr/>
        </p:nvSpPr>
        <p:spPr>
          <a:xfrm>
            <a:off x="5875020" y="2286000"/>
            <a:ext cx="438912" cy="438912"/>
          </a:xfrm>
          <a:prstGeom prst="ellipse">
            <a:avLst/>
          </a:prstGeom>
          <a:solidFill>
            <a:srgbClr val="63E7A4"/>
          </a:solidFill>
          <a:ln/>
        </p:spPr>
        <p:txBody>
          <a:bodyPr/>
          <a:lstStyle/>
          <a:p>
            <a:endParaRPr lang="en-IN"/>
          </a:p>
        </p:txBody>
      </p:sp>
      <p:sp>
        <p:nvSpPr>
          <p:cNvPr id="18" name="Text 16"/>
          <p:cNvSpPr/>
          <p:nvPr/>
        </p:nvSpPr>
        <p:spPr>
          <a:xfrm>
            <a:off x="5875020"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9" name="Text 17"/>
          <p:cNvSpPr/>
          <p:nvPr/>
        </p:nvSpPr>
        <p:spPr>
          <a:xfrm>
            <a:off x="5263286"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The Sprint</a:t>
            </a:r>
            <a:endParaRPr lang="en-US" sz="1400" dirty="0"/>
          </a:p>
        </p:txBody>
      </p:sp>
      <p:sp>
        <p:nvSpPr>
          <p:cNvPr id="20" name="Text 18"/>
          <p:cNvSpPr/>
          <p:nvPr/>
        </p:nvSpPr>
        <p:spPr>
          <a:xfrm>
            <a:off x="5263286"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Fixed length, 1–4 weeks. Daily Scrum each day to re-plan toward the goal.</a:t>
            </a:r>
            <a:endParaRPr lang="en-US" sz="1150" dirty="0"/>
          </a:p>
        </p:txBody>
      </p:sp>
      <p:sp>
        <p:nvSpPr>
          <p:cNvPr id="21" name="Text 19"/>
          <p:cNvSpPr/>
          <p:nvPr/>
        </p:nvSpPr>
        <p:spPr>
          <a:xfrm>
            <a:off x="7090258" y="3108960"/>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2" name="Shape 20"/>
          <p:cNvSpPr/>
          <p:nvPr/>
        </p:nvSpPr>
        <p:spPr>
          <a:xfrm>
            <a:off x="7346290" y="2011680"/>
            <a:ext cx="2028139" cy="2926080"/>
          </a:xfrm>
          <a:prstGeom prst="roundRect">
            <a:avLst>
              <a:gd name="adj" fmla="val 2705"/>
            </a:avLst>
          </a:prstGeom>
          <a:solidFill>
            <a:srgbClr val="F4F7F9"/>
          </a:solidFill>
          <a:ln/>
        </p:spPr>
        <p:txBody>
          <a:bodyPr/>
          <a:lstStyle/>
          <a:p>
            <a:endParaRPr lang="en-IN"/>
          </a:p>
        </p:txBody>
      </p:sp>
      <p:sp>
        <p:nvSpPr>
          <p:cNvPr id="23" name="Shape 21"/>
          <p:cNvSpPr/>
          <p:nvPr/>
        </p:nvSpPr>
        <p:spPr>
          <a:xfrm>
            <a:off x="8140903" y="2286000"/>
            <a:ext cx="438912" cy="438912"/>
          </a:xfrm>
          <a:prstGeom prst="ellipse">
            <a:avLst/>
          </a:prstGeom>
          <a:solidFill>
            <a:srgbClr val="63E7A4"/>
          </a:solidFill>
          <a:ln/>
        </p:spPr>
        <p:txBody>
          <a:bodyPr/>
          <a:lstStyle/>
          <a:p>
            <a:endParaRPr lang="en-IN"/>
          </a:p>
        </p:txBody>
      </p:sp>
      <p:sp>
        <p:nvSpPr>
          <p:cNvPr id="24" name="Text 22"/>
          <p:cNvSpPr/>
          <p:nvPr/>
        </p:nvSpPr>
        <p:spPr>
          <a:xfrm>
            <a:off x="8140903"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5" name="Text 23"/>
          <p:cNvSpPr/>
          <p:nvPr/>
        </p:nvSpPr>
        <p:spPr>
          <a:xfrm>
            <a:off x="7529170"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Sprint Review</a:t>
            </a:r>
            <a:endParaRPr lang="en-US" sz="1400" dirty="0"/>
          </a:p>
        </p:txBody>
      </p:sp>
      <p:sp>
        <p:nvSpPr>
          <p:cNvPr id="26" name="Text 24"/>
          <p:cNvSpPr/>
          <p:nvPr/>
        </p:nvSpPr>
        <p:spPr>
          <a:xfrm>
            <a:off x="7529170"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Inspect the working increment with stakeholders and adapt the backlog.</a:t>
            </a:r>
            <a:endParaRPr lang="en-US" sz="1150" dirty="0"/>
          </a:p>
        </p:txBody>
      </p:sp>
      <p:sp>
        <p:nvSpPr>
          <p:cNvPr id="27" name="Text 25"/>
          <p:cNvSpPr/>
          <p:nvPr/>
        </p:nvSpPr>
        <p:spPr>
          <a:xfrm>
            <a:off x="9356141" y="3108960"/>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8" name="Shape 26"/>
          <p:cNvSpPr/>
          <p:nvPr/>
        </p:nvSpPr>
        <p:spPr>
          <a:xfrm>
            <a:off x="9612173" y="2011680"/>
            <a:ext cx="2028139" cy="2926080"/>
          </a:xfrm>
          <a:prstGeom prst="roundRect">
            <a:avLst>
              <a:gd name="adj" fmla="val 2705"/>
            </a:avLst>
          </a:prstGeom>
          <a:solidFill>
            <a:srgbClr val="F4F7F9"/>
          </a:solidFill>
          <a:ln/>
        </p:spPr>
        <p:txBody>
          <a:bodyPr/>
          <a:lstStyle/>
          <a:p>
            <a:endParaRPr lang="en-IN"/>
          </a:p>
        </p:txBody>
      </p:sp>
      <p:sp>
        <p:nvSpPr>
          <p:cNvPr id="29" name="Shape 27"/>
          <p:cNvSpPr/>
          <p:nvPr/>
        </p:nvSpPr>
        <p:spPr>
          <a:xfrm>
            <a:off x="10406786" y="2286000"/>
            <a:ext cx="438912" cy="438912"/>
          </a:xfrm>
          <a:prstGeom prst="ellipse">
            <a:avLst/>
          </a:prstGeom>
          <a:solidFill>
            <a:srgbClr val="63E7A4"/>
          </a:solidFill>
          <a:ln/>
        </p:spPr>
        <p:txBody>
          <a:bodyPr/>
          <a:lstStyle/>
          <a:p>
            <a:endParaRPr lang="en-IN"/>
          </a:p>
        </p:txBody>
      </p:sp>
      <p:sp>
        <p:nvSpPr>
          <p:cNvPr id="30" name="Text 28"/>
          <p:cNvSpPr/>
          <p:nvPr/>
        </p:nvSpPr>
        <p:spPr>
          <a:xfrm>
            <a:off x="10406786"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31" name="Text 29"/>
          <p:cNvSpPr/>
          <p:nvPr/>
        </p:nvSpPr>
        <p:spPr>
          <a:xfrm>
            <a:off x="9795053"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Retrospective</a:t>
            </a:r>
            <a:endParaRPr lang="en-US" sz="1400" dirty="0"/>
          </a:p>
        </p:txBody>
      </p:sp>
      <p:sp>
        <p:nvSpPr>
          <p:cNvPr id="32" name="Text 30"/>
          <p:cNvSpPr/>
          <p:nvPr/>
        </p:nvSpPr>
        <p:spPr>
          <a:xfrm>
            <a:off x="9795053"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Inspect how we work. One improvement enters the next sprint.</a:t>
            </a:r>
            <a:endParaRPr lang="en-US" sz="1150" dirty="0"/>
          </a:p>
        </p:txBody>
      </p:sp>
      <p:sp>
        <p:nvSpPr>
          <p:cNvPr id="33" name="Text 31"/>
          <p:cNvSpPr/>
          <p:nvPr/>
        </p:nvSpPr>
        <p:spPr>
          <a:xfrm>
            <a:off x="548640" y="5102352"/>
            <a:ext cx="11091672" cy="457200"/>
          </a:xfrm>
          <a:prstGeom prst="rect">
            <a:avLst/>
          </a:prstGeom>
          <a:noFill/>
          <a:ln/>
        </p:spPr>
        <p:txBody>
          <a:bodyPr wrap="square" lIns="0" tIns="0" rIns="0" bIns="0" rtlCol="0" anchor="ctr"/>
          <a:lstStyle/>
          <a:p>
            <a:pPr marL="0" indent="0">
              <a:lnSpc>
                <a:spcPct val="120000"/>
              </a:lnSpc>
              <a:buNone/>
            </a:pPr>
            <a:r>
              <a:rPr lang="en-US" sz="1200" i="1" dirty="0">
                <a:solidFill>
                  <a:srgbClr val="3D5060"/>
                </a:solidFill>
                <a:latin typeface="Century Gothic" pitchFamily="34" charset="0"/>
                <a:ea typeface="Century Gothic" pitchFamily="34" charset="-122"/>
                <a:cs typeface="Century Gothic" pitchFamily="34" charset="-120"/>
              </a:rPr>
              <a:t>The loop repeats with no gap. A sprint ends and the next one begins — no 'planning week' between them.</a:t>
            </a:r>
            <a:endParaRPr lang="en-US" sz="1200" dirty="0"/>
          </a:p>
        </p:txBody>
      </p:sp>
      <p:sp>
        <p:nvSpPr>
          <p:cNvPr id="34" name="Text 3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21</a:t>
            </a:r>
            <a:endParaRPr lang="en-US" sz="900" dirty="0"/>
          </a:p>
        </p:txBody>
      </p:sp>
      <p:sp>
        <p:nvSpPr>
          <p:cNvPr id="35" name="Text 3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3 · FRAMEWORKS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3 · FRAMEWORKS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Scrum and Kanban, honestly compared</a:t>
            </a:r>
            <a:endParaRPr lang="en-US" sz="30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Scrum</a:t>
            </a:r>
            <a:endParaRPr lang="en-US" sz="1900" dirty="0"/>
          </a:p>
        </p:txBody>
      </p:sp>
      <p:sp>
        <p:nvSpPr>
          <p:cNvPr id="6" name="Text 4"/>
          <p:cNvSpPr/>
          <p:nvPr/>
        </p:nvSpPr>
        <p:spPr>
          <a:xfrm>
            <a:off x="932688" y="2542032"/>
            <a:ext cx="4626864" cy="329184"/>
          </a:xfrm>
          <a:prstGeom prst="rect">
            <a:avLst/>
          </a:prstGeom>
          <a:noFill/>
          <a:ln/>
        </p:spPr>
        <p:txBody>
          <a:bodyPr wrap="square" lIns="0" tIns="0" rIns="0" bIns="0" rtlCol="0" anchor="ctr"/>
          <a:lstStyle/>
          <a:p>
            <a:pPr marL="0" indent="0">
              <a:buNone/>
            </a:pPr>
            <a:r>
              <a:rPr lang="en-US" sz="1150" i="1" dirty="0">
                <a:solidFill>
                  <a:srgbClr val="7A8C99"/>
                </a:solidFill>
                <a:latin typeface="Century Gothic" pitchFamily="34" charset="0"/>
                <a:ea typeface="Century Gothic" pitchFamily="34" charset="-122"/>
                <a:cs typeface="Century Gothic" pitchFamily="34" charset="-120"/>
              </a:rPr>
              <a:t>Cadence-based, commitment-driven</a:t>
            </a:r>
            <a:endParaRPr lang="en-US" sz="1150" dirty="0"/>
          </a:p>
        </p:txBody>
      </p:sp>
      <p:sp>
        <p:nvSpPr>
          <p:cNvPr id="7" name="Text 5"/>
          <p:cNvSpPr/>
          <p:nvPr/>
        </p:nvSpPr>
        <p:spPr>
          <a:xfrm>
            <a:off x="932688"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Timeboxed sprints of fixed length</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Prescribed accountabilities: PO, SM, Developers</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Commitment to a Sprint Goal each iteration</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Change mid-sprint is discouraged — protects focus</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Velocity for forecasting</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Strong fit: feature delivery, roadmap work, new modules</a:t>
            </a:r>
            <a:endParaRPr lang="en-US" sz="1250" dirty="0"/>
          </a:p>
        </p:txBody>
      </p:sp>
      <p:sp>
        <p:nvSpPr>
          <p:cNvPr id="8" name="Shape 6"/>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9" name="Text 7"/>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Kanban</a:t>
            </a:r>
            <a:endParaRPr lang="en-US" sz="1900" dirty="0"/>
          </a:p>
        </p:txBody>
      </p:sp>
      <p:sp>
        <p:nvSpPr>
          <p:cNvPr id="10" name="Text 8"/>
          <p:cNvSpPr/>
          <p:nvPr/>
        </p:nvSpPr>
        <p:spPr>
          <a:xfrm>
            <a:off x="6629400" y="2542032"/>
            <a:ext cx="4626864" cy="329184"/>
          </a:xfrm>
          <a:prstGeom prst="rect">
            <a:avLst/>
          </a:prstGeom>
          <a:noFill/>
          <a:ln/>
        </p:spPr>
        <p:txBody>
          <a:bodyPr wrap="square" lIns="0" tIns="0" rIns="0" bIns="0" rtlCol="0" anchor="ctr"/>
          <a:lstStyle/>
          <a:p>
            <a:pPr marL="0" indent="0">
              <a:buNone/>
            </a:pPr>
            <a:r>
              <a:rPr lang="en-US" sz="1150" i="1" dirty="0">
                <a:solidFill>
                  <a:srgbClr val="8FB3C6"/>
                </a:solidFill>
                <a:latin typeface="Century Gothic" pitchFamily="34" charset="0"/>
                <a:ea typeface="Century Gothic" pitchFamily="34" charset="-122"/>
                <a:cs typeface="Century Gothic" pitchFamily="34" charset="-120"/>
              </a:rPr>
              <a:t>Flow-based, WIP-limited</a:t>
            </a:r>
            <a:endParaRPr lang="en-US" sz="1150" dirty="0"/>
          </a:p>
        </p:txBody>
      </p:sp>
      <p:sp>
        <p:nvSpPr>
          <p:cNvPr id="11" name="Text 9"/>
          <p:cNvSpPr/>
          <p:nvPr/>
        </p:nvSpPr>
        <p:spPr>
          <a:xfrm>
            <a:off x="6629400"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Continuous flow, no iteration boundary required</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No prescribed roles — use your existing structure</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Commitment to a service level, e.g. 85% within 5 days</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Change is absorbed by re-ordering the queue</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Cycle time and throughput for forecasting</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Strong fit: support, escalations, maintenance, ops</a:t>
            </a:r>
            <a:endParaRPr lang="en-US" sz="1250" dirty="0"/>
          </a:p>
        </p:txBody>
      </p:sp>
      <p:sp>
        <p:nvSpPr>
          <p:cNvPr id="12" name="Text 1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22</a:t>
            </a:r>
            <a:endParaRPr lang="en-US" sz="900" dirty="0"/>
          </a:p>
        </p:txBody>
      </p:sp>
      <p:sp>
        <p:nvSpPr>
          <p:cNvPr id="13" name="Text 1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3 · FRAMEWORKS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3 · FRAMEWORKS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600" b="1" dirty="0">
                <a:solidFill>
                  <a:srgbClr val="003352"/>
                </a:solidFill>
                <a:latin typeface="Century Gothic" pitchFamily="34" charset="0"/>
                <a:ea typeface="Century Gothic" pitchFamily="34" charset="-122"/>
                <a:cs typeface="Century Gothic" pitchFamily="34" charset="-120"/>
              </a:rPr>
              <a:t>XP: the engineering practices that make agility possible</a:t>
            </a:r>
            <a:endParaRPr lang="en-US" sz="26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Scrum tells you to welcome late change. XP is how you afford to.</a:t>
            </a:r>
            <a:endParaRPr lang="en-US" sz="1450" dirty="0"/>
          </a:p>
        </p:txBody>
      </p:sp>
      <p:sp>
        <p:nvSpPr>
          <p:cNvPr id="5" name="Shape 3"/>
          <p:cNvSpPr/>
          <p:nvPr/>
        </p:nvSpPr>
        <p:spPr>
          <a:xfrm>
            <a:off x="548640" y="2286000"/>
            <a:ext cx="3502152" cy="1664208"/>
          </a:xfrm>
          <a:prstGeom prst="roundRect">
            <a:avLst>
              <a:gd name="adj" fmla="val 3297"/>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Test-driven development</a:t>
            </a:r>
            <a:endParaRPr lang="en-US" sz="1450" dirty="0"/>
          </a:p>
        </p:txBody>
      </p:sp>
      <p:sp>
        <p:nvSpPr>
          <p:cNvPr id="9" name="Text 7"/>
          <p:cNvSpPr/>
          <p:nvPr/>
        </p:nvSpPr>
        <p:spPr>
          <a:xfrm>
            <a:off x="804672" y="3017520"/>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Write the failing test first. Produces a regression suite that makes change safe rather than terrifying.</a:t>
            </a:r>
            <a:endParaRPr lang="en-US" sz="1150" dirty="0"/>
          </a:p>
        </p:txBody>
      </p:sp>
      <p:sp>
        <p:nvSpPr>
          <p:cNvPr id="10" name="Shape 8"/>
          <p:cNvSpPr/>
          <p:nvPr/>
        </p:nvSpPr>
        <p:spPr>
          <a:xfrm>
            <a:off x="4343400" y="2286000"/>
            <a:ext cx="3502152" cy="1664208"/>
          </a:xfrm>
          <a:prstGeom prst="roundRect">
            <a:avLst>
              <a:gd name="adj" fmla="val 3297"/>
            </a:avLst>
          </a:prstGeom>
          <a:solidFill>
            <a:srgbClr val="F4F7F9"/>
          </a:solidFill>
          <a:ln/>
        </p:spPr>
        <p:txBody>
          <a:bodyPr/>
          <a:lstStyle/>
          <a:p>
            <a:endParaRPr lang="en-IN"/>
          </a:p>
        </p:txBody>
      </p:sp>
      <p:sp>
        <p:nvSpPr>
          <p:cNvPr id="11" name="Shape 9"/>
          <p:cNvSpPr/>
          <p:nvPr/>
        </p:nvSpPr>
        <p:spPr>
          <a:xfrm>
            <a:off x="4599432" y="2542032"/>
            <a:ext cx="365760" cy="365760"/>
          </a:xfrm>
          <a:prstGeom prst="ellipse">
            <a:avLst/>
          </a:prstGeom>
          <a:solidFill>
            <a:srgbClr val="003352"/>
          </a:solidFill>
          <a:ln/>
        </p:spPr>
        <p:txBody>
          <a:bodyPr/>
          <a:lstStyle/>
          <a:p>
            <a:endParaRPr lang="en-IN"/>
          </a:p>
        </p:txBody>
      </p:sp>
      <p:sp>
        <p:nvSpPr>
          <p:cNvPr id="12" name="Text 10"/>
          <p:cNvSpPr/>
          <p:nvPr/>
        </p:nvSpPr>
        <p:spPr>
          <a:xfrm>
            <a:off x="459943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509320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Continuous integration</a:t>
            </a:r>
            <a:endParaRPr lang="en-US" sz="1450" dirty="0"/>
          </a:p>
        </p:txBody>
      </p:sp>
      <p:sp>
        <p:nvSpPr>
          <p:cNvPr id="14" name="Text 12"/>
          <p:cNvSpPr/>
          <p:nvPr/>
        </p:nvSpPr>
        <p:spPr>
          <a:xfrm>
            <a:off x="4599432" y="3017520"/>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Everyone integrates to trunk at least daily. Integration risk stops being an end-of-project event.</a:t>
            </a:r>
            <a:endParaRPr lang="en-US" sz="1150" dirty="0"/>
          </a:p>
        </p:txBody>
      </p:sp>
      <p:sp>
        <p:nvSpPr>
          <p:cNvPr id="15" name="Shape 13"/>
          <p:cNvSpPr/>
          <p:nvPr/>
        </p:nvSpPr>
        <p:spPr>
          <a:xfrm>
            <a:off x="8138160" y="2286000"/>
            <a:ext cx="3502152" cy="1664208"/>
          </a:xfrm>
          <a:prstGeom prst="roundRect">
            <a:avLst>
              <a:gd name="adj" fmla="val 3297"/>
            </a:avLst>
          </a:prstGeom>
          <a:solidFill>
            <a:srgbClr val="F4F7F9"/>
          </a:solidFill>
          <a:ln/>
        </p:spPr>
        <p:txBody>
          <a:bodyPr/>
          <a:lstStyle/>
          <a:p>
            <a:endParaRPr lang="en-IN"/>
          </a:p>
        </p:txBody>
      </p:sp>
      <p:sp>
        <p:nvSpPr>
          <p:cNvPr id="16" name="Shape 14"/>
          <p:cNvSpPr/>
          <p:nvPr/>
        </p:nvSpPr>
        <p:spPr>
          <a:xfrm>
            <a:off x="8394192" y="2542032"/>
            <a:ext cx="365760" cy="365760"/>
          </a:xfrm>
          <a:prstGeom prst="ellipse">
            <a:avLst/>
          </a:prstGeom>
          <a:solidFill>
            <a:srgbClr val="003352"/>
          </a:solidFill>
          <a:ln/>
        </p:spPr>
        <p:txBody>
          <a:bodyPr/>
          <a:lstStyle/>
          <a:p>
            <a:endParaRPr lang="en-IN"/>
          </a:p>
        </p:txBody>
      </p:sp>
      <p:sp>
        <p:nvSpPr>
          <p:cNvPr id="17" name="Text 15"/>
          <p:cNvSpPr/>
          <p:nvPr/>
        </p:nvSpPr>
        <p:spPr>
          <a:xfrm>
            <a:off x="839419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888796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Refactoring</a:t>
            </a:r>
            <a:endParaRPr lang="en-US" sz="1450" dirty="0"/>
          </a:p>
        </p:txBody>
      </p:sp>
      <p:sp>
        <p:nvSpPr>
          <p:cNvPr id="19" name="Text 17"/>
          <p:cNvSpPr/>
          <p:nvPr/>
        </p:nvSpPr>
        <p:spPr>
          <a:xfrm>
            <a:off x="8394192" y="3017520"/>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Continuous small design improvement, protected by tests. Design debt paid down weekly instead of annually.</a:t>
            </a:r>
            <a:endParaRPr lang="en-US" sz="1150" dirty="0"/>
          </a:p>
        </p:txBody>
      </p:sp>
      <p:sp>
        <p:nvSpPr>
          <p:cNvPr id="20" name="Shape 18"/>
          <p:cNvSpPr/>
          <p:nvPr/>
        </p:nvSpPr>
        <p:spPr>
          <a:xfrm>
            <a:off x="548640" y="4224528"/>
            <a:ext cx="3502152" cy="1664208"/>
          </a:xfrm>
          <a:prstGeom prst="roundRect">
            <a:avLst>
              <a:gd name="adj" fmla="val 3297"/>
            </a:avLst>
          </a:prstGeom>
          <a:solidFill>
            <a:srgbClr val="F4F7F9"/>
          </a:solidFill>
          <a:ln/>
        </p:spPr>
        <p:txBody>
          <a:bodyPr/>
          <a:lstStyle/>
          <a:p>
            <a:endParaRPr lang="en-IN"/>
          </a:p>
        </p:txBody>
      </p:sp>
      <p:sp>
        <p:nvSpPr>
          <p:cNvPr id="21" name="Shape 19"/>
          <p:cNvSpPr/>
          <p:nvPr/>
        </p:nvSpPr>
        <p:spPr>
          <a:xfrm>
            <a:off x="804672" y="4480560"/>
            <a:ext cx="365760" cy="365760"/>
          </a:xfrm>
          <a:prstGeom prst="ellipse">
            <a:avLst/>
          </a:prstGeom>
          <a:solidFill>
            <a:srgbClr val="003352"/>
          </a:solidFill>
          <a:ln/>
        </p:spPr>
        <p:txBody>
          <a:bodyPr/>
          <a:lstStyle/>
          <a:p>
            <a:endParaRPr lang="en-IN"/>
          </a:p>
        </p:txBody>
      </p:sp>
      <p:sp>
        <p:nvSpPr>
          <p:cNvPr id="22" name="Text 20"/>
          <p:cNvSpPr/>
          <p:nvPr/>
        </p:nvSpPr>
        <p:spPr>
          <a:xfrm>
            <a:off x="804672" y="44805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1298448" y="4462272"/>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Pair programming</a:t>
            </a:r>
            <a:endParaRPr lang="en-US" sz="1450" dirty="0"/>
          </a:p>
        </p:txBody>
      </p:sp>
      <p:sp>
        <p:nvSpPr>
          <p:cNvPr id="24" name="Text 22"/>
          <p:cNvSpPr/>
          <p:nvPr/>
        </p:nvSpPr>
        <p:spPr>
          <a:xfrm>
            <a:off x="804672" y="4956048"/>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Two people, one problem. Review happens as the code is written, and knowledge stops living in one head.</a:t>
            </a:r>
            <a:endParaRPr lang="en-US" sz="1150" dirty="0"/>
          </a:p>
        </p:txBody>
      </p:sp>
      <p:sp>
        <p:nvSpPr>
          <p:cNvPr id="25" name="Shape 23"/>
          <p:cNvSpPr/>
          <p:nvPr/>
        </p:nvSpPr>
        <p:spPr>
          <a:xfrm>
            <a:off x="4343400" y="4224528"/>
            <a:ext cx="3502152" cy="1664208"/>
          </a:xfrm>
          <a:prstGeom prst="roundRect">
            <a:avLst>
              <a:gd name="adj" fmla="val 3297"/>
            </a:avLst>
          </a:prstGeom>
          <a:solidFill>
            <a:srgbClr val="F4F7F9"/>
          </a:solidFill>
          <a:ln/>
        </p:spPr>
        <p:txBody>
          <a:bodyPr/>
          <a:lstStyle/>
          <a:p>
            <a:endParaRPr lang="en-IN"/>
          </a:p>
        </p:txBody>
      </p:sp>
      <p:sp>
        <p:nvSpPr>
          <p:cNvPr id="26" name="Shape 24"/>
          <p:cNvSpPr/>
          <p:nvPr/>
        </p:nvSpPr>
        <p:spPr>
          <a:xfrm>
            <a:off x="4599432" y="4480560"/>
            <a:ext cx="365760" cy="365760"/>
          </a:xfrm>
          <a:prstGeom prst="ellipse">
            <a:avLst/>
          </a:prstGeom>
          <a:solidFill>
            <a:srgbClr val="003352"/>
          </a:solidFill>
          <a:ln/>
        </p:spPr>
        <p:txBody>
          <a:bodyPr/>
          <a:lstStyle/>
          <a:p>
            <a:endParaRPr lang="en-IN"/>
          </a:p>
        </p:txBody>
      </p:sp>
      <p:sp>
        <p:nvSpPr>
          <p:cNvPr id="27" name="Text 25"/>
          <p:cNvSpPr/>
          <p:nvPr/>
        </p:nvSpPr>
        <p:spPr>
          <a:xfrm>
            <a:off x="4599432" y="44805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5</a:t>
            </a:r>
            <a:endParaRPr lang="en-US" sz="1200" dirty="0"/>
          </a:p>
        </p:txBody>
      </p:sp>
      <p:sp>
        <p:nvSpPr>
          <p:cNvPr id="28" name="Text 26"/>
          <p:cNvSpPr/>
          <p:nvPr/>
        </p:nvSpPr>
        <p:spPr>
          <a:xfrm>
            <a:off x="5093208" y="4462272"/>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Small releases</a:t>
            </a:r>
            <a:endParaRPr lang="en-US" sz="1450" dirty="0"/>
          </a:p>
        </p:txBody>
      </p:sp>
      <p:sp>
        <p:nvSpPr>
          <p:cNvPr id="29" name="Text 27"/>
          <p:cNvSpPr/>
          <p:nvPr/>
        </p:nvSpPr>
        <p:spPr>
          <a:xfrm>
            <a:off x="4599432" y="4956048"/>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Ship small and often. Smaller change means smaller blast radius and faster diagnosis when something breaks.</a:t>
            </a:r>
            <a:endParaRPr lang="en-US" sz="1150" dirty="0"/>
          </a:p>
        </p:txBody>
      </p:sp>
      <p:sp>
        <p:nvSpPr>
          <p:cNvPr id="30" name="Shape 28"/>
          <p:cNvSpPr/>
          <p:nvPr/>
        </p:nvSpPr>
        <p:spPr>
          <a:xfrm>
            <a:off x="8138160" y="4224528"/>
            <a:ext cx="3502152" cy="1664208"/>
          </a:xfrm>
          <a:prstGeom prst="roundRect">
            <a:avLst>
              <a:gd name="adj" fmla="val 3297"/>
            </a:avLst>
          </a:prstGeom>
          <a:solidFill>
            <a:srgbClr val="F4F7F9"/>
          </a:solidFill>
          <a:ln/>
        </p:spPr>
        <p:txBody>
          <a:bodyPr/>
          <a:lstStyle/>
          <a:p>
            <a:endParaRPr lang="en-IN"/>
          </a:p>
        </p:txBody>
      </p:sp>
      <p:sp>
        <p:nvSpPr>
          <p:cNvPr id="31" name="Shape 29"/>
          <p:cNvSpPr/>
          <p:nvPr/>
        </p:nvSpPr>
        <p:spPr>
          <a:xfrm>
            <a:off x="8394192" y="4480560"/>
            <a:ext cx="365760" cy="365760"/>
          </a:xfrm>
          <a:prstGeom prst="ellipse">
            <a:avLst/>
          </a:prstGeom>
          <a:solidFill>
            <a:srgbClr val="003352"/>
          </a:solidFill>
          <a:ln/>
        </p:spPr>
        <p:txBody>
          <a:bodyPr/>
          <a:lstStyle/>
          <a:p>
            <a:endParaRPr lang="en-IN"/>
          </a:p>
        </p:txBody>
      </p:sp>
      <p:sp>
        <p:nvSpPr>
          <p:cNvPr id="32" name="Text 30"/>
          <p:cNvSpPr/>
          <p:nvPr/>
        </p:nvSpPr>
        <p:spPr>
          <a:xfrm>
            <a:off x="8394192" y="44805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6</a:t>
            </a:r>
            <a:endParaRPr lang="en-US" sz="1200" dirty="0"/>
          </a:p>
        </p:txBody>
      </p:sp>
      <p:sp>
        <p:nvSpPr>
          <p:cNvPr id="33" name="Text 31"/>
          <p:cNvSpPr/>
          <p:nvPr/>
        </p:nvSpPr>
        <p:spPr>
          <a:xfrm>
            <a:off x="8887968" y="4462272"/>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Collective ownership</a:t>
            </a:r>
            <a:endParaRPr lang="en-US" sz="1450" dirty="0"/>
          </a:p>
        </p:txBody>
      </p:sp>
      <p:sp>
        <p:nvSpPr>
          <p:cNvPr id="34" name="Text 32"/>
          <p:cNvSpPr/>
          <p:nvPr/>
        </p:nvSpPr>
        <p:spPr>
          <a:xfrm>
            <a:off x="8394192" y="4956048"/>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Anyone may improve any code. Removes the single-expert bottleneck that stalls delivery when one person is on leave.</a:t>
            </a:r>
            <a:endParaRPr lang="en-US" sz="1150" dirty="0"/>
          </a:p>
        </p:txBody>
      </p:sp>
      <p:sp>
        <p:nvSpPr>
          <p:cNvPr id="35" name="Text 3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23</a:t>
            </a:r>
            <a:endParaRPr lang="en-US" sz="900" dirty="0"/>
          </a:p>
        </p:txBody>
      </p:sp>
      <p:sp>
        <p:nvSpPr>
          <p:cNvPr id="36" name="Text 3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3 · FRAMEWORKS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3 · FRAMEWORKS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Choosing: a practical guide</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Choose by the shape of the work and the problem you're trying to fix — never by what's fashionable.</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Planned feature delivery with a definable goal → Scrum</a:t>
            </a:r>
            <a:endParaRPr lang="en-US" sz="1550" dirty="0"/>
          </a:p>
        </p:txBody>
      </p:sp>
      <p:sp>
        <p:nvSpPr>
          <p:cNvPr id="8" name="Text 6"/>
          <p:cNvSpPr/>
          <p:nvPr/>
        </p:nvSpPr>
        <p:spPr>
          <a:xfrm>
            <a:off x="1170432" y="262432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New WinCloud modules, roadmap items, a customer-funded build. There is a goal worth protecting for two weeks.</a:t>
            </a:r>
            <a:endParaRPr lang="en-US" sz="1250" dirty="0"/>
          </a:p>
        </p:txBody>
      </p:sp>
      <p:sp>
        <p:nvSpPr>
          <p:cNvPr id="9" name="Shape 7"/>
          <p:cNvSpPr/>
          <p:nvPr/>
        </p:nvSpPr>
        <p:spPr>
          <a:xfrm>
            <a:off x="566928" y="3259836"/>
            <a:ext cx="402336" cy="402336"/>
          </a:xfrm>
          <a:prstGeom prst="ellipse">
            <a:avLst/>
          </a:prstGeom>
          <a:solidFill>
            <a:srgbClr val="63E7A4"/>
          </a:solidFill>
          <a:ln/>
        </p:spPr>
        <p:txBody>
          <a:bodyPr/>
          <a:lstStyle/>
          <a:p>
            <a:endParaRPr lang="en-IN"/>
          </a:p>
        </p:txBody>
      </p:sp>
      <p:sp>
        <p:nvSpPr>
          <p:cNvPr id="10" name="Text 8"/>
          <p:cNvSpPr/>
          <p:nvPr/>
        </p:nvSpPr>
        <p:spPr>
          <a:xfrm>
            <a:off x="566928" y="325983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20497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Interrupt-driven or unpredictable arrival → Kanban</a:t>
            </a:r>
            <a:endParaRPr lang="en-US" sz="1550" dirty="0"/>
          </a:p>
        </p:txBody>
      </p:sp>
      <p:sp>
        <p:nvSpPr>
          <p:cNvPr id="12" name="Text 10"/>
          <p:cNvSpPr/>
          <p:nvPr/>
        </p:nvSpPr>
        <p:spPr>
          <a:xfrm>
            <a:off x="1170432" y="351586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Support, escalations, production defects, small change requests. Optimise for cycle time, not for sprint commitment.</a:t>
            </a:r>
            <a:endParaRPr lang="en-US" sz="1250" dirty="0"/>
          </a:p>
        </p:txBody>
      </p:sp>
      <p:sp>
        <p:nvSpPr>
          <p:cNvPr id="13" name="Shape 11"/>
          <p:cNvSpPr/>
          <p:nvPr/>
        </p:nvSpPr>
        <p:spPr>
          <a:xfrm>
            <a:off x="566928" y="4151376"/>
            <a:ext cx="402336" cy="402336"/>
          </a:xfrm>
          <a:prstGeom prst="ellipse">
            <a:avLst/>
          </a:prstGeom>
          <a:solidFill>
            <a:srgbClr val="63E7A4"/>
          </a:solidFill>
          <a:ln/>
        </p:spPr>
        <p:txBody>
          <a:bodyPr/>
          <a:lstStyle/>
          <a:p>
            <a:endParaRPr lang="en-IN"/>
          </a:p>
        </p:txBody>
      </p:sp>
      <p:sp>
        <p:nvSpPr>
          <p:cNvPr id="14" name="Text 12"/>
          <p:cNvSpPr/>
          <p:nvPr/>
        </p:nvSpPr>
        <p:spPr>
          <a:xfrm>
            <a:off x="566928" y="415137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09651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Quality or change-cost problems → XP practices, on top of either</a:t>
            </a:r>
            <a:endParaRPr lang="en-US" sz="1550" dirty="0"/>
          </a:p>
        </p:txBody>
      </p:sp>
      <p:sp>
        <p:nvSpPr>
          <p:cNvPr id="16" name="Text 14"/>
          <p:cNvSpPr/>
          <p:nvPr/>
        </p:nvSpPr>
        <p:spPr>
          <a:xfrm>
            <a:off x="1170432" y="440740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If regression bugs, long stabilisation phases or fear of touching code are your symptoms, no amount of ceremony helps. Fix the engineering.</a:t>
            </a:r>
            <a:endParaRPr lang="en-US" sz="1250" dirty="0"/>
          </a:p>
        </p:txBody>
      </p:sp>
      <p:sp>
        <p:nvSpPr>
          <p:cNvPr id="17" name="Shape 15"/>
          <p:cNvSpPr/>
          <p:nvPr/>
        </p:nvSpPr>
        <p:spPr>
          <a:xfrm>
            <a:off x="566928" y="5042916"/>
            <a:ext cx="402336" cy="402336"/>
          </a:xfrm>
          <a:prstGeom prst="ellipse">
            <a:avLst/>
          </a:prstGeom>
          <a:solidFill>
            <a:srgbClr val="63E7A4"/>
          </a:solidFill>
          <a:ln/>
        </p:spPr>
        <p:txBody>
          <a:bodyPr/>
          <a:lstStyle/>
          <a:p>
            <a:endParaRPr lang="en-IN"/>
          </a:p>
        </p:txBody>
      </p:sp>
      <p:sp>
        <p:nvSpPr>
          <p:cNvPr id="18" name="Text 16"/>
          <p:cNvSpPr/>
          <p:nvPr/>
        </p:nvSpPr>
        <p:spPr>
          <a:xfrm>
            <a:off x="566928" y="50429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98805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Multiple teams on one product → start with dependencies, not a scaling framework</a:t>
            </a:r>
            <a:endParaRPr lang="en-US" sz="1550" dirty="0"/>
          </a:p>
        </p:txBody>
      </p:sp>
      <p:sp>
        <p:nvSpPr>
          <p:cNvPr id="20" name="Text 18"/>
          <p:cNvSpPr/>
          <p:nvPr/>
        </p:nvSpPr>
        <p:spPr>
          <a:xfrm>
            <a:off x="1170432" y="529894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The problem is almost never that you lack a scaling framework. It's that teams can't finish without waiting for each other. Section 9.</a:t>
            </a:r>
            <a:endParaRPr lang="en-US" sz="12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24</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3 · FRAMEWORKS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CASE STUDY 1</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5 min</a:t>
            </a:r>
            <a:endParaRPr lang="en-US" sz="1250" dirty="0"/>
          </a:p>
        </p:txBody>
      </p:sp>
      <p:sp>
        <p:nvSpPr>
          <p:cNvPr id="5" name="Text 3"/>
          <p:cNvSpPr/>
          <p:nvPr/>
        </p:nvSpPr>
        <p:spPr>
          <a:xfrm>
            <a:off x="548640" y="713232"/>
            <a:ext cx="9235440" cy="658368"/>
          </a:xfrm>
          <a:prstGeom prst="rect">
            <a:avLst/>
          </a:prstGeom>
          <a:noFill/>
          <a:ln/>
        </p:spPr>
        <p:txBody>
          <a:bodyPr wrap="square" lIns="0" tIns="0" rIns="0" bIns="0" rtlCol="0" anchor="t"/>
          <a:lstStyle/>
          <a:p>
            <a:pPr marL="0" indent="0">
              <a:buNone/>
            </a:pPr>
            <a:r>
              <a:rPr lang="en-US" sz="2800" b="1" dirty="0">
                <a:solidFill>
                  <a:srgbClr val="003352"/>
                </a:solidFill>
                <a:latin typeface="Century Gothic" pitchFamily="34" charset="0"/>
                <a:ea typeface="Century Gothic" pitchFamily="34" charset="-122"/>
                <a:cs typeface="Century Gothic" pitchFamily="34" charset="-120"/>
              </a:rPr>
              <a:t>A hospitality software vendor changes gear</a:t>
            </a:r>
            <a:endParaRPr lang="en-US" sz="2800" dirty="0"/>
          </a:p>
        </p:txBody>
      </p:sp>
      <p:sp>
        <p:nvSpPr>
          <p:cNvPr id="6" name="Shape 4"/>
          <p:cNvSpPr/>
          <p:nvPr/>
        </p:nvSpPr>
        <p:spPr>
          <a:xfrm>
            <a:off x="548640" y="1481328"/>
            <a:ext cx="6720840" cy="4315968"/>
          </a:xfrm>
          <a:prstGeom prst="roundRect">
            <a:avLst>
              <a:gd name="adj" fmla="val 1271"/>
            </a:avLst>
          </a:prstGeom>
          <a:solidFill>
            <a:srgbClr val="FFFFFF"/>
          </a:solidFill>
          <a:ln/>
        </p:spPr>
        <p:txBody>
          <a:bodyPr/>
          <a:lstStyle/>
          <a:p>
            <a:endParaRPr lang="en-IN"/>
          </a:p>
        </p:txBody>
      </p:sp>
      <p:sp>
        <p:nvSpPr>
          <p:cNvPr id="7" name="Text 5"/>
          <p:cNvSpPr/>
          <p:nvPr/>
        </p:nvSpPr>
        <p:spPr>
          <a:xfrm>
            <a:off x="868680" y="1664208"/>
            <a:ext cx="6080760" cy="274320"/>
          </a:xfrm>
          <a:prstGeom prst="rect">
            <a:avLst/>
          </a:prstGeom>
          <a:noFill/>
          <a:ln/>
        </p:spPr>
        <p:txBody>
          <a:bodyPr wrap="square" lIns="0" tIns="0" rIns="0" bIns="0" rtlCol="0" anchor="ctr"/>
          <a:lstStyle/>
          <a:p>
            <a:pPr marL="0" indent="0">
              <a:buNone/>
            </a:pPr>
            <a:r>
              <a:rPr lang="en-US" sz="1100" b="1" kern="0" spc="150" dirty="0">
                <a:solidFill>
                  <a:srgbClr val="7A8C99"/>
                </a:solidFill>
                <a:latin typeface="Century Gothic" pitchFamily="34" charset="0"/>
                <a:ea typeface="Century Gothic" pitchFamily="34" charset="-122"/>
                <a:cs typeface="Century Gothic" pitchFamily="34" charset="-120"/>
              </a:rPr>
              <a:t>The scenario</a:t>
            </a:r>
            <a:endParaRPr lang="en-US" sz="1100" dirty="0"/>
          </a:p>
        </p:txBody>
      </p:sp>
      <p:sp>
        <p:nvSpPr>
          <p:cNvPr id="8" name="Text 6"/>
          <p:cNvSpPr/>
          <p:nvPr/>
        </p:nvSpPr>
        <p:spPr>
          <a:xfrm>
            <a:off x="868680" y="1993392"/>
            <a:ext cx="6080760" cy="3602736"/>
          </a:xfrm>
          <a:prstGeom prst="rect">
            <a:avLst/>
          </a:prstGeom>
          <a:noFill/>
          <a:ln/>
        </p:spPr>
        <p:txBody>
          <a:bodyPr wrap="square" lIns="0" tIns="0" rIns="0" bIns="0" rtlCol="0" anchor="t"/>
          <a:lstStyle/>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A mid-sized PMS vendor — roughly our size — shipped two major releases a year. Each was preceded by a six-week stabilisation phase. Customers waited months for small changes, and the release weekend needed everyone on call.</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Over eighteen months they moved to monthly releases. What they changed, in order:</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Automated the regression suite before changing any process</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Split one 40-person delivery group into six product-aligned teams</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Put a named Product Owner on each team, with real decision authority</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Moved support and escalations to a separate Kanban team with WIP limits</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Introduced a shared Definition of Done that included 'deployed to staging'</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Outcome: releases monthly, stabilisation phase gone, escaped defects down by roughly half.</a:t>
            </a:r>
            <a:endParaRPr lang="en-US" sz="1150" dirty="0"/>
          </a:p>
        </p:txBody>
      </p:sp>
      <p:sp>
        <p:nvSpPr>
          <p:cNvPr id="9" name="Shape 7"/>
          <p:cNvSpPr/>
          <p:nvPr/>
        </p:nvSpPr>
        <p:spPr>
          <a:xfrm>
            <a:off x="7498080" y="1481328"/>
            <a:ext cx="4142232" cy="4315968"/>
          </a:xfrm>
          <a:prstGeom prst="roundRect">
            <a:avLst>
              <a:gd name="adj" fmla="val 1325"/>
            </a:avLst>
          </a:prstGeom>
          <a:solidFill>
            <a:srgbClr val="003352"/>
          </a:solidFill>
          <a:ln/>
        </p:spPr>
        <p:txBody>
          <a:bodyPr/>
          <a:lstStyle/>
          <a:p>
            <a:endParaRPr lang="en-IN"/>
          </a:p>
        </p:txBody>
      </p:sp>
      <p:sp>
        <p:nvSpPr>
          <p:cNvPr id="10" name="Text 8"/>
          <p:cNvSpPr/>
          <p:nvPr/>
        </p:nvSpPr>
        <p:spPr>
          <a:xfrm>
            <a:off x="7818120" y="1664208"/>
            <a:ext cx="3502152" cy="274320"/>
          </a:xfrm>
          <a:prstGeom prst="rect">
            <a:avLst/>
          </a:prstGeom>
          <a:noFill/>
          <a:ln/>
        </p:spPr>
        <p:txBody>
          <a:bodyPr wrap="square" lIns="0" tIns="0" rIns="0" bIns="0" rtlCol="0" anchor="ctr"/>
          <a:lstStyle/>
          <a:p>
            <a:pPr marL="0" indent="0">
              <a:buNone/>
            </a:pPr>
            <a:r>
              <a:rPr lang="en-US" sz="1100" b="1" kern="0" spc="150" dirty="0">
                <a:solidFill>
                  <a:srgbClr val="63E7A4"/>
                </a:solidFill>
                <a:latin typeface="Century Gothic" pitchFamily="34" charset="0"/>
                <a:ea typeface="Century Gothic" pitchFamily="34" charset="-122"/>
                <a:cs typeface="Century Gothic" pitchFamily="34" charset="-120"/>
              </a:rPr>
              <a:t>Discuss at your table</a:t>
            </a:r>
            <a:endParaRPr lang="en-US" sz="1100" dirty="0"/>
          </a:p>
        </p:txBody>
      </p:sp>
      <p:sp>
        <p:nvSpPr>
          <p:cNvPr id="11" name="Text 9"/>
          <p:cNvSpPr/>
          <p:nvPr/>
        </p:nvSpPr>
        <p:spPr>
          <a:xfrm>
            <a:off x="7818120" y="1993392"/>
            <a:ext cx="3502152" cy="3602736"/>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Why did they automate tests BEFORE changing the process?</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What would have happened if they'd started with the reorg instead?</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Which of these five moves is hardest at Tech, and why?</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Which one could we start within a month?</a:t>
            </a:r>
            <a:endParaRPr lang="en-US" sz="1150" dirty="0"/>
          </a:p>
        </p:txBody>
      </p:sp>
      <p:sp>
        <p:nvSpPr>
          <p:cNvPr id="12" name="Text 10"/>
          <p:cNvSpPr/>
          <p:nvPr/>
        </p:nvSpPr>
        <p:spPr>
          <a:xfrm>
            <a:off x="548640" y="5907024"/>
            <a:ext cx="11091672" cy="347472"/>
          </a:xfrm>
          <a:prstGeom prst="rect">
            <a:avLst/>
          </a:prstGeom>
          <a:noFill/>
          <a:ln/>
        </p:spPr>
        <p:txBody>
          <a:bodyPr wrap="square" lIns="0" tIns="0" rIns="0" bIns="0" rtlCol="0" anchor="t"/>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Tables of 4–5 · 3 min discussion · 2 min shared debrief · Nominate one speaker per table before you start</a:t>
            </a:r>
            <a:endParaRPr lang="en-US" sz="1150" dirty="0"/>
          </a:p>
        </p:txBody>
      </p:sp>
      <p:sp>
        <p:nvSpPr>
          <p:cNvPr id="13" name="Text 11"/>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25</a:t>
            </a:r>
            <a:endParaRPr lang="en-US" sz="900" dirty="0"/>
          </a:p>
        </p:txBody>
      </p:sp>
      <p:sp>
        <p:nvSpPr>
          <p:cNvPr id="14" name="Text 12"/>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CASE STUDY 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CASE STUDY 1 · DEBRIEF</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What this case is really teaching</a:t>
            </a:r>
            <a:endParaRPr lang="en-US" sz="3000" dirty="0"/>
          </a:p>
        </p:txBody>
      </p:sp>
      <p:sp>
        <p:nvSpPr>
          <p:cNvPr id="4" name="Shape 2"/>
          <p:cNvSpPr/>
          <p:nvPr/>
        </p:nvSpPr>
        <p:spPr>
          <a:xfrm>
            <a:off x="566928" y="1911096"/>
            <a:ext cx="402336" cy="402336"/>
          </a:xfrm>
          <a:prstGeom prst="ellipse">
            <a:avLst/>
          </a:prstGeom>
          <a:solidFill>
            <a:srgbClr val="63E7A4"/>
          </a:solidFill>
          <a:ln/>
        </p:spPr>
        <p:txBody>
          <a:bodyPr/>
          <a:lstStyle/>
          <a:p>
            <a:endParaRPr lang="en-IN"/>
          </a:p>
        </p:txBody>
      </p:sp>
      <p:sp>
        <p:nvSpPr>
          <p:cNvPr id="5" name="Text 3"/>
          <p:cNvSpPr/>
          <p:nvPr/>
        </p:nvSpPr>
        <p:spPr>
          <a:xfrm>
            <a:off x="566928" y="19110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6" name="Text 4"/>
          <p:cNvSpPr/>
          <p:nvPr/>
        </p:nvSpPr>
        <p:spPr>
          <a:xfrm>
            <a:off x="1170432" y="1856232"/>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Sequence matters more than choice of framework</a:t>
            </a:r>
            <a:endParaRPr lang="en-US" sz="1450" dirty="0"/>
          </a:p>
        </p:txBody>
      </p:sp>
      <p:sp>
        <p:nvSpPr>
          <p:cNvPr id="7" name="Text 5"/>
          <p:cNvSpPr/>
          <p:nvPr/>
        </p:nvSpPr>
        <p:spPr>
          <a:xfrm>
            <a:off x="1170432" y="2148840"/>
            <a:ext cx="10241280" cy="454914"/>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They could have done this with Scrum, Kanban or neither. The order — capability first, structure second — is what made it work.</a:t>
            </a:r>
            <a:endParaRPr lang="en-US" sz="1200" dirty="0"/>
          </a:p>
        </p:txBody>
      </p:sp>
      <p:sp>
        <p:nvSpPr>
          <p:cNvPr id="8" name="Shape 6"/>
          <p:cNvSpPr/>
          <p:nvPr/>
        </p:nvSpPr>
        <p:spPr>
          <a:xfrm>
            <a:off x="566928" y="2795778"/>
            <a:ext cx="402336" cy="402336"/>
          </a:xfrm>
          <a:prstGeom prst="ellipse">
            <a:avLst/>
          </a:prstGeom>
          <a:solidFill>
            <a:srgbClr val="63E7A4"/>
          </a:solidFill>
          <a:ln/>
        </p:spPr>
        <p:txBody>
          <a:bodyPr/>
          <a:lstStyle/>
          <a:p>
            <a:endParaRPr lang="en-IN"/>
          </a:p>
        </p:txBody>
      </p:sp>
      <p:sp>
        <p:nvSpPr>
          <p:cNvPr id="9" name="Text 7"/>
          <p:cNvSpPr/>
          <p:nvPr/>
        </p:nvSpPr>
        <p:spPr>
          <a:xfrm>
            <a:off x="566928" y="279577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0" name="Text 8"/>
          <p:cNvSpPr/>
          <p:nvPr/>
        </p:nvSpPr>
        <p:spPr>
          <a:xfrm>
            <a:off x="1170432" y="2740914"/>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Engineering capability is the rate limiter</a:t>
            </a:r>
            <a:endParaRPr lang="en-US" sz="1450" dirty="0"/>
          </a:p>
        </p:txBody>
      </p:sp>
      <p:sp>
        <p:nvSpPr>
          <p:cNvPr id="11" name="Text 9"/>
          <p:cNvSpPr/>
          <p:nvPr/>
        </p:nvSpPr>
        <p:spPr>
          <a:xfrm>
            <a:off x="1170432" y="3033522"/>
            <a:ext cx="10241280" cy="454914"/>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You cannot release monthly if verifying a release takes six weeks. No process change removes that constraint; only automation does.</a:t>
            </a:r>
            <a:endParaRPr lang="en-US" sz="1200" dirty="0"/>
          </a:p>
        </p:txBody>
      </p:sp>
      <p:sp>
        <p:nvSpPr>
          <p:cNvPr id="12" name="Shape 10"/>
          <p:cNvSpPr/>
          <p:nvPr/>
        </p:nvSpPr>
        <p:spPr>
          <a:xfrm>
            <a:off x="566928" y="3680460"/>
            <a:ext cx="402336" cy="402336"/>
          </a:xfrm>
          <a:prstGeom prst="ellipse">
            <a:avLst/>
          </a:prstGeom>
          <a:solidFill>
            <a:srgbClr val="63E7A4"/>
          </a:solidFill>
          <a:ln/>
        </p:spPr>
        <p:txBody>
          <a:bodyPr/>
          <a:lstStyle/>
          <a:p>
            <a:endParaRPr lang="en-IN"/>
          </a:p>
        </p:txBody>
      </p:sp>
      <p:sp>
        <p:nvSpPr>
          <p:cNvPr id="13" name="Text 11"/>
          <p:cNvSpPr/>
          <p:nvPr/>
        </p:nvSpPr>
        <p:spPr>
          <a:xfrm>
            <a:off x="566928" y="368046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4" name="Text 12"/>
          <p:cNvSpPr/>
          <p:nvPr/>
        </p:nvSpPr>
        <p:spPr>
          <a:xfrm>
            <a:off x="1170432" y="3625596"/>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Separating the interrupt work protected the planned work</a:t>
            </a:r>
            <a:endParaRPr lang="en-US" sz="1450" dirty="0"/>
          </a:p>
        </p:txBody>
      </p:sp>
      <p:sp>
        <p:nvSpPr>
          <p:cNvPr id="15" name="Text 13"/>
          <p:cNvSpPr/>
          <p:nvPr/>
        </p:nvSpPr>
        <p:spPr>
          <a:xfrm>
            <a:off x="1170432" y="3918204"/>
            <a:ext cx="10241280" cy="454914"/>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Moving escalations to their own Kanban team is what let the feature teams keep a sprint goal that survived contact with reality.</a:t>
            </a:r>
            <a:endParaRPr lang="en-US" sz="1200" dirty="0"/>
          </a:p>
        </p:txBody>
      </p:sp>
      <p:sp>
        <p:nvSpPr>
          <p:cNvPr id="16" name="Shape 14"/>
          <p:cNvSpPr/>
          <p:nvPr/>
        </p:nvSpPr>
        <p:spPr>
          <a:xfrm>
            <a:off x="566928" y="4565142"/>
            <a:ext cx="402336" cy="402336"/>
          </a:xfrm>
          <a:prstGeom prst="ellipse">
            <a:avLst/>
          </a:prstGeom>
          <a:solidFill>
            <a:srgbClr val="63E7A4"/>
          </a:solidFill>
          <a:ln/>
        </p:spPr>
        <p:txBody>
          <a:bodyPr/>
          <a:lstStyle/>
          <a:p>
            <a:endParaRPr lang="en-IN"/>
          </a:p>
        </p:txBody>
      </p:sp>
      <p:sp>
        <p:nvSpPr>
          <p:cNvPr id="17" name="Text 15"/>
          <p:cNvSpPr/>
          <p:nvPr/>
        </p:nvSpPr>
        <p:spPr>
          <a:xfrm>
            <a:off x="566928" y="456514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8" name="Text 16"/>
          <p:cNvSpPr/>
          <p:nvPr/>
        </p:nvSpPr>
        <p:spPr>
          <a:xfrm>
            <a:off x="1170432" y="4510278"/>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Product Owner authority was the political cost</a:t>
            </a:r>
            <a:endParaRPr lang="en-US" sz="1450" dirty="0"/>
          </a:p>
        </p:txBody>
      </p:sp>
      <p:sp>
        <p:nvSpPr>
          <p:cNvPr id="19" name="Text 17"/>
          <p:cNvSpPr/>
          <p:nvPr/>
        </p:nvSpPr>
        <p:spPr>
          <a:xfrm>
            <a:off x="1170432" y="4802886"/>
            <a:ext cx="10241280" cy="454914"/>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Every transformation has one. Here it was leadership giving up the ability to inject work directly into teams. That is the hard part, and it isn't technical.</a:t>
            </a:r>
            <a:endParaRPr lang="en-US" sz="1200" dirty="0"/>
          </a:p>
        </p:txBody>
      </p:sp>
      <p:sp>
        <p:nvSpPr>
          <p:cNvPr id="20" name="Shape 18"/>
          <p:cNvSpPr/>
          <p:nvPr/>
        </p:nvSpPr>
        <p:spPr>
          <a:xfrm>
            <a:off x="548640" y="5504688"/>
            <a:ext cx="11091672" cy="621792"/>
          </a:xfrm>
          <a:prstGeom prst="roundRect">
            <a:avLst>
              <a:gd name="adj" fmla="val 8824"/>
            </a:avLst>
          </a:prstGeom>
          <a:solidFill>
            <a:srgbClr val="EAF9F1"/>
          </a:solidFill>
          <a:ln/>
        </p:spPr>
        <p:txBody>
          <a:bodyPr/>
          <a:lstStyle/>
          <a:p>
            <a:endParaRPr lang="en-IN"/>
          </a:p>
        </p:txBody>
      </p:sp>
      <p:sp>
        <p:nvSpPr>
          <p:cNvPr id="21" name="Text 19"/>
          <p:cNvSpPr/>
          <p:nvPr/>
        </p:nvSpPr>
        <p:spPr>
          <a:xfrm>
            <a:off x="868680" y="5504688"/>
            <a:ext cx="10451592" cy="621792"/>
          </a:xfrm>
          <a:prstGeom prst="rect">
            <a:avLst/>
          </a:prstGeom>
          <a:noFill/>
          <a:ln/>
        </p:spPr>
        <p:txBody>
          <a:bodyPr wrap="square" lIns="0" tIns="0" rIns="0" bIns="0" rtlCol="0" anchor="ctr"/>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Eighteen months. Not a quarter. Be suspicious of anyone promising a transformation by Christmas.</a:t>
            </a:r>
            <a:endParaRPr lang="en-US" sz="1300" dirty="0"/>
          </a:p>
        </p:txBody>
      </p:sp>
      <p:sp>
        <p:nvSpPr>
          <p:cNvPr id="22" name="Text 2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26</a:t>
            </a:r>
            <a:endParaRPr lang="en-US" sz="900" dirty="0"/>
          </a:p>
        </p:txBody>
      </p:sp>
      <p:sp>
        <p:nvSpPr>
          <p:cNvPr id="23" name="Text 2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CASE STUDY 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04</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Scrum Fundamentals</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Three accountabilities, five events, three artifacts — and the confusions that cause most Scrum failures.</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12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16–20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4 · SCRUM</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Three accountabilities</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 2020 Scrum Guide calls these accountabilities, not roles — they describe what someone is answerable for, not a job title.</a:t>
            </a:r>
            <a:endParaRPr lang="en-US" sz="1450" dirty="0"/>
          </a:p>
        </p:txBody>
      </p:sp>
      <p:sp>
        <p:nvSpPr>
          <p:cNvPr id="5" name="Shape 3"/>
          <p:cNvSpPr/>
          <p:nvPr/>
        </p:nvSpPr>
        <p:spPr>
          <a:xfrm>
            <a:off x="548640" y="2286000"/>
            <a:ext cx="3502152" cy="3246120"/>
          </a:xfrm>
          <a:prstGeom prst="roundRect">
            <a:avLst>
              <a:gd name="adj" fmla="val 1690"/>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Product Owner</a:t>
            </a:r>
            <a:endParaRPr lang="en-US" sz="1450" dirty="0"/>
          </a:p>
        </p:txBody>
      </p:sp>
      <p:sp>
        <p:nvSpPr>
          <p:cNvPr id="9" name="Text 7"/>
          <p:cNvSpPr/>
          <p:nvPr/>
        </p:nvSpPr>
        <p:spPr>
          <a:xfrm>
            <a:off x="804672" y="3017520"/>
            <a:ext cx="2990088" cy="22219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Accountable for maximising the value of the product. Owns the Product Backlog — its content, its ordering, and that it is understood.</a:t>
            </a:r>
            <a:endParaRPr lang="en-US" sz="1150" dirty="0"/>
          </a:p>
          <a:p>
            <a:pPr marL="0" indent="0">
              <a:lnSpc>
                <a:spcPct val="122000"/>
              </a:lnSpc>
              <a:buNone/>
            </a:pPr>
            <a:endParaRPr lang="en-US" sz="1150" dirty="0"/>
          </a:p>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One person, not a committee. Their ordering decisions must be respected for the team to work.</a:t>
            </a:r>
            <a:endParaRPr lang="en-US" sz="1150" dirty="0"/>
          </a:p>
        </p:txBody>
      </p:sp>
      <p:sp>
        <p:nvSpPr>
          <p:cNvPr id="10" name="Shape 8"/>
          <p:cNvSpPr/>
          <p:nvPr/>
        </p:nvSpPr>
        <p:spPr>
          <a:xfrm>
            <a:off x="4343400" y="2286000"/>
            <a:ext cx="3502152" cy="3246120"/>
          </a:xfrm>
          <a:prstGeom prst="roundRect">
            <a:avLst>
              <a:gd name="adj" fmla="val 1690"/>
            </a:avLst>
          </a:prstGeom>
          <a:solidFill>
            <a:srgbClr val="F4F7F9"/>
          </a:solidFill>
          <a:ln/>
        </p:spPr>
        <p:txBody>
          <a:bodyPr/>
          <a:lstStyle/>
          <a:p>
            <a:endParaRPr lang="en-IN"/>
          </a:p>
        </p:txBody>
      </p:sp>
      <p:sp>
        <p:nvSpPr>
          <p:cNvPr id="11" name="Shape 9"/>
          <p:cNvSpPr/>
          <p:nvPr/>
        </p:nvSpPr>
        <p:spPr>
          <a:xfrm>
            <a:off x="4599432" y="2542032"/>
            <a:ext cx="365760" cy="365760"/>
          </a:xfrm>
          <a:prstGeom prst="ellipse">
            <a:avLst/>
          </a:prstGeom>
          <a:solidFill>
            <a:srgbClr val="003352"/>
          </a:solidFill>
          <a:ln/>
        </p:spPr>
        <p:txBody>
          <a:bodyPr/>
          <a:lstStyle/>
          <a:p>
            <a:endParaRPr lang="en-IN"/>
          </a:p>
        </p:txBody>
      </p:sp>
      <p:sp>
        <p:nvSpPr>
          <p:cNvPr id="12" name="Text 10"/>
          <p:cNvSpPr/>
          <p:nvPr/>
        </p:nvSpPr>
        <p:spPr>
          <a:xfrm>
            <a:off x="459943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509320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Scrum Master</a:t>
            </a:r>
            <a:endParaRPr lang="en-US" sz="1450" dirty="0"/>
          </a:p>
        </p:txBody>
      </p:sp>
      <p:sp>
        <p:nvSpPr>
          <p:cNvPr id="14" name="Text 12"/>
          <p:cNvSpPr/>
          <p:nvPr/>
        </p:nvSpPr>
        <p:spPr>
          <a:xfrm>
            <a:off x="4599432" y="3017520"/>
            <a:ext cx="2990088" cy="22219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Accountable for the team's effectiveness. Coaches self-management, removes impediments, and protects the team from disruption.</a:t>
            </a:r>
            <a:endParaRPr lang="en-US" sz="1150" dirty="0"/>
          </a:p>
          <a:p>
            <a:pPr marL="0" indent="0">
              <a:lnSpc>
                <a:spcPct val="122000"/>
              </a:lnSpc>
              <a:buNone/>
            </a:pPr>
            <a:endParaRPr lang="en-US" sz="1150" dirty="0"/>
          </a:p>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 leader who serves. Not a task assigner, not a status reporter.</a:t>
            </a:r>
            <a:endParaRPr lang="en-US" sz="1150" dirty="0"/>
          </a:p>
        </p:txBody>
      </p:sp>
      <p:sp>
        <p:nvSpPr>
          <p:cNvPr id="15" name="Shape 13"/>
          <p:cNvSpPr/>
          <p:nvPr/>
        </p:nvSpPr>
        <p:spPr>
          <a:xfrm>
            <a:off x="8138160" y="2286000"/>
            <a:ext cx="3502152" cy="3246120"/>
          </a:xfrm>
          <a:prstGeom prst="roundRect">
            <a:avLst>
              <a:gd name="adj" fmla="val 1690"/>
            </a:avLst>
          </a:prstGeom>
          <a:solidFill>
            <a:srgbClr val="F4F7F9"/>
          </a:solidFill>
          <a:ln/>
        </p:spPr>
        <p:txBody>
          <a:bodyPr/>
          <a:lstStyle/>
          <a:p>
            <a:endParaRPr lang="en-IN"/>
          </a:p>
        </p:txBody>
      </p:sp>
      <p:sp>
        <p:nvSpPr>
          <p:cNvPr id="16" name="Shape 14"/>
          <p:cNvSpPr/>
          <p:nvPr/>
        </p:nvSpPr>
        <p:spPr>
          <a:xfrm>
            <a:off x="8394192" y="2542032"/>
            <a:ext cx="365760" cy="365760"/>
          </a:xfrm>
          <a:prstGeom prst="ellipse">
            <a:avLst/>
          </a:prstGeom>
          <a:solidFill>
            <a:srgbClr val="003352"/>
          </a:solidFill>
          <a:ln/>
        </p:spPr>
        <p:txBody>
          <a:bodyPr/>
          <a:lstStyle/>
          <a:p>
            <a:endParaRPr lang="en-IN"/>
          </a:p>
        </p:txBody>
      </p:sp>
      <p:sp>
        <p:nvSpPr>
          <p:cNvPr id="17" name="Text 15"/>
          <p:cNvSpPr/>
          <p:nvPr/>
        </p:nvSpPr>
        <p:spPr>
          <a:xfrm>
            <a:off x="839419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888796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Developers</a:t>
            </a:r>
            <a:endParaRPr lang="en-US" sz="1450" dirty="0"/>
          </a:p>
        </p:txBody>
      </p:sp>
      <p:sp>
        <p:nvSpPr>
          <p:cNvPr id="19" name="Text 17"/>
          <p:cNvSpPr/>
          <p:nvPr/>
        </p:nvSpPr>
        <p:spPr>
          <a:xfrm>
            <a:off x="8394192" y="3017520"/>
            <a:ext cx="2990088" cy="22219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Everyone building the increment — engineers, QA, designers, analysts. Accountable for the Sprint Backlog, quality, and daily re-planning.</a:t>
            </a:r>
            <a:endParaRPr lang="en-US" sz="1150" dirty="0"/>
          </a:p>
          <a:p>
            <a:pPr marL="0" indent="0">
              <a:lnSpc>
                <a:spcPct val="122000"/>
              </a:lnSpc>
              <a:buNone/>
            </a:pPr>
            <a:endParaRPr lang="en-US" sz="1150" dirty="0"/>
          </a:p>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Cross-functional: between them they hold every skill needed to reach Done.</a:t>
            </a:r>
            <a:endParaRPr lang="en-US" sz="1150" dirty="0"/>
          </a:p>
        </p:txBody>
      </p:sp>
      <p:sp>
        <p:nvSpPr>
          <p:cNvPr id="20" name="Text 18"/>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28</a:t>
            </a:r>
            <a:endParaRPr lang="en-US" sz="900" dirty="0"/>
          </a:p>
        </p:txBody>
      </p:sp>
      <p:sp>
        <p:nvSpPr>
          <p:cNvPr id="21" name="Text 19"/>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4 · SCRUM</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4 · SCRUM</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Five events</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 Sprint is a container. The other four are formal opportunities to inspect and adapt. Timeboxes shown for a two-week sprint.</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The Sprint · fixed length, 1–4 weeks</a:t>
            </a:r>
            <a:endParaRPr lang="en-US" sz="1550" dirty="0"/>
          </a:p>
        </p:txBody>
      </p:sp>
      <p:sp>
        <p:nvSpPr>
          <p:cNvPr id="8" name="Text 6"/>
          <p:cNvSpPr/>
          <p:nvPr/>
        </p:nvSpPr>
        <p:spPr>
          <a:xfrm>
            <a:off x="1170432" y="2624328"/>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The container for everything else. Consistent length makes forecasting possible.</a:t>
            </a:r>
            <a:endParaRPr lang="en-US" sz="1150" dirty="0"/>
          </a:p>
        </p:txBody>
      </p:sp>
      <p:sp>
        <p:nvSpPr>
          <p:cNvPr id="9" name="Shape 7"/>
          <p:cNvSpPr/>
          <p:nvPr/>
        </p:nvSpPr>
        <p:spPr>
          <a:xfrm>
            <a:off x="566928" y="3081528"/>
            <a:ext cx="402336" cy="402336"/>
          </a:xfrm>
          <a:prstGeom prst="ellipse">
            <a:avLst/>
          </a:prstGeom>
          <a:solidFill>
            <a:srgbClr val="63E7A4"/>
          </a:solidFill>
          <a:ln/>
        </p:spPr>
        <p:txBody>
          <a:bodyPr/>
          <a:lstStyle/>
          <a:p>
            <a:endParaRPr lang="en-IN"/>
          </a:p>
        </p:txBody>
      </p:sp>
      <p:sp>
        <p:nvSpPr>
          <p:cNvPr id="10" name="Text 8"/>
          <p:cNvSpPr/>
          <p:nvPr/>
        </p:nvSpPr>
        <p:spPr>
          <a:xfrm>
            <a:off x="566928" y="308152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026664"/>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Sprint Planning · max 4 hours</a:t>
            </a:r>
            <a:endParaRPr lang="en-US" sz="1550" dirty="0"/>
          </a:p>
        </p:txBody>
      </p:sp>
      <p:sp>
        <p:nvSpPr>
          <p:cNvPr id="12" name="Text 10"/>
          <p:cNvSpPr/>
          <p:nvPr/>
        </p:nvSpPr>
        <p:spPr>
          <a:xfrm>
            <a:off x="1170432" y="3337560"/>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Three topics: why this sprint is valuable, what can be done, and how.</a:t>
            </a:r>
            <a:endParaRPr lang="en-US" sz="1150" dirty="0"/>
          </a:p>
        </p:txBody>
      </p:sp>
      <p:sp>
        <p:nvSpPr>
          <p:cNvPr id="13" name="Shape 11"/>
          <p:cNvSpPr/>
          <p:nvPr/>
        </p:nvSpPr>
        <p:spPr>
          <a:xfrm>
            <a:off x="566928" y="3794760"/>
            <a:ext cx="402336" cy="402336"/>
          </a:xfrm>
          <a:prstGeom prst="ellipse">
            <a:avLst/>
          </a:prstGeom>
          <a:solidFill>
            <a:srgbClr val="63E7A4"/>
          </a:solidFill>
          <a:ln/>
        </p:spPr>
        <p:txBody>
          <a:bodyPr/>
          <a:lstStyle/>
          <a:p>
            <a:endParaRPr lang="en-IN"/>
          </a:p>
        </p:txBody>
      </p:sp>
      <p:sp>
        <p:nvSpPr>
          <p:cNvPr id="14" name="Text 12"/>
          <p:cNvSpPr/>
          <p:nvPr/>
        </p:nvSpPr>
        <p:spPr>
          <a:xfrm>
            <a:off x="566928" y="379476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3739896"/>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Daily Scrum · 15 minutes</a:t>
            </a:r>
            <a:endParaRPr lang="en-US" sz="1550" dirty="0"/>
          </a:p>
        </p:txBody>
      </p:sp>
      <p:sp>
        <p:nvSpPr>
          <p:cNvPr id="16" name="Text 14"/>
          <p:cNvSpPr/>
          <p:nvPr/>
        </p:nvSpPr>
        <p:spPr>
          <a:xfrm>
            <a:off x="1170432" y="4050792"/>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For the Developers, by the Developers. Re-plan the next 24 hours toward the goal.</a:t>
            </a:r>
            <a:endParaRPr lang="en-US" sz="1150" dirty="0"/>
          </a:p>
        </p:txBody>
      </p:sp>
      <p:sp>
        <p:nvSpPr>
          <p:cNvPr id="17" name="Shape 15"/>
          <p:cNvSpPr/>
          <p:nvPr/>
        </p:nvSpPr>
        <p:spPr>
          <a:xfrm>
            <a:off x="566928" y="4507992"/>
            <a:ext cx="402336" cy="402336"/>
          </a:xfrm>
          <a:prstGeom prst="ellipse">
            <a:avLst/>
          </a:prstGeom>
          <a:solidFill>
            <a:srgbClr val="63E7A4"/>
          </a:solidFill>
          <a:ln/>
        </p:spPr>
        <p:txBody>
          <a:bodyPr/>
          <a:lstStyle/>
          <a:p>
            <a:endParaRPr lang="en-IN"/>
          </a:p>
        </p:txBody>
      </p:sp>
      <p:sp>
        <p:nvSpPr>
          <p:cNvPr id="18" name="Text 16"/>
          <p:cNvSpPr/>
          <p:nvPr/>
        </p:nvSpPr>
        <p:spPr>
          <a:xfrm>
            <a:off x="566928" y="450799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453128"/>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Sprint Review · max 2 hours</a:t>
            </a:r>
            <a:endParaRPr lang="en-US" sz="1550" dirty="0"/>
          </a:p>
        </p:txBody>
      </p:sp>
      <p:sp>
        <p:nvSpPr>
          <p:cNvPr id="20" name="Text 18"/>
          <p:cNvSpPr/>
          <p:nvPr/>
        </p:nvSpPr>
        <p:spPr>
          <a:xfrm>
            <a:off x="1170432" y="4764024"/>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Inspect the increment with stakeholders and adapt the backlog. A working session.</a:t>
            </a:r>
            <a:endParaRPr lang="en-US" sz="1150" dirty="0"/>
          </a:p>
        </p:txBody>
      </p:sp>
      <p:sp>
        <p:nvSpPr>
          <p:cNvPr id="21" name="Shape 19"/>
          <p:cNvSpPr/>
          <p:nvPr/>
        </p:nvSpPr>
        <p:spPr>
          <a:xfrm>
            <a:off x="566928" y="5221224"/>
            <a:ext cx="402336" cy="402336"/>
          </a:xfrm>
          <a:prstGeom prst="ellipse">
            <a:avLst/>
          </a:prstGeom>
          <a:solidFill>
            <a:srgbClr val="63E7A4"/>
          </a:solidFill>
          <a:ln/>
        </p:spPr>
        <p:txBody>
          <a:bodyPr/>
          <a:lstStyle/>
          <a:p>
            <a:endParaRPr lang="en-IN"/>
          </a:p>
        </p:txBody>
      </p:sp>
      <p:sp>
        <p:nvSpPr>
          <p:cNvPr id="22" name="Text 20"/>
          <p:cNvSpPr/>
          <p:nvPr/>
        </p:nvSpPr>
        <p:spPr>
          <a:xfrm>
            <a:off x="566928" y="522122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23" name="Text 21"/>
          <p:cNvSpPr/>
          <p:nvPr/>
        </p:nvSpPr>
        <p:spPr>
          <a:xfrm>
            <a:off x="1170432" y="5166360"/>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Sprint Retrospective · max 90 minutes</a:t>
            </a:r>
            <a:endParaRPr lang="en-US" sz="1550" dirty="0"/>
          </a:p>
        </p:txBody>
      </p:sp>
      <p:sp>
        <p:nvSpPr>
          <p:cNvPr id="24" name="Text 22"/>
          <p:cNvSpPr/>
          <p:nvPr/>
        </p:nvSpPr>
        <p:spPr>
          <a:xfrm>
            <a:off x="1170432" y="5477256"/>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Inspect how the team works, then commit to one improvement.</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29</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4 · SCRUM</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4 · SCRUM</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Three artifacts, three commitments</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Each artifact carries a commitment that makes it measurable. The 2020 Guide added these — they are what stops artifacts becoming lists.</a:t>
            </a:r>
            <a:endParaRPr lang="en-US" sz="1450" dirty="0"/>
          </a:p>
        </p:txBody>
      </p:sp>
      <p:sp>
        <p:nvSpPr>
          <p:cNvPr id="5" name="Shape 3"/>
          <p:cNvSpPr/>
          <p:nvPr/>
        </p:nvSpPr>
        <p:spPr>
          <a:xfrm>
            <a:off x="548640" y="2286000"/>
            <a:ext cx="3502152" cy="3246120"/>
          </a:xfrm>
          <a:prstGeom prst="roundRect">
            <a:avLst>
              <a:gd name="adj" fmla="val 1690"/>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Product Backlog</a:t>
            </a:r>
            <a:endParaRPr lang="en-US" sz="1450" dirty="0"/>
          </a:p>
          <a:p>
            <a:pPr marL="0" indent="0">
              <a:buNone/>
            </a:pPr>
            <a:r>
              <a:rPr lang="en-US" sz="1450" b="1" dirty="0">
                <a:solidFill>
                  <a:srgbClr val="003352"/>
                </a:solidFill>
                <a:latin typeface="Century Gothic" pitchFamily="34" charset="0"/>
                <a:ea typeface="Century Gothic" pitchFamily="34" charset="-122"/>
                <a:cs typeface="Century Gothic" pitchFamily="34" charset="-120"/>
              </a:rPr>
              <a:t>→ Product Goal</a:t>
            </a:r>
            <a:endParaRPr lang="en-US" sz="1450" dirty="0"/>
          </a:p>
        </p:txBody>
      </p:sp>
      <p:sp>
        <p:nvSpPr>
          <p:cNvPr id="9" name="Text 7"/>
          <p:cNvSpPr/>
          <p:nvPr/>
        </p:nvSpPr>
        <p:spPr>
          <a:xfrm>
            <a:off x="804672" y="3017520"/>
            <a:ext cx="2990088" cy="22219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An ordered, emergent list of what's needed to improve the product.</a:t>
            </a:r>
            <a:endParaRPr lang="en-US" sz="1150" dirty="0"/>
          </a:p>
          <a:p>
            <a:pPr marL="0" indent="0">
              <a:lnSpc>
                <a:spcPct val="122000"/>
              </a:lnSpc>
              <a:buNone/>
            </a:pPr>
            <a:endParaRPr lang="en-US" sz="1150" dirty="0"/>
          </a:p>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The Product Goal is the single objective the team is currently working toward. One at a time.</a:t>
            </a:r>
            <a:endParaRPr lang="en-US" sz="1150" dirty="0"/>
          </a:p>
        </p:txBody>
      </p:sp>
      <p:sp>
        <p:nvSpPr>
          <p:cNvPr id="10" name="Shape 8"/>
          <p:cNvSpPr/>
          <p:nvPr/>
        </p:nvSpPr>
        <p:spPr>
          <a:xfrm>
            <a:off x="4343400" y="2286000"/>
            <a:ext cx="3502152" cy="3246120"/>
          </a:xfrm>
          <a:prstGeom prst="roundRect">
            <a:avLst>
              <a:gd name="adj" fmla="val 1690"/>
            </a:avLst>
          </a:prstGeom>
          <a:solidFill>
            <a:srgbClr val="F4F7F9"/>
          </a:solidFill>
          <a:ln/>
        </p:spPr>
        <p:txBody>
          <a:bodyPr/>
          <a:lstStyle/>
          <a:p>
            <a:endParaRPr lang="en-IN"/>
          </a:p>
        </p:txBody>
      </p:sp>
      <p:sp>
        <p:nvSpPr>
          <p:cNvPr id="11" name="Shape 9"/>
          <p:cNvSpPr/>
          <p:nvPr/>
        </p:nvSpPr>
        <p:spPr>
          <a:xfrm>
            <a:off x="4599432" y="2542032"/>
            <a:ext cx="365760" cy="365760"/>
          </a:xfrm>
          <a:prstGeom prst="ellipse">
            <a:avLst/>
          </a:prstGeom>
          <a:solidFill>
            <a:srgbClr val="003352"/>
          </a:solidFill>
          <a:ln/>
        </p:spPr>
        <p:txBody>
          <a:bodyPr/>
          <a:lstStyle/>
          <a:p>
            <a:endParaRPr lang="en-IN"/>
          </a:p>
        </p:txBody>
      </p:sp>
      <p:sp>
        <p:nvSpPr>
          <p:cNvPr id="12" name="Text 10"/>
          <p:cNvSpPr/>
          <p:nvPr/>
        </p:nvSpPr>
        <p:spPr>
          <a:xfrm>
            <a:off x="459943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509320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Sprint Backlog</a:t>
            </a:r>
            <a:endParaRPr lang="en-US" sz="1450" dirty="0"/>
          </a:p>
          <a:p>
            <a:pPr marL="0" indent="0">
              <a:buNone/>
            </a:pPr>
            <a:r>
              <a:rPr lang="en-US" sz="1450" b="1" dirty="0">
                <a:solidFill>
                  <a:srgbClr val="003352"/>
                </a:solidFill>
                <a:latin typeface="Century Gothic" pitchFamily="34" charset="0"/>
                <a:ea typeface="Century Gothic" pitchFamily="34" charset="-122"/>
                <a:cs typeface="Century Gothic" pitchFamily="34" charset="-120"/>
              </a:rPr>
              <a:t>→ Sprint Goal</a:t>
            </a:r>
            <a:endParaRPr lang="en-US" sz="1450" dirty="0"/>
          </a:p>
        </p:txBody>
      </p:sp>
      <p:sp>
        <p:nvSpPr>
          <p:cNvPr id="14" name="Text 12"/>
          <p:cNvSpPr/>
          <p:nvPr/>
        </p:nvSpPr>
        <p:spPr>
          <a:xfrm>
            <a:off x="4599432" y="3017520"/>
            <a:ext cx="2990088" cy="22219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The Sprint Goal, the items selected, and the plan for delivering them.</a:t>
            </a:r>
            <a:endParaRPr lang="en-US" sz="1150" dirty="0"/>
          </a:p>
          <a:p>
            <a:pPr marL="0" indent="0">
              <a:lnSpc>
                <a:spcPct val="122000"/>
              </a:lnSpc>
              <a:buNone/>
            </a:pPr>
            <a:endParaRPr lang="en-US" sz="1150" dirty="0"/>
          </a:p>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Owned entirely by the Developers. It changes daily as they learn.</a:t>
            </a:r>
            <a:endParaRPr lang="en-US" sz="1150" dirty="0"/>
          </a:p>
        </p:txBody>
      </p:sp>
      <p:sp>
        <p:nvSpPr>
          <p:cNvPr id="15" name="Shape 13"/>
          <p:cNvSpPr/>
          <p:nvPr/>
        </p:nvSpPr>
        <p:spPr>
          <a:xfrm>
            <a:off x="8138160" y="2286000"/>
            <a:ext cx="3502152" cy="3246120"/>
          </a:xfrm>
          <a:prstGeom prst="roundRect">
            <a:avLst>
              <a:gd name="adj" fmla="val 1690"/>
            </a:avLst>
          </a:prstGeom>
          <a:solidFill>
            <a:srgbClr val="F4F7F9"/>
          </a:solidFill>
          <a:ln/>
        </p:spPr>
        <p:txBody>
          <a:bodyPr/>
          <a:lstStyle/>
          <a:p>
            <a:endParaRPr lang="en-IN"/>
          </a:p>
        </p:txBody>
      </p:sp>
      <p:sp>
        <p:nvSpPr>
          <p:cNvPr id="16" name="Shape 14"/>
          <p:cNvSpPr/>
          <p:nvPr/>
        </p:nvSpPr>
        <p:spPr>
          <a:xfrm>
            <a:off x="8394192" y="2542032"/>
            <a:ext cx="365760" cy="365760"/>
          </a:xfrm>
          <a:prstGeom prst="ellipse">
            <a:avLst/>
          </a:prstGeom>
          <a:solidFill>
            <a:srgbClr val="003352"/>
          </a:solidFill>
          <a:ln/>
        </p:spPr>
        <p:txBody>
          <a:bodyPr/>
          <a:lstStyle/>
          <a:p>
            <a:endParaRPr lang="en-IN"/>
          </a:p>
        </p:txBody>
      </p:sp>
      <p:sp>
        <p:nvSpPr>
          <p:cNvPr id="17" name="Text 15"/>
          <p:cNvSpPr/>
          <p:nvPr/>
        </p:nvSpPr>
        <p:spPr>
          <a:xfrm>
            <a:off x="839419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8887968" y="2523744"/>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Increment</a:t>
            </a:r>
            <a:endParaRPr lang="en-US" sz="1450" dirty="0"/>
          </a:p>
          <a:p>
            <a:pPr marL="0" indent="0">
              <a:buNone/>
            </a:pPr>
            <a:r>
              <a:rPr lang="en-US" sz="1450" b="1" dirty="0">
                <a:solidFill>
                  <a:srgbClr val="003352"/>
                </a:solidFill>
                <a:latin typeface="Century Gothic" pitchFamily="34" charset="0"/>
                <a:ea typeface="Century Gothic" pitchFamily="34" charset="-122"/>
                <a:cs typeface="Century Gothic" pitchFamily="34" charset="-120"/>
              </a:rPr>
              <a:t>→ Definition of Done</a:t>
            </a:r>
            <a:endParaRPr lang="en-US" sz="1450" dirty="0"/>
          </a:p>
        </p:txBody>
      </p:sp>
      <p:sp>
        <p:nvSpPr>
          <p:cNvPr id="19" name="Text 17"/>
          <p:cNvSpPr/>
          <p:nvPr/>
        </p:nvSpPr>
        <p:spPr>
          <a:xfrm>
            <a:off x="8394192" y="3017520"/>
            <a:ext cx="2990088" cy="22219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 usable step toward the Product Goal. Multiple increments may be created in a sprint.</a:t>
            </a:r>
            <a:endParaRPr lang="en-US" sz="1150" dirty="0"/>
          </a:p>
          <a:p>
            <a:pPr marL="0" indent="0">
              <a:lnSpc>
                <a:spcPct val="122000"/>
              </a:lnSpc>
              <a:buNone/>
            </a:pPr>
            <a:endParaRPr lang="en-US" sz="1150" dirty="0"/>
          </a:p>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An item only counts as part of the Increment when it meets the Definition of Done.</a:t>
            </a:r>
            <a:endParaRPr lang="en-US" sz="1150" dirty="0"/>
          </a:p>
        </p:txBody>
      </p:sp>
      <p:sp>
        <p:nvSpPr>
          <p:cNvPr id="20" name="Text 18"/>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30</a:t>
            </a:r>
            <a:endParaRPr lang="en-US" sz="900" dirty="0"/>
          </a:p>
        </p:txBody>
      </p:sp>
      <p:sp>
        <p:nvSpPr>
          <p:cNvPr id="21" name="Text 19"/>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4 · SCRUM</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4 · SCRUM</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Definition of Done: the quality contract</a:t>
            </a:r>
            <a:endParaRPr lang="en-US" sz="30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A weak Definition of Done</a:t>
            </a:r>
            <a:endParaRPr lang="en-US" sz="1900" dirty="0"/>
          </a:p>
        </p:txBody>
      </p:sp>
      <p:sp>
        <p:nvSpPr>
          <p:cNvPr id="6" name="Text 4"/>
          <p:cNvSpPr/>
          <p:nvPr/>
        </p:nvSpPr>
        <p:spPr>
          <a:xfrm>
            <a:off x="932688" y="2542032"/>
            <a:ext cx="4626864" cy="329184"/>
          </a:xfrm>
          <a:prstGeom prst="rect">
            <a:avLst/>
          </a:prstGeom>
          <a:noFill/>
          <a:ln/>
        </p:spPr>
        <p:txBody>
          <a:bodyPr wrap="square" lIns="0" tIns="0" rIns="0" bIns="0" rtlCol="0" anchor="ctr"/>
          <a:lstStyle/>
          <a:p>
            <a:pPr marL="0" indent="0">
              <a:buNone/>
            </a:pPr>
            <a:r>
              <a:rPr lang="en-US" sz="1150" i="1" dirty="0">
                <a:solidFill>
                  <a:srgbClr val="7A8C99"/>
                </a:solidFill>
                <a:latin typeface="Century Gothic" pitchFamily="34" charset="0"/>
                <a:ea typeface="Century Gothic" pitchFamily="34" charset="-122"/>
                <a:cs typeface="Century Gothic" pitchFamily="34" charset="-120"/>
              </a:rPr>
              <a:t>Guarantees a stabilisation phase later</a:t>
            </a:r>
            <a:endParaRPr lang="en-US" sz="1150" dirty="0"/>
          </a:p>
        </p:txBody>
      </p:sp>
      <p:sp>
        <p:nvSpPr>
          <p:cNvPr id="7" name="Text 5"/>
          <p:cNvSpPr/>
          <p:nvPr/>
        </p:nvSpPr>
        <p:spPr>
          <a:xfrm>
            <a:off x="932688"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"Code complete and pushed"</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Testing happens in a later sprint</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Each developer decides what finished means</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Non-functional needs handled 'before release'</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Documentation deferred indefinitely</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Result: an increment nobody can actually ship</a:t>
            </a:r>
            <a:endParaRPr lang="en-US" sz="1250" dirty="0"/>
          </a:p>
        </p:txBody>
      </p:sp>
      <p:sp>
        <p:nvSpPr>
          <p:cNvPr id="8" name="Shape 6"/>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9" name="Text 7"/>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A DoD you could actually hold</a:t>
            </a:r>
            <a:endParaRPr lang="en-US" sz="1900" dirty="0"/>
          </a:p>
        </p:txBody>
      </p:sp>
      <p:sp>
        <p:nvSpPr>
          <p:cNvPr id="10" name="Text 8"/>
          <p:cNvSpPr/>
          <p:nvPr/>
        </p:nvSpPr>
        <p:spPr>
          <a:xfrm>
            <a:off x="6629400" y="2542032"/>
            <a:ext cx="4626864" cy="329184"/>
          </a:xfrm>
          <a:prstGeom prst="rect">
            <a:avLst/>
          </a:prstGeom>
          <a:noFill/>
          <a:ln/>
        </p:spPr>
        <p:txBody>
          <a:bodyPr wrap="square" lIns="0" tIns="0" rIns="0" bIns="0" rtlCol="0" anchor="ctr"/>
          <a:lstStyle/>
          <a:p>
            <a:pPr marL="0" indent="0">
              <a:buNone/>
            </a:pPr>
            <a:r>
              <a:rPr lang="en-US" sz="1150" i="1" dirty="0">
                <a:solidFill>
                  <a:srgbClr val="8FB3C6"/>
                </a:solidFill>
                <a:latin typeface="Century Gothic" pitchFamily="34" charset="0"/>
                <a:ea typeface="Century Gothic" pitchFamily="34" charset="-122"/>
                <a:cs typeface="Century Gothic" pitchFamily="34" charset="-120"/>
              </a:rPr>
              <a:t>Example — adapt it, then hold it</a:t>
            </a:r>
            <a:endParaRPr lang="en-US" sz="1150" dirty="0"/>
          </a:p>
        </p:txBody>
      </p:sp>
      <p:sp>
        <p:nvSpPr>
          <p:cNvPr id="11" name="Text 9"/>
          <p:cNvSpPr/>
          <p:nvPr/>
        </p:nvSpPr>
        <p:spPr>
          <a:xfrm>
            <a:off x="6629400"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Acceptance criteria met and verified by someone other than the author</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Unit and regression tests passing in CI</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Peer reviewed and merged to trunk</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Deployed to staging and exercised against a realistic data set</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No new high-severity defects; performance within agreed bounds</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Release note and configuration change documented</a:t>
            </a:r>
            <a:endParaRPr lang="en-US" sz="1250" dirty="0"/>
          </a:p>
        </p:txBody>
      </p:sp>
      <p:sp>
        <p:nvSpPr>
          <p:cNvPr id="12" name="Text 1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31</a:t>
            </a:r>
            <a:endParaRPr lang="en-US" sz="900" dirty="0"/>
          </a:p>
        </p:txBody>
      </p:sp>
      <p:sp>
        <p:nvSpPr>
          <p:cNvPr id="13" name="Text 1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4 · SCRUM</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EXERCISE 2</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6 min</a:t>
            </a:r>
            <a:endParaRPr lang="en-US" sz="1250" dirty="0"/>
          </a:p>
        </p:txBody>
      </p:sp>
      <p:sp>
        <p:nvSpPr>
          <p:cNvPr id="5" name="Text 3"/>
          <p:cNvSpPr/>
          <p:nvPr/>
        </p:nvSpPr>
        <p:spPr>
          <a:xfrm>
            <a:off x="548640" y="713232"/>
            <a:ext cx="9235440" cy="658368"/>
          </a:xfrm>
          <a:prstGeom prst="rect">
            <a:avLst/>
          </a:prstGeom>
          <a:noFill/>
          <a:ln/>
        </p:spPr>
        <p:txBody>
          <a:bodyPr wrap="square" lIns="0" tIns="0" rIns="0" bIns="0" rtlCol="0" anchor="t"/>
          <a:lstStyle/>
          <a:p>
            <a:pPr marL="0" indent="0">
              <a:buNone/>
            </a:pPr>
            <a:r>
              <a:rPr lang="en-US" sz="2700" b="1" dirty="0">
                <a:solidFill>
                  <a:srgbClr val="003352"/>
                </a:solidFill>
                <a:latin typeface="Century Gothic" pitchFamily="34" charset="0"/>
                <a:ea typeface="Century Gothic" pitchFamily="34" charset="-122"/>
                <a:cs typeface="Century Gothic" pitchFamily="34" charset="-120"/>
              </a:rPr>
              <a:t>Build a Scrum team — and spot what's wrong</a:t>
            </a:r>
            <a:endParaRPr lang="en-US" sz="2700" dirty="0"/>
          </a:p>
        </p:txBody>
      </p:sp>
      <p:sp>
        <p:nvSpPr>
          <p:cNvPr id="6" name="Shape 4"/>
          <p:cNvSpPr/>
          <p:nvPr/>
        </p:nvSpPr>
        <p:spPr>
          <a:xfrm>
            <a:off x="548640" y="1481328"/>
            <a:ext cx="6720840" cy="4315968"/>
          </a:xfrm>
          <a:prstGeom prst="roundRect">
            <a:avLst>
              <a:gd name="adj" fmla="val 1271"/>
            </a:avLst>
          </a:prstGeom>
          <a:solidFill>
            <a:srgbClr val="FFFFFF"/>
          </a:solidFill>
          <a:ln/>
        </p:spPr>
        <p:txBody>
          <a:bodyPr/>
          <a:lstStyle/>
          <a:p>
            <a:endParaRPr lang="en-IN"/>
          </a:p>
        </p:txBody>
      </p:sp>
      <p:sp>
        <p:nvSpPr>
          <p:cNvPr id="7" name="Text 5"/>
          <p:cNvSpPr/>
          <p:nvPr/>
        </p:nvSpPr>
        <p:spPr>
          <a:xfrm>
            <a:off x="868680" y="1664208"/>
            <a:ext cx="6080760" cy="274320"/>
          </a:xfrm>
          <a:prstGeom prst="rect">
            <a:avLst/>
          </a:prstGeom>
          <a:noFill/>
          <a:ln/>
        </p:spPr>
        <p:txBody>
          <a:bodyPr wrap="square" lIns="0" tIns="0" rIns="0" bIns="0" rtlCol="0" anchor="ctr"/>
          <a:lstStyle/>
          <a:p>
            <a:pPr marL="0" indent="0">
              <a:buNone/>
            </a:pPr>
            <a:r>
              <a:rPr lang="en-US" sz="1100" b="1" kern="0" spc="150" dirty="0">
                <a:solidFill>
                  <a:srgbClr val="7A8C99"/>
                </a:solidFill>
                <a:latin typeface="Century Gothic" pitchFamily="34" charset="0"/>
                <a:ea typeface="Century Gothic" pitchFamily="34" charset="-122"/>
                <a:cs typeface="Century Gothic" pitchFamily="34" charset="-120"/>
              </a:rPr>
              <a:t>The scenario</a:t>
            </a:r>
            <a:endParaRPr lang="en-US" sz="1100" dirty="0"/>
          </a:p>
        </p:txBody>
      </p:sp>
      <p:sp>
        <p:nvSpPr>
          <p:cNvPr id="8" name="Text 6"/>
          <p:cNvSpPr/>
          <p:nvPr/>
        </p:nvSpPr>
        <p:spPr>
          <a:xfrm>
            <a:off x="868680" y="1993392"/>
            <a:ext cx="6080760" cy="3602736"/>
          </a:xfrm>
          <a:prstGeom prst="rect">
            <a:avLst/>
          </a:prstGeom>
          <a:noFill/>
          <a:ln/>
        </p:spPr>
        <p:txBody>
          <a:bodyPr wrap="square" lIns="0" tIns="0" rIns="0" bIns="0" rtlCol="0" anchor="t"/>
          <a:lstStyle/>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A new squad is forming to build guest-engagement features — web check-in, WhatsApp pre-arrival messaging, QR ordering — for a group of eight hotels. Proposed setup:</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Delivery Manager runs planning, assigns tasks in the standup, and reports status weekly to leadership</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Business Analyst gathers requirements and writes specifications; the customer's IT manager approves them</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Four developers; two also carry production support for another product</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One tester, joining the team in the second week of each two-week sprint</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Architect reviews all designs; sits outside the team and is shared across three squads</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'Done' currently means code merged to the development branch</a:t>
            </a:r>
            <a:endParaRPr lang="en-US" sz="1150" dirty="0"/>
          </a:p>
        </p:txBody>
      </p:sp>
      <p:sp>
        <p:nvSpPr>
          <p:cNvPr id="9" name="Shape 7"/>
          <p:cNvSpPr/>
          <p:nvPr/>
        </p:nvSpPr>
        <p:spPr>
          <a:xfrm>
            <a:off x="7498080" y="1481328"/>
            <a:ext cx="4142232" cy="4315968"/>
          </a:xfrm>
          <a:prstGeom prst="roundRect">
            <a:avLst>
              <a:gd name="adj" fmla="val 1325"/>
            </a:avLst>
          </a:prstGeom>
          <a:solidFill>
            <a:srgbClr val="003352"/>
          </a:solidFill>
          <a:ln/>
        </p:spPr>
        <p:txBody>
          <a:bodyPr/>
          <a:lstStyle/>
          <a:p>
            <a:endParaRPr lang="en-IN"/>
          </a:p>
        </p:txBody>
      </p:sp>
      <p:sp>
        <p:nvSpPr>
          <p:cNvPr id="10" name="Text 8"/>
          <p:cNvSpPr/>
          <p:nvPr/>
        </p:nvSpPr>
        <p:spPr>
          <a:xfrm>
            <a:off x="7818120" y="1664208"/>
            <a:ext cx="3502152" cy="274320"/>
          </a:xfrm>
          <a:prstGeom prst="rect">
            <a:avLst/>
          </a:prstGeom>
          <a:noFill/>
          <a:ln/>
        </p:spPr>
        <p:txBody>
          <a:bodyPr wrap="square" lIns="0" tIns="0" rIns="0" bIns="0" rtlCol="0" anchor="ctr"/>
          <a:lstStyle/>
          <a:p>
            <a:pPr marL="0" indent="0">
              <a:buNone/>
            </a:pPr>
            <a:r>
              <a:rPr lang="en-US" sz="1100" b="1" kern="0" spc="150" dirty="0">
                <a:solidFill>
                  <a:srgbClr val="63E7A4"/>
                </a:solidFill>
                <a:latin typeface="Century Gothic" pitchFamily="34" charset="0"/>
                <a:ea typeface="Century Gothic" pitchFamily="34" charset="-122"/>
                <a:cs typeface="Century Gothic" pitchFamily="34" charset="-120"/>
              </a:rPr>
              <a:t>Your task</a:t>
            </a:r>
            <a:endParaRPr lang="en-US" sz="1100" dirty="0"/>
          </a:p>
        </p:txBody>
      </p:sp>
      <p:sp>
        <p:nvSpPr>
          <p:cNvPr id="11" name="Text 9"/>
          <p:cNvSpPr/>
          <p:nvPr/>
        </p:nvSpPr>
        <p:spPr>
          <a:xfrm>
            <a:off x="7818120" y="1993392"/>
            <a:ext cx="3502152" cy="3602736"/>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Map this to the three Scrum accountabilities — who is PO, SM, Developer?</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Find the four most damaging problems</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Fix each one — say what you'd change</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Write a Definition of Done this team could actually honour in sprint 1</a:t>
            </a:r>
            <a:endParaRPr lang="en-US" sz="1150" dirty="0"/>
          </a:p>
        </p:txBody>
      </p:sp>
      <p:sp>
        <p:nvSpPr>
          <p:cNvPr id="12" name="Text 10"/>
          <p:cNvSpPr/>
          <p:nvPr/>
        </p:nvSpPr>
        <p:spPr>
          <a:xfrm>
            <a:off x="548640" y="5907024"/>
            <a:ext cx="11091672" cy="347472"/>
          </a:xfrm>
          <a:prstGeom prst="rect">
            <a:avLst/>
          </a:prstGeom>
          <a:noFill/>
          <a:ln/>
        </p:spPr>
        <p:txBody>
          <a:bodyPr wrap="square" lIns="0" tIns="0" rIns="0" bIns="0" rtlCol="0" anchor="t"/>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Tables of 4–5 · 4 min to work · 2 min debrief · Nominate a scribe · Be ruthless, the setup is deliberately broken</a:t>
            </a:r>
            <a:endParaRPr lang="en-US" sz="1150" dirty="0"/>
          </a:p>
        </p:txBody>
      </p:sp>
      <p:sp>
        <p:nvSpPr>
          <p:cNvPr id="13" name="Text 11"/>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32</a:t>
            </a:r>
            <a:endParaRPr lang="en-US" sz="900" dirty="0"/>
          </a:p>
        </p:txBody>
      </p:sp>
      <p:sp>
        <p:nvSpPr>
          <p:cNvPr id="14" name="Text 12"/>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EXERCISE 2</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EXERCISE 2 · DEBRIEF</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Model answer</a:t>
            </a:r>
            <a:endParaRPr lang="en-US" sz="3000" dirty="0"/>
          </a:p>
        </p:txBody>
      </p:sp>
      <p:sp>
        <p:nvSpPr>
          <p:cNvPr id="4" name="Shape 2"/>
          <p:cNvSpPr/>
          <p:nvPr/>
        </p:nvSpPr>
        <p:spPr>
          <a:xfrm>
            <a:off x="566928" y="1911096"/>
            <a:ext cx="402336" cy="402336"/>
          </a:xfrm>
          <a:prstGeom prst="ellipse">
            <a:avLst/>
          </a:prstGeom>
          <a:solidFill>
            <a:srgbClr val="63E7A4"/>
          </a:solidFill>
          <a:ln/>
        </p:spPr>
        <p:txBody>
          <a:bodyPr/>
          <a:lstStyle/>
          <a:p>
            <a:endParaRPr lang="en-IN"/>
          </a:p>
        </p:txBody>
      </p:sp>
      <p:sp>
        <p:nvSpPr>
          <p:cNvPr id="5" name="Text 3"/>
          <p:cNvSpPr/>
          <p:nvPr/>
        </p:nvSpPr>
        <p:spPr>
          <a:xfrm>
            <a:off x="566928" y="19110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6" name="Text 4"/>
          <p:cNvSpPr/>
          <p:nvPr/>
        </p:nvSpPr>
        <p:spPr>
          <a:xfrm>
            <a:off x="1170432" y="1856232"/>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There is no Product Owner — that's the biggest problem</a:t>
            </a:r>
            <a:endParaRPr lang="en-US" sz="1450" dirty="0"/>
          </a:p>
        </p:txBody>
      </p:sp>
      <p:sp>
        <p:nvSpPr>
          <p:cNvPr id="7" name="Text 5"/>
          <p:cNvSpPr/>
          <p:nvPr/>
        </p:nvSpPr>
        <p:spPr>
          <a:xfrm>
            <a:off x="1170432" y="2148840"/>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A BA writing specs approved by the customer's IT manager is not product ownership. Nobody is accountable for value or for ordering the backlog. Fix: name a PO with real authority to decide and to say no.</a:t>
            </a:r>
            <a:endParaRPr lang="en-US" sz="1200" dirty="0"/>
          </a:p>
        </p:txBody>
      </p:sp>
      <p:sp>
        <p:nvSpPr>
          <p:cNvPr id="8" name="Shape 6"/>
          <p:cNvSpPr/>
          <p:nvPr/>
        </p:nvSpPr>
        <p:spPr>
          <a:xfrm>
            <a:off x="566928" y="2706624"/>
            <a:ext cx="402336" cy="402336"/>
          </a:xfrm>
          <a:prstGeom prst="ellipse">
            <a:avLst/>
          </a:prstGeom>
          <a:solidFill>
            <a:srgbClr val="63E7A4"/>
          </a:solidFill>
          <a:ln/>
        </p:spPr>
        <p:txBody>
          <a:bodyPr/>
          <a:lstStyle/>
          <a:p>
            <a:endParaRPr lang="en-IN"/>
          </a:p>
        </p:txBody>
      </p:sp>
      <p:sp>
        <p:nvSpPr>
          <p:cNvPr id="9" name="Text 7"/>
          <p:cNvSpPr/>
          <p:nvPr/>
        </p:nvSpPr>
        <p:spPr>
          <a:xfrm>
            <a:off x="566928" y="270662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0" name="Text 8"/>
          <p:cNvSpPr/>
          <p:nvPr/>
        </p:nvSpPr>
        <p:spPr>
          <a:xfrm>
            <a:off x="1170432" y="2651760"/>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Delivery Manager is doing the opposite of a Scrum Master</a:t>
            </a:r>
            <a:endParaRPr lang="en-US" sz="1450" dirty="0"/>
          </a:p>
        </p:txBody>
      </p:sp>
      <p:sp>
        <p:nvSpPr>
          <p:cNvPr id="11" name="Text 9"/>
          <p:cNvSpPr/>
          <p:nvPr/>
        </p:nvSpPr>
        <p:spPr>
          <a:xfrm>
            <a:off x="1170432" y="2944368"/>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Assigning tasks and reporting status prevents self-management from ever developing. Fix: the team pulls its own work; the manager's job becomes removing the impediments the team names.</a:t>
            </a:r>
            <a:endParaRPr lang="en-US" sz="1200" dirty="0"/>
          </a:p>
        </p:txBody>
      </p:sp>
      <p:sp>
        <p:nvSpPr>
          <p:cNvPr id="12" name="Shape 10"/>
          <p:cNvSpPr/>
          <p:nvPr/>
        </p:nvSpPr>
        <p:spPr>
          <a:xfrm>
            <a:off x="566928" y="3502152"/>
            <a:ext cx="402336" cy="402336"/>
          </a:xfrm>
          <a:prstGeom prst="ellipse">
            <a:avLst/>
          </a:prstGeom>
          <a:solidFill>
            <a:srgbClr val="63E7A4"/>
          </a:solidFill>
          <a:ln/>
        </p:spPr>
        <p:txBody>
          <a:bodyPr/>
          <a:lstStyle/>
          <a:p>
            <a:endParaRPr lang="en-IN"/>
          </a:p>
        </p:txBody>
      </p:sp>
      <p:sp>
        <p:nvSpPr>
          <p:cNvPr id="13" name="Text 11"/>
          <p:cNvSpPr/>
          <p:nvPr/>
        </p:nvSpPr>
        <p:spPr>
          <a:xfrm>
            <a:off x="566928" y="350215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4" name="Text 12"/>
          <p:cNvSpPr/>
          <p:nvPr/>
        </p:nvSpPr>
        <p:spPr>
          <a:xfrm>
            <a:off x="1170432" y="3447288"/>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Fractional people break the sprint before it starts</a:t>
            </a:r>
            <a:endParaRPr lang="en-US" sz="1450" dirty="0"/>
          </a:p>
        </p:txBody>
      </p:sp>
      <p:sp>
        <p:nvSpPr>
          <p:cNvPr id="15" name="Text 13"/>
          <p:cNvSpPr/>
          <p:nvPr/>
        </p:nvSpPr>
        <p:spPr>
          <a:xfrm>
            <a:off x="1170432" y="3739896"/>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Two developers on production support and a tester arriving in week two guarantee a mini-waterfall and unpredictable capacity. Fix: dedicate the team, or plan explicitly at the reduced capacity and stop pretending.</a:t>
            </a:r>
            <a:endParaRPr lang="en-US" sz="1200" dirty="0"/>
          </a:p>
        </p:txBody>
      </p:sp>
      <p:sp>
        <p:nvSpPr>
          <p:cNvPr id="16" name="Shape 14"/>
          <p:cNvSpPr/>
          <p:nvPr/>
        </p:nvSpPr>
        <p:spPr>
          <a:xfrm>
            <a:off x="566928" y="4297680"/>
            <a:ext cx="402336" cy="402336"/>
          </a:xfrm>
          <a:prstGeom prst="ellipse">
            <a:avLst/>
          </a:prstGeom>
          <a:solidFill>
            <a:srgbClr val="63E7A4"/>
          </a:solidFill>
          <a:ln/>
        </p:spPr>
        <p:txBody>
          <a:bodyPr/>
          <a:lstStyle/>
          <a:p>
            <a:endParaRPr lang="en-IN"/>
          </a:p>
        </p:txBody>
      </p:sp>
      <p:sp>
        <p:nvSpPr>
          <p:cNvPr id="17" name="Text 15"/>
          <p:cNvSpPr/>
          <p:nvPr/>
        </p:nvSpPr>
        <p:spPr>
          <a:xfrm>
            <a:off x="566928" y="429768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8" name="Text 16"/>
          <p:cNvSpPr/>
          <p:nvPr/>
        </p:nvSpPr>
        <p:spPr>
          <a:xfrm>
            <a:off x="1170432" y="4242816"/>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external architect is a queue, not a safeguard</a:t>
            </a:r>
            <a:endParaRPr lang="en-US" sz="1450" dirty="0"/>
          </a:p>
        </p:txBody>
      </p:sp>
      <p:sp>
        <p:nvSpPr>
          <p:cNvPr id="19" name="Text 17"/>
          <p:cNvSpPr/>
          <p:nvPr/>
        </p:nvSpPr>
        <p:spPr>
          <a:xfrm>
            <a:off x="1170432" y="4535424"/>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Shared across three squads, they become a bottleneck on every design decision. Fix: architect joins the team for the first sprints and sets guardrails, then reviews by exception.</a:t>
            </a:r>
            <a:endParaRPr lang="en-US" sz="1200" dirty="0"/>
          </a:p>
        </p:txBody>
      </p:sp>
      <p:sp>
        <p:nvSpPr>
          <p:cNvPr id="20" name="Shape 18"/>
          <p:cNvSpPr/>
          <p:nvPr/>
        </p:nvSpPr>
        <p:spPr>
          <a:xfrm>
            <a:off x="566928" y="5093208"/>
            <a:ext cx="402336" cy="402336"/>
          </a:xfrm>
          <a:prstGeom prst="ellipse">
            <a:avLst/>
          </a:prstGeom>
          <a:solidFill>
            <a:srgbClr val="63E7A4"/>
          </a:solidFill>
          <a:ln/>
        </p:spPr>
        <p:txBody>
          <a:bodyPr/>
          <a:lstStyle/>
          <a:p>
            <a:endParaRPr lang="en-IN"/>
          </a:p>
        </p:txBody>
      </p:sp>
      <p:sp>
        <p:nvSpPr>
          <p:cNvPr id="21" name="Text 19"/>
          <p:cNvSpPr/>
          <p:nvPr/>
        </p:nvSpPr>
        <p:spPr>
          <a:xfrm>
            <a:off x="566928" y="509320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22" name="Text 20"/>
          <p:cNvSpPr/>
          <p:nvPr/>
        </p:nvSpPr>
        <p:spPr>
          <a:xfrm>
            <a:off x="1170432" y="5038344"/>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Definition of Done guarantees a stabilisation phase</a:t>
            </a:r>
            <a:endParaRPr lang="en-US" sz="1450" dirty="0"/>
          </a:p>
        </p:txBody>
      </p:sp>
      <p:sp>
        <p:nvSpPr>
          <p:cNvPr id="23" name="Text 21"/>
          <p:cNvSpPr/>
          <p:nvPr/>
        </p:nvSpPr>
        <p:spPr>
          <a:xfrm>
            <a:off x="1170432" y="5330952"/>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'Merged to development branch' means nothing is verified. Fix: AC verified by another person, tests green in CI, deployed to staging, no new high-severity defects.</a:t>
            </a:r>
            <a:endParaRPr lang="en-US" sz="1200" dirty="0"/>
          </a:p>
        </p:txBody>
      </p:sp>
      <p:sp>
        <p:nvSpPr>
          <p:cNvPr id="24" name="Text 2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33</a:t>
            </a:r>
            <a:endParaRPr lang="en-US" sz="900" dirty="0"/>
          </a:p>
        </p:txBody>
      </p:sp>
      <p:sp>
        <p:nvSpPr>
          <p:cNvPr id="25" name="Text 2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EXERCISE 2</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05</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User Stories &amp; Backlog</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Stories, acceptance criteria, and a backlog that supports decisions instead of storing wishes.</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10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21–25</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5 · STORIES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A story is a promise to have a conversation</a:t>
            </a:r>
            <a:endParaRPr lang="en-US" sz="2900" dirty="0"/>
          </a:p>
        </p:txBody>
      </p:sp>
      <p:sp>
        <p:nvSpPr>
          <p:cNvPr id="4" name="Shape 2"/>
          <p:cNvSpPr/>
          <p:nvPr/>
        </p:nvSpPr>
        <p:spPr>
          <a:xfrm>
            <a:off x="548640" y="1874520"/>
            <a:ext cx="4709160" cy="4023360"/>
          </a:xfrm>
          <a:prstGeom prst="roundRect">
            <a:avLst>
              <a:gd name="adj" fmla="val 1364"/>
            </a:avLst>
          </a:prstGeom>
          <a:solidFill>
            <a:srgbClr val="003352"/>
          </a:solidFill>
          <a:ln/>
        </p:spPr>
        <p:txBody>
          <a:bodyPr/>
          <a:lstStyle/>
          <a:p>
            <a:endParaRPr lang="en-IN"/>
          </a:p>
        </p:txBody>
      </p:sp>
      <p:sp>
        <p:nvSpPr>
          <p:cNvPr id="5" name="Text 3"/>
          <p:cNvSpPr/>
          <p:nvPr/>
        </p:nvSpPr>
        <p:spPr>
          <a:xfrm>
            <a:off x="868680" y="2148840"/>
            <a:ext cx="4069080" cy="1600200"/>
          </a:xfrm>
          <a:prstGeom prst="rect">
            <a:avLst/>
          </a:prstGeom>
          <a:noFill/>
          <a:ln/>
        </p:spPr>
        <p:txBody>
          <a:bodyPr wrap="square" lIns="0" tIns="0" rIns="0" bIns="0" rtlCol="0" anchor="ctr"/>
          <a:lstStyle/>
          <a:p>
            <a:pPr marL="0" indent="0">
              <a:lnSpc>
                <a:spcPct val="100000"/>
              </a:lnSpc>
              <a:buNone/>
            </a:pPr>
            <a:r>
              <a:rPr lang="en-US" sz="5400" b="1" dirty="0">
                <a:solidFill>
                  <a:srgbClr val="63E7A4"/>
                </a:solidFill>
                <a:latin typeface="Century Gothic" pitchFamily="34" charset="0"/>
                <a:ea typeface="Century Gothic" pitchFamily="34" charset="-122"/>
                <a:cs typeface="Century Gothic" pitchFamily="34" charset="-120"/>
              </a:rPr>
              <a:t>3 C's</a:t>
            </a:r>
            <a:endParaRPr lang="en-US" sz="5400" dirty="0"/>
          </a:p>
        </p:txBody>
      </p:sp>
      <p:sp>
        <p:nvSpPr>
          <p:cNvPr id="6" name="Text 4"/>
          <p:cNvSpPr/>
          <p:nvPr/>
        </p:nvSpPr>
        <p:spPr>
          <a:xfrm>
            <a:off x="868680" y="3858768"/>
            <a:ext cx="4069080" cy="1810512"/>
          </a:xfrm>
          <a:prstGeom prst="rect">
            <a:avLst/>
          </a:prstGeom>
          <a:noFill/>
          <a:ln/>
        </p:spPr>
        <p:txBody>
          <a:bodyPr wrap="square" lIns="0" tIns="0" rIns="0" bIns="0" rtlCol="0" anchor="t"/>
          <a:lstStyle/>
          <a:p>
            <a:pPr marL="0" indent="0">
              <a:lnSpc>
                <a:spcPct val="128000"/>
              </a:lnSpc>
              <a:buNone/>
            </a:pPr>
            <a:r>
              <a:rPr lang="en-US" sz="1350" dirty="0">
                <a:solidFill>
                  <a:srgbClr val="FFFFFF"/>
                </a:solidFill>
                <a:latin typeface="Century Gothic" pitchFamily="34" charset="0"/>
                <a:ea typeface="Century Gothic" pitchFamily="34" charset="-122"/>
                <a:cs typeface="Century Gothic" pitchFamily="34" charset="-120"/>
              </a:rPr>
              <a:t>Card — a short written placeholder. Conversation — where the real detail is worked out, together. Confirmation — the acceptance criteria that settle whether it's done.</a:t>
            </a:r>
            <a:endParaRPr lang="en-US" sz="1350" dirty="0"/>
          </a:p>
        </p:txBody>
      </p:sp>
      <p:sp>
        <p:nvSpPr>
          <p:cNvPr id="7" name="Shape 5"/>
          <p:cNvSpPr/>
          <p:nvPr/>
        </p:nvSpPr>
        <p:spPr>
          <a:xfrm>
            <a:off x="5669280" y="1975104"/>
            <a:ext cx="402336" cy="402336"/>
          </a:xfrm>
          <a:prstGeom prst="ellipse">
            <a:avLst/>
          </a:prstGeom>
          <a:solidFill>
            <a:srgbClr val="63E7A4"/>
          </a:solidFill>
          <a:ln/>
        </p:spPr>
        <p:txBody>
          <a:bodyPr/>
          <a:lstStyle/>
          <a:p>
            <a:endParaRPr lang="en-IN"/>
          </a:p>
        </p:txBody>
      </p:sp>
      <p:sp>
        <p:nvSpPr>
          <p:cNvPr id="8" name="Text 6"/>
          <p:cNvSpPr/>
          <p:nvPr/>
        </p:nvSpPr>
        <p:spPr>
          <a:xfrm>
            <a:off x="5669280" y="197510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9" name="Text 7"/>
          <p:cNvSpPr/>
          <p:nvPr/>
        </p:nvSpPr>
        <p:spPr>
          <a:xfrm>
            <a:off x="6272784" y="1920240"/>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The card is deliberately incomplete</a:t>
            </a:r>
            <a:endParaRPr lang="en-US" sz="1550" dirty="0"/>
          </a:p>
        </p:txBody>
      </p:sp>
      <p:sp>
        <p:nvSpPr>
          <p:cNvPr id="10" name="Text 8"/>
          <p:cNvSpPr/>
          <p:nvPr/>
        </p:nvSpPr>
        <p:spPr>
          <a:xfrm>
            <a:off x="6272784" y="2231136"/>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A story is not a specification. It is small enough to fit on a card precisely so that it forces a conversation rather than replacing one.</a:t>
            </a:r>
            <a:endParaRPr lang="en-US" sz="1250" dirty="0"/>
          </a:p>
        </p:txBody>
      </p:sp>
      <p:sp>
        <p:nvSpPr>
          <p:cNvPr id="11" name="Shape 9"/>
          <p:cNvSpPr/>
          <p:nvPr/>
        </p:nvSpPr>
        <p:spPr>
          <a:xfrm>
            <a:off x="5669280" y="3294888"/>
            <a:ext cx="402336" cy="402336"/>
          </a:xfrm>
          <a:prstGeom prst="ellipse">
            <a:avLst/>
          </a:prstGeom>
          <a:solidFill>
            <a:srgbClr val="63E7A4"/>
          </a:solidFill>
          <a:ln/>
        </p:spPr>
        <p:txBody>
          <a:bodyPr/>
          <a:lstStyle/>
          <a:p>
            <a:endParaRPr lang="en-IN"/>
          </a:p>
        </p:txBody>
      </p:sp>
      <p:sp>
        <p:nvSpPr>
          <p:cNvPr id="12" name="Text 10"/>
          <p:cNvSpPr/>
          <p:nvPr/>
        </p:nvSpPr>
        <p:spPr>
          <a:xfrm>
            <a:off x="5669280" y="329488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272784" y="3240024"/>
            <a:ext cx="5303520" cy="530352"/>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The conversation is where requirements are actually made</a:t>
            </a:r>
            <a:endParaRPr lang="en-US" sz="1550" dirty="0"/>
          </a:p>
        </p:txBody>
      </p:sp>
      <p:sp>
        <p:nvSpPr>
          <p:cNvPr id="14" name="Text 12"/>
          <p:cNvSpPr/>
          <p:nvPr/>
        </p:nvSpPr>
        <p:spPr>
          <a:xfrm>
            <a:off x="6272784" y="3788664"/>
            <a:ext cx="5303520" cy="679704"/>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Between the Product Owner, developers and testers. Written specs handed over without this step produce the scope disputes we know well.</a:t>
            </a:r>
            <a:endParaRPr lang="en-US" sz="1250" dirty="0"/>
          </a:p>
        </p:txBody>
      </p:sp>
      <p:sp>
        <p:nvSpPr>
          <p:cNvPr id="15" name="Shape 13"/>
          <p:cNvSpPr/>
          <p:nvPr/>
        </p:nvSpPr>
        <p:spPr>
          <a:xfrm>
            <a:off x="5669280" y="4614672"/>
            <a:ext cx="402336" cy="402336"/>
          </a:xfrm>
          <a:prstGeom prst="ellipse">
            <a:avLst/>
          </a:prstGeom>
          <a:solidFill>
            <a:srgbClr val="63E7A4"/>
          </a:solidFill>
          <a:ln/>
        </p:spPr>
        <p:txBody>
          <a:bodyPr/>
          <a:lstStyle/>
          <a:p>
            <a:endParaRPr lang="en-IN"/>
          </a:p>
        </p:txBody>
      </p:sp>
      <p:sp>
        <p:nvSpPr>
          <p:cNvPr id="16" name="Text 14"/>
          <p:cNvSpPr/>
          <p:nvPr/>
        </p:nvSpPr>
        <p:spPr>
          <a:xfrm>
            <a:off x="5669280" y="461467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6272784" y="4559808"/>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Confirmation makes 'done' objective</a:t>
            </a:r>
            <a:endParaRPr lang="en-US" sz="1550" dirty="0"/>
          </a:p>
        </p:txBody>
      </p:sp>
      <p:sp>
        <p:nvSpPr>
          <p:cNvPr id="18" name="Text 16"/>
          <p:cNvSpPr/>
          <p:nvPr/>
        </p:nvSpPr>
        <p:spPr>
          <a:xfrm>
            <a:off x="6272784" y="4870704"/>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Acceptance criteria turn opinion into a test. Without them, done is whatever the loudest person in the review says it is.</a:t>
            </a:r>
            <a:endParaRPr lang="en-US" sz="1250" dirty="0"/>
          </a:p>
        </p:txBody>
      </p:sp>
      <p:sp>
        <p:nvSpPr>
          <p:cNvPr id="19" name="Text 17"/>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35</a:t>
            </a:r>
            <a:endParaRPr lang="en-US" sz="900" dirty="0"/>
          </a:p>
        </p:txBody>
      </p:sp>
      <p:sp>
        <p:nvSpPr>
          <p:cNvPr id="20" name="Text 18"/>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5 · STORIES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5 · STORIES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The template, and when to abandon it</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As a &lt;who&gt;, I want &lt;what&gt;, so that &lt;why&gt;. Useful scaffolding — not a law.</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The 'so that' is the only part that matters</a:t>
            </a:r>
            <a:endParaRPr lang="en-US" sz="1550" dirty="0"/>
          </a:p>
        </p:txBody>
      </p:sp>
      <p:sp>
        <p:nvSpPr>
          <p:cNvPr id="8" name="Text 6"/>
          <p:cNvSpPr/>
          <p:nvPr/>
        </p:nvSpPr>
        <p:spPr>
          <a:xfrm>
            <a:off x="1170432" y="262432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It carries the intent. If you can't write it, you don't yet know why you're building this — and that's worth discovering before the sprint, not during it.</a:t>
            </a:r>
            <a:endParaRPr lang="en-US" sz="1250" dirty="0"/>
          </a:p>
        </p:txBody>
      </p:sp>
      <p:sp>
        <p:nvSpPr>
          <p:cNvPr id="9" name="Shape 7"/>
          <p:cNvSpPr/>
          <p:nvPr/>
        </p:nvSpPr>
        <p:spPr>
          <a:xfrm>
            <a:off x="566928" y="3259836"/>
            <a:ext cx="402336" cy="402336"/>
          </a:xfrm>
          <a:prstGeom prst="ellipse">
            <a:avLst/>
          </a:prstGeom>
          <a:solidFill>
            <a:srgbClr val="63E7A4"/>
          </a:solidFill>
          <a:ln/>
        </p:spPr>
        <p:txBody>
          <a:bodyPr/>
          <a:lstStyle/>
          <a:p>
            <a:endParaRPr lang="en-IN"/>
          </a:p>
        </p:txBody>
      </p:sp>
      <p:sp>
        <p:nvSpPr>
          <p:cNvPr id="10" name="Text 8"/>
          <p:cNvSpPr/>
          <p:nvPr/>
        </p:nvSpPr>
        <p:spPr>
          <a:xfrm>
            <a:off x="566928" y="325983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20497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Weak: "As a user, I want a report, so that I can see data."</a:t>
            </a:r>
            <a:endParaRPr lang="en-US" sz="1550" dirty="0"/>
          </a:p>
        </p:txBody>
      </p:sp>
      <p:sp>
        <p:nvSpPr>
          <p:cNvPr id="12" name="Text 10"/>
          <p:cNvSpPr/>
          <p:nvPr/>
        </p:nvSpPr>
        <p:spPr>
          <a:xfrm>
            <a:off x="1170432" y="351586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No specific user, no decision being supported, no way to tell whether it worked. This story could be satisfied by almost anything.</a:t>
            </a:r>
            <a:endParaRPr lang="en-US" sz="1250" dirty="0"/>
          </a:p>
        </p:txBody>
      </p:sp>
      <p:sp>
        <p:nvSpPr>
          <p:cNvPr id="13" name="Shape 11"/>
          <p:cNvSpPr/>
          <p:nvPr/>
        </p:nvSpPr>
        <p:spPr>
          <a:xfrm>
            <a:off x="566928" y="4151376"/>
            <a:ext cx="402336" cy="402336"/>
          </a:xfrm>
          <a:prstGeom prst="ellipse">
            <a:avLst/>
          </a:prstGeom>
          <a:solidFill>
            <a:srgbClr val="63E7A4"/>
          </a:solidFill>
          <a:ln/>
        </p:spPr>
        <p:txBody>
          <a:bodyPr/>
          <a:lstStyle/>
          <a:p>
            <a:endParaRPr lang="en-IN"/>
          </a:p>
        </p:txBody>
      </p:sp>
      <p:sp>
        <p:nvSpPr>
          <p:cNvPr id="14" name="Text 12"/>
          <p:cNvSpPr/>
          <p:nvPr/>
        </p:nvSpPr>
        <p:spPr>
          <a:xfrm>
            <a:off x="566928" y="415137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096512"/>
            <a:ext cx="10241280" cy="548640"/>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Strong: "As a front-office manager, I want yesterday's no-show list on the dashboard, so that I can chase revenue recovery before the day's arrivals."</a:t>
            </a:r>
            <a:endParaRPr lang="en-US" sz="1550" dirty="0"/>
          </a:p>
        </p:txBody>
      </p:sp>
      <p:sp>
        <p:nvSpPr>
          <p:cNvPr id="16" name="Text 14"/>
          <p:cNvSpPr/>
          <p:nvPr/>
        </p:nvSpPr>
        <p:spPr>
          <a:xfrm>
            <a:off x="1170432" y="4663440"/>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A real role, a real moment, a real outcome. A developer can make sensible decisions from this without asking about every detail.</a:t>
            </a:r>
            <a:endParaRPr lang="en-US" sz="1150" dirty="0"/>
          </a:p>
        </p:txBody>
      </p:sp>
      <p:sp>
        <p:nvSpPr>
          <p:cNvPr id="17" name="Shape 15"/>
          <p:cNvSpPr/>
          <p:nvPr/>
        </p:nvSpPr>
        <p:spPr>
          <a:xfrm>
            <a:off x="566928" y="5042916"/>
            <a:ext cx="402336" cy="402336"/>
          </a:xfrm>
          <a:prstGeom prst="ellipse">
            <a:avLst/>
          </a:prstGeom>
          <a:solidFill>
            <a:srgbClr val="63E7A4"/>
          </a:solidFill>
          <a:ln/>
        </p:spPr>
        <p:txBody>
          <a:bodyPr/>
          <a:lstStyle/>
          <a:p>
            <a:endParaRPr lang="en-IN"/>
          </a:p>
        </p:txBody>
      </p:sp>
      <p:sp>
        <p:nvSpPr>
          <p:cNvPr id="18" name="Text 16"/>
          <p:cNvSpPr/>
          <p:nvPr/>
        </p:nvSpPr>
        <p:spPr>
          <a:xfrm>
            <a:off x="566928" y="50429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98805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Drop the template when it fights you</a:t>
            </a:r>
            <a:endParaRPr lang="en-US" sz="1550" dirty="0"/>
          </a:p>
        </p:txBody>
      </p:sp>
      <p:sp>
        <p:nvSpPr>
          <p:cNvPr id="20" name="Text 18"/>
          <p:cNvSpPr/>
          <p:nvPr/>
        </p:nvSpPr>
        <p:spPr>
          <a:xfrm>
            <a:off x="1170432" y="529894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Technical enablers, spikes, bug fixes and infrastructure work rarely fit the format. Forcing it produces nonsense like 'As a system, I want an index'. Write a clear title and clear acceptance criteria instead.</a:t>
            </a:r>
            <a:endParaRPr lang="en-US" sz="12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36</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5 · STORIES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EEDB36-B486-9121-6C42-535FB6776356}"/>
              </a:ext>
            </a:extLst>
          </p:cNvPr>
          <p:cNvSpPr>
            <a:spLocks noGrp="1"/>
          </p:cNvSpPr>
          <p:nvPr>
            <p:ph idx="1"/>
          </p:nvPr>
        </p:nvSpPr>
        <p:spPr/>
        <p:txBody>
          <a:bodyPr>
            <a:noAutofit/>
          </a:bodyPr>
          <a:lstStyle/>
          <a:p>
            <a:pPr rtl="0"/>
            <a:r>
              <a:rPr lang="en-US" sz="1800" b="1" dirty="0"/>
              <a:t>Title:</a:t>
            </a:r>
            <a:r>
              <a:rPr lang="en-US" sz="1800" dirty="0"/>
              <a:t> Password reset via email</a:t>
            </a:r>
          </a:p>
          <a:p>
            <a:pPr rtl="0"/>
            <a:r>
              <a:rPr lang="en-US" sz="1800" b="1" dirty="0"/>
              <a:t>Story:</a:t>
            </a:r>
            <a:br>
              <a:rPr lang="en-US" sz="1800" dirty="0"/>
            </a:br>
            <a:r>
              <a:rPr lang="en-US" sz="1800" dirty="0"/>
              <a:t>As a registered user who has forgotten my password, I want to reset it through a link sent to my email, so that I can regain access to my account without contacting support.</a:t>
            </a:r>
          </a:p>
          <a:p>
            <a:pPr rtl="0"/>
            <a:endParaRPr lang="en-US" sz="1800" dirty="0"/>
          </a:p>
          <a:p>
            <a:pPr rtl="0"/>
            <a:r>
              <a:rPr lang="en-US" sz="1800" b="1" dirty="0"/>
              <a:t>Acceptance Criteria:</a:t>
            </a:r>
            <a:endParaRPr lang="en-US" sz="1800" dirty="0"/>
          </a:p>
          <a:p>
            <a:pPr rtl="0">
              <a:buFont typeface="Arial" panose="020B0604020202020204" pitchFamily="34" charset="0"/>
              <a:buChar char="•"/>
            </a:pPr>
            <a:r>
              <a:rPr lang="en-US" sz="1800" dirty="0"/>
              <a:t>Given I'm on the login page, when I click "Forgot password," then I'm prompted to enter my registered email address.</a:t>
            </a:r>
          </a:p>
          <a:p>
            <a:pPr rtl="0">
              <a:buFont typeface="Arial" panose="020B0604020202020204" pitchFamily="34" charset="0"/>
              <a:buChar char="•"/>
            </a:pPr>
            <a:r>
              <a:rPr lang="en-US" sz="1800" dirty="0"/>
              <a:t>Given I enter a valid registered email, when I submit, then I receive a reset link within 2 minutes and see a confirmation message on screen.</a:t>
            </a:r>
          </a:p>
          <a:p>
            <a:pPr rtl="0">
              <a:buFont typeface="Arial" panose="020B0604020202020204" pitchFamily="34" charset="0"/>
              <a:buChar char="•"/>
            </a:pPr>
            <a:r>
              <a:rPr lang="en-US" sz="1800" dirty="0"/>
              <a:t>Given I enter an email that isn't registered, when I submit, then I see the same generic confirmation message (to avoid revealing which emails exist).</a:t>
            </a:r>
          </a:p>
          <a:p>
            <a:pPr rtl="0">
              <a:buFont typeface="Arial" panose="020B0604020202020204" pitchFamily="34" charset="0"/>
              <a:buChar char="•"/>
            </a:pPr>
            <a:r>
              <a:rPr lang="en-US" sz="1800" dirty="0"/>
              <a:t>Given I click a valid reset link, when it's less than 60 minutes old, then I can set a new password meeting the complexity rules.</a:t>
            </a:r>
          </a:p>
          <a:p>
            <a:pPr rtl="0">
              <a:buFont typeface="Arial" panose="020B0604020202020204" pitchFamily="34" charset="0"/>
              <a:buChar char="•"/>
            </a:pPr>
            <a:r>
              <a:rPr lang="en-US" sz="1800" dirty="0"/>
              <a:t>Given I click a reset link older than 60 minutes, when the page loads, then I see an "expired link" message and an option to request a new one.</a:t>
            </a:r>
          </a:p>
          <a:p>
            <a:endParaRPr lang="en-IN" sz="1800" dirty="0"/>
          </a:p>
        </p:txBody>
      </p:sp>
      <p:sp>
        <p:nvSpPr>
          <p:cNvPr id="3" name="Content Placeholder 2">
            <a:extLst>
              <a:ext uri="{FF2B5EF4-FFF2-40B4-BE49-F238E27FC236}">
                <a16:creationId xmlns:a16="http://schemas.microsoft.com/office/drawing/2014/main" id="{AF6B170A-A819-237B-A8DA-30355815B091}"/>
              </a:ext>
            </a:extLst>
          </p:cNvPr>
          <p:cNvSpPr>
            <a:spLocks noGrp="1"/>
          </p:cNvSpPr>
          <p:nvPr>
            <p:ph sz="quarter" idx="10"/>
          </p:nvPr>
        </p:nvSpPr>
        <p:spPr/>
        <p:txBody>
          <a:bodyPr/>
          <a:lstStyle/>
          <a:p>
            <a:r>
              <a:rPr lang="en-IN" dirty="0"/>
              <a:t>Sample User Story</a:t>
            </a:r>
          </a:p>
        </p:txBody>
      </p:sp>
    </p:spTree>
    <p:extLst>
      <p:ext uri="{BB962C8B-B14F-4D97-AF65-F5344CB8AC3E}">
        <p14:creationId xmlns:p14="http://schemas.microsoft.com/office/powerpoint/2010/main" val="2667530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9454B9-49ED-C9AE-7A41-8ABC1FB1707F}"/>
              </a:ext>
            </a:extLst>
          </p:cNvPr>
          <p:cNvSpPr>
            <a:spLocks noGrp="1"/>
          </p:cNvSpPr>
          <p:nvPr>
            <p:ph idx="1"/>
          </p:nvPr>
        </p:nvSpPr>
        <p:spPr/>
        <p:txBody>
          <a:bodyPr>
            <a:normAutofit fontScale="92500" lnSpcReduction="10000"/>
          </a:bodyPr>
          <a:lstStyle/>
          <a:p>
            <a:pPr rtl="0"/>
            <a:r>
              <a:rPr lang="en-US" dirty="0"/>
              <a:t>It follows the </a:t>
            </a:r>
            <a:r>
              <a:rPr lang="en-US" b="1" dirty="0"/>
              <a:t>"As a… I want… so that…"</a:t>
            </a:r>
            <a:r>
              <a:rPr lang="en-US" dirty="0"/>
              <a:t> structure, which forces you to name the user, the need, and the underlying value. The "so that" clause is the part people most often skip, but it's what lets the team make sensible trade-offs later.</a:t>
            </a:r>
          </a:p>
          <a:p>
            <a:pPr rtl="0"/>
            <a:r>
              <a:rPr lang="en-US" dirty="0"/>
              <a:t>It's </a:t>
            </a:r>
            <a:r>
              <a:rPr lang="en-US" b="1" dirty="0"/>
              <a:t>INVEST-compliant</a:t>
            </a:r>
            <a:r>
              <a:rPr lang="en-US" dirty="0"/>
              <a:t> — Independent, Negotiable, Valuable, Estimable, Small, and Testable. Notice it describes </a:t>
            </a:r>
            <a:r>
              <a:rPr lang="en-US" i="1" dirty="0"/>
              <a:t>what</a:t>
            </a:r>
            <a:r>
              <a:rPr lang="en-US" dirty="0"/>
              <a:t> the user needs, not </a:t>
            </a:r>
            <a:r>
              <a:rPr lang="en-US" i="1" dirty="0"/>
              <a:t>how</a:t>
            </a:r>
            <a:r>
              <a:rPr lang="en-US" dirty="0"/>
              <a:t> to build it (no mention of specific tables, endpoints, or frameworks), which leaves room for the team to decide implementation.</a:t>
            </a:r>
          </a:p>
          <a:p>
            <a:pPr rtl="0"/>
            <a:r>
              <a:rPr lang="en-US" dirty="0"/>
              <a:t>The </a:t>
            </a:r>
            <a:r>
              <a:rPr lang="en-US" b="1" dirty="0"/>
              <a:t>acceptance criteria are written in Given/When/Then</a:t>
            </a:r>
            <a:r>
              <a:rPr lang="en-US" dirty="0"/>
              <a:t> form, so they double as the basis for test cases and give QA an unambiguous definition of "done." They also cover edge cases (expired links, unregistered emails, security considerations), not just the happy path.</a:t>
            </a:r>
          </a:p>
          <a:p>
            <a:pPr rtl="0"/>
            <a:r>
              <a:rPr lang="en-US" dirty="0"/>
              <a:t>A common anti-pattern to avoid looks like: </a:t>
            </a:r>
            <a:r>
              <a:rPr lang="en-US" i="1" dirty="0"/>
              <a:t>"As a user, I want a password reset feature."</a:t>
            </a:r>
            <a:r>
              <a:rPr lang="en-US" dirty="0"/>
              <a:t> That's really an epic or a task label — it has no clear value statement and nothing testable, so nobody can agree on when it's finished.</a:t>
            </a:r>
          </a:p>
          <a:p>
            <a:endParaRPr lang="en-IN" dirty="0"/>
          </a:p>
        </p:txBody>
      </p:sp>
      <p:sp>
        <p:nvSpPr>
          <p:cNvPr id="3" name="Content Placeholder 2">
            <a:extLst>
              <a:ext uri="{FF2B5EF4-FFF2-40B4-BE49-F238E27FC236}">
                <a16:creationId xmlns:a16="http://schemas.microsoft.com/office/drawing/2014/main" id="{3A38A7B5-D213-504B-4240-BBDB36128DF7}"/>
              </a:ext>
            </a:extLst>
          </p:cNvPr>
          <p:cNvSpPr>
            <a:spLocks noGrp="1"/>
          </p:cNvSpPr>
          <p:nvPr>
            <p:ph sz="quarter" idx="10"/>
          </p:nvPr>
        </p:nvSpPr>
        <p:spPr/>
        <p:txBody>
          <a:bodyPr>
            <a:normAutofit/>
          </a:bodyPr>
          <a:lstStyle/>
          <a:p>
            <a:r>
              <a:rPr lang="en-US" sz="2800" dirty="0"/>
              <a:t>What makes this a </a:t>
            </a:r>
            <a:r>
              <a:rPr lang="en-US" sz="2800" i="1" dirty="0"/>
              <a:t>good</a:t>
            </a:r>
            <a:r>
              <a:rPr lang="en-US" sz="2800" dirty="0"/>
              <a:t> story rather than a weak one:</a:t>
            </a:r>
          </a:p>
          <a:p>
            <a:endParaRPr lang="en-IN" sz="2800" dirty="0"/>
          </a:p>
        </p:txBody>
      </p:sp>
    </p:spTree>
    <p:extLst>
      <p:ext uri="{BB962C8B-B14F-4D97-AF65-F5344CB8AC3E}">
        <p14:creationId xmlns:p14="http://schemas.microsoft.com/office/powerpoint/2010/main" val="33532846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5 · STORIES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INVEST — a quality check for stories</a:t>
            </a:r>
            <a:endParaRPr lang="en-US" sz="3000" dirty="0"/>
          </a:p>
        </p:txBody>
      </p:sp>
      <p:sp>
        <p:nvSpPr>
          <p:cNvPr id="4" name="Shape 2"/>
          <p:cNvSpPr/>
          <p:nvPr/>
        </p:nvSpPr>
        <p:spPr>
          <a:xfrm>
            <a:off x="548640" y="1847088"/>
            <a:ext cx="3502152" cy="1664208"/>
          </a:xfrm>
          <a:prstGeom prst="roundRect">
            <a:avLst>
              <a:gd name="adj" fmla="val 3297"/>
            </a:avLst>
          </a:prstGeom>
          <a:solidFill>
            <a:srgbClr val="F4F7F9"/>
          </a:solidFill>
          <a:ln/>
        </p:spPr>
        <p:txBody>
          <a:bodyPr/>
          <a:lstStyle/>
          <a:p>
            <a:endParaRPr lang="en-IN"/>
          </a:p>
        </p:txBody>
      </p:sp>
      <p:sp>
        <p:nvSpPr>
          <p:cNvPr id="5" name="Shape 3"/>
          <p:cNvSpPr/>
          <p:nvPr/>
        </p:nvSpPr>
        <p:spPr>
          <a:xfrm>
            <a:off x="804672" y="2103120"/>
            <a:ext cx="365760" cy="365760"/>
          </a:xfrm>
          <a:prstGeom prst="ellipse">
            <a:avLst/>
          </a:prstGeom>
          <a:solidFill>
            <a:srgbClr val="003352"/>
          </a:solidFill>
          <a:ln/>
        </p:spPr>
        <p:txBody>
          <a:bodyPr/>
          <a:lstStyle/>
          <a:p>
            <a:endParaRPr lang="en-IN"/>
          </a:p>
        </p:txBody>
      </p:sp>
      <p:sp>
        <p:nvSpPr>
          <p:cNvPr id="6" name="Text 4"/>
          <p:cNvSpPr/>
          <p:nvPr/>
        </p:nvSpPr>
        <p:spPr>
          <a:xfrm>
            <a:off x="804672"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I</a:t>
            </a:r>
            <a:endParaRPr lang="en-US" sz="1200" dirty="0"/>
          </a:p>
        </p:txBody>
      </p:sp>
      <p:sp>
        <p:nvSpPr>
          <p:cNvPr id="7" name="Text 5"/>
          <p:cNvSpPr/>
          <p:nvPr/>
        </p:nvSpPr>
        <p:spPr>
          <a:xfrm>
            <a:off x="1298448" y="2084832"/>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Independent</a:t>
            </a:r>
            <a:endParaRPr lang="en-US" sz="1450" dirty="0"/>
          </a:p>
        </p:txBody>
      </p:sp>
      <p:sp>
        <p:nvSpPr>
          <p:cNvPr id="8" name="Text 6"/>
          <p:cNvSpPr/>
          <p:nvPr/>
        </p:nvSpPr>
        <p:spPr>
          <a:xfrm>
            <a:off x="804672" y="2578608"/>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Can be built and released without waiting on another story. Dependencies between stories become dependencies in the sprint.</a:t>
            </a:r>
            <a:endParaRPr lang="en-US" sz="1150" dirty="0"/>
          </a:p>
        </p:txBody>
      </p:sp>
      <p:sp>
        <p:nvSpPr>
          <p:cNvPr id="9" name="Shape 7"/>
          <p:cNvSpPr/>
          <p:nvPr/>
        </p:nvSpPr>
        <p:spPr>
          <a:xfrm>
            <a:off x="4343400" y="1847088"/>
            <a:ext cx="3502152" cy="1664208"/>
          </a:xfrm>
          <a:prstGeom prst="roundRect">
            <a:avLst>
              <a:gd name="adj" fmla="val 3297"/>
            </a:avLst>
          </a:prstGeom>
          <a:solidFill>
            <a:srgbClr val="F4F7F9"/>
          </a:solidFill>
          <a:ln/>
        </p:spPr>
        <p:txBody>
          <a:bodyPr/>
          <a:lstStyle/>
          <a:p>
            <a:endParaRPr lang="en-IN"/>
          </a:p>
        </p:txBody>
      </p:sp>
      <p:sp>
        <p:nvSpPr>
          <p:cNvPr id="10" name="Shape 8"/>
          <p:cNvSpPr/>
          <p:nvPr/>
        </p:nvSpPr>
        <p:spPr>
          <a:xfrm>
            <a:off x="4599432" y="2103120"/>
            <a:ext cx="365760" cy="365760"/>
          </a:xfrm>
          <a:prstGeom prst="ellipse">
            <a:avLst/>
          </a:prstGeom>
          <a:solidFill>
            <a:srgbClr val="003352"/>
          </a:solidFill>
          <a:ln/>
        </p:spPr>
        <p:txBody>
          <a:bodyPr/>
          <a:lstStyle/>
          <a:p>
            <a:endParaRPr lang="en-IN"/>
          </a:p>
        </p:txBody>
      </p:sp>
      <p:sp>
        <p:nvSpPr>
          <p:cNvPr id="11" name="Text 9"/>
          <p:cNvSpPr/>
          <p:nvPr/>
        </p:nvSpPr>
        <p:spPr>
          <a:xfrm>
            <a:off x="4599432"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N</a:t>
            </a:r>
            <a:endParaRPr lang="en-US" sz="1200" dirty="0"/>
          </a:p>
        </p:txBody>
      </p:sp>
      <p:sp>
        <p:nvSpPr>
          <p:cNvPr id="12" name="Text 10"/>
          <p:cNvSpPr/>
          <p:nvPr/>
        </p:nvSpPr>
        <p:spPr>
          <a:xfrm>
            <a:off x="5093208" y="2084832"/>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Negotiable</a:t>
            </a:r>
            <a:endParaRPr lang="en-US" sz="1450" dirty="0"/>
          </a:p>
        </p:txBody>
      </p:sp>
      <p:sp>
        <p:nvSpPr>
          <p:cNvPr id="13" name="Text 11"/>
          <p:cNvSpPr/>
          <p:nvPr/>
        </p:nvSpPr>
        <p:spPr>
          <a:xfrm>
            <a:off x="4599432" y="2578608"/>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Not a contract. The details are settled in conversation, so there is room to find a cheaper way to the same outcome.</a:t>
            </a:r>
            <a:endParaRPr lang="en-US" sz="1150" dirty="0"/>
          </a:p>
        </p:txBody>
      </p:sp>
      <p:sp>
        <p:nvSpPr>
          <p:cNvPr id="14" name="Shape 12"/>
          <p:cNvSpPr/>
          <p:nvPr/>
        </p:nvSpPr>
        <p:spPr>
          <a:xfrm>
            <a:off x="8138160" y="1847088"/>
            <a:ext cx="3502152" cy="1664208"/>
          </a:xfrm>
          <a:prstGeom prst="roundRect">
            <a:avLst>
              <a:gd name="adj" fmla="val 3297"/>
            </a:avLst>
          </a:prstGeom>
          <a:solidFill>
            <a:srgbClr val="F4F7F9"/>
          </a:solidFill>
          <a:ln/>
        </p:spPr>
        <p:txBody>
          <a:bodyPr/>
          <a:lstStyle/>
          <a:p>
            <a:endParaRPr lang="en-IN"/>
          </a:p>
        </p:txBody>
      </p:sp>
      <p:sp>
        <p:nvSpPr>
          <p:cNvPr id="15" name="Shape 13"/>
          <p:cNvSpPr/>
          <p:nvPr/>
        </p:nvSpPr>
        <p:spPr>
          <a:xfrm>
            <a:off x="8394192" y="2103120"/>
            <a:ext cx="365760" cy="365760"/>
          </a:xfrm>
          <a:prstGeom prst="ellipse">
            <a:avLst/>
          </a:prstGeom>
          <a:solidFill>
            <a:srgbClr val="003352"/>
          </a:solidFill>
          <a:ln/>
        </p:spPr>
        <p:txBody>
          <a:bodyPr/>
          <a:lstStyle/>
          <a:p>
            <a:endParaRPr lang="en-IN"/>
          </a:p>
        </p:txBody>
      </p:sp>
      <p:sp>
        <p:nvSpPr>
          <p:cNvPr id="16" name="Text 14"/>
          <p:cNvSpPr/>
          <p:nvPr/>
        </p:nvSpPr>
        <p:spPr>
          <a:xfrm>
            <a:off x="8394192"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V</a:t>
            </a:r>
            <a:endParaRPr lang="en-US" sz="1200" dirty="0"/>
          </a:p>
        </p:txBody>
      </p:sp>
      <p:sp>
        <p:nvSpPr>
          <p:cNvPr id="17" name="Text 15"/>
          <p:cNvSpPr/>
          <p:nvPr/>
        </p:nvSpPr>
        <p:spPr>
          <a:xfrm>
            <a:off x="8887968" y="2084832"/>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Valuable</a:t>
            </a:r>
            <a:endParaRPr lang="en-US" sz="1450" dirty="0"/>
          </a:p>
        </p:txBody>
      </p:sp>
      <p:sp>
        <p:nvSpPr>
          <p:cNvPr id="18" name="Text 16"/>
          <p:cNvSpPr/>
          <p:nvPr/>
        </p:nvSpPr>
        <p:spPr>
          <a:xfrm>
            <a:off x="8394192" y="2578608"/>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Delivers something a user or the business can perceive. If nobody notices it shipped, question whether it belongs at the top.</a:t>
            </a:r>
            <a:endParaRPr lang="en-US" sz="1150" dirty="0"/>
          </a:p>
        </p:txBody>
      </p:sp>
      <p:sp>
        <p:nvSpPr>
          <p:cNvPr id="19" name="Shape 17"/>
          <p:cNvSpPr/>
          <p:nvPr/>
        </p:nvSpPr>
        <p:spPr>
          <a:xfrm>
            <a:off x="548640" y="3785616"/>
            <a:ext cx="3502152" cy="1664208"/>
          </a:xfrm>
          <a:prstGeom prst="roundRect">
            <a:avLst>
              <a:gd name="adj" fmla="val 3297"/>
            </a:avLst>
          </a:prstGeom>
          <a:solidFill>
            <a:srgbClr val="F4F7F9"/>
          </a:solidFill>
          <a:ln/>
        </p:spPr>
        <p:txBody>
          <a:bodyPr/>
          <a:lstStyle/>
          <a:p>
            <a:endParaRPr lang="en-IN"/>
          </a:p>
        </p:txBody>
      </p:sp>
      <p:sp>
        <p:nvSpPr>
          <p:cNvPr id="20" name="Shape 18"/>
          <p:cNvSpPr/>
          <p:nvPr/>
        </p:nvSpPr>
        <p:spPr>
          <a:xfrm>
            <a:off x="804672" y="4041648"/>
            <a:ext cx="365760" cy="365760"/>
          </a:xfrm>
          <a:prstGeom prst="ellipse">
            <a:avLst/>
          </a:prstGeom>
          <a:solidFill>
            <a:srgbClr val="003352"/>
          </a:solidFill>
          <a:ln/>
        </p:spPr>
        <p:txBody>
          <a:bodyPr/>
          <a:lstStyle/>
          <a:p>
            <a:endParaRPr lang="en-IN"/>
          </a:p>
        </p:txBody>
      </p:sp>
      <p:sp>
        <p:nvSpPr>
          <p:cNvPr id="21" name="Text 19"/>
          <p:cNvSpPr/>
          <p:nvPr/>
        </p:nvSpPr>
        <p:spPr>
          <a:xfrm>
            <a:off x="804672" y="40416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E</a:t>
            </a:r>
            <a:endParaRPr lang="en-US" sz="1200" dirty="0"/>
          </a:p>
        </p:txBody>
      </p:sp>
      <p:sp>
        <p:nvSpPr>
          <p:cNvPr id="22" name="Text 20"/>
          <p:cNvSpPr/>
          <p:nvPr/>
        </p:nvSpPr>
        <p:spPr>
          <a:xfrm>
            <a:off x="1298448" y="4023360"/>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Estimable</a:t>
            </a:r>
            <a:endParaRPr lang="en-US" sz="1450" dirty="0"/>
          </a:p>
        </p:txBody>
      </p:sp>
      <p:sp>
        <p:nvSpPr>
          <p:cNvPr id="23" name="Text 21"/>
          <p:cNvSpPr/>
          <p:nvPr/>
        </p:nvSpPr>
        <p:spPr>
          <a:xfrm>
            <a:off x="804672" y="4517136"/>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The team can size it. If they can't, it needs either a conversation or a timeboxed spike — not a guessed number.</a:t>
            </a:r>
            <a:endParaRPr lang="en-US" sz="1150" dirty="0"/>
          </a:p>
        </p:txBody>
      </p:sp>
      <p:sp>
        <p:nvSpPr>
          <p:cNvPr id="24" name="Shape 22"/>
          <p:cNvSpPr/>
          <p:nvPr/>
        </p:nvSpPr>
        <p:spPr>
          <a:xfrm>
            <a:off x="4343400" y="3785616"/>
            <a:ext cx="3502152" cy="1664208"/>
          </a:xfrm>
          <a:prstGeom prst="roundRect">
            <a:avLst>
              <a:gd name="adj" fmla="val 3297"/>
            </a:avLst>
          </a:prstGeom>
          <a:solidFill>
            <a:srgbClr val="F4F7F9"/>
          </a:solidFill>
          <a:ln/>
        </p:spPr>
        <p:txBody>
          <a:bodyPr/>
          <a:lstStyle/>
          <a:p>
            <a:endParaRPr lang="en-IN"/>
          </a:p>
        </p:txBody>
      </p:sp>
      <p:sp>
        <p:nvSpPr>
          <p:cNvPr id="25" name="Shape 23"/>
          <p:cNvSpPr/>
          <p:nvPr/>
        </p:nvSpPr>
        <p:spPr>
          <a:xfrm>
            <a:off x="4599432" y="4041648"/>
            <a:ext cx="365760" cy="365760"/>
          </a:xfrm>
          <a:prstGeom prst="ellipse">
            <a:avLst/>
          </a:prstGeom>
          <a:solidFill>
            <a:srgbClr val="003352"/>
          </a:solidFill>
          <a:ln/>
        </p:spPr>
        <p:txBody>
          <a:bodyPr/>
          <a:lstStyle/>
          <a:p>
            <a:endParaRPr lang="en-IN"/>
          </a:p>
        </p:txBody>
      </p:sp>
      <p:sp>
        <p:nvSpPr>
          <p:cNvPr id="26" name="Text 24"/>
          <p:cNvSpPr/>
          <p:nvPr/>
        </p:nvSpPr>
        <p:spPr>
          <a:xfrm>
            <a:off x="4599432" y="40416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S</a:t>
            </a:r>
            <a:endParaRPr lang="en-US" sz="1200" dirty="0"/>
          </a:p>
        </p:txBody>
      </p:sp>
      <p:sp>
        <p:nvSpPr>
          <p:cNvPr id="27" name="Text 25"/>
          <p:cNvSpPr/>
          <p:nvPr/>
        </p:nvSpPr>
        <p:spPr>
          <a:xfrm>
            <a:off x="5093208" y="4023360"/>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Small</a:t>
            </a:r>
            <a:endParaRPr lang="en-US" sz="1450" dirty="0"/>
          </a:p>
        </p:txBody>
      </p:sp>
      <p:sp>
        <p:nvSpPr>
          <p:cNvPr id="28" name="Text 26"/>
          <p:cNvSpPr/>
          <p:nvPr/>
        </p:nvSpPr>
        <p:spPr>
          <a:xfrm>
            <a:off x="4599432" y="4517136"/>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Fits comfortably inside one sprint. A useful heuristic: no story larger than about half the team's sprint capacity.</a:t>
            </a:r>
            <a:endParaRPr lang="en-US" sz="1150" dirty="0"/>
          </a:p>
        </p:txBody>
      </p:sp>
      <p:sp>
        <p:nvSpPr>
          <p:cNvPr id="29" name="Shape 27"/>
          <p:cNvSpPr/>
          <p:nvPr/>
        </p:nvSpPr>
        <p:spPr>
          <a:xfrm>
            <a:off x="8138160" y="3785616"/>
            <a:ext cx="3502152" cy="1664208"/>
          </a:xfrm>
          <a:prstGeom prst="roundRect">
            <a:avLst>
              <a:gd name="adj" fmla="val 3297"/>
            </a:avLst>
          </a:prstGeom>
          <a:solidFill>
            <a:srgbClr val="F4F7F9"/>
          </a:solidFill>
          <a:ln/>
        </p:spPr>
        <p:txBody>
          <a:bodyPr/>
          <a:lstStyle/>
          <a:p>
            <a:endParaRPr lang="en-IN"/>
          </a:p>
        </p:txBody>
      </p:sp>
      <p:sp>
        <p:nvSpPr>
          <p:cNvPr id="30" name="Shape 28"/>
          <p:cNvSpPr/>
          <p:nvPr/>
        </p:nvSpPr>
        <p:spPr>
          <a:xfrm>
            <a:off x="8394192" y="4041648"/>
            <a:ext cx="365760" cy="365760"/>
          </a:xfrm>
          <a:prstGeom prst="ellipse">
            <a:avLst/>
          </a:prstGeom>
          <a:solidFill>
            <a:srgbClr val="003352"/>
          </a:solidFill>
          <a:ln/>
        </p:spPr>
        <p:txBody>
          <a:bodyPr/>
          <a:lstStyle/>
          <a:p>
            <a:endParaRPr lang="en-IN"/>
          </a:p>
        </p:txBody>
      </p:sp>
      <p:sp>
        <p:nvSpPr>
          <p:cNvPr id="31" name="Text 29"/>
          <p:cNvSpPr/>
          <p:nvPr/>
        </p:nvSpPr>
        <p:spPr>
          <a:xfrm>
            <a:off x="8394192" y="40416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T</a:t>
            </a:r>
            <a:endParaRPr lang="en-US" sz="1200" dirty="0"/>
          </a:p>
        </p:txBody>
      </p:sp>
      <p:sp>
        <p:nvSpPr>
          <p:cNvPr id="32" name="Text 30"/>
          <p:cNvSpPr/>
          <p:nvPr/>
        </p:nvSpPr>
        <p:spPr>
          <a:xfrm>
            <a:off x="8887968" y="4023360"/>
            <a:ext cx="249631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Testable</a:t>
            </a:r>
            <a:endParaRPr lang="en-US" sz="1450" dirty="0"/>
          </a:p>
        </p:txBody>
      </p:sp>
      <p:sp>
        <p:nvSpPr>
          <p:cNvPr id="33" name="Text 31"/>
          <p:cNvSpPr/>
          <p:nvPr/>
        </p:nvSpPr>
        <p:spPr>
          <a:xfrm>
            <a:off x="8394192" y="4517136"/>
            <a:ext cx="2990088" cy="640080"/>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You can state, before building, how you'd prove it works. Untestable stories produce arguments at the review.</a:t>
            </a:r>
            <a:endParaRPr lang="en-US" sz="1150" dirty="0"/>
          </a:p>
        </p:txBody>
      </p:sp>
      <p:sp>
        <p:nvSpPr>
          <p:cNvPr id="34" name="Text 3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37</a:t>
            </a:r>
            <a:endParaRPr lang="en-US" sz="900" dirty="0"/>
          </a:p>
        </p:txBody>
      </p:sp>
      <p:sp>
        <p:nvSpPr>
          <p:cNvPr id="35" name="Text 3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5 · STORIES</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5 · STORIES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Acceptance criteria that settle arguments</a:t>
            </a:r>
            <a:endParaRPr lang="en-US" sz="30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Vague criteria</a:t>
            </a:r>
            <a:endParaRPr lang="en-US" sz="1900" dirty="0"/>
          </a:p>
        </p:txBody>
      </p:sp>
      <p:sp>
        <p:nvSpPr>
          <p:cNvPr id="6" name="Text 4"/>
          <p:cNvSpPr/>
          <p:nvPr/>
        </p:nvSpPr>
        <p:spPr>
          <a:xfrm>
            <a:off x="932688" y="2542032"/>
            <a:ext cx="4626864" cy="329184"/>
          </a:xfrm>
          <a:prstGeom prst="rect">
            <a:avLst/>
          </a:prstGeom>
          <a:noFill/>
          <a:ln/>
        </p:spPr>
        <p:txBody>
          <a:bodyPr wrap="square" lIns="0" tIns="0" rIns="0" bIns="0" rtlCol="0" anchor="ctr"/>
          <a:lstStyle/>
          <a:p>
            <a:pPr marL="0" indent="0">
              <a:buNone/>
            </a:pPr>
            <a:r>
              <a:rPr lang="en-US" sz="1150" i="1" dirty="0">
                <a:solidFill>
                  <a:srgbClr val="7A8C99"/>
                </a:solidFill>
                <a:latin typeface="Century Gothic" pitchFamily="34" charset="0"/>
                <a:ea typeface="Century Gothic" pitchFamily="34" charset="-122"/>
                <a:cs typeface="Century Gothic" pitchFamily="34" charset="-120"/>
              </a:rPr>
              <a:t>"Web check-in should work properly"</a:t>
            </a:r>
            <a:endParaRPr lang="en-US" sz="1150" dirty="0"/>
          </a:p>
        </p:txBody>
      </p:sp>
      <p:sp>
        <p:nvSpPr>
          <p:cNvPr id="7" name="Text 5"/>
          <p:cNvSpPr/>
          <p:nvPr/>
        </p:nvSpPr>
        <p:spPr>
          <a:xfrm>
            <a:off x="932688"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Works properly — according to whom?</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Should be fast — how fast, measured where?</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Handles errors gracefully — which errors?</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Mobile friendly — which devices, which orientations?</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Sends a notification — on what trigger, to whom, saying what?</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Result: the argument happens at the Sprint Review</a:t>
            </a:r>
            <a:endParaRPr lang="en-US" sz="1250" dirty="0"/>
          </a:p>
        </p:txBody>
      </p:sp>
      <p:sp>
        <p:nvSpPr>
          <p:cNvPr id="8" name="Shape 6"/>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9" name="Text 7"/>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Given / When / Then</a:t>
            </a:r>
            <a:endParaRPr lang="en-US" sz="1900" dirty="0"/>
          </a:p>
        </p:txBody>
      </p:sp>
      <p:sp>
        <p:nvSpPr>
          <p:cNvPr id="10" name="Text 8"/>
          <p:cNvSpPr/>
          <p:nvPr/>
        </p:nvSpPr>
        <p:spPr>
          <a:xfrm>
            <a:off x="6629400" y="2542032"/>
            <a:ext cx="4626864" cy="329184"/>
          </a:xfrm>
          <a:prstGeom prst="rect">
            <a:avLst/>
          </a:prstGeom>
          <a:noFill/>
          <a:ln/>
        </p:spPr>
        <p:txBody>
          <a:bodyPr wrap="square" lIns="0" tIns="0" rIns="0" bIns="0" rtlCol="0" anchor="ctr"/>
          <a:lstStyle/>
          <a:p>
            <a:pPr marL="0" indent="0">
              <a:buNone/>
            </a:pPr>
            <a:r>
              <a:rPr lang="en-US" sz="1150" i="1" dirty="0">
                <a:solidFill>
                  <a:srgbClr val="8FB3C6"/>
                </a:solidFill>
                <a:latin typeface="Century Gothic" pitchFamily="34" charset="0"/>
                <a:ea typeface="Century Gothic" pitchFamily="34" charset="-122"/>
                <a:cs typeface="Century Gothic" pitchFamily="34" charset="-120"/>
              </a:rPr>
              <a:t>Web check-in, worked example</a:t>
            </a:r>
            <a:endParaRPr lang="en-US" sz="1150" dirty="0"/>
          </a:p>
        </p:txBody>
      </p:sp>
      <p:sp>
        <p:nvSpPr>
          <p:cNvPr id="11" name="Text 9"/>
          <p:cNvSpPr/>
          <p:nvPr/>
        </p:nvSpPr>
        <p:spPr>
          <a:xfrm>
            <a:off x="6629400"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Given a confirmed reservation for today, when the guest opens the check-in link, then the reservation details are shown pre-filled</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Given a guest has uploaded valid ID, when they submit, then the reservation status becomes 'checked in — pending desk approval'</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Given the reservation is cancelled, when the link is opened, then a clear message is shown and no data is captured</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Given ID upload fails twice, when the guest retries, then desk check-in is offered</a:t>
            </a:r>
            <a:endParaRPr lang="en-US" sz="1250" dirty="0"/>
          </a:p>
        </p:txBody>
      </p:sp>
      <p:sp>
        <p:nvSpPr>
          <p:cNvPr id="12" name="Text 1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38</a:t>
            </a:r>
            <a:endParaRPr lang="en-US" sz="900" dirty="0"/>
          </a:p>
        </p:txBody>
      </p:sp>
      <p:sp>
        <p:nvSpPr>
          <p:cNvPr id="13" name="Text 1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5 · STORIES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5 · STORIES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800" b="1" dirty="0">
                <a:solidFill>
                  <a:srgbClr val="003352"/>
                </a:solidFill>
                <a:latin typeface="Century Gothic" pitchFamily="34" charset="0"/>
                <a:ea typeface="Century Gothic" pitchFamily="34" charset="-122"/>
                <a:cs typeface="Century Gothic" pitchFamily="34" charset="-120"/>
              </a:rPr>
              <a:t>The backlog is a decision-making instrument</a:t>
            </a:r>
            <a:endParaRPr lang="en-US" sz="28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If your backlog can't tell you what to do next, it isn't a backlog — it's an archive.</a:t>
            </a:r>
            <a:endParaRPr lang="en-US" sz="1450" dirty="0"/>
          </a:p>
        </p:txBody>
      </p:sp>
      <p:sp>
        <p:nvSpPr>
          <p:cNvPr id="5" name="Shape 3"/>
          <p:cNvSpPr/>
          <p:nvPr/>
        </p:nvSpPr>
        <p:spPr>
          <a:xfrm>
            <a:off x="548640" y="2395728"/>
            <a:ext cx="2028139" cy="2926080"/>
          </a:xfrm>
          <a:prstGeom prst="roundRect">
            <a:avLst>
              <a:gd name="adj" fmla="val 2705"/>
            </a:avLst>
          </a:prstGeom>
          <a:solidFill>
            <a:srgbClr val="F4F7F9"/>
          </a:solidFill>
          <a:ln/>
        </p:spPr>
        <p:txBody>
          <a:bodyPr/>
          <a:lstStyle/>
          <a:p>
            <a:endParaRPr lang="en-IN"/>
          </a:p>
        </p:txBody>
      </p:sp>
      <p:sp>
        <p:nvSpPr>
          <p:cNvPr id="6" name="Shape 4"/>
          <p:cNvSpPr/>
          <p:nvPr/>
        </p:nvSpPr>
        <p:spPr>
          <a:xfrm>
            <a:off x="1343254" y="2670048"/>
            <a:ext cx="438912" cy="438912"/>
          </a:xfrm>
          <a:prstGeom prst="ellipse">
            <a:avLst/>
          </a:prstGeom>
          <a:solidFill>
            <a:srgbClr val="63E7A4"/>
          </a:solidFill>
          <a:ln/>
        </p:spPr>
        <p:txBody>
          <a:bodyPr/>
          <a:lstStyle/>
          <a:p>
            <a:endParaRPr lang="en-IN"/>
          </a:p>
        </p:txBody>
      </p:sp>
      <p:sp>
        <p:nvSpPr>
          <p:cNvPr id="7" name="Text 5"/>
          <p:cNvSpPr/>
          <p:nvPr/>
        </p:nvSpPr>
        <p:spPr>
          <a:xfrm>
            <a:off x="1343254"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731520"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Ordered, not prioritised</a:t>
            </a:r>
            <a:endParaRPr lang="en-US" sz="1400" dirty="0"/>
          </a:p>
        </p:txBody>
      </p:sp>
      <p:sp>
        <p:nvSpPr>
          <p:cNvPr id="9" name="Text 7"/>
          <p:cNvSpPr/>
          <p:nvPr/>
        </p:nvSpPr>
        <p:spPr>
          <a:xfrm>
            <a:off x="731520"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A single ordered list. Not three hundred items all marked High.</a:t>
            </a:r>
            <a:endParaRPr lang="en-US" sz="1150" dirty="0"/>
          </a:p>
        </p:txBody>
      </p:sp>
      <p:sp>
        <p:nvSpPr>
          <p:cNvPr id="10" name="Text 8"/>
          <p:cNvSpPr/>
          <p:nvPr/>
        </p:nvSpPr>
        <p:spPr>
          <a:xfrm>
            <a:off x="2558491"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1" name="Shape 9"/>
          <p:cNvSpPr/>
          <p:nvPr/>
        </p:nvSpPr>
        <p:spPr>
          <a:xfrm>
            <a:off x="2814523" y="2395728"/>
            <a:ext cx="2028139" cy="2926080"/>
          </a:xfrm>
          <a:prstGeom prst="roundRect">
            <a:avLst>
              <a:gd name="adj" fmla="val 2705"/>
            </a:avLst>
          </a:prstGeom>
          <a:solidFill>
            <a:srgbClr val="F4F7F9"/>
          </a:solidFill>
          <a:ln/>
        </p:spPr>
        <p:txBody>
          <a:bodyPr/>
          <a:lstStyle/>
          <a:p>
            <a:endParaRPr lang="en-IN"/>
          </a:p>
        </p:txBody>
      </p:sp>
      <p:sp>
        <p:nvSpPr>
          <p:cNvPr id="12" name="Shape 10"/>
          <p:cNvSpPr/>
          <p:nvPr/>
        </p:nvSpPr>
        <p:spPr>
          <a:xfrm>
            <a:off x="3609137" y="2670048"/>
            <a:ext cx="438912" cy="438912"/>
          </a:xfrm>
          <a:prstGeom prst="ellipse">
            <a:avLst/>
          </a:prstGeom>
          <a:solidFill>
            <a:srgbClr val="63E7A4"/>
          </a:solidFill>
          <a:ln/>
        </p:spPr>
        <p:txBody>
          <a:bodyPr/>
          <a:lstStyle/>
          <a:p>
            <a:endParaRPr lang="en-IN"/>
          </a:p>
        </p:txBody>
      </p:sp>
      <p:sp>
        <p:nvSpPr>
          <p:cNvPr id="13" name="Text 11"/>
          <p:cNvSpPr/>
          <p:nvPr/>
        </p:nvSpPr>
        <p:spPr>
          <a:xfrm>
            <a:off x="3609137"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4" name="Text 12"/>
          <p:cNvSpPr/>
          <p:nvPr/>
        </p:nvSpPr>
        <p:spPr>
          <a:xfrm>
            <a:off x="2997403"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Refined continuously</a:t>
            </a:r>
            <a:endParaRPr lang="en-US" sz="1400" dirty="0"/>
          </a:p>
        </p:txBody>
      </p:sp>
      <p:sp>
        <p:nvSpPr>
          <p:cNvPr id="15" name="Text 13"/>
          <p:cNvSpPr/>
          <p:nvPr/>
        </p:nvSpPr>
        <p:spPr>
          <a:xfrm>
            <a:off x="2997403"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Roughly 10% of team time. The top is detailed; the bottom is deliberately coarse.</a:t>
            </a:r>
            <a:endParaRPr lang="en-US" sz="1150" dirty="0"/>
          </a:p>
        </p:txBody>
      </p:sp>
      <p:sp>
        <p:nvSpPr>
          <p:cNvPr id="16" name="Text 14"/>
          <p:cNvSpPr/>
          <p:nvPr/>
        </p:nvSpPr>
        <p:spPr>
          <a:xfrm>
            <a:off x="4824374"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7" name="Shape 15"/>
          <p:cNvSpPr/>
          <p:nvPr/>
        </p:nvSpPr>
        <p:spPr>
          <a:xfrm>
            <a:off x="5080406" y="2395728"/>
            <a:ext cx="2028139" cy="2926080"/>
          </a:xfrm>
          <a:prstGeom prst="roundRect">
            <a:avLst>
              <a:gd name="adj" fmla="val 2705"/>
            </a:avLst>
          </a:prstGeom>
          <a:solidFill>
            <a:srgbClr val="F4F7F9"/>
          </a:solidFill>
          <a:ln/>
        </p:spPr>
        <p:txBody>
          <a:bodyPr/>
          <a:lstStyle/>
          <a:p>
            <a:endParaRPr lang="en-IN"/>
          </a:p>
        </p:txBody>
      </p:sp>
      <p:sp>
        <p:nvSpPr>
          <p:cNvPr id="18" name="Shape 16"/>
          <p:cNvSpPr/>
          <p:nvPr/>
        </p:nvSpPr>
        <p:spPr>
          <a:xfrm>
            <a:off x="5875020" y="2670048"/>
            <a:ext cx="438912" cy="438912"/>
          </a:xfrm>
          <a:prstGeom prst="ellipse">
            <a:avLst/>
          </a:prstGeom>
          <a:solidFill>
            <a:srgbClr val="63E7A4"/>
          </a:solidFill>
          <a:ln/>
        </p:spPr>
        <p:txBody>
          <a:bodyPr/>
          <a:lstStyle/>
          <a:p>
            <a:endParaRPr lang="en-IN"/>
          </a:p>
        </p:txBody>
      </p:sp>
      <p:sp>
        <p:nvSpPr>
          <p:cNvPr id="19" name="Text 17"/>
          <p:cNvSpPr/>
          <p:nvPr/>
        </p:nvSpPr>
        <p:spPr>
          <a:xfrm>
            <a:off x="5875020"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20" name="Text 18"/>
          <p:cNvSpPr/>
          <p:nvPr/>
        </p:nvSpPr>
        <p:spPr>
          <a:xfrm>
            <a:off x="5263286"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Ready at the top</a:t>
            </a:r>
            <a:endParaRPr lang="en-US" sz="1400" dirty="0"/>
          </a:p>
        </p:txBody>
      </p:sp>
      <p:sp>
        <p:nvSpPr>
          <p:cNvPr id="21" name="Text 19"/>
          <p:cNvSpPr/>
          <p:nvPr/>
        </p:nvSpPr>
        <p:spPr>
          <a:xfrm>
            <a:off x="5263286"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The next sprint's worth is small, understood and has acceptance criteria.</a:t>
            </a:r>
            <a:endParaRPr lang="en-US" sz="1150" dirty="0"/>
          </a:p>
        </p:txBody>
      </p:sp>
      <p:sp>
        <p:nvSpPr>
          <p:cNvPr id="22" name="Text 20"/>
          <p:cNvSpPr/>
          <p:nvPr/>
        </p:nvSpPr>
        <p:spPr>
          <a:xfrm>
            <a:off x="7090258"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3" name="Shape 21"/>
          <p:cNvSpPr/>
          <p:nvPr/>
        </p:nvSpPr>
        <p:spPr>
          <a:xfrm>
            <a:off x="7346290" y="2395728"/>
            <a:ext cx="2028139" cy="2926080"/>
          </a:xfrm>
          <a:prstGeom prst="roundRect">
            <a:avLst>
              <a:gd name="adj" fmla="val 2705"/>
            </a:avLst>
          </a:prstGeom>
          <a:solidFill>
            <a:srgbClr val="F4F7F9"/>
          </a:solidFill>
          <a:ln/>
        </p:spPr>
        <p:txBody>
          <a:bodyPr/>
          <a:lstStyle/>
          <a:p>
            <a:endParaRPr lang="en-IN"/>
          </a:p>
        </p:txBody>
      </p:sp>
      <p:sp>
        <p:nvSpPr>
          <p:cNvPr id="24" name="Shape 22"/>
          <p:cNvSpPr/>
          <p:nvPr/>
        </p:nvSpPr>
        <p:spPr>
          <a:xfrm>
            <a:off x="8140903" y="2670048"/>
            <a:ext cx="438912" cy="438912"/>
          </a:xfrm>
          <a:prstGeom prst="ellipse">
            <a:avLst/>
          </a:prstGeom>
          <a:solidFill>
            <a:srgbClr val="63E7A4"/>
          </a:solidFill>
          <a:ln/>
        </p:spPr>
        <p:txBody>
          <a:bodyPr/>
          <a:lstStyle/>
          <a:p>
            <a:endParaRPr lang="en-IN"/>
          </a:p>
        </p:txBody>
      </p:sp>
      <p:sp>
        <p:nvSpPr>
          <p:cNvPr id="25" name="Text 23"/>
          <p:cNvSpPr/>
          <p:nvPr/>
        </p:nvSpPr>
        <p:spPr>
          <a:xfrm>
            <a:off x="8140903"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6" name="Text 24"/>
          <p:cNvSpPr/>
          <p:nvPr/>
        </p:nvSpPr>
        <p:spPr>
          <a:xfrm>
            <a:off x="7529170"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Emergent by design</a:t>
            </a:r>
            <a:endParaRPr lang="en-US" sz="1400" dirty="0"/>
          </a:p>
        </p:txBody>
      </p:sp>
      <p:sp>
        <p:nvSpPr>
          <p:cNvPr id="27" name="Text 25"/>
          <p:cNvSpPr/>
          <p:nvPr/>
        </p:nvSpPr>
        <p:spPr>
          <a:xfrm>
            <a:off x="7529170"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It changes as we learn. A backlog that hasn't changed in a month is not being used.</a:t>
            </a:r>
            <a:endParaRPr lang="en-US" sz="1150" dirty="0"/>
          </a:p>
        </p:txBody>
      </p:sp>
      <p:sp>
        <p:nvSpPr>
          <p:cNvPr id="28" name="Text 26"/>
          <p:cNvSpPr/>
          <p:nvPr/>
        </p:nvSpPr>
        <p:spPr>
          <a:xfrm>
            <a:off x="9356141"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9" name="Shape 27"/>
          <p:cNvSpPr/>
          <p:nvPr/>
        </p:nvSpPr>
        <p:spPr>
          <a:xfrm>
            <a:off x="9612173" y="2395728"/>
            <a:ext cx="2028139" cy="2926080"/>
          </a:xfrm>
          <a:prstGeom prst="roundRect">
            <a:avLst>
              <a:gd name="adj" fmla="val 2705"/>
            </a:avLst>
          </a:prstGeom>
          <a:solidFill>
            <a:srgbClr val="F4F7F9"/>
          </a:solidFill>
          <a:ln/>
        </p:spPr>
        <p:txBody>
          <a:bodyPr/>
          <a:lstStyle/>
          <a:p>
            <a:endParaRPr lang="en-IN"/>
          </a:p>
        </p:txBody>
      </p:sp>
      <p:sp>
        <p:nvSpPr>
          <p:cNvPr id="30" name="Shape 28"/>
          <p:cNvSpPr/>
          <p:nvPr/>
        </p:nvSpPr>
        <p:spPr>
          <a:xfrm>
            <a:off x="10406786" y="2670048"/>
            <a:ext cx="438912" cy="438912"/>
          </a:xfrm>
          <a:prstGeom prst="ellipse">
            <a:avLst/>
          </a:prstGeom>
          <a:solidFill>
            <a:srgbClr val="63E7A4"/>
          </a:solidFill>
          <a:ln/>
        </p:spPr>
        <p:txBody>
          <a:bodyPr/>
          <a:lstStyle/>
          <a:p>
            <a:endParaRPr lang="en-IN"/>
          </a:p>
        </p:txBody>
      </p:sp>
      <p:sp>
        <p:nvSpPr>
          <p:cNvPr id="31" name="Text 29"/>
          <p:cNvSpPr/>
          <p:nvPr/>
        </p:nvSpPr>
        <p:spPr>
          <a:xfrm>
            <a:off x="10406786"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32" name="Text 30"/>
          <p:cNvSpPr/>
          <p:nvPr/>
        </p:nvSpPr>
        <p:spPr>
          <a:xfrm>
            <a:off x="9795053"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Pruned without guilt</a:t>
            </a:r>
            <a:endParaRPr lang="en-US" sz="1400" dirty="0"/>
          </a:p>
        </p:txBody>
      </p:sp>
      <p:sp>
        <p:nvSpPr>
          <p:cNvPr id="33" name="Text 31"/>
          <p:cNvSpPr/>
          <p:nvPr/>
        </p:nvSpPr>
        <p:spPr>
          <a:xfrm>
            <a:off x="9795053"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Items untouched for six months are noise. Delete them — you'll rewrite them better if they matter.</a:t>
            </a:r>
            <a:endParaRPr lang="en-US" sz="1150" dirty="0"/>
          </a:p>
        </p:txBody>
      </p:sp>
      <p:sp>
        <p:nvSpPr>
          <p:cNvPr id="34" name="Text 32"/>
          <p:cNvSpPr/>
          <p:nvPr/>
        </p:nvSpPr>
        <p:spPr>
          <a:xfrm>
            <a:off x="548640" y="5486400"/>
            <a:ext cx="11091672" cy="457200"/>
          </a:xfrm>
          <a:prstGeom prst="rect">
            <a:avLst/>
          </a:prstGeom>
          <a:noFill/>
          <a:ln/>
        </p:spPr>
        <p:txBody>
          <a:bodyPr wrap="square" lIns="0" tIns="0" rIns="0" bIns="0" rtlCol="0" anchor="ctr"/>
          <a:lstStyle/>
          <a:p>
            <a:pPr marL="0" indent="0">
              <a:lnSpc>
                <a:spcPct val="120000"/>
              </a:lnSpc>
              <a:buNone/>
            </a:pPr>
            <a:r>
              <a:rPr lang="en-US" sz="1200" i="1" dirty="0">
                <a:solidFill>
                  <a:srgbClr val="3D5060"/>
                </a:solidFill>
                <a:latin typeface="Century Gothic" pitchFamily="34" charset="0"/>
                <a:ea typeface="Century Gothic" pitchFamily="34" charset="-122"/>
                <a:cs typeface="Century Gothic" pitchFamily="34" charset="-120"/>
              </a:rPr>
              <a:t>One ordered list forces the trade-off conversation. Priority labels let everyone avoid it.</a:t>
            </a:r>
            <a:endParaRPr lang="en-US" sz="1200" dirty="0"/>
          </a:p>
        </p:txBody>
      </p:sp>
      <p:sp>
        <p:nvSpPr>
          <p:cNvPr id="35" name="Text 3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39</a:t>
            </a:r>
            <a:endParaRPr lang="en-US" sz="900" dirty="0"/>
          </a:p>
        </p:txBody>
      </p:sp>
      <p:sp>
        <p:nvSpPr>
          <p:cNvPr id="36" name="Text 3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5 · STORIES</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EXERCISE 3</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5 min</a:t>
            </a:r>
            <a:endParaRPr lang="en-US" sz="1250" dirty="0"/>
          </a:p>
        </p:txBody>
      </p:sp>
      <p:sp>
        <p:nvSpPr>
          <p:cNvPr id="5" name="Text 3"/>
          <p:cNvSpPr/>
          <p:nvPr/>
        </p:nvSpPr>
        <p:spPr>
          <a:xfrm>
            <a:off x="548640" y="713232"/>
            <a:ext cx="9235440" cy="658368"/>
          </a:xfrm>
          <a:prstGeom prst="rect">
            <a:avLst/>
          </a:prstGeom>
          <a:noFill/>
          <a:ln/>
        </p:spPr>
        <p:txBody>
          <a:bodyPr wrap="square" lIns="0" tIns="0" rIns="0" bIns="0" rtlCol="0" anchor="t"/>
          <a:lstStyle/>
          <a:p>
            <a:pPr marL="0" indent="0">
              <a:buNone/>
            </a:pPr>
            <a:r>
              <a:rPr lang="en-US" sz="2800" b="1" dirty="0">
                <a:solidFill>
                  <a:srgbClr val="003352"/>
                </a:solidFill>
                <a:latin typeface="Century Gothic" pitchFamily="34" charset="0"/>
                <a:ea typeface="Century Gothic" pitchFamily="34" charset="-122"/>
                <a:cs typeface="Century Gothic" pitchFamily="34" charset="-120"/>
              </a:rPr>
              <a:t>Write user stories from a raw request</a:t>
            </a:r>
            <a:endParaRPr lang="en-US" sz="2800" dirty="0"/>
          </a:p>
        </p:txBody>
      </p:sp>
      <p:sp>
        <p:nvSpPr>
          <p:cNvPr id="6" name="Shape 4"/>
          <p:cNvSpPr/>
          <p:nvPr/>
        </p:nvSpPr>
        <p:spPr>
          <a:xfrm>
            <a:off x="548640" y="1481328"/>
            <a:ext cx="6720840" cy="4315968"/>
          </a:xfrm>
          <a:prstGeom prst="roundRect">
            <a:avLst>
              <a:gd name="adj" fmla="val 1271"/>
            </a:avLst>
          </a:prstGeom>
          <a:solidFill>
            <a:srgbClr val="FFFFFF"/>
          </a:solidFill>
          <a:ln/>
        </p:spPr>
        <p:txBody>
          <a:bodyPr/>
          <a:lstStyle/>
          <a:p>
            <a:endParaRPr lang="en-IN"/>
          </a:p>
        </p:txBody>
      </p:sp>
      <p:sp>
        <p:nvSpPr>
          <p:cNvPr id="7" name="Text 5"/>
          <p:cNvSpPr/>
          <p:nvPr/>
        </p:nvSpPr>
        <p:spPr>
          <a:xfrm>
            <a:off x="868680" y="1664208"/>
            <a:ext cx="6080760" cy="274320"/>
          </a:xfrm>
          <a:prstGeom prst="rect">
            <a:avLst/>
          </a:prstGeom>
          <a:noFill/>
          <a:ln/>
        </p:spPr>
        <p:txBody>
          <a:bodyPr wrap="square" lIns="0" tIns="0" rIns="0" bIns="0" rtlCol="0" anchor="ctr"/>
          <a:lstStyle/>
          <a:p>
            <a:pPr marL="0" indent="0">
              <a:buNone/>
            </a:pPr>
            <a:r>
              <a:rPr lang="en-US" sz="1100" b="1" kern="0" spc="150" dirty="0">
                <a:solidFill>
                  <a:srgbClr val="7A8C99"/>
                </a:solidFill>
                <a:latin typeface="Century Gothic" pitchFamily="34" charset="0"/>
                <a:ea typeface="Century Gothic" pitchFamily="34" charset="-122"/>
                <a:cs typeface="Century Gothic" pitchFamily="34" charset="-120"/>
              </a:rPr>
              <a:t>The scenario</a:t>
            </a:r>
            <a:endParaRPr lang="en-US" sz="1100" dirty="0"/>
          </a:p>
        </p:txBody>
      </p:sp>
      <p:sp>
        <p:nvSpPr>
          <p:cNvPr id="8" name="Text 6"/>
          <p:cNvSpPr/>
          <p:nvPr/>
        </p:nvSpPr>
        <p:spPr>
          <a:xfrm>
            <a:off x="868680" y="1993392"/>
            <a:ext cx="6080760" cy="3602736"/>
          </a:xfrm>
          <a:prstGeom prst="rect">
            <a:avLst/>
          </a:prstGeom>
          <a:noFill/>
          <a:ln/>
        </p:spPr>
        <p:txBody>
          <a:bodyPr wrap="square" lIns="0" tIns="0" rIns="0" bIns="0" rtlCol="0" anchor="t"/>
          <a:lstStyle/>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This arrives from a hotel group's General Manager, by email, on a Friday evening:</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“We want guests to be able to check in on their phones before they arrive so there's no queue at the desk. It should also handle ID, and the front desk needs to know who has done it. Some of our properties are in different states so the ID rules differ. Can we have this next month?”</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That is everything you have been given.</a:t>
            </a:r>
            <a:endParaRPr lang="en-US" sz="1150" dirty="0"/>
          </a:p>
        </p:txBody>
      </p:sp>
      <p:sp>
        <p:nvSpPr>
          <p:cNvPr id="9" name="Shape 7"/>
          <p:cNvSpPr/>
          <p:nvPr/>
        </p:nvSpPr>
        <p:spPr>
          <a:xfrm>
            <a:off x="7498080" y="1481328"/>
            <a:ext cx="4142232" cy="4315968"/>
          </a:xfrm>
          <a:prstGeom prst="roundRect">
            <a:avLst>
              <a:gd name="adj" fmla="val 1325"/>
            </a:avLst>
          </a:prstGeom>
          <a:solidFill>
            <a:srgbClr val="003352"/>
          </a:solidFill>
          <a:ln/>
        </p:spPr>
        <p:txBody>
          <a:bodyPr/>
          <a:lstStyle/>
          <a:p>
            <a:endParaRPr lang="en-IN"/>
          </a:p>
        </p:txBody>
      </p:sp>
      <p:sp>
        <p:nvSpPr>
          <p:cNvPr id="10" name="Text 8"/>
          <p:cNvSpPr/>
          <p:nvPr/>
        </p:nvSpPr>
        <p:spPr>
          <a:xfrm>
            <a:off x="7818120" y="1664208"/>
            <a:ext cx="3502152" cy="274320"/>
          </a:xfrm>
          <a:prstGeom prst="rect">
            <a:avLst/>
          </a:prstGeom>
          <a:noFill/>
          <a:ln/>
        </p:spPr>
        <p:txBody>
          <a:bodyPr wrap="square" lIns="0" tIns="0" rIns="0" bIns="0" rtlCol="0" anchor="ctr"/>
          <a:lstStyle/>
          <a:p>
            <a:pPr marL="0" indent="0">
              <a:buNone/>
            </a:pPr>
            <a:r>
              <a:rPr lang="en-US" sz="1100" b="1" kern="0" spc="150" dirty="0">
                <a:solidFill>
                  <a:srgbClr val="63E7A4"/>
                </a:solidFill>
                <a:latin typeface="Century Gothic" pitchFamily="34" charset="0"/>
                <a:ea typeface="Century Gothic" pitchFamily="34" charset="-122"/>
                <a:cs typeface="Century Gothic" pitchFamily="34" charset="-120"/>
              </a:rPr>
              <a:t>Your task</a:t>
            </a:r>
            <a:endParaRPr lang="en-US" sz="1100" dirty="0"/>
          </a:p>
        </p:txBody>
      </p:sp>
      <p:sp>
        <p:nvSpPr>
          <p:cNvPr id="11" name="Text 9"/>
          <p:cNvSpPr/>
          <p:nvPr/>
        </p:nvSpPr>
        <p:spPr>
          <a:xfrm>
            <a:off x="7818120" y="1993392"/>
            <a:ext cx="3502152" cy="3602736"/>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Split this into 3–4 independent, vertically sliced stories</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Use As a / I want / So that — and make the 'so that' real</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Pick ONE story and write 3 acceptance criteria in Given/When/Then</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Include at least one unhappy path</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Note the one question you'd ask the GM before estimating anything</a:t>
            </a:r>
            <a:endParaRPr lang="en-US" sz="1150" dirty="0"/>
          </a:p>
        </p:txBody>
      </p:sp>
      <p:sp>
        <p:nvSpPr>
          <p:cNvPr id="12" name="Text 10"/>
          <p:cNvSpPr/>
          <p:nvPr/>
        </p:nvSpPr>
        <p:spPr>
          <a:xfrm>
            <a:off x="548640" y="5907024"/>
            <a:ext cx="11091672" cy="347472"/>
          </a:xfrm>
          <a:prstGeom prst="rect">
            <a:avLst/>
          </a:prstGeom>
          <a:noFill/>
          <a:ln/>
        </p:spPr>
        <p:txBody>
          <a:bodyPr wrap="square" lIns="0" tIns="0" rIns="0" bIns="0" rtlCol="0" anchor="t"/>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Tables of 4–5 · 4 min to write on stickies · 1 min debrief · One table reads out their best story and its criteria</a:t>
            </a:r>
            <a:endParaRPr lang="en-US" sz="1150" dirty="0"/>
          </a:p>
        </p:txBody>
      </p:sp>
      <p:sp>
        <p:nvSpPr>
          <p:cNvPr id="13" name="Text 11"/>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40</a:t>
            </a:r>
            <a:endParaRPr lang="en-US" sz="900" dirty="0"/>
          </a:p>
        </p:txBody>
      </p:sp>
      <p:sp>
        <p:nvSpPr>
          <p:cNvPr id="14" name="Text 12"/>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EXERCISE 3</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EXERCISE 3 · DEBRIEF</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A model split</a:t>
            </a:r>
            <a:endParaRPr lang="en-US" sz="3000" dirty="0"/>
          </a:p>
        </p:txBody>
      </p:sp>
      <p:sp>
        <p:nvSpPr>
          <p:cNvPr id="4" name="Shape 2"/>
          <p:cNvSpPr/>
          <p:nvPr/>
        </p:nvSpPr>
        <p:spPr>
          <a:xfrm>
            <a:off x="566928" y="1911096"/>
            <a:ext cx="402336" cy="402336"/>
          </a:xfrm>
          <a:prstGeom prst="ellipse">
            <a:avLst/>
          </a:prstGeom>
          <a:solidFill>
            <a:srgbClr val="63E7A4"/>
          </a:solidFill>
          <a:ln/>
        </p:spPr>
        <p:txBody>
          <a:bodyPr/>
          <a:lstStyle/>
          <a:p>
            <a:endParaRPr lang="en-IN"/>
          </a:p>
        </p:txBody>
      </p:sp>
      <p:sp>
        <p:nvSpPr>
          <p:cNvPr id="5" name="Text 3"/>
          <p:cNvSpPr/>
          <p:nvPr/>
        </p:nvSpPr>
        <p:spPr>
          <a:xfrm>
            <a:off x="566928" y="19110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6" name="Text 4"/>
          <p:cNvSpPr/>
          <p:nvPr/>
        </p:nvSpPr>
        <p:spPr>
          <a:xfrm>
            <a:off x="1170432" y="1856232"/>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Story 1 — Open the check-in link</a:t>
            </a:r>
            <a:endParaRPr lang="en-US" sz="1450" dirty="0"/>
          </a:p>
        </p:txBody>
      </p:sp>
      <p:sp>
        <p:nvSpPr>
          <p:cNvPr id="7" name="Text 5"/>
          <p:cNvSpPr/>
          <p:nvPr/>
        </p:nvSpPr>
        <p:spPr>
          <a:xfrm>
            <a:off x="1170432" y="2148840"/>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As a guest with a confirmed booking, I want to open a check-in link from my confirmation, so that I can start check-in before I travel. A thin vertical slice that works on its own.</a:t>
            </a:r>
            <a:endParaRPr lang="en-US" sz="1200" dirty="0"/>
          </a:p>
        </p:txBody>
      </p:sp>
      <p:sp>
        <p:nvSpPr>
          <p:cNvPr id="8" name="Shape 6"/>
          <p:cNvSpPr/>
          <p:nvPr/>
        </p:nvSpPr>
        <p:spPr>
          <a:xfrm>
            <a:off x="566928" y="2706624"/>
            <a:ext cx="402336" cy="402336"/>
          </a:xfrm>
          <a:prstGeom prst="ellipse">
            <a:avLst/>
          </a:prstGeom>
          <a:solidFill>
            <a:srgbClr val="63E7A4"/>
          </a:solidFill>
          <a:ln/>
        </p:spPr>
        <p:txBody>
          <a:bodyPr/>
          <a:lstStyle/>
          <a:p>
            <a:endParaRPr lang="en-IN"/>
          </a:p>
        </p:txBody>
      </p:sp>
      <p:sp>
        <p:nvSpPr>
          <p:cNvPr id="9" name="Text 7"/>
          <p:cNvSpPr/>
          <p:nvPr/>
        </p:nvSpPr>
        <p:spPr>
          <a:xfrm>
            <a:off x="566928" y="270662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0" name="Text 8"/>
          <p:cNvSpPr/>
          <p:nvPr/>
        </p:nvSpPr>
        <p:spPr>
          <a:xfrm>
            <a:off x="1170432" y="2651760"/>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Story 2 — Upload ID during check-in</a:t>
            </a:r>
            <a:endParaRPr lang="en-US" sz="1450" dirty="0"/>
          </a:p>
        </p:txBody>
      </p:sp>
      <p:sp>
        <p:nvSpPr>
          <p:cNvPr id="11" name="Text 9"/>
          <p:cNvSpPr/>
          <p:nvPr/>
        </p:nvSpPr>
        <p:spPr>
          <a:xfrm>
            <a:off x="1170432" y="2944368"/>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Separate, because it carries the compliance risk. Keeping it independent lets slice one ship while ID rules are still being clarified.</a:t>
            </a:r>
            <a:endParaRPr lang="en-US" sz="1200" dirty="0"/>
          </a:p>
        </p:txBody>
      </p:sp>
      <p:sp>
        <p:nvSpPr>
          <p:cNvPr id="12" name="Shape 10"/>
          <p:cNvSpPr/>
          <p:nvPr/>
        </p:nvSpPr>
        <p:spPr>
          <a:xfrm>
            <a:off x="566928" y="3502152"/>
            <a:ext cx="402336" cy="402336"/>
          </a:xfrm>
          <a:prstGeom prst="ellipse">
            <a:avLst/>
          </a:prstGeom>
          <a:solidFill>
            <a:srgbClr val="63E7A4"/>
          </a:solidFill>
          <a:ln/>
        </p:spPr>
        <p:txBody>
          <a:bodyPr/>
          <a:lstStyle/>
          <a:p>
            <a:endParaRPr lang="en-IN"/>
          </a:p>
        </p:txBody>
      </p:sp>
      <p:sp>
        <p:nvSpPr>
          <p:cNvPr id="13" name="Text 11"/>
          <p:cNvSpPr/>
          <p:nvPr/>
        </p:nvSpPr>
        <p:spPr>
          <a:xfrm>
            <a:off x="566928" y="350215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4" name="Text 12"/>
          <p:cNvSpPr/>
          <p:nvPr/>
        </p:nvSpPr>
        <p:spPr>
          <a:xfrm>
            <a:off x="1170432" y="3447288"/>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Story 3 — Flag checked-in guests on the arrivals list</a:t>
            </a:r>
            <a:endParaRPr lang="en-US" sz="1450" dirty="0"/>
          </a:p>
        </p:txBody>
      </p:sp>
      <p:sp>
        <p:nvSpPr>
          <p:cNvPr id="15" name="Text 13"/>
          <p:cNvSpPr/>
          <p:nvPr/>
        </p:nvSpPr>
        <p:spPr>
          <a:xfrm>
            <a:off x="1170432" y="3739896"/>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The operational half, for the front-desk agent. The GM asked for it and most tables still miss it — we write for the end user and forget the staff.</a:t>
            </a:r>
            <a:endParaRPr lang="en-US" sz="1200" dirty="0"/>
          </a:p>
        </p:txBody>
      </p:sp>
      <p:sp>
        <p:nvSpPr>
          <p:cNvPr id="16" name="Shape 14"/>
          <p:cNvSpPr/>
          <p:nvPr/>
        </p:nvSpPr>
        <p:spPr>
          <a:xfrm>
            <a:off x="566928" y="4297680"/>
            <a:ext cx="402336" cy="402336"/>
          </a:xfrm>
          <a:prstGeom prst="ellipse">
            <a:avLst/>
          </a:prstGeom>
          <a:solidFill>
            <a:srgbClr val="63E7A4"/>
          </a:solidFill>
          <a:ln/>
        </p:spPr>
        <p:txBody>
          <a:bodyPr/>
          <a:lstStyle/>
          <a:p>
            <a:endParaRPr lang="en-IN"/>
          </a:p>
        </p:txBody>
      </p:sp>
      <p:sp>
        <p:nvSpPr>
          <p:cNvPr id="17" name="Text 15"/>
          <p:cNvSpPr/>
          <p:nvPr/>
        </p:nvSpPr>
        <p:spPr>
          <a:xfrm>
            <a:off x="566928" y="429768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8" name="Text 16"/>
          <p:cNvSpPr/>
          <p:nvPr/>
        </p:nvSpPr>
        <p:spPr>
          <a:xfrm>
            <a:off x="1170432" y="4242816"/>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Story 4 — Configure ID requirements per property</a:t>
            </a:r>
            <a:endParaRPr lang="en-US" sz="1450" dirty="0"/>
          </a:p>
        </p:txBody>
      </p:sp>
      <p:sp>
        <p:nvSpPr>
          <p:cNvPr id="19" name="Text 17"/>
          <p:cNvSpPr/>
          <p:nvPr/>
        </p:nvSpPr>
        <p:spPr>
          <a:xfrm>
            <a:off x="1170432" y="4535424"/>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The buried complication, made visible as its own story. This is where the estimate will hurt, and it is much better to know that now.</a:t>
            </a:r>
            <a:endParaRPr lang="en-US" sz="1200" dirty="0"/>
          </a:p>
        </p:txBody>
      </p:sp>
      <p:sp>
        <p:nvSpPr>
          <p:cNvPr id="20" name="Shape 18"/>
          <p:cNvSpPr/>
          <p:nvPr/>
        </p:nvSpPr>
        <p:spPr>
          <a:xfrm>
            <a:off x="566928" y="5093208"/>
            <a:ext cx="402336" cy="402336"/>
          </a:xfrm>
          <a:prstGeom prst="ellipse">
            <a:avLst/>
          </a:prstGeom>
          <a:solidFill>
            <a:srgbClr val="63E7A4"/>
          </a:solidFill>
          <a:ln/>
        </p:spPr>
        <p:txBody>
          <a:bodyPr/>
          <a:lstStyle/>
          <a:p>
            <a:endParaRPr lang="en-IN"/>
          </a:p>
        </p:txBody>
      </p:sp>
      <p:sp>
        <p:nvSpPr>
          <p:cNvPr id="21" name="Text 19"/>
          <p:cNvSpPr/>
          <p:nvPr/>
        </p:nvSpPr>
        <p:spPr>
          <a:xfrm>
            <a:off x="566928" y="509320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22" name="Text 20"/>
          <p:cNvSpPr/>
          <p:nvPr/>
        </p:nvSpPr>
        <p:spPr>
          <a:xfrm>
            <a:off x="1170432" y="5038344"/>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question to ask first — which properties, in which states, for release one?</a:t>
            </a:r>
            <a:endParaRPr lang="en-US" sz="1450" dirty="0"/>
          </a:p>
        </p:txBody>
      </p:sp>
      <p:sp>
        <p:nvSpPr>
          <p:cNvPr id="23" name="Text 21"/>
          <p:cNvSpPr/>
          <p:nvPr/>
        </p:nvSpPr>
        <p:spPr>
          <a:xfrm>
            <a:off x="1170432" y="5330952"/>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Scoping to a single state for the first release may cut the work by more than half. Nobody can know that without asking.</a:t>
            </a:r>
            <a:endParaRPr lang="en-US" sz="1200" dirty="0"/>
          </a:p>
        </p:txBody>
      </p:sp>
      <p:sp>
        <p:nvSpPr>
          <p:cNvPr id="24" name="Text 2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41</a:t>
            </a:r>
            <a:endParaRPr lang="en-US" sz="900" dirty="0"/>
          </a:p>
        </p:txBody>
      </p:sp>
      <p:sp>
        <p:nvSpPr>
          <p:cNvPr id="25" name="Text 2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EXERCISE 3</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06</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Sprint Execution</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Planning to Daily to Review to Retro — what each event is for, and how each one fails.</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10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26–30</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6 · SPRINT EXECUTION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A two-week sprint, day by day</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 rhythm matters more than the specific days. What matters is that every loop has a defined moment where it closes.</a:t>
            </a:r>
            <a:endParaRPr lang="en-US" sz="1450" dirty="0"/>
          </a:p>
        </p:txBody>
      </p:sp>
      <p:sp>
        <p:nvSpPr>
          <p:cNvPr id="5" name="Shape 3"/>
          <p:cNvSpPr/>
          <p:nvPr/>
        </p:nvSpPr>
        <p:spPr>
          <a:xfrm>
            <a:off x="548640" y="2395728"/>
            <a:ext cx="2028139" cy="2926080"/>
          </a:xfrm>
          <a:prstGeom prst="roundRect">
            <a:avLst>
              <a:gd name="adj" fmla="val 2705"/>
            </a:avLst>
          </a:prstGeom>
          <a:solidFill>
            <a:srgbClr val="F4F7F9"/>
          </a:solidFill>
          <a:ln/>
        </p:spPr>
        <p:txBody>
          <a:bodyPr/>
          <a:lstStyle/>
          <a:p>
            <a:endParaRPr lang="en-IN"/>
          </a:p>
        </p:txBody>
      </p:sp>
      <p:sp>
        <p:nvSpPr>
          <p:cNvPr id="6" name="Shape 4"/>
          <p:cNvSpPr/>
          <p:nvPr/>
        </p:nvSpPr>
        <p:spPr>
          <a:xfrm>
            <a:off x="1343254" y="2670048"/>
            <a:ext cx="438912" cy="438912"/>
          </a:xfrm>
          <a:prstGeom prst="ellipse">
            <a:avLst/>
          </a:prstGeom>
          <a:solidFill>
            <a:srgbClr val="63E7A4"/>
          </a:solidFill>
          <a:ln/>
        </p:spPr>
        <p:txBody>
          <a:bodyPr/>
          <a:lstStyle/>
          <a:p>
            <a:endParaRPr lang="en-IN"/>
          </a:p>
        </p:txBody>
      </p:sp>
      <p:sp>
        <p:nvSpPr>
          <p:cNvPr id="7" name="Text 5"/>
          <p:cNvSpPr/>
          <p:nvPr/>
        </p:nvSpPr>
        <p:spPr>
          <a:xfrm>
            <a:off x="1343254"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731520"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Day 1 · Planning</a:t>
            </a:r>
            <a:endParaRPr lang="en-US" sz="1400" dirty="0"/>
          </a:p>
        </p:txBody>
      </p:sp>
      <p:sp>
        <p:nvSpPr>
          <p:cNvPr id="9" name="Text 7"/>
          <p:cNvSpPr/>
          <p:nvPr/>
        </p:nvSpPr>
        <p:spPr>
          <a:xfrm>
            <a:off x="731520"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Half a day at most. Sprint Goal agreed, items selected, initial plan made by the Developers.</a:t>
            </a:r>
            <a:endParaRPr lang="en-US" sz="1150" dirty="0"/>
          </a:p>
        </p:txBody>
      </p:sp>
      <p:sp>
        <p:nvSpPr>
          <p:cNvPr id="10" name="Text 8"/>
          <p:cNvSpPr/>
          <p:nvPr/>
        </p:nvSpPr>
        <p:spPr>
          <a:xfrm>
            <a:off x="2558491"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1" name="Shape 9"/>
          <p:cNvSpPr/>
          <p:nvPr/>
        </p:nvSpPr>
        <p:spPr>
          <a:xfrm>
            <a:off x="2814523" y="2395728"/>
            <a:ext cx="2028139" cy="2926080"/>
          </a:xfrm>
          <a:prstGeom prst="roundRect">
            <a:avLst>
              <a:gd name="adj" fmla="val 2705"/>
            </a:avLst>
          </a:prstGeom>
          <a:solidFill>
            <a:srgbClr val="F4F7F9"/>
          </a:solidFill>
          <a:ln/>
        </p:spPr>
        <p:txBody>
          <a:bodyPr/>
          <a:lstStyle/>
          <a:p>
            <a:endParaRPr lang="en-IN"/>
          </a:p>
        </p:txBody>
      </p:sp>
      <p:sp>
        <p:nvSpPr>
          <p:cNvPr id="12" name="Shape 10"/>
          <p:cNvSpPr/>
          <p:nvPr/>
        </p:nvSpPr>
        <p:spPr>
          <a:xfrm>
            <a:off x="3609137" y="2670048"/>
            <a:ext cx="438912" cy="438912"/>
          </a:xfrm>
          <a:prstGeom prst="ellipse">
            <a:avLst/>
          </a:prstGeom>
          <a:solidFill>
            <a:srgbClr val="63E7A4"/>
          </a:solidFill>
          <a:ln/>
        </p:spPr>
        <p:txBody>
          <a:bodyPr/>
          <a:lstStyle/>
          <a:p>
            <a:endParaRPr lang="en-IN"/>
          </a:p>
        </p:txBody>
      </p:sp>
      <p:sp>
        <p:nvSpPr>
          <p:cNvPr id="13" name="Text 11"/>
          <p:cNvSpPr/>
          <p:nvPr/>
        </p:nvSpPr>
        <p:spPr>
          <a:xfrm>
            <a:off x="3609137"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4" name="Text 12"/>
          <p:cNvSpPr/>
          <p:nvPr/>
        </p:nvSpPr>
        <p:spPr>
          <a:xfrm>
            <a:off x="2997403"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Days 1–10 · Daily Scrum</a:t>
            </a:r>
            <a:endParaRPr lang="en-US" sz="1400" dirty="0"/>
          </a:p>
        </p:txBody>
      </p:sp>
      <p:sp>
        <p:nvSpPr>
          <p:cNvPr id="15" name="Text 13"/>
          <p:cNvSpPr/>
          <p:nvPr/>
        </p:nvSpPr>
        <p:spPr>
          <a:xfrm>
            <a:off x="2997403"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15 minutes, same time, same place. Re-plan toward the goal, surface blockers immediately.</a:t>
            </a:r>
            <a:endParaRPr lang="en-US" sz="1150" dirty="0"/>
          </a:p>
        </p:txBody>
      </p:sp>
      <p:sp>
        <p:nvSpPr>
          <p:cNvPr id="16" name="Text 14"/>
          <p:cNvSpPr/>
          <p:nvPr/>
        </p:nvSpPr>
        <p:spPr>
          <a:xfrm>
            <a:off x="4824374"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7" name="Shape 15"/>
          <p:cNvSpPr/>
          <p:nvPr/>
        </p:nvSpPr>
        <p:spPr>
          <a:xfrm>
            <a:off x="5080406" y="2395728"/>
            <a:ext cx="2028139" cy="2926080"/>
          </a:xfrm>
          <a:prstGeom prst="roundRect">
            <a:avLst>
              <a:gd name="adj" fmla="val 2705"/>
            </a:avLst>
          </a:prstGeom>
          <a:solidFill>
            <a:srgbClr val="F4F7F9"/>
          </a:solidFill>
          <a:ln/>
        </p:spPr>
        <p:txBody>
          <a:bodyPr/>
          <a:lstStyle/>
          <a:p>
            <a:endParaRPr lang="en-IN"/>
          </a:p>
        </p:txBody>
      </p:sp>
      <p:sp>
        <p:nvSpPr>
          <p:cNvPr id="18" name="Shape 16"/>
          <p:cNvSpPr/>
          <p:nvPr/>
        </p:nvSpPr>
        <p:spPr>
          <a:xfrm>
            <a:off x="5875020" y="2670048"/>
            <a:ext cx="438912" cy="438912"/>
          </a:xfrm>
          <a:prstGeom prst="ellipse">
            <a:avLst/>
          </a:prstGeom>
          <a:solidFill>
            <a:srgbClr val="63E7A4"/>
          </a:solidFill>
          <a:ln/>
        </p:spPr>
        <p:txBody>
          <a:bodyPr/>
          <a:lstStyle/>
          <a:p>
            <a:endParaRPr lang="en-IN"/>
          </a:p>
        </p:txBody>
      </p:sp>
      <p:sp>
        <p:nvSpPr>
          <p:cNvPr id="19" name="Text 17"/>
          <p:cNvSpPr/>
          <p:nvPr/>
        </p:nvSpPr>
        <p:spPr>
          <a:xfrm>
            <a:off x="5875020"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20" name="Text 18"/>
          <p:cNvSpPr/>
          <p:nvPr/>
        </p:nvSpPr>
        <p:spPr>
          <a:xfrm>
            <a:off x="5263286"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Days 3–8 · Refinement</a:t>
            </a:r>
            <a:endParaRPr lang="en-US" sz="1400" dirty="0"/>
          </a:p>
        </p:txBody>
      </p:sp>
      <p:sp>
        <p:nvSpPr>
          <p:cNvPr id="21" name="Text 19"/>
          <p:cNvSpPr/>
          <p:nvPr/>
        </p:nvSpPr>
        <p:spPr>
          <a:xfrm>
            <a:off x="5263286"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About 10% of capacity, spread out. Prepare the top of the backlog for the next sprint.</a:t>
            </a:r>
            <a:endParaRPr lang="en-US" sz="1150" dirty="0"/>
          </a:p>
        </p:txBody>
      </p:sp>
      <p:sp>
        <p:nvSpPr>
          <p:cNvPr id="22" name="Text 20"/>
          <p:cNvSpPr/>
          <p:nvPr/>
        </p:nvSpPr>
        <p:spPr>
          <a:xfrm>
            <a:off x="7090258"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3" name="Shape 21"/>
          <p:cNvSpPr/>
          <p:nvPr/>
        </p:nvSpPr>
        <p:spPr>
          <a:xfrm>
            <a:off x="7346290" y="2395728"/>
            <a:ext cx="2028139" cy="2926080"/>
          </a:xfrm>
          <a:prstGeom prst="roundRect">
            <a:avLst>
              <a:gd name="adj" fmla="val 2705"/>
            </a:avLst>
          </a:prstGeom>
          <a:solidFill>
            <a:srgbClr val="F4F7F9"/>
          </a:solidFill>
          <a:ln/>
        </p:spPr>
        <p:txBody>
          <a:bodyPr/>
          <a:lstStyle/>
          <a:p>
            <a:endParaRPr lang="en-IN"/>
          </a:p>
        </p:txBody>
      </p:sp>
      <p:sp>
        <p:nvSpPr>
          <p:cNvPr id="24" name="Shape 22"/>
          <p:cNvSpPr/>
          <p:nvPr/>
        </p:nvSpPr>
        <p:spPr>
          <a:xfrm>
            <a:off x="8140903" y="2670048"/>
            <a:ext cx="438912" cy="438912"/>
          </a:xfrm>
          <a:prstGeom prst="ellipse">
            <a:avLst/>
          </a:prstGeom>
          <a:solidFill>
            <a:srgbClr val="63E7A4"/>
          </a:solidFill>
          <a:ln/>
        </p:spPr>
        <p:txBody>
          <a:bodyPr/>
          <a:lstStyle/>
          <a:p>
            <a:endParaRPr lang="en-IN"/>
          </a:p>
        </p:txBody>
      </p:sp>
      <p:sp>
        <p:nvSpPr>
          <p:cNvPr id="25" name="Text 23"/>
          <p:cNvSpPr/>
          <p:nvPr/>
        </p:nvSpPr>
        <p:spPr>
          <a:xfrm>
            <a:off x="8140903"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6" name="Text 24"/>
          <p:cNvSpPr/>
          <p:nvPr/>
        </p:nvSpPr>
        <p:spPr>
          <a:xfrm>
            <a:off x="7529170"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Day 10 · Review</a:t>
            </a:r>
            <a:endParaRPr lang="en-US" sz="1400" dirty="0"/>
          </a:p>
        </p:txBody>
      </p:sp>
      <p:sp>
        <p:nvSpPr>
          <p:cNvPr id="27" name="Text 25"/>
          <p:cNvSpPr/>
          <p:nvPr/>
        </p:nvSpPr>
        <p:spPr>
          <a:xfrm>
            <a:off x="7529170"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Working software on screen with stakeholders. Feedback captured and the backlog adapted.</a:t>
            </a:r>
            <a:endParaRPr lang="en-US" sz="1150" dirty="0"/>
          </a:p>
        </p:txBody>
      </p:sp>
      <p:sp>
        <p:nvSpPr>
          <p:cNvPr id="28" name="Text 26"/>
          <p:cNvSpPr/>
          <p:nvPr/>
        </p:nvSpPr>
        <p:spPr>
          <a:xfrm>
            <a:off x="9356141"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9" name="Shape 27"/>
          <p:cNvSpPr/>
          <p:nvPr/>
        </p:nvSpPr>
        <p:spPr>
          <a:xfrm>
            <a:off x="9612173" y="2395728"/>
            <a:ext cx="2028139" cy="2926080"/>
          </a:xfrm>
          <a:prstGeom prst="roundRect">
            <a:avLst>
              <a:gd name="adj" fmla="val 2705"/>
            </a:avLst>
          </a:prstGeom>
          <a:solidFill>
            <a:srgbClr val="F4F7F9"/>
          </a:solidFill>
          <a:ln/>
        </p:spPr>
        <p:txBody>
          <a:bodyPr/>
          <a:lstStyle/>
          <a:p>
            <a:endParaRPr lang="en-IN"/>
          </a:p>
        </p:txBody>
      </p:sp>
      <p:sp>
        <p:nvSpPr>
          <p:cNvPr id="30" name="Shape 28"/>
          <p:cNvSpPr/>
          <p:nvPr/>
        </p:nvSpPr>
        <p:spPr>
          <a:xfrm>
            <a:off x="10406786" y="2670048"/>
            <a:ext cx="438912" cy="438912"/>
          </a:xfrm>
          <a:prstGeom prst="ellipse">
            <a:avLst/>
          </a:prstGeom>
          <a:solidFill>
            <a:srgbClr val="63E7A4"/>
          </a:solidFill>
          <a:ln/>
        </p:spPr>
        <p:txBody>
          <a:bodyPr/>
          <a:lstStyle/>
          <a:p>
            <a:endParaRPr lang="en-IN"/>
          </a:p>
        </p:txBody>
      </p:sp>
      <p:sp>
        <p:nvSpPr>
          <p:cNvPr id="31" name="Text 29"/>
          <p:cNvSpPr/>
          <p:nvPr/>
        </p:nvSpPr>
        <p:spPr>
          <a:xfrm>
            <a:off x="10406786"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32" name="Text 30"/>
          <p:cNvSpPr/>
          <p:nvPr/>
        </p:nvSpPr>
        <p:spPr>
          <a:xfrm>
            <a:off x="9795053" y="3236976"/>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Day 10 · Retrospective</a:t>
            </a:r>
            <a:endParaRPr lang="en-US" sz="1400" dirty="0"/>
          </a:p>
        </p:txBody>
      </p:sp>
      <p:sp>
        <p:nvSpPr>
          <p:cNvPr id="33" name="Text 31"/>
          <p:cNvSpPr/>
          <p:nvPr/>
        </p:nvSpPr>
        <p:spPr>
          <a:xfrm>
            <a:off x="9795053" y="3822192"/>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Straight after the review. One improvement committed and put into the next sprint backlog.</a:t>
            </a:r>
            <a:endParaRPr lang="en-US" sz="1150" dirty="0"/>
          </a:p>
        </p:txBody>
      </p:sp>
      <p:sp>
        <p:nvSpPr>
          <p:cNvPr id="34" name="Text 32"/>
          <p:cNvSpPr/>
          <p:nvPr/>
        </p:nvSpPr>
        <p:spPr>
          <a:xfrm>
            <a:off x="548640" y="5486400"/>
            <a:ext cx="11091672" cy="457200"/>
          </a:xfrm>
          <a:prstGeom prst="rect">
            <a:avLst/>
          </a:prstGeom>
          <a:noFill/>
          <a:ln/>
        </p:spPr>
        <p:txBody>
          <a:bodyPr wrap="square" lIns="0" tIns="0" rIns="0" bIns="0" rtlCol="0" anchor="ctr"/>
          <a:lstStyle/>
          <a:p>
            <a:pPr marL="0" indent="0">
              <a:lnSpc>
                <a:spcPct val="120000"/>
              </a:lnSpc>
              <a:buNone/>
            </a:pPr>
            <a:r>
              <a:rPr lang="en-US" sz="1200" i="1" dirty="0">
                <a:solidFill>
                  <a:srgbClr val="3D5060"/>
                </a:solidFill>
                <a:latin typeface="Century Gothic" pitchFamily="34" charset="0"/>
                <a:ea typeface="Century Gothic" pitchFamily="34" charset="-122"/>
                <a:cs typeface="Century Gothic" pitchFamily="34" charset="-120"/>
              </a:rPr>
              <a:t>Next sprint starts the following working day. No gap, no planning week, no stabilisation sprint.</a:t>
            </a:r>
            <a:endParaRPr lang="en-US" sz="1200" dirty="0"/>
          </a:p>
        </p:txBody>
      </p:sp>
      <p:sp>
        <p:nvSpPr>
          <p:cNvPr id="35" name="Text 3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43</a:t>
            </a:r>
            <a:endParaRPr lang="en-US" sz="900" dirty="0"/>
          </a:p>
        </p:txBody>
      </p:sp>
      <p:sp>
        <p:nvSpPr>
          <p:cNvPr id="36" name="Text 3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6 · SPRINT EXECUTION</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6 · SPRINT EXECUTION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Sprint Planning: three questions</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 Scrum Guide gives Planning three topics. Most teams answer only the second one.</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Why is this sprint valuable? → the Sprint Goal</a:t>
            </a:r>
            <a:endParaRPr lang="en-US" sz="1550" dirty="0"/>
          </a:p>
        </p:txBody>
      </p:sp>
      <p:sp>
        <p:nvSpPr>
          <p:cNvPr id="8" name="Text 6"/>
          <p:cNvSpPr/>
          <p:nvPr/>
        </p:nvSpPr>
        <p:spPr>
          <a:xfrm>
            <a:off x="1170432" y="2624328"/>
            <a:ext cx="10241280" cy="704088"/>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One sentence the whole team can state from memory. It is what lets the team make sensible trade-offs on day seven when something breaks — cut scope, protect the goal.</a:t>
            </a:r>
            <a:endParaRPr lang="en-US" sz="1250" dirty="0"/>
          </a:p>
        </p:txBody>
      </p:sp>
      <p:sp>
        <p:nvSpPr>
          <p:cNvPr id="9" name="Shape 7"/>
          <p:cNvSpPr/>
          <p:nvPr/>
        </p:nvSpPr>
        <p:spPr>
          <a:xfrm>
            <a:off x="566928" y="3538728"/>
            <a:ext cx="402336" cy="402336"/>
          </a:xfrm>
          <a:prstGeom prst="ellipse">
            <a:avLst/>
          </a:prstGeom>
          <a:solidFill>
            <a:srgbClr val="63E7A4"/>
          </a:solidFill>
          <a:ln/>
        </p:spPr>
        <p:txBody>
          <a:bodyPr/>
          <a:lstStyle/>
          <a:p>
            <a:endParaRPr lang="en-IN"/>
          </a:p>
        </p:txBody>
      </p:sp>
      <p:sp>
        <p:nvSpPr>
          <p:cNvPr id="10" name="Text 8"/>
          <p:cNvSpPr/>
          <p:nvPr/>
        </p:nvSpPr>
        <p:spPr>
          <a:xfrm>
            <a:off x="566928" y="353872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483864"/>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What can be done this sprint? → selection</a:t>
            </a:r>
            <a:endParaRPr lang="en-US" sz="1550" dirty="0"/>
          </a:p>
        </p:txBody>
      </p:sp>
      <p:sp>
        <p:nvSpPr>
          <p:cNvPr id="12" name="Text 10"/>
          <p:cNvSpPr/>
          <p:nvPr/>
        </p:nvSpPr>
        <p:spPr>
          <a:xfrm>
            <a:off x="1170432" y="3794760"/>
            <a:ext cx="10241280" cy="704088"/>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The Developers select, based on capacity and their own judgement. The Product Owner negotiates and clarifies, but does not assign. Capacity means real capacity: leave, support duty, meetings, all of it.</a:t>
            </a:r>
            <a:endParaRPr lang="en-US" sz="1250" dirty="0"/>
          </a:p>
        </p:txBody>
      </p:sp>
      <p:sp>
        <p:nvSpPr>
          <p:cNvPr id="13" name="Shape 11"/>
          <p:cNvSpPr/>
          <p:nvPr/>
        </p:nvSpPr>
        <p:spPr>
          <a:xfrm>
            <a:off x="566928" y="4709160"/>
            <a:ext cx="402336" cy="402336"/>
          </a:xfrm>
          <a:prstGeom prst="ellipse">
            <a:avLst/>
          </a:prstGeom>
          <a:solidFill>
            <a:srgbClr val="63E7A4"/>
          </a:solidFill>
          <a:ln/>
        </p:spPr>
        <p:txBody>
          <a:bodyPr/>
          <a:lstStyle/>
          <a:p>
            <a:endParaRPr lang="en-IN"/>
          </a:p>
        </p:txBody>
      </p:sp>
      <p:sp>
        <p:nvSpPr>
          <p:cNvPr id="14" name="Text 12"/>
          <p:cNvSpPr/>
          <p:nvPr/>
        </p:nvSpPr>
        <p:spPr>
          <a:xfrm>
            <a:off x="566928" y="470916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654296"/>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How will the work get done? → the plan</a:t>
            </a:r>
            <a:endParaRPr lang="en-US" sz="1550" dirty="0"/>
          </a:p>
        </p:txBody>
      </p:sp>
      <p:sp>
        <p:nvSpPr>
          <p:cNvPr id="16" name="Text 14"/>
          <p:cNvSpPr/>
          <p:nvPr/>
        </p:nvSpPr>
        <p:spPr>
          <a:xfrm>
            <a:off x="1170432" y="4965192"/>
            <a:ext cx="10241280" cy="704088"/>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Enough decomposition that the team can start with confidence. Not every task for two weeks — the Sprint Backlog is expected to change daily as the team learns.</a:t>
            </a:r>
            <a:endParaRPr lang="en-US" sz="1250" dirty="0"/>
          </a:p>
        </p:txBody>
      </p:sp>
      <p:sp>
        <p:nvSpPr>
          <p:cNvPr id="17" name="Text 15"/>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44</a:t>
            </a:r>
            <a:endParaRPr lang="en-US" sz="900" dirty="0"/>
          </a:p>
        </p:txBody>
      </p:sp>
      <p:sp>
        <p:nvSpPr>
          <p:cNvPr id="18" name="Text 16"/>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6 · SPRINT EXECUTION</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6 · SPRINT EXECUTION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The Daily Scrum — the most abused fifteen minutes</a:t>
            </a:r>
            <a:endParaRPr lang="en-US" sz="29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Status meeting</a:t>
            </a:r>
            <a:endParaRPr lang="en-US" sz="1900" dirty="0"/>
          </a:p>
        </p:txBody>
      </p:sp>
      <p:sp>
        <p:nvSpPr>
          <p:cNvPr id="6" name="Text 4"/>
          <p:cNvSpPr/>
          <p:nvPr/>
        </p:nvSpPr>
        <p:spPr>
          <a:xfrm>
            <a:off x="932688" y="2542032"/>
            <a:ext cx="4626864" cy="329184"/>
          </a:xfrm>
          <a:prstGeom prst="rect">
            <a:avLst/>
          </a:prstGeom>
          <a:noFill/>
          <a:ln/>
        </p:spPr>
        <p:txBody>
          <a:bodyPr wrap="square" lIns="0" tIns="0" rIns="0" bIns="0" rtlCol="0" anchor="ctr"/>
          <a:lstStyle/>
          <a:p>
            <a:pPr marL="0" indent="0">
              <a:buNone/>
            </a:pPr>
            <a:r>
              <a:rPr lang="en-US" sz="1150" i="1" dirty="0">
                <a:solidFill>
                  <a:srgbClr val="7A8C99"/>
                </a:solidFill>
                <a:latin typeface="Century Gothic" pitchFamily="34" charset="0"/>
                <a:ea typeface="Century Gothic" pitchFamily="34" charset="-122"/>
                <a:cs typeface="Century Gothic" pitchFamily="34" charset="-120"/>
              </a:rPr>
              <a:t>What most standups have become</a:t>
            </a:r>
            <a:endParaRPr lang="en-US" sz="1150" dirty="0"/>
          </a:p>
        </p:txBody>
      </p:sp>
      <p:sp>
        <p:nvSpPr>
          <p:cNvPr id="7" name="Text 5"/>
          <p:cNvSpPr/>
          <p:nvPr/>
        </p:nvSpPr>
        <p:spPr>
          <a:xfrm>
            <a:off x="932688"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Everyone reports to the Scrum Master or manager</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Each person describes yesterday in detail</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Problems get solved in the meeting; six people watch two people debug</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Runs 30–40 minutes</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Nothing about the plan changes as a result</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If it were cancelled, the team would be relieved</a:t>
            </a:r>
            <a:endParaRPr lang="en-US" sz="1250" dirty="0"/>
          </a:p>
        </p:txBody>
      </p:sp>
      <p:sp>
        <p:nvSpPr>
          <p:cNvPr id="8" name="Shape 6"/>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9" name="Text 7"/>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Re-planning session</a:t>
            </a:r>
            <a:endParaRPr lang="en-US" sz="1900" dirty="0"/>
          </a:p>
        </p:txBody>
      </p:sp>
      <p:sp>
        <p:nvSpPr>
          <p:cNvPr id="10" name="Text 8"/>
          <p:cNvSpPr/>
          <p:nvPr/>
        </p:nvSpPr>
        <p:spPr>
          <a:xfrm>
            <a:off x="6629400" y="2542032"/>
            <a:ext cx="4626864" cy="329184"/>
          </a:xfrm>
          <a:prstGeom prst="rect">
            <a:avLst/>
          </a:prstGeom>
          <a:noFill/>
          <a:ln/>
        </p:spPr>
        <p:txBody>
          <a:bodyPr wrap="square" lIns="0" tIns="0" rIns="0" bIns="0" rtlCol="0" anchor="ctr"/>
          <a:lstStyle/>
          <a:p>
            <a:pPr marL="0" indent="0">
              <a:buNone/>
            </a:pPr>
            <a:r>
              <a:rPr lang="en-US" sz="1150" i="1" dirty="0">
                <a:solidFill>
                  <a:srgbClr val="8FB3C6"/>
                </a:solidFill>
                <a:latin typeface="Century Gothic" pitchFamily="34" charset="0"/>
                <a:ea typeface="Century Gothic" pitchFamily="34" charset="-122"/>
                <a:cs typeface="Century Gothic" pitchFamily="34" charset="-120"/>
              </a:rPr>
              <a:t>What it is supposed to be</a:t>
            </a:r>
            <a:endParaRPr lang="en-US" sz="1150" dirty="0"/>
          </a:p>
        </p:txBody>
      </p:sp>
      <p:sp>
        <p:nvSpPr>
          <p:cNvPr id="11" name="Text 9"/>
          <p:cNvSpPr/>
          <p:nvPr/>
        </p:nvSpPr>
        <p:spPr>
          <a:xfrm>
            <a:off x="6629400"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Developers talk to each other; the board is the focus</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Only what affects the Sprint Goal gets airtime</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Problems get named and parked; the right two people meet after</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15 minutes, same time, same place, ends on time</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The day's plan visibly changes — work moves, people re-pair</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If it were cancelled, the team would improvise something like it</a:t>
            </a:r>
            <a:endParaRPr lang="en-US" sz="1250" dirty="0"/>
          </a:p>
        </p:txBody>
      </p:sp>
      <p:sp>
        <p:nvSpPr>
          <p:cNvPr id="12" name="Text 1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45</a:t>
            </a:r>
            <a:endParaRPr lang="en-US" sz="900" dirty="0"/>
          </a:p>
        </p:txBody>
      </p:sp>
      <p:sp>
        <p:nvSpPr>
          <p:cNvPr id="13" name="Text 1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6 · SPRINT EXECUTION</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6 · SPRINT EXECUTION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500" b="1" dirty="0">
                <a:solidFill>
                  <a:srgbClr val="003352"/>
                </a:solidFill>
                <a:latin typeface="Century Gothic" pitchFamily="34" charset="0"/>
                <a:ea typeface="Century Gothic" pitchFamily="34" charset="-122"/>
                <a:cs typeface="Century Gothic" pitchFamily="34" charset="-120"/>
              </a:rPr>
              <a:t>Sprint Review: a working session, not a performance</a:t>
            </a:r>
            <a:endParaRPr lang="en-US" sz="25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This is where the product meets reality. It is the highest-value hour in the sprint and the one we most often waste.</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Show the working software, driven live</a:t>
            </a:r>
            <a:endParaRPr lang="en-US" sz="1550" dirty="0"/>
          </a:p>
        </p:txBody>
      </p:sp>
      <p:sp>
        <p:nvSpPr>
          <p:cNvPr id="8" name="Text 6"/>
          <p:cNvSpPr/>
          <p:nvPr/>
        </p:nvSpPr>
        <p:spPr>
          <a:xfrm>
            <a:off x="1170432" y="262432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No slides describing what was built. No recorded video. The product on screen, operated by someone, against realistic data.</a:t>
            </a:r>
            <a:endParaRPr lang="en-US" sz="1250" dirty="0"/>
          </a:p>
        </p:txBody>
      </p:sp>
      <p:sp>
        <p:nvSpPr>
          <p:cNvPr id="9" name="Shape 7"/>
          <p:cNvSpPr/>
          <p:nvPr/>
        </p:nvSpPr>
        <p:spPr>
          <a:xfrm>
            <a:off x="566928" y="3259836"/>
            <a:ext cx="402336" cy="402336"/>
          </a:xfrm>
          <a:prstGeom prst="ellipse">
            <a:avLst/>
          </a:prstGeom>
          <a:solidFill>
            <a:srgbClr val="63E7A4"/>
          </a:solidFill>
          <a:ln/>
        </p:spPr>
        <p:txBody>
          <a:bodyPr/>
          <a:lstStyle/>
          <a:p>
            <a:endParaRPr lang="en-IN"/>
          </a:p>
        </p:txBody>
      </p:sp>
      <p:sp>
        <p:nvSpPr>
          <p:cNvPr id="10" name="Text 8"/>
          <p:cNvSpPr/>
          <p:nvPr/>
        </p:nvSpPr>
        <p:spPr>
          <a:xfrm>
            <a:off x="566928" y="325983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20497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Invite people who will actually use it</a:t>
            </a:r>
            <a:endParaRPr lang="en-US" sz="1550" dirty="0"/>
          </a:p>
        </p:txBody>
      </p:sp>
      <p:sp>
        <p:nvSpPr>
          <p:cNvPr id="12" name="Text 10"/>
          <p:cNvSpPr/>
          <p:nvPr/>
        </p:nvSpPr>
        <p:spPr>
          <a:xfrm>
            <a:off x="1170432" y="351586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The front-office manager who will run check-in, not only their director. Feedback quality tracks proximity to the work.</a:t>
            </a:r>
            <a:endParaRPr lang="en-US" sz="1250" dirty="0"/>
          </a:p>
        </p:txBody>
      </p:sp>
      <p:sp>
        <p:nvSpPr>
          <p:cNvPr id="13" name="Shape 11"/>
          <p:cNvSpPr/>
          <p:nvPr/>
        </p:nvSpPr>
        <p:spPr>
          <a:xfrm>
            <a:off x="566928" y="4151376"/>
            <a:ext cx="402336" cy="402336"/>
          </a:xfrm>
          <a:prstGeom prst="ellipse">
            <a:avLst/>
          </a:prstGeom>
          <a:solidFill>
            <a:srgbClr val="63E7A4"/>
          </a:solidFill>
          <a:ln/>
        </p:spPr>
        <p:txBody>
          <a:bodyPr/>
          <a:lstStyle/>
          <a:p>
            <a:endParaRPr lang="en-IN"/>
          </a:p>
        </p:txBody>
      </p:sp>
      <p:sp>
        <p:nvSpPr>
          <p:cNvPr id="14" name="Text 12"/>
          <p:cNvSpPr/>
          <p:nvPr/>
        </p:nvSpPr>
        <p:spPr>
          <a:xfrm>
            <a:off x="566928" y="415137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09651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Ask for reactions, not approval</a:t>
            </a:r>
            <a:endParaRPr lang="en-US" sz="1550" dirty="0"/>
          </a:p>
        </p:txBody>
      </p:sp>
      <p:sp>
        <p:nvSpPr>
          <p:cNvPr id="16" name="Text 14"/>
          <p:cNvSpPr/>
          <p:nvPr/>
        </p:nvSpPr>
        <p:spPr>
          <a:xfrm>
            <a:off x="1170432" y="440740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'Does this work the way your morning actually runs?' produces better information than 'is this acceptable?'</a:t>
            </a:r>
            <a:endParaRPr lang="en-US" sz="1250" dirty="0"/>
          </a:p>
        </p:txBody>
      </p:sp>
      <p:sp>
        <p:nvSpPr>
          <p:cNvPr id="17" name="Shape 15"/>
          <p:cNvSpPr/>
          <p:nvPr/>
        </p:nvSpPr>
        <p:spPr>
          <a:xfrm>
            <a:off x="566928" y="5042916"/>
            <a:ext cx="402336" cy="402336"/>
          </a:xfrm>
          <a:prstGeom prst="ellipse">
            <a:avLst/>
          </a:prstGeom>
          <a:solidFill>
            <a:srgbClr val="63E7A4"/>
          </a:solidFill>
          <a:ln/>
        </p:spPr>
        <p:txBody>
          <a:bodyPr/>
          <a:lstStyle/>
          <a:p>
            <a:endParaRPr lang="en-IN"/>
          </a:p>
        </p:txBody>
      </p:sp>
      <p:sp>
        <p:nvSpPr>
          <p:cNvPr id="18" name="Text 16"/>
          <p:cNvSpPr/>
          <p:nvPr/>
        </p:nvSpPr>
        <p:spPr>
          <a:xfrm>
            <a:off x="566928" y="50429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98805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Adapt the backlog in the room</a:t>
            </a:r>
            <a:endParaRPr lang="en-US" sz="1550" dirty="0"/>
          </a:p>
        </p:txBody>
      </p:sp>
      <p:sp>
        <p:nvSpPr>
          <p:cNvPr id="20" name="Text 18"/>
          <p:cNvSpPr/>
          <p:nvPr/>
        </p:nvSpPr>
        <p:spPr>
          <a:xfrm>
            <a:off x="1170432" y="529894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The output of a review is a changed backlog. If nothing changed, either the increment was perfect or nobody was really looking.</a:t>
            </a:r>
            <a:endParaRPr lang="en-US" sz="12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46</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6 · SPRINT EXECUTION</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6 · SPRINT EXECUTION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600" b="1" dirty="0">
                <a:solidFill>
                  <a:srgbClr val="003352"/>
                </a:solidFill>
                <a:latin typeface="Century Gothic" pitchFamily="34" charset="0"/>
                <a:ea typeface="Century Gothic" pitchFamily="34" charset="-122"/>
                <a:cs typeface="Century Gothic" pitchFamily="34" charset="-120"/>
              </a:rPr>
              <a:t>Retrospective: the only event that improves the others</a:t>
            </a:r>
            <a:endParaRPr lang="en-US" sz="26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Every other event improves the product. This one improves the team. Skipping it is the most expensive false economy in Scrum.</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Make it safe, or don't bother</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If people can't say the real thing, you'll get 'communication could be better' for six months. Prime Directive: everyone did the best they could with what they knew.</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Vary the format</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Start/Stop/Continue every fortnight for a year produces boredom and boilerplate. Rotate: 4Ls, sailboat, timeline, or simply 'what surprised us'.</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One improvement, not eight</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Pick a single change and put it in the next Sprint Backlog as real, sized work. Eight improvements means none of them happen.</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Check the last one first</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Open every retro by reviewing the previous action. Nothing builds credibility faster, and nothing kills a retro faster than actions that vanish.</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47</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6 · SPRINT EXECUTION</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CASE STUDY 2</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5 min</a:t>
            </a:r>
            <a:endParaRPr lang="en-US" sz="1250" dirty="0"/>
          </a:p>
        </p:txBody>
      </p:sp>
      <p:sp>
        <p:nvSpPr>
          <p:cNvPr id="5" name="Text 3"/>
          <p:cNvSpPr/>
          <p:nvPr/>
        </p:nvSpPr>
        <p:spPr>
          <a:xfrm>
            <a:off x="548640" y="713232"/>
            <a:ext cx="9235440" cy="658368"/>
          </a:xfrm>
          <a:prstGeom prst="rect">
            <a:avLst/>
          </a:prstGeom>
          <a:noFill/>
          <a:ln/>
        </p:spPr>
        <p:txBody>
          <a:bodyPr wrap="square" lIns="0" tIns="0" rIns="0" bIns="0" rtlCol="0" anchor="t"/>
          <a:lstStyle/>
          <a:p>
            <a:pPr marL="0" indent="0">
              <a:buNone/>
            </a:pPr>
            <a:r>
              <a:rPr lang="en-US" sz="2800" b="1" dirty="0">
                <a:solidFill>
                  <a:srgbClr val="003352"/>
                </a:solidFill>
                <a:latin typeface="Century Gothic" pitchFamily="34" charset="0"/>
                <a:ea typeface="Century Gothic" pitchFamily="34" charset="-122"/>
                <a:cs typeface="Century Gothic" pitchFamily="34" charset="-120"/>
              </a:rPr>
              <a:t>The sprint where nothing got Done</a:t>
            </a:r>
            <a:endParaRPr lang="en-US" sz="2800" dirty="0"/>
          </a:p>
        </p:txBody>
      </p:sp>
      <p:sp>
        <p:nvSpPr>
          <p:cNvPr id="6" name="Shape 4"/>
          <p:cNvSpPr/>
          <p:nvPr/>
        </p:nvSpPr>
        <p:spPr>
          <a:xfrm>
            <a:off x="548640" y="1481328"/>
            <a:ext cx="6720840" cy="4315968"/>
          </a:xfrm>
          <a:prstGeom prst="roundRect">
            <a:avLst>
              <a:gd name="adj" fmla="val 1271"/>
            </a:avLst>
          </a:prstGeom>
          <a:solidFill>
            <a:srgbClr val="FFFFFF"/>
          </a:solidFill>
          <a:ln/>
        </p:spPr>
        <p:txBody>
          <a:bodyPr/>
          <a:lstStyle/>
          <a:p>
            <a:endParaRPr lang="en-IN"/>
          </a:p>
        </p:txBody>
      </p:sp>
      <p:sp>
        <p:nvSpPr>
          <p:cNvPr id="7" name="Text 5"/>
          <p:cNvSpPr/>
          <p:nvPr/>
        </p:nvSpPr>
        <p:spPr>
          <a:xfrm>
            <a:off x="868680" y="1664208"/>
            <a:ext cx="6080760" cy="274320"/>
          </a:xfrm>
          <a:prstGeom prst="rect">
            <a:avLst/>
          </a:prstGeom>
          <a:noFill/>
          <a:ln/>
        </p:spPr>
        <p:txBody>
          <a:bodyPr wrap="square" lIns="0" tIns="0" rIns="0" bIns="0" rtlCol="0" anchor="ctr"/>
          <a:lstStyle/>
          <a:p>
            <a:pPr marL="0" indent="0">
              <a:buNone/>
            </a:pPr>
            <a:r>
              <a:rPr lang="en-US" sz="1100" b="1" kern="0" spc="150" dirty="0">
                <a:solidFill>
                  <a:srgbClr val="7A8C99"/>
                </a:solidFill>
                <a:latin typeface="Century Gothic" pitchFamily="34" charset="0"/>
                <a:ea typeface="Century Gothic" pitchFamily="34" charset="-122"/>
                <a:cs typeface="Century Gothic" pitchFamily="34" charset="-120"/>
              </a:rPr>
              <a:t>The scenario</a:t>
            </a:r>
            <a:endParaRPr lang="en-US" sz="1100" dirty="0"/>
          </a:p>
        </p:txBody>
      </p:sp>
      <p:sp>
        <p:nvSpPr>
          <p:cNvPr id="8" name="Text 6"/>
          <p:cNvSpPr/>
          <p:nvPr/>
        </p:nvSpPr>
        <p:spPr>
          <a:xfrm>
            <a:off x="868680" y="1993392"/>
            <a:ext cx="6080760" cy="3602736"/>
          </a:xfrm>
          <a:prstGeom prst="rect">
            <a:avLst/>
          </a:prstGeom>
          <a:noFill/>
          <a:ln/>
        </p:spPr>
        <p:txBody>
          <a:bodyPr wrap="square" lIns="0" tIns="0" rIns="0" bIns="0" rtlCol="0" anchor="t"/>
          <a:lstStyle/>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A team of six finishes a two-week sprint. They committed to 34 points across nine stories. At the review, one story is Done. Seven are 'nearly there'. One was never started.</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What the sprint actually looked like:</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Two production escalations landed on days 2 and 6; the two most senior developers spent four days between them</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The tester was pulled to another release for three days</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One story turned out to need an API change from a team in another office; that request is still open</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Sprint Planning ran 25 minutes because 'the stories were obvious'</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Standups reported 'in progress' on the same items from day 3 to day 9</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The Product Owner attended planning and the review, nothing in between</a:t>
            </a:r>
            <a:endParaRPr lang="en-US" sz="1150" dirty="0"/>
          </a:p>
        </p:txBody>
      </p:sp>
      <p:sp>
        <p:nvSpPr>
          <p:cNvPr id="9" name="Shape 7"/>
          <p:cNvSpPr/>
          <p:nvPr/>
        </p:nvSpPr>
        <p:spPr>
          <a:xfrm>
            <a:off x="7498080" y="1481328"/>
            <a:ext cx="4142232" cy="4315968"/>
          </a:xfrm>
          <a:prstGeom prst="roundRect">
            <a:avLst>
              <a:gd name="adj" fmla="val 1325"/>
            </a:avLst>
          </a:prstGeom>
          <a:solidFill>
            <a:srgbClr val="003352"/>
          </a:solidFill>
          <a:ln/>
        </p:spPr>
        <p:txBody>
          <a:bodyPr/>
          <a:lstStyle/>
          <a:p>
            <a:endParaRPr lang="en-IN"/>
          </a:p>
        </p:txBody>
      </p:sp>
      <p:sp>
        <p:nvSpPr>
          <p:cNvPr id="10" name="Text 8"/>
          <p:cNvSpPr/>
          <p:nvPr/>
        </p:nvSpPr>
        <p:spPr>
          <a:xfrm>
            <a:off x="7818120" y="1664208"/>
            <a:ext cx="3502152" cy="274320"/>
          </a:xfrm>
          <a:prstGeom prst="rect">
            <a:avLst/>
          </a:prstGeom>
          <a:noFill/>
          <a:ln/>
        </p:spPr>
        <p:txBody>
          <a:bodyPr wrap="square" lIns="0" tIns="0" rIns="0" bIns="0" rtlCol="0" anchor="ctr"/>
          <a:lstStyle/>
          <a:p>
            <a:pPr marL="0" indent="0">
              <a:buNone/>
            </a:pPr>
            <a:r>
              <a:rPr lang="en-US" sz="1100" b="1" kern="0" spc="150" dirty="0">
                <a:solidFill>
                  <a:srgbClr val="63E7A4"/>
                </a:solidFill>
                <a:latin typeface="Century Gothic" pitchFamily="34" charset="0"/>
                <a:ea typeface="Century Gothic" pitchFamily="34" charset="-122"/>
                <a:cs typeface="Century Gothic" pitchFamily="34" charset="-120"/>
              </a:rPr>
              <a:t>Diagnose</a:t>
            </a:r>
            <a:endParaRPr lang="en-US" sz="1100" dirty="0"/>
          </a:p>
        </p:txBody>
      </p:sp>
      <p:sp>
        <p:nvSpPr>
          <p:cNvPr id="11" name="Text 9"/>
          <p:cNvSpPr/>
          <p:nvPr/>
        </p:nvSpPr>
        <p:spPr>
          <a:xfrm>
            <a:off x="7818120" y="1993392"/>
            <a:ext cx="3502152" cy="3602736"/>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What is the single root cause? Push past the obvious answer</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Which symptoms are causes, and which are consequences?</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What should the team have done on day 6?</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Name the one change that prevents this recurring</a:t>
            </a:r>
            <a:endParaRPr lang="en-US" sz="1150" dirty="0"/>
          </a:p>
        </p:txBody>
      </p:sp>
      <p:sp>
        <p:nvSpPr>
          <p:cNvPr id="12" name="Text 10"/>
          <p:cNvSpPr/>
          <p:nvPr/>
        </p:nvSpPr>
        <p:spPr>
          <a:xfrm>
            <a:off x="548640" y="5907024"/>
            <a:ext cx="11091672" cy="347472"/>
          </a:xfrm>
          <a:prstGeom prst="rect">
            <a:avLst/>
          </a:prstGeom>
          <a:noFill/>
          <a:ln/>
        </p:spPr>
        <p:txBody>
          <a:bodyPr wrap="square" lIns="0" tIns="0" rIns="0" bIns="0" rtlCol="0" anchor="t"/>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Tables of 4–5 · 3 min diagnosis · 2 min debrief · Resist blaming the escalations — they are a fact of our business</a:t>
            </a:r>
            <a:endParaRPr lang="en-US" sz="1150" dirty="0"/>
          </a:p>
        </p:txBody>
      </p:sp>
      <p:sp>
        <p:nvSpPr>
          <p:cNvPr id="13" name="Text 11"/>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48</a:t>
            </a:r>
            <a:endParaRPr lang="en-US" sz="900" dirty="0"/>
          </a:p>
        </p:txBody>
      </p:sp>
      <p:sp>
        <p:nvSpPr>
          <p:cNvPr id="14" name="Text 12"/>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CASE STUDY 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CASE STUDY 2 · DEBRIEF</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Root cause and the fix</a:t>
            </a:r>
            <a:endParaRPr lang="en-US" sz="3000" dirty="0"/>
          </a:p>
        </p:txBody>
      </p:sp>
      <p:sp>
        <p:nvSpPr>
          <p:cNvPr id="4" name="Shape 2"/>
          <p:cNvSpPr/>
          <p:nvPr/>
        </p:nvSpPr>
        <p:spPr>
          <a:xfrm>
            <a:off x="566928" y="1911096"/>
            <a:ext cx="402336" cy="402336"/>
          </a:xfrm>
          <a:prstGeom prst="ellipse">
            <a:avLst/>
          </a:prstGeom>
          <a:solidFill>
            <a:srgbClr val="63E7A4"/>
          </a:solidFill>
          <a:ln/>
        </p:spPr>
        <p:txBody>
          <a:bodyPr/>
          <a:lstStyle/>
          <a:p>
            <a:endParaRPr lang="en-IN"/>
          </a:p>
        </p:txBody>
      </p:sp>
      <p:sp>
        <p:nvSpPr>
          <p:cNvPr id="5" name="Text 3"/>
          <p:cNvSpPr/>
          <p:nvPr/>
        </p:nvSpPr>
        <p:spPr>
          <a:xfrm>
            <a:off x="566928" y="19110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6" name="Text 4"/>
          <p:cNvSpPr/>
          <p:nvPr/>
        </p:nvSpPr>
        <p:spPr>
          <a:xfrm>
            <a:off x="1170432" y="1856232"/>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Root cause: there was no Sprint Goal</a:t>
            </a:r>
            <a:endParaRPr lang="en-US" sz="1450" dirty="0"/>
          </a:p>
        </p:txBody>
      </p:sp>
      <p:sp>
        <p:nvSpPr>
          <p:cNvPr id="7" name="Text 5"/>
          <p:cNvSpPr/>
          <p:nvPr/>
        </p:nvSpPr>
        <p:spPr>
          <a:xfrm>
            <a:off x="1170432" y="2148840"/>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Nine unrelated stories. When capacity collapsed, the team had no basis for choosing what to protect, so they protected everything and completed one thing.</a:t>
            </a:r>
            <a:endParaRPr lang="en-US" sz="1200" dirty="0"/>
          </a:p>
        </p:txBody>
      </p:sp>
      <p:sp>
        <p:nvSpPr>
          <p:cNvPr id="8" name="Shape 6"/>
          <p:cNvSpPr/>
          <p:nvPr/>
        </p:nvSpPr>
        <p:spPr>
          <a:xfrm>
            <a:off x="566928" y="2706624"/>
            <a:ext cx="402336" cy="402336"/>
          </a:xfrm>
          <a:prstGeom prst="ellipse">
            <a:avLst/>
          </a:prstGeom>
          <a:solidFill>
            <a:srgbClr val="63E7A4"/>
          </a:solidFill>
          <a:ln/>
        </p:spPr>
        <p:txBody>
          <a:bodyPr/>
          <a:lstStyle/>
          <a:p>
            <a:endParaRPr lang="en-IN"/>
          </a:p>
        </p:txBody>
      </p:sp>
      <p:sp>
        <p:nvSpPr>
          <p:cNvPr id="9" name="Text 7"/>
          <p:cNvSpPr/>
          <p:nvPr/>
        </p:nvSpPr>
        <p:spPr>
          <a:xfrm>
            <a:off x="566928" y="270662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0" name="Text 8"/>
          <p:cNvSpPr/>
          <p:nvPr/>
        </p:nvSpPr>
        <p:spPr>
          <a:xfrm>
            <a:off x="1170432" y="2651760"/>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escalations are context, not cause</a:t>
            </a:r>
            <a:endParaRPr lang="en-US" sz="1450" dirty="0"/>
          </a:p>
        </p:txBody>
      </p:sp>
      <p:sp>
        <p:nvSpPr>
          <p:cNvPr id="11" name="Text 9"/>
          <p:cNvSpPr/>
          <p:nvPr/>
        </p:nvSpPr>
        <p:spPr>
          <a:xfrm>
            <a:off x="1170432" y="2944368"/>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They are permanent in our business. A sprint plan that assumes they won't happen will fail whenever they do — which is most sprints.</a:t>
            </a:r>
            <a:endParaRPr lang="en-US" sz="1200" dirty="0"/>
          </a:p>
        </p:txBody>
      </p:sp>
      <p:sp>
        <p:nvSpPr>
          <p:cNvPr id="12" name="Shape 10"/>
          <p:cNvSpPr/>
          <p:nvPr/>
        </p:nvSpPr>
        <p:spPr>
          <a:xfrm>
            <a:off x="566928" y="3502152"/>
            <a:ext cx="402336" cy="402336"/>
          </a:xfrm>
          <a:prstGeom prst="ellipse">
            <a:avLst/>
          </a:prstGeom>
          <a:solidFill>
            <a:srgbClr val="63E7A4"/>
          </a:solidFill>
          <a:ln/>
        </p:spPr>
        <p:txBody>
          <a:bodyPr/>
          <a:lstStyle/>
          <a:p>
            <a:endParaRPr lang="en-IN"/>
          </a:p>
        </p:txBody>
      </p:sp>
      <p:sp>
        <p:nvSpPr>
          <p:cNvPr id="13" name="Text 11"/>
          <p:cNvSpPr/>
          <p:nvPr/>
        </p:nvSpPr>
        <p:spPr>
          <a:xfrm>
            <a:off x="566928" y="350215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4" name="Text 12"/>
          <p:cNvSpPr/>
          <p:nvPr/>
        </p:nvSpPr>
        <p:spPr>
          <a:xfrm>
            <a:off x="1170432" y="3447288"/>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Seven stories at 90% delivered zero value</a:t>
            </a:r>
            <a:endParaRPr lang="en-US" sz="1450" dirty="0"/>
          </a:p>
        </p:txBody>
      </p:sp>
      <p:sp>
        <p:nvSpPr>
          <p:cNvPr id="15" name="Text 13"/>
          <p:cNvSpPr/>
          <p:nvPr/>
        </p:nvSpPr>
        <p:spPr>
          <a:xfrm>
            <a:off x="1170432" y="3739896"/>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Work in progress is inventory. It carries cost, it can go stale, and until it's Done it is worth nothing to a customer. Finish things.</a:t>
            </a:r>
            <a:endParaRPr lang="en-US" sz="1200" dirty="0"/>
          </a:p>
        </p:txBody>
      </p:sp>
      <p:sp>
        <p:nvSpPr>
          <p:cNvPr id="16" name="Shape 14"/>
          <p:cNvSpPr/>
          <p:nvPr/>
        </p:nvSpPr>
        <p:spPr>
          <a:xfrm>
            <a:off x="566928" y="4297680"/>
            <a:ext cx="402336" cy="402336"/>
          </a:xfrm>
          <a:prstGeom prst="ellipse">
            <a:avLst/>
          </a:prstGeom>
          <a:solidFill>
            <a:srgbClr val="63E7A4"/>
          </a:solidFill>
          <a:ln/>
        </p:spPr>
        <p:txBody>
          <a:bodyPr/>
          <a:lstStyle/>
          <a:p>
            <a:endParaRPr lang="en-IN"/>
          </a:p>
        </p:txBody>
      </p:sp>
      <p:sp>
        <p:nvSpPr>
          <p:cNvPr id="17" name="Text 15"/>
          <p:cNvSpPr/>
          <p:nvPr/>
        </p:nvSpPr>
        <p:spPr>
          <a:xfrm>
            <a:off x="566928" y="429768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8" name="Text 16"/>
          <p:cNvSpPr/>
          <p:nvPr/>
        </p:nvSpPr>
        <p:spPr>
          <a:xfrm>
            <a:off x="1170432" y="4242816"/>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Day 6 was the moment to renegotiate</a:t>
            </a:r>
            <a:endParaRPr lang="en-US" sz="1450" dirty="0"/>
          </a:p>
        </p:txBody>
      </p:sp>
      <p:sp>
        <p:nvSpPr>
          <p:cNvPr id="19" name="Text 17"/>
          <p:cNvSpPr/>
          <p:nvPr/>
        </p:nvSpPr>
        <p:spPr>
          <a:xfrm>
            <a:off x="1170432" y="4535424"/>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Losing 40% of capacity is not a secret to keep until the review. Go to the PO, protect the goal, cut the rest. That is the system working.</a:t>
            </a:r>
            <a:endParaRPr lang="en-US" sz="1200" dirty="0"/>
          </a:p>
        </p:txBody>
      </p:sp>
      <p:sp>
        <p:nvSpPr>
          <p:cNvPr id="20" name="Shape 18"/>
          <p:cNvSpPr/>
          <p:nvPr/>
        </p:nvSpPr>
        <p:spPr>
          <a:xfrm>
            <a:off x="566928" y="5093208"/>
            <a:ext cx="402336" cy="402336"/>
          </a:xfrm>
          <a:prstGeom prst="ellipse">
            <a:avLst/>
          </a:prstGeom>
          <a:solidFill>
            <a:srgbClr val="63E7A4"/>
          </a:solidFill>
          <a:ln/>
        </p:spPr>
        <p:txBody>
          <a:bodyPr/>
          <a:lstStyle/>
          <a:p>
            <a:endParaRPr lang="en-IN"/>
          </a:p>
        </p:txBody>
      </p:sp>
      <p:sp>
        <p:nvSpPr>
          <p:cNvPr id="21" name="Text 19"/>
          <p:cNvSpPr/>
          <p:nvPr/>
        </p:nvSpPr>
        <p:spPr>
          <a:xfrm>
            <a:off x="566928" y="509320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22" name="Text 20"/>
          <p:cNvSpPr/>
          <p:nvPr/>
        </p:nvSpPr>
        <p:spPr>
          <a:xfrm>
            <a:off x="1170432" y="5038344"/>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one change: a Sprint Goal, plus planning at real capacity</a:t>
            </a:r>
            <a:endParaRPr lang="en-US" sz="1450" dirty="0"/>
          </a:p>
        </p:txBody>
      </p:sp>
      <p:sp>
        <p:nvSpPr>
          <p:cNvPr id="23" name="Text 21"/>
          <p:cNvSpPr/>
          <p:nvPr/>
        </p:nvSpPr>
        <p:spPr>
          <a:xfrm>
            <a:off x="1170432" y="5330952"/>
            <a:ext cx="10241280" cy="365760"/>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Reserve explicit capacity for escalations based on the last three sprints. Commit to a goal, not a ticket list. Everything else follows.</a:t>
            </a:r>
            <a:endParaRPr lang="en-US" sz="1200" dirty="0"/>
          </a:p>
        </p:txBody>
      </p:sp>
      <p:sp>
        <p:nvSpPr>
          <p:cNvPr id="24" name="Text 2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49</a:t>
            </a:r>
            <a:endParaRPr lang="en-US" sz="900" dirty="0"/>
          </a:p>
        </p:txBody>
      </p:sp>
      <p:sp>
        <p:nvSpPr>
          <p:cNvPr id="25" name="Text 2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CASE STUDY 2</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07</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Estimation &amp; Prioritisation</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Story points, planning poker, and how to decide what to build when everything is urgent.</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10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31–35</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7 · ESTIMATION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What estimates are actually for</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Estimates are a forecasting aid and a conversation trigger. They are not a commitment and never a performance measure.</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Forecasting, with honest uncertainty</a:t>
            </a:r>
            <a:endParaRPr lang="en-US" sz="1550" dirty="0"/>
          </a:p>
        </p:txBody>
      </p:sp>
      <p:sp>
        <p:nvSpPr>
          <p:cNvPr id="8" name="Text 6"/>
          <p:cNvSpPr/>
          <p:nvPr/>
        </p:nvSpPr>
        <p:spPr>
          <a:xfrm>
            <a:off x="1170432" y="262432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'Roughly four to six sprints' is a useful, defensible answer. 'Twelve weeks' stated with false precision is not, and it will be quoted back to you.</a:t>
            </a:r>
            <a:endParaRPr lang="en-US" sz="1250" dirty="0"/>
          </a:p>
        </p:txBody>
      </p:sp>
      <p:sp>
        <p:nvSpPr>
          <p:cNvPr id="9" name="Shape 7"/>
          <p:cNvSpPr/>
          <p:nvPr/>
        </p:nvSpPr>
        <p:spPr>
          <a:xfrm>
            <a:off x="566928" y="3259836"/>
            <a:ext cx="402336" cy="402336"/>
          </a:xfrm>
          <a:prstGeom prst="ellipse">
            <a:avLst/>
          </a:prstGeom>
          <a:solidFill>
            <a:srgbClr val="63E7A4"/>
          </a:solidFill>
          <a:ln/>
        </p:spPr>
        <p:txBody>
          <a:bodyPr/>
          <a:lstStyle/>
          <a:p>
            <a:endParaRPr lang="en-IN"/>
          </a:p>
        </p:txBody>
      </p:sp>
      <p:sp>
        <p:nvSpPr>
          <p:cNvPr id="10" name="Text 8"/>
          <p:cNvSpPr/>
          <p:nvPr/>
        </p:nvSpPr>
        <p:spPr>
          <a:xfrm>
            <a:off x="566928" y="325983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20497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Surfacing disagreement — the real value</a:t>
            </a:r>
            <a:endParaRPr lang="en-US" sz="1550" dirty="0"/>
          </a:p>
        </p:txBody>
      </p:sp>
      <p:sp>
        <p:nvSpPr>
          <p:cNvPr id="12" name="Text 10"/>
          <p:cNvSpPr/>
          <p:nvPr/>
        </p:nvSpPr>
        <p:spPr>
          <a:xfrm>
            <a:off x="1170432" y="351586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When one person says 2 and another says 13, they are not both estimating the same work. That gap is worth far more than the number that ends the discussion.</a:t>
            </a:r>
            <a:endParaRPr lang="en-US" sz="1250" dirty="0"/>
          </a:p>
        </p:txBody>
      </p:sp>
      <p:sp>
        <p:nvSpPr>
          <p:cNvPr id="13" name="Shape 11"/>
          <p:cNvSpPr/>
          <p:nvPr/>
        </p:nvSpPr>
        <p:spPr>
          <a:xfrm>
            <a:off x="566928" y="4151376"/>
            <a:ext cx="402336" cy="402336"/>
          </a:xfrm>
          <a:prstGeom prst="ellipse">
            <a:avLst/>
          </a:prstGeom>
          <a:solidFill>
            <a:srgbClr val="63E7A4"/>
          </a:solidFill>
          <a:ln/>
        </p:spPr>
        <p:txBody>
          <a:bodyPr/>
          <a:lstStyle/>
          <a:p>
            <a:endParaRPr lang="en-IN"/>
          </a:p>
        </p:txBody>
      </p:sp>
      <p:sp>
        <p:nvSpPr>
          <p:cNvPr id="14" name="Text 12"/>
          <p:cNvSpPr/>
          <p:nvPr/>
        </p:nvSpPr>
        <p:spPr>
          <a:xfrm>
            <a:off x="566928" y="415137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09651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Deciding whether to slice further</a:t>
            </a:r>
            <a:endParaRPr lang="en-US" sz="1550" dirty="0"/>
          </a:p>
        </p:txBody>
      </p:sp>
      <p:sp>
        <p:nvSpPr>
          <p:cNvPr id="16" name="Text 14"/>
          <p:cNvSpPr/>
          <p:nvPr/>
        </p:nvSpPr>
        <p:spPr>
          <a:xfrm>
            <a:off x="1170432" y="440740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A very large estimate is a signal to break the item down, not a number to record and proceed with.</a:t>
            </a:r>
            <a:endParaRPr lang="en-US" sz="1250" dirty="0"/>
          </a:p>
        </p:txBody>
      </p:sp>
      <p:sp>
        <p:nvSpPr>
          <p:cNvPr id="17" name="Shape 15"/>
          <p:cNvSpPr/>
          <p:nvPr/>
        </p:nvSpPr>
        <p:spPr>
          <a:xfrm>
            <a:off x="566928" y="5042916"/>
            <a:ext cx="402336" cy="402336"/>
          </a:xfrm>
          <a:prstGeom prst="ellipse">
            <a:avLst/>
          </a:prstGeom>
          <a:solidFill>
            <a:srgbClr val="63E7A4"/>
          </a:solidFill>
          <a:ln/>
        </p:spPr>
        <p:txBody>
          <a:bodyPr/>
          <a:lstStyle/>
          <a:p>
            <a:endParaRPr lang="en-IN"/>
          </a:p>
        </p:txBody>
      </p:sp>
      <p:sp>
        <p:nvSpPr>
          <p:cNvPr id="18" name="Text 16"/>
          <p:cNvSpPr/>
          <p:nvPr/>
        </p:nvSpPr>
        <p:spPr>
          <a:xfrm>
            <a:off x="566928" y="50429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98805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Never a productivity measure</a:t>
            </a:r>
            <a:endParaRPr lang="en-US" sz="1550" dirty="0"/>
          </a:p>
        </p:txBody>
      </p:sp>
      <p:sp>
        <p:nvSpPr>
          <p:cNvPr id="20" name="Text 18"/>
          <p:cNvSpPr/>
          <p:nvPr/>
        </p:nvSpPr>
        <p:spPr>
          <a:xfrm>
            <a:off x="1170432" y="529894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The moment estimates are used to judge a team, the team adjusts the estimates. You lose the forecasting instrument and gain nothing.</a:t>
            </a:r>
            <a:endParaRPr lang="en-US" sz="12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51</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7 · ESTIMATION</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7 · ESTIMATION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Story points, and why not hours</a:t>
            </a:r>
            <a:endParaRPr lang="en-US" sz="30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Estimating in hours</a:t>
            </a:r>
            <a:endParaRPr lang="en-US" sz="1900" dirty="0"/>
          </a:p>
        </p:txBody>
      </p:sp>
      <p:sp>
        <p:nvSpPr>
          <p:cNvPr id="6" name="Text 4"/>
          <p:cNvSpPr/>
          <p:nvPr/>
        </p:nvSpPr>
        <p:spPr>
          <a:xfrm>
            <a:off x="932688" y="2542032"/>
            <a:ext cx="4626864" cy="329184"/>
          </a:xfrm>
          <a:prstGeom prst="rect">
            <a:avLst/>
          </a:prstGeom>
          <a:noFill/>
          <a:ln/>
        </p:spPr>
        <p:txBody>
          <a:bodyPr wrap="square" lIns="0" tIns="0" rIns="0" bIns="0" rtlCol="0" anchor="ctr"/>
          <a:lstStyle/>
          <a:p>
            <a:pPr marL="0" indent="0">
              <a:buNone/>
            </a:pPr>
            <a:r>
              <a:rPr lang="en-US" sz="1150" i="1" dirty="0">
                <a:solidFill>
                  <a:srgbClr val="7A8C99"/>
                </a:solidFill>
                <a:latin typeface="Century Gothic" pitchFamily="34" charset="0"/>
                <a:ea typeface="Century Gothic" pitchFamily="34" charset="-122"/>
                <a:cs typeface="Century Gothic" pitchFamily="34" charset="-120"/>
              </a:rPr>
              <a:t>Intuitive, and quietly corrosive</a:t>
            </a:r>
            <a:endParaRPr lang="en-US" sz="1150" dirty="0"/>
          </a:p>
        </p:txBody>
      </p:sp>
      <p:sp>
        <p:nvSpPr>
          <p:cNvPr id="7" name="Text 5"/>
          <p:cNvSpPr/>
          <p:nvPr/>
        </p:nvSpPr>
        <p:spPr>
          <a:xfrm>
            <a:off x="932688"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Reads as a promise — and gets treated as one</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Varies by person: 4 hours for Rams, 12 for a new joiner</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Ignores uncertainty entirely</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Invites 'why did that take longer than you said?'</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Encourages padding, which then gets negotiated away</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Precision that the underlying knowledge doesn't support</a:t>
            </a:r>
            <a:endParaRPr lang="en-US" sz="1250" dirty="0"/>
          </a:p>
        </p:txBody>
      </p:sp>
      <p:sp>
        <p:nvSpPr>
          <p:cNvPr id="8" name="Shape 6"/>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9" name="Text 7"/>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Story points</a:t>
            </a:r>
            <a:endParaRPr lang="en-US" sz="1900" dirty="0"/>
          </a:p>
        </p:txBody>
      </p:sp>
      <p:sp>
        <p:nvSpPr>
          <p:cNvPr id="10" name="Text 8"/>
          <p:cNvSpPr/>
          <p:nvPr/>
        </p:nvSpPr>
        <p:spPr>
          <a:xfrm>
            <a:off x="6629400" y="2542032"/>
            <a:ext cx="4626864" cy="329184"/>
          </a:xfrm>
          <a:prstGeom prst="rect">
            <a:avLst/>
          </a:prstGeom>
          <a:noFill/>
          <a:ln/>
        </p:spPr>
        <p:txBody>
          <a:bodyPr wrap="square" lIns="0" tIns="0" rIns="0" bIns="0" rtlCol="0" anchor="ctr"/>
          <a:lstStyle/>
          <a:p>
            <a:pPr marL="0" indent="0">
              <a:buNone/>
            </a:pPr>
            <a:r>
              <a:rPr lang="en-US" sz="1150" i="1" dirty="0">
                <a:solidFill>
                  <a:srgbClr val="8FB3C6"/>
                </a:solidFill>
                <a:latin typeface="Century Gothic" pitchFamily="34" charset="0"/>
                <a:ea typeface="Century Gothic" pitchFamily="34" charset="-122"/>
                <a:cs typeface="Century Gothic" pitchFamily="34" charset="-120"/>
              </a:rPr>
              <a:t>Relative size — complexity, effort, uncertainty</a:t>
            </a:r>
            <a:endParaRPr lang="en-US" sz="1150" dirty="0"/>
          </a:p>
        </p:txBody>
      </p:sp>
      <p:sp>
        <p:nvSpPr>
          <p:cNvPr id="11" name="Text 9"/>
          <p:cNvSpPr/>
          <p:nvPr/>
        </p:nvSpPr>
        <p:spPr>
          <a:xfrm>
            <a:off x="6629400"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Relative, so it resists being read as a deadline</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A team property, not an individual one</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Uncertainty is part of the number by design</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Fibonacci-ish (1,2,3,5,8,13) — the gaps widen as confidence drops</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Fast: comparison is easier than absolute measurement</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Combined with velocity, gives a forecast with a real range</a:t>
            </a:r>
            <a:endParaRPr lang="en-US" sz="1250" dirty="0"/>
          </a:p>
        </p:txBody>
      </p:sp>
      <p:sp>
        <p:nvSpPr>
          <p:cNvPr id="12" name="Text 1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52</a:t>
            </a:r>
            <a:endParaRPr lang="en-US" sz="900" dirty="0"/>
          </a:p>
        </p:txBody>
      </p:sp>
      <p:sp>
        <p:nvSpPr>
          <p:cNvPr id="13" name="Text 1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7 · ESTIMATION</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7 · ESTIMATION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Planning poker, run properly</a:t>
            </a:r>
            <a:endParaRPr lang="en-US" sz="3000" dirty="0"/>
          </a:p>
        </p:txBody>
      </p:sp>
      <p:sp>
        <p:nvSpPr>
          <p:cNvPr id="4" name="Shape 2"/>
          <p:cNvSpPr/>
          <p:nvPr/>
        </p:nvSpPr>
        <p:spPr>
          <a:xfrm>
            <a:off x="548640" y="2011680"/>
            <a:ext cx="2028139" cy="2926080"/>
          </a:xfrm>
          <a:prstGeom prst="roundRect">
            <a:avLst>
              <a:gd name="adj" fmla="val 2705"/>
            </a:avLst>
          </a:prstGeom>
          <a:solidFill>
            <a:srgbClr val="F4F7F9"/>
          </a:solidFill>
          <a:ln/>
        </p:spPr>
        <p:txBody>
          <a:bodyPr/>
          <a:lstStyle/>
          <a:p>
            <a:endParaRPr lang="en-IN"/>
          </a:p>
        </p:txBody>
      </p:sp>
      <p:sp>
        <p:nvSpPr>
          <p:cNvPr id="5" name="Shape 3"/>
          <p:cNvSpPr/>
          <p:nvPr/>
        </p:nvSpPr>
        <p:spPr>
          <a:xfrm>
            <a:off x="1343254" y="2286000"/>
            <a:ext cx="438912" cy="438912"/>
          </a:xfrm>
          <a:prstGeom prst="ellipse">
            <a:avLst/>
          </a:prstGeom>
          <a:solidFill>
            <a:srgbClr val="63E7A4"/>
          </a:solidFill>
          <a:ln/>
        </p:spPr>
        <p:txBody>
          <a:bodyPr/>
          <a:lstStyle/>
          <a:p>
            <a:endParaRPr lang="en-IN"/>
          </a:p>
        </p:txBody>
      </p:sp>
      <p:sp>
        <p:nvSpPr>
          <p:cNvPr id="6" name="Text 4"/>
          <p:cNvSpPr/>
          <p:nvPr/>
        </p:nvSpPr>
        <p:spPr>
          <a:xfrm>
            <a:off x="1343254"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731520"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Read and clarify</a:t>
            </a:r>
            <a:endParaRPr lang="en-US" sz="1400" dirty="0"/>
          </a:p>
        </p:txBody>
      </p:sp>
      <p:sp>
        <p:nvSpPr>
          <p:cNvPr id="8" name="Text 6"/>
          <p:cNvSpPr/>
          <p:nvPr/>
        </p:nvSpPr>
        <p:spPr>
          <a:xfrm>
            <a:off x="731520"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PO presents the story. Questions answered. No numbers mentioned yet — anchoring is real.</a:t>
            </a:r>
            <a:endParaRPr lang="en-US" sz="1150" dirty="0"/>
          </a:p>
        </p:txBody>
      </p:sp>
      <p:sp>
        <p:nvSpPr>
          <p:cNvPr id="9" name="Text 7"/>
          <p:cNvSpPr/>
          <p:nvPr/>
        </p:nvSpPr>
        <p:spPr>
          <a:xfrm>
            <a:off x="2558491" y="3108960"/>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0" name="Shape 8"/>
          <p:cNvSpPr/>
          <p:nvPr/>
        </p:nvSpPr>
        <p:spPr>
          <a:xfrm>
            <a:off x="2814523" y="2011680"/>
            <a:ext cx="2028139" cy="2926080"/>
          </a:xfrm>
          <a:prstGeom prst="roundRect">
            <a:avLst>
              <a:gd name="adj" fmla="val 2705"/>
            </a:avLst>
          </a:prstGeom>
          <a:solidFill>
            <a:srgbClr val="F4F7F9"/>
          </a:solidFill>
          <a:ln/>
        </p:spPr>
        <p:txBody>
          <a:bodyPr/>
          <a:lstStyle/>
          <a:p>
            <a:endParaRPr lang="en-IN"/>
          </a:p>
        </p:txBody>
      </p:sp>
      <p:sp>
        <p:nvSpPr>
          <p:cNvPr id="11" name="Shape 9"/>
          <p:cNvSpPr/>
          <p:nvPr/>
        </p:nvSpPr>
        <p:spPr>
          <a:xfrm>
            <a:off x="3609137" y="2286000"/>
            <a:ext cx="438912" cy="438912"/>
          </a:xfrm>
          <a:prstGeom prst="ellipse">
            <a:avLst/>
          </a:prstGeom>
          <a:solidFill>
            <a:srgbClr val="63E7A4"/>
          </a:solidFill>
          <a:ln/>
        </p:spPr>
        <p:txBody>
          <a:bodyPr/>
          <a:lstStyle/>
          <a:p>
            <a:endParaRPr lang="en-IN"/>
          </a:p>
        </p:txBody>
      </p:sp>
      <p:sp>
        <p:nvSpPr>
          <p:cNvPr id="12" name="Text 10"/>
          <p:cNvSpPr/>
          <p:nvPr/>
        </p:nvSpPr>
        <p:spPr>
          <a:xfrm>
            <a:off x="3609137"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2997403"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Estimate privately</a:t>
            </a:r>
            <a:endParaRPr lang="en-US" sz="1400" dirty="0"/>
          </a:p>
        </p:txBody>
      </p:sp>
      <p:sp>
        <p:nvSpPr>
          <p:cNvPr id="14" name="Text 12"/>
          <p:cNvSpPr/>
          <p:nvPr/>
        </p:nvSpPr>
        <p:spPr>
          <a:xfrm>
            <a:off x="2997403"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Everyone picks a card face down. Simultaneously, so nobody follows the senior person.</a:t>
            </a:r>
            <a:endParaRPr lang="en-US" sz="1150" dirty="0"/>
          </a:p>
        </p:txBody>
      </p:sp>
      <p:sp>
        <p:nvSpPr>
          <p:cNvPr id="15" name="Text 13"/>
          <p:cNvSpPr/>
          <p:nvPr/>
        </p:nvSpPr>
        <p:spPr>
          <a:xfrm>
            <a:off x="4824374" y="3108960"/>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6" name="Shape 14"/>
          <p:cNvSpPr/>
          <p:nvPr/>
        </p:nvSpPr>
        <p:spPr>
          <a:xfrm>
            <a:off x="5080406" y="2011680"/>
            <a:ext cx="2028139" cy="2926080"/>
          </a:xfrm>
          <a:prstGeom prst="roundRect">
            <a:avLst>
              <a:gd name="adj" fmla="val 2705"/>
            </a:avLst>
          </a:prstGeom>
          <a:solidFill>
            <a:srgbClr val="F4F7F9"/>
          </a:solidFill>
          <a:ln/>
        </p:spPr>
        <p:txBody>
          <a:bodyPr/>
          <a:lstStyle/>
          <a:p>
            <a:endParaRPr lang="en-IN"/>
          </a:p>
        </p:txBody>
      </p:sp>
      <p:sp>
        <p:nvSpPr>
          <p:cNvPr id="17" name="Shape 15"/>
          <p:cNvSpPr/>
          <p:nvPr/>
        </p:nvSpPr>
        <p:spPr>
          <a:xfrm>
            <a:off x="5875020" y="2286000"/>
            <a:ext cx="438912" cy="438912"/>
          </a:xfrm>
          <a:prstGeom prst="ellipse">
            <a:avLst/>
          </a:prstGeom>
          <a:solidFill>
            <a:srgbClr val="63E7A4"/>
          </a:solidFill>
          <a:ln/>
        </p:spPr>
        <p:txBody>
          <a:bodyPr/>
          <a:lstStyle/>
          <a:p>
            <a:endParaRPr lang="en-IN"/>
          </a:p>
        </p:txBody>
      </p:sp>
      <p:sp>
        <p:nvSpPr>
          <p:cNvPr id="18" name="Text 16"/>
          <p:cNvSpPr/>
          <p:nvPr/>
        </p:nvSpPr>
        <p:spPr>
          <a:xfrm>
            <a:off x="5875020"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9" name="Text 17"/>
          <p:cNvSpPr/>
          <p:nvPr/>
        </p:nvSpPr>
        <p:spPr>
          <a:xfrm>
            <a:off x="5263286"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Reveal together</a:t>
            </a:r>
            <a:endParaRPr lang="en-US" sz="1400" dirty="0"/>
          </a:p>
        </p:txBody>
      </p:sp>
      <p:sp>
        <p:nvSpPr>
          <p:cNvPr id="20" name="Text 18"/>
          <p:cNvSpPr/>
          <p:nvPr/>
        </p:nvSpPr>
        <p:spPr>
          <a:xfrm>
            <a:off x="5263286"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All cards turned at once. If everyone agrees, record it and move on — that takes ten seconds.</a:t>
            </a:r>
            <a:endParaRPr lang="en-US" sz="1150" dirty="0"/>
          </a:p>
        </p:txBody>
      </p:sp>
      <p:sp>
        <p:nvSpPr>
          <p:cNvPr id="21" name="Text 19"/>
          <p:cNvSpPr/>
          <p:nvPr/>
        </p:nvSpPr>
        <p:spPr>
          <a:xfrm>
            <a:off x="7090258" y="3108960"/>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2" name="Shape 20"/>
          <p:cNvSpPr/>
          <p:nvPr/>
        </p:nvSpPr>
        <p:spPr>
          <a:xfrm>
            <a:off x="7346290" y="2011680"/>
            <a:ext cx="2028139" cy="2926080"/>
          </a:xfrm>
          <a:prstGeom prst="roundRect">
            <a:avLst>
              <a:gd name="adj" fmla="val 2705"/>
            </a:avLst>
          </a:prstGeom>
          <a:solidFill>
            <a:srgbClr val="F4F7F9"/>
          </a:solidFill>
          <a:ln/>
        </p:spPr>
        <p:txBody>
          <a:bodyPr/>
          <a:lstStyle/>
          <a:p>
            <a:endParaRPr lang="en-IN"/>
          </a:p>
        </p:txBody>
      </p:sp>
      <p:sp>
        <p:nvSpPr>
          <p:cNvPr id="23" name="Shape 21"/>
          <p:cNvSpPr/>
          <p:nvPr/>
        </p:nvSpPr>
        <p:spPr>
          <a:xfrm>
            <a:off x="8140903" y="2286000"/>
            <a:ext cx="438912" cy="438912"/>
          </a:xfrm>
          <a:prstGeom prst="ellipse">
            <a:avLst/>
          </a:prstGeom>
          <a:solidFill>
            <a:srgbClr val="63E7A4"/>
          </a:solidFill>
          <a:ln/>
        </p:spPr>
        <p:txBody>
          <a:bodyPr/>
          <a:lstStyle/>
          <a:p>
            <a:endParaRPr lang="en-IN"/>
          </a:p>
        </p:txBody>
      </p:sp>
      <p:sp>
        <p:nvSpPr>
          <p:cNvPr id="24" name="Text 22"/>
          <p:cNvSpPr/>
          <p:nvPr/>
        </p:nvSpPr>
        <p:spPr>
          <a:xfrm>
            <a:off x="8140903"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5" name="Text 23"/>
          <p:cNvSpPr/>
          <p:nvPr/>
        </p:nvSpPr>
        <p:spPr>
          <a:xfrm>
            <a:off x="7529170"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Discuss the outliers</a:t>
            </a:r>
            <a:endParaRPr lang="en-US" sz="1400" dirty="0"/>
          </a:p>
        </p:txBody>
      </p:sp>
      <p:sp>
        <p:nvSpPr>
          <p:cNvPr id="26" name="Text 24"/>
          <p:cNvSpPr/>
          <p:nvPr/>
        </p:nvSpPr>
        <p:spPr>
          <a:xfrm>
            <a:off x="7529170"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Highest and lowest explain their reasoning. This is the entire point of the exercise.</a:t>
            </a:r>
            <a:endParaRPr lang="en-US" sz="1150" dirty="0"/>
          </a:p>
        </p:txBody>
      </p:sp>
      <p:sp>
        <p:nvSpPr>
          <p:cNvPr id="27" name="Text 25"/>
          <p:cNvSpPr/>
          <p:nvPr/>
        </p:nvSpPr>
        <p:spPr>
          <a:xfrm>
            <a:off x="9356141" y="3108960"/>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8" name="Shape 26"/>
          <p:cNvSpPr/>
          <p:nvPr/>
        </p:nvSpPr>
        <p:spPr>
          <a:xfrm>
            <a:off x="9612173" y="2011680"/>
            <a:ext cx="2028139" cy="2926080"/>
          </a:xfrm>
          <a:prstGeom prst="roundRect">
            <a:avLst>
              <a:gd name="adj" fmla="val 2705"/>
            </a:avLst>
          </a:prstGeom>
          <a:solidFill>
            <a:srgbClr val="F4F7F9"/>
          </a:solidFill>
          <a:ln/>
        </p:spPr>
        <p:txBody>
          <a:bodyPr/>
          <a:lstStyle/>
          <a:p>
            <a:endParaRPr lang="en-IN"/>
          </a:p>
        </p:txBody>
      </p:sp>
      <p:sp>
        <p:nvSpPr>
          <p:cNvPr id="29" name="Shape 27"/>
          <p:cNvSpPr/>
          <p:nvPr/>
        </p:nvSpPr>
        <p:spPr>
          <a:xfrm>
            <a:off x="10406786" y="2286000"/>
            <a:ext cx="438912" cy="438912"/>
          </a:xfrm>
          <a:prstGeom prst="ellipse">
            <a:avLst/>
          </a:prstGeom>
          <a:solidFill>
            <a:srgbClr val="63E7A4"/>
          </a:solidFill>
          <a:ln/>
        </p:spPr>
        <p:txBody>
          <a:bodyPr/>
          <a:lstStyle/>
          <a:p>
            <a:endParaRPr lang="en-IN"/>
          </a:p>
        </p:txBody>
      </p:sp>
      <p:sp>
        <p:nvSpPr>
          <p:cNvPr id="30" name="Text 28"/>
          <p:cNvSpPr/>
          <p:nvPr/>
        </p:nvSpPr>
        <p:spPr>
          <a:xfrm>
            <a:off x="10406786" y="2286000"/>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31" name="Text 29"/>
          <p:cNvSpPr/>
          <p:nvPr/>
        </p:nvSpPr>
        <p:spPr>
          <a:xfrm>
            <a:off x="9795053" y="2852928"/>
            <a:ext cx="1662379"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Re-vote once</a:t>
            </a:r>
            <a:endParaRPr lang="en-US" sz="1400" dirty="0"/>
          </a:p>
        </p:txBody>
      </p:sp>
      <p:sp>
        <p:nvSpPr>
          <p:cNvPr id="32" name="Text 30"/>
          <p:cNvSpPr/>
          <p:nvPr/>
        </p:nvSpPr>
        <p:spPr>
          <a:xfrm>
            <a:off x="9795053" y="3438144"/>
            <a:ext cx="1662379"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Usually converges. If it doesn't after two rounds, the story needs splitting or a spike.</a:t>
            </a:r>
            <a:endParaRPr lang="en-US" sz="1150" dirty="0"/>
          </a:p>
        </p:txBody>
      </p:sp>
      <p:sp>
        <p:nvSpPr>
          <p:cNvPr id="33" name="Text 31"/>
          <p:cNvSpPr/>
          <p:nvPr/>
        </p:nvSpPr>
        <p:spPr>
          <a:xfrm>
            <a:off x="548640" y="5102352"/>
            <a:ext cx="11091672" cy="457200"/>
          </a:xfrm>
          <a:prstGeom prst="rect">
            <a:avLst/>
          </a:prstGeom>
          <a:noFill/>
          <a:ln/>
        </p:spPr>
        <p:txBody>
          <a:bodyPr wrap="square" lIns="0" tIns="0" rIns="0" bIns="0" rtlCol="0" anchor="ctr"/>
          <a:lstStyle/>
          <a:p>
            <a:pPr marL="0" indent="0">
              <a:lnSpc>
                <a:spcPct val="120000"/>
              </a:lnSpc>
              <a:buNone/>
            </a:pPr>
            <a:r>
              <a:rPr lang="en-US" sz="1200" i="1" dirty="0">
                <a:solidFill>
                  <a:srgbClr val="3D5060"/>
                </a:solidFill>
                <a:latin typeface="Century Gothic" pitchFamily="34" charset="0"/>
                <a:ea typeface="Century Gothic" pitchFamily="34" charset="-122"/>
                <a:cs typeface="Century Gothic" pitchFamily="34" charset="-120"/>
              </a:rPr>
              <a:t>Timebox it: two minutes per story. If a story consistently eats five minutes, it isn't ready for planning.</a:t>
            </a:r>
            <a:endParaRPr lang="en-US" sz="1200" dirty="0"/>
          </a:p>
        </p:txBody>
      </p:sp>
      <p:sp>
        <p:nvSpPr>
          <p:cNvPr id="34" name="Text 3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53</a:t>
            </a:r>
            <a:endParaRPr lang="en-US" sz="900" dirty="0"/>
          </a:p>
        </p:txBody>
      </p:sp>
      <p:sp>
        <p:nvSpPr>
          <p:cNvPr id="35" name="Text 3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7 · ESTIMATION</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7 · PRIORITISATION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Four ways to decide what comes next</a:t>
            </a:r>
            <a:endParaRPr lang="en-US" sz="3000" dirty="0"/>
          </a:p>
        </p:txBody>
      </p:sp>
      <p:sp>
        <p:nvSpPr>
          <p:cNvPr id="4" name="Shape 2"/>
          <p:cNvSpPr/>
          <p:nvPr/>
        </p:nvSpPr>
        <p:spPr>
          <a:xfrm>
            <a:off x="548640" y="1847088"/>
            <a:ext cx="5399532" cy="1865376"/>
          </a:xfrm>
          <a:prstGeom prst="roundRect">
            <a:avLst>
              <a:gd name="adj" fmla="val 2941"/>
            </a:avLst>
          </a:prstGeom>
          <a:solidFill>
            <a:srgbClr val="F4F7F9"/>
          </a:solidFill>
          <a:ln/>
        </p:spPr>
        <p:txBody>
          <a:bodyPr/>
          <a:lstStyle/>
          <a:p>
            <a:endParaRPr lang="en-IN"/>
          </a:p>
        </p:txBody>
      </p:sp>
      <p:sp>
        <p:nvSpPr>
          <p:cNvPr id="5" name="Shape 3"/>
          <p:cNvSpPr/>
          <p:nvPr/>
        </p:nvSpPr>
        <p:spPr>
          <a:xfrm>
            <a:off x="804672" y="2103120"/>
            <a:ext cx="365760" cy="365760"/>
          </a:xfrm>
          <a:prstGeom prst="ellipse">
            <a:avLst/>
          </a:prstGeom>
          <a:solidFill>
            <a:srgbClr val="003352"/>
          </a:solidFill>
          <a:ln/>
        </p:spPr>
        <p:txBody>
          <a:bodyPr/>
          <a:lstStyle/>
          <a:p>
            <a:endParaRPr lang="en-IN"/>
          </a:p>
        </p:txBody>
      </p:sp>
      <p:sp>
        <p:nvSpPr>
          <p:cNvPr id="6" name="Text 4"/>
          <p:cNvSpPr/>
          <p:nvPr/>
        </p:nvSpPr>
        <p:spPr>
          <a:xfrm>
            <a:off x="804672"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298448" y="2084832"/>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Value vs Effort matrix</a:t>
            </a:r>
            <a:endParaRPr lang="en-US" sz="1450" dirty="0"/>
          </a:p>
        </p:txBody>
      </p:sp>
      <p:sp>
        <p:nvSpPr>
          <p:cNvPr id="8" name="Text 6"/>
          <p:cNvSpPr/>
          <p:nvPr/>
        </p:nvSpPr>
        <p:spPr>
          <a:xfrm>
            <a:off x="804672" y="2578608"/>
            <a:ext cx="4887468" cy="841248"/>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Plot both on a 2×2. Quick wins first, big bets deliberately, and be honest about the low-value/high-effort quadrant — that's where roadmaps go to die.</a:t>
            </a:r>
            <a:endParaRPr lang="en-US" sz="1150" dirty="0"/>
          </a:p>
        </p:txBody>
      </p:sp>
      <p:sp>
        <p:nvSpPr>
          <p:cNvPr id="9" name="Shape 7"/>
          <p:cNvSpPr/>
          <p:nvPr/>
        </p:nvSpPr>
        <p:spPr>
          <a:xfrm>
            <a:off x="6240780" y="1847088"/>
            <a:ext cx="5399532" cy="1865376"/>
          </a:xfrm>
          <a:prstGeom prst="roundRect">
            <a:avLst>
              <a:gd name="adj" fmla="val 2941"/>
            </a:avLst>
          </a:prstGeom>
          <a:solidFill>
            <a:srgbClr val="F4F7F9"/>
          </a:solidFill>
          <a:ln/>
        </p:spPr>
        <p:txBody>
          <a:bodyPr/>
          <a:lstStyle/>
          <a:p>
            <a:endParaRPr lang="en-IN"/>
          </a:p>
        </p:txBody>
      </p:sp>
      <p:sp>
        <p:nvSpPr>
          <p:cNvPr id="10" name="Shape 8"/>
          <p:cNvSpPr/>
          <p:nvPr/>
        </p:nvSpPr>
        <p:spPr>
          <a:xfrm>
            <a:off x="6496812" y="2103120"/>
            <a:ext cx="365760" cy="365760"/>
          </a:xfrm>
          <a:prstGeom prst="ellipse">
            <a:avLst/>
          </a:prstGeom>
          <a:solidFill>
            <a:srgbClr val="003352"/>
          </a:solidFill>
          <a:ln/>
        </p:spPr>
        <p:txBody>
          <a:bodyPr/>
          <a:lstStyle/>
          <a:p>
            <a:endParaRPr lang="en-IN"/>
          </a:p>
        </p:txBody>
      </p:sp>
      <p:sp>
        <p:nvSpPr>
          <p:cNvPr id="11" name="Text 9"/>
          <p:cNvSpPr/>
          <p:nvPr/>
        </p:nvSpPr>
        <p:spPr>
          <a:xfrm>
            <a:off x="6496812"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2" name="Text 10"/>
          <p:cNvSpPr/>
          <p:nvPr/>
        </p:nvSpPr>
        <p:spPr>
          <a:xfrm>
            <a:off x="6990588" y="2084832"/>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MoSCoW</a:t>
            </a:r>
            <a:endParaRPr lang="en-US" sz="1450" dirty="0"/>
          </a:p>
        </p:txBody>
      </p:sp>
      <p:sp>
        <p:nvSpPr>
          <p:cNvPr id="13" name="Text 11"/>
          <p:cNvSpPr/>
          <p:nvPr/>
        </p:nvSpPr>
        <p:spPr>
          <a:xfrm>
            <a:off x="6496812" y="2578608"/>
            <a:ext cx="4887468" cy="841248"/>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Must / Should / Could / Won't. Simple and useful for a fixed-date release. Discipline required: if more than 60% is 'Must', nobody has decided anything.</a:t>
            </a:r>
            <a:endParaRPr lang="en-US" sz="1150" dirty="0"/>
          </a:p>
        </p:txBody>
      </p:sp>
      <p:sp>
        <p:nvSpPr>
          <p:cNvPr id="14" name="Shape 12"/>
          <p:cNvSpPr/>
          <p:nvPr/>
        </p:nvSpPr>
        <p:spPr>
          <a:xfrm>
            <a:off x="548640" y="3986784"/>
            <a:ext cx="5399532" cy="1865376"/>
          </a:xfrm>
          <a:prstGeom prst="roundRect">
            <a:avLst>
              <a:gd name="adj" fmla="val 2941"/>
            </a:avLst>
          </a:prstGeom>
          <a:solidFill>
            <a:srgbClr val="F4F7F9"/>
          </a:solidFill>
          <a:ln/>
        </p:spPr>
        <p:txBody>
          <a:bodyPr/>
          <a:lstStyle/>
          <a:p>
            <a:endParaRPr lang="en-IN"/>
          </a:p>
        </p:txBody>
      </p:sp>
      <p:sp>
        <p:nvSpPr>
          <p:cNvPr id="15" name="Shape 13"/>
          <p:cNvSpPr/>
          <p:nvPr/>
        </p:nvSpPr>
        <p:spPr>
          <a:xfrm>
            <a:off x="804672" y="4242816"/>
            <a:ext cx="365760" cy="365760"/>
          </a:xfrm>
          <a:prstGeom prst="ellipse">
            <a:avLst/>
          </a:prstGeom>
          <a:solidFill>
            <a:srgbClr val="003352"/>
          </a:solidFill>
          <a:ln/>
        </p:spPr>
        <p:txBody>
          <a:bodyPr/>
          <a:lstStyle/>
          <a:p>
            <a:endParaRPr lang="en-IN"/>
          </a:p>
        </p:txBody>
      </p:sp>
      <p:sp>
        <p:nvSpPr>
          <p:cNvPr id="16" name="Text 14"/>
          <p:cNvSpPr/>
          <p:nvPr/>
        </p:nvSpPr>
        <p:spPr>
          <a:xfrm>
            <a:off x="804672" y="424281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1298448" y="4224528"/>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WSJF (SAFe)</a:t>
            </a:r>
            <a:endParaRPr lang="en-US" sz="1450" dirty="0"/>
          </a:p>
        </p:txBody>
      </p:sp>
      <p:sp>
        <p:nvSpPr>
          <p:cNvPr id="18" name="Text 16"/>
          <p:cNvSpPr/>
          <p:nvPr/>
        </p:nvSpPr>
        <p:spPr>
          <a:xfrm>
            <a:off x="804672" y="4718304"/>
            <a:ext cx="4887468" cy="841248"/>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Cost of delay ÷ job size. Explicitly favours small, urgent, high-value work. Good when you must defend an ordering to stakeholders with numbers.</a:t>
            </a:r>
            <a:endParaRPr lang="en-US" sz="1150" dirty="0"/>
          </a:p>
        </p:txBody>
      </p:sp>
      <p:sp>
        <p:nvSpPr>
          <p:cNvPr id="19" name="Shape 17"/>
          <p:cNvSpPr/>
          <p:nvPr/>
        </p:nvSpPr>
        <p:spPr>
          <a:xfrm>
            <a:off x="6240780" y="3986784"/>
            <a:ext cx="5399532" cy="1865376"/>
          </a:xfrm>
          <a:prstGeom prst="roundRect">
            <a:avLst>
              <a:gd name="adj" fmla="val 2941"/>
            </a:avLst>
          </a:prstGeom>
          <a:solidFill>
            <a:srgbClr val="F4F7F9"/>
          </a:solidFill>
          <a:ln/>
        </p:spPr>
        <p:txBody>
          <a:bodyPr/>
          <a:lstStyle/>
          <a:p>
            <a:endParaRPr lang="en-IN"/>
          </a:p>
        </p:txBody>
      </p:sp>
      <p:sp>
        <p:nvSpPr>
          <p:cNvPr id="20" name="Shape 18"/>
          <p:cNvSpPr/>
          <p:nvPr/>
        </p:nvSpPr>
        <p:spPr>
          <a:xfrm>
            <a:off x="6496812" y="4242816"/>
            <a:ext cx="365760" cy="365760"/>
          </a:xfrm>
          <a:prstGeom prst="ellipse">
            <a:avLst/>
          </a:prstGeom>
          <a:solidFill>
            <a:srgbClr val="003352"/>
          </a:solidFill>
          <a:ln/>
        </p:spPr>
        <p:txBody>
          <a:bodyPr/>
          <a:lstStyle/>
          <a:p>
            <a:endParaRPr lang="en-IN"/>
          </a:p>
        </p:txBody>
      </p:sp>
      <p:sp>
        <p:nvSpPr>
          <p:cNvPr id="21" name="Text 19"/>
          <p:cNvSpPr/>
          <p:nvPr/>
        </p:nvSpPr>
        <p:spPr>
          <a:xfrm>
            <a:off x="6496812" y="424281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2" name="Text 20"/>
          <p:cNvSpPr/>
          <p:nvPr/>
        </p:nvSpPr>
        <p:spPr>
          <a:xfrm>
            <a:off x="6990588" y="4224528"/>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Cost of delay</a:t>
            </a:r>
            <a:endParaRPr lang="en-US" sz="1450" dirty="0"/>
          </a:p>
        </p:txBody>
      </p:sp>
      <p:sp>
        <p:nvSpPr>
          <p:cNvPr id="23" name="Text 21"/>
          <p:cNvSpPr/>
          <p:nvPr/>
        </p:nvSpPr>
        <p:spPr>
          <a:xfrm>
            <a:off x="6496812" y="4718304"/>
            <a:ext cx="4887468" cy="841248"/>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What does one month of not having this cost us? A churning 130-room account. A lost deal. A compliance deadline. Often the clearest lens of the four.</a:t>
            </a:r>
            <a:endParaRPr lang="en-US" sz="1150" dirty="0"/>
          </a:p>
        </p:txBody>
      </p:sp>
      <p:sp>
        <p:nvSpPr>
          <p:cNvPr id="24" name="Text 2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54</a:t>
            </a:r>
            <a:endParaRPr lang="en-US" sz="900" dirty="0"/>
          </a:p>
        </p:txBody>
      </p:sp>
      <p:sp>
        <p:nvSpPr>
          <p:cNvPr id="25" name="Text 2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7 · PRIORITISATION</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7 · PRIORITISATION</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Cost of delay makes the trade-off visible</a:t>
            </a:r>
            <a:endParaRPr lang="en-US" sz="3000" dirty="0"/>
          </a:p>
        </p:txBody>
      </p:sp>
      <p:sp>
        <p:nvSpPr>
          <p:cNvPr id="4" name="Shape 2"/>
          <p:cNvSpPr/>
          <p:nvPr/>
        </p:nvSpPr>
        <p:spPr>
          <a:xfrm>
            <a:off x="548640" y="1874520"/>
            <a:ext cx="4709160" cy="4023360"/>
          </a:xfrm>
          <a:prstGeom prst="roundRect">
            <a:avLst>
              <a:gd name="adj" fmla="val 1364"/>
            </a:avLst>
          </a:prstGeom>
          <a:solidFill>
            <a:srgbClr val="003352"/>
          </a:solidFill>
          <a:ln/>
        </p:spPr>
        <p:txBody>
          <a:bodyPr/>
          <a:lstStyle/>
          <a:p>
            <a:endParaRPr lang="en-IN"/>
          </a:p>
        </p:txBody>
      </p:sp>
      <p:sp>
        <p:nvSpPr>
          <p:cNvPr id="5" name="Text 3"/>
          <p:cNvSpPr/>
          <p:nvPr/>
        </p:nvSpPr>
        <p:spPr>
          <a:xfrm>
            <a:off x="868680" y="2148840"/>
            <a:ext cx="4069080" cy="1783080"/>
          </a:xfrm>
          <a:prstGeom prst="rect">
            <a:avLst/>
          </a:prstGeom>
          <a:noFill/>
          <a:ln/>
        </p:spPr>
        <p:txBody>
          <a:bodyPr wrap="square" lIns="0" tIns="0" rIns="0" bIns="0" rtlCol="0" anchor="ctr"/>
          <a:lstStyle/>
          <a:p>
            <a:pPr marL="0" indent="0">
              <a:lnSpc>
                <a:spcPct val="100000"/>
              </a:lnSpc>
              <a:buNone/>
            </a:pPr>
            <a:r>
              <a:rPr lang="en-US" sz="3200" b="1" dirty="0">
                <a:solidFill>
                  <a:srgbClr val="63E7A4"/>
                </a:solidFill>
                <a:latin typeface="Century Gothic" pitchFamily="34" charset="0"/>
                <a:ea typeface="Century Gothic" pitchFamily="34" charset="-122"/>
                <a:cs typeface="Century Gothic" pitchFamily="34" charset="-120"/>
              </a:rPr>
              <a:t>“What does one month cost?”</a:t>
            </a:r>
            <a:endParaRPr lang="en-US" sz="3200" dirty="0"/>
          </a:p>
        </p:txBody>
      </p:sp>
      <p:sp>
        <p:nvSpPr>
          <p:cNvPr id="6" name="Text 4"/>
          <p:cNvSpPr/>
          <p:nvPr/>
        </p:nvSpPr>
        <p:spPr>
          <a:xfrm>
            <a:off x="868680" y="4041648"/>
            <a:ext cx="4069080" cy="1627632"/>
          </a:xfrm>
          <a:prstGeom prst="rect">
            <a:avLst/>
          </a:prstGeom>
          <a:noFill/>
          <a:ln/>
        </p:spPr>
        <p:txBody>
          <a:bodyPr wrap="square" lIns="0" tIns="0" rIns="0" bIns="0" rtlCol="0" anchor="t"/>
          <a:lstStyle/>
          <a:p>
            <a:pPr marL="0" indent="0">
              <a:lnSpc>
                <a:spcPct val="128000"/>
              </a:lnSpc>
              <a:buNone/>
            </a:pPr>
            <a:r>
              <a:rPr lang="en-US" sz="1350" dirty="0">
                <a:solidFill>
                  <a:srgbClr val="FFFFFF"/>
                </a:solidFill>
                <a:latin typeface="Century Gothic" pitchFamily="34" charset="0"/>
                <a:ea typeface="Century Gothic" pitchFamily="34" charset="-122"/>
                <a:cs typeface="Century Gothic" pitchFamily="34" charset="-120"/>
              </a:rPr>
              <a:t>Ask it of every competing request. It converts an argument about importance into a comparison of consequences — and consequences can be reasoned about together.</a:t>
            </a:r>
            <a:endParaRPr lang="en-US" sz="1350" dirty="0"/>
          </a:p>
        </p:txBody>
      </p:sp>
      <p:sp>
        <p:nvSpPr>
          <p:cNvPr id="7" name="Shape 5"/>
          <p:cNvSpPr/>
          <p:nvPr/>
        </p:nvSpPr>
        <p:spPr>
          <a:xfrm>
            <a:off x="5669280" y="1975104"/>
            <a:ext cx="402336" cy="402336"/>
          </a:xfrm>
          <a:prstGeom prst="ellipse">
            <a:avLst/>
          </a:prstGeom>
          <a:solidFill>
            <a:srgbClr val="63E7A4"/>
          </a:solidFill>
          <a:ln/>
        </p:spPr>
        <p:txBody>
          <a:bodyPr/>
          <a:lstStyle/>
          <a:p>
            <a:endParaRPr lang="en-IN"/>
          </a:p>
        </p:txBody>
      </p:sp>
      <p:sp>
        <p:nvSpPr>
          <p:cNvPr id="8" name="Text 6"/>
          <p:cNvSpPr/>
          <p:nvPr/>
        </p:nvSpPr>
        <p:spPr>
          <a:xfrm>
            <a:off x="5669280" y="197510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9" name="Text 7"/>
          <p:cNvSpPr/>
          <p:nvPr/>
        </p:nvSpPr>
        <p:spPr>
          <a:xfrm>
            <a:off x="6272784" y="1920240"/>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It exposes urgency that isn't real</a:t>
            </a:r>
            <a:endParaRPr lang="en-US" sz="1550" dirty="0"/>
          </a:p>
        </p:txBody>
      </p:sp>
      <p:sp>
        <p:nvSpPr>
          <p:cNvPr id="10" name="Text 8"/>
          <p:cNvSpPr/>
          <p:nvPr/>
        </p:nvSpPr>
        <p:spPr>
          <a:xfrm>
            <a:off x="6272784" y="2231136"/>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'Critical' often means 'I asked for it'. A month's delay costing nothing is a useful thing to establish, gently and early.</a:t>
            </a:r>
            <a:endParaRPr lang="en-US" sz="1250" dirty="0"/>
          </a:p>
        </p:txBody>
      </p:sp>
      <p:sp>
        <p:nvSpPr>
          <p:cNvPr id="11" name="Shape 9"/>
          <p:cNvSpPr/>
          <p:nvPr/>
        </p:nvSpPr>
        <p:spPr>
          <a:xfrm>
            <a:off x="5669280" y="3294888"/>
            <a:ext cx="402336" cy="402336"/>
          </a:xfrm>
          <a:prstGeom prst="ellipse">
            <a:avLst/>
          </a:prstGeom>
          <a:solidFill>
            <a:srgbClr val="63E7A4"/>
          </a:solidFill>
          <a:ln/>
        </p:spPr>
        <p:txBody>
          <a:bodyPr/>
          <a:lstStyle/>
          <a:p>
            <a:endParaRPr lang="en-IN"/>
          </a:p>
        </p:txBody>
      </p:sp>
      <p:sp>
        <p:nvSpPr>
          <p:cNvPr id="12" name="Text 10"/>
          <p:cNvSpPr/>
          <p:nvPr/>
        </p:nvSpPr>
        <p:spPr>
          <a:xfrm>
            <a:off x="5669280" y="329488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272784" y="3240024"/>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It exposes urgency that is real and invisible</a:t>
            </a:r>
            <a:endParaRPr lang="en-US" sz="1550" dirty="0"/>
          </a:p>
        </p:txBody>
      </p:sp>
      <p:sp>
        <p:nvSpPr>
          <p:cNvPr id="14" name="Text 12"/>
          <p:cNvSpPr/>
          <p:nvPr/>
        </p:nvSpPr>
        <p:spPr>
          <a:xfrm>
            <a:off x="6272784" y="3550920"/>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A compliance deadline, a contract renewal, an account already threatening to leave. These lose to louder voices when nobody quantifies them.</a:t>
            </a:r>
            <a:endParaRPr lang="en-US" sz="1250" dirty="0"/>
          </a:p>
        </p:txBody>
      </p:sp>
      <p:sp>
        <p:nvSpPr>
          <p:cNvPr id="15" name="Shape 13"/>
          <p:cNvSpPr/>
          <p:nvPr/>
        </p:nvSpPr>
        <p:spPr>
          <a:xfrm>
            <a:off x="5669280" y="4614672"/>
            <a:ext cx="402336" cy="402336"/>
          </a:xfrm>
          <a:prstGeom prst="ellipse">
            <a:avLst/>
          </a:prstGeom>
          <a:solidFill>
            <a:srgbClr val="63E7A4"/>
          </a:solidFill>
          <a:ln/>
        </p:spPr>
        <p:txBody>
          <a:bodyPr/>
          <a:lstStyle/>
          <a:p>
            <a:endParaRPr lang="en-IN"/>
          </a:p>
        </p:txBody>
      </p:sp>
      <p:sp>
        <p:nvSpPr>
          <p:cNvPr id="16" name="Text 14"/>
          <p:cNvSpPr/>
          <p:nvPr/>
        </p:nvSpPr>
        <p:spPr>
          <a:xfrm>
            <a:off x="5669280" y="461467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6272784" y="4559808"/>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It works on non-financial value too</a:t>
            </a:r>
            <a:endParaRPr lang="en-US" sz="1550" dirty="0"/>
          </a:p>
        </p:txBody>
      </p:sp>
      <p:sp>
        <p:nvSpPr>
          <p:cNvPr id="18" name="Text 16"/>
          <p:cNvSpPr/>
          <p:nvPr/>
        </p:nvSpPr>
        <p:spPr>
          <a:xfrm>
            <a:off x="6272784" y="4870704"/>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Reduced escalations, engineering capacity freed, a risk retired. Not everything needs a currency figure to be comparable.</a:t>
            </a:r>
            <a:endParaRPr lang="en-US" sz="1250" dirty="0"/>
          </a:p>
        </p:txBody>
      </p:sp>
      <p:sp>
        <p:nvSpPr>
          <p:cNvPr id="19" name="Text 17"/>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55</a:t>
            </a:r>
            <a:endParaRPr lang="en-US" sz="900" dirty="0"/>
          </a:p>
        </p:txBody>
      </p:sp>
      <p:sp>
        <p:nvSpPr>
          <p:cNvPr id="20" name="Text 18"/>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7 · PRIORITISATION</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EXERCISE 4</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5 min</a:t>
            </a:r>
            <a:endParaRPr lang="en-US" sz="1250" dirty="0"/>
          </a:p>
        </p:txBody>
      </p:sp>
      <p:sp>
        <p:nvSpPr>
          <p:cNvPr id="5" name="Text 3"/>
          <p:cNvSpPr/>
          <p:nvPr/>
        </p:nvSpPr>
        <p:spPr>
          <a:xfrm>
            <a:off x="548640" y="713232"/>
            <a:ext cx="9235440" cy="658368"/>
          </a:xfrm>
          <a:prstGeom prst="rect">
            <a:avLst/>
          </a:prstGeom>
          <a:noFill/>
          <a:ln/>
        </p:spPr>
        <p:txBody>
          <a:bodyPr wrap="square" lIns="0" tIns="0" rIns="0" bIns="0" rtlCol="0" anchor="t"/>
          <a:lstStyle/>
          <a:p>
            <a:pPr marL="0" indent="0">
              <a:buNone/>
            </a:pPr>
            <a:r>
              <a:rPr lang="en-US" sz="2800" b="1" dirty="0">
                <a:solidFill>
                  <a:srgbClr val="003352"/>
                </a:solidFill>
                <a:latin typeface="Century Gothic" pitchFamily="34" charset="0"/>
                <a:ea typeface="Century Gothic" pitchFamily="34" charset="-122"/>
                <a:cs typeface="Century Gothic" pitchFamily="34" charset="-120"/>
              </a:rPr>
              <a:t>Estimate and prioritise a real backlog</a:t>
            </a:r>
            <a:endParaRPr lang="en-US" sz="2800" dirty="0"/>
          </a:p>
        </p:txBody>
      </p:sp>
      <p:sp>
        <p:nvSpPr>
          <p:cNvPr id="6" name="Shape 4"/>
          <p:cNvSpPr/>
          <p:nvPr/>
        </p:nvSpPr>
        <p:spPr>
          <a:xfrm>
            <a:off x="548640" y="1481328"/>
            <a:ext cx="6720840" cy="4315968"/>
          </a:xfrm>
          <a:prstGeom prst="roundRect">
            <a:avLst>
              <a:gd name="adj" fmla="val 1271"/>
            </a:avLst>
          </a:prstGeom>
          <a:solidFill>
            <a:srgbClr val="FFFFFF"/>
          </a:solidFill>
          <a:ln/>
        </p:spPr>
        <p:txBody>
          <a:bodyPr/>
          <a:lstStyle/>
          <a:p>
            <a:endParaRPr lang="en-IN"/>
          </a:p>
        </p:txBody>
      </p:sp>
      <p:sp>
        <p:nvSpPr>
          <p:cNvPr id="7" name="Text 5"/>
          <p:cNvSpPr/>
          <p:nvPr/>
        </p:nvSpPr>
        <p:spPr>
          <a:xfrm>
            <a:off x="868680" y="1664208"/>
            <a:ext cx="6080760" cy="274320"/>
          </a:xfrm>
          <a:prstGeom prst="rect">
            <a:avLst/>
          </a:prstGeom>
          <a:noFill/>
          <a:ln/>
        </p:spPr>
        <p:txBody>
          <a:bodyPr wrap="square" lIns="0" tIns="0" rIns="0" bIns="0" rtlCol="0" anchor="ctr"/>
          <a:lstStyle/>
          <a:p>
            <a:pPr marL="0" indent="0">
              <a:buNone/>
            </a:pPr>
            <a:r>
              <a:rPr lang="en-US" sz="1100" b="1" kern="0" spc="150" dirty="0">
                <a:solidFill>
                  <a:srgbClr val="7A8C99"/>
                </a:solidFill>
                <a:latin typeface="Century Gothic" pitchFamily="34" charset="0"/>
                <a:ea typeface="Century Gothic" pitchFamily="34" charset="-122"/>
                <a:cs typeface="Century Gothic" pitchFamily="34" charset="-120"/>
              </a:rPr>
              <a:t>The scenario</a:t>
            </a:r>
            <a:endParaRPr lang="en-US" sz="1100" dirty="0"/>
          </a:p>
        </p:txBody>
      </p:sp>
      <p:sp>
        <p:nvSpPr>
          <p:cNvPr id="8" name="Text 6"/>
          <p:cNvSpPr/>
          <p:nvPr/>
        </p:nvSpPr>
        <p:spPr>
          <a:xfrm>
            <a:off x="868680" y="1993392"/>
            <a:ext cx="6080760" cy="3602736"/>
          </a:xfrm>
          <a:prstGeom prst="rect">
            <a:avLst/>
          </a:prstGeom>
          <a:noFill/>
          <a:ln/>
        </p:spPr>
        <p:txBody>
          <a:bodyPr wrap="square" lIns="0" tIns="0" rIns="0" bIns="0" rtlCol="0" anchor="t"/>
          <a:lstStyle/>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Your team has capacity of roughly 20 points in the next sprint. Six items are competing:</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A · Fix a bill-printing defect affecting one large hotel group, reported twice this week</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B · Add Arabic language support to the guest-facing check-in screens (new UAE customer, contract signed)</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C · Build a per-property configuration screen for ID requirements</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D · Automate the regression suite for the front-office module (currently 2 days manual per release)</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E · Add a dashboard widget requested by one property's General Manager during a demo</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F · Integrate a new payment provider — a UAE customer is waiting to sign</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Assume the team has no strong technical unknowns on any of them.</a:t>
            </a:r>
            <a:endParaRPr lang="en-US" sz="1150" dirty="0"/>
          </a:p>
        </p:txBody>
      </p:sp>
      <p:sp>
        <p:nvSpPr>
          <p:cNvPr id="9" name="Shape 7"/>
          <p:cNvSpPr/>
          <p:nvPr/>
        </p:nvSpPr>
        <p:spPr>
          <a:xfrm>
            <a:off x="7498080" y="1481328"/>
            <a:ext cx="4142232" cy="4315968"/>
          </a:xfrm>
          <a:prstGeom prst="roundRect">
            <a:avLst>
              <a:gd name="adj" fmla="val 1325"/>
            </a:avLst>
          </a:prstGeom>
          <a:solidFill>
            <a:srgbClr val="003352"/>
          </a:solidFill>
          <a:ln/>
        </p:spPr>
        <p:txBody>
          <a:bodyPr/>
          <a:lstStyle/>
          <a:p>
            <a:endParaRPr lang="en-IN"/>
          </a:p>
        </p:txBody>
      </p:sp>
      <p:sp>
        <p:nvSpPr>
          <p:cNvPr id="10" name="Text 8"/>
          <p:cNvSpPr/>
          <p:nvPr/>
        </p:nvSpPr>
        <p:spPr>
          <a:xfrm>
            <a:off x="7818120" y="1664208"/>
            <a:ext cx="3502152" cy="274320"/>
          </a:xfrm>
          <a:prstGeom prst="rect">
            <a:avLst/>
          </a:prstGeom>
          <a:noFill/>
          <a:ln/>
        </p:spPr>
        <p:txBody>
          <a:bodyPr wrap="square" lIns="0" tIns="0" rIns="0" bIns="0" rtlCol="0" anchor="ctr"/>
          <a:lstStyle/>
          <a:p>
            <a:pPr marL="0" indent="0">
              <a:buNone/>
            </a:pPr>
            <a:r>
              <a:rPr lang="en-US" sz="1100" b="1" kern="0" spc="150" dirty="0">
                <a:solidFill>
                  <a:srgbClr val="63E7A4"/>
                </a:solidFill>
                <a:latin typeface="Century Gothic" pitchFamily="34" charset="0"/>
                <a:ea typeface="Century Gothic" pitchFamily="34" charset="-122"/>
                <a:cs typeface="Century Gothic" pitchFamily="34" charset="-120"/>
              </a:rPr>
              <a:t>Your task</a:t>
            </a:r>
            <a:endParaRPr lang="en-US" sz="1100" dirty="0"/>
          </a:p>
        </p:txBody>
      </p:sp>
      <p:sp>
        <p:nvSpPr>
          <p:cNvPr id="11" name="Text 9"/>
          <p:cNvSpPr/>
          <p:nvPr/>
        </p:nvSpPr>
        <p:spPr>
          <a:xfrm>
            <a:off x="7818120" y="1993392"/>
            <a:ext cx="3502152" cy="3602736"/>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Estimate each item: 1, 2, 3, 5, 8 or 13</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Order them by cost of delay, not by who asked</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Choose what goes in the sprint — you have ~20 points</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Justify what you left out, in one sentence each</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Which item did your table argue about most?</a:t>
            </a:r>
            <a:endParaRPr lang="en-US" sz="1150" dirty="0"/>
          </a:p>
        </p:txBody>
      </p:sp>
      <p:sp>
        <p:nvSpPr>
          <p:cNvPr id="12" name="Text 10"/>
          <p:cNvSpPr/>
          <p:nvPr/>
        </p:nvSpPr>
        <p:spPr>
          <a:xfrm>
            <a:off x="548640" y="5907024"/>
            <a:ext cx="11091672" cy="347472"/>
          </a:xfrm>
          <a:prstGeom prst="rect">
            <a:avLst/>
          </a:prstGeom>
          <a:noFill/>
          <a:ln/>
        </p:spPr>
        <p:txBody>
          <a:bodyPr wrap="square" lIns="0" tIns="0" rIns="0" bIns="0" rtlCol="0" anchor="t"/>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Tables of 4–5 · 3 min · 2 min debrief · Vote simultaneously on at least two items — no anchoring</a:t>
            </a:r>
            <a:endParaRPr lang="en-US" sz="1150" dirty="0"/>
          </a:p>
        </p:txBody>
      </p:sp>
      <p:sp>
        <p:nvSpPr>
          <p:cNvPr id="13" name="Text 11"/>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56</a:t>
            </a:r>
            <a:endParaRPr lang="en-US" sz="900" dirty="0"/>
          </a:p>
        </p:txBody>
      </p:sp>
      <p:sp>
        <p:nvSpPr>
          <p:cNvPr id="14" name="Text 12"/>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EXERCISE 4</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EXERCISE 4 · DEBRIEF</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A defensible answer — and the trap</a:t>
            </a:r>
            <a:endParaRPr lang="en-US" sz="3000" dirty="0"/>
          </a:p>
        </p:txBody>
      </p:sp>
      <p:sp>
        <p:nvSpPr>
          <p:cNvPr id="4" name="Shape 2"/>
          <p:cNvSpPr/>
          <p:nvPr/>
        </p:nvSpPr>
        <p:spPr>
          <a:xfrm>
            <a:off x="566928" y="1911096"/>
            <a:ext cx="402336" cy="402336"/>
          </a:xfrm>
          <a:prstGeom prst="ellipse">
            <a:avLst/>
          </a:prstGeom>
          <a:solidFill>
            <a:srgbClr val="63E7A4"/>
          </a:solidFill>
          <a:ln/>
        </p:spPr>
        <p:txBody>
          <a:bodyPr/>
          <a:lstStyle/>
          <a:p>
            <a:endParaRPr lang="en-IN"/>
          </a:p>
        </p:txBody>
      </p:sp>
      <p:sp>
        <p:nvSpPr>
          <p:cNvPr id="5" name="Text 3"/>
          <p:cNvSpPr/>
          <p:nvPr/>
        </p:nvSpPr>
        <p:spPr>
          <a:xfrm>
            <a:off x="566928" y="19110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6" name="Text 4"/>
          <p:cNvSpPr/>
          <p:nvPr/>
        </p:nvSpPr>
        <p:spPr>
          <a:xfrm>
            <a:off x="1170432" y="1856232"/>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A · Recurring defect on a large account — do it first</a:t>
            </a:r>
            <a:endParaRPr lang="en-US" sz="1450" dirty="0"/>
          </a:p>
        </p:txBody>
      </p:sp>
      <p:sp>
        <p:nvSpPr>
          <p:cNvPr id="7" name="Text 5"/>
          <p:cNvSpPr/>
          <p:nvPr/>
        </p:nvSpPr>
        <p:spPr>
          <a:xfrm>
            <a:off x="1170432" y="2148840"/>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Small, urgent, and already reported twice. Cost of delay is trust with an existing customer, which is far cheaper to keep than to rebuild.</a:t>
            </a:r>
            <a:endParaRPr lang="en-US" sz="1100" dirty="0"/>
          </a:p>
        </p:txBody>
      </p:sp>
      <p:sp>
        <p:nvSpPr>
          <p:cNvPr id="8" name="Shape 6"/>
          <p:cNvSpPr/>
          <p:nvPr/>
        </p:nvSpPr>
        <p:spPr>
          <a:xfrm>
            <a:off x="566928" y="2618842"/>
            <a:ext cx="402336" cy="402336"/>
          </a:xfrm>
          <a:prstGeom prst="ellipse">
            <a:avLst/>
          </a:prstGeom>
          <a:solidFill>
            <a:srgbClr val="63E7A4"/>
          </a:solidFill>
          <a:ln/>
        </p:spPr>
        <p:txBody>
          <a:bodyPr/>
          <a:lstStyle/>
          <a:p>
            <a:endParaRPr lang="en-IN"/>
          </a:p>
        </p:txBody>
      </p:sp>
      <p:sp>
        <p:nvSpPr>
          <p:cNvPr id="9" name="Text 7"/>
          <p:cNvSpPr/>
          <p:nvPr/>
        </p:nvSpPr>
        <p:spPr>
          <a:xfrm>
            <a:off x="566928" y="261884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0" name="Text 8"/>
          <p:cNvSpPr/>
          <p:nvPr/>
        </p:nvSpPr>
        <p:spPr>
          <a:xfrm>
            <a:off x="1170432" y="2563978"/>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F · Payment integration with a customer waiting to sign — high cost of delay</a:t>
            </a:r>
            <a:endParaRPr lang="en-US" sz="1450" dirty="0"/>
          </a:p>
        </p:txBody>
      </p:sp>
      <p:sp>
        <p:nvSpPr>
          <p:cNvPr id="11" name="Text 9"/>
          <p:cNvSpPr/>
          <p:nvPr/>
        </p:nvSpPr>
        <p:spPr>
          <a:xfrm>
            <a:off x="1170432" y="2856586"/>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Revenue is blocked on this. If it's genuinely blocking a signature, a month's delay has a number attached to it.</a:t>
            </a:r>
            <a:endParaRPr lang="en-US" sz="1100" dirty="0"/>
          </a:p>
        </p:txBody>
      </p:sp>
      <p:sp>
        <p:nvSpPr>
          <p:cNvPr id="12" name="Shape 10"/>
          <p:cNvSpPr/>
          <p:nvPr/>
        </p:nvSpPr>
        <p:spPr>
          <a:xfrm>
            <a:off x="566928" y="3326587"/>
            <a:ext cx="402336" cy="402336"/>
          </a:xfrm>
          <a:prstGeom prst="ellipse">
            <a:avLst/>
          </a:prstGeom>
          <a:solidFill>
            <a:srgbClr val="63E7A4"/>
          </a:solidFill>
          <a:ln/>
        </p:spPr>
        <p:txBody>
          <a:bodyPr/>
          <a:lstStyle/>
          <a:p>
            <a:endParaRPr lang="en-IN"/>
          </a:p>
        </p:txBody>
      </p:sp>
      <p:sp>
        <p:nvSpPr>
          <p:cNvPr id="13" name="Text 11"/>
          <p:cNvSpPr/>
          <p:nvPr/>
        </p:nvSpPr>
        <p:spPr>
          <a:xfrm>
            <a:off x="566928" y="3326587"/>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4" name="Text 12"/>
          <p:cNvSpPr/>
          <p:nvPr/>
        </p:nvSpPr>
        <p:spPr>
          <a:xfrm>
            <a:off x="1170432" y="3271723"/>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D · Regression automation — the one that always loses and shouldn't</a:t>
            </a:r>
            <a:endParaRPr lang="en-US" sz="1450" dirty="0"/>
          </a:p>
        </p:txBody>
      </p:sp>
      <p:sp>
        <p:nvSpPr>
          <p:cNvPr id="15" name="Text 13"/>
          <p:cNvSpPr/>
          <p:nvPr/>
        </p:nvSpPr>
        <p:spPr>
          <a:xfrm>
            <a:off x="1170432" y="3564331"/>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Two days of manual effort per release, forever, plus escaped-defect risk. No customer name on it, so protect it deliberately.</a:t>
            </a:r>
            <a:endParaRPr lang="en-US" sz="1100" dirty="0"/>
          </a:p>
        </p:txBody>
      </p:sp>
      <p:sp>
        <p:nvSpPr>
          <p:cNvPr id="16" name="Shape 14"/>
          <p:cNvSpPr/>
          <p:nvPr/>
        </p:nvSpPr>
        <p:spPr>
          <a:xfrm>
            <a:off x="566928" y="4034333"/>
            <a:ext cx="402336" cy="402336"/>
          </a:xfrm>
          <a:prstGeom prst="ellipse">
            <a:avLst/>
          </a:prstGeom>
          <a:solidFill>
            <a:srgbClr val="63E7A4"/>
          </a:solidFill>
          <a:ln/>
        </p:spPr>
        <p:txBody>
          <a:bodyPr/>
          <a:lstStyle/>
          <a:p>
            <a:endParaRPr lang="en-IN"/>
          </a:p>
        </p:txBody>
      </p:sp>
      <p:sp>
        <p:nvSpPr>
          <p:cNvPr id="17" name="Text 15"/>
          <p:cNvSpPr/>
          <p:nvPr/>
        </p:nvSpPr>
        <p:spPr>
          <a:xfrm>
            <a:off x="566928" y="4034333"/>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8" name="Text 16"/>
          <p:cNvSpPr/>
          <p:nvPr/>
        </p:nvSpPr>
        <p:spPr>
          <a:xfrm>
            <a:off x="1170432" y="3979469"/>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E · Single-GM dashboard widget — the trap</a:t>
            </a:r>
            <a:endParaRPr lang="en-US" sz="1450" dirty="0"/>
          </a:p>
        </p:txBody>
      </p:sp>
      <p:sp>
        <p:nvSpPr>
          <p:cNvPr id="19" name="Text 17"/>
          <p:cNvSpPr/>
          <p:nvPr/>
        </p:nvSpPr>
        <p:spPr>
          <a:xfrm>
            <a:off x="1170432" y="4272077"/>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One person, one demo, no evidence of general need. This is exactly the story from Quiz 1 question 5. Park it and see if anyone asks again.</a:t>
            </a:r>
            <a:endParaRPr lang="en-US" sz="1100" dirty="0"/>
          </a:p>
        </p:txBody>
      </p:sp>
      <p:sp>
        <p:nvSpPr>
          <p:cNvPr id="20" name="Shape 18"/>
          <p:cNvSpPr/>
          <p:nvPr/>
        </p:nvSpPr>
        <p:spPr>
          <a:xfrm>
            <a:off x="566928" y="4742078"/>
            <a:ext cx="402336" cy="402336"/>
          </a:xfrm>
          <a:prstGeom prst="ellipse">
            <a:avLst/>
          </a:prstGeom>
          <a:solidFill>
            <a:srgbClr val="63E7A4"/>
          </a:solidFill>
          <a:ln/>
        </p:spPr>
        <p:txBody>
          <a:bodyPr/>
          <a:lstStyle/>
          <a:p>
            <a:endParaRPr lang="en-IN"/>
          </a:p>
        </p:txBody>
      </p:sp>
      <p:sp>
        <p:nvSpPr>
          <p:cNvPr id="21" name="Text 19"/>
          <p:cNvSpPr/>
          <p:nvPr/>
        </p:nvSpPr>
        <p:spPr>
          <a:xfrm>
            <a:off x="566928" y="474207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22" name="Text 20"/>
          <p:cNvSpPr/>
          <p:nvPr/>
        </p:nvSpPr>
        <p:spPr>
          <a:xfrm>
            <a:off x="1170432" y="4687214"/>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B and C · Contract-driven, needs sequencing</a:t>
            </a:r>
            <a:endParaRPr lang="en-US" sz="1450" dirty="0"/>
          </a:p>
        </p:txBody>
      </p:sp>
      <p:sp>
        <p:nvSpPr>
          <p:cNvPr id="23" name="Text 21"/>
          <p:cNvSpPr/>
          <p:nvPr/>
        </p:nvSpPr>
        <p:spPr>
          <a:xfrm>
            <a:off x="1170432" y="4979822"/>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Arabic support has a signed contract, so it happens — but C (per-property ID configuration) may be a prerequisite for the compliance side. Sequence deliberately rather than by loudness.</a:t>
            </a:r>
            <a:endParaRPr lang="en-US" sz="1100" dirty="0"/>
          </a:p>
        </p:txBody>
      </p:sp>
      <p:sp>
        <p:nvSpPr>
          <p:cNvPr id="24" name="Shape 22"/>
          <p:cNvSpPr/>
          <p:nvPr/>
        </p:nvSpPr>
        <p:spPr>
          <a:xfrm>
            <a:off x="548640" y="5504688"/>
            <a:ext cx="11091672" cy="621792"/>
          </a:xfrm>
          <a:prstGeom prst="roundRect">
            <a:avLst>
              <a:gd name="adj" fmla="val 8824"/>
            </a:avLst>
          </a:prstGeom>
          <a:solidFill>
            <a:srgbClr val="EAF9F1"/>
          </a:solidFill>
          <a:ln/>
        </p:spPr>
        <p:txBody>
          <a:bodyPr/>
          <a:lstStyle/>
          <a:p>
            <a:endParaRPr lang="en-IN"/>
          </a:p>
        </p:txBody>
      </p:sp>
      <p:sp>
        <p:nvSpPr>
          <p:cNvPr id="25" name="Text 23"/>
          <p:cNvSpPr/>
          <p:nvPr/>
        </p:nvSpPr>
        <p:spPr>
          <a:xfrm>
            <a:off x="868680" y="5504688"/>
            <a:ext cx="10451592" cy="621792"/>
          </a:xfrm>
          <a:prstGeom prst="rect">
            <a:avLst/>
          </a:prstGeom>
          <a:noFill/>
          <a:ln/>
        </p:spPr>
        <p:txBody>
          <a:bodyPr wrap="square" lIns="0" tIns="0" rIns="0" bIns="0" rtlCol="0" anchor="ctr"/>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If your ordering is different and you can defend it with cost of delay, your ordering is fine. That is the skill.</a:t>
            </a:r>
            <a:endParaRPr lang="en-US" sz="1300" dirty="0"/>
          </a:p>
        </p:txBody>
      </p:sp>
      <p:sp>
        <p:nvSpPr>
          <p:cNvPr id="26" name="Text 24"/>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57</a:t>
            </a:r>
            <a:endParaRPr lang="en-US" sz="900" dirty="0"/>
          </a:p>
        </p:txBody>
      </p:sp>
      <p:sp>
        <p:nvSpPr>
          <p:cNvPr id="27" name="Text 25"/>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EXERCISE 4</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08</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Agile Metrics</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Velocity, burndown, cycle time and predictability — used to inform, never to judge.</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8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36–40</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8 · METRICS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Rule one, before any metric</a:t>
            </a:r>
            <a:endParaRPr lang="en-US" sz="3000" dirty="0"/>
          </a:p>
        </p:txBody>
      </p:sp>
      <p:sp>
        <p:nvSpPr>
          <p:cNvPr id="4" name="Shape 2"/>
          <p:cNvSpPr/>
          <p:nvPr/>
        </p:nvSpPr>
        <p:spPr>
          <a:xfrm>
            <a:off x="548640" y="1874520"/>
            <a:ext cx="4709160" cy="4023360"/>
          </a:xfrm>
          <a:prstGeom prst="roundRect">
            <a:avLst>
              <a:gd name="adj" fmla="val 1364"/>
            </a:avLst>
          </a:prstGeom>
          <a:solidFill>
            <a:srgbClr val="003352"/>
          </a:solidFill>
          <a:ln/>
        </p:spPr>
        <p:txBody>
          <a:bodyPr/>
          <a:lstStyle/>
          <a:p>
            <a:endParaRPr lang="en-IN"/>
          </a:p>
        </p:txBody>
      </p:sp>
      <p:sp>
        <p:nvSpPr>
          <p:cNvPr id="5" name="Text 3"/>
          <p:cNvSpPr/>
          <p:nvPr/>
        </p:nvSpPr>
        <p:spPr>
          <a:xfrm>
            <a:off x="868680" y="2148840"/>
            <a:ext cx="4069080" cy="1554480"/>
          </a:xfrm>
          <a:prstGeom prst="rect">
            <a:avLst/>
          </a:prstGeom>
          <a:noFill/>
          <a:ln/>
        </p:spPr>
        <p:txBody>
          <a:bodyPr wrap="square" lIns="0" tIns="0" rIns="0" bIns="0" rtlCol="0" anchor="ctr"/>
          <a:lstStyle/>
          <a:p>
            <a:pPr marL="0" indent="0">
              <a:lnSpc>
                <a:spcPct val="100000"/>
              </a:lnSpc>
              <a:buNone/>
            </a:pPr>
            <a:r>
              <a:rPr lang="en-US" sz="4400" b="1" dirty="0">
                <a:solidFill>
                  <a:srgbClr val="63E7A4"/>
                </a:solidFill>
                <a:latin typeface="Century Gothic" pitchFamily="34" charset="0"/>
                <a:ea typeface="Century Gothic" pitchFamily="34" charset="-122"/>
                <a:cs typeface="Century Gothic" pitchFamily="34" charset="-120"/>
              </a:rPr>
              <a:t>Inform,</a:t>
            </a:r>
            <a:endParaRPr lang="en-US" sz="4400" dirty="0"/>
          </a:p>
          <a:p>
            <a:pPr marL="0" indent="0">
              <a:lnSpc>
                <a:spcPct val="100000"/>
              </a:lnSpc>
              <a:buNone/>
            </a:pPr>
            <a:r>
              <a:rPr lang="en-US" sz="4400" b="1" dirty="0">
                <a:solidFill>
                  <a:srgbClr val="63E7A4"/>
                </a:solidFill>
                <a:latin typeface="Century Gothic" pitchFamily="34" charset="0"/>
                <a:ea typeface="Century Gothic" pitchFamily="34" charset="-122"/>
                <a:cs typeface="Century Gothic" pitchFamily="34" charset="-120"/>
              </a:rPr>
              <a:t>not judge</a:t>
            </a:r>
            <a:endParaRPr lang="en-US" sz="4400" dirty="0"/>
          </a:p>
        </p:txBody>
      </p:sp>
      <p:sp>
        <p:nvSpPr>
          <p:cNvPr id="6" name="Text 4"/>
          <p:cNvSpPr/>
          <p:nvPr/>
        </p:nvSpPr>
        <p:spPr>
          <a:xfrm>
            <a:off x="868680" y="3813048"/>
            <a:ext cx="4069080" cy="1856232"/>
          </a:xfrm>
          <a:prstGeom prst="rect">
            <a:avLst/>
          </a:prstGeom>
          <a:noFill/>
          <a:ln/>
        </p:spPr>
        <p:txBody>
          <a:bodyPr wrap="square" lIns="0" tIns="0" rIns="0" bIns="0" rtlCol="0" anchor="t"/>
          <a:lstStyle/>
          <a:p>
            <a:pPr marL="0" indent="0">
              <a:lnSpc>
                <a:spcPct val="128000"/>
              </a:lnSpc>
              <a:buNone/>
            </a:pPr>
            <a:r>
              <a:rPr lang="en-US" sz="1350" dirty="0">
                <a:solidFill>
                  <a:srgbClr val="FFFFFF"/>
                </a:solidFill>
                <a:latin typeface="Century Gothic" pitchFamily="34" charset="0"/>
                <a:ea typeface="Century Gothic" pitchFamily="34" charset="-122"/>
                <a:cs typeface="Century Gothic" pitchFamily="34" charset="-120"/>
              </a:rPr>
              <a:t>The moment a metric is used to evaluate the people who produce it, they will manage the metric instead of the work. You will still get numbers. They just won't mean anything.</a:t>
            </a:r>
            <a:endParaRPr lang="en-US" sz="1350" dirty="0"/>
          </a:p>
        </p:txBody>
      </p:sp>
      <p:sp>
        <p:nvSpPr>
          <p:cNvPr id="7" name="Shape 5"/>
          <p:cNvSpPr/>
          <p:nvPr/>
        </p:nvSpPr>
        <p:spPr>
          <a:xfrm>
            <a:off x="5669280" y="1975104"/>
            <a:ext cx="402336" cy="402336"/>
          </a:xfrm>
          <a:prstGeom prst="ellipse">
            <a:avLst/>
          </a:prstGeom>
          <a:solidFill>
            <a:srgbClr val="63E7A4"/>
          </a:solidFill>
          <a:ln/>
        </p:spPr>
        <p:txBody>
          <a:bodyPr/>
          <a:lstStyle/>
          <a:p>
            <a:endParaRPr lang="en-IN"/>
          </a:p>
        </p:txBody>
      </p:sp>
      <p:sp>
        <p:nvSpPr>
          <p:cNvPr id="8" name="Text 6"/>
          <p:cNvSpPr/>
          <p:nvPr/>
        </p:nvSpPr>
        <p:spPr>
          <a:xfrm>
            <a:off x="5669280" y="197510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9" name="Text 7"/>
          <p:cNvSpPr/>
          <p:nvPr/>
        </p:nvSpPr>
        <p:spPr>
          <a:xfrm>
            <a:off x="6272784" y="1920240"/>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Goodhart's Law, in one line</a:t>
            </a:r>
            <a:endParaRPr lang="en-US" sz="1550" dirty="0"/>
          </a:p>
        </p:txBody>
      </p:sp>
      <p:sp>
        <p:nvSpPr>
          <p:cNvPr id="10" name="Text 8"/>
          <p:cNvSpPr/>
          <p:nvPr/>
        </p:nvSpPr>
        <p:spPr>
          <a:xfrm>
            <a:off x="6272784" y="2231136"/>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When a measure becomes a target, it ceases to be a good measure. This is not cynicism about people; it is how incentives work.</a:t>
            </a:r>
            <a:endParaRPr lang="en-US" sz="1250" dirty="0"/>
          </a:p>
        </p:txBody>
      </p:sp>
      <p:sp>
        <p:nvSpPr>
          <p:cNvPr id="11" name="Shape 9"/>
          <p:cNvSpPr/>
          <p:nvPr/>
        </p:nvSpPr>
        <p:spPr>
          <a:xfrm>
            <a:off x="5669280" y="3294888"/>
            <a:ext cx="402336" cy="402336"/>
          </a:xfrm>
          <a:prstGeom prst="ellipse">
            <a:avLst/>
          </a:prstGeom>
          <a:solidFill>
            <a:srgbClr val="63E7A4"/>
          </a:solidFill>
          <a:ln/>
        </p:spPr>
        <p:txBody>
          <a:bodyPr/>
          <a:lstStyle/>
          <a:p>
            <a:endParaRPr lang="en-IN"/>
          </a:p>
        </p:txBody>
      </p:sp>
      <p:sp>
        <p:nvSpPr>
          <p:cNvPr id="12" name="Text 10"/>
          <p:cNvSpPr/>
          <p:nvPr/>
        </p:nvSpPr>
        <p:spPr>
          <a:xfrm>
            <a:off x="5669280" y="329488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272784" y="3240024"/>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Points inflate quietly</a:t>
            </a:r>
            <a:endParaRPr lang="en-US" sz="1550" dirty="0"/>
          </a:p>
        </p:txBody>
      </p:sp>
      <p:sp>
        <p:nvSpPr>
          <p:cNvPr id="14" name="Text 12"/>
          <p:cNvSpPr/>
          <p:nvPr/>
        </p:nvSpPr>
        <p:spPr>
          <a:xfrm>
            <a:off x="6272784" y="3550920"/>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Tell a team their velocity must rise and it will. The same work will simply be estimated higher. Nothing about delivery changes.</a:t>
            </a:r>
            <a:endParaRPr lang="en-US" sz="1250" dirty="0"/>
          </a:p>
        </p:txBody>
      </p:sp>
      <p:sp>
        <p:nvSpPr>
          <p:cNvPr id="15" name="Shape 13"/>
          <p:cNvSpPr/>
          <p:nvPr/>
        </p:nvSpPr>
        <p:spPr>
          <a:xfrm>
            <a:off x="5669280" y="4614672"/>
            <a:ext cx="402336" cy="402336"/>
          </a:xfrm>
          <a:prstGeom prst="ellipse">
            <a:avLst/>
          </a:prstGeom>
          <a:solidFill>
            <a:srgbClr val="63E7A4"/>
          </a:solidFill>
          <a:ln/>
        </p:spPr>
        <p:txBody>
          <a:bodyPr/>
          <a:lstStyle/>
          <a:p>
            <a:endParaRPr lang="en-IN"/>
          </a:p>
        </p:txBody>
      </p:sp>
      <p:sp>
        <p:nvSpPr>
          <p:cNvPr id="16" name="Text 14"/>
          <p:cNvSpPr/>
          <p:nvPr/>
        </p:nvSpPr>
        <p:spPr>
          <a:xfrm>
            <a:off x="5669280" y="461467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6272784" y="4559808"/>
            <a:ext cx="530352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Metrics belong to the team first</a:t>
            </a:r>
            <a:endParaRPr lang="en-US" sz="1550" dirty="0"/>
          </a:p>
        </p:txBody>
      </p:sp>
      <p:sp>
        <p:nvSpPr>
          <p:cNvPr id="18" name="Text 16"/>
          <p:cNvSpPr/>
          <p:nvPr/>
        </p:nvSpPr>
        <p:spPr>
          <a:xfrm>
            <a:off x="6272784" y="4870704"/>
            <a:ext cx="5303520" cy="917448"/>
          </a:xfrm>
          <a:prstGeom prst="rect">
            <a:avLst/>
          </a:prstGeom>
          <a:noFill/>
          <a:ln/>
        </p:spPr>
        <p:txBody>
          <a:bodyPr wrap="square" lIns="0" tIns="0" rIns="0" bIns="0" rtlCol="0" anchor="t"/>
          <a:lstStyle/>
          <a:p>
            <a:pPr marL="0" indent="0">
              <a:lnSpc>
                <a:spcPct val="120000"/>
              </a:lnSpc>
              <a:buNone/>
            </a:pPr>
            <a:r>
              <a:rPr lang="en-US" sz="1250" dirty="0">
                <a:solidFill>
                  <a:srgbClr val="3D5060"/>
                </a:solidFill>
                <a:latin typeface="Century Gothic" pitchFamily="34" charset="0"/>
                <a:ea typeface="Century Gothic" pitchFamily="34" charset="-122"/>
                <a:cs typeface="Century Gothic" pitchFamily="34" charset="-120"/>
              </a:rPr>
              <a:t>The team uses them to inspect and adapt. Leadership should ask about outcomes — value delivered, predictability, quality — not about internal team measures.</a:t>
            </a:r>
            <a:endParaRPr lang="en-US" sz="1250" dirty="0"/>
          </a:p>
        </p:txBody>
      </p:sp>
      <p:sp>
        <p:nvSpPr>
          <p:cNvPr id="19" name="Text 17"/>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59</a:t>
            </a:r>
            <a:endParaRPr lang="en-US" sz="900" dirty="0"/>
          </a:p>
        </p:txBody>
      </p:sp>
      <p:sp>
        <p:nvSpPr>
          <p:cNvPr id="20" name="Text 18"/>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8 · METRICS</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8 · METRICS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Velocity: what it is and its four abuses</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Velocity is the number of story points a team completes per sprint, averaged over the last three to five sprints. It is a capacity forecasting input. That is all it is.</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Comparing teams</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Points are calibrated per team against their own reference story. Team A's 8 and Team B's 8 are unrelated quantities. The comparison is meaningless.</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Setting it as a target</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Guarantees estimate inflation within two or three sprints. You will hit the target and deliver the same amount.</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Using a single sprint</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One sprint is noise — leave, escalations, a hard story. Use a rolling average of three to five, and use a range, not a point.</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Counting unfinished work</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No partial credit. A story at 90% scores zero. This feels harsh and is exactly what keeps the number honest.</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60</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8 · METRICS</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8 · METRICS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700" b="1" dirty="0">
                <a:solidFill>
                  <a:srgbClr val="003352"/>
                </a:solidFill>
                <a:latin typeface="Century Gothic" pitchFamily="34" charset="0"/>
                <a:ea typeface="Century Gothic" pitchFamily="34" charset="-122"/>
                <a:cs typeface="Century Gothic" pitchFamily="34" charset="-120"/>
              </a:rPr>
              <a:t>Reading a burndown — the shapes that mean something</a:t>
            </a:r>
            <a:endParaRPr lang="en-US" sz="27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Shapes that signal trouble</a:t>
            </a:r>
            <a:endParaRPr lang="en-US" sz="1900" dirty="0"/>
          </a:p>
        </p:txBody>
      </p:sp>
      <p:sp>
        <p:nvSpPr>
          <p:cNvPr id="6" name="Text 4"/>
          <p:cNvSpPr/>
          <p:nvPr/>
        </p:nvSpPr>
        <p:spPr>
          <a:xfrm>
            <a:off x="932688" y="2688336"/>
            <a:ext cx="4626864" cy="2999232"/>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Flat until the last two days, then a cliff — work wasn't Done until the end; testing is bunched at the back</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A line that rises mid-sprint — scope was added after planning; ask who added it and why</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A perfectly straight line — almost certainly a report being maintained rather than reality</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A cliff on day 1 — the team was carrying unfinished work from the previous sprint</a:t>
            </a:r>
            <a:endParaRPr lang="en-US" sz="1250" dirty="0"/>
          </a:p>
        </p:txBody>
      </p:sp>
      <p:sp>
        <p:nvSpPr>
          <p:cNvPr id="7" name="Shape 5"/>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8" name="Text 6"/>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What to do with it</a:t>
            </a:r>
            <a:endParaRPr lang="en-US" sz="1900" dirty="0"/>
          </a:p>
        </p:txBody>
      </p:sp>
      <p:sp>
        <p:nvSpPr>
          <p:cNvPr id="9" name="Text 7"/>
          <p:cNvSpPr/>
          <p:nvPr/>
        </p:nvSpPr>
        <p:spPr>
          <a:xfrm>
            <a:off x="6629400" y="2688336"/>
            <a:ext cx="4626864" cy="2999232"/>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Use it during the sprint, in the Daily Scrum, as a prompt for the team</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Never present it to leadership as a performance chart</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A burn-up is often more honest — it shows scope changes as a separate line</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If the chart tells the team nothing they didn't already know, stop maintaining it</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The board is usually more informative than the chart</a:t>
            </a:r>
            <a:endParaRPr lang="en-US" sz="1250" dirty="0"/>
          </a:p>
        </p:txBody>
      </p:sp>
      <p:sp>
        <p:nvSpPr>
          <p:cNvPr id="10" name="Text 8"/>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61</a:t>
            </a:r>
            <a:endParaRPr lang="en-US" sz="900" dirty="0"/>
          </a:p>
        </p:txBody>
      </p:sp>
      <p:sp>
        <p:nvSpPr>
          <p:cNvPr id="11" name="Text 9"/>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8 · METRICS</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8 · METRICS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Flow metrics: often better than velocity</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Borrowed from Kanban, and increasingly what mature teams forecast with. They work whether or not you run sprints.</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Cycle time</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Elapsed time from starting an item to it being Done. Report the 85th percentile, not the average — 'most items finish within 6 days' is a promise you can keep.</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Throughput</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Items completed per week. Combined with consistent slicing it forecasts as well as points, with none of the estimation overhead.</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Work in progress</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How many items are open at once. The most actionable number on this slide — and the easiest to fix. Lower it and everything else improves.</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Little's Law</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Cycle time = WIP ÷ throughput. To finish things faster without working harder, start fewer things. This is arithmetic, not philosophy.</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62</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8 · METRICS</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8 · METRICS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The four numbers worth reporting upward</a:t>
            </a:r>
            <a:endParaRPr lang="en-US" sz="29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Outcome metrics. Harder to game, because the customer can see them too.</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Predictability — say/do ratio</a:t>
            </a:r>
            <a:endParaRPr lang="en-US" sz="1550" dirty="0"/>
          </a:p>
        </p:txBody>
      </p:sp>
      <p:sp>
        <p:nvSpPr>
          <p:cNvPr id="8" name="Text 6"/>
          <p:cNvSpPr/>
          <p:nvPr/>
        </p:nvSpPr>
        <p:spPr>
          <a:xfrm>
            <a:off x="1170432" y="262432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Of what we committed to at planning, how much did we deliver? Trending toward 80–90% is healthy. Consistently 100% means we're sandbagging.</a:t>
            </a:r>
            <a:endParaRPr lang="en-US" sz="1250" dirty="0"/>
          </a:p>
        </p:txBody>
      </p:sp>
      <p:sp>
        <p:nvSpPr>
          <p:cNvPr id="9" name="Shape 7"/>
          <p:cNvSpPr/>
          <p:nvPr/>
        </p:nvSpPr>
        <p:spPr>
          <a:xfrm>
            <a:off x="566928" y="3259836"/>
            <a:ext cx="402336" cy="402336"/>
          </a:xfrm>
          <a:prstGeom prst="ellipse">
            <a:avLst/>
          </a:prstGeom>
          <a:solidFill>
            <a:srgbClr val="63E7A4"/>
          </a:solidFill>
          <a:ln/>
        </p:spPr>
        <p:txBody>
          <a:bodyPr/>
          <a:lstStyle/>
          <a:p>
            <a:endParaRPr lang="en-IN"/>
          </a:p>
        </p:txBody>
      </p:sp>
      <p:sp>
        <p:nvSpPr>
          <p:cNvPr id="10" name="Text 8"/>
          <p:cNvSpPr/>
          <p:nvPr/>
        </p:nvSpPr>
        <p:spPr>
          <a:xfrm>
            <a:off x="566928" y="325983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20497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Cycle time, 85th percentile</a:t>
            </a:r>
            <a:endParaRPr lang="en-US" sz="1550" dirty="0"/>
          </a:p>
        </p:txBody>
      </p:sp>
      <p:sp>
        <p:nvSpPr>
          <p:cNvPr id="12" name="Text 10"/>
          <p:cNvSpPr/>
          <p:nvPr/>
        </p:nvSpPr>
        <p:spPr>
          <a:xfrm>
            <a:off x="1170432" y="351586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From commitment to customer. This is the number that reflects how responsive we feel to the people who pay us.</a:t>
            </a:r>
            <a:endParaRPr lang="en-US" sz="1250" dirty="0"/>
          </a:p>
        </p:txBody>
      </p:sp>
      <p:sp>
        <p:nvSpPr>
          <p:cNvPr id="13" name="Shape 11"/>
          <p:cNvSpPr/>
          <p:nvPr/>
        </p:nvSpPr>
        <p:spPr>
          <a:xfrm>
            <a:off x="566928" y="4151376"/>
            <a:ext cx="402336" cy="402336"/>
          </a:xfrm>
          <a:prstGeom prst="ellipse">
            <a:avLst/>
          </a:prstGeom>
          <a:solidFill>
            <a:srgbClr val="63E7A4"/>
          </a:solidFill>
          <a:ln/>
        </p:spPr>
        <p:txBody>
          <a:bodyPr/>
          <a:lstStyle/>
          <a:p>
            <a:endParaRPr lang="en-IN"/>
          </a:p>
        </p:txBody>
      </p:sp>
      <p:sp>
        <p:nvSpPr>
          <p:cNvPr id="14" name="Text 12"/>
          <p:cNvSpPr/>
          <p:nvPr/>
        </p:nvSpPr>
        <p:spPr>
          <a:xfrm>
            <a:off x="566928" y="415137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09651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Escaped defects</a:t>
            </a:r>
            <a:endParaRPr lang="en-US" sz="1550" dirty="0"/>
          </a:p>
        </p:txBody>
      </p:sp>
      <p:sp>
        <p:nvSpPr>
          <p:cNvPr id="16" name="Text 14"/>
          <p:cNvSpPr/>
          <p:nvPr/>
        </p:nvSpPr>
        <p:spPr>
          <a:xfrm>
            <a:off x="1170432" y="440740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Issues found by customers rather than by us. The most honest quality measure we have, and one we already track through support.</a:t>
            </a:r>
            <a:endParaRPr lang="en-US" sz="1250" dirty="0"/>
          </a:p>
        </p:txBody>
      </p:sp>
      <p:sp>
        <p:nvSpPr>
          <p:cNvPr id="17" name="Shape 15"/>
          <p:cNvSpPr/>
          <p:nvPr/>
        </p:nvSpPr>
        <p:spPr>
          <a:xfrm>
            <a:off x="566928" y="5042916"/>
            <a:ext cx="402336" cy="402336"/>
          </a:xfrm>
          <a:prstGeom prst="ellipse">
            <a:avLst/>
          </a:prstGeom>
          <a:solidFill>
            <a:srgbClr val="63E7A4"/>
          </a:solidFill>
          <a:ln/>
        </p:spPr>
        <p:txBody>
          <a:bodyPr/>
          <a:lstStyle/>
          <a:p>
            <a:endParaRPr lang="en-IN"/>
          </a:p>
        </p:txBody>
      </p:sp>
      <p:sp>
        <p:nvSpPr>
          <p:cNvPr id="18" name="Text 16"/>
          <p:cNvSpPr/>
          <p:nvPr/>
        </p:nvSpPr>
        <p:spPr>
          <a:xfrm>
            <a:off x="566928" y="50429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98805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Time to first value</a:t>
            </a:r>
            <a:endParaRPr lang="en-US" sz="1550" dirty="0"/>
          </a:p>
        </p:txBody>
      </p:sp>
      <p:sp>
        <p:nvSpPr>
          <p:cNvPr id="20" name="Text 18"/>
          <p:cNvSpPr/>
          <p:nvPr/>
        </p:nvSpPr>
        <p:spPr>
          <a:xfrm>
            <a:off x="1170432" y="529894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How long from a customer asking for something to them being able to use part of it. The metric section 1 was really about.</a:t>
            </a:r>
            <a:endParaRPr lang="en-US" sz="12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63</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8 · METRICS</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QUIZ 2</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4 min</a:t>
            </a:r>
            <a:endParaRPr lang="en-US" sz="1250" dirty="0"/>
          </a:p>
        </p:txBody>
      </p:sp>
      <p:sp>
        <p:nvSpPr>
          <p:cNvPr id="5" name="Text 3"/>
          <p:cNvSpPr/>
          <p:nvPr/>
        </p:nvSpPr>
        <p:spPr>
          <a:xfrm>
            <a:off x="548640" y="731520"/>
            <a:ext cx="9235440" cy="658368"/>
          </a:xfrm>
          <a:prstGeom prst="rect">
            <a:avLst/>
          </a:prstGeom>
          <a:noFill/>
          <a:ln/>
        </p:spPr>
        <p:txBody>
          <a:bodyPr wrap="square" lIns="0" tIns="0" rIns="0" bIns="0" rtlCol="0" anchor="t"/>
          <a:lstStyle/>
          <a:p>
            <a:pPr marL="0" indent="0">
              <a:buNone/>
            </a:pPr>
            <a:r>
              <a:rPr lang="en-US" sz="2900" b="1" dirty="0">
                <a:solidFill>
                  <a:srgbClr val="003352"/>
                </a:solidFill>
                <a:latin typeface="Century Gothic" pitchFamily="34" charset="0"/>
                <a:ea typeface="Century Gothic" pitchFamily="34" charset="-122"/>
                <a:cs typeface="Century Gothic" pitchFamily="34" charset="-120"/>
              </a:rPr>
              <a:t>Metrics and Scrum</a:t>
            </a:r>
            <a:endParaRPr lang="en-US" sz="2900" dirty="0"/>
          </a:p>
        </p:txBody>
      </p:sp>
      <p:sp>
        <p:nvSpPr>
          <p:cNvPr id="6" name="Shape 4"/>
          <p:cNvSpPr/>
          <p:nvPr/>
        </p:nvSpPr>
        <p:spPr>
          <a:xfrm>
            <a:off x="548640" y="1572768"/>
            <a:ext cx="11091672" cy="953262"/>
          </a:xfrm>
          <a:prstGeom prst="roundRect">
            <a:avLst>
              <a:gd name="adj" fmla="val 5755"/>
            </a:avLst>
          </a:prstGeom>
          <a:solidFill>
            <a:srgbClr val="FFFFFF"/>
          </a:solidFill>
          <a:ln/>
        </p:spPr>
        <p:txBody>
          <a:bodyPr/>
          <a:lstStyle/>
          <a:p>
            <a:endParaRPr lang="en-IN"/>
          </a:p>
        </p:txBody>
      </p:sp>
      <p:sp>
        <p:nvSpPr>
          <p:cNvPr id="7" name="Shape 5"/>
          <p:cNvSpPr/>
          <p:nvPr/>
        </p:nvSpPr>
        <p:spPr>
          <a:xfrm>
            <a:off x="841248" y="1857375"/>
            <a:ext cx="384048" cy="384048"/>
          </a:xfrm>
          <a:prstGeom prst="ellipse">
            <a:avLst/>
          </a:prstGeom>
          <a:solidFill>
            <a:srgbClr val="63E7A4"/>
          </a:solidFill>
          <a:ln/>
        </p:spPr>
        <p:txBody>
          <a:bodyPr/>
          <a:lstStyle/>
          <a:p>
            <a:endParaRPr lang="en-IN"/>
          </a:p>
        </p:txBody>
      </p:sp>
      <p:sp>
        <p:nvSpPr>
          <p:cNvPr id="8" name="Text 6"/>
          <p:cNvSpPr/>
          <p:nvPr/>
        </p:nvSpPr>
        <p:spPr>
          <a:xfrm>
            <a:off x="841248" y="1857375"/>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9" name="Text 7"/>
          <p:cNvSpPr/>
          <p:nvPr/>
        </p:nvSpPr>
        <p:spPr>
          <a:xfrm>
            <a:off x="1444752" y="1682496"/>
            <a:ext cx="9966960" cy="733806"/>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Team A's velocity is 45. Team B's is 28. What can you conclude about their relative productivity?</a:t>
            </a:r>
            <a:endParaRPr lang="en-US" sz="1300" dirty="0"/>
          </a:p>
        </p:txBody>
      </p:sp>
      <p:sp>
        <p:nvSpPr>
          <p:cNvPr id="10" name="Shape 8"/>
          <p:cNvSpPr/>
          <p:nvPr/>
        </p:nvSpPr>
        <p:spPr>
          <a:xfrm>
            <a:off x="548640" y="2727198"/>
            <a:ext cx="11091672" cy="953262"/>
          </a:xfrm>
          <a:prstGeom prst="roundRect">
            <a:avLst>
              <a:gd name="adj" fmla="val 5755"/>
            </a:avLst>
          </a:prstGeom>
          <a:solidFill>
            <a:srgbClr val="FFFFFF"/>
          </a:solidFill>
          <a:ln/>
        </p:spPr>
        <p:txBody>
          <a:bodyPr/>
          <a:lstStyle/>
          <a:p>
            <a:endParaRPr lang="en-IN"/>
          </a:p>
        </p:txBody>
      </p:sp>
      <p:sp>
        <p:nvSpPr>
          <p:cNvPr id="11" name="Shape 9"/>
          <p:cNvSpPr/>
          <p:nvPr/>
        </p:nvSpPr>
        <p:spPr>
          <a:xfrm>
            <a:off x="841248" y="3011805"/>
            <a:ext cx="384048" cy="384048"/>
          </a:xfrm>
          <a:prstGeom prst="ellipse">
            <a:avLst/>
          </a:prstGeom>
          <a:solidFill>
            <a:srgbClr val="63E7A4"/>
          </a:solidFill>
          <a:ln/>
        </p:spPr>
        <p:txBody>
          <a:bodyPr/>
          <a:lstStyle/>
          <a:p>
            <a:endParaRPr lang="en-IN"/>
          </a:p>
        </p:txBody>
      </p:sp>
      <p:sp>
        <p:nvSpPr>
          <p:cNvPr id="12" name="Text 10"/>
          <p:cNvSpPr/>
          <p:nvPr/>
        </p:nvSpPr>
        <p:spPr>
          <a:xfrm>
            <a:off x="841248" y="3011805"/>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1444752" y="2836926"/>
            <a:ext cx="9966960" cy="733806"/>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A story is 90% complete at the end of the sprint. How many points does the team count?</a:t>
            </a:r>
            <a:endParaRPr lang="en-US" sz="1300" dirty="0"/>
          </a:p>
        </p:txBody>
      </p:sp>
      <p:sp>
        <p:nvSpPr>
          <p:cNvPr id="14" name="Shape 12"/>
          <p:cNvSpPr/>
          <p:nvPr/>
        </p:nvSpPr>
        <p:spPr>
          <a:xfrm>
            <a:off x="548640" y="3881628"/>
            <a:ext cx="11091672" cy="953262"/>
          </a:xfrm>
          <a:prstGeom prst="roundRect">
            <a:avLst>
              <a:gd name="adj" fmla="val 5755"/>
            </a:avLst>
          </a:prstGeom>
          <a:solidFill>
            <a:srgbClr val="FFFFFF"/>
          </a:solidFill>
          <a:ln/>
        </p:spPr>
        <p:txBody>
          <a:bodyPr/>
          <a:lstStyle/>
          <a:p>
            <a:endParaRPr lang="en-IN"/>
          </a:p>
        </p:txBody>
      </p:sp>
      <p:sp>
        <p:nvSpPr>
          <p:cNvPr id="15" name="Shape 13"/>
          <p:cNvSpPr/>
          <p:nvPr/>
        </p:nvSpPr>
        <p:spPr>
          <a:xfrm>
            <a:off x="841248" y="4166235"/>
            <a:ext cx="384048" cy="384048"/>
          </a:xfrm>
          <a:prstGeom prst="ellipse">
            <a:avLst/>
          </a:prstGeom>
          <a:solidFill>
            <a:srgbClr val="63E7A4"/>
          </a:solidFill>
          <a:ln/>
        </p:spPr>
        <p:txBody>
          <a:bodyPr/>
          <a:lstStyle/>
          <a:p>
            <a:endParaRPr lang="en-IN"/>
          </a:p>
        </p:txBody>
      </p:sp>
      <p:sp>
        <p:nvSpPr>
          <p:cNvPr id="16" name="Text 14"/>
          <p:cNvSpPr/>
          <p:nvPr/>
        </p:nvSpPr>
        <p:spPr>
          <a:xfrm>
            <a:off x="841248" y="4166235"/>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1444752" y="3991356"/>
            <a:ext cx="9966960" cy="733806"/>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Your team has 12 items in progress and completes 4 per week. What is the average cycle time — and how do you halve it?</a:t>
            </a:r>
            <a:endParaRPr lang="en-US" sz="1300" dirty="0"/>
          </a:p>
        </p:txBody>
      </p:sp>
      <p:sp>
        <p:nvSpPr>
          <p:cNvPr id="18" name="Shape 16"/>
          <p:cNvSpPr/>
          <p:nvPr/>
        </p:nvSpPr>
        <p:spPr>
          <a:xfrm>
            <a:off x="548640" y="5036058"/>
            <a:ext cx="11091672" cy="953262"/>
          </a:xfrm>
          <a:prstGeom prst="roundRect">
            <a:avLst>
              <a:gd name="adj" fmla="val 5755"/>
            </a:avLst>
          </a:prstGeom>
          <a:solidFill>
            <a:srgbClr val="FFFFFF"/>
          </a:solidFill>
          <a:ln/>
        </p:spPr>
        <p:txBody>
          <a:bodyPr/>
          <a:lstStyle/>
          <a:p>
            <a:endParaRPr lang="en-IN"/>
          </a:p>
        </p:txBody>
      </p:sp>
      <p:sp>
        <p:nvSpPr>
          <p:cNvPr id="19" name="Shape 17"/>
          <p:cNvSpPr/>
          <p:nvPr/>
        </p:nvSpPr>
        <p:spPr>
          <a:xfrm>
            <a:off x="841248" y="5320665"/>
            <a:ext cx="384048" cy="384048"/>
          </a:xfrm>
          <a:prstGeom prst="ellipse">
            <a:avLst/>
          </a:prstGeom>
          <a:solidFill>
            <a:srgbClr val="63E7A4"/>
          </a:solidFill>
          <a:ln/>
        </p:spPr>
        <p:txBody>
          <a:bodyPr/>
          <a:lstStyle/>
          <a:p>
            <a:endParaRPr lang="en-IN"/>
          </a:p>
        </p:txBody>
      </p:sp>
      <p:sp>
        <p:nvSpPr>
          <p:cNvPr id="20" name="Text 18"/>
          <p:cNvSpPr/>
          <p:nvPr/>
        </p:nvSpPr>
        <p:spPr>
          <a:xfrm>
            <a:off x="841248" y="5320665"/>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1" name="Text 19"/>
          <p:cNvSpPr/>
          <p:nvPr/>
        </p:nvSpPr>
        <p:spPr>
          <a:xfrm>
            <a:off x="1444752" y="5145786"/>
            <a:ext cx="9966960" cy="733806"/>
          </a:xfrm>
          <a:prstGeom prst="rect">
            <a:avLst/>
          </a:prstGeom>
          <a:noFill/>
          <a:ln/>
        </p:spPr>
        <p:txBody>
          <a:bodyPr wrap="square" lIns="0" tIns="0" rIns="0" bIns="0" rtlCol="0" anchor="ctr"/>
          <a:lstStyle/>
          <a:p>
            <a:pPr marL="0" indent="0">
              <a:lnSpc>
                <a:spcPct val="120000"/>
              </a:lnSpc>
              <a:buNone/>
            </a:pPr>
            <a:r>
              <a:rPr lang="en-US" sz="1300" dirty="0">
                <a:solidFill>
                  <a:srgbClr val="14212B"/>
                </a:solidFill>
                <a:latin typeface="Century Gothic" pitchFamily="34" charset="0"/>
                <a:ea typeface="Century Gothic" pitchFamily="34" charset="-122"/>
                <a:cs typeface="Century Gothic" pitchFamily="34" charset="-120"/>
              </a:rPr>
              <a:t>Who is the Daily Scrum for, and what is it for?</a:t>
            </a:r>
            <a:endParaRPr lang="en-US" sz="1300" dirty="0"/>
          </a:p>
        </p:txBody>
      </p:sp>
      <p:sp>
        <p:nvSpPr>
          <p:cNvPr id="22" name="Text 2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64</a:t>
            </a:r>
            <a:endParaRPr lang="en-US" sz="900" dirty="0"/>
          </a:p>
        </p:txBody>
      </p:sp>
      <p:sp>
        <p:nvSpPr>
          <p:cNvPr id="23" name="Text 2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QUIZ 2</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QUIZ 2 · ANSWERS</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Answers</a:t>
            </a:r>
            <a:endParaRPr lang="en-US" sz="3000" dirty="0"/>
          </a:p>
        </p:txBody>
      </p:sp>
      <p:sp>
        <p:nvSpPr>
          <p:cNvPr id="4" name="Shape 2"/>
          <p:cNvSpPr/>
          <p:nvPr/>
        </p:nvSpPr>
        <p:spPr>
          <a:xfrm>
            <a:off x="548640" y="1783080"/>
            <a:ext cx="11091672" cy="930402"/>
          </a:xfrm>
          <a:prstGeom prst="roundRect">
            <a:avLst>
              <a:gd name="adj" fmla="val 5897"/>
            </a:avLst>
          </a:prstGeom>
          <a:solidFill>
            <a:srgbClr val="F4F7F9"/>
          </a:solidFill>
          <a:ln/>
        </p:spPr>
        <p:txBody>
          <a:bodyPr/>
          <a:lstStyle/>
          <a:p>
            <a:endParaRPr lang="en-IN"/>
          </a:p>
        </p:txBody>
      </p:sp>
      <p:sp>
        <p:nvSpPr>
          <p:cNvPr id="5" name="Shape 3"/>
          <p:cNvSpPr/>
          <p:nvPr/>
        </p:nvSpPr>
        <p:spPr>
          <a:xfrm>
            <a:off x="841248" y="2056257"/>
            <a:ext cx="384048" cy="384048"/>
          </a:xfrm>
          <a:prstGeom prst="ellipse">
            <a:avLst/>
          </a:prstGeom>
          <a:solidFill>
            <a:srgbClr val="63E7A4"/>
          </a:solidFill>
          <a:ln/>
        </p:spPr>
        <p:txBody>
          <a:bodyPr/>
          <a:lstStyle/>
          <a:p>
            <a:endParaRPr lang="en-IN"/>
          </a:p>
        </p:txBody>
      </p:sp>
      <p:sp>
        <p:nvSpPr>
          <p:cNvPr id="6" name="Text 4"/>
          <p:cNvSpPr/>
          <p:nvPr/>
        </p:nvSpPr>
        <p:spPr>
          <a:xfrm>
            <a:off x="841248" y="2056257"/>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444752" y="1874520"/>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Nothing at all</a:t>
            </a:r>
            <a:endParaRPr lang="en-US" sz="1300" dirty="0"/>
          </a:p>
        </p:txBody>
      </p:sp>
      <p:sp>
        <p:nvSpPr>
          <p:cNvPr id="8" name="Text 6"/>
          <p:cNvSpPr/>
          <p:nvPr/>
        </p:nvSpPr>
        <p:spPr>
          <a:xfrm>
            <a:off x="1444752" y="2148840"/>
            <a:ext cx="9966960" cy="491490"/>
          </a:xfrm>
          <a:prstGeom prst="rect">
            <a:avLst/>
          </a:prstGeom>
          <a:noFill/>
          <a:ln/>
        </p:spPr>
        <p:txBody>
          <a:bodyPr wrap="square" lIns="0" tIns="0" rIns="0" bIns="0" rtlCol="0" anchor="t"/>
          <a:lstStyle/>
          <a:p>
            <a:pPr marL="0" indent="0">
              <a:lnSpc>
                <a:spcPct val="114000"/>
              </a:lnSpc>
              <a:buNone/>
            </a:pPr>
            <a:r>
              <a:rPr lang="en-US" sz="1150" dirty="0">
                <a:solidFill>
                  <a:srgbClr val="3D5060"/>
                </a:solidFill>
                <a:latin typeface="Century Gothic" pitchFamily="34" charset="0"/>
                <a:ea typeface="Century Gothic" pitchFamily="34" charset="-122"/>
                <a:cs typeface="Century Gothic" pitchFamily="34" charset="-120"/>
              </a:rPr>
              <a:t>Points are calibrated per team against their own reference story. The two numbers are in different units. This comparison is the most common and most damaging metric abuse in the industry.</a:t>
            </a:r>
            <a:endParaRPr lang="en-US" sz="1150" dirty="0"/>
          </a:p>
        </p:txBody>
      </p:sp>
      <p:sp>
        <p:nvSpPr>
          <p:cNvPr id="9" name="Shape 7"/>
          <p:cNvSpPr/>
          <p:nvPr/>
        </p:nvSpPr>
        <p:spPr>
          <a:xfrm>
            <a:off x="548640" y="2859786"/>
            <a:ext cx="11091672" cy="930402"/>
          </a:xfrm>
          <a:prstGeom prst="roundRect">
            <a:avLst>
              <a:gd name="adj" fmla="val 5897"/>
            </a:avLst>
          </a:prstGeom>
          <a:solidFill>
            <a:srgbClr val="F4F7F9"/>
          </a:solidFill>
          <a:ln/>
        </p:spPr>
        <p:txBody>
          <a:bodyPr/>
          <a:lstStyle/>
          <a:p>
            <a:endParaRPr lang="en-IN"/>
          </a:p>
        </p:txBody>
      </p:sp>
      <p:sp>
        <p:nvSpPr>
          <p:cNvPr id="10" name="Shape 8"/>
          <p:cNvSpPr/>
          <p:nvPr/>
        </p:nvSpPr>
        <p:spPr>
          <a:xfrm>
            <a:off x="841248" y="3132963"/>
            <a:ext cx="384048" cy="384048"/>
          </a:xfrm>
          <a:prstGeom prst="ellipse">
            <a:avLst/>
          </a:prstGeom>
          <a:solidFill>
            <a:srgbClr val="63E7A4"/>
          </a:solidFill>
          <a:ln/>
        </p:spPr>
        <p:txBody>
          <a:bodyPr/>
          <a:lstStyle/>
          <a:p>
            <a:endParaRPr lang="en-IN"/>
          </a:p>
        </p:txBody>
      </p:sp>
      <p:sp>
        <p:nvSpPr>
          <p:cNvPr id="11" name="Text 9"/>
          <p:cNvSpPr/>
          <p:nvPr/>
        </p:nvSpPr>
        <p:spPr>
          <a:xfrm>
            <a:off x="841248" y="3132963"/>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2" name="Text 10"/>
          <p:cNvSpPr/>
          <p:nvPr/>
        </p:nvSpPr>
        <p:spPr>
          <a:xfrm>
            <a:off x="1444752" y="2951226"/>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Zero</a:t>
            </a:r>
            <a:endParaRPr lang="en-US" sz="1300" dirty="0"/>
          </a:p>
        </p:txBody>
      </p:sp>
      <p:sp>
        <p:nvSpPr>
          <p:cNvPr id="13" name="Text 11"/>
          <p:cNvSpPr/>
          <p:nvPr/>
        </p:nvSpPr>
        <p:spPr>
          <a:xfrm>
            <a:off x="1444752" y="3225546"/>
            <a:ext cx="9966960" cy="491490"/>
          </a:xfrm>
          <a:prstGeom prst="rect">
            <a:avLst/>
          </a:prstGeom>
          <a:noFill/>
          <a:ln/>
        </p:spPr>
        <p:txBody>
          <a:bodyPr wrap="square" lIns="0" tIns="0" rIns="0" bIns="0" rtlCol="0" anchor="t"/>
          <a:lstStyle/>
          <a:p>
            <a:pPr marL="0" indent="0">
              <a:lnSpc>
                <a:spcPct val="114000"/>
              </a:lnSpc>
              <a:buNone/>
            </a:pPr>
            <a:r>
              <a:rPr lang="en-US" sz="1150" dirty="0">
                <a:solidFill>
                  <a:srgbClr val="3D5060"/>
                </a:solidFill>
                <a:latin typeface="Century Gothic" pitchFamily="34" charset="0"/>
                <a:ea typeface="Century Gothic" pitchFamily="34" charset="-122"/>
                <a:cs typeface="Century Gothic" pitchFamily="34" charset="-120"/>
              </a:rPr>
              <a:t>No partial credit. Ever. The number exists to forecast completion, and unfinished work forecasts nothing. It feels harsh; it is what keeps velocity honest.</a:t>
            </a:r>
            <a:endParaRPr lang="en-US" sz="1150" dirty="0"/>
          </a:p>
        </p:txBody>
      </p:sp>
      <p:sp>
        <p:nvSpPr>
          <p:cNvPr id="14" name="Shape 12"/>
          <p:cNvSpPr/>
          <p:nvPr/>
        </p:nvSpPr>
        <p:spPr>
          <a:xfrm>
            <a:off x="548640" y="3936492"/>
            <a:ext cx="11091672" cy="930402"/>
          </a:xfrm>
          <a:prstGeom prst="roundRect">
            <a:avLst>
              <a:gd name="adj" fmla="val 5897"/>
            </a:avLst>
          </a:prstGeom>
          <a:solidFill>
            <a:srgbClr val="F4F7F9"/>
          </a:solidFill>
          <a:ln/>
        </p:spPr>
        <p:txBody>
          <a:bodyPr/>
          <a:lstStyle/>
          <a:p>
            <a:endParaRPr lang="en-IN"/>
          </a:p>
        </p:txBody>
      </p:sp>
      <p:sp>
        <p:nvSpPr>
          <p:cNvPr id="15" name="Shape 13"/>
          <p:cNvSpPr/>
          <p:nvPr/>
        </p:nvSpPr>
        <p:spPr>
          <a:xfrm>
            <a:off x="841248" y="4209669"/>
            <a:ext cx="384048" cy="384048"/>
          </a:xfrm>
          <a:prstGeom prst="ellipse">
            <a:avLst/>
          </a:prstGeom>
          <a:solidFill>
            <a:srgbClr val="63E7A4"/>
          </a:solidFill>
          <a:ln/>
        </p:spPr>
        <p:txBody>
          <a:bodyPr/>
          <a:lstStyle/>
          <a:p>
            <a:endParaRPr lang="en-IN"/>
          </a:p>
        </p:txBody>
      </p:sp>
      <p:sp>
        <p:nvSpPr>
          <p:cNvPr id="16" name="Text 14"/>
          <p:cNvSpPr/>
          <p:nvPr/>
        </p:nvSpPr>
        <p:spPr>
          <a:xfrm>
            <a:off x="841248" y="4209669"/>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7" name="Text 15"/>
          <p:cNvSpPr/>
          <p:nvPr/>
        </p:nvSpPr>
        <p:spPr>
          <a:xfrm>
            <a:off x="1444752" y="4027932"/>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3 weeks — and you halve it by cutting WIP to 6, not by working faster</a:t>
            </a:r>
            <a:endParaRPr lang="en-US" sz="1300" dirty="0"/>
          </a:p>
        </p:txBody>
      </p:sp>
      <p:sp>
        <p:nvSpPr>
          <p:cNvPr id="18" name="Text 16"/>
          <p:cNvSpPr/>
          <p:nvPr/>
        </p:nvSpPr>
        <p:spPr>
          <a:xfrm>
            <a:off x="1444752" y="4302252"/>
            <a:ext cx="9966960" cy="491490"/>
          </a:xfrm>
          <a:prstGeom prst="rect">
            <a:avLst/>
          </a:prstGeom>
          <a:noFill/>
          <a:ln/>
        </p:spPr>
        <p:txBody>
          <a:bodyPr wrap="square" lIns="0" tIns="0" rIns="0" bIns="0" rtlCol="0" anchor="t"/>
          <a:lstStyle/>
          <a:p>
            <a:pPr marL="0" indent="0">
              <a:lnSpc>
                <a:spcPct val="114000"/>
              </a:lnSpc>
              <a:buNone/>
            </a:pPr>
            <a:r>
              <a:rPr lang="en-US" sz="1150" dirty="0">
                <a:solidFill>
                  <a:srgbClr val="3D5060"/>
                </a:solidFill>
                <a:latin typeface="Century Gothic" pitchFamily="34" charset="0"/>
                <a:ea typeface="Century Gothic" pitchFamily="34" charset="-122"/>
                <a:cs typeface="Century Gothic" pitchFamily="34" charset="-120"/>
              </a:rPr>
              <a:t>Little's Law: cycle time = WIP ÷ throughput. 12 ÷ 4 = 3 weeks. Start fewer things and finish them; throughput doesn't need to change.</a:t>
            </a:r>
            <a:endParaRPr lang="en-US" sz="1150" dirty="0"/>
          </a:p>
        </p:txBody>
      </p:sp>
      <p:sp>
        <p:nvSpPr>
          <p:cNvPr id="19" name="Shape 17"/>
          <p:cNvSpPr/>
          <p:nvPr/>
        </p:nvSpPr>
        <p:spPr>
          <a:xfrm>
            <a:off x="548640" y="5013198"/>
            <a:ext cx="11091672" cy="930402"/>
          </a:xfrm>
          <a:prstGeom prst="roundRect">
            <a:avLst>
              <a:gd name="adj" fmla="val 5897"/>
            </a:avLst>
          </a:prstGeom>
          <a:solidFill>
            <a:srgbClr val="F4F7F9"/>
          </a:solidFill>
          <a:ln/>
        </p:spPr>
        <p:txBody>
          <a:bodyPr/>
          <a:lstStyle/>
          <a:p>
            <a:endParaRPr lang="en-IN"/>
          </a:p>
        </p:txBody>
      </p:sp>
      <p:sp>
        <p:nvSpPr>
          <p:cNvPr id="20" name="Shape 18"/>
          <p:cNvSpPr/>
          <p:nvPr/>
        </p:nvSpPr>
        <p:spPr>
          <a:xfrm>
            <a:off x="841248" y="5286375"/>
            <a:ext cx="384048" cy="384048"/>
          </a:xfrm>
          <a:prstGeom prst="ellipse">
            <a:avLst/>
          </a:prstGeom>
          <a:solidFill>
            <a:srgbClr val="63E7A4"/>
          </a:solidFill>
          <a:ln/>
        </p:spPr>
        <p:txBody>
          <a:bodyPr/>
          <a:lstStyle/>
          <a:p>
            <a:endParaRPr lang="en-IN"/>
          </a:p>
        </p:txBody>
      </p:sp>
      <p:sp>
        <p:nvSpPr>
          <p:cNvPr id="21" name="Text 19"/>
          <p:cNvSpPr/>
          <p:nvPr/>
        </p:nvSpPr>
        <p:spPr>
          <a:xfrm>
            <a:off x="841248" y="5286375"/>
            <a:ext cx="384048" cy="384048"/>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2" name="Text 20"/>
          <p:cNvSpPr/>
          <p:nvPr/>
        </p:nvSpPr>
        <p:spPr>
          <a:xfrm>
            <a:off x="1444752" y="5104638"/>
            <a:ext cx="9966960" cy="274320"/>
          </a:xfrm>
          <a:prstGeom prst="rect">
            <a:avLst/>
          </a:prstGeom>
          <a:noFill/>
          <a:ln/>
        </p:spPr>
        <p:txBody>
          <a:bodyPr wrap="square" lIns="0" tIns="0" rIns="0" bIns="0" rtlCol="0" anchor="t"/>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For the Developers, to re-plan the next 24 hours toward the Sprint Goal</a:t>
            </a:r>
            <a:endParaRPr lang="en-US" sz="1300" dirty="0"/>
          </a:p>
        </p:txBody>
      </p:sp>
      <p:sp>
        <p:nvSpPr>
          <p:cNvPr id="23" name="Text 21"/>
          <p:cNvSpPr/>
          <p:nvPr/>
        </p:nvSpPr>
        <p:spPr>
          <a:xfrm>
            <a:off x="1444752" y="5378958"/>
            <a:ext cx="9966960" cy="491490"/>
          </a:xfrm>
          <a:prstGeom prst="rect">
            <a:avLst/>
          </a:prstGeom>
          <a:noFill/>
          <a:ln/>
        </p:spPr>
        <p:txBody>
          <a:bodyPr wrap="square" lIns="0" tIns="0" rIns="0" bIns="0" rtlCol="0" anchor="t"/>
          <a:lstStyle/>
          <a:p>
            <a:pPr marL="0" indent="0">
              <a:lnSpc>
                <a:spcPct val="114000"/>
              </a:lnSpc>
              <a:buNone/>
            </a:pPr>
            <a:r>
              <a:rPr lang="en-US" sz="1150" dirty="0">
                <a:solidFill>
                  <a:srgbClr val="3D5060"/>
                </a:solidFill>
                <a:latin typeface="Century Gothic" pitchFamily="34" charset="0"/>
                <a:ea typeface="Century Gothic" pitchFamily="34" charset="-122"/>
                <a:cs typeface="Century Gothic" pitchFamily="34" charset="-120"/>
              </a:rPr>
              <a:t>Not a status report, not for the manager. If the plan doesn't change as a result, it wasn't a Daily Scrum.</a:t>
            </a:r>
            <a:endParaRPr lang="en-US" sz="1150" dirty="0"/>
          </a:p>
        </p:txBody>
      </p:sp>
      <p:sp>
        <p:nvSpPr>
          <p:cNvPr id="24" name="Text 22"/>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65</a:t>
            </a:r>
            <a:endParaRPr lang="en-US" sz="900" dirty="0"/>
          </a:p>
        </p:txBody>
      </p:sp>
      <p:sp>
        <p:nvSpPr>
          <p:cNvPr id="25" name="Text 23"/>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QUIZ 2</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09</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Advanced Agile</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Product thinking, scaling, and DevOps — where Agile goes once the basics are stable.</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10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41–45</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9 · ADVANCED</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From project to product</a:t>
            </a:r>
            <a:endParaRPr lang="en-US" sz="3000" dirty="0"/>
          </a:p>
        </p:txBody>
      </p:sp>
      <p:sp>
        <p:nvSpPr>
          <p:cNvPr id="4" name="Shape 2"/>
          <p:cNvSpPr/>
          <p:nvPr/>
        </p:nvSpPr>
        <p:spPr>
          <a:xfrm>
            <a:off x="548640" y="1847088"/>
            <a:ext cx="5394960" cy="4114800"/>
          </a:xfrm>
          <a:prstGeom prst="roundRect">
            <a:avLst>
              <a:gd name="adj" fmla="val 1333"/>
            </a:avLst>
          </a:prstGeom>
          <a:solidFill>
            <a:srgbClr val="F4F7F9"/>
          </a:solidFill>
          <a:ln/>
        </p:spPr>
        <p:txBody>
          <a:bodyPr/>
          <a:lstStyle/>
          <a:p>
            <a:endParaRPr lang="en-IN"/>
          </a:p>
        </p:txBody>
      </p:sp>
      <p:sp>
        <p:nvSpPr>
          <p:cNvPr id="5" name="Text 3"/>
          <p:cNvSpPr/>
          <p:nvPr/>
        </p:nvSpPr>
        <p:spPr>
          <a:xfrm>
            <a:off x="932688"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003352"/>
                </a:solidFill>
                <a:latin typeface="Century Gothic" pitchFamily="34" charset="0"/>
                <a:ea typeface="Century Gothic" pitchFamily="34" charset="-122"/>
                <a:cs typeface="Century Gothic" pitchFamily="34" charset="-120"/>
              </a:rPr>
              <a:t>Project thinking</a:t>
            </a:r>
            <a:endParaRPr lang="en-US" sz="1900" dirty="0"/>
          </a:p>
        </p:txBody>
      </p:sp>
      <p:sp>
        <p:nvSpPr>
          <p:cNvPr id="6" name="Text 4"/>
          <p:cNvSpPr/>
          <p:nvPr/>
        </p:nvSpPr>
        <p:spPr>
          <a:xfrm>
            <a:off x="932688" y="2542032"/>
            <a:ext cx="4626864" cy="329184"/>
          </a:xfrm>
          <a:prstGeom prst="rect">
            <a:avLst/>
          </a:prstGeom>
          <a:noFill/>
          <a:ln/>
        </p:spPr>
        <p:txBody>
          <a:bodyPr wrap="square" lIns="0" tIns="0" rIns="0" bIns="0" rtlCol="0" anchor="ctr"/>
          <a:lstStyle/>
          <a:p>
            <a:pPr marL="0" indent="0">
              <a:buNone/>
            </a:pPr>
            <a:r>
              <a:rPr lang="en-US" sz="1150" i="1" dirty="0">
                <a:solidFill>
                  <a:srgbClr val="7A8C99"/>
                </a:solidFill>
                <a:latin typeface="Century Gothic" pitchFamily="34" charset="0"/>
                <a:ea typeface="Century Gothic" pitchFamily="34" charset="-122"/>
                <a:cs typeface="Century Gothic" pitchFamily="34" charset="-120"/>
              </a:rPr>
              <a:t>Fund the work, assemble people around it</a:t>
            </a:r>
            <a:endParaRPr lang="en-US" sz="1150" dirty="0"/>
          </a:p>
        </p:txBody>
      </p:sp>
      <p:sp>
        <p:nvSpPr>
          <p:cNvPr id="7" name="Text 5"/>
          <p:cNvSpPr/>
          <p:nvPr/>
        </p:nvSpPr>
        <p:spPr>
          <a:xfrm>
            <a:off x="932688"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Temporary team, disbanded at the end</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Success = delivered on time and on budget</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Knowledge disperses when the project closes</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Handover to a separate maintenance team</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Every project re-forms and re-norms from zero</a:t>
            </a:r>
            <a:endParaRPr lang="en-US" sz="1250" dirty="0"/>
          </a:p>
          <a:p>
            <a:pPr marL="342900" indent="-342900">
              <a:lnSpc>
                <a:spcPct val="120000"/>
              </a:lnSpc>
              <a:spcAft>
                <a:spcPts val="900"/>
              </a:spcAft>
              <a:buSzPct val="100000"/>
              <a:buChar char="•"/>
            </a:pPr>
            <a:r>
              <a:rPr lang="en-US" sz="1250" dirty="0">
                <a:solidFill>
                  <a:srgbClr val="3D5060"/>
                </a:solidFill>
                <a:latin typeface="Century Gothic" pitchFamily="34" charset="0"/>
                <a:ea typeface="Century Gothic" pitchFamily="34" charset="-122"/>
                <a:cs typeface="Century Gothic" pitchFamily="34" charset="-120"/>
              </a:rPr>
              <a:t>Optimises for the plan</a:t>
            </a:r>
            <a:endParaRPr lang="en-US" sz="1250" dirty="0"/>
          </a:p>
        </p:txBody>
      </p:sp>
      <p:sp>
        <p:nvSpPr>
          <p:cNvPr id="8" name="Shape 6"/>
          <p:cNvSpPr/>
          <p:nvPr/>
        </p:nvSpPr>
        <p:spPr>
          <a:xfrm>
            <a:off x="6245352" y="1847088"/>
            <a:ext cx="5394960" cy="4114800"/>
          </a:xfrm>
          <a:prstGeom prst="roundRect">
            <a:avLst>
              <a:gd name="adj" fmla="val 1333"/>
            </a:avLst>
          </a:prstGeom>
          <a:solidFill>
            <a:srgbClr val="003352"/>
          </a:solidFill>
          <a:ln/>
        </p:spPr>
        <p:txBody>
          <a:bodyPr/>
          <a:lstStyle/>
          <a:p>
            <a:endParaRPr lang="en-IN"/>
          </a:p>
        </p:txBody>
      </p:sp>
      <p:sp>
        <p:nvSpPr>
          <p:cNvPr id="9" name="Text 7"/>
          <p:cNvSpPr/>
          <p:nvPr/>
        </p:nvSpPr>
        <p:spPr>
          <a:xfrm>
            <a:off x="6629400" y="2121408"/>
            <a:ext cx="4626864" cy="530352"/>
          </a:xfrm>
          <a:prstGeom prst="rect">
            <a:avLst/>
          </a:prstGeom>
          <a:noFill/>
          <a:ln/>
        </p:spPr>
        <p:txBody>
          <a:bodyPr wrap="square" lIns="0" tIns="0" rIns="0" bIns="0" rtlCol="0" anchor="t"/>
          <a:lstStyle/>
          <a:p>
            <a:pPr marL="0" indent="0">
              <a:lnSpc>
                <a:spcPct val="102000"/>
              </a:lnSpc>
              <a:buNone/>
            </a:pPr>
            <a:r>
              <a:rPr lang="en-US" sz="1900" b="1" dirty="0">
                <a:solidFill>
                  <a:srgbClr val="63E7A4"/>
                </a:solidFill>
                <a:latin typeface="Century Gothic" pitchFamily="34" charset="0"/>
                <a:ea typeface="Century Gothic" pitchFamily="34" charset="-122"/>
                <a:cs typeface="Century Gothic" pitchFamily="34" charset="-120"/>
              </a:rPr>
              <a:t>Product thinking</a:t>
            </a:r>
            <a:endParaRPr lang="en-US" sz="1900" dirty="0"/>
          </a:p>
        </p:txBody>
      </p:sp>
      <p:sp>
        <p:nvSpPr>
          <p:cNvPr id="10" name="Text 8"/>
          <p:cNvSpPr/>
          <p:nvPr/>
        </p:nvSpPr>
        <p:spPr>
          <a:xfrm>
            <a:off x="6629400" y="2542032"/>
            <a:ext cx="4626864" cy="329184"/>
          </a:xfrm>
          <a:prstGeom prst="rect">
            <a:avLst/>
          </a:prstGeom>
          <a:noFill/>
          <a:ln/>
        </p:spPr>
        <p:txBody>
          <a:bodyPr wrap="square" lIns="0" tIns="0" rIns="0" bIns="0" rtlCol="0" anchor="ctr"/>
          <a:lstStyle/>
          <a:p>
            <a:pPr marL="0" indent="0">
              <a:buNone/>
            </a:pPr>
            <a:r>
              <a:rPr lang="en-US" sz="1150" i="1" dirty="0">
                <a:solidFill>
                  <a:srgbClr val="8FB3C6"/>
                </a:solidFill>
                <a:latin typeface="Century Gothic" pitchFamily="34" charset="0"/>
                <a:ea typeface="Century Gothic" pitchFamily="34" charset="-122"/>
                <a:cs typeface="Century Gothic" pitchFamily="34" charset="-120"/>
              </a:rPr>
              <a:t>Fund the team, flow the work to it</a:t>
            </a:r>
            <a:endParaRPr lang="en-US" sz="1150" dirty="0"/>
          </a:p>
        </p:txBody>
      </p:sp>
      <p:sp>
        <p:nvSpPr>
          <p:cNvPr id="11" name="Text 9"/>
          <p:cNvSpPr/>
          <p:nvPr/>
        </p:nvSpPr>
        <p:spPr>
          <a:xfrm>
            <a:off x="6629400" y="3017520"/>
            <a:ext cx="4626864" cy="267004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Stable long-lived team owning a product area</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Success = the outcome moved for the customer</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Knowledge compounds inside the team</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You build it, you run it — support informs the roadmap</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The team gets faster over time instead of restarting</a:t>
            </a:r>
            <a:endParaRPr lang="en-US" sz="1250" dirty="0"/>
          </a:p>
          <a:p>
            <a:pPr marL="342900" indent="-342900">
              <a:lnSpc>
                <a:spcPct val="120000"/>
              </a:lnSpc>
              <a:spcAft>
                <a:spcPts val="900"/>
              </a:spcAft>
              <a:buSzPct val="100000"/>
              <a:buChar char="•"/>
            </a:pPr>
            <a:r>
              <a:rPr lang="en-US" sz="1250" dirty="0">
                <a:solidFill>
                  <a:srgbClr val="C7DCE8"/>
                </a:solidFill>
                <a:latin typeface="Century Gothic" pitchFamily="34" charset="0"/>
                <a:ea typeface="Century Gothic" pitchFamily="34" charset="-122"/>
                <a:cs typeface="Century Gothic" pitchFamily="34" charset="-120"/>
              </a:rPr>
              <a:t>Optimises for the outcome</a:t>
            </a:r>
            <a:endParaRPr lang="en-US" sz="1250" dirty="0"/>
          </a:p>
        </p:txBody>
      </p:sp>
      <p:sp>
        <p:nvSpPr>
          <p:cNvPr id="12" name="Text 1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67</a:t>
            </a:r>
            <a:endParaRPr lang="en-US" sz="900" dirty="0"/>
          </a:p>
        </p:txBody>
      </p:sp>
      <p:sp>
        <p:nvSpPr>
          <p:cNvPr id="13" name="Text 1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9 · ADVANCED</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9 · ADVANCED</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Outcomes over outputs</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 most common advanced-Agile failure: a team that delivers reliably, on cadence, with excellent metrics — and builds things nobody needed.</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Output: we shipped fourteen features this quarter</a:t>
            </a:r>
            <a:endParaRPr lang="en-US" sz="1550" dirty="0"/>
          </a:p>
        </p:txBody>
      </p:sp>
      <p:sp>
        <p:nvSpPr>
          <p:cNvPr id="8" name="Text 6"/>
          <p:cNvSpPr/>
          <p:nvPr/>
        </p:nvSpPr>
        <p:spPr>
          <a:xfrm>
            <a:off x="1170432" y="262432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Measurable, satisfying, and silent on whether any of it mattered. A roadmap full of outputs is a to-do list with a nicer name.</a:t>
            </a:r>
            <a:endParaRPr lang="en-US" sz="1250" dirty="0"/>
          </a:p>
        </p:txBody>
      </p:sp>
      <p:sp>
        <p:nvSpPr>
          <p:cNvPr id="9" name="Shape 7"/>
          <p:cNvSpPr/>
          <p:nvPr/>
        </p:nvSpPr>
        <p:spPr>
          <a:xfrm>
            <a:off x="566928" y="3259836"/>
            <a:ext cx="402336" cy="402336"/>
          </a:xfrm>
          <a:prstGeom prst="ellipse">
            <a:avLst/>
          </a:prstGeom>
          <a:solidFill>
            <a:srgbClr val="63E7A4"/>
          </a:solidFill>
          <a:ln/>
        </p:spPr>
        <p:txBody>
          <a:bodyPr/>
          <a:lstStyle/>
          <a:p>
            <a:endParaRPr lang="en-IN"/>
          </a:p>
        </p:txBody>
      </p:sp>
      <p:sp>
        <p:nvSpPr>
          <p:cNvPr id="10" name="Text 8"/>
          <p:cNvSpPr/>
          <p:nvPr/>
        </p:nvSpPr>
        <p:spPr>
          <a:xfrm>
            <a:off x="566928" y="325983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20497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Outcome: web check-in adoption reached 40% at pilot properties, cutting desk queues</a:t>
            </a:r>
            <a:endParaRPr lang="en-US" sz="1550" dirty="0"/>
          </a:p>
        </p:txBody>
      </p:sp>
      <p:sp>
        <p:nvSpPr>
          <p:cNvPr id="12" name="Text 10"/>
          <p:cNvSpPr/>
          <p:nvPr/>
        </p:nvSpPr>
        <p:spPr>
          <a:xfrm>
            <a:off x="1170432" y="351586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A change in someone's behaviour or situation. This is what the business actually bought.</a:t>
            </a:r>
            <a:endParaRPr lang="en-US" sz="1250" dirty="0"/>
          </a:p>
        </p:txBody>
      </p:sp>
      <p:sp>
        <p:nvSpPr>
          <p:cNvPr id="13" name="Shape 11"/>
          <p:cNvSpPr/>
          <p:nvPr/>
        </p:nvSpPr>
        <p:spPr>
          <a:xfrm>
            <a:off x="566928" y="4151376"/>
            <a:ext cx="402336" cy="402336"/>
          </a:xfrm>
          <a:prstGeom prst="ellipse">
            <a:avLst/>
          </a:prstGeom>
          <a:solidFill>
            <a:srgbClr val="63E7A4"/>
          </a:solidFill>
          <a:ln/>
        </p:spPr>
        <p:txBody>
          <a:bodyPr/>
          <a:lstStyle/>
          <a:p>
            <a:endParaRPr lang="en-IN"/>
          </a:p>
        </p:txBody>
      </p:sp>
      <p:sp>
        <p:nvSpPr>
          <p:cNvPr id="14" name="Text 12"/>
          <p:cNvSpPr/>
          <p:nvPr/>
        </p:nvSpPr>
        <p:spPr>
          <a:xfrm>
            <a:off x="566928" y="415137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09651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Every backlog item should trace to an outcome</a:t>
            </a:r>
            <a:endParaRPr lang="en-US" sz="1550" dirty="0"/>
          </a:p>
        </p:txBody>
      </p:sp>
      <p:sp>
        <p:nvSpPr>
          <p:cNvPr id="16" name="Text 14"/>
          <p:cNvSpPr/>
          <p:nvPr/>
        </p:nvSpPr>
        <p:spPr>
          <a:xfrm>
            <a:off x="1170432" y="440740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If you can't say which outcome an item serves, that's the conversation to have before estimating it. Usually it exposes a cheaper path to the same result.</a:t>
            </a:r>
            <a:endParaRPr lang="en-US" sz="1250" dirty="0"/>
          </a:p>
        </p:txBody>
      </p:sp>
      <p:sp>
        <p:nvSpPr>
          <p:cNvPr id="17" name="Shape 15"/>
          <p:cNvSpPr/>
          <p:nvPr/>
        </p:nvSpPr>
        <p:spPr>
          <a:xfrm>
            <a:off x="566928" y="5042916"/>
            <a:ext cx="402336" cy="402336"/>
          </a:xfrm>
          <a:prstGeom prst="ellipse">
            <a:avLst/>
          </a:prstGeom>
          <a:solidFill>
            <a:srgbClr val="63E7A4"/>
          </a:solidFill>
          <a:ln/>
        </p:spPr>
        <p:txBody>
          <a:bodyPr/>
          <a:lstStyle/>
          <a:p>
            <a:endParaRPr lang="en-IN"/>
          </a:p>
        </p:txBody>
      </p:sp>
      <p:sp>
        <p:nvSpPr>
          <p:cNvPr id="18" name="Text 16"/>
          <p:cNvSpPr/>
          <p:nvPr/>
        </p:nvSpPr>
        <p:spPr>
          <a:xfrm>
            <a:off x="566928" y="50429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98805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Measure adoption after release, not just delivery</a:t>
            </a:r>
            <a:endParaRPr lang="en-US" sz="1550" dirty="0"/>
          </a:p>
        </p:txBody>
      </p:sp>
      <p:sp>
        <p:nvSpPr>
          <p:cNvPr id="20" name="Text 18"/>
          <p:cNvSpPr/>
          <p:nvPr/>
        </p:nvSpPr>
        <p:spPr>
          <a:xfrm>
            <a:off x="1170432" y="529894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We are good at knowing what we shipped and poor at knowing what gets used. That gap is where wasted capacity hides.</a:t>
            </a:r>
            <a:endParaRPr lang="en-US" sz="12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68</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9 · ADVANCED</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9 · ADVANCED</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600" b="1" dirty="0">
                <a:solidFill>
                  <a:srgbClr val="003352"/>
                </a:solidFill>
                <a:latin typeface="Century Gothic" pitchFamily="34" charset="0"/>
                <a:ea typeface="Century Gothic" pitchFamily="34" charset="-122"/>
                <a:cs typeface="Century Gothic" pitchFamily="34" charset="-120"/>
              </a:rPr>
              <a:t>Scaling: read this before adopting a framework</a:t>
            </a:r>
            <a:endParaRPr lang="en-US" sz="26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 scaling question is almost never 'which framework'. It's 'why can't our teams finish without waiting for each other'.</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Dependencies are the actual problem</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Scaling frameworks are mostly elaborate machinery for coordinating dependencies. Removing the dependency is always cheaper than coordinating it.</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Prefer team topology changes first</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Re-cut teams around customer-facing value streams instead of technical layers. A team that owns a slice end to end has few dependencies to coordinate.</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Know what the frameworks cost</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SAFe brings real structure and real overhead — extra roles, ceremonies, planning events. It solves genuine problems at genuine scale. LeSS is lighter.</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'Spotify model' is not a model</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It was one company's snapshot in 2012, which Spotify themselves have said was never a framework and no longer describes them. Copy the thinking, not the org chart.</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69</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9 · ADVANCED</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9 · ADVANCED</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DevOps: Agile's missing engineering half</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You cannot deliver every two weeks if releasing takes six. The DORA research gives four measures that predict delivery performance.</a:t>
            </a:r>
            <a:endParaRPr lang="en-US" sz="1450" dirty="0"/>
          </a:p>
        </p:txBody>
      </p:sp>
      <p:sp>
        <p:nvSpPr>
          <p:cNvPr id="5" name="Shape 3"/>
          <p:cNvSpPr/>
          <p:nvPr/>
        </p:nvSpPr>
        <p:spPr>
          <a:xfrm>
            <a:off x="548640" y="2395728"/>
            <a:ext cx="2594610" cy="2926080"/>
          </a:xfrm>
          <a:prstGeom prst="roundRect">
            <a:avLst>
              <a:gd name="adj" fmla="val 2115"/>
            </a:avLst>
          </a:prstGeom>
          <a:solidFill>
            <a:srgbClr val="F4F7F9"/>
          </a:solidFill>
          <a:ln/>
        </p:spPr>
        <p:txBody>
          <a:bodyPr/>
          <a:lstStyle/>
          <a:p>
            <a:endParaRPr lang="en-IN"/>
          </a:p>
        </p:txBody>
      </p:sp>
      <p:sp>
        <p:nvSpPr>
          <p:cNvPr id="6" name="Shape 4"/>
          <p:cNvSpPr/>
          <p:nvPr/>
        </p:nvSpPr>
        <p:spPr>
          <a:xfrm>
            <a:off x="1626489" y="2670048"/>
            <a:ext cx="438912" cy="438912"/>
          </a:xfrm>
          <a:prstGeom prst="ellipse">
            <a:avLst/>
          </a:prstGeom>
          <a:solidFill>
            <a:srgbClr val="63E7A4"/>
          </a:solidFill>
          <a:ln/>
        </p:spPr>
        <p:txBody>
          <a:bodyPr/>
          <a:lstStyle/>
          <a:p>
            <a:endParaRPr lang="en-IN"/>
          </a:p>
        </p:txBody>
      </p:sp>
      <p:sp>
        <p:nvSpPr>
          <p:cNvPr id="7" name="Text 5"/>
          <p:cNvSpPr/>
          <p:nvPr/>
        </p:nvSpPr>
        <p:spPr>
          <a:xfrm>
            <a:off x="1626489"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731520" y="3236976"/>
            <a:ext cx="2228850"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Deployment frequency</a:t>
            </a:r>
            <a:endParaRPr lang="en-US" sz="1400" dirty="0"/>
          </a:p>
        </p:txBody>
      </p:sp>
      <p:sp>
        <p:nvSpPr>
          <p:cNvPr id="9" name="Text 7"/>
          <p:cNvSpPr/>
          <p:nvPr/>
        </p:nvSpPr>
        <p:spPr>
          <a:xfrm>
            <a:off x="731520" y="3822192"/>
            <a:ext cx="2228850"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How often we release to production. Elite performers deploy on demand; low performers, monthly or less.</a:t>
            </a:r>
            <a:endParaRPr lang="en-US" sz="1150" dirty="0"/>
          </a:p>
        </p:txBody>
      </p:sp>
      <p:sp>
        <p:nvSpPr>
          <p:cNvPr id="10" name="Text 8"/>
          <p:cNvSpPr/>
          <p:nvPr/>
        </p:nvSpPr>
        <p:spPr>
          <a:xfrm>
            <a:off x="3124962"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1" name="Shape 9"/>
          <p:cNvSpPr/>
          <p:nvPr/>
        </p:nvSpPr>
        <p:spPr>
          <a:xfrm>
            <a:off x="3380994" y="2395728"/>
            <a:ext cx="2594610" cy="2926080"/>
          </a:xfrm>
          <a:prstGeom prst="roundRect">
            <a:avLst>
              <a:gd name="adj" fmla="val 2115"/>
            </a:avLst>
          </a:prstGeom>
          <a:solidFill>
            <a:srgbClr val="F4F7F9"/>
          </a:solidFill>
          <a:ln/>
        </p:spPr>
        <p:txBody>
          <a:bodyPr/>
          <a:lstStyle/>
          <a:p>
            <a:endParaRPr lang="en-IN"/>
          </a:p>
        </p:txBody>
      </p:sp>
      <p:sp>
        <p:nvSpPr>
          <p:cNvPr id="12" name="Shape 10"/>
          <p:cNvSpPr/>
          <p:nvPr/>
        </p:nvSpPr>
        <p:spPr>
          <a:xfrm>
            <a:off x="4458843" y="2670048"/>
            <a:ext cx="438912" cy="438912"/>
          </a:xfrm>
          <a:prstGeom prst="ellipse">
            <a:avLst/>
          </a:prstGeom>
          <a:solidFill>
            <a:srgbClr val="63E7A4"/>
          </a:solidFill>
          <a:ln/>
        </p:spPr>
        <p:txBody>
          <a:bodyPr/>
          <a:lstStyle/>
          <a:p>
            <a:endParaRPr lang="en-IN"/>
          </a:p>
        </p:txBody>
      </p:sp>
      <p:sp>
        <p:nvSpPr>
          <p:cNvPr id="13" name="Text 11"/>
          <p:cNvSpPr/>
          <p:nvPr/>
        </p:nvSpPr>
        <p:spPr>
          <a:xfrm>
            <a:off x="4458843"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4" name="Text 12"/>
          <p:cNvSpPr/>
          <p:nvPr/>
        </p:nvSpPr>
        <p:spPr>
          <a:xfrm>
            <a:off x="3563874" y="3236976"/>
            <a:ext cx="2228850"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Lead time for changes</a:t>
            </a:r>
            <a:endParaRPr lang="en-US" sz="1400" dirty="0"/>
          </a:p>
        </p:txBody>
      </p:sp>
      <p:sp>
        <p:nvSpPr>
          <p:cNvPr id="15" name="Text 13"/>
          <p:cNvSpPr/>
          <p:nvPr/>
        </p:nvSpPr>
        <p:spPr>
          <a:xfrm>
            <a:off x="3563874" y="3822192"/>
            <a:ext cx="2228850"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Commit to running in production. The engineering equivalent of cycle time.</a:t>
            </a:r>
            <a:endParaRPr lang="en-US" sz="1150" dirty="0"/>
          </a:p>
        </p:txBody>
      </p:sp>
      <p:sp>
        <p:nvSpPr>
          <p:cNvPr id="16" name="Text 14"/>
          <p:cNvSpPr/>
          <p:nvPr/>
        </p:nvSpPr>
        <p:spPr>
          <a:xfrm>
            <a:off x="5957316"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7" name="Shape 15"/>
          <p:cNvSpPr/>
          <p:nvPr/>
        </p:nvSpPr>
        <p:spPr>
          <a:xfrm>
            <a:off x="6213348" y="2395728"/>
            <a:ext cx="2594610" cy="2926080"/>
          </a:xfrm>
          <a:prstGeom prst="roundRect">
            <a:avLst>
              <a:gd name="adj" fmla="val 2115"/>
            </a:avLst>
          </a:prstGeom>
          <a:solidFill>
            <a:srgbClr val="F4F7F9"/>
          </a:solidFill>
          <a:ln/>
        </p:spPr>
        <p:txBody>
          <a:bodyPr/>
          <a:lstStyle/>
          <a:p>
            <a:endParaRPr lang="en-IN"/>
          </a:p>
        </p:txBody>
      </p:sp>
      <p:sp>
        <p:nvSpPr>
          <p:cNvPr id="18" name="Shape 16"/>
          <p:cNvSpPr/>
          <p:nvPr/>
        </p:nvSpPr>
        <p:spPr>
          <a:xfrm>
            <a:off x="7291197" y="2670048"/>
            <a:ext cx="438912" cy="438912"/>
          </a:xfrm>
          <a:prstGeom prst="ellipse">
            <a:avLst/>
          </a:prstGeom>
          <a:solidFill>
            <a:srgbClr val="63E7A4"/>
          </a:solidFill>
          <a:ln/>
        </p:spPr>
        <p:txBody>
          <a:bodyPr/>
          <a:lstStyle/>
          <a:p>
            <a:endParaRPr lang="en-IN"/>
          </a:p>
        </p:txBody>
      </p:sp>
      <p:sp>
        <p:nvSpPr>
          <p:cNvPr id="19" name="Text 17"/>
          <p:cNvSpPr/>
          <p:nvPr/>
        </p:nvSpPr>
        <p:spPr>
          <a:xfrm>
            <a:off x="7291197"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20" name="Text 18"/>
          <p:cNvSpPr/>
          <p:nvPr/>
        </p:nvSpPr>
        <p:spPr>
          <a:xfrm>
            <a:off x="6396228" y="3236976"/>
            <a:ext cx="2228850"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Change failure rate</a:t>
            </a:r>
            <a:endParaRPr lang="en-US" sz="1400" dirty="0"/>
          </a:p>
        </p:txBody>
      </p:sp>
      <p:sp>
        <p:nvSpPr>
          <p:cNvPr id="21" name="Text 19"/>
          <p:cNvSpPr/>
          <p:nvPr/>
        </p:nvSpPr>
        <p:spPr>
          <a:xfrm>
            <a:off x="6396228" y="3822192"/>
            <a:ext cx="2228850"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What proportion of deployments cause a problem needing remediation.</a:t>
            </a:r>
            <a:endParaRPr lang="en-US" sz="1150" dirty="0"/>
          </a:p>
        </p:txBody>
      </p:sp>
      <p:sp>
        <p:nvSpPr>
          <p:cNvPr id="22" name="Text 20"/>
          <p:cNvSpPr/>
          <p:nvPr/>
        </p:nvSpPr>
        <p:spPr>
          <a:xfrm>
            <a:off x="8789670"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3" name="Shape 21"/>
          <p:cNvSpPr/>
          <p:nvPr/>
        </p:nvSpPr>
        <p:spPr>
          <a:xfrm>
            <a:off x="9045702" y="2395728"/>
            <a:ext cx="2594610" cy="2926080"/>
          </a:xfrm>
          <a:prstGeom prst="roundRect">
            <a:avLst>
              <a:gd name="adj" fmla="val 2115"/>
            </a:avLst>
          </a:prstGeom>
          <a:solidFill>
            <a:srgbClr val="F4F7F9"/>
          </a:solidFill>
          <a:ln/>
        </p:spPr>
        <p:txBody>
          <a:bodyPr/>
          <a:lstStyle/>
          <a:p>
            <a:endParaRPr lang="en-IN"/>
          </a:p>
        </p:txBody>
      </p:sp>
      <p:sp>
        <p:nvSpPr>
          <p:cNvPr id="24" name="Shape 22"/>
          <p:cNvSpPr/>
          <p:nvPr/>
        </p:nvSpPr>
        <p:spPr>
          <a:xfrm>
            <a:off x="10123551" y="2670048"/>
            <a:ext cx="438912" cy="438912"/>
          </a:xfrm>
          <a:prstGeom prst="ellipse">
            <a:avLst/>
          </a:prstGeom>
          <a:solidFill>
            <a:srgbClr val="63E7A4"/>
          </a:solidFill>
          <a:ln/>
        </p:spPr>
        <p:txBody>
          <a:bodyPr/>
          <a:lstStyle/>
          <a:p>
            <a:endParaRPr lang="en-IN"/>
          </a:p>
        </p:txBody>
      </p:sp>
      <p:sp>
        <p:nvSpPr>
          <p:cNvPr id="25" name="Text 23"/>
          <p:cNvSpPr/>
          <p:nvPr/>
        </p:nvSpPr>
        <p:spPr>
          <a:xfrm>
            <a:off x="10123551"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6" name="Text 24"/>
          <p:cNvSpPr/>
          <p:nvPr/>
        </p:nvSpPr>
        <p:spPr>
          <a:xfrm>
            <a:off x="9228582" y="3236976"/>
            <a:ext cx="2228850"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Time to restore service</a:t>
            </a:r>
            <a:endParaRPr lang="en-US" sz="1400" dirty="0"/>
          </a:p>
        </p:txBody>
      </p:sp>
      <p:sp>
        <p:nvSpPr>
          <p:cNvPr id="27" name="Text 25"/>
          <p:cNvSpPr/>
          <p:nvPr/>
        </p:nvSpPr>
        <p:spPr>
          <a:xfrm>
            <a:off x="9228582" y="3822192"/>
            <a:ext cx="2228850"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How fast we recover when something breaks. Often more valuable than preventing every failure.</a:t>
            </a:r>
            <a:endParaRPr lang="en-US" sz="1150" dirty="0"/>
          </a:p>
        </p:txBody>
      </p:sp>
      <p:sp>
        <p:nvSpPr>
          <p:cNvPr id="28" name="Text 26"/>
          <p:cNvSpPr/>
          <p:nvPr/>
        </p:nvSpPr>
        <p:spPr>
          <a:xfrm>
            <a:off x="548640" y="5486400"/>
            <a:ext cx="11091672" cy="457200"/>
          </a:xfrm>
          <a:prstGeom prst="rect">
            <a:avLst/>
          </a:prstGeom>
          <a:noFill/>
          <a:ln/>
        </p:spPr>
        <p:txBody>
          <a:bodyPr wrap="square" lIns="0" tIns="0" rIns="0" bIns="0" rtlCol="0" anchor="ctr"/>
          <a:lstStyle/>
          <a:p>
            <a:pPr marL="0" indent="0">
              <a:lnSpc>
                <a:spcPct val="120000"/>
              </a:lnSpc>
              <a:buNone/>
            </a:pPr>
            <a:r>
              <a:rPr lang="en-US" sz="1200" i="1" dirty="0">
                <a:solidFill>
                  <a:srgbClr val="3D5060"/>
                </a:solidFill>
                <a:latin typeface="Century Gothic" pitchFamily="34" charset="0"/>
                <a:ea typeface="Century Gothic" pitchFamily="34" charset="-122"/>
                <a:cs typeface="Century Gothic" pitchFamily="34" charset="-120"/>
              </a:rPr>
              <a:t>The counter-intuitive DORA finding: speed and stability rise together. Teams that deploy more often break things less.</a:t>
            </a:r>
            <a:endParaRPr lang="en-US" sz="1200" dirty="0"/>
          </a:p>
        </p:txBody>
      </p:sp>
      <p:sp>
        <p:nvSpPr>
          <p:cNvPr id="29" name="Text 27"/>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70</a:t>
            </a:r>
            <a:endParaRPr lang="en-US" sz="900" dirty="0"/>
          </a:p>
        </p:txBody>
      </p:sp>
      <p:sp>
        <p:nvSpPr>
          <p:cNvPr id="30" name="Text 28"/>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9 · ADVANCED</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9 · ADVANCED</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2700" b="1" dirty="0">
                <a:solidFill>
                  <a:srgbClr val="003352"/>
                </a:solidFill>
                <a:latin typeface="Century Gothic" pitchFamily="34" charset="0"/>
                <a:ea typeface="Century Gothic" pitchFamily="34" charset="-122"/>
                <a:cs typeface="Century Gothic" pitchFamily="34" charset="-120"/>
              </a:rPr>
              <a:t>Agile with enterprise customers and contracts</a:t>
            </a:r>
            <a:endParaRPr lang="en-US" sz="27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The most common objection to Agile in our business: 'our customers demand fixed scope, fixed price, fixed date'. Here is how that's actually handled.</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Fixed capacity, variable scope</a:t>
            </a:r>
            <a:endParaRPr lang="en-US" sz="1550" dirty="0"/>
          </a:p>
        </p:txBody>
      </p:sp>
      <p:sp>
        <p:nvSpPr>
          <p:cNvPr id="8" name="Text 6"/>
          <p:cNvSpPr/>
          <p:nvPr/>
        </p:nvSpPr>
        <p:spPr>
          <a:xfrm>
            <a:off x="1170432" y="262432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Sell a team for a period, with the customer controlling priority sprint by sprint. They get responsiveness; we get a viable commercial model.</a:t>
            </a:r>
            <a:endParaRPr lang="en-US" sz="1250" dirty="0"/>
          </a:p>
        </p:txBody>
      </p:sp>
      <p:sp>
        <p:nvSpPr>
          <p:cNvPr id="9" name="Shape 7"/>
          <p:cNvSpPr/>
          <p:nvPr/>
        </p:nvSpPr>
        <p:spPr>
          <a:xfrm>
            <a:off x="566928" y="3259836"/>
            <a:ext cx="402336" cy="402336"/>
          </a:xfrm>
          <a:prstGeom prst="ellipse">
            <a:avLst/>
          </a:prstGeom>
          <a:solidFill>
            <a:srgbClr val="63E7A4"/>
          </a:solidFill>
          <a:ln/>
        </p:spPr>
        <p:txBody>
          <a:bodyPr/>
          <a:lstStyle/>
          <a:p>
            <a:endParaRPr lang="en-IN"/>
          </a:p>
        </p:txBody>
      </p:sp>
      <p:sp>
        <p:nvSpPr>
          <p:cNvPr id="10" name="Text 8"/>
          <p:cNvSpPr/>
          <p:nvPr/>
        </p:nvSpPr>
        <p:spPr>
          <a:xfrm>
            <a:off x="566928" y="325983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20497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Fixed price with a change budget</a:t>
            </a:r>
            <a:endParaRPr lang="en-US" sz="1550" dirty="0"/>
          </a:p>
        </p:txBody>
      </p:sp>
      <p:sp>
        <p:nvSpPr>
          <p:cNvPr id="12" name="Text 10"/>
          <p:cNvSpPr/>
          <p:nvPr/>
        </p:nvSpPr>
        <p:spPr>
          <a:xfrm>
            <a:off x="1170432" y="351586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Agree the price and an explicit allowance for change. Removes the adversarial change-request negotiation that damages relationships.</a:t>
            </a:r>
            <a:endParaRPr lang="en-US" sz="1250" dirty="0"/>
          </a:p>
        </p:txBody>
      </p:sp>
      <p:sp>
        <p:nvSpPr>
          <p:cNvPr id="13" name="Shape 11"/>
          <p:cNvSpPr/>
          <p:nvPr/>
        </p:nvSpPr>
        <p:spPr>
          <a:xfrm>
            <a:off x="566928" y="4151376"/>
            <a:ext cx="402336" cy="402336"/>
          </a:xfrm>
          <a:prstGeom prst="ellipse">
            <a:avLst/>
          </a:prstGeom>
          <a:solidFill>
            <a:srgbClr val="63E7A4"/>
          </a:solidFill>
          <a:ln/>
        </p:spPr>
        <p:txBody>
          <a:bodyPr/>
          <a:lstStyle/>
          <a:p>
            <a:endParaRPr lang="en-IN"/>
          </a:p>
        </p:txBody>
      </p:sp>
      <p:sp>
        <p:nvSpPr>
          <p:cNvPr id="14" name="Text 12"/>
          <p:cNvSpPr/>
          <p:nvPr/>
        </p:nvSpPr>
        <p:spPr>
          <a:xfrm>
            <a:off x="566928" y="415137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409651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Fixed date, negotiable scope, protected quality</a:t>
            </a:r>
            <a:endParaRPr lang="en-US" sz="1550" dirty="0"/>
          </a:p>
        </p:txBody>
      </p:sp>
      <p:sp>
        <p:nvSpPr>
          <p:cNvPr id="16" name="Text 14"/>
          <p:cNvSpPr/>
          <p:nvPr/>
        </p:nvSpPr>
        <p:spPr>
          <a:xfrm>
            <a:off x="1170432" y="440740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Commit to the date and the Definition of Done. Order the backlog so that whatever is Done by the date is coherent and shippable.</a:t>
            </a:r>
            <a:endParaRPr lang="en-US" sz="1250" dirty="0"/>
          </a:p>
        </p:txBody>
      </p:sp>
      <p:sp>
        <p:nvSpPr>
          <p:cNvPr id="17" name="Shape 15"/>
          <p:cNvSpPr/>
          <p:nvPr/>
        </p:nvSpPr>
        <p:spPr>
          <a:xfrm>
            <a:off x="566928" y="5042916"/>
            <a:ext cx="402336" cy="402336"/>
          </a:xfrm>
          <a:prstGeom prst="ellipse">
            <a:avLst/>
          </a:prstGeom>
          <a:solidFill>
            <a:srgbClr val="63E7A4"/>
          </a:solidFill>
          <a:ln/>
        </p:spPr>
        <p:txBody>
          <a:bodyPr/>
          <a:lstStyle/>
          <a:p>
            <a:endParaRPr lang="en-IN"/>
          </a:p>
        </p:txBody>
      </p:sp>
      <p:sp>
        <p:nvSpPr>
          <p:cNvPr id="18" name="Text 16"/>
          <p:cNvSpPr/>
          <p:nvPr/>
        </p:nvSpPr>
        <p:spPr>
          <a:xfrm>
            <a:off x="566928" y="50429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98805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Be explicit about exclusions</a:t>
            </a:r>
            <a:endParaRPr lang="en-US" sz="1550" dirty="0"/>
          </a:p>
        </p:txBody>
      </p:sp>
      <p:sp>
        <p:nvSpPr>
          <p:cNvPr id="20" name="Text 18"/>
          <p:cNvSpPr/>
          <p:nvPr/>
        </p:nvSpPr>
        <p:spPr>
          <a:xfrm>
            <a:off x="1170432" y="5298948"/>
            <a:ext cx="10241280" cy="425196"/>
          </a:xfrm>
          <a:prstGeom prst="rect">
            <a:avLst/>
          </a:prstGeom>
          <a:noFill/>
          <a:ln/>
        </p:spPr>
        <p:txBody>
          <a:bodyPr wrap="square" lIns="0" tIns="0" rIns="0" bIns="0" rtlCol="0" anchor="t"/>
          <a:lstStyle/>
          <a:p>
            <a:pPr marL="0" indent="0">
              <a:lnSpc>
                <a:spcPct val="118000"/>
              </a:lnSpc>
              <a:buNone/>
            </a:pPr>
            <a:r>
              <a:rPr lang="en-US" sz="1250" dirty="0">
                <a:solidFill>
                  <a:srgbClr val="3D5060"/>
                </a:solidFill>
                <a:latin typeface="Century Gothic" pitchFamily="34" charset="0"/>
                <a:ea typeface="Century Gothic" pitchFamily="34" charset="-122"/>
                <a:cs typeface="Century Gothic" pitchFamily="34" charset="-120"/>
              </a:rPr>
              <a:t>Our TFS scope disputes came from 'in scope' meaning different things. Write down what is out of scope, and get it signed. That is Agile, not bureaucracy.</a:t>
            </a:r>
            <a:endParaRPr lang="en-US" sz="1250" dirty="0"/>
          </a:p>
        </p:txBody>
      </p:sp>
      <p:sp>
        <p:nvSpPr>
          <p:cNvPr id="21" name="Text 19"/>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71</a:t>
            </a:r>
            <a:endParaRPr lang="en-US" sz="900" dirty="0"/>
          </a:p>
        </p:txBody>
      </p:sp>
      <p:sp>
        <p:nvSpPr>
          <p:cNvPr id="22" name="Text 20"/>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9 · ADVANCED</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CASE STUDY 3</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5 min</a:t>
            </a:r>
            <a:endParaRPr lang="en-US" sz="1250" dirty="0"/>
          </a:p>
        </p:txBody>
      </p:sp>
      <p:sp>
        <p:nvSpPr>
          <p:cNvPr id="5" name="Text 3"/>
          <p:cNvSpPr/>
          <p:nvPr/>
        </p:nvSpPr>
        <p:spPr>
          <a:xfrm>
            <a:off x="548640" y="713232"/>
            <a:ext cx="9235440" cy="658368"/>
          </a:xfrm>
          <a:prstGeom prst="rect">
            <a:avLst/>
          </a:prstGeom>
          <a:noFill/>
          <a:ln/>
        </p:spPr>
        <p:txBody>
          <a:bodyPr wrap="square" lIns="0" tIns="0" rIns="0" bIns="0" rtlCol="0" anchor="t"/>
          <a:lstStyle/>
          <a:p>
            <a:pPr marL="0" indent="0">
              <a:buNone/>
            </a:pPr>
            <a:r>
              <a:rPr lang="en-US" sz="2800" b="1" dirty="0">
                <a:solidFill>
                  <a:srgbClr val="003352"/>
                </a:solidFill>
                <a:latin typeface="Century Gothic" pitchFamily="34" charset="0"/>
                <a:ea typeface="Century Gothic" pitchFamily="34" charset="-122"/>
                <a:cs typeface="Century Gothic" pitchFamily="34" charset="-120"/>
              </a:rPr>
              <a:t>Twelve teams, three countries, one product</a:t>
            </a:r>
            <a:endParaRPr lang="en-US" sz="2800" dirty="0"/>
          </a:p>
        </p:txBody>
      </p:sp>
      <p:sp>
        <p:nvSpPr>
          <p:cNvPr id="6" name="Shape 4"/>
          <p:cNvSpPr/>
          <p:nvPr/>
        </p:nvSpPr>
        <p:spPr>
          <a:xfrm>
            <a:off x="548640" y="1481328"/>
            <a:ext cx="6720840" cy="4315968"/>
          </a:xfrm>
          <a:prstGeom prst="roundRect">
            <a:avLst>
              <a:gd name="adj" fmla="val 1271"/>
            </a:avLst>
          </a:prstGeom>
          <a:solidFill>
            <a:srgbClr val="FFFFFF"/>
          </a:solidFill>
          <a:ln/>
        </p:spPr>
        <p:txBody>
          <a:bodyPr/>
          <a:lstStyle/>
          <a:p>
            <a:endParaRPr lang="en-IN"/>
          </a:p>
        </p:txBody>
      </p:sp>
      <p:sp>
        <p:nvSpPr>
          <p:cNvPr id="7" name="Text 5"/>
          <p:cNvSpPr/>
          <p:nvPr/>
        </p:nvSpPr>
        <p:spPr>
          <a:xfrm>
            <a:off x="868680" y="1664208"/>
            <a:ext cx="6080760" cy="274320"/>
          </a:xfrm>
          <a:prstGeom prst="rect">
            <a:avLst/>
          </a:prstGeom>
          <a:noFill/>
          <a:ln/>
        </p:spPr>
        <p:txBody>
          <a:bodyPr wrap="square" lIns="0" tIns="0" rIns="0" bIns="0" rtlCol="0" anchor="ctr"/>
          <a:lstStyle/>
          <a:p>
            <a:pPr marL="0" indent="0">
              <a:buNone/>
            </a:pPr>
            <a:r>
              <a:rPr lang="en-US" sz="1100" b="1" kern="0" spc="150" dirty="0">
                <a:solidFill>
                  <a:srgbClr val="7A8C99"/>
                </a:solidFill>
                <a:latin typeface="Century Gothic" pitchFamily="34" charset="0"/>
                <a:ea typeface="Century Gothic" pitchFamily="34" charset="-122"/>
                <a:cs typeface="Century Gothic" pitchFamily="34" charset="-120"/>
              </a:rPr>
              <a:t>The scenario</a:t>
            </a:r>
            <a:endParaRPr lang="en-US" sz="1100" dirty="0"/>
          </a:p>
        </p:txBody>
      </p:sp>
      <p:sp>
        <p:nvSpPr>
          <p:cNvPr id="8" name="Text 6"/>
          <p:cNvSpPr/>
          <p:nvPr/>
        </p:nvSpPr>
        <p:spPr>
          <a:xfrm>
            <a:off x="868680" y="1993392"/>
            <a:ext cx="6080760" cy="3602736"/>
          </a:xfrm>
          <a:prstGeom prst="rect">
            <a:avLst/>
          </a:prstGeom>
          <a:noFill/>
          <a:ln/>
        </p:spPr>
        <p:txBody>
          <a:bodyPr wrap="square" lIns="0" tIns="0" rIns="0" bIns="0" rtlCol="0" anchor="t"/>
          <a:lstStyle/>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A hospitality software group has twelve teams across three countries building one connected platform — PMS, POS, guest engagement, integrations.</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Symptoms after a year of 'doing Agile':</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Every team runs Scrum. Every team's sprint ends on a different day</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A quarterly planning event takes three days and its plan is obsolete within four weeks</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Roughly 40% of stories are blocked at some point waiting on another team</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Integration testing happens in a shared environment that is broken more often than not</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Two teams own the same service and disagree about its design</a:t>
            </a: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 Leadership response: adopt a scaling framework</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You are asked to advise. Leadership expects you to name a framework.</a:t>
            </a:r>
            <a:endParaRPr lang="en-US" sz="1150" dirty="0"/>
          </a:p>
        </p:txBody>
      </p:sp>
      <p:sp>
        <p:nvSpPr>
          <p:cNvPr id="9" name="Shape 7"/>
          <p:cNvSpPr/>
          <p:nvPr/>
        </p:nvSpPr>
        <p:spPr>
          <a:xfrm>
            <a:off x="7498080" y="1481328"/>
            <a:ext cx="4142232" cy="4315968"/>
          </a:xfrm>
          <a:prstGeom prst="roundRect">
            <a:avLst>
              <a:gd name="adj" fmla="val 1325"/>
            </a:avLst>
          </a:prstGeom>
          <a:solidFill>
            <a:srgbClr val="003352"/>
          </a:solidFill>
          <a:ln/>
        </p:spPr>
        <p:txBody>
          <a:bodyPr/>
          <a:lstStyle/>
          <a:p>
            <a:endParaRPr lang="en-IN"/>
          </a:p>
        </p:txBody>
      </p:sp>
      <p:sp>
        <p:nvSpPr>
          <p:cNvPr id="10" name="Text 8"/>
          <p:cNvSpPr/>
          <p:nvPr/>
        </p:nvSpPr>
        <p:spPr>
          <a:xfrm>
            <a:off x="7818120" y="1664208"/>
            <a:ext cx="3502152" cy="274320"/>
          </a:xfrm>
          <a:prstGeom prst="rect">
            <a:avLst/>
          </a:prstGeom>
          <a:noFill/>
          <a:ln/>
        </p:spPr>
        <p:txBody>
          <a:bodyPr wrap="square" lIns="0" tIns="0" rIns="0" bIns="0" rtlCol="0" anchor="ctr"/>
          <a:lstStyle/>
          <a:p>
            <a:pPr marL="0" indent="0">
              <a:buNone/>
            </a:pPr>
            <a:r>
              <a:rPr lang="en-US" sz="1100" b="1" kern="0" spc="150" dirty="0">
                <a:solidFill>
                  <a:srgbClr val="63E7A4"/>
                </a:solidFill>
                <a:latin typeface="Century Gothic" pitchFamily="34" charset="0"/>
                <a:ea typeface="Century Gothic" pitchFamily="34" charset="-122"/>
                <a:cs typeface="Century Gothic" pitchFamily="34" charset="-120"/>
              </a:rPr>
              <a:t>Advise them</a:t>
            </a:r>
            <a:endParaRPr lang="en-US" sz="1100" dirty="0"/>
          </a:p>
        </p:txBody>
      </p:sp>
      <p:sp>
        <p:nvSpPr>
          <p:cNvPr id="11" name="Text 9"/>
          <p:cNvSpPr/>
          <p:nvPr/>
        </p:nvSpPr>
        <p:spPr>
          <a:xfrm>
            <a:off x="7818120" y="1993392"/>
            <a:ext cx="3502152" cy="3602736"/>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Is a scaling framework the right answer here? Say why or why not</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Which symptom would you attack first?</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What would you change about team boundaries?</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What would you tell leadership they must change themselves?</a:t>
            </a:r>
            <a:endParaRPr lang="en-US" sz="1150" dirty="0"/>
          </a:p>
        </p:txBody>
      </p:sp>
      <p:sp>
        <p:nvSpPr>
          <p:cNvPr id="12" name="Text 10"/>
          <p:cNvSpPr/>
          <p:nvPr/>
        </p:nvSpPr>
        <p:spPr>
          <a:xfrm>
            <a:off x="548640" y="5907024"/>
            <a:ext cx="11091672" cy="347472"/>
          </a:xfrm>
          <a:prstGeom prst="rect">
            <a:avLst/>
          </a:prstGeom>
          <a:noFill/>
          <a:ln/>
        </p:spPr>
        <p:txBody>
          <a:bodyPr wrap="square" lIns="0" tIns="0" rIns="0" bIns="0" rtlCol="0" anchor="t"/>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Tables of 4–5 · 3 min · 2 min debrief · You may disagree with the premise — that is the point</a:t>
            </a:r>
            <a:endParaRPr lang="en-US" sz="1150" dirty="0"/>
          </a:p>
        </p:txBody>
      </p:sp>
      <p:sp>
        <p:nvSpPr>
          <p:cNvPr id="13" name="Text 11"/>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72</a:t>
            </a:r>
            <a:endParaRPr lang="en-US" sz="900" dirty="0"/>
          </a:p>
        </p:txBody>
      </p:sp>
      <p:sp>
        <p:nvSpPr>
          <p:cNvPr id="14" name="Text 12"/>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CASE STUDY 3</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CASE STUDY 3 · DEBRIEF</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What to advise</a:t>
            </a:r>
            <a:endParaRPr lang="en-US" sz="3000" dirty="0"/>
          </a:p>
        </p:txBody>
      </p:sp>
      <p:sp>
        <p:nvSpPr>
          <p:cNvPr id="4" name="Shape 2"/>
          <p:cNvSpPr/>
          <p:nvPr/>
        </p:nvSpPr>
        <p:spPr>
          <a:xfrm>
            <a:off x="566928" y="1911096"/>
            <a:ext cx="402336" cy="402336"/>
          </a:xfrm>
          <a:prstGeom prst="ellipse">
            <a:avLst/>
          </a:prstGeom>
          <a:solidFill>
            <a:srgbClr val="63E7A4"/>
          </a:solidFill>
          <a:ln/>
        </p:spPr>
        <p:txBody>
          <a:bodyPr/>
          <a:lstStyle/>
          <a:p>
            <a:endParaRPr lang="en-IN"/>
          </a:p>
        </p:txBody>
      </p:sp>
      <p:sp>
        <p:nvSpPr>
          <p:cNvPr id="5" name="Text 3"/>
          <p:cNvSpPr/>
          <p:nvPr/>
        </p:nvSpPr>
        <p:spPr>
          <a:xfrm>
            <a:off x="566928" y="19110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6" name="Text 4"/>
          <p:cNvSpPr/>
          <p:nvPr/>
        </p:nvSpPr>
        <p:spPr>
          <a:xfrm>
            <a:off x="1170432" y="1856232"/>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No — not yet. A framework would coordinate these problems rather than remove them</a:t>
            </a:r>
            <a:endParaRPr lang="en-US" sz="1450" dirty="0"/>
          </a:p>
        </p:txBody>
      </p:sp>
      <p:sp>
        <p:nvSpPr>
          <p:cNvPr id="7" name="Text 5"/>
          <p:cNvSpPr/>
          <p:nvPr/>
        </p:nvSpPr>
        <p:spPr>
          <a:xfrm>
            <a:off x="1170432" y="2148840"/>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Ceremonies on top of broken foundations. Earn the right to scale by fixing the basics.</a:t>
            </a:r>
            <a:endParaRPr lang="en-US" sz="1100" dirty="0"/>
          </a:p>
        </p:txBody>
      </p:sp>
      <p:sp>
        <p:nvSpPr>
          <p:cNvPr id="8" name="Shape 6"/>
          <p:cNvSpPr/>
          <p:nvPr/>
        </p:nvSpPr>
        <p:spPr>
          <a:xfrm>
            <a:off x="566928" y="2618842"/>
            <a:ext cx="402336" cy="402336"/>
          </a:xfrm>
          <a:prstGeom prst="ellipse">
            <a:avLst/>
          </a:prstGeom>
          <a:solidFill>
            <a:srgbClr val="63E7A4"/>
          </a:solidFill>
          <a:ln/>
        </p:spPr>
        <p:txBody>
          <a:bodyPr/>
          <a:lstStyle/>
          <a:p>
            <a:endParaRPr lang="en-IN"/>
          </a:p>
        </p:txBody>
      </p:sp>
      <p:sp>
        <p:nvSpPr>
          <p:cNvPr id="9" name="Text 7"/>
          <p:cNvSpPr/>
          <p:nvPr/>
        </p:nvSpPr>
        <p:spPr>
          <a:xfrm>
            <a:off x="566928" y="261884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0" name="Text 8"/>
          <p:cNvSpPr/>
          <p:nvPr/>
        </p:nvSpPr>
        <p:spPr>
          <a:xfrm>
            <a:off x="1170432" y="2563978"/>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Attack the shared integration environment first</a:t>
            </a:r>
            <a:endParaRPr lang="en-US" sz="1450" dirty="0"/>
          </a:p>
        </p:txBody>
      </p:sp>
      <p:sp>
        <p:nvSpPr>
          <p:cNvPr id="11" name="Text 9"/>
          <p:cNvSpPr/>
          <p:nvPr/>
        </p:nvSpPr>
        <p:spPr>
          <a:xfrm>
            <a:off x="1170432" y="2856586"/>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It blocks everyone, it's an engineering fix rather than a political one, and it shows results fast.</a:t>
            </a:r>
            <a:endParaRPr lang="en-US" sz="1100" dirty="0"/>
          </a:p>
        </p:txBody>
      </p:sp>
      <p:sp>
        <p:nvSpPr>
          <p:cNvPr id="12" name="Shape 10"/>
          <p:cNvSpPr/>
          <p:nvPr/>
        </p:nvSpPr>
        <p:spPr>
          <a:xfrm>
            <a:off x="566928" y="3326587"/>
            <a:ext cx="402336" cy="402336"/>
          </a:xfrm>
          <a:prstGeom prst="ellipse">
            <a:avLst/>
          </a:prstGeom>
          <a:solidFill>
            <a:srgbClr val="63E7A4"/>
          </a:solidFill>
          <a:ln/>
        </p:spPr>
        <p:txBody>
          <a:bodyPr/>
          <a:lstStyle/>
          <a:p>
            <a:endParaRPr lang="en-IN"/>
          </a:p>
        </p:txBody>
      </p:sp>
      <p:sp>
        <p:nvSpPr>
          <p:cNvPr id="13" name="Text 11"/>
          <p:cNvSpPr/>
          <p:nvPr/>
        </p:nvSpPr>
        <p:spPr>
          <a:xfrm>
            <a:off x="566928" y="3326587"/>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4" name="Text 12"/>
          <p:cNvSpPr/>
          <p:nvPr/>
        </p:nvSpPr>
        <p:spPr>
          <a:xfrm>
            <a:off x="1170432" y="3271723"/>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Two teams owning one service is the second fix</a:t>
            </a:r>
            <a:endParaRPr lang="en-US" sz="1450" dirty="0"/>
          </a:p>
        </p:txBody>
      </p:sp>
      <p:sp>
        <p:nvSpPr>
          <p:cNvPr id="15" name="Text 13"/>
          <p:cNvSpPr/>
          <p:nvPr/>
        </p:nvSpPr>
        <p:spPr>
          <a:xfrm>
            <a:off x="1170432" y="3564331"/>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Single ownership, published interface, other team consumes it. Ambiguity guarantees design conflict.</a:t>
            </a:r>
            <a:endParaRPr lang="en-US" sz="1100" dirty="0"/>
          </a:p>
        </p:txBody>
      </p:sp>
      <p:sp>
        <p:nvSpPr>
          <p:cNvPr id="16" name="Shape 14"/>
          <p:cNvSpPr/>
          <p:nvPr/>
        </p:nvSpPr>
        <p:spPr>
          <a:xfrm>
            <a:off x="566928" y="4034333"/>
            <a:ext cx="402336" cy="402336"/>
          </a:xfrm>
          <a:prstGeom prst="ellipse">
            <a:avLst/>
          </a:prstGeom>
          <a:solidFill>
            <a:srgbClr val="63E7A4"/>
          </a:solidFill>
          <a:ln/>
        </p:spPr>
        <p:txBody>
          <a:bodyPr/>
          <a:lstStyle/>
          <a:p>
            <a:endParaRPr lang="en-IN"/>
          </a:p>
        </p:txBody>
      </p:sp>
      <p:sp>
        <p:nvSpPr>
          <p:cNvPr id="17" name="Text 15"/>
          <p:cNvSpPr/>
          <p:nvPr/>
        </p:nvSpPr>
        <p:spPr>
          <a:xfrm>
            <a:off x="566928" y="4034333"/>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8" name="Text 16"/>
          <p:cNvSpPr/>
          <p:nvPr/>
        </p:nvSpPr>
        <p:spPr>
          <a:xfrm>
            <a:off x="1170432" y="3979469"/>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Re-cut boundaries around value streams, not technical layers</a:t>
            </a:r>
            <a:endParaRPr lang="en-US" sz="1450" dirty="0"/>
          </a:p>
        </p:txBody>
      </p:sp>
      <p:sp>
        <p:nvSpPr>
          <p:cNvPr id="19" name="Text 17"/>
          <p:cNvSpPr/>
          <p:nvPr/>
        </p:nvSpPr>
        <p:spPr>
          <a:xfrm>
            <a:off x="1170432" y="4272077"/>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40% blocked means the boundaries are wrong. Customer-facing slices need fewer handoffs.</a:t>
            </a:r>
            <a:endParaRPr lang="en-US" sz="1100" dirty="0"/>
          </a:p>
        </p:txBody>
      </p:sp>
      <p:sp>
        <p:nvSpPr>
          <p:cNvPr id="20" name="Shape 18"/>
          <p:cNvSpPr/>
          <p:nvPr/>
        </p:nvSpPr>
        <p:spPr>
          <a:xfrm>
            <a:off x="566928" y="4742078"/>
            <a:ext cx="402336" cy="402336"/>
          </a:xfrm>
          <a:prstGeom prst="ellipse">
            <a:avLst/>
          </a:prstGeom>
          <a:solidFill>
            <a:srgbClr val="63E7A4"/>
          </a:solidFill>
          <a:ln/>
        </p:spPr>
        <p:txBody>
          <a:bodyPr/>
          <a:lstStyle/>
          <a:p>
            <a:endParaRPr lang="en-IN"/>
          </a:p>
        </p:txBody>
      </p:sp>
      <p:sp>
        <p:nvSpPr>
          <p:cNvPr id="21" name="Text 19"/>
          <p:cNvSpPr/>
          <p:nvPr/>
        </p:nvSpPr>
        <p:spPr>
          <a:xfrm>
            <a:off x="566928" y="474207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22" name="Text 20"/>
          <p:cNvSpPr/>
          <p:nvPr/>
        </p:nvSpPr>
        <p:spPr>
          <a:xfrm>
            <a:off x="1170432" y="4687214"/>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Misaligned sprint dates is the red herring</a:t>
            </a:r>
            <a:endParaRPr lang="en-US" sz="1450" dirty="0"/>
          </a:p>
        </p:txBody>
      </p:sp>
      <p:sp>
        <p:nvSpPr>
          <p:cNvPr id="23" name="Text 21"/>
          <p:cNvSpPr/>
          <p:nvPr/>
        </p:nvSpPr>
        <p:spPr>
          <a:xfrm>
            <a:off x="1170432" y="4979822"/>
            <a:ext cx="10241280" cy="277978"/>
          </a:xfrm>
          <a:prstGeom prst="rect">
            <a:avLst/>
          </a:prstGeom>
          <a:noFill/>
          <a:ln/>
        </p:spPr>
        <p:txBody>
          <a:bodyPr wrap="square" lIns="0" tIns="0" rIns="0" bIns="0" rtlCol="0" anchor="t"/>
          <a:lstStyle/>
          <a:p>
            <a:pPr marL="0" indent="0">
              <a:lnSpc>
                <a:spcPct val="115000"/>
              </a:lnSpc>
              <a:buNone/>
            </a:pPr>
            <a:r>
              <a:rPr lang="en-US" sz="1100" dirty="0">
                <a:solidFill>
                  <a:srgbClr val="3D5060"/>
                </a:solidFill>
                <a:latin typeface="Century Gothic" pitchFamily="34" charset="0"/>
                <a:ea typeface="Century Gothic" pitchFamily="34" charset="-122"/>
                <a:cs typeface="Century Gothic" pitchFamily="34" charset="-120"/>
              </a:rPr>
              <a:t>Highly visible, easy to fix, worth almost nothing. Beware the visible and cheap.</a:t>
            </a:r>
            <a:endParaRPr lang="en-US" sz="1100" dirty="0"/>
          </a:p>
        </p:txBody>
      </p:sp>
      <p:sp>
        <p:nvSpPr>
          <p:cNvPr id="24" name="Shape 22"/>
          <p:cNvSpPr/>
          <p:nvPr/>
        </p:nvSpPr>
        <p:spPr>
          <a:xfrm>
            <a:off x="548640" y="5504688"/>
            <a:ext cx="11091672" cy="621792"/>
          </a:xfrm>
          <a:prstGeom prst="roundRect">
            <a:avLst>
              <a:gd name="adj" fmla="val 8824"/>
            </a:avLst>
          </a:prstGeom>
          <a:solidFill>
            <a:srgbClr val="EAF9F1"/>
          </a:solidFill>
          <a:ln/>
        </p:spPr>
        <p:txBody>
          <a:bodyPr/>
          <a:lstStyle/>
          <a:p>
            <a:endParaRPr lang="en-IN"/>
          </a:p>
        </p:txBody>
      </p:sp>
      <p:sp>
        <p:nvSpPr>
          <p:cNvPr id="25" name="Text 23"/>
          <p:cNvSpPr/>
          <p:nvPr/>
        </p:nvSpPr>
        <p:spPr>
          <a:xfrm>
            <a:off x="868680" y="5504688"/>
            <a:ext cx="10451592" cy="621792"/>
          </a:xfrm>
          <a:prstGeom prst="rect">
            <a:avLst/>
          </a:prstGeom>
          <a:noFill/>
          <a:ln/>
        </p:spPr>
        <p:txBody>
          <a:bodyPr wrap="square" lIns="0" tIns="0" rIns="0" bIns="0" rtlCol="0" anchor="ctr"/>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Scale when dependencies are low and engineering is strong. Scaling on top of dysfunction multiplies it.</a:t>
            </a:r>
            <a:endParaRPr lang="en-US" sz="1300" dirty="0"/>
          </a:p>
        </p:txBody>
      </p:sp>
      <p:sp>
        <p:nvSpPr>
          <p:cNvPr id="26" name="Text 24"/>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73</a:t>
            </a:r>
            <a:endParaRPr lang="en-US" sz="900" dirty="0"/>
          </a:p>
        </p:txBody>
      </p:sp>
      <p:sp>
        <p:nvSpPr>
          <p:cNvPr id="27" name="Text 25"/>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CASE STUDY 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03352"/>
        </a:solidFill>
        <a:effectLst/>
      </p:bgPr>
    </p:bg>
    <p:spTree>
      <p:nvGrpSpPr>
        <p:cNvPr id="1" name=""/>
        <p:cNvGrpSpPr/>
        <p:nvPr/>
      </p:nvGrpSpPr>
      <p:grpSpPr>
        <a:xfrm>
          <a:off x="0" y="0"/>
          <a:ext cx="0" cy="0"/>
          <a:chOff x="0" y="0"/>
          <a:chExt cx="0" cy="0"/>
        </a:xfrm>
      </p:grpSpPr>
      <p:sp>
        <p:nvSpPr>
          <p:cNvPr id="2" name="Shape 0"/>
          <p:cNvSpPr/>
          <p:nvPr/>
        </p:nvSpPr>
        <p:spPr>
          <a:xfrm>
            <a:off x="10332720" y="3337560"/>
            <a:ext cx="3108960" cy="3108960"/>
          </a:xfrm>
          <a:prstGeom prst="ellipse">
            <a:avLst/>
          </a:prstGeom>
          <a:solidFill>
            <a:srgbClr val="0A4A6E"/>
          </a:solidFill>
          <a:ln/>
        </p:spPr>
        <p:txBody>
          <a:bodyPr/>
          <a:lstStyle/>
          <a:p>
            <a:endParaRPr lang="en-IN"/>
          </a:p>
        </p:txBody>
      </p:sp>
      <p:sp>
        <p:nvSpPr>
          <p:cNvPr id="3" name="Text 1"/>
          <p:cNvSpPr/>
          <p:nvPr/>
        </p:nvSpPr>
        <p:spPr>
          <a:xfrm>
            <a:off x="822960" y="1691640"/>
            <a:ext cx="2286000" cy="1737360"/>
          </a:xfrm>
          <a:prstGeom prst="rect">
            <a:avLst/>
          </a:prstGeom>
          <a:noFill/>
          <a:ln/>
        </p:spPr>
        <p:txBody>
          <a:bodyPr wrap="square" lIns="0" tIns="0" rIns="0" bIns="0" rtlCol="0" anchor="ctr"/>
          <a:lstStyle/>
          <a:p>
            <a:pPr marL="0" indent="0">
              <a:buNone/>
            </a:pPr>
            <a:r>
              <a:rPr lang="en-US" sz="9600" b="1" dirty="0">
                <a:solidFill>
                  <a:srgbClr val="63E7A4"/>
                </a:solidFill>
                <a:latin typeface="Century Gothic" pitchFamily="34" charset="0"/>
                <a:ea typeface="Century Gothic" pitchFamily="34" charset="-122"/>
                <a:cs typeface="Century Gothic" pitchFamily="34" charset="-120"/>
              </a:rPr>
              <a:t>10</a:t>
            </a:r>
            <a:endParaRPr lang="en-US" sz="9600" dirty="0"/>
          </a:p>
        </p:txBody>
      </p:sp>
      <p:sp>
        <p:nvSpPr>
          <p:cNvPr id="4" name="Text 2"/>
          <p:cNvSpPr/>
          <p:nvPr/>
        </p:nvSpPr>
        <p:spPr>
          <a:xfrm>
            <a:off x="2651760" y="1874520"/>
            <a:ext cx="7863840" cy="137160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Agile in Real Life</a:t>
            </a:r>
            <a:endParaRPr lang="en-US" sz="3800" dirty="0"/>
          </a:p>
        </p:txBody>
      </p:sp>
      <p:sp>
        <p:nvSpPr>
          <p:cNvPr id="5" name="Text 3"/>
          <p:cNvSpPr/>
          <p:nvPr/>
        </p:nvSpPr>
        <p:spPr>
          <a:xfrm>
            <a:off x="2697480" y="3310128"/>
            <a:ext cx="7498080" cy="822960"/>
          </a:xfrm>
          <a:prstGeom prst="rect">
            <a:avLst/>
          </a:prstGeom>
          <a:noFill/>
          <a:ln/>
        </p:spPr>
        <p:txBody>
          <a:bodyPr wrap="square" lIns="0" tIns="0" rIns="0" bIns="0" rtlCol="0" anchor="ctr"/>
          <a:lstStyle/>
          <a:p>
            <a:pPr marL="0" indent="0">
              <a:lnSpc>
                <a:spcPct val="130000"/>
              </a:lnSpc>
              <a:buNone/>
            </a:pPr>
            <a:r>
              <a:rPr lang="en-US" sz="1500" dirty="0">
                <a:solidFill>
                  <a:srgbClr val="BFD4E0"/>
                </a:solidFill>
                <a:latin typeface="Century Gothic" pitchFamily="34" charset="0"/>
                <a:ea typeface="Century Gothic" pitchFamily="34" charset="-122"/>
                <a:cs typeface="Century Gothic" pitchFamily="34" charset="-120"/>
              </a:rPr>
              <a:t>What this means for your team, on Monday, without waiting for anyone's permission.</a:t>
            </a:r>
            <a:endParaRPr lang="en-US" sz="1500" dirty="0"/>
          </a:p>
        </p:txBody>
      </p:sp>
      <p:sp>
        <p:nvSpPr>
          <p:cNvPr id="6" name="Shape 4"/>
          <p:cNvSpPr/>
          <p:nvPr/>
        </p:nvSpPr>
        <p:spPr>
          <a:xfrm>
            <a:off x="2697480" y="4315968"/>
            <a:ext cx="1783080" cy="502920"/>
          </a:xfrm>
          <a:prstGeom prst="roundRect">
            <a:avLst>
              <a:gd name="adj" fmla="val 18182"/>
            </a:avLst>
          </a:prstGeom>
          <a:solidFill>
            <a:srgbClr val="63E7A4"/>
          </a:solidFill>
          <a:ln/>
        </p:spPr>
        <p:txBody>
          <a:bodyPr/>
          <a:lstStyle/>
          <a:p>
            <a:endParaRPr lang="en-IN"/>
          </a:p>
        </p:txBody>
      </p:sp>
      <p:sp>
        <p:nvSpPr>
          <p:cNvPr id="7" name="Text 5"/>
          <p:cNvSpPr/>
          <p:nvPr/>
        </p:nvSpPr>
        <p:spPr>
          <a:xfrm>
            <a:off x="2697480" y="4315968"/>
            <a:ext cx="1783080" cy="502920"/>
          </a:xfrm>
          <a:prstGeom prst="rect">
            <a:avLst/>
          </a:prstGeom>
          <a:noFill/>
          <a:ln/>
        </p:spPr>
        <p:txBody>
          <a:bodyPr wrap="square" lIns="0" tIns="0" rIns="0" bIns="0" rtlCol="0" anchor="ctr"/>
          <a:lstStyle/>
          <a:p>
            <a:pPr marL="0" indent="0" algn="ctr">
              <a:buNone/>
            </a:pPr>
            <a:r>
              <a:rPr lang="en-US" sz="1300" b="1" dirty="0">
                <a:solidFill>
                  <a:srgbClr val="003352"/>
                </a:solidFill>
                <a:latin typeface="Century Gothic" pitchFamily="34" charset="0"/>
                <a:ea typeface="Century Gothic" pitchFamily="34" charset="-122"/>
                <a:cs typeface="Century Gothic" pitchFamily="34" charset="-120"/>
              </a:rPr>
              <a:t>7 min</a:t>
            </a:r>
            <a:endParaRPr lang="en-US" sz="1300" dirty="0"/>
          </a:p>
        </p:txBody>
      </p:sp>
      <p:sp>
        <p:nvSpPr>
          <p:cNvPr id="8" name="Text 6"/>
          <p:cNvSpPr/>
          <p:nvPr/>
        </p:nvSpPr>
        <p:spPr>
          <a:xfrm>
            <a:off x="4709160" y="4315968"/>
            <a:ext cx="5760720" cy="502920"/>
          </a:xfrm>
          <a:prstGeom prst="rect">
            <a:avLst/>
          </a:prstGeom>
          <a:noFill/>
          <a:ln/>
        </p:spPr>
        <p:txBody>
          <a:bodyPr wrap="square" lIns="0" tIns="0" rIns="0" bIns="0" rtlCol="0" anchor="ctr"/>
          <a:lstStyle/>
          <a:p>
            <a:pPr marL="0" indent="0">
              <a:buNone/>
            </a:pPr>
            <a:r>
              <a:rPr lang="en-US" sz="1200" dirty="0">
                <a:solidFill>
                  <a:srgbClr val="8FB3C6"/>
                </a:solidFill>
                <a:latin typeface="Century Gothic" pitchFamily="34" charset="0"/>
                <a:ea typeface="Century Gothic" pitchFamily="34" charset="-122"/>
                <a:cs typeface="Century Gothic" pitchFamily="34" charset="-120"/>
              </a:rPr>
              <a:t>Slides 46–50</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10 · REAL LIFE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An honest self-assessment</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Score your own team, privately, right now. Nobody is collecting these.</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Can every team member state the current Sprint Goal from memory?</a:t>
            </a:r>
            <a:endParaRPr lang="en-US" sz="1550" dirty="0"/>
          </a:p>
        </p:txBody>
      </p:sp>
      <p:sp>
        <p:nvSpPr>
          <p:cNvPr id="8" name="Text 6"/>
          <p:cNvSpPr/>
          <p:nvPr/>
        </p:nvSpPr>
        <p:spPr>
          <a:xfrm>
            <a:off x="1170432" y="2624328"/>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If not, the sprint is a container for assigned tasks rather than a commitment to an outcome.</a:t>
            </a:r>
            <a:endParaRPr lang="en-US" sz="1150" dirty="0"/>
          </a:p>
        </p:txBody>
      </p:sp>
      <p:sp>
        <p:nvSpPr>
          <p:cNvPr id="9" name="Shape 7"/>
          <p:cNvSpPr/>
          <p:nvPr/>
        </p:nvSpPr>
        <p:spPr>
          <a:xfrm>
            <a:off x="566928" y="3081528"/>
            <a:ext cx="402336" cy="402336"/>
          </a:xfrm>
          <a:prstGeom prst="ellipse">
            <a:avLst/>
          </a:prstGeom>
          <a:solidFill>
            <a:srgbClr val="63E7A4"/>
          </a:solidFill>
          <a:ln/>
        </p:spPr>
        <p:txBody>
          <a:bodyPr/>
          <a:lstStyle/>
          <a:p>
            <a:endParaRPr lang="en-IN"/>
          </a:p>
        </p:txBody>
      </p:sp>
      <p:sp>
        <p:nvSpPr>
          <p:cNvPr id="10" name="Text 8"/>
          <p:cNvSpPr/>
          <p:nvPr/>
        </p:nvSpPr>
        <p:spPr>
          <a:xfrm>
            <a:off x="566928" y="308152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026664"/>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Does 'Done' mean shippable, verified by someone other than the author?</a:t>
            </a:r>
            <a:endParaRPr lang="en-US" sz="1550" dirty="0"/>
          </a:p>
        </p:txBody>
      </p:sp>
      <p:sp>
        <p:nvSpPr>
          <p:cNvPr id="12" name="Text 10"/>
          <p:cNvSpPr/>
          <p:nvPr/>
        </p:nvSpPr>
        <p:spPr>
          <a:xfrm>
            <a:off x="1170432" y="3337560"/>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If Done means dev-complete, you have a stabilisation phase in your future whether it's scheduled or not.</a:t>
            </a:r>
            <a:endParaRPr lang="en-US" sz="1150" dirty="0"/>
          </a:p>
        </p:txBody>
      </p:sp>
      <p:sp>
        <p:nvSpPr>
          <p:cNvPr id="13" name="Shape 11"/>
          <p:cNvSpPr/>
          <p:nvPr/>
        </p:nvSpPr>
        <p:spPr>
          <a:xfrm>
            <a:off x="566928" y="3794760"/>
            <a:ext cx="402336" cy="402336"/>
          </a:xfrm>
          <a:prstGeom prst="ellipse">
            <a:avLst/>
          </a:prstGeom>
          <a:solidFill>
            <a:srgbClr val="63E7A4"/>
          </a:solidFill>
          <a:ln/>
        </p:spPr>
        <p:txBody>
          <a:bodyPr/>
          <a:lstStyle/>
          <a:p>
            <a:endParaRPr lang="en-IN"/>
          </a:p>
        </p:txBody>
      </p:sp>
      <p:sp>
        <p:nvSpPr>
          <p:cNvPr id="14" name="Text 12"/>
          <p:cNvSpPr/>
          <p:nvPr/>
        </p:nvSpPr>
        <p:spPr>
          <a:xfrm>
            <a:off x="566928" y="379476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3739896"/>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Did last sprint's retro produce a change anyone can point to?</a:t>
            </a:r>
            <a:endParaRPr lang="en-US" sz="1550" dirty="0"/>
          </a:p>
        </p:txBody>
      </p:sp>
      <p:sp>
        <p:nvSpPr>
          <p:cNvPr id="16" name="Text 14"/>
          <p:cNvSpPr/>
          <p:nvPr/>
        </p:nvSpPr>
        <p:spPr>
          <a:xfrm>
            <a:off x="1170432" y="4050792"/>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If not, the team has learned that speaking up costs time and changes nothing.</a:t>
            </a:r>
            <a:endParaRPr lang="en-US" sz="1150" dirty="0"/>
          </a:p>
        </p:txBody>
      </p:sp>
      <p:sp>
        <p:nvSpPr>
          <p:cNvPr id="17" name="Shape 15"/>
          <p:cNvSpPr/>
          <p:nvPr/>
        </p:nvSpPr>
        <p:spPr>
          <a:xfrm>
            <a:off x="566928" y="4507992"/>
            <a:ext cx="402336" cy="402336"/>
          </a:xfrm>
          <a:prstGeom prst="ellipse">
            <a:avLst/>
          </a:prstGeom>
          <a:solidFill>
            <a:srgbClr val="63E7A4"/>
          </a:solidFill>
          <a:ln/>
        </p:spPr>
        <p:txBody>
          <a:bodyPr/>
          <a:lstStyle/>
          <a:p>
            <a:endParaRPr lang="en-IN"/>
          </a:p>
        </p:txBody>
      </p:sp>
      <p:sp>
        <p:nvSpPr>
          <p:cNvPr id="18" name="Text 16"/>
          <p:cNvSpPr/>
          <p:nvPr/>
        </p:nvSpPr>
        <p:spPr>
          <a:xfrm>
            <a:off x="566928" y="450799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453128"/>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Does a real user see working software at least every two weeks?</a:t>
            </a:r>
            <a:endParaRPr lang="en-US" sz="1550" dirty="0"/>
          </a:p>
        </p:txBody>
      </p:sp>
      <p:sp>
        <p:nvSpPr>
          <p:cNvPr id="20" name="Text 18"/>
          <p:cNvSpPr/>
          <p:nvPr/>
        </p:nvSpPr>
        <p:spPr>
          <a:xfrm>
            <a:off x="1170432" y="4764024"/>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If the first real contact is UAT, the feedback loop from section 1 is still months long.</a:t>
            </a:r>
            <a:endParaRPr lang="en-US" sz="1150" dirty="0"/>
          </a:p>
        </p:txBody>
      </p:sp>
      <p:sp>
        <p:nvSpPr>
          <p:cNvPr id="21" name="Shape 19"/>
          <p:cNvSpPr/>
          <p:nvPr/>
        </p:nvSpPr>
        <p:spPr>
          <a:xfrm>
            <a:off x="566928" y="5221224"/>
            <a:ext cx="402336" cy="402336"/>
          </a:xfrm>
          <a:prstGeom prst="ellipse">
            <a:avLst/>
          </a:prstGeom>
          <a:solidFill>
            <a:srgbClr val="63E7A4"/>
          </a:solidFill>
          <a:ln/>
        </p:spPr>
        <p:txBody>
          <a:bodyPr/>
          <a:lstStyle/>
          <a:p>
            <a:endParaRPr lang="en-IN"/>
          </a:p>
        </p:txBody>
      </p:sp>
      <p:sp>
        <p:nvSpPr>
          <p:cNvPr id="22" name="Text 20"/>
          <p:cNvSpPr/>
          <p:nvPr/>
        </p:nvSpPr>
        <p:spPr>
          <a:xfrm>
            <a:off x="566928" y="522122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23" name="Text 21"/>
          <p:cNvSpPr/>
          <p:nvPr/>
        </p:nvSpPr>
        <p:spPr>
          <a:xfrm>
            <a:off x="1170432" y="5166360"/>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Can the Product Owner say no to a senior stakeholder and have it stick?</a:t>
            </a:r>
            <a:endParaRPr lang="en-US" sz="1550" dirty="0"/>
          </a:p>
        </p:txBody>
      </p:sp>
      <p:sp>
        <p:nvSpPr>
          <p:cNvPr id="24" name="Text 22"/>
          <p:cNvSpPr/>
          <p:nvPr/>
        </p:nvSpPr>
        <p:spPr>
          <a:xfrm>
            <a:off x="1170432" y="5477256"/>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If not, there is no Product Owner — there is a request queue with a person attached to it.</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75</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10 · REAL LIFE</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10 · REAL LIFE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How adoption usually fails</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Five failure modes. Most organisations manage at least two.</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Ceremonies without the mindset</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All the meetings, none of the loops closing. The most expensive form of failure — full cost, no benefit, and it discredits the idea for years.</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Agile for the team, waterfall around it</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The team sprints inside an annual budget cycle, a fixed-scope contract and a change control board. The team gets blamed for the friction.</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No engineering investment</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Two-week cadence, six-week release process, manual regression. The cadence becomes theatre because nothing can actually ship.</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Transformation as an event</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A workshop, a tool rollout, new job titles, then business as usual. Sustained change needs sustained attention — eighteen months, not a quarter.</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76</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10 · REAL LIFE</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10 · REAL LIFE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The first ninety days, if you start Monday</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Small, cheap, mostly within a team's own control. Nothing here requires a transformation programme.</a:t>
            </a:r>
            <a:endParaRPr lang="en-US" sz="1450" dirty="0"/>
          </a:p>
        </p:txBody>
      </p:sp>
      <p:sp>
        <p:nvSpPr>
          <p:cNvPr id="5" name="Shape 3"/>
          <p:cNvSpPr/>
          <p:nvPr/>
        </p:nvSpPr>
        <p:spPr>
          <a:xfrm>
            <a:off x="548640" y="2395728"/>
            <a:ext cx="2594610" cy="2926080"/>
          </a:xfrm>
          <a:prstGeom prst="roundRect">
            <a:avLst>
              <a:gd name="adj" fmla="val 2115"/>
            </a:avLst>
          </a:prstGeom>
          <a:solidFill>
            <a:srgbClr val="F4F7F9"/>
          </a:solidFill>
          <a:ln/>
        </p:spPr>
        <p:txBody>
          <a:bodyPr/>
          <a:lstStyle/>
          <a:p>
            <a:endParaRPr lang="en-IN"/>
          </a:p>
        </p:txBody>
      </p:sp>
      <p:sp>
        <p:nvSpPr>
          <p:cNvPr id="6" name="Shape 4"/>
          <p:cNvSpPr/>
          <p:nvPr/>
        </p:nvSpPr>
        <p:spPr>
          <a:xfrm>
            <a:off x="1626489" y="2670048"/>
            <a:ext cx="438912" cy="438912"/>
          </a:xfrm>
          <a:prstGeom prst="ellipse">
            <a:avLst/>
          </a:prstGeom>
          <a:solidFill>
            <a:srgbClr val="63E7A4"/>
          </a:solidFill>
          <a:ln/>
        </p:spPr>
        <p:txBody>
          <a:bodyPr/>
          <a:lstStyle/>
          <a:p>
            <a:endParaRPr lang="en-IN"/>
          </a:p>
        </p:txBody>
      </p:sp>
      <p:sp>
        <p:nvSpPr>
          <p:cNvPr id="7" name="Text 5"/>
          <p:cNvSpPr/>
          <p:nvPr/>
        </p:nvSpPr>
        <p:spPr>
          <a:xfrm>
            <a:off x="1626489"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731520" y="3236976"/>
            <a:ext cx="2228850"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Weeks 1–2 · Define Done</a:t>
            </a:r>
            <a:endParaRPr lang="en-US" sz="1400" dirty="0"/>
          </a:p>
        </p:txBody>
      </p:sp>
      <p:sp>
        <p:nvSpPr>
          <p:cNvPr id="9" name="Text 7"/>
          <p:cNvSpPr/>
          <p:nvPr/>
        </p:nvSpPr>
        <p:spPr>
          <a:xfrm>
            <a:off x="731520" y="3822192"/>
            <a:ext cx="2228850"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Team writes a Definition of Done it can honour today. Visible on the wall. Nothing else changes yet.</a:t>
            </a:r>
            <a:endParaRPr lang="en-US" sz="1150" dirty="0"/>
          </a:p>
        </p:txBody>
      </p:sp>
      <p:sp>
        <p:nvSpPr>
          <p:cNvPr id="10" name="Text 8"/>
          <p:cNvSpPr/>
          <p:nvPr/>
        </p:nvSpPr>
        <p:spPr>
          <a:xfrm>
            <a:off x="3124962"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1" name="Shape 9"/>
          <p:cNvSpPr/>
          <p:nvPr/>
        </p:nvSpPr>
        <p:spPr>
          <a:xfrm>
            <a:off x="3380994" y="2395728"/>
            <a:ext cx="2594610" cy="2926080"/>
          </a:xfrm>
          <a:prstGeom prst="roundRect">
            <a:avLst>
              <a:gd name="adj" fmla="val 2115"/>
            </a:avLst>
          </a:prstGeom>
          <a:solidFill>
            <a:srgbClr val="F4F7F9"/>
          </a:solidFill>
          <a:ln/>
        </p:spPr>
        <p:txBody>
          <a:bodyPr/>
          <a:lstStyle/>
          <a:p>
            <a:endParaRPr lang="en-IN"/>
          </a:p>
        </p:txBody>
      </p:sp>
      <p:sp>
        <p:nvSpPr>
          <p:cNvPr id="12" name="Shape 10"/>
          <p:cNvSpPr/>
          <p:nvPr/>
        </p:nvSpPr>
        <p:spPr>
          <a:xfrm>
            <a:off x="4458843" y="2670048"/>
            <a:ext cx="438912" cy="438912"/>
          </a:xfrm>
          <a:prstGeom prst="ellipse">
            <a:avLst/>
          </a:prstGeom>
          <a:solidFill>
            <a:srgbClr val="63E7A4"/>
          </a:solidFill>
          <a:ln/>
        </p:spPr>
        <p:txBody>
          <a:bodyPr/>
          <a:lstStyle/>
          <a:p>
            <a:endParaRPr lang="en-IN"/>
          </a:p>
        </p:txBody>
      </p:sp>
      <p:sp>
        <p:nvSpPr>
          <p:cNvPr id="13" name="Text 11"/>
          <p:cNvSpPr/>
          <p:nvPr/>
        </p:nvSpPr>
        <p:spPr>
          <a:xfrm>
            <a:off x="4458843"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4" name="Text 12"/>
          <p:cNvSpPr/>
          <p:nvPr/>
        </p:nvSpPr>
        <p:spPr>
          <a:xfrm>
            <a:off x="3563874" y="3236976"/>
            <a:ext cx="2228850"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Weeks 3–4 · One Sprint Goal</a:t>
            </a:r>
            <a:endParaRPr lang="en-US" sz="1400" dirty="0"/>
          </a:p>
        </p:txBody>
      </p:sp>
      <p:sp>
        <p:nvSpPr>
          <p:cNvPr id="15" name="Text 13"/>
          <p:cNvSpPr/>
          <p:nvPr/>
        </p:nvSpPr>
        <p:spPr>
          <a:xfrm>
            <a:off x="3563874" y="3822192"/>
            <a:ext cx="2228850"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Every sprint gets a single-sentence goal. Test it: ask a random team member on day 5.</a:t>
            </a:r>
            <a:endParaRPr lang="en-US" sz="1150" dirty="0"/>
          </a:p>
        </p:txBody>
      </p:sp>
      <p:sp>
        <p:nvSpPr>
          <p:cNvPr id="16" name="Text 14"/>
          <p:cNvSpPr/>
          <p:nvPr/>
        </p:nvSpPr>
        <p:spPr>
          <a:xfrm>
            <a:off x="5957316"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17" name="Shape 15"/>
          <p:cNvSpPr/>
          <p:nvPr/>
        </p:nvSpPr>
        <p:spPr>
          <a:xfrm>
            <a:off x="6213348" y="2395728"/>
            <a:ext cx="2594610" cy="2926080"/>
          </a:xfrm>
          <a:prstGeom prst="roundRect">
            <a:avLst>
              <a:gd name="adj" fmla="val 2115"/>
            </a:avLst>
          </a:prstGeom>
          <a:solidFill>
            <a:srgbClr val="F4F7F9"/>
          </a:solidFill>
          <a:ln/>
        </p:spPr>
        <p:txBody>
          <a:bodyPr/>
          <a:lstStyle/>
          <a:p>
            <a:endParaRPr lang="en-IN"/>
          </a:p>
        </p:txBody>
      </p:sp>
      <p:sp>
        <p:nvSpPr>
          <p:cNvPr id="18" name="Shape 16"/>
          <p:cNvSpPr/>
          <p:nvPr/>
        </p:nvSpPr>
        <p:spPr>
          <a:xfrm>
            <a:off x="7291197" y="2670048"/>
            <a:ext cx="438912" cy="438912"/>
          </a:xfrm>
          <a:prstGeom prst="ellipse">
            <a:avLst/>
          </a:prstGeom>
          <a:solidFill>
            <a:srgbClr val="63E7A4"/>
          </a:solidFill>
          <a:ln/>
        </p:spPr>
        <p:txBody>
          <a:bodyPr/>
          <a:lstStyle/>
          <a:p>
            <a:endParaRPr lang="en-IN"/>
          </a:p>
        </p:txBody>
      </p:sp>
      <p:sp>
        <p:nvSpPr>
          <p:cNvPr id="19" name="Text 17"/>
          <p:cNvSpPr/>
          <p:nvPr/>
        </p:nvSpPr>
        <p:spPr>
          <a:xfrm>
            <a:off x="7291197"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20" name="Text 18"/>
          <p:cNvSpPr/>
          <p:nvPr/>
        </p:nvSpPr>
        <p:spPr>
          <a:xfrm>
            <a:off x="6396228" y="3236976"/>
            <a:ext cx="2228850"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Weeks 5–8 · Show real software</a:t>
            </a:r>
            <a:endParaRPr lang="en-US" sz="1400" dirty="0"/>
          </a:p>
        </p:txBody>
      </p:sp>
      <p:sp>
        <p:nvSpPr>
          <p:cNvPr id="21" name="Text 19"/>
          <p:cNvSpPr/>
          <p:nvPr/>
        </p:nvSpPr>
        <p:spPr>
          <a:xfrm>
            <a:off x="6396228" y="3822192"/>
            <a:ext cx="2228850"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A working increment in front of a real user every sprint. Not slides. Not a recording.</a:t>
            </a:r>
            <a:endParaRPr lang="en-US" sz="1150" dirty="0"/>
          </a:p>
        </p:txBody>
      </p:sp>
      <p:sp>
        <p:nvSpPr>
          <p:cNvPr id="22" name="Text 20"/>
          <p:cNvSpPr/>
          <p:nvPr/>
        </p:nvSpPr>
        <p:spPr>
          <a:xfrm>
            <a:off x="8789670" y="3493008"/>
            <a:ext cx="274320" cy="365760"/>
          </a:xfrm>
          <a:prstGeom prst="rect">
            <a:avLst/>
          </a:prstGeom>
          <a:noFill/>
          <a:ln/>
        </p:spPr>
        <p:txBody>
          <a:bodyPr wrap="square" lIns="0" tIns="0" rIns="0" bIns="0" rtlCol="0" anchor="ctr"/>
          <a:lstStyle/>
          <a:p>
            <a:pPr marL="0" indent="0" algn="ctr">
              <a:buNone/>
            </a:pPr>
            <a:r>
              <a:rPr lang="en-US" sz="1600" b="1" dirty="0">
                <a:solidFill>
                  <a:srgbClr val="63E7A4"/>
                </a:solidFill>
                <a:latin typeface="Century Gothic" pitchFamily="34" charset="0"/>
                <a:ea typeface="Century Gothic" pitchFamily="34" charset="-122"/>
                <a:cs typeface="Century Gothic" pitchFamily="34" charset="-120"/>
              </a:rPr>
              <a:t>→</a:t>
            </a:r>
            <a:endParaRPr lang="en-US" sz="1600" dirty="0"/>
          </a:p>
        </p:txBody>
      </p:sp>
      <p:sp>
        <p:nvSpPr>
          <p:cNvPr id="23" name="Shape 21"/>
          <p:cNvSpPr/>
          <p:nvPr/>
        </p:nvSpPr>
        <p:spPr>
          <a:xfrm>
            <a:off x="9045702" y="2395728"/>
            <a:ext cx="2594610" cy="2926080"/>
          </a:xfrm>
          <a:prstGeom prst="roundRect">
            <a:avLst>
              <a:gd name="adj" fmla="val 2115"/>
            </a:avLst>
          </a:prstGeom>
          <a:solidFill>
            <a:srgbClr val="F4F7F9"/>
          </a:solidFill>
          <a:ln/>
        </p:spPr>
        <p:txBody>
          <a:bodyPr/>
          <a:lstStyle/>
          <a:p>
            <a:endParaRPr lang="en-IN"/>
          </a:p>
        </p:txBody>
      </p:sp>
      <p:sp>
        <p:nvSpPr>
          <p:cNvPr id="24" name="Shape 22"/>
          <p:cNvSpPr/>
          <p:nvPr/>
        </p:nvSpPr>
        <p:spPr>
          <a:xfrm>
            <a:off x="10123551" y="2670048"/>
            <a:ext cx="438912" cy="438912"/>
          </a:xfrm>
          <a:prstGeom prst="ellipse">
            <a:avLst/>
          </a:prstGeom>
          <a:solidFill>
            <a:srgbClr val="63E7A4"/>
          </a:solidFill>
          <a:ln/>
        </p:spPr>
        <p:txBody>
          <a:bodyPr/>
          <a:lstStyle/>
          <a:p>
            <a:endParaRPr lang="en-IN"/>
          </a:p>
        </p:txBody>
      </p:sp>
      <p:sp>
        <p:nvSpPr>
          <p:cNvPr id="25" name="Text 23"/>
          <p:cNvSpPr/>
          <p:nvPr/>
        </p:nvSpPr>
        <p:spPr>
          <a:xfrm>
            <a:off x="10123551" y="2670048"/>
            <a:ext cx="438912" cy="438912"/>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26" name="Text 24"/>
          <p:cNvSpPr/>
          <p:nvPr/>
        </p:nvSpPr>
        <p:spPr>
          <a:xfrm>
            <a:off x="9228582" y="3236976"/>
            <a:ext cx="2228850" cy="548640"/>
          </a:xfrm>
          <a:prstGeom prst="rect">
            <a:avLst/>
          </a:prstGeom>
          <a:noFill/>
          <a:ln/>
        </p:spPr>
        <p:txBody>
          <a:bodyPr wrap="square" lIns="0" tIns="0" rIns="0" bIns="0" rtlCol="0" anchor="t"/>
          <a:lstStyle/>
          <a:p>
            <a:pPr marL="0" indent="0" algn="ctr">
              <a:buNone/>
            </a:pPr>
            <a:r>
              <a:rPr lang="en-US" sz="1400" b="1" dirty="0">
                <a:solidFill>
                  <a:srgbClr val="003352"/>
                </a:solidFill>
                <a:latin typeface="Century Gothic" pitchFamily="34" charset="0"/>
                <a:ea typeface="Century Gothic" pitchFamily="34" charset="-122"/>
                <a:cs typeface="Century Gothic" pitchFamily="34" charset="-120"/>
              </a:rPr>
              <a:t>Weeks 9–12 · Close the retro loop</a:t>
            </a:r>
            <a:endParaRPr lang="en-US" sz="1400" dirty="0"/>
          </a:p>
        </p:txBody>
      </p:sp>
      <p:sp>
        <p:nvSpPr>
          <p:cNvPr id="27" name="Text 25"/>
          <p:cNvSpPr/>
          <p:nvPr/>
        </p:nvSpPr>
        <p:spPr>
          <a:xfrm>
            <a:off x="9228582" y="3822192"/>
            <a:ext cx="2228850" cy="1371600"/>
          </a:xfrm>
          <a:prstGeom prst="rect">
            <a:avLst/>
          </a:prstGeom>
          <a:noFill/>
          <a:ln/>
        </p:spPr>
        <p:txBody>
          <a:bodyPr wrap="square" lIns="0" tIns="0" rIns="0" bIns="0" rtlCol="0" anchor="t"/>
          <a:lstStyle/>
          <a:p>
            <a:pPr marL="0" indent="0" algn="ctr">
              <a:lnSpc>
                <a:spcPct val="120000"/>
              </a:lnSpc>
              <a:buNone/>
            </a:pPr>
            <a:r>
              <a:rPr lang="en-US" sz="1150" dirty="0">
                <a:solidFill>
                  <a:srgbClr val="3D5060"/>
                </a:solidFill>
                <a:latin typeface="Century Gothic" pitchFamily="34" charset="0"/>
                <a:ea typeface="Century Gothic" pitchFamily="34" charset="-122"/>
                <a:cs typeface="Century Gothic" pitchFamily="34" charset="-120"/>
              </a:rPr>
              <a:t>One improvement per sprint, sized into the Sprint Backlog. Start each retro by checking the last one.</a:t>
            </a:r>
            <a:endParaRPr lang="en-US" sz="1150" dirty="0"/>
          </a:p>
        </p:txBody>
      </p:sp>
      <p:sp>
        <p:nvSpPr>
          <p:cNvPr id="28" name="Text 26"/>
          <p:cNvSpPr/>
          <p:nvPr/>
        </p:nvSpPr>
        <p:spPr>
          <a:xfrm>
            <a:off x="548640" y="5486400"/>
            <a:ext cx="11091672" cy="457200"/>
          </a:xfrm>
          <a:prstGeom prst="rect">
            <a:avLst/>
          </a:prstGeom>
          <a:noFill/>
          <a:ln/>
        </p:spPr>
        <p:txBody>
          <a:bodyPr wrap="square" lIns="0" tIns="0" rIns="0" bIns="0" rtlCol="0" anchor="ctr"/>
          <a:lstStyle/>
          <a:p>
            <a:pPr marL="0" indent="0">
              <a:lnSpc>
                <a:spcPct val="120000"/>
              </a:lnSpc>
              <a:buNone/>
            </a:pPr>
            <a:r>
              <a:rPr lang="en-US" sz="1200" i="1" dirty="0">
                <a:solidFill>
                  <a:srgbClr val="3D5060"/>
                </a:solidFill>
                <a:latin typeface="Century Gothic" pitchFamily="34" charset="0"/>
                <a:ea typeface="Century Gothic" pitchFamily="34" charset="-122"/>
                <a:cs typeface="Century Gothic" pitchFamily="34" charset="-120"/>
              </a:rPr>
              <a:t>Then tighten the Definition of Done and repeat. Four changes in three months beats forty in a workshop.</a:t>
            </a:r>
            <a:endParaRPr lang="en-US" sz="1200" dirty="0"/>
          </a:p>
        </p:txBody>
      </p:sp>
      <p:sp>
        <p:nvSpPr>
          <p:cNvPr id="29" name="Text 27"/>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77</a:t>
            </a:r>
            <a:endParaRPr lang="en-US" sz="900" dirty="0"/>
          </a:p>
        </p:txBody>
      </p:sp>
      <p:sp>
        <p:nvSpPr>
          <p:cNvPr id="30" name="Text 28"/>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10 · REAL LIFE</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10 · REAL LIFE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What leadership has to change</a:t>
            </a:r>
            <a:endParaRPr lang="en-US" sz="3000" dirty="0"/>
          </a:p>
        </p:txBody>
      </p:sp>
      <p:sp>
        <p:nvSpPr>
          <p:cNvPr id="4" name="Text 2"/>
          <p:cNvSpPr/>
          <p:nvPr/>
        </p:nvSpPr>
        <p:spPr>
          <a:xfrm>
            <a:off x="548640" y="1627632"/>
            <a:ext cx="10881360" cy="566928"/>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Teams can adopt practices. Only leadership can remove the constraints that make those practices impossible.</a:t>
            </a:r>
            <a:endParaRPr lang="en-US" sz="1450" dirty="0"/>
          </a:p>
        </p:txBody>
      </p:sp>
      <p:sp>
        <p:nvSpPr>
          <p:cNvPr id="5" name="Shape 3"/>
          <p:cNvSpPr/>
          <p:nvPr/>
        </p:nvSpPr>
        <p:spPr>
          <a:xfrm>
            <a:off x="566928" y="2368296"/>
            <a:ext cx="402336" cy="402336"/>
          </a:xfrm>
          <a:prstGeom prst="ellipse">
            <a:avLst/>
          </a:prstGeom>
          <a:solidFill>
            <a:srgbClr val="63E7A4"/>
          </a:solidFill>
          <a:ln/>
        </p:spPr>
        <p:txBody>
          <a:bodyPr/>
          <a:lstStyle/>
          <a:p>
            <a:endParaRPr lang="en-IN"/>
          </a:p>
        </p:txBody>
      </p:sp>
      <p:sp>
        <p:nvSpPr>
          <p:cNvPr id="6" name="Text 4"/>
          <p:cNvSpPr/>
          <p:nvPr/>
        </p:nvSpPr>
        <p:spPr>
          <a:xfrm>
            <a:off x="566928" y="23682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170432" y="2313432"/>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Stop injecting work directly into teams</a:t>
            </a:r>
            <a:endParaRPr lang="en-US" sz="1550" dirty="0"/>
          </a:p>
        </p:txBody>
      </p:sp>
      <p:sp>
        <p:nvSpPr>
          <p:cNvPr id="8" name="Text 6"/>
          <p:cNvSpPr/>
          <p:nvPr/>
        </p:nvSpPr>
        <p:spPr>
          <a:xfrm>
            <a:off x="1170432" y="2624328"/>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Every request goes to the Product Owner and onto one ordered backlog.</a:t>
            </a:r>
            <a:endParaRPr lang="en-US" sz="1150" dirty="0"/>
          </a:p>
        </p:txBody>
      </p:sp>
      <p:sp>
        <p:nvSpPr>
          <p:cNvPr id="9" name="Shape 7"/>
          <p:cNvSpPr/>
          <p:nvPr/>
        </p:nvSpPr>
        <p:spPr>
          <a:xfrm>
            <a:off x="566928" y="3081528"/>
            <a:ext cx="402336" cy="402336"/>
          </a:xfrm>
          <a:prstGeom prst="ellipse">
            <a:avLst/>
          </a:prstGeom>
          <a:solidFill>
            <a:srgbClr val="63E7A4"/>
          </a:solidFill>
          <a:ln/>
        </p:spPr>
        <p:txBody>
          <a:bodyPr/>
          <a:lstStyle/>
          <a:p>
            <a:endParaRPr lang="en-IN"/>
          </a:p>
        </p:txBody>
      </p:sp>
      <p:sp>
        <p:nvSpPr>
          <p:cNvPr id="10" name="Text 8"/>
          <p:cNvSpPr/>
          <p:nvPr/>
        </p:nvSpPr>
        <p:spPr>
          <a:xfrm>
            <a:off x="566928" y="308152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170432" y="3026664"/>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Ask about outcomes, not activity</a:t>
            </a:r>
            <a:endParaRPr lang="en-US" sz="1550" dirty="0"/>
          </a:p>
        </p:txBody>
      </p:sp>
      <p:sp>
        <p:nvSpPr>
          <p:cNvPr id="12" name="Text 10"/>
          <p:cNvSpPr/>
          <p:nvPr/>
        </p:nvSpPr>
        <p:spPr>
          <a:xfrm>
            <a:off x="1170432" y="3337560"/>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What leaders ask about is what teams optimise for. Ask what the customer got.</a:t>
            </a:r>
            <a:endParaRPr lang="en-US" sz="1150" dirty="0"/>
          </a:p>
        </p:txBody>
      </p:sp>
      <p:sp>
        <p:nvSpPr>
          <p:cNvPr id="13" name="Shape 11"/>
          <p:cNvSpPr/>
          <p:nvPr/>
        </p:nvSpPr>
        <p:spPr>
          <a:xfrm>
            <a:off x="566928" y="3794760"/>
            <a:ext cx="402336" cy="402336"/>
          </a:xfrm>
          <a:prstGeom prst="ellipse">
            <a:avLst/>
          </a:prstGeom>
          <a:solidFill>
            <a:srgbClr val="63E7A4"/>
          </a:solidFill>
          <a:ln/>
        </p:spPr>
        <p:txBody>
          <a:bodyPr/>
          <a:lstStyle/>
          <a:p>
            <a:endParaRPr lang="en-IN"/>
          </a:p>
        </p:txBody>
      </p:sp>
      <p:sp>
        <p:nvSpPr>
          <p:cNvPr id="14" name="Text 12"/>
          <p:cNvSpPr/>
          <p:nvPr/>
        </p:nvSpPr>
        <p:spPr>
          <a:xfrm>
            <a:off x="566928" y="379476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170432" y="3739896"/>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Fund the engineering investment explicitly</a:t>
            </a:r>
            <a:endParaRPr lang="en-US" sz="1550" dirty="0"/>
          </a:p>
        </p:txBody>
      </p:sp>
      <p:sp>
        <p:nvSpPr>
          <p:cNvPr id="16" name="Text 14"/>
          <p:cNvSpPr/>
          <p:nvPr/>
        </p:nvSpPr>
        <p:spPr>
          <a:xfrm>
            <a:off x="1170432" y="4050792"/>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Automation never wins an urgency argument, so it must be protected rather than prioritised.</a:t>
            </a:r>
            <a:endParaRPr lang="en-US" sz="1150" dirty="0"/>
          </a:p>
        </p:txBody>
      </p:sp>
      <p:sp>
        <p:nvSpPr>
          <p:cNvPr id="17" name="Shape 15"/>
          <p:cNvSpPr/>
          <p:nvPr/>
        </p:nvSpPr>
        <p:spPr>
          <a:xfrm>
            <a:off x="566928" y="4507992"/>
            <a:ext cx="402336" cy="402336"/>
          </a:xfrm>
          <a:prstGeom prst="ellipse">
            <a:avLst/>
          </a:prstGeom>
          <a:solidFill>
            <a:srgbClr val="63E7A4"/>
          </a:solidFill>
          <a:ln/>
        </p:spPr>
        <p:txBody>
          <a:bodyPr/>
          <a:lstStyle/>
          <a:p>
            <a:endParaRPr lang="en-IN"/>
          </a:p>
        </p:txBody>
      </p:sp>
      <p:sp>
        <p:nvSpPr>
          <p:cNvPr id="18" name="Text 16"/>
          <p:cNvSpPr/>
          <p:nvPr/>
        </p:nvSpPr>
        <p:spPr>
          <a:xfrm>
            <a:off x="566928" y="450799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170432" y="4453128"/>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Protect team stability</a:t>
            </a:r>
            <a:endParaRPr lang="en-US" sz="1550" dirty="0"/>
          </a:p>
        </p:txBody>
      </p:sp>
      <p:sp>
        <p:nvSpPr>
          <p:cNvPr id="20" name="Text 18"/>
          <p:cNvSpPr/>
          <p:nvPr/>
        </p:nvSpPr>
        <p:spPr>
          <a:xfrm>
            <a:off x="1170432" y="4764024"/>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Every reassignment costs roughly three months of re-forming. Stable teams compound.</a:t>
            </a:r>
            <a:endParaRPr lang="en-US" sz="1150" dirty="0"/>
          </a:p>
        </p:txBody>
      </p:sp>
      <p:sp>
        <p:nvSpPr>
          <p:cNvPr id="21" name="Shape 19"/>
          <p:cNvSpPr/>
          <p:nvPr/>
        </p:nvSpPr>
        <p:spPr>
          <a:xfrm>
            <a:off x="566928" y="5221224"/>
            <a:ext cx="402336" cy="402336"/>
          </a:xfrm>
          <a:prstGeom prst="ellipse">
            <a:avLst/>
          </a:prstGeom>
          <a:solidFill>
            <a:srgbClr val="63E7A4"/>
          </a:solidFill>
          <a:ln/>
        </p:spPr>
        <p:txBody>
          <a:bodyPr/>
          <a:lstStyle/>
          <a:p>
            <a:endParaRPr lang="en-IN"/>
          </a:p>
        </p:txBody>
      </p:sp>
      <p:sp>
        <p:nvSpPr>
          <p:cNvPr id="22" name="Text 20"/>
          <p:cNvSpPr/>
          <p:nvPr/>
        </p:nvSpPr>
        <p:spPr>
          <a:xfrm>
            <a:off x="566928" y="5221224"/>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5</a:t>
            </a:r>
            <a:endParaRPr lang="en-US" sz="1200" dirty="0"/>
          </a:p>
        </p:txBody>
      </p:sp>
      <p:sp>
        <p:nvSpPr>
          <p:cNvPr id="23" name="Text 21"/>
          <p:cNvSpPr/>
          <p:nvPr/>
        </p:nvSpPr>
        <p:spPr>
          <a:xfrm>
            <a:off x="1170432" y="5166360"/>
            <a:ext cx="10241280" cy="292608"/>
          </a:xfrm>
          <a:prstGeom prst="rect">
            <a:avLst/>
          </a:prstGeom>
          <a:noFill/>
          <a:ln/>
        </p:spPr>
        <p:txBody>
          <a:bodyPr wrap="square" lIns="0" tIns="0" rIns="0" bIns="0" rtlCol="0" anchor="t"/>
          <a:lstStyle/>
          <a:p>
            <a:pPr marL="0" indent="0">
              <a:lnSpc>
                <a:spcPct val="105000"/>
              </a:lnSpc>
              <a:buNone/>
            </a:pPr>
            <a:r>
              <a:rPr lang="en-US" sz="1550" b="1" dirty="0">
                <a:solidFill>
                  <a:srgbClr val="003352"/>
                </a:solidFill>
                <a:latin typeface="Century Gothic" pitchFamily="34" charset="0"/>
                <a:ea typeface="Century Gothic" pitchFamily="34" charset="-122"/>
                <a:cs typeface="Century Gothic" pitchFamily="34" charset="-120"/>
              </a:rPr>
              <a:t>Give it eighteen months of attention</a:t>
            </a:r>
            <a:endParaRPr lang="en-US" sz="1550" dirty="0"/>
          </a:p>
        </p:txBody>
      </p:sp>
      <p:sp>
        <p:nvSpPr>
          <p:cNvPr id="24" name="Text 22"/>
          <p:cNvSpPr/>
          <p:nvPr/>
        </p:nvSpPr>
        <p:spPr>
          <a:xfrm>
            <a:off x="1170432" y="5477256"/>
            <a:ext cx="10241280" cy="256032"/>
          </a:xfrm>
          <a:prstGeom prst="rect">
            <a:avLst/>
          </a:prstGeom>
          <a:noFill/>
          <a:ln/>
        </p:spPr>
        <p:txBody>
          <a:bodyPr wrap="square" lIns="0" tIns="0" rIns="0" bIns="0" rtlCol="0" anchor="t"/>
          <a:lstStyle/>
          <a:p>
            <a:pPr marL="0" indent="0">
              <a:lnSpc>
                <a:spcPct val="118000"/>
              </a:lnSpc>
              <a:buNone/>
            </a:pPr>
            <a:r>
              <a:rPr lang="en-US" sz="1150" dirty="0">
                <a:solidFill>
                  <a:srgbClr val="3D5060"/>
                </a:solidFill>
                <a:latin typeface="Century Gothic" pitchFamily="34" charset="0"/>
                <a:ea typeface="Century Gothic" pitchFamily="34" charset="-122"/>
                <a:cs typeface="Century Gothic" pitchFamily="34" charset="-120"/>
              </a:rPr>
              <a:t>Not a workshop, not a quarter. Sustained, visible attention from the top.</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78</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10 · REAL LIFE</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10 · REAL LIFE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What you personally do next</a:t>
            </a:r>
            <a:endParaRPr lang="en-US" sz="3000" dirty="0"/>
          </a:p>
        </p:txBody>
      </p:sp>
      <p:sp>
        <p:nvSpPr>
          <p:cNvPr id="4" name="Text 2"/>
          <p:cNvSpPr/>
          <p:nvPr/>
        </p:nvSpPr>
        <p:spPr>
          <a:xfrm>
            <a:off x="548640" y="1627632"/>
            <a:ext cx="10881360" cy="548640"/>
          </a:xfrm>
          <a:prstGeom prst="rect">
            <a:avLst/>
          </a:prstGeom>
          <a:noFill/>
          <a:ln/>
        </p:spPr>
        <p:txBody>
          <a:bodyPr wrap="square" lIns="0" tIns="0" rIns="0" bIns="0" rtlCol="0" anchor="ctr"/>
          <a:lstStyle/>
          <a:p>
            <a:pPr marL="0" indent="0">
              <a:lnSpc>
                <a:spcPct val="125000"/>
              </a:lnSpc>
              <a:buNone/>
            </a:pPr>
            <a:r>
              <a:rPr lang="en-US" sz="1450" i="1" dirty="0">
                <a:solidFill>
                  <a:srgbClr val="3D5060"/>
                </a:solidFill>
                <a:latin typeface="Century Gothic" pitchFamily="34" charset="0"/>
                <a:ea typeface="Century Gothic" pitchFamily="34" charset="-122"/>
                <a:cs typeface="Century Gothic" pitchFamily="34" charset="-120"/>
              </a:rPr>
              <a:t>One change each. Not a plan — a commitment you could keep by Friday.</a:t>
            </a:r>
            <a:endParaRPr lang="en-US" sz="1450" dirty="0"/>
          </a:p>
        </p:txBody>
      </p:sp>
      <p:sp>
        <p:nvSpPr>
          <p:cNvPr id="5" name="Shape 3"/>
          <p:cNvSpPr/>
          <p:nvPr/>
        </p:nvSpPr>
        <p:spPr>
          <a:xfrm>
            <a:off x="548640" y="2286000"/>
            <a:ext cx="5399532" cy="1645920"/>
          </a:xfrm>
          <a:prstGeom prst="roundRect">
            <a:avLst>
              <a:gd name="adj" fmla="val 3333"/>
            </a:avLst>
          </a:prstGeom>
          <a:solidFill>
            <a:srgbClr val="F4F7F9"/>
          </a:solidFill>
          <a:ln/>
        </p:spPr>
        <p:txBody>
          <a:bodyPr/>
          <a:lstStyle/>
          <a:p>
            <a:endParaRPr lang="en-IN"/>
          </a:p>
        </p:txBody>
      </p:sp>
      <p:sp>
        <p:nvSpPr>
          <p:cNvPr id="6" name="Shape 4"/>
          <p:cNvSpPr/>
          <p:nvPr/>
        </p:nvSpPr>
        <p:spPr>
          <a:xfrm>
            <a:off x="804672" y="2542032"/>
            <a:ext cx="365760" cy="365760"/>
          </a:xfrm>
          <a:prstGeom prst="ellipse">
            <a:avLst/>
          </a:prstGeom>
          <a:solidFill>
            <a:srgbClr val="003352"/>
          </a:solidFill>
          <a:ln/>
        </p:spPr>
        <p:txBody>
          <a:bodyPr/>
          <a:lstStyle/>
          <a:p>
            <a:endParaRPr lang="en-IN"/>
          </a:p>
        </p:txBody>
      </p:sp>
      <p:sp>
        <p:nvSpPr>
          <p:cNvPr id="7" name="Text 5"/>
          <p:cNvSpPr/>
          <p:nvPr/>
        </p:nvSpPr>
        <p:spPr>
          <a:xfrm>
            <a:off x="80467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1</a:t>
            </a:r>
            <a:endParaRPr lang="en-US" sz="1200" dirty="0"/>
          </a:p>
        </p:txBody>
      </p:sp>
      <p:sp>
        <p:nvSpPr>
          <p:cNvPr id="8" name="Text 6"/>
          <p:cNvSpPr/>
          <p:nvPr/>
        </p:nvSpPr>
        <p:spPr>
          <a:xfrm>
            <a:off x="129844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If you're a developer</a:t>
            </a:r>
            <a:endParaRPr lang="en-US" sz="1450" dirty="0"/>
          </a:p>
        </p:txBody>
      </p:sp>
      <p:sp>
        <p:nvSpPr>
          <p:cNvPr id="9" name="Text 7"/>
          <p:cNvSpPr/>
          <p:nvPr/>
        </p:nvSpPr>
        <p:spPr>
          <a:xfrm>
            <a:off x="80467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Push for a Definition of Done your team writes together. Then hold it, including when it's inconvenient and especially when someone senior is waiting.</a:t>
            </a:r>
            <a:endParaRPr lang="en-US" sz="1150" dirty="0"/>
          </a:p>
        </p:txBody>
      </p:sp>
      <p:sp>
        <p:nvSpPr>
          <p:cNvPr id="10" name="Shape 8"/>
          <p:cNvSpPr/>
          <p:nvPr/>
        </p:nvSpPr>
        <p:spPr>
          <a:xfrm>
            <a:off x="6240780" y="2286000"/>
            <a:ext cx="5399532" cy="1645920"/>
          </a:xfrm>
          <a:prstGeom prst="roundRect">
            <a:avLst>
              <a:gd name="adj" fmla="val 3333"/>
            </a:avLst>
          </a:prstGeom>
          <a:solidFill>
            <a:srgbClr val="F4F7F9"/>
          </a:solidFill>
          <a:ln/>
        </p:spPr>
        <p:txBody>
          <a:bodyPr/>
          <a:lstStyle/>
          <a:p>
            <a:endParaRPr lang="en-IN"/>
          </a:p>
        </p:txBody>
      </p:sp>
      <p:sp>
        <p:nvSpPr>
          <p:cNvPr id="11" name="Shape 9"/>
          <p:cNvSpPr/>
          <p:nvPr/>
        </p:nvSpPr>
        <p:spPr>
          <a:xfrm>
            <a:off x="6496812" y="2542032"/>
            <a:ext cx="365760" cy="365760"/>
          </a:xfrm>
          <a:prstGeom prst="ellipse">
            <a:avLst/>
          </a:prstGeom>
          <a:solidFill>
            <a:srgbClr val="003352"/>
          </a:solidFill>
          <a:ln/>
        </p:spPr>
        <p:txBody>
          <a:bodyPr/>
          <a:lstStyle/>
          <a:p>
            <a:endParaRPr lang="en-IN"/>
          </a:p>
        </p:txBody>
      </p:sp>
      <p:sp>
        <p:nvSpPr>
          <p:cNvPr id="12" name="Text 10"/>
          <p:cNvSpPr/>
          <p:nvPr/>
        </p:nvSpPr>
        <p:spPr>
          <a:xfrm>
            <a:off x="6496812" y="254203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2</a:t>
            </a:r>
            <a:endParaRPr lang="en-US" sz="1200" dirty="0"/>
          </a:p>
        </p:txBody>
      </p:sp>
      <p:sp>
        <p:nvSpPr>
          <p:cNvPr id="13" name="Text 11"/>
          <p:cNvSpPr/>
          <p:nvPr/>
        </p:nvSpPr>
        <p:spPr>
          <a:xfrm>
            <a:off x="6990588" y="252374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If you're a Product Owner or BA</a:t>
            </a:r>
            <a:endParaRPr lang="en-US" sz="1450" dirty="0"/>
          </a:p>
        </p:txBody>
      </p:sp>
      <p:sp>
        <p:nvSpPr>
          <p:cNvPr id="14" name="Text 12"/>
          <p:cNvSpPr/>
          <p:nvPr/>
        </p:nvSpPr>
        <p:spPr>
          <a:xfrm>
            <a:off x="6496812" y="301752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Write one ordered backlog. Add the 'so that' to every item at the top. Practise saying 'yes, and here's what comes out'.</a:t>
            </a:r>
            <a:endParaRPr lang="en-US" sz="1150" dirty="0"/>
          </a:p>
        </p:txBody>
      </p:sp>
      <p:sp>
        <p:nvSpPr>
          <p:cNvPr id="15" name="Shape 13"/>
          <p:cNvSpPr/>
          <p:nvPr/>
        </p:nvSpPr>
        <p:spPr>
          <a:xfrm>
            <a:off x="548640" y="4206240"/>
            <a:ext cx="5399532" cy="1645920"/>
          </a:xfrm>
          <a:prstGeom prst="roundRect">
            <a:avLst>
              <a:gd name="adj" fmla="val 3333"/>
            </a:avLst>
          </a:prstGeom>
          <a:solidFill>
            <a:srgbClr val="F4F7F9"/>
          </a:solidFill>
          <a:ln/>
        </p:spPr>
        <p:txBody>
          <a:bodyPr/>
          <a:lstStyle/>
          <a:p>
            <a:endParaRPr lang="en-IN"/>
          </a:p>
        </p:txBody>
      </p:sp>
      <p:sp>
        <p:nvSpPr>
          <p:cNvPr id="16" name="Shape 14"/>
          <p:cNvSpPr/>
          <p:nvPr/>
        </p:nvSpPr>
        <p:spPr>
          <a:xfrm>
            <a:off x="804672" y="4462272"/>
            <a:ext cx="365760" cy="365760"/>
          </a:xfrm>
          <a:prstGeom prst="ellipse">
            <a:avLst/>
          </a:prstGeom>
          <a:solidFill>
            <a:srgbClr val="003352"/>
          </a:solidFill>
          <a:ln/>
        </p:spPr>
        <p:txBody>
          <a:bodyPr/>
          <a:lstStyle/>
          <a:p>
            <a:endParaRPr lang="en-IN"/>
          </a:p>
        </p:txBody>
      </p:sp>
      <p:sp>
        <p:nvSpPr>
          <p:cNvPr id="17" name="Text 15"/>
          <p:cNvSpPr/>
          <p:nvPr/>
        </p:nvSpPr>
        <p:spPr>
          <a:xfrm>
            <a:off x="80467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3</a:t>
            </a:r>
            <a:endParaRPr lang="en-US" sz="1200" dirty="0"/>
          </a:p>
        </p:txBody>
      </p:sp>
      <p:sp>
        <p:nvSpPr>
          <p:cNvPr id="18" name="Text 16"/>
          <p:cNvSpPr/>
          <p:nvPr/>
        </p:nvSpPr>
        <p:spPr>
          <a:xfrm>
            <a:off x="129844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If you're a Scrum Master or lead</a:t>
            </a:r>
            <a:endParaRPr lang="en-US" sz="1450" dirty="0"/>
          </a:p>
        </p:txBody>
      </p:sp>
      <p:sp>
        <p:nvSpPr>
          <p:cNvPr id="19" name="Text 17"/>
          <p:cNvSpPr/>
          <p:nvPr/>
        </p:nvSpPr>
        <p:spPr>
          <a:xfrm>
            <a:off x="80467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Stop assigning. Start removing. Open the next retro with the previous action item, every time, without exception.</a:t>
            </a:r>
            <a:endParaRPr lang="en-US" sz="1150" dirty="0"/>
          </a:p>
        </p:txBody>
      </p:sp>
      <p:sp>
        <p:nvSpPr>
          <p:cNvPr id="20" name="Shape 18"/>
          <p:cNvSpPr/>
          <p:nvPr/>
        </p:nvSpPr>
        <p:spPr>
          <a:xfrm>
            <a:off x="6240780" y="4206240"/>
            <a:ext cx="5399532" cy="1645920"/>
          </a:xfrm>
          <a:prstGeom prst="roundRect">
            <a:avLst>
              <a:gd name="adj" fmla="val 3333"/>
            </a:avLst>
          </a:prstGeom>
          <a:solidFill>
            <a:srgbClr val="F4F7F9"/>
          </a:solidFill>
          <a:ln/>
        </p:spPr>
        <p:txBody>
          <a:bodyPr/>
          <a:lstStyle/>
          <a:p>
            <a:endParaRPr lang="en-IN"/>
          </a:p>
        </p:txBody>
      </p:sp>
      <p:sp>
        <p:nvSpPr>
          <p:cNvPr id="21" name="Shape 19"/>
          <p:cNvSpPr/>
          <p:nvPr/>
        </p:nvSpPr>
        <p:spPr>
          <a:xfrm>
            <a:off x="6496812" y="4462272"/>
            <a:ext cx="365760" cy="365760"/>
          </a:xfrm>
          <a:prstGeom prst="ellipse">
            <a:avLst/>
          </a:prstGeom>
          <a:solidFill>
            <a:srgbClr val="003352"/>
          </a:solidFill>
          <a:ln/>
        </p:spPr>
        <p:txBody>
          <a:bodyPr/>
          <a:lstStyle/>
          <a:p>
            <a:endParaRPr lang="en-IN"/>
          </a:p>
        </p:txBody>
      </p:sp>
      <p:sp>
        <p:nvSpPr>
          <p:cNvPr id="22" name="Text 20"/>
          <p:cNvSpPr/>
          <p:nvPr/>
        </p:nvSpPr>
        <p:spPr>
          <a:xfrm>
            <a:off x="6496812" y="44622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4</a:t>
            </a:r>
            <a:endParaRPr lang="en-US" sz="1200" dirty="0"/>
          </a:p>
        </p:txBody>
      </p:sp>
      <p:sp>
        <p:nvSpPr>
          <p:cNvPr id="23" name="Text 21"/>
          <p:cNvSpPr/>
          <p:nvPr/>
        </p:nvSpPr>
        <p:spPr>
          <a:xfrm>
            <a:off x="6990588" y="4443984"/>
            <a:ext cx="4393692" cy="402336"/>
          </a:xfrm>
          <a:prstGeom prst="rect">
            <a:avLst/>
          </a:prstGeom>
          <a:noFill/>
          <a:ln/>
        </p:spPr>
        <p:txBody>
          <a:bodyPr wrap="square" lIns="0" tIns="0" rIns="0" bIns="0" rtlCol="0" anchor="ctr"/>
          <a:lstStyle/>
          <a:p>
            <a:pPr marL="0" indent="0">
              <a:buNone/>
            </a:pPr>
            <a:r>
              <a:rPr lang="en-US" sz="1450" b="1" dirty="0">
                <a:solidFill>
                  <a:srgbClr val="003352"/>
                </a:solidFill>
                <a:latin typeface="Century Gothic" pitchFamily="34" charset="0"/>
                <a:ea typeface="Century Gothic" pitchFamily="34" charset="-122"/>
                <a:cs typeface="Century Gothic" pitchFamily="34" charset="-120"/>
              </a:rPr>
              <a:t>If you're a manager or leader</a:t>
            </a:r>
            <a:endParaRPr lang="en-US" sz="1450" dirty="0"/>
          </a:p>
        </p:txBody>
      </p:sp>
      <p:sp>
        <p:nvSpPr>
          <p:cNvPr id="24" name="Text 22"/>
          <p:cNvSpPr/>
          <p:nvPr/>
        </p:nvSpPr>
        <p:spPr>
          <a:xfrm>
            <a:off x="6496812" y="4937760"/>
            <a:ext cx="4887468" cy="621792"/>
          </a:xfrm>
          <a:prstGeom prst="rect">
            <a:avLst/>
          </a:prstGeom>
          <a:noFill/>
          <a:ln/>
        </p:spPr>
        <p:txBody>
          <a:bodyPr wrap="square" lIns="0" tIns="0" rIns="0" bIns="0" rtlCol="0" anchor="t"/>
          <a:lstStyle/>
          <a:p>
            <a:pPr marL="0" indent="0">
              <a:lnSpc>
                <a:spcPct val="122000"/>
              </a:lnSpc>
              <a:buNone/>
            </a:pPr>
            <a:r>
              <a:rPr lang="en-US" sz="1150" dirty="0">
                <a:solidFill>
                  <a:srgbClr val="3D5060"/>
                </a:solidFill>
                <a:latin typeface="Century Gothic" pitchFamily="34" charset="0"/>
                <a:ea typeface="Century Gothic" pitchFamily="34" charset="-122"/>
                <a:cs typeface="Century Gothic" pitchFamily="34" charset="-120"/>
              </a:rPr>
              <a:t>Route your next request through the Product Owner instead of the team. Then ask about the outcome rather than the status.</a:t>
            </a:r>
            <a:endParaRPr lang="en-US" sz="1150" dirty="0"/>
          </a:p>
        </p:txBody>
      </p:sp>
      <p:sp>
        <p:nvSpPr>
          <p:cNvPr id="25" name="Text 2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79</a:t>
            </a:r>
            <a:endParaRPr lang="en-US" sz="900" dirty="0"/>
          </a:p>
        </p:txBody>
      </p:sp>
      <p:sp>
        <p:nvSpPr>
          <p:cNvPr id="26" name="Text 2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10 · REAL LIFE</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EAF9F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100" b="1" kern="0" spc="250" dirty="0">
                <a:solidFill>
                  <a:srgbClr val="003352"/>
                </a:solidFill>
                <a:latin typeface="Century Gothic" pitchFamily="34" charset="0"/>
                <a:ea typeface="Century Gothic" pitchFamily="34" charset="-122"/>
                <a:cs typeface="Century Gothic" pitchFamily="34" charset="-120"/>
              </a:rPr>
              <a:t>FINAL EXERCISE</a:t>
            </a:r>
            <a:endParaRPr lang="en-US" sz="1100" dirty="0"/>
          </a:p>
        </p:txBody>
      </p:sp>
      <p:sp>
        <p:nvSpPr>
          <p:cNvPr id="3" name="Shape 1"/>
          <p:cNvSpPr/>
          <p:nvPr/>
        </p:nvSpPr>
        <p:spPr>
          <a:xfrm>
            <a:off x="9921240" y="822960"/>
            <a:ext cx="1719072" cy="411480"/>
          </a:xfrm>
          <a:prstGeom prst="roundRect">
            <a:avLst>
              <a:gd name="adj" fmla="val 18000"/>
            </a:avLst>
          </a:prstGeom>
          <a:solidFill>
            <a:srgbClr val="003352"/>
          </a:solidFill>
          <a:ln/>
        </p:spPr>
        <p:txBody>
          <a:bodyPr/>
          <a:lstStyle/>
          <a:p>
            <a:endParaRPr lang="en-IN"/>
          </a:p>
        </p:txBody>
      </p:sp>
      <p:sp>
        <p:nvSpPr>
          <p:cNvPr id="4" name="Text 2"/>
          <p:cNvSpPr/>
          <p:nvPr/>
        </p:nvSpPr>
        <p:spPr>
          <a:xfrm>
            <a:off x="9921240" y="822960"/>
            <a:ext cx="1719072" cy="411480"/>
          </a:xfrm>
          <a:prstGeom prst="rect">
            <a:avLst/>
          </a:prstGeom>
          <a:noFill/>
          <a:ln/>
        </p:spPr>
        <p:txBody>
          <a:bodyPr wrap="square" lIns="0" tIns="0" rIns="0" bIns="0" rtlCol="0" anchor="ctr"/>
          <a:lstStyle/>
          <a:p>
            <a:pPr marL="0" indent="0" algn="ctr">
              <a:buNone/>
            </a:pPr>
            <a:r>
              <a:rPr lang="en-US" sz="1250" b="1" dirty="0">
                <a:solidFill>
                  <a:srgbClr val="63E7A4"/>
                </a:solidFill>
                <a:latin typeface="Century Gothic" pitchFamily="34" charset="0"/>
                <a:ea typeface="Century Gothic" pitchFamily="34" charset="-122"/>
                <a:cs typeface="Century Gothic" pitchFamily="34" charset="-120"/>
              </a:rPr>
              <a:t>5 min</a:t>
            </a:r>
            <a:endParaRPr lang="en-US" sz="1250" dirty="0"/>
          </a:p>
        </p:txBody>
      </p:sp>
      <p:sp>
        <p:nvSpPr>
          <p:cNvPr id="5" name="Text 3"/>
          <p:cNvSpPr/>
          <p:nvPr/>
        </p:nvSpPr>
        <p:spPr>
          <a:xfrm>
            <a:off x="548640" y="713232"/>
            <a:ext cx="9235440" cy="658368"/>
          </a:xfrm>
          <a:prstGeom prst="rect">
            <a:avLst/>
          </a:prstGeom>
          <a:noFill/>
          <a:ln/>
        </p:spPr>
        <p:txBody>
          <a:bodyPr wrap="square" lIns="0" tIns="0" rIns="0" bIns="0" rtlCol="0" anchor="t"/>
          <a:lstStyle/>
          <a:p>
            <a:pPr marL="0" indent="0">
              <a:buNone/>
            </a:pPr>
            <a:r>
              <a:rPr lang="en-US" sz="2800" b="1" dirty="0">
                <a:solidFill>
                  <a:srgbClr val="003352"/>
                </a:solidFill>
                <a:latin typeface="Century Gothic" pitchFamily="34" charset="0"/>
                <a:ea typeface="Century Gothic" pitchFamily="34" charset="-122"/>
                <a:cs typeface="Century Gothic" pitchFamily="34" charset="-120"/>
              </a:rPr>
              <a:t>Design your own Agile transformation</a:t>
            </a:r>
            <a:endParaRPr lang="en-US" sz="2800" dirty="0"/>
          </a:p>
        </p:txBody>
      </p:sp>
      <p:sp>
        <p:nvSpPr>
          <p:cNvPr id="6" name="Shape 4"/>
          <p:cNvSpPr/>
          <p:nvPr/>
        </p:nvSpPr>
        <p:spPr>
          <a:xfrm>
            <a:off x="548640" y="1481328"/>
            <a:ext cx="6720840" cy="4315968"/>
          </a:xfrm>
          <a:prstGeom prst="roundRect">
            <a:avLst>
              <a:gd name="adj" fmla="val 1271"/>
            </a:avLst>
          </a:prstGeom>
          <a:solidFill>
            <a:srgbClr val="FFFFFF"/>
          </a:solidFill>
          <a:ln/>
        </p:spPr>
        <p:txBody>
          <a:bodyPr/>
          <a:lstStyle/>
          <a:p>
            <a:endParaRPr lang="en-IN"/>
          </a:p>
        </p:txBody>
      </p:sp>
      <p:sp>
        <p:nvSpPr>
          <p:cNvPr id="7" name="Text 5"/>
          <p:cNvSpPr/>
          <p:nvPr/>
        </p:nvSpPr>
        <p:spPr>
          <a:xfrm>
            <a:off x="868680" y="1664208"/>
            <a:ext cx="6080760" cy="274320"/>
          </a:xfrm>
          <a:prstGeom prst="rect">
            <a:avLst/>
          </a:prstGeom>
          <a:noFill/>
          <a:ln/>
        </p:spPr>
        <p:txBody>
          <a:bodyPr wrap="square" lIns="0" tIns="0" rIns="0" bIns="0" rtlCol="0" anchor="ctr"/>
          <a:lstStyle/>
          <a:p>
            <a:pPr marL="0" indent="0">
              <a:buNone/>
            </a:pPr>
            <a:r>
              <a:rPr lang="en-US" sz="1100" b="1" kern="0" spc="150" dirty="0">
                <a:solidFill>
                  <a:srgbClr val="7A8C99"/>
                </a:solidFill>
                <a:latin typeface="Century Gothic" pitchFamily="34" charset="0"/>
                <a:ea typeface="Century Gothic" pitchFamily="34" charset="-122"/>
                <a:cs typeface="Century Gothic" pitchFamily="34" charset="-120"/>
              </a:rPr>
              <a:t>The scenario</a:t>
            </a:r>
            <a:endParaRPr lang="en-US" sz="1100" dirty="0"/>
          </a:p>
        </p:txBody>
      </p:sp>
      <p:sp>
        <p:nvSpPr>
          <p:cNvPr id="8" name="Text 6"/>
          <p:cNvSpPr/>
          <p:nvPr/>
        </p:nvSpPr>
        <p:spPr>
          <a:xfrm>
            <a:off x="868680" y="1993392"/>
            <a:ext cx="6080760" cy="3602736"/>
          </a:xfrm>
          <a:prstGeom prst="rect">
            <a:avLst/>
          </a:prstGeom>
          <a:noFill/>
          <a:ln/>
        </p:spPr>
        <p:txBody>
          <a:bodyPr wrap="square" lIns="0" tIns="0" rIns="0" bIns="0" rtlCol="0" anchor="t"/>
          <a:lstStyle/>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Your team. Your real constraints. Not a generic plan.</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You have ninety days, no budget, and no authority to reorganise anything. You may change how your own team works and you may ask for exactly one thing from leadership.</a:t>
            </a:r>
            <a:endParaRPr lang="en-US" sz="1150" dirty="0"/>
          </a:p>
          <a:p>
            <a:pPr marL="0" indent="0">
              <a:lnSpc>
                <a:spcPct val="124000"/>
              </a:lnSpc>
              <a:buNone/>
            </a:pPr>
            <a:endParaRPr lang="en-US" sz="1150" dirty="0"/>
          </a:p>
          <a:p>
            <a:pPr marL="0" indent="0">
              <a:lnSpc>
                <a:spcPct val="124000"/>
              </a:lnSpc>
              <a:buNone/>
            </a:pPr>
            <a:r>
              <a:rPr lang="en-US" sz="1150" dirty="0">
                <a:solidFill>
                  <a:srgbClr val="3D5060"/>
                </a:solidFill>
                <a:latin typeface="Century Gothic" pitchFamily="34" charset="0"/>
                <a:ea typeface="Century Gothic" pitchFamily="34" charset="-122"/>
                <a:cs typeface="Century Gothic" pitchFamily="34" charset="-120"/>
              </a:rPr>
              <a:t>Be specific enough that someone could tell in ninety days whether you did it.</a:t>
            </a:r>
            <a:endParaRPr lang="en-US" sz="1150" dirty="0"/>
          </a:p>
        </p:txBody>
      </p:sp>
      <p:sp>
        <p:nvSpPr>
          <p:cNvPr id="9" name="Shape 7"/>
          <p:cNvSpPr/>
          <p:nvPr/>
        </p:nvSpPr>
        <p:spPr>
          <a:xfrm>
            <a:off x="7498080" y="1481328"/>
            <a:ext cx="4142232" cy="4315968"/>
          </a:xfrm>
          <a:prstGeom prst="roundRect">
            <a:avLst>
              <a:gd name="adj" fmla="val 1325"/>
            </a:avLst>
          </a:prstGeom>
          <a:solidFill>
            <a:srgbClr val="003352"/>
          </a:solidFill>
          <a:ln/>
        </p:spPr>
        <p:txBody>
          <a:bodyPr/>
          <a:lstStyle/>
          <a:p>
            <a:endParaRPr lang="en-IN"/>
          </a:p>
        </p:txBody>
      </p:sp>
      <p:sp>
        <p:nvSpPr>
          <p:cNvPr id="10" name="Text 8"/>
          <p:cNvSpPr/>
          <p:nvPr/>
        </p:nvSpPr>
        <p:spPr>
          <a:xfrm>
            <a:off x="7818120" y="1664208"/>
            <a:ext cx="3502152" cy="274320"/>
          </a:xfrm>
          <a:prstGeom prst="rect">
            <a:avLst/>
          </a:prstGeom>
          <a:noFill/>
          <a:ln/>
        </p:spPr>
        <p:txBody>
          <a:bodyPr wrap="square" lIns="0" tIns="0" rIns="0" bIns="0" rtlCol="0" anchor="ctr"/>
          <a:lstStyle/>
          <a:p>
            <a:pPr marL="0" indent="0">
              <a:buNone/>
            </a:pPr>
            <a:r>
              <a:rPr lang="en-US" sz="1100" b="1" kern="0" spc="150" dirty="0">
                <a:solidFill>
                  <a:srgbClr val="63E7A4"/>
                </a:solidFill>
                <a:latin typeface="Century Gothic" pitchFamily="34" charset="0"/>
                <a:ea typeface="Century Gothic" pitchFamily="34" charset="-122"/>
                <a:cs typeface="Century Gothic" pitchFamily="34" charset="-120"/>
              </a:rPr>
              <a:t>Write a one-page plan</a:t>
            </a:r>
            <a:endParaRPr lang="en-US" sz="1100" dirty="0"/>
          </a:p>
        </p:txBody>
      </p:sp>
      <p:sp>
        <p:nvSpPr>
          <p:cNvPr id="11" name="Text 9"/>
          <p:cNvSpPr/>
          <p:nvPr/>
        </p:nvSpPr>
        <p:spPr>
          <a:xfrm>
            <a:off x="7818120" y="1993392"/>
            <a:ext cx="3502152" cy="3602736"/>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The one symptom you're fixing — name it precisely</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Three changes you'll make inside the team</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The one thing you need from leadership</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How you'll know in 90 days whether it worked</a:t>
            </a:r>
            <a:endParaRPr lang="en-US" sz="1150" dirty="0"/>
          </a:p>
          <a:p>
            <a:pPr marL="342900" indent="-342900">
              <a:lnSpc>
                <a:spcPct val="120000"/>
              </a:lnSpc>
              <a:spcAft>
                <a:spcPts val="800"/>
              </a:spcAft>
              <a:buSzPct val="100000"/>
              <a:buChar char="•"/>
            </a:pPr>
            <a:r>
              <a:rPr lang="en-US" sz="1150" dirty="0">
                <a:solidFill>
                  <a:srgbClr val="D8E7EF"/>
                </a:solidFill>
                <a:latin typeface="Century Gothic" pitchFamily="34" charset="0"/>
                <a:ea typeface="Century Gothic" pitchFamily="34" charset="-122"/>
                <a:cs typeface="Century Gothic" pitchFamily="34" charset="-120"/>
              </a:rPr>
              <a:t>Who you'll tell on Monday</a:t>
            </a:r>
            <a:endParaRPr lang="en-US" sz="1150" dirty="0"/>
          </a:p>
        </p:txBody>
      </p:sp>
      <p:sp>
        <p:nvSpPr>
          <p:cNvPr id="12" name="Text 10"/>
          <p:cNvSpPr/>
          <p:nvPr/>
        </p:nvSpPr>
        <p:spPr>
          <a:xfrm>
            <a:off x="548640" y="5907024"/>
            <a:ext cx="11091672" cy="347472"/>
          </a:xfrm>
          <a:prstGeom prst="rect">
            <a:avLst/>
          </a:prstGeom>
          <a:noFill/>
          <a:ln/>
        </p:spPr>
        <p:txBody>
          <a:bodyPr wrap="square" lIns="0" tIns="0" rIns="0" bIns="0" rtlCol="0" anchor="t"/>
          <a:lstStyle/>
          <a:p>
            <a:pPr marL="0" indent="0">
              <a:buNone/>
            </a:pPr>
            <a:r>
              <a:rPr lang="en-US" sz="1150" b="1" dirty="0">
                <a:solidFill>
                  <a:srgbClr val="003352"/>
                </a:solidFill>
                <a:latin typeface="Century Gothic" pitchFamily="34" charset="0"/>
                <a:ea typeface="Century Gothic" pitchFamily="34" charset="-122"/>
                <a:cs typeface="Century Gothic" pitchFamily="34" charset="-120"/>
              </a:rPr>
              <a:t>Individually for 3 min, then share with one other person for 2 min · Keep the sheet · Take a photo before you leave</a:t>
            </a:r>
            <a:endParaRPr lang="en-US" sz="1150" dirty="0"/>
          </a:p>
        </p:txBody>
      </p:sp>
      <p:sp>
        <p:nvSpPr>
          <p:cNvPr id="13" name="Text 11"/>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80</a:t>
            </a:r>
            <a:endParaRPr lang="en-US" sz="900" dirty="0"/>
          </a:p>
        </p:txBody>
      </p:sp>
      <p:sp>
        <p:nvSpPr>
          <p:cNvPr id="14" name="Text 12"/>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FINAL EXERCISE</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FINAL EXERCISE · DEBRIEF</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What a good plan looks like</a:t>
            </a:r>
            <a:endParaRPr lang="en-US" sz="3000" dirty="0"/>
          </a:p>
        </p:txBody>
      </p:sp>
      <p:sp>
        <p:nvSpPr>
          <p:cNvPr id="4" name="Shape 2"/>
          <p:cNvSpPr/>
          <p:nvPr/>
        </p:nvSpPr>
        <p:spPr>
          <a:xfrm>
            <a:off x="566928" y="1911096"/>
            <a:ext cx="402336" cy="402336"/>
          </a:xfrm>
          <a:prstGeom prst="ellipse">
            <a:avLst/>
          </a:prstGeom>
          <a:solidFill>
            <a:srgbClr val="63E7A4"/>
          </a:solidFill>
          <a:ln/>
        </p:spPr>
        <p:txBody>
          <a:bodyPr/>
          <a:lstStyle/>
          <a:p>
            <a:endParaRPr lang="en-IN"/>
          </a:p>
        </p:txBody>
      </p:sp>
      <p:sp>
        <p:nvSpPr>
          <p:cNvPr id="5" name="Text 3"/>
          <p:cNvSpPr/>
          <p:nvPr/>
        </p:nvSpPr>
        <p:spPr>
          <a:xfrm>
            <a:off x="566928" y="191109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6" name="Text 4"/>
          <p:cNvSpPr/>
          <p:nvPr/>
        </p:nvSpPr>
        <p:spPr>
          <a:xfrm>
            <a:off x="1170432" y="1856232"/>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symptom is specific and observable</a:t>
            </a:r>
            <a:endParaRPr lang="en-US" sz="1450" dirty="0"/>
          </a:p>
        </p:txBody>
      </p:sp>
      <p:sp>
        <p:nvSpPr>
          <p:cNvPr id="7" name="Text 5"/>
          <p:cNvSpPr/>
          <p:nvPr/>
        </p:nvSpPr>
        <p:spPr>
          <a:xfrm>
            <a:off x="1170432" y="2148840"/>
            <a:ext cx="10241280" cy="454914"/>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Not 'we're not Agile'. Rather: 'we carry 30-40% of work forward every sprint' or 'the customer first sees the product at UAT'.</a:t>
            </a:r>
            <a:endParaRPr lang="en-US" sz="1200" dirty="0"/>
          </a:p>
        </p:txBody>
      </p:sp>
      <p:sp>
        <p:nvSpPr>
          <p:cNvPr id="8" name="Shape 6"/>
          <p:cNvSpPr/>
          <p:nvPr/>
        </p:nvSpPr>
        <p:spPr>
          <a:xfrm>
            <a:off x="566928" y="2795778"/>
            <a:ext cx="402336" cy="402336"/>
          </a:xfrm>
          <a:prstGeom prst="ellipse">
            <a:avLst/>
          </a:prstGeom>
          <a:solidFill>
            <a:srgbClr val="63E7A4"/>
          </a:solidFill>
          <a:ln/>
        </p:spPr>
        <p:txBody>
          <a:bodyPr/>
          <a:lstStyle/>
          <a:p>
            <a:endParaRPr lang="en-IN"/>
          </a:p>
        </p:txBody>
      </p:sp>
      <p:sp>
        <p:nvSpPr>
          <p:cNvPr id="9" name="Text 7"/>
          <p:cNvSpPr/>
          <p:nvPr/>
        </p:nvSpPr>
        <p:spPr>
          <a:xfrm>
            <a:off x="566928" y="279577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0" name="Text 8"/>
          <p:cNvSpPr/>
          <p:nvPr/>
        </p:nvSpPr>
        <p:spPr>
          <a:xfrm>
            <a:off x="1170432" y="2740914"/>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three changes are inside your control</a:t>
            </a:r>
            <a:endParaRPr lang="en-US" sz="1450" dirty="0"/>
          </a:p>
        </p:txBody>
      </p:sp>
      <p:sp>
        <p:nvSpPr>
          <p:cNvPr id="11" name="Text 9"/>
          <p:cNvSpPr/>
          <p:nvPr/>
        </p:nvSpPr>
        <p:spPr>
          <a:xfrm>
            <a:off x="1170432" y="3033522"/>
            <a:ext cx="10241280" cy="454914"/>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If all three need someone else's approval, it isn't a plan — it's a request. At least two should be startable without asking anyone.</a:t>
            </a:r>
            <a:endParaRPr lang="en-US" sz="1200" dirty="0"/>
          </a:p>
        </p:txBody>
      </p:sp>
      <p:sp>
        <p:nvSpPr>
          <p:cNvPr id="12" name="Shape 10"/>
          <p:cNvSpPr/>
          <p:nvPr/>
        </p:nvSpPr>
        <p:spPr>
          <a:xfrm>
            <a:off x="566928" y="3680460"/>
            <a:ext cx="402336" cy="402336"/>
          </a:xfrm>
          <a:prstGeom prst="ellipse">
            <a:avLst/>
          </a:prstGeom>
          <a:solidFill>
            <a:srgbClr val="63E7A4"/>
          </a:solidFill>
          <a:ln/>
        </p:spPr>
        <p:txBody>
          <a:bodyPr/>
          <a:lstStyle/>
          <a:p>
            <a:endParaRPr lang="en-IN"/>
          </a:p>
        </p:txBody>
      </p:sp>
      <p:sp>
        <p:nvSpPr>
          <p:cNvPr id="13" name="Text 11"/>
          <p:cNvSpPr/>
          <p:nvPr/>
        </p:nvSpPr>
        <p:spPr>
          <a:xfrm>
            <a:off x="566928" y="368046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4" name="Text 12"/>
          <p:cNvSpPr/>
          <p:nvPr/>
        </p:nvSpPr>
        <p:spPr>
          <a:xfrm>
            <a:off x="1170432" y="3625596"/>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leadership ask is one thing, and it's precise</a:t>
            </a:r>
            <a:endParaRPr lang="en-US" sz="1450" dirty="0"/>
          </a:p>
        </p:txBody>
      </p:sp>
      <p:sp>
        <p:nvSpPr>
          <p:cNvPr id="15" name="Text 13"/>
          <p:cNvSpPr/>
          <p:nvPr/>
        </p:nvSpPr>
        <p:spPr>
          <a:xfrm>
            <a:off x="1170432" y="3918204"/>
            <a:ext cx="10241280" cy="454914"/>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'Support us' is not an ask. 'Ring-fence 15% of sprint capacity for test automation for two quarters' is one that can be granted or refused.</a:t>
            </a:r>
            <a:endParaRPr lang="en-US" sz="1200" dirty="0"/>
          </a:p>
        </p:txBody>
      </p:sp>
      <p:sp>
        <p:nvSpPr>
          <p:cNvPr id="16" name="Shape 14"/>
          <p:cNvSpPr/>
          <p:nvPr/>
        </p:nvSpPr>
        <p:spPr>
          <a:xfrm>
            <a:off x="566928" y="4565142"/>
            <a:ext cx="402336" cy="402336"/>
          </a:xfrm>
          <a:prstGeom prst="ellipse">
            <a:avLst/>
          </a:prstGeom>
          <a:solidFill>
            <a:srgbClr val="63E7A4"/>
          </a:solidFill>
          <a:ln/>
        </p:spPr>
        <p:txBody>
          <a:bodyPr/>
          <a:lstStyle/>
          <a:p>
            <a:endParaRPr lang="en-IN"/>
          </a:p>
        </p:txBody>
      </p:sp>
      <p:sp>
        <p:nvSpPr>
          <p:cNvPr id="17" name="Text 15"/>
          <p:cNvSpPr/>
          <p:nvPr/>
        </p:nvSpPr>
        <p:spPr>
          <a:xfrm>
            <a:off x="566928" y="456514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a:t>
            </a:r>
            <a:endParaRPr lang="en-US" sz="1200" dirty="0"/>
          </a:p>
        </p:txBody>
      </p:sp>
      <p:sp>
        <p:nvSpPr>
          <p:cNvPr id="18" name="Text 16"/>
          <p:cNvSpPr/>
          <p:nvPr/>
        </p:nvSpPr>
        <p:spPr>
          <a:xfrm>
            <a:off x="1170432" y="4510278"/>
            <a:ext cx="10241280" cy="274320"/>
          </a:xfrm>
          <a:prstGeom prst="rect">
            <a:avLst/>
          </a:prstGeom>
          <a:noFill/>
          <a:ln/>
        </p:spPr>
        <p:txBody>
          <a:bodyPr wrap="square" lIns="0" tIns="0" rIns="0" bIns="0" rtlCol="0" anchor="t"/>
          <a:lstStyle/>
          <a:p>
            <a:pPr marL="0" indent="0">
              <a:lnSpc>
                <a:spcPct val="105000"/>
              </a:lnSpc>
              <a:buNone/>
            </a:pPr>
            <a:r>
              <a:rPr lang="en-US" sz="1450" b="1" dirty="0">
                <a:solidFill>
                  <a:srgbClr val="003352"/>
                </a:solidFill>
                <a:latin typeface="Century Gothic" pitchFamily="34" charset="0"/>
                <a:ea typeface="Century Gothic" pitchFamily="34" charset="-122"/>
                <a:cs typeface="Century Gothic" pitchFamily="34" charset="-120"/>
              </a:rPr>
              <a:t>The success test is checkable by someone else</a:t>
            </a:r>
            <a:endParaRPr lang="en-US" sz="1450" dirty="0"/>
          </a:p>
        </p:txBody>
      </p:sp>
      <p:sp>
        <p:nvSpPr>
          <p:cNvPr id="19" name="Text 17"/>
          <p:cNvSpPr/>
          <p:nvPr/>
        </p:nvSpPr>
        <p:spPr>
          <a:xfrm>
            <a:off x="1170432" y="4802886"/>
            <a:ext cx="10241280" cy="454914"/>
          </a:xfrm>
          <a:prstGeom prst="rect">
            <a:avLst/>
          </a:prstGeom>
          <a:noFill/>
          <a:ln/>
        </p:spPr>
        <p:txBody>
          <a:bodyPr wrap="square" lIns="0" tIns="0" rIns="0" bIns="0" rtlCol="0" anchor="t"/>
          <a:lstStyle/>
          <a:p>
            <a:pPr marL="0" indent="0">
              <a:lnSpc>
                <a:spcPct val="115000"/>
              </a:lnSpc>
              <a:buNone/>
            </a:pPr>
            <a:r>
              <a:rPr lang="en-US" sz="1200" dirty="0">
                <a:solidFill>
                  <a:srgbClr val="3D5060"/>
                </a:solidFill>
                <a:latin typeface="Century Gothic" pitchFamily="34" charset="0"/>
                <a:ea typeface="Century Gothic" pitchFamily="34" charset="-122"/>
                <a:cs typeface="Century Gothic" pitchFamily="34" charset="-120"/>
              </a:rPr>
              <a:t>Someone who wasn't in this room should be able to look in ninety days and say yes or no. That's what separates a plan from an intention.</a:t>
            </a:r>
            <a:endParaRPr lang="en-US" sz="1200" dirty="0"/>
          </a:p>
        </p:txBody>
      </p:sp>
      <p:sp>
        <p:nvSpPr>
          <p:cNvPr id="20" name="Shape 18"/>
          <p:cNvSpPr/>
          <p:nvPr/>
        </p:nvSpPr>
        <p:spPr>
          <a:xfrm>
            <a:off x="548640" y="5504688"/>
            <a:ext cx="11091672" cy="621792"/>
          </a:xfrm>
          <a:prstGeom prst="roundRect">
            <a:avLst>
              <a:gd name="adj" fmla="val 8824"/>
            </a:avLst>
          </a:prstGeom>
          <a:solidFill>
            <a:srgbClr val="EAF9F1"/>
          </a:solidFill>
          <a:ln/>
        </p:spPr>
        <p:txBody>
          <a:bodyPr/>
          <a:lstStyle/>
          <a:p>
            <a:endParaRPr lang="en-IN"/>
          </a:p>
        </p:txBody>
      </p:sp>
      <p:sp>
        <p:nvSpPr>
          <p:cNvPr id="21" name="Text 19"/>
          <p:cNvSpPr/>
          <p:nvPr/>
        </p:nvSpPr>
        <p:spPr>
          <a:xfrm>
            <a:off x="868680" y="5504688"/>
            <a:ext cx="10451592" cy="621792"/>
          </a:xfrm>
          <a:prstGeom prst="rect">
            <a:avLst/>
          </a:prstGeom>
          <a:noFill/>
          <a:ln/>
        </p:spPr>
        <p:txBody>
          <a:bodyPr wrap="square" lIns="0" tIns="0" rIns="0" bIns="0" rtlCol="0" anchor="ctr"/>
          <a:lstStyle/>
          <a:p>
            <a:pPr marL="0" indent="0">
              <a:buNone/>
            </a:pPr>
            <a:r>
              <a:rPr lang="en-US" sz="1300" b="1" dirty="0">
                <a:solidFill>
                  <a:srgbClr val="003352"/>
                </a:solidFill>
                <a:latin typeface="Century Gothic" pitchFamily="34" charset="0"/>
                <a:ea typeface="Century Gothic" pitchFamily="34" charset="-122"/>
                <a:cs typeface="Century Gothic" pitchFamily="34" charset="-120"/>
              </a:rPr>
              <a:t>Ninety days from today is late November. Put a reminder in your calendar now, before you leave the room.</a:t>
            </a:r>
            <a:endParaRPr lang="en-US" sz="1300" dirty="0"/>
          </a:p>
        </p:txBody>
      </p:sp>
      <p:sp>
        <p:nvSpPr>
          <p:cNvPr id="22" name="Text 20"/>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81</a:t>
            </a:r>
            <a:endParaRPr lang="en-US" sz="900" dirty="0"/>
          </a:p>
        </p:txBody>
      </p:sp>
      <p:sp>
        <p:nvSpPr>
          <p:cNvPr id="23" name="Text 21"/>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FINAL EXERCISE</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03352"/>
        </a:solidFill>
        <a:effectLst/>
      </p:bgPr>
    </p:bg>
    <p:spTree>
      <p:nvGrpSpPr>
        <p:cNvPr id="1" name=""/>
        <p:cNvGrpSpPr/>
        <p:nvPr/>
      </p:nvGrpSpPr>
      <p:grpSpPr>
        <a:xfrm>
          <a:off x="0" y="0"/>
          <a:ext cx="0" cy="0"/>
          <a:chOff x="0" y="0"/>
          <a:chExt cx="0" cy="0"/>
        </a:xfrm>
      </p:grpSpPr>
      <p:sp>
        <p:nvSpPr>
          <p:cNvPr id="3" name="Text 1"/>
          <p:cNvSpPr/>
          <p:nvPr/>
        </p:nvSpPr>
        <p:spPr>
          <a:xfrm>
            <a:off x="822960" y="457200"/>
            <a:ext cx="8229600" cy="292608"/>
          </a:xfrm>
          <a:prstGeom prst="rect">
            <a:avLst/>
          </a:prstGeom>
          <a:noFill/>
          <a:ln/>
        </p:spPr>
        <p:txBody>
          <a:bodyPr wrap="square" lIns="0" tIns="0" rIns="0" bIns="0" rtlCol="0" anchor="ctr"/>
          <a:lstStyle/>
          <a:p>
            <a:pPr marL="0" indent="0">
              <a:buNone/>
            </a:pPr>
            <a:r>
              <a:rPr lang="en-US" sz="1150" b="1" kern="0" spc="300" dirty="0">
                <a:solidFill>
                  <a:srgbClr val="63E7A4"/>
                </a:solidFill>
                <a:latin typeface="Century Gothic" pitchFamily="34" charset="0"/>
                <a:ea typeface="Century Gothic" pitchFamily="34" charset="-122"/>
                <a:cs typeface="Century Gothic" pitchFamily="34" charset="-120"/>
              </a:rPr>
              <a:t>WHERE TO GO FROM HERE</a:t>
            </a:r>
            <a:endParaRPr lang="en-US" sz="1150" dirty="0"/>
          </a:p>
        </p:txBody>
      </p:sp>
      <p:sp>
        <p:nvSpPr>
          <p:cNvPr id="4" name="Text 2"/>
          <p:cNvSpPr/>
          <p:nvPr/>
        </p:nvSpPr>
        <p:spPr>
          <a:xfrm>
            <a:off x="822960" y="1463040"/>
            <a:ext cx="8778240" cy="1188720"/>
          </a:xfrm>
          <a:prstGeom prst="rect">
            <a:avLst/>
          </a:prstGeom>
          <a:noFill/>
          <a:ln/>
        </p:spPr>
        <p:txBody>
          <a:bodyPr wrap="square" lIns="0" tIns="0" rIns="0" bIns="0" rtlCol="0" anchor="t"/>
          <a:lstStyle/>
          <a:p>
            <a:pPr marL="0" indent="0">
              <a:lnSpc>
                <a:spcPct val="105000"/>
              </a:lnSpc>
              <a:buNone/>
            </a:pPr>
            <a:r>
              <a:rPr lang="en-US" sz="3800" b="1" dirty="0">
                <a:solidFill>
                  <a:srgbClr val="FFFFFF"/>
                </a:solidFill>
                <a:latin typeface="Century Gothic" pitchFamily="34" charset="0"/>
                <a:ea typeface="Century Gothic" pitchFamily="34" charset="-122"/>
                <a:cs typeface="Century Gothic" pitchFamily="34" charset="-120"/>
              </a:rPr>
              <a:t>Two hours in. The work starts Monday.</a:t>
            </a:r>
            <a:endParaRPr lang="en-US" sz="3800" dirty="0"/>
          </a:p>
        </p:txBody>
      </p:sp>
      <p:sp>
        <p:nvSpPr>
          <p:cNvPr id="5" name="Shape 3"/>
          <p:cNvSpPr/>
          <p:nvPr/>
        </p:nvSpPr>
        <p:spPr>
          <a:xfrm>
            <a:off x="868680" y="2816352"/>
            <a:ext cx="402336" cy="402336"/>
          </a:xfrm>
          <a:prstGeom prst="ellipse">
            <a:avLst/>
          </a:prstGeom>
          <a:solidFill>
            <a:srgbClr val="63E7A4"/>
          </a:solidFill>
          <a:ln/>
        </p:spPr>
        <p:txBody>
          <a:bodyPr/>
          <a:lstStyle/>
          <a:p>
            <a:endParaRPr lang="en-IN"/>
          </a:p>
        </p:txBody>
      </p:sp>
      <p:sp>
        <p:nvSpPr>
          <p:cNvPr id="6" name="Text 4"/>
          <p:cNvSpPr/>
          <p:nvPr/>
        </p:nvSpPr>
        <p:spPr>
          <a:xfrm>
            <a:off x="868680" y="2816352"/>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1</a:t>
            </a:r>
            <a:endParaRPr lang="en-US" sz="1200" dirty="0"/>
          </a:p>
        </p:txBody>
      </p:sp>
      <p:sp>
        <p:nvSpPr>
          <p:cNvPr id="7" name="Text 5"/>
          <p:cNvSpPr/>
          <p:nvPr/>
        </p:nvSpPr>
        <p:spPr>
          <a:xfrm>
            <a:off x="1481328" y="2761488"/>
            <a:ext cx="9692640" cy="310896"/>
          </a:xfrm>
          <a:prstGeom prst="rect">
            <a:avLst/>
          </a:prstGeom>
          <a:noFill/>
          <a:ln/>
        </p:spPr>
        <p:txBody>
          <a:bodyPr wrap="square" lIns="0" tIns="0" rIns="0" bIns="0" rtlCol="0" anchor="ctr"/>
          <a:lstStyle/>
          <a:p>
            <a:pPr marL="0" indent="0">
              <a:buNone/>
            </a:pPr>
            <a:r>
              <a:rPr lang="en-US" sz="1550" b="1" dirty="0">
                <a:solidFill>
                  <a:srgbClr val="63E7A4"/>
                </a:solidFill>
                <a:latin typeface="Century Gothic" pitchFamily="34" charset="0"/>
                <a:ea typeface="Century Gothic" pitchFamily="34" charset="-122"/>
                <a:cs typeface="Century Gothic" pitchFamily="34" charset="-120"/>
              </a:rPr>
              <a:t>Read the Scrum Guide — it's 13 pages</a:t>
            </a:r>
            <a:endParaRPr lang="en-US" sz="1550" dirty="0"/>
          </a:p>
        </p:txBody>
      </p:sp>
      <p:sp>
        <p:nvSpPr>
          <p:cNvPr id="8" name="Text 6"/>
          <p:cNvSpPr/>
          <p:nvPr/>
        </p:nvSpPr>
        <p:spPr>
          <a:xfrm>
            <a:off x="1481328" y="3072384"/>
            <a:ext cx="9692640" cy="566928"/>
          </a:xfrm>
          <a:prstGeom prst="rect">
            <a:avLst/>
          </a:prstGeom>
          <a:noFill/>
          <a:ln/>
        </p:spPr>
        <p:txBody>
          <a:bodyPr wrap="square" lIns="0" tIns="0" rIns="0" bIns="0" rtlCol="0" anchor="t"/>
          <a:lstStyle/>
          <a:p>
            <a:pPr marL="0" indent="0">
              <a:lnSpc>
                <a:spcPct val="120000"/>
              </a:lnSpc>
              <a:buNone/>
            </a:pPr>
            <a:r>
              <a:rPr lang="en-US" sz="1250" dirty="0">
                <a:solidFill>
                  <a:srgbClr val="C7DCE8"/>
                </a:solidFill>
                <a:latin typeface="Century Gothic" pitchFamily="34" charset="0"/>
                <a:ea typeface="Century Gothic" pitchFamily="34" charset="-122"/>
                <a:cs typeface="Century Gothic" pitchFamily="34" charset="-120"/>
              </a:rPr>
              <a:t>scrumguides.org. Free, no registration. Everything in section 4 comes from it, and it takes twenty minutes.</a:t>
            </a:r>
            <a:endParaRPr lang="en-US" sz="1250" dirty="0"/>
          </a:p>
        </p:txBody>
      </p:sp>
      <p:sp>
        <p:nvSpPr>
          <p:cNvPr id="9" name="Shape 7"/>
          <p:cNvSpPr/>
          <p:nvPr/>
        </p:nvSpPr>
        <p:spPr>
          <a:xfrm>
            <a:off x="868680" y="3749040"/>
            <a:ext cx="402336" cy="402336"/>
          </a:xfrm>
          <a:prstGeom prst="ellipse">
            <a:avLst/>
          </a:prstGeom>
          <a:solidFill>
            <a:srgbClr val="63E7A4"/>
          </a:solidFill>
          <a:ln/>
        </p:spPr>
        <p:txBody>
          <a:bodyPr/>
          <a:lstStyle/>
          <a:p>
            <a:endParaRPr lang="en-IN"/>
          </a:p>
        </p:txBody>
      </p:sp>
      <p:sp>
        <p:nvSpPr>
          <p:cNvPr id="10" name="Text 8"/>
          <p:cNvSpPr/>
          <p:nvPr/>
        </p:nvSpPr>
        <p:spPr>
          <a:xfrm>
            <a:off x="868680" y="3749040"/>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2</a:t>
            </a:r>
            <a:endParaRPr lang="en-US" sz="1200" dirty="0"/>
          </a:p>
        </p:txBody>
      </p:sp>
      <p:sp>
        <p:nvSpPr>
          <p:cNvPr id="11" name="Text 9"/>
          <p:cNvSpPr/>
          <p:nvPr/>
        </p:nvSpPr>
        <p:spPr>
          <a:xfrm>
            <a:off x="1481328" y="3694176"/>
            <a:ext cx="9692640" cy="310896"/>
          </a:xfrm>
          <a:prstGeom prst="rect">
            <a:avLst/>
          </a:prstGeom>
          <a:noFill/>
          <a:ln/>
        </p:spPr>
        <p:txBody>
          <a:bodyPr wrap="square" lIns="0" tIns="0" rIns="0" bIns="0" rtlCol="0" anchor="ctr"/>
          <a:lstStyle/>
          <a:p>
            <a:pPr marL="0" indent="0">
              <a:buNone/>
            </a:pPr>
            <a:r>
              <a:rPr lang="en-US" sz="1550" b="1" dirty="0">
                <a:solidFill>
                  <a:srgbClr val="63E7A4"/>
                </a:solidFill>
                <a:latin typeface="Century Gothic" pitchFamily="34" charset="0"/>
                <a:ea typeface="Century Gothic" pitchFamily="34" charset="-122"/>
                <a:cs typeface="Century Gothic" pitchFamily="34" charset="-120"/>
              </a:rPr>
              <a:t>Read the Manifesto and all twelve principles</a:t>
            </a:r>
            <a:endParaRPr lang="en-US" sz="1550" dirty="0"/>
          </a:p>
        </p:txBody>
      </p:sp>
      <p:sp>
        <p:nvSpPr>
          <p:cNvPr id="12" name="Text 10"/>
          <p:cNvSpPr/>
          <p:nvPr/>
        </p:nvSpPr>
        <p:spPr>
          <a:xfrm>
            <a:off x="1481328" y="4005072"/>
            <a:ext cx="9692640" cy="566928"/>
          </a:xfrm>
          <a:prstGeom prst="rect">
            <a:avLst/>
          </a:prstGeom>
          <a:noFill/>
          <a:ln/>
        </p:spPr>
        <p:txBody>
          <a:bodyPr wrap="square" lIns="0" tIns="0" rIns="0" bIns="0" rtlCol="0" anchor="t"/>
          <a:lstStyle/>
          <a:p>
            <a:pPr marL="0" indent="0">
              <a:lnSpc>
                <a:spcPct val="120000"/>
              </a:lnSpc>
              <a:buNone/>
            </a:pPr>
            <a:r>
              <a:rPr lang="en-US" sz="1250" dirty="0">
                <a:solidFill>
                  <a:srgbClr val="C7DCE8"/>
                </a:solidFill>
                <a:latin typeface="Century Gothic" pitchFamily="34" charset="0"/>
                <a:ea typeface="Century Gothic" pitchFamily="34" charset="-122"/>
                <a:cs typeface="Century Gothic" pitchFamily="34" charset="-120"/>
              </a:rPr>
              <a:t>agilemanifesto.org. Sixty-eight words plus twelve principles. Section 2 was a summary; the original is better.</a:t>
            </a:r>
            <a:endParaRPr lang="en-US" sz="1250" dirty="0"/>
          </a:p>
        </p:txBody>
      </p:sp>
      <p:sp>
        <p:nvSpPr>
          <p:cNvPr id="13" name="Shape 11"/>
          <p:cNvSpPr/>
          <p:nvPr/>
        </p:nvSpPr>
        <p:spPr>
          <a:xfrm>
            <a:off x="868680" y="4681728"/>
            <a:ext cx="402336" cy="402336"/>
          </a:xfrm>
          <a:prstGeom prst="ellipse">
            <a:avLst/>
          </a:prstGeom>
          <a:solidFill>
            <a:srgbClr val="63E7A4"/>
          </a:solidFill>
          <a:ln/>
        </p:spPr>
        <p:txBody>
          <a:bodyPr/>
          <a:lstStyle/>
          <a:p>
            <a:endParaRPr lang="en-IN"/>
          </a:p>
        </p:txBody>
      </p:sp>
      <p:sp>
        <p:nvSpPr>
          <p:cNvPr id="14" name="Text 12"/>
          <p:cNvSpPr/>
          <p:nvPr/>
        </p:nvSpPr>
        <p:spPr>
          <a:xfrm>
            <a:off x="868680" y="4681728"/>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3</a:t>
            </a:r>
            <a:endParaRPr lang="en-US" sz="1200" dirty="0"/>
          </a:p>
        </p:txBody>
      </p:sp>
      <p:sp>
        <p:nvSpPr>
          <p:cNvPr id="15" name="Text 13"/>
          <p:cNvSpPr/>
          <p:nvPr/>
        </p:nvSpPr>
        <p:spPr>
          <a:xfrm>
            <a:off x="1481328" y="4626864"/>
            <a:ext cx="9692640" cy="310896"/>
          </a:xfrm>
          <a:prstGeom prst="rect">
            <a:avLst/>
          </a:prstGeom>
          <a:noFill/>
          <a:ln/>
        </p:spPr>
        <p:txBody>
          <a:bodyPr wrap="square" lIns="0" tIns="0" rIns="0" bIns="0" rtlCol="0" anchor="ctr"/>
          <a:lstStyle/>
          <a:p>
            <a:pPr marL="0" indent="0">
              <a:buNone/>
            </a:pPr>
            <a:r>
              <a:rPr lang="en-US" sz="1550" b="1" dirty="0">
                <a:solidFill>
                  <a:srgbClr val="63E7A4"/>
                </a:solidFill>
                <a:latin typeface="Century Gothic" pitchFamily="34" charset="0"/>
                <a:ea typeface="Century Gothic" pitchFamily="34" charset="-122"/>
                <a:cs typeface="Century Gothic" pitchFamily="34" charset="-120"/>
              </a:rPr>
              <a:t>Do your ninety-day plan, and tell someone on Monday</a:t>
            </a:r>
            <a:endParaRPr lang="en-US" sz="1550" dirty="0"/>
          </a:p>
        </p:txBody>
      </p:sp>
      <p:sp>
        <p:nvSpPr>
          <p:cNvPr id="16" name="Text 14"/>
          <p:cNvSpPr/>
          <p:nvPr/>
        </p:nvSpPr>
        <p:spPr>
          <a:xfrm>
            <a:off x="1481328" y="4937760"/>
            <a:ext cx="9692640" cy="566928"/>
          </a:xfrm>
          <a:prstGeom prst="rect">
            <a:avLst/>
          </a:prstGeom>
          <a:noFill/>
          <a:ln/>
        </p:spPr>
        <p:txBody>
          <a:bodyPr wrap="square" lIns="0" tIns="0" rIns="0" bIns="0" rtlCol="0" anchor="t"/>
          <a:lstStyle/>
          <a:p>
            <a:pPr marL="0" indent="0">
              <a:lnSpc>
                <a:spcPct val="120000"/>
              </a:lnSpc>
              <a:buNone/>
            </a:pPr>
            <a:r>
              <a:rPr lang="en-US" sz="1250" dirty="0">
                <a:solidFill>
                  <a:srgbClr val="C7DCE8"/>
                </a:solidFill>
                <a:latin typeface="Century Gothic" pitchFamily="34" charset="0"/>
                <a:ea typeface="Century Gothic" pitchFamily="34" charset="-122"/>
                <a:cs typeface="Century Gothic" pitchFamily="34" charset="-120"/>
              </a:rPr>
              <a:t>The plan in your hand is the only part of today that changes anything. Everything else was context.</a:t>
            </a:r>
            <a:endParaRPr lang="en-US" sz="1250" dirty="0"/>
          </a:p>
        </p:txBody>
      </p:sp>
      <p:sp>
        <p:nvSpPr>
          <p:cNvPr id="17" name="Shape 15"/>
          <p:cNvSpPr/>
          <p:nvPr/>
        </p:nvSpPr>
        <p:spPr>
          <a:xfrm>
            <a:off x="868680" y="5614416"/>
            <a:ext cx="402336" cy="402336"/>
          </a:xfrm>
          <a:prstGeom prst="ellipse">
            <a:avLst/>
          </a:prstGeom>
          <a:solidFill>
            <a:srgbClr val="63E7A4"/>
          </a:solidFill>
          <a:ln/>
        </p:spPr>
        <p:txBody>
          <a:bodyPr/>
          <a:lstStyle/>
          <a:p>
            <a:endParaRPr lang="en-IN"/>
          </a:p>
        </p:txBody>
      </p:sp>
      <p:sp>
        <p:nvSpPr>
          <p:cNvPr id="18" name="Text 16"/>
          <p:cNvSpPr/>
          <p:nvPr/>
        </p:nvSpPr>
        <p:spPr>
          <a:xfrm>
            <a:off x="868680" y="5614416"/>
            <a:ext cx="402336" cy="402336"/>
          </a:xfrm>
          <a:prstGeom prst="rect">
            <a:avLst/>
          </a:prstGeom>
          <a:noFill/>
          <a:ln/>
        </p:spPr>
        <p:txBody>
          <a:bodyPr wrap="square" lIns="0" tIns="0" rIns="0" bIns="0" rtlCol="0" anchor="ctr"/>
          <a:lstStyle/>
          <a:p>
            <a:pPr marL="0" indent="0" algn="ctr">
              <a:buNone/>
            </a:pPr>
            <a:r>
              <a:rPr lang="en-US" sz="1200" b="1" dirty="0">
                <a:solidFill>
                  <a:srgbClr val="003352"/>
                </a:solidFill>
                <a:latin typeface="Century Gothic" pitchFamily="34" charset="0"/>
                <a:ea typeface="Century Gothic" pitchFamily="34" charset="-122"/>
                <a:cs typeface="Century Gothic" pitchFamily="34" charset="-120"/>
              </a:rPr>
              <a:t>4</a:t>
            </a:r>
            <a:endParaRPr lang="en-US" sz="1200" dirty="0"/>
          </a:p>
        </p:txBody>
      </p:sp>
      <p:sp>
        <p:nvSpPr>
          <p:cNvPr id="19" name="Text 17"/>
          <p:cNvSpPr/>
          <p:nvPr/>
        </p:nvSpPr>
        <p:spPr>
          <a:xfrm>
            <a:off x="1481328" y="5559552"/>
            <a:ext cx="9692640" cy="310896"/>
          </a:xfrm>
          <a:prstGeom prst="rect">
            <a:avLst/>
          </a:prstGeom>
          <a:noFill/>
          <a:ln/>
        </p:spPr>
        <p:txBody>
          <a:bodyPr wrap="square" lIns="0" tIns="0" rIns="0" bIns="0" rtlCol="0" anchor="ctr"/>
          <a:lstStyle/>
          <a:p>
            <a:pPr marL="0" indent="0">
              <a:buNone/>
            </a:pPr>
            <a:r>
              <a:rPr lang="en-US" sz="1550" b="1" dirty="0">
                <a:solidFill>
                  <a:srgbClr val="63E7A4"/>
                </a:solidFill>
                <a:latin typeface="Century Gothic" pitchFamily="34" charset="0"/>
                <a:ea typeface="Century Gothic" pitchFamily="34" charset="-122"/>
                <a:cs typeface="Century Gothic" pitchFamily="34" charset="-120"/>
              </a:rPr>
              <a:t>Come and find me when you hit an obstacle</a:t>
            </a:r>
            <a:endParaRPr lang="en-US" sz="1550" dirty="0"/>
          </a:p>
        </p:txBody>
      </p:sp>
      <p:sp>
        <p:nvSpPr>
          <p:cNvPr id="20" name="Text 18"/>
          <p:cNvSpPr/>
          <p:nvPr/>
        </p:nvSpPr>
        <p:spPr>
          <a:xfrm>
            <a:off x="1481328" y="5870448"/>
            <a:ext cx="9692640" cy="566928"/>
          </a:xfrm>
          <a:prstGeom prst="rect">
            <a:avLst/>
          </a:prstGeom>
          <a:noFill/>
          <a:ln/>
        </p:spPr>
        <p:txBody>
          <a:bodyPr wrap="square" lIns="0" tIns="0" rIns="0" bIns="0" rtlCol="0" anchor="t"/>
          <a:lstStyle/>
          <a:p>
            <a:pPr marL="0" indent="0">
              <a:lnSpc>
                <a:spcPct val="120000"/>
              </a:lnSpc>
              <a:buNone/>
            </a:pPr>
            <a:r>
              <a:rPr lang="en-US" sz="1250" dirty="0">
                <a:solidFill>
                  <a:srgbClr val="C7DCE8"/>
                </a:solidFill>
                <a:latin typeface="Century Gothic" pitchFamily="34" charset="0"/>
                <a:ea typeface="Century Gothic" pitchFamily="34" charset="-122"/>
                <a:cs typeface="Century Gothic" pitchFamily="34" charset="-120"/>
              </a:rPr>
              <a:t>Especially the ones you can't move on your own. That's the job — and the parking lot items will get answers this week.</a:t>
            </a:r>
            <a:endParaRPr lang="en-US" sz="12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marL="0" indent="0">
              <a:buNone/>
            </a:pPr>
            <a:r>
              <a:rPr lang="en-US" sz="1050" b="1" kern="0" spc="200" dirty="0">
                <a:solidFill>
                  <a:srgbClr val="7A8C99"/>
                </a:solidFill>
                <a:latin typeface="Century Gothic" pitchFamily="34" charset="0"/>
                <a:ea typeface="Century Gothic" pitchFamily="34" charset="-122"/>
                <a:cs typeface="Century Gothic" pitchFamily="34" charset="-120"/>
              </a:rPr>
              <a:t>FACILITATOR REFERENCE</a:t>
            </a:r>
            <a:endParaRPr lang="en-US" sz="1050" dirty="0"/>
          </a:p>
        </p:txBody>
      </p:sp>
      <p:sp>
        <p:nvSpPr>
          <p:cNvPr id="3" name="Text 1"/>
          <p:cNvSpPr/>
          <p:nvPr/>
        </p:nvSpPr>
        <p:spPr>
          <a:xfrm>
            <a:off x="548640" y="676656"/>
            <a:ext cx="11064240" cy="868680"/>
          </a:xfrm>
          <a:prstGeom prst="rect">
            <a:avLst/>
          </a:prstGeom>
          <a:noFill/>
          <a:ln/>
        </p:spPr>
        <p:txBody>
          <a:bodyPr wrap="square" lIns="0" tIns="0" rIns="0" bIns="0" rtlCol="0" anchor="t"/>
          <a:lstStyle/>
          <a:p>
            <a:pPr marL="0" indent="0">
              <a:buNone/>
            </a:pPr>
            <a:r>
              <a:rPr lang="en-US" sz="3000" b="1" dirty="0">
                <a:solidFill>
                  <a:srgbClr val="003352"/>
                </a:solidFill>
                <a:latin typeface="Century Gothic" pitchFamily="34" charset="0"/>
                <a:ea typeface="Century Gothic" pitchFamily="34" charset="-122"/>
                <a:cs typeface="Century Gothic" pitchFamily="34" charset="-120"/>
              </a:rPr>
              <a:t>Running order — and the cut list</a:t>
            </a:r>
            <a:endParaRPr lang="en-US" sz="30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4135120"/>
        </p:xfrm>
        <a:graphic>
          <a:graphicData uri="http://schemas.openxmlformats.org/drawingml/2006/table">
            <a:tbl>
              <a:tblPr/>
              <a:tblGrid>
                <a:gridCol w="566928">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896112">
                  <a:extLst>
                    <a:ext uri="{9D8B030D-6E8A-4147-A177-3AD203B41FA5}">
                      <a16:colId xmlns:a16="http://schemas.microsoft.com/office/drawing/2014/main" val="20003"/>
                    </a:ext>
                  </a:extLst>
                </a:gridCol>
                <a:gridCol w="5166360">
                  <a:extLst>
                    <a:ext uri="{9D8B030D-6E8A-4147-A177-3AD203B41FA5}">
                      <a16:colId xmlns:a16="http://schemas.microsoft.com/office/drawing/2014/main" val="20004"/>
                    </a:ext>
                  </a:extLst>
                </a:gridCol>
              </a:tblGrid>
              <a:tr h="164592">
                <a:tc>
                  <a:txBody>
                    <a:bodyPr/>
                    <a:lstStyle/>
                    <a:p>
                      <a:pPr marL="0" indent="0">
                        <a:buNone/>
                      </a:pPr>
                      <a:r>
                        <a:rPr lang="en-US" sz="900" b="1" dirty="0">
                          <a:solidFill>
                            <a:srgbClr val="FFFFFF"/>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03352"/>
                    </a:solidFill>
                  </a:tcPr>
                </a:tc>
                <a:tc>
                  <a:txBody>
                    <a:bodyPr/>
                    <a:lstStyle/>
                    <a:p>
                      <a:pPr marL="0" indent="0">
                        <a:buNone/>
                      </a:pPr>
                      <a:r>
                        <a:rPr lang="en-US" sz="900" b="1" dirty="0">
                          <a:solidFill>
                            <a:srgbClr val="FFFFFF"/>
                          </a:solidFill>
                          <a:latin typeface="Century Gothic" pitchFamily="34" charset="0"/>
                          <a:ea typeface="Century Gothic" pitchFamily="34" charset="-122"/>
                          <a:cs typeface="Century Gothic" pitchFamily="34" charset="-120"/>
                        </a:rPr>
                        <a:t>Section / activity</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03352"/>
                    </a:solidFill>
                  </a:tcPr>
                </a:tc>
                <a:tc>
                  <a:txBody>
                    <a:bodyPr/>
                    <a:lstStyle/>
                    <a:p>
                      <a:pPr marL="0" indent="0">
                        <a:buNone/>
                      </a:pPr>
                      <a:r>
                        <a:rPr lang="en-US" sz="900" b="1" dirty="0">
                          <a:solidFill>
                            <a:srgbClr val="FFFFFF"/>
                          </a:solidFill>
                          <a:latin typeface="Century Gothic" pitchFamily="34" charset="0"/>
                          <a:ea typeface="Century Gothic" pitchFamily="34" charset="-122"/>
                          <a:cs typeface="Century Gothic" pitchFamily="34" charset="-120"/>
                        </a:rPr>
                        <a:t>As briefed</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03352"/>
                    </a:solidFill>
                  </a:tcPr>
                </a:tc>
                <a:tc>
                  <a:txBody>
                    <a:bodyPr/>
                    <a:lstStyle/>
                    <a:p>
                      <a:pPr marL="0" indent="0">
                        <a:buNone/>
                      </a:pPr>
                      <a:r>
                        <a:rPr lang="en-US" sz="900" b="1" dirty="0">
                          <a:solidFill>
                            <a:srgbClr val="FFFFFF"/>
                          </a:solidFill>
                          <a:latin typeface="Century Gothic" pitchFamily="34" charset="0"/>
                          <a:ea typeface="Century Gothic" pitchFamily="34" charset="-122"/>
                          <a:cs typeface="Century Gothic" pitchFamily="34" charset="-120"/>
                        </a:rPr>
                        <a:t>120-min</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03352"/>
                    </a:solidFill>
                  </a:tcPr>
                </a:tc>
                <a:tc>
                  <a:txBody>
                    <a:bodyPr/>
                    <a:lstStyle/>
                    <a:p>
                      <a:pPr marL="0" indent="0">
                        <a:buNone/>
                      </a:pPr>
                      <a:r>
                        <a:rPr lang="en-US" sz="900" b="1" dirty="0">
                          <a:solidFill>
                            <a:srgbClr val="FFFFFF"/>
                          </a:solidFill>
                          <a:latin typeface="Century Gothic" pitchFamily="34" charset="0"/>
                          <a:ea typeface="Century Gothic" pitchFamily="34" charset="-122"/>
                          <a:cs typeface="Century Gothic" pitchFamily="34" charset="-120"/>
                        </a:rPr>
                        <a:t>Note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03352"/>
                    </a:solidFill>
                  </a:tcPr>
                </a:tc>
                <a:extLst>
                  <a:ext uri="{0D108BD9-81ED-4DB2-BD59-A6C34878D82A}">
                    <a16:rowId xmlns:a16="http://schemas.microsoft.com/office/drawing/2014/main" val="10000"/>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Why Agile?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Keep in full — it sets up everything else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1"/>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Exercise 1 · Traditional vs Agile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Keep</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2"/>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2</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Agile Mindset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Keep</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3"/>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Quiz 1 · Fundamentals</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4</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Run faster; skip commentary on Q1 and Q2</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4"/>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3</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Agile Frameworks</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9</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Compress the XP slide to 45 sec</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5"/>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Case Study 1 · Transformation</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4</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Debrief to the punch line only</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6"/>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4</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Scrum Fundamentals</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12</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12</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Keep in full — highest density section</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7"/>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Exercise 2 · Build a Scrum team</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6</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6</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Keep — the anchor exercise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8"/>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User Stories &amp; Backlog</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9</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INVEST slide to 45 sec</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09"/>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Exercise 3 · Write user stories</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Keep</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0"/>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6</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Sprint Execution</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9</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Retro slide to 90 sec</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1"/>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Case Study 2 · Sprint failure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Keep — best diagnostic activity</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2"/>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7</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Estimation &amp; Prioritisation</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9</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Planning poker slide to 90 sec</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3"/>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Exercise 4 · Estimate &amp; prioritise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Keep</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4"/>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8</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Agile Metrics</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8</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7</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Burndown slide to 60 sec</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5"/>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Quiz 2 · Metrics &amp; Scrum</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4</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3</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Read answers, skip commentary</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6"/>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9</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Advanced Agile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8</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Contracts slide to 90 sec if no leaders present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7"/>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Case Study 3 · Large organisation</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4</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Two tables only</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8"/>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10</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Agile in Real Life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7</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6</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Failure-modes slide to 60 sec</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19"/>
                  </a:ext>
                </a:extLst>
              </a:tr>
              <a:tr h="164592">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Final Exercise · Your transformation</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tc>
                  <a:txBody>
                    <a:bodyPr/>
                    <a:lstStyle/>
                    <a:p>
                      <a:pPr marL="0" indent="0">
                        <a:buNone/>
                      </a:pPr>
                      <a:r>
                        <a:rPr lang="en-US" sz="900" dirty="0">
                          <a:solidFill>
                            <a:srgbClr val="3D5060"/>
                          </a:solidFill>
                          <a:latin typeface="Century Gothic" pitchFamily="34" charset="0"/>
                          <a:ea typeface="Century Gothic" pitchFamily="34" charset="-122"/>
                          <a:cs typeface="Century Gothic" pitchFamily="34" charset="-120"/>
                        </a:rPr>
                        <a:t>Never cut — this is the payload</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tcPr>
                </a:tc>
                <a:extLst>
                  <a:ext uri="{0D108BD9-81ED-4DB2-BD59-A6C34878D82A}">
                    <a16:rowId xmlns:a16="http://schemas.microsoft.com/office/drawing/2014/main" val="10020"/>
                  </a:ext>
                </a:extLst>
              </a:tr>
              <a:tr h="164592">
                <a:tc>
                  <a:txBody>
                    <a:bodyPr/>
                    <a:lstStyle/>
                    <a:p>
                      <a:pPr marL="0" indent="0">
                        <a:buNone/>
                      </a:pP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AF9F1"/>
                    </a:solidFill>
                  </a:tcPr>
                </a:tc>
                <a:tc>
                  <a:txBody>
                    <a:bodyPr/>
                    <a:lstStyle/>
                    <a:p>
                      <a:pPr marL="0" indent="0">
                        <a:buNone/>
                      </a:pPr>
                      <a:r>
                        <a:rPr lang="en-US" sz="900" b="1" dirty="0">
                          <a:solidFill>
                            <a:srgbClr val="003352"/>
                          </a:solidFill>
                          <a:latin typeface="Century Gothic" pitchFamily="34" charset="0"/>
                          <a:ea typeface="Century Gothic" pitchFamily="34" charset="-122"/>
                          <a:cs typeface="Century Gothic" pitchFamily="34" charset="-120"/>
                        </a:rPr>
                        <a:t>Total teaching + activities</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AF9F1"/>
                    </a:solidFill>
                  </a:tcPr>
                </a:tc>
                <a:tc>
                  <a:txBody>
                    <a:bodyPr/>
                    <a:lstStyle/>
                    <a:p>
                      <a:pPr marL="0" indent="0">
                        <a:buNone/>
                      </a:pPr>
                      <a:r>
                        <a:rPr lang="en-US" sz="900" b="1" dirty="0">
                          <a:solidFill>
                            <a:srgbClr val="003352"/>
                          </a:solidFill>
                          <a:latin typeface="Century Gothic" pitchFamily="34" charset="0"/>
                          <a:ea typeface="Century Gothic" pitchFamily="34" charset="-122"/>
                          <a:cs typeface="Century Gothic" pitchFamily="34" charset="-120"/>
                        </a:rPr>
                        <a:t>147</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AF9F1"/>
                    </a:solidFill>
                  </a:tcPr>
                </a:tc>
                <a:tc>
                  <a:txBody>
                    <a:bodyPr/>
                    <a:lstStyle/>
                    <a:p>
                      <a:pPr marL="0" indent="0">
                        <a:buNone/>
                      </a:pPr>
                      <a:r>
                        <a:rPr lang="en-US" sz="900" b="1" dirty="0">
                          <a:solidFill>
                            <a:srgbClr val="003352"/>
                          </a:solidFill>
                          <a:latin typeface="Century Gothic" pitchFamily="34" charset="0"/>
                          <a:ea typeface="Century Gothic" pitchFamily="34" charset="-122"/>
                          <a:cs typeface="Century Gothic" pitchFamily="34" charset="-120"/>
                        </a:rPr>
                        <a:t>135</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AF9F1"/>
                    </a:solidFill>
                  </a:tcPr>
                </a:tc>
                <a:tc>
                  <a:txBody>
                    <a:bodyPr/>
                    <a:lstStyle/>
                    <a:p>
                      <a:pPr marL="0" indent="0">
                        <a:buNone/>
                      </a:pPr>
                      <a:r>
                        <a:rPr lang="en-US" sz="900" dirty="0">
                          <a:solidFill>
                            <a:srgbClr val="003352"/>
                          </a:solidFill>
                          <a:latin typeface="Century Gothic" pitchFamily="34" charset="0"/>
                          <a:ea typeface="Century Gothic" pitchFamily="34" charset="-122"/>
                          <a:cs typeface="Century Gothic" pitchFamily="34" charset="-120"/>
                        </a:rPr>
                        <a:t>Plus ~5 min opening and ~2 min close</a:t>
                      </a:r>
                      <a:endParaRPr lang="en-US" sz="900" dirty="0">
                        <a:latin typeface="Century Gothic" charset="0"/>
                        <a:ea typeface="Century Gothic" charset="0"/>
                        <a:cs typeface="Century Gothic" charset="0"/>
                      </a:endParaRPr>
                    </a:p>
                  </a:txBody>
                  <a:tcPr marL="63500" marR="63500" marT="25400" marB="25400" anchor="ct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AF9F1"/>
                    </a:solidFill>
                  </a:tcPr>
                </a:tc>
                <a:extLst>
                  <a:ext uri="{0D108BD9-81ED-4DB2-BD59-A6C34878D82A}">
                    <a16:rowId xmlns:a16="http://schemas.microsoft.com/office/drawing/2014/main" val="10021"/>
                  </a:ext>
                </a:extLst>
              </a:tr>
            </a:tbl>
          </a:graphicData>
        </a:graphic>
      </p:graphicFrame>
      <p:sp>
        <p:nvSpPr>
          <p:cNvPr id="5" name="Text 2"/>
          <p:cNvSpPr/>
          <p:nvPr/>
        </p:nvSpPr>
        <p:spPr>
          <a:xfrm>
            <a:off x="548640" y="5870448"/>
            <a:ext cx="11091672" cy="384048"/>
          </a:xfrm>
          <a:prstGeom prst="rect">
            <a:avLst/>
          </a:prstGeom>
          <a:noFill/>
          <a:ln/>
        </p:spPr>
        <p:txBody>
          <a:bodyPr wrap="square" lIns="0" tIns="0" rIns="0" bIns="0" rtlCol="0" anchor="ctr"/>
          <a:lstStyle/>
          <a:p>
            <a:pPr marL="0" indent="0">
              <a:lnSpc>
                <a:spcPct val="115000"/>
              </a:lnSpc>
              <a:buNone/>
            </a:pPr>
            <a:r>
              <a:rPr lang="en-US" sz="1050" b="1" i="1" dirty="0">
                <a:solidFill>
                  <a:srgbClr val="003352"/>
                </a:solidFill>
                <a:latin typeface="Century Gothic" pitchFamily="34" charset="0"/>
                <a:ea typeface="Century Gothic" pitchFamily="34" charset="-122"/>
                <a:cs typeface="Century Gothic" pitchFamily="34" charset="-120"/>
              </a:rPr>
              <a:t>The brief totals 147 min against a 120-min session; the compressed column reaches 142 with opening and close. To land at 120, also drop Case Study 1 and Quiz 1 and run sections 3 and 9 at 7 min. Decide before you start — not at the 90-minute mark.</a:t>
            </a:r>
            <a:endParaRPr lang="en-US" sz="1050" dirty="0"/>
          </a:p>
        </p:txBody>
      </p:sp>
      <p:sp>
        <p:nvSpPr>
          <p:cNvPr id="6" name="Text 3"/>
          <p:cNvSpPr/>
          <p:nvPr/>
        </p:nvSpPr>
        <p:spPr>
          <a:xfrm>
            <a:off x="11384280" y="6217920"/>
            <a:ext cx="457200" cy="274320"/>
          </a:xfrm>
          <a:prstGeom prst="rect">
            <a:avLst/>
          </a:prstGeom>
          <a:noFill/>
          <a:ln/>
        </p:spPr>
        <p:txBody>
          <a:bodyPr wrap="square" lIns="0" tIns="0" rIns="0" bIns="0" rtlCol="0" anchor="ctr"/>
          <a:lstStyle/>
          <a:p>
            <a:pPr marL="0" indent="0" algn="r">
              <a:buNone/>
            </a:pPr>
            <a:r>
              <a:rPr lang="en-US" sz="900" dirty="0">
                <a:solidFill>
                  <a:srgbClr val="7A8C99"/>
                </a:solidFill>
                <a:latin typeface="Century Gothic" pitchFamily="34" charset="0"/>
                <a:ea typeface="Century Gothic" pitchFamily="34" charset="-122"/>
                <a:cs typeface="Century Gothic" pitchFamily="34" charset="-120"/>
              </a:rPr>
              <a:t>83</a:t>
            </a:r>
            <a:endParaRPr lang="en-US" sz="900" dirty="0"/>
          </a:p>
        </p:txBody>
      </p:sp>
      <p:sp>
        <p:nvSpPr>
          <p:cNvPr id="7" name="Text 4"/>
          <p:cNvSpPr/>
          <p:nvPr/>
        </p:nvSpPr>
        <p:spPr>
          <a:xfrm>
            <a:off x="548640" y="6217920"/>
            <a:ext cx="7315200" cy="274320"/>
          </a:xfrm>
          <a:prstGeom prst="rect">
            <a:avLst/>
          </a:prstGeom>
          <a:noFill/>
          <a:ln/>
        </p:spPr>
        <p:txBody>
          <a:bodyPr wrap="square" lIns="0" tIns="0" rIns="0" bIns="0" rtlCol="0" anchor="ctr"/>
          <a:lstStyle/>
          <a:p>
            <a:pPr marL="0" indent="0" algn="l">
              <a:buNone/>
            </a:pPr>
            <a:r>
              <a:rPr lang="en-US" sz="900" kern="0" spc="100" dirty="0">
                <a:solidFill>
                  <a:srgbClr val="7A8C99"/>
                </a:solidFill>
                <a:latin typeface="Century Gothic" pitchFamily="34" charset="0"/>
                <a:ea typeface="Century Gothic" pitchFamily="34" charset="-122"/>
                <a:cs typeface="Century Gothic" pitchFamily="34" charset="-120"/>
              </a:rPr>
              <a:t>FACILITATOR REFERENCE</a:t>
            </a:r>
            <a:endParaRPr lang="en-US" sz="900" dirty="0"/>
          </a:p>
        </p:txBody>
      </p:sp>
    </p:spTree>
  </p:cSld>
  <p:clrMapOvr>
    <a:masterClrMapping/>
  </p:clrMapOvr>
</p:sld>
</file>

<file path=ppt/theme/theme1.xml><?xml version="1.0" encoding="utf-8"?>
<a:theme xmlns:a="http://schemas.openxmlformats.org/drawingml/2006/main" name="BITS Pilan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ITS Pilani"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418FD2-1E3C-4DDF-9599-D0C9336A4EDD}"/>
</file>

<file path=customXml/itemProps2.xml><?xml version="1.0" encoding="utf-8"?>
<ds:datastoreItem xmlns:ds="http://schemas.openxmlformats.org/officeDocument/2006/customXml" ds:itemID="{7A7CBD43-DBD5-4E75-908D-1B00575CF5DB}"/>
</file>

<file path=customXml/itemProps3.xml><?xml version="1.0" encoding="utf-8"?>
<ds:datastoreItem xmlns:ds="http://schemas.openxmlformats.org/officeDocument/2006/customXml" ds:itemID="{05E54215-5F68-4552-9142-DA2DE98B1A66}"/>
</file>

<file path=docProps/app.xml><?xml version="1.0" encoding="utf-8"?>
<Properties xmlns="http://schemas.openxmlformats.org/officeDocument/2006/extended-properties" xmlns:vt="http://schemas.openxmlformats.org/officeDocument/2006/docPropsVTypes">
  <TotalTime>650</TotalTime>
  <Words>25142</Words>
  <Application>Microsoft Office PowerPoint</Application>
  <PresentationFormat>Widescreen</PresentationFormat>
  <Paragraphs>1622</Paragraphs>
  <Slides>83</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Century Gothic</vt:lpstr>
      <vt:lpstr>BITS Pilani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Romeo Bravo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Basics to Advanced — BITS Pilani</dc:title>
  <dc:subject>PptxGenJS Presentation</dc:subject>
  <dc:creator>Romeo Bravo Software</dc:creator>
  <cp:lastModifiedBy>Madhu Venkat</cp:lastModifiedBy>
  <cp:revision>10</cp:revision>
  <dcterms:created xsi:type="dcterms:W3CDTF">2026-08-23T06:28:36Z</dcterms:created>
  <dcterms:modified xsi:type="dcterms:W3CDTF">2026-09-06T09:24:42Z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